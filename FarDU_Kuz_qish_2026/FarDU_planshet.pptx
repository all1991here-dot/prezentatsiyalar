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5119969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Манба: «ФарДУ куз-киш Кенгашга масала 2026.docx», фойдаланувчи тақдим этган ҳужжат. Ушбу варақда инфратузилма, кўмир хариди ва қарорда белгиланган муддатлар қисқартириб берилган. 390/375×100=104%; 390−375=15 т — манба сонларидан ҳисобланган кўрсаткичлар. 10 т суюқ ёқилғи эҳтиёжи бор, аммо унинг хариди алоҳида тасдиқланмаган. 2025 йил 12 сентябрь санаси манбада шундай келтирилган; ўзгартирилмади. 31 октябрь ва 5 ноябрь — ҳужжатдаги «жорий йил», 2026 йилга тегишли деб берилди. Барча расмлар — шартли вектор схемалар, университетнинг ҳақиқий фотосуратлари эмас.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Манба: «ФарДУ куз-киш Кенгашга масала 2026.docx». Давр: 2026 йилнинг 9 ойи. Ўрнатилган фотоэлектр станциялари қуввати 1608 кВт. Ишлаб чиқарилган электр энергияси 822053; иқтисод қилинган маблағ 822 млн сўм. Тармоққа етказилган энергия 221500, тушум 177 млн 200 минг сўм. Шартнома 30.01.2026, №140023. Датчиклар 360 та — 27900; қуёшли кўча чироқлари 118 та — 10620; кондиционерларни режали ўчириш — 81000. Умумий 941573=822053+27900+10620+81000. Тармоққа сотилган 221500 умумий кўрсаткичга яна қўшилмаган. Манбада энергия учун «кВт» ва «кВт/соат» ёзувлари аралаш қўлланган; тақдимотда энергия бирлиги кВт·соат сифатида бирхиллаштирилган, қувват бирлиги эса кВт қолдирилган. Тушум ва иқтисод қилинган маблағ алоҳида кўрсатилди, улар йиғиндиси манбада бўлмагани учун киритилмади.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969" cy="10058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88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526973"/>
                </a:solidFill>
                <a:latin typeface="Noto Sans"/>
              </a:defRPr>
            </a:pPr>
            <a:r>
              <a:t>ФАРҒОНА ДАВЛАТ УНИВЕРСИТЕТИ  /  КЕНГАШ МАТЕРИАЛИ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7884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F78"/>
                </a:solidFill>
                <a:latin typeface="Noto Sans"/>
              </a:defRPr>
            </a:pPr>
            <a:r>
              <a:t>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13816"/>
            <a:ext cx="11704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6333F"/>
                </a:solidFill>
                <a:latin typeface="Noto Sans"/>
              </a:defRPr>
            </a:pPr>
            <a:r>
              <a:t>КУЗ–ҚИШ МАВСУМИГА ТАЙЁРГАРЛИК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08760"/>
            <a:ext cx="11521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3"/>
                </a:solidFill>
                <a:latin typeface="Noto Sans"/>
              </a:defRPr>
            </a:pPr>
            <a:r>
              <a:t>2026/2027 ўқув йили  •  Бинолар, иситиш тизими ва ёқилғи захираси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2921" y="1143457"/>
            <a:ext cx="642823" cy="590702"/>
          </a:xfrm>
          <a:prstGeom prst="rect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85548" y="1742846"/>
            <a:ext cx="729691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402921" y="1143457"/>
            <a:ext cx="642823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12350800" y="978408"/>
            <a:ext cx="747064" cy="191109"/>
          </a:xfrm>
          <a:prstGeom prst="triangl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98476" y="1247698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89586" y="1247698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80695" y="1247698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498476" y="1421434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89586" y="1421434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80695" y="1421434"/>
            <a:ext cx="78181" cy="868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672212" y="1586484"/>
            <a:ext cx="112928" cy="156362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46948" y="970909"/>
            <a:ext cx="825520" cy="758586"/>
          </a:xfrm>
          <a:prstGeom prst="rect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3324636" y="1740651"/>
            <a:ext cx="937077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346948" y="970909"/>
            <a:ext cx="825520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3469660" y="1104778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5085" y="1104778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960510" y="1104778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469660" y="1327891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5085" y="1327891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960510" y="1327891"/>
            <a:ext cx="100401" cy="111556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692774" y="1539849"/>
            <a:ext cx="145023" cy="200802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2066543"/>
            <a:ext cx="340508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1387" y="2467234"/>
            <a:ext cx="527791" cy="484997"/>
          </a:xfrm>
          <a:prstGeom prst="rect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57123" y="2959364"/>
            <a:ext cx="599115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1387" y="2467234"/>
            <a:ext cx="527792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>
            <a:off x="728593" y="2331720"/>
            <a:ext cx="613379" cy="156911"/>
          </a:xfrm>
          <a:prstGeom prst="triangl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9843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6754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63665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9843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6754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63665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489" y="2830982"/>
            <a:ext cx="92720" cy="128381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27048" y="2194560"/>
            <a:ext cx="2066543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333F"/>
                </a:solidFill>
                <a:latin typeface="Noto Sans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7048" y="28529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26973"/>
                </a:solidFill>
                <a:latin typeface="Noto Sans"/>
              </a:defRPr>
            </a:pPr>
            <a:r>
              <a:t>ўқув биноси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72600" y="2066543"/>
            <a:ext cx="340508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1068" y="2467234"/>
            <a:ext cx="527791" cy="484997"/>
          </a:xfrm>
          <a:prstGeom prst="rect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4326803" y="2959364"/>
            <a:ext cx="599115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1068" y="2467234"/>
            <a:ext cx="527791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419523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6434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33345" y="2552821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19523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6434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33345" y="2695468"/>
            <a:ext cx="64190" cy="71323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62170" y="2830982"/>
            <a:ext cx="92720" cy="128381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96728" y="2194560"/>
            <a:ext cx="2066543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333F"/>
                </a:solidFill>
                <a:latin typeface="Noto Sans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6728" y="28529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26973"/>
                </a:solidFill>
                <a:latin typeface="Noto Sans"/>
              </a:defRPr>
            </a:pPr>
            <a:r>
              <a:t>талабалар турар жойи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42280" y="2066543"/>
            <a:ext cx="340508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925013" y="2545689"/>
            <a:ext cx="470733" cy="406542"/>
          </a:xfrm>
          <a:prstGeom prst="roundRect">
            <a:avLst>
              <a:gd name="adj" fmla="val 12000"/>
            </a:avLst>
          </a:prstGeom>
          <a:solidFill>
            <a:srgbClr val="E0F1ED"/>
          </a:solidFill>
          <a:ln w="19050">
            <a:solidFill>
              <a:srgbClr val="00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8017733" y="2367381"/>
            <a:ext cx="0" cy="178308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17733" y="2367381"/>
            <a:ext cx="164043" cy="0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067659" y="2666939"/>
            <a:ext cx="171175" cy="1711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8153247" y="2695468"/>
            <a:ext cx="42794" cy="57058"/>
          </a:xfrm>
          <a:prstGeom prst="line">
            <a:avLst/>
          </a:prstGeom>
          <a:ln w="1524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96336" y="2959364"/>
            <a:ext cx="0" cy="64191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10158" y="2959364"/>
            <a:ext cx="0" cy="64191"/>
          </a:xfrm>
          <a:prstGeom prst="line">
            <a:avLst/>
          </a:prstGeom>
          <a:ln w="1905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666408" y="2194560"/>
            <a:ext cx="2066543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333F"/>
                </a:solidFill>
                <a:latin typeface="Noto Sans"/>
              </a:defRPr>
            </a:pPr>
            <a:r>
              <a:t>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66408" y="28529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26973"/>
                </a:solidFill>
                <a:latin typeface="Noto Sans"/>
              </a:defRPr>
            </a:pPr>
            <a:r>
              <a:t>қозонхона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211961" y="2066543"/>
            <a:ext cx="340508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508958" y="2559954"/>
            <a:ext cx="463600" cy="363748"/>
          </a:xfrm>
          <a:prstGeom prst="roundRect">
            <a:avLst>
              <a:gd name="adj" fmla="val 12000"/>
            </a:avLst>
          </a:prstGeom>
          <a:solidFill>
            <a:srgbClr val="E0F1ED"/>
          </a:solidFill>
          <a:ln w="19050">
            <a:solidFill>
              <a:srgbClr val="00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1608810" y="2374513"/>
            <a:ext cx="0" cy="185441"/>
          </a:xfrm>
          <a:prstGeom prst="line">
            <a:avLst/>
          </a:prstGeom>
          <a:ln w="2032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551752" y="2424440"/>
            <a:ext cx="114117" cy="0"/>
          </a:xfrm>
          <a:prstGeom prst="line">
            <a:avLst/>
          </a:prstGeom>
          <a:ln w="1524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551752" y="2474366"/>
            <a:ext cx="114117" cy="0"/>
          </a:xfrm>
          <a:prstGeom prst="line">
            <a:avLst/>
          </a:prstGeom>
          <a:ln w="1524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1858442" y="2374513"/>
            <a:ext cx="0" cy="185441"/>
          </a:xfrm>
          <a:prstGeom prst="line">
            <a:avLst/>
          </a:prstGeom>
          <a:ln w="2032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801383" y="2424440"/>
            <a:ext cx="114117" cy="0"/>
          </a:xfrm>
          <a:prstGeom prst="line">
            <a:avLst/>
          </a:prstGeom>
          <a:ln w="1524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801383" y="2474366"/>
            <a:ext cx="114117" cy="0"/>
          </a:xfrm>
          <a:prstGeom prst="line">
            <a:avLst/>
          </a:prstGeom>
          <a:ln w="1524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608810" y="2666939"/>
            <a:ext cx="0" cy="185440"/>
          </a:xfrm>
          <a:prstGeom prst="line">
            <a:avLst/>
          </a:prstGeom>
          <a:ln w="1397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701531" y="2666939"/>
            <a:ext cx="0" cy="185440"/>
          </a:xfrm>
          <a:prstGeom prst="line">
            <a:avLst/>
          </a:prstGeom>
          <a:ln w="1397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794251" y="2666939"/>
            <a:ext cx="0" cy="185440"/>
          </a:xfrm>
          <a:prstGeom prst="line">
            <a:avLst/>
          </a:prstGeom>
          <a:ln w="1397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886971" y="2666939"/>
            <a:ext cx="0" cy="185440"/>
          </a:xfrm>
          <a:prstGeom prst="line">
            <a:avLst/>
          </a:prstGeom>
          <a:ln w="1397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444767" y="2966496"/>
            <a:ext cx="606247" cy="0"/>
          </a:xfrm>
          <a:prstGeom prst="line">
            <a:avLst/>
          </a:prstGeom>
          <a:ln w="20320">
            <a:solidFill>
              <a:srgbClr val="00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2236089" y="2194560"/>
            <a:ext cx="2066543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333F"/>
                </a:solidFill>
                <a:latin typeface="Noto Sans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36089" y="28529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26973"/>
                </a:solidFill>
                <a:latin typeface="Noto Sans"/>
              </a:defRPr>
            </a:pPr>
            <a:r>
              <a:t>трансформатор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20" y="3547872"/>
            <a:ext cx="6812280" cy="3794760"/>
          </a:xfrm>
          <a:prstGeom prst="roundRect">
            <a:avLst>
              <a:gd name="adj" fmla="val 12000"/>
            </a:avLst>
          </a:prstGeom>
          <a:solidFill>
            <a:srgbClr val="12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" y="3776472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КЎМИР ЗАХИРАСИ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4224528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3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BD0D4"/>
                </a:solidFill>
                <a:latin typeface="Noto Sans"/>
              </a:defRPr>
            </a:pPr>
            <a:r>
              <a:t>Газ босими пасайганда фойдаланиш учун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4626864"/>
            <a:ext cx="44805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59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FFFF"/>
                </a:solidFill>
                <a:latin typeface="Noto Sans"/>
              </a:defRPr>
            </a:pPr>
            <a:r>
              <a:t>390 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20640" y="476402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E8AF42"/>
                </a:solidFill>
                <a:latin typeface="Noto Sans"/>
              </a:defRPr>
            </a:pPr>
            <a:r>
              <a:t>104%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55464" y="5349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160" b="0">
                <a:solidFill>
                  <a:srgbClr val="BBD0D4"/>
                </a:solidFill>
                <a:latin typeface="Noto Sans"/>
              </a:defRPr>
            </a:pPr>
            <a:r>
              <a:t>эҳтиёжга нисбатан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" y="558698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FFFFFF"/>
                </a:solidFill>
                <a:latin typeface="Noto Sans"/>
              </a:defRPr>
            </a:pPr>
            <a:r>
              <a:t>Эҳтиёж: 375 т  •  Қўшимча захира: +15 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672" y="5998464"/>
            <a:ext cx="6199632" cy="201168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65856" y="5998464"/>
            <a:ext cx="238447" cy="201168"/>
          </a:xfrm>
          <a:prstGeom prst="rect">
            <a:avLst/>
          </a:prstGeom>
          <a:solidFill>
            <a:srgbClr val="E8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95528" y="6473952"/>
            <a:ext cx="6217920" cy="475488"/>
          </a:xfrm>
          <a:prstGeom prst="roundRect">
            <a:avLst>
              <a:gd name="adj" fmla="val 12000"/>
            </a:avLst>
          </a:prstGeom>
          <a:solidFill>
            <a:srgbClr val="1F4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" y="6556248"/>
            <a:ext cx="582472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E8AF42"/>
                </a:solidFill>
                <a:latin typeface="Noto Sans"/>
              </a:defRPr>
            </a:pPr>
            <a:r>
              <a:t>10 т суюқ ёқилғи — аниқланган эҳтиёж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264" y="704088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3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BBD0D4"/>
                </a:solidFill>
                <a:latin typeface="Noto Sans"/>
              </a:defRPr>
            </a:pPr>
            <a:r>
              <a:t>Суюқ ёқилғи хариди ҳолати манбада кўрсатилмаган.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25512" y="3547872"/>
            <a:ext cx="7091537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18120" y="3776472"/>
            <a:ext cx="64922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33F"/>
                </a:solidFill>
                <a:latin typeface="Noto Sans"/>
              </a:defRPr>
            </a:pPr>
            <a:r>
              <a:t>БАЖАРИЛГАН ИШЛАР</a:t>
            </a:r>
          </a:p>
        </p:txBody>
      </p:sp>
      <p:sp>
        <p:nvSpPr>
          <p:cNvPr id="94" name="Oval 93"/>
          <p:cNvSpPr/>
          <p:nvPr/>
        </p:nvSpPr>
        <p:spPr>
          <a:xfrm>
            <a:off x="7818120" y="4279392"/>
            <a:ext cx="329184" cy="329184"/>
          </a:xfrm>
          <a:prstGeom prst="ellipse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18120" y="4283964"/>
            <a:ext cx="32918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7F78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02752" y="4261104"/>
            <a:ext cx="5980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333F"/>
                </a:solidFill>
                <a:latin typeface="Noto Sans"/>
              </a:defRPr>
            </a:pPr>
            <a:r>
              <a:t>Том ёпмалари мавсумга шайланди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02752" y="4562856"/>
            <a:ext cx="593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526973"/>
                </a:solidFill>
                <a:latin typeface="Noto Sans"/>
              </a:defRPr>
            </a:pPr>
            <a:r>
              <a:t>Барча ўқув ва ТТЖ биноларининг тунука томлари тўлиқ хатловдан ўтказилди.</a:t>
            </a:r>
          </a:p>
        </p:txBody>
      </p:sp>
      <p:sp>
        <p:nvSpPr>
          <p:cNvPr id="98" name="Oval 97"/>
          <p:cNvSpPr/>
          <p:nvPr/>
        </p:nvSpPr>
        <p:spPr>
          <a:xfrm>
            <a:off x="7818120" y="5001768"/>
            <a:ext cx="329184" cy="329184"/>
          </a:xfrm>
          <a:prstGeom prst="ellipse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18120" y="5006340"/>
            <a:ext cx="32918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7F78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02752" y="4983480"/>
            <a:ext cx="5980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333F"/>
                </a:solidFill>
                <a:latin typeface="Noto Sans"/>
              </a:defRPr>
            </a:pPr>
            <a:r>
              <a:t>18 қозонхона тутун йўллари тозаланди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02752" y="5285232"/>
            <a:ext cx="593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526973"/>
                </a:solidFill>
                <a:latin typeface="Noto Sans"/>
              </a:defRPr>
            </a:pPr>
            <a:r>
              <a:t>Ишлар шаҳар Ёнғинга қарши курашиш жамияти мутахассислари томонидан бажарилди.</a:t>
            </a:r>
          </a:p>
        </p:txBody>
      </p:sp>
      <p:sp>
        <p:nvSpPr>
          <p:cNvPr id="102" name="Oval 101"/>
          <p:cNvSpPr/>
          <p:nvPr/>
        </p:nvSpPr>
        <p:spPr>
          <a:xfrm>
            <a:off x="7818120" y="5724144"/>
            <a:ext cx="329184" cy="329184"/>
          </a:xfrm>
          <a:prstGeom prst="ellipse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18120" y="5728716"/>
            <a:ext cx="32918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7F78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02752" y="5705856"/>
            <a:ext cx="5980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333F"/>
                </a:solidFill>
                <a:latin typeface="Noto Sans"/>
              </a:defRPr>
            </a:pPr>
            <a:r>
              <a:t>18 трансформатор техник кўрикдан ўтди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02752" y="6007608"/>
            <a:ext cx="593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526973"/>
                </a:solidFill>
                <a:latin typeface="Noto Sans"/>
              </a:defRPr>
            </a:pPr>
            <a:r>
              <a:t>Июль–августда мой, фаза кучланиши ва қизиш бўйича зарур техник тузатишлар қилинди.</a:t>
            </a:r>
          </a:p>
        </p:txBody>
      </p:sp>
      <p:sp>
        <p:nvSpPr>
          <p:cNvPr id="106" name="Oval 105"/>
          <p:cNvSpPr/>
          <p:nvPr/>
        </p:nvSpPr>
        <p:spPr>
          <a:xfrm>
            <a:off x="7818120" y="6446520"/>
            <a:ext cx="329184" cy="329184"/>
          </a:xfrm>
          <a:prstGeom prst="ellipse">
            <a:avLst/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18120" y="6451092"/>
            <a:ext cx="32918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007F78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02752" y="6428232"/>
            <a:ext cx="5980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333F"/>
                </a:solidFill>
                <a:latin typeface="Noto Sans"/>
              </a:defRPr>
            </a:pPr>
            <a:r>
              <a:t>3 бино фасади базальт билан қопланди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02752" y="6729984"/>
            <a:ext cx="593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526973"/>
                </a:solidFill>
                <a:latin typeface="Noto Sans"/>
              </a:defRPr>
            </a:pPr>
            <a:r>
              <a:t>2- ва 3-ТТЖ ҳамда 8-ўқув биносида иссиқликни сақлаш чоралари кўрилди.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2920" y="7580375"/>
            <a:ext cx="14114129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7781544"/>
            <a:ext cx="1344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6333F"/>
                </a:solidFill>
                <a:latin typeface="Noto Sans"/>
              </a:defRPr>
            </a:pPr>
            <a:r>
              <a:t>ТАЙЁРГАРЛИКНИ ЯКУНЛАШ МУДДАТЛАРИ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7333488" y="8284464"/>
            <a:ext cx="0" cy="1042416"/>
          </a:xfrm>
          <a:prstGeom prst="line">
            <a:avLst/>
          </a:prstGeom>
          <a:ln w="15240">
            <a:solidFill>
              <a:srgbClr val="D9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822960" y="8247888"/>
            <a:ext cx="155448" cy="155448"/>
          </a:xfrm>
          <a:prstGeom prst="ellipse">
            <a:avLst/>
          </a:prstGeom>
          <a:solidFill>
            <a:srgbClr val="E8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33856" y="8193024"/>
            <a:ext cx="58978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"/>
              </a:defRPr>
            </a:pPr>
            <a:r>
              <a:t>31.10.2026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3856" y="8750808"/>
            <a:ext cx="5943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6333F"/>
                </a:solidFill>
                <a:latin typeface="Noto Sans"/>
              </a:defRPr>
            </a:pPr>
            <a:r>
              <a:t>Бино-иншоотлар, муҳандислик тармоқлари ва қозонхоналарни тайёрлашни тўлиқ якунлаш.</a:t>
            </a:r>
          </a:p>
        </p:txBody>
      </p:sp>
      <p:sp>
        <p:nvSpPr>
          <p:cNvPr id="116" name="Oval 115"/>
          <p:cNvSpPr/>
          <p:nvPr/>
        </p:nvSpPr>
        <p:spPr>
          <a:xfrm>
            <a:off x="7662672" y="8247888"/>
            <a:ext cx="155448" cy="155448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73568" y="8193024"/>
            <a:ext cx="58978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F78"/>
                </a:solidFill>
                <a:latin typeface="Noto Sans"/>
              </a:defRPr>
            </a:pPr>
            <a:r>
              <a:t>05.11.2026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73568" y="8750808"/>
            <a:ext cx="5943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6333F"/>
                </a:solidFill>
                <a:latin typeface="Noto Sans"/>
              </a:defRPr>
            </a:pPr>
            <a:r>
              <a:t>Тасдиқланган тайёрлик далолатномаларини Вазирликнинг техник таъминот ва эксплуатация бўлимига тақдим этиш.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9418320"/>
            <a:ext cx="1335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526973"/>
                </a:solidFill>
                <a:latin typeface="Noto Sans"/>
              </a:defRPr>
            </a:pPr>
            <a:r>
              <a:t>Масъуллар: П. Отақулов — проректор  •  У. Карабаев — бош ҳисобчи  •  У. Олимов — бош энергетик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02920" y="10003536"/>
            <a:ext cx="14109192" cy="0"/>
          </a:xfrm>
          <a:prstGeom prst="line">
            <a:avLst/>
          </a:prstGeom>
          <a:ln w="15240">
            <a:solidFill>
              <a:srgbClr val="D9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30352" y="10113264"/>
            <a:ext cx="1403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8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526973"/>
                </a:solidFill>
                <a:latin typeface="Noto Sans"/>
              </a:defRPr>
            </a:pPr>
            <a:r>
              <a:t>Асос: Олий таълим, фан ва инновациялар вазирлигининг 2025 йил 12 сентябрдаги 351-сонли буйруғи (манбадаги сана).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0352" y="10351008"/>
            <a:ext cx="131673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526973"/>
                </a:solidFill>
                <a:latin typeface="Noto Sans"/>
              </a:defRPr>
            </a:pPr>
            <a:r>
              <a:t>П. Отақулов ахбороти маълумот учун қабул қилинади. Қарор ижроси назорати — молия-иқтисод ишлари бўйича проректор П. Отақулов.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716000" y="1031443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7F78"/>
                </a:solidFill>
                <a:latin typeface="Noto Sans"/>
              </a:defRPr>
            </a:pPr>
            <a:r>
              <a:t>ФарДУ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969" cy="100584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88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526973"/>
                </a:solidFill>
                <a:latin typeface="Noto Sans"/>
              </a:defRPr>
            </a:pPr>
            <a:r>
              <a:t>ФАРҒОНА ДАВЛАТ УНИВЕРСИТЕТИ  /  КЕНГАШ МАТЕРИАЛИ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78840" y="320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7F78"/>
                </a:solidFill>
                <a:latin typeface="Noto Sans"/>
              </a:defRPr>
            </a:pPr>
            <a:r>
              <a:t>02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13816"/>
            <a:ext cx="11704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6333F"/>
                </a:solidFill>
                <a:latin typeface="Noto Sans"/>
              </a:defRPr>
            </a:pPr>
            <a:r>
              <a:t>ҚАЙТА ТИКЛАНУВЧИ ЭНЕРГИЯ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08760"/>
            <a:ext cx="11521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973"/>
                </a:solidFill>
                <a:latin typeface="Noto Sans"/>
              </a:defRPr>
            </a:pPr>
            <a:r>
              <a:t>2026 йилнинг 9 ойи  •  Ишлаб чиқариш, иқтисодий натижа ва тежамкорлик</a:t>
            </a:r>
          </a:p>
        </p:txBody>
      </p:sp>
      <p:sp>
        <p:nvSpPr>
          <p:cNvPr id="7" name="Oval 6"/>
          <p:cNvSpPr/>
          <p:nvPr/>
        </p:nvSpPr>
        <p:spPr>
          <a:xfrm>
            <a:off x="13880592" y="786384"/>
            <a:ext cx="347472" cy="347472"/>
          </a:xfrm>
          <a:prstGeom prst="ellipse">
            <a:avLst/>
          </a:prstGeom>
          <a:solidFill>
            <a:srgbClr val="E8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4273784" y="960120"/>
            <a:ext cx="73152" cy="0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209506" y="1115298"/>
            <a:ext cx="51727" cy="51727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054328" y="1179576"/>
            <a:ext cx="0" cy="73152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847422" y="1115298"/>
            <a:ext cx="51727" cy="51727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3761720" y="960120"/>
            <a:ext cx="73152" cy="0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3847422" y="753214"/>
            <a:ext cx="51727" cy="51727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54328" y="667512"/>
            <a:ext cx="0" cy="73152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209506" y="753214"/>
            <a:ext cx="51727" cy="51727"/>
          </a:xfrm>
          <a:prstGeom prst="line">
            <a:avLst/>
          </a:prstGeom>
          <a:ln w="16510">
            <a:solidFill>
              <a:srgbClr val="E8A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arallelogram 15"/>
          <p:cNvSpPr/>
          <p:nvPr/>
        </p:nvSpPr>
        <p:spPr>
          <a:xfrm>
            <a:off x="12545568" y="1124712"/>
            <a:ext cx="1508760" cy="685800"/>
          </a:xfrm>
          <a:prstGeom prst="parallelogram">
            <a:avLst>
              <a:gd name="adj" fmla="val 16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12801600" y="1152144"/>
            <a:ext cx="128016" cy="621792"/>
          </a:xfrm>
          <a:prstGeom prst="line">
            <a:avLst/>
          </a:prstGeom>
          <a:ln w="10160">
            <a:solidFill>
              <a:srgbClr val="BB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130784" y="1152144"/>
            <a:ext cx="128016" cy="621792"/>
          </a:xfrm>
          <a:prstGeom prst="line">
            <a:avLst/>
          </a:prstGeom>
          <a:ln w="10160">
            <a:solidFill>
              <a:srgbClr val="BB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3459968" y="1152144"/>
            <a:ext cx="128016" cy="621792"/>
          </a:xfrm>
          <a:prstGeom prst="line">
            <a:avLst/>
          </a:prstGeom>
          <a:ln w="10160">
            <a:solidFill>
              <a:srgbClr val="BB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728448" y="1463040"/>
            <a:ext cx="1188720" cy="0"/>
          </a:xfrm>
          <a:prstGeom prst="line">
            <a:avLst/>
          </a:prstGeom>
          <a:ln w="10160">
            <a:solidFill>
              <a:srgbClr val="BBD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021056" y="1828800"/>
            <a:ext cx="0" cy="201168"/>
          </a:xfrm>
          <a:prstGeom prst="line">
            <a:avLst/>
          </a:prstGeom>
          <a:ln w="25400">
            <a:solidFill>
              <a:srgbClr val="12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569696" y="1828800"/>
            <a:ext cx="0" cy="201168"/>
          </a:xfrm>
          <a:prstGeom prst="line">
            <a:avLst/>
          </a:prstGeom>
          <a:ln w="25400">
            <a:solidFill>
              <a:srgbClr val="12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847320" y="2029968"/>
            <a:ext cx="914400" cy="0"/>
          </a:xfrm>
          <a:prstGeom prst="line">
            <a:avLst/>
          </a:prstGeom>
          <a:ln w="25400">
            <a:solidFill>
              <a:srgbClr val="12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2066543"/>
            <a:ext cx="4594981" cy="1234440"/>
          </a:xfrm>
          <a:prstGeom prst="roundRect">
            <a:avLst>
              <a:gd name="adj" fmla="val 12000"/>
            </a:avLst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212848"/>
            <a:ext cx="415606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1 608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141" y="25511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FFFFFF"/>
                </a:solidFill>
                <a:latin typeface="Noto Sans"/>
              </a:defRPr>
            </a:pPr>
            <a:r>
              <a:t>кВт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80360"/>
            <a:ext cx="418350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E0F1ED"/>
                </a:solidFill>
                <a:latin typeface="Noto Sans"/>
              </a:defRPr>
            </a:pPr>
            <a:r>
              <a:t>ўрнатилган қуёш станциялари қуввати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2493" y="2066543"/>
            <a:ext cx="4594981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91093" y="2212848"/>
            <a:ext cx="415606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6333F"/>
                </a:solidFill>
                <a:latin typeface="Noto Sans"/>
              </a:defRPr>
            </a:pPr>
            <a:r>
              <a:t>822 053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715" y="25511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6333F"/>
                </a:solidFill>
                <a:latin typeface="Noto Sans"/>
              </a:defRPr>
            </a:pPr>
            <a:r>
              <a:t>кВт·соат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1093" y="2880360"/>
            <a:ext cx="418350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26973"/>
                </a:solidFill>
                <a:latin typeface="Noto Sans"/>
              </a:defRPr>
            </a:pPr>
            <a:r>
              <a:t>қуёш станцияларида ишлаб чиқарилган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2067" y="2066543"/>
            <a:ext cx="4594981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0667" y="2212848"/>
            <a:ext cx="415606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6333F"/>
                </a:solidFill>
                <a:latin typeface="Noto Sans"/>
              </a:defRPr>
            </a:pPr>
            <a:r>
              <a:t>822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08289" y="25511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6333F"/>
                </a:solidFill>
                <a:latin typeface="Noto Sans"/>
              </a:defRPr>
            </a:pPr>
            <a:r>
              <a:t>млн сўм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667" y="2880360"/>
            <a:ext cx="418350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26973"/>
                </a:solidFill>
                <a:latin typeface="Noto Sans"/>
              </a:defRPr>
            </a:pPr>
            <a:r>
              <a:t>иқтисод қилинган маблағ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557016"/>
            <a:ext cx="14114129" cy="1380744"/>
          </a:xfrm>
          <a:prstGeom prst="roundRect">
            <a:avLst>
              <a:gd name="adj" fmla="val 12000"/>
            </a:avLst>
          </a:prstGeom>
          <a:solidFill>
            <a:srgbClr val="12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7490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BD0D4"/>
                </a:solidFill>
                <a:latin typeface="Noto Sans"/>
              </a:defRPr>
            </a:pPr>
            <a:r>
              <a:t>ТАРМОҚҚА ЕТКАЗИБ БЕРИЛГАН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Noto Sans"/>
              </a:defRPr>
            </a:pPr>
            <a:r>
              <a:t>221 500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4398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BBD0D4"/>
                </a:solidFill>
                <a:latin typeface="Noto Sans"/>
              </a:defRPr>
            </a:pPr>
            <a:r>
              <a:t>кВт·соат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46320" y="3904487"/>
            <a:ext cx="0" cy="722377"/>
          </a:xfrm>
          <a:prstGeom prst="line">
            <a:avLst/>
          </a:prstGeom>
          <a:ln w="12700">
            <a:solidFill>
              <a:srgbClr val="81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38928" y="379476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BBD0D4"/>
                </a:solidFill>
                <a:latin typeface="Noto Sans"/>
              </a:defRPr>
            </a:pPr>
            <a:r>
              <a:t>ҲИСОБРАҚАМГА ТУШГАН ТУШУМ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4197096"/>
            <a:ext cx="420624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750" b="1">
                <a:solidFill>
                  <a:srgbClr val="E8AF42"/>
                </a:solidFill>
                <a:latin typeface="Noto Sans"/>
              </a:defRPr>
            </a:pPr>
            <a:r>
              <a:t>177,2 млн сўм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46920" y="3904487"/>
            <a:ext cx="0" cy="722377"/>
          </a:xfrm>
          <a:prstGeom prst="line">
            <a:avLst/>
          </a:prstGeom>
          <a:ln w="12700">
            <a:solidFill>
              <a:srgbClr val="81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948672" y="3794760"/>
            <a:ext cx="43434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defRPr sz="1280" b="1">
                <a:solidFill>
                  <a:srgbClr val="FFFFFF"/>
                </a:solidFill>
                <a:latin typeface="Noto Sans"/>
              </a:defRPr>
            </a:pPr>
            <a:r>
              <a:t>«Ҳудудий электр тармоқлари» АЖ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4224528"/>
            <a:ext cx="42976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160" b="0">
                <a:solidFill>
                  <a:srgbClr val="BBD0D4"/>
                </a:solidFill>
                <a:latin typeface="Noto Sans"/>
              </a:defRPr>
            </a:pPr>
            <a:r>
              <a:t>30.01.2026  •  № 140023</a:t>
            </a:r>
          </a:p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160" b="0">
                <a:solidFill>
                  <a:srgbClr val="BBD0D4"/>
                </a:solidFill>
                <a:latin typeface="Noto Sans"/>
              </a:defRPr>
            </a:pPr>
            <a:r>
              <a:t>Эҳтиёждан ортиқча энергияни сотиш шартномаси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193792"/>
            <a:ext cx="14114129" cy="2660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" y="5431536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333F"/>
                </a:solidFill>
                <a:latin typeface="Noto Sans"/>
              </a:defRPr>
            </a:pPr>
            <a:r>
              <a:t>ИШЛАБ ЧИҚАРИШ ВА ТЕЖАШ ҲИССАСИ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5340096"/>
            <a:ext cx="4526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007F78"/>
                </a:solidFill>
                <a:latin typeface="Noto Sans"/>
              </a:defRPr>
            </a:pPr>
            <a:r>
              <a:t>941 573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520" y="5907024"/>
            <a:ext cx="3319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526973"/>
                </a:solidFill>
                <a:latin typeface="Noto Sans"/>
              </a:defRPr>
            </a:pPr>
            <a:r>
              <a:t>кВт·соат — жами кўрсаткич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" y="6300216"/>
            <a:ext cx="11799306" cy="228600"/>
          </a:xfrm>
          <a:prstGeom prst="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603978" y="6300216"/>
            <a:ext cx="1162630" cy="228600"/>
          </a:xfrm>
          <a:prstGeom prst="rect">
            <a:avLst/>
          </a:prstGeom>
          <a:solidFill>
            <a:srgbClr val="437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66608" y="6300216"/>
            <a:ext cx="400461" cy="228600"/>
          </a:xfrm>
          <a:prstGeom prst="rect">
            <a:avLst/>
          </a:prstGeom>
          <a:solidFill>
            <a:srgbClr val="E8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167070" y="6300216"/>
            <a:ext cx="152433" cy="228600"/>
          </a:xfrm>
          <a:prstGeom prst="rect">
            <a:avLst/>
          </a:prstGeom>
          <a:solidFill>
            <a:srgbClr val="819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4672" y="6766560"/>
            <a:ext cx="118872" cy="118872"/>
          </a:xfrm>
          <a:prstGeom prst="ellipse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6" y="6647688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33F"/>
                </a:solidFill>
                <a:latin typeface="Noto Sans"/>
              </a:defRPr>
            </a:pPr>
            <a:r>
              <a:t>822 053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" y="7196328"/>
            <a:ext cx="31821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333F"/>
                </a:solidFill>
                <a:latin typeface="Noto Sans"/>
              </a:defRPr>
            </a:pPr>
            <a:r>
              <a:t>Қуёш станциялари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7507224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26973"/>
                </a:solidFill>
                <a:latin typeface="Noto Sans"/>
              </a:defRPr>
            </a:pPr>
            <a:r>
              <a:t>1 608 кВт қувват</a:t>
            </a:r>
          </a:p>
        </p:txBody>
      </p:sp>
      <p:sp>
        <p:nvSpPr>
          <p:cNvPr id="58" name="Oval 57"/>
          <p:cNvSpPr/>
          <p:nvPr/>
        </p:nvSpPr>
        <p:spPr>
          <a:xfrm>
            <a:off x="4242816" y="6766560"/>
            <a:ext cx="118872" cy="118872"/>
          </a:xfrm>
          <a:prstGeom prst="ellipse">
            <a:avLst/>
          </a:prstGeom>
          <a:solidFill>
            <a:srgbClr val="437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59" y="6647688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33F"/>
                </a:solidFill>
                <a:latin typeface="Noto Sans"/>
              </a:defRPr>
            </a:pPr>
            <a:r>
              <a:t>81 000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42816" y="7196328"/>
            <a:ext cx="31821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333F"/>
                </a:solidFill>
                <a:latin typeface="Noto Sans"/>
              </a:defRPr>
            </a:pPr>
            <a:r>
              <a:t>Кондиционерлар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42816" y="7507224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26973"/>
                </a:solidFill>
                <a:latin typeface="Noto Sans"/>
              </a:defRPr>
            </a:pPr>
            <a:r>
              <a:t>Ёзда режали ўчириш</a:t>
            </a:r>
          </a:p>
        </p:txBody>
      </p:sp>
      <p:sp>
        <p:nvSpPr>
          <p:cNvPr id="62" name="Oval 61"/>
          <p:cNvSpPr/>
          <p:nvPr/>
        </p:nvSpPr>
        <p:spPr>
          <a:xfrm>
            <a:off x="7680960" y="6766560"/>
            <a:ext cx="118872" cy="118872"/>
          </a:xfrm>
          <a:prstGeom prst="ellipse">
            <a:avLst/>
          </a:prstGeom>
          <a:solidFill>
            <a:srgbClr val="E8A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18704" y="6647688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33F"/>
                </a:solidFill>
                <a:latin typeface="Noto Sans"/>
              </a:defRPr>
            </a:pPr>
            <a:r>
              <a:t>27 900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7196328"/>
            <a:ext cx="31821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333F"/>
                </a:solidFill>
                <a:latin typeface="Noto Sans"/>
              </a:defRPr>
            </a:pPr>
            <a:r>
              <a:t>Ҳаракат датчиклари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7507224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26973"/>
                </a:solidFill>
                <a:latin typeface="Noto Sans"/>
              </a:defRPr>
            </a:pPr>
            <a:r>
              <a:t>360 та қурилма</a:t>
            </a:r>
          </a:p>
        </p:txBody>
      </p:sp>
      <p:sp>
        <p:nvSpPr>
          <p:cNvPr id="66" name="Oval 65"/>
          <p:cNvSpPr/>
          <p:nvPr/>
        </p:nvSpPr>
        <p:spPr>
          <a:xfrm>
            <a:off x="11119104" y="6766560"/>
            <a:ext cx="118872" cy="118872"/>
          </a:xfrm>
          <a:prstGeom prst="ellipse">
            <a:avLst/>
          </a:prstGeom>
          <a:solidFill>
            <a:srgbClr val="819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56848" y="6647688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33F"/>
                </a:solidFill>
                <a:latin typeface="Noto Sans"/>
              </a:defRPr>
            </a:pPr>
            <a:r>
              <a:t>10 620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19104" y="7196328"/>
            <a:ext cx="31821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333F"/>
                </a:solidFill>
                <a:latin typeface="Noto Sans"/>
              </a:defRPr>
            </a:pPr>
            <a:r>
              <a:t>Қуёшли кўча чироқлари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19104" y="7507224"/>
            <a:ext cx="3182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26973"/>
                </a:solidFill>
                <a:latin typeface="Noto Sans"/>
              </a:defRPr>
            </a:pPr>
            <a:r>
              <a:t>118 та чироқ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8101583"/>
            <a:ext cx="14114129" cy="1682496"/>
          </a:xfrm>
          <a:prstGeom prst="roundRect">
            <a:avLst>
              <a:gd name="adj" fmla="val 12000"/>
            </a:avLst>
          </a:prstGeom>
          <a:solidFill>
            <a:srgbClr val="E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5528" y="8275320"/>
            <a:ext cx="13441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007F78"/>
                </a:solidFill>
                <a:latin typeface="Noto Sans"/>
              </a:defRPr>
            </a:pPr>
            <a:r>
              <a:t>МАВСУМ ДАВОМИДАГИ ВАЗИФАЛАР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" y="866851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78"/>
                </a:solidFill>
                <a:latin typeface="Noto Sans"/>
              </a:defRPr>
            </a:pPr>
            <a:r>
              <a:t>01  ТАРҒИБОТ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" y="9061704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333F"/>
                </a:solidFill>
                <a:latin typeface="Noto Sans"/>
              </a:defRPr>
            </a:pPr>
            <a:r>
              <a:t>Ходимлар ва талабаларда энергияни тежаш ва мақсадли фойдаланиш маданиятини ошириш.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239512" y="8668512"/>
            <a:ext cx="0" cy="877824"/>
          </a:xfrm>
          <a:prstGeom prst="line">
            <a:avLst/>
          </a:prstGeom>
          <a:ln w="10160">
            <a:solidFill>
              <a:srgbClr val="B6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422392" y="866851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78"/>
                </a:solidFill>
                <a:latin typeface="Noto Sans"/>
              </a:defRPr>
            </a:pPr>
            <a:r>
              <a:t>02  ДОИМИЙ НАЗОРАТ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22392" y="9061704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333F"/>
                </a:solidFill>
                <a:latin typeface="Noto Sans"/>
              </a:defRPr>
            </a:pPr>
            <a:r>
              <a:t>Электр жиҳозларини зарур вақтда ёқиш ва ўчириш; бекор турган жиҳозлар сарфини назорат қилиш.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857232" y="8668512"/>
            <a:ext cx="0" cy="877824"/>
          </a:xfrm>
          <a:prstGeom prst="line">
            <a:avLst/>
          </a:prstGeom>
          <a:ln w="10160">
            <a:solidFill>
              <a:srgbClr val="B6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040112" y="866851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78"/>
                </a:solidFill>
                <a:latin typeface="Noto Sans"/>
              </a:defRPr>
            </a:pPr>
            <a:r>
              <a:t>03  ТТЖДА САМАРАДОРЛИК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40112" y="9061704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333F"/>
                </a:solidFill>
                <a:latin typeface="Noto Sans"/>
              </a:defRPr>
            </a:pPr>
            <a:r>
              <a:t>Электр печлари, сув иситгичлар ва бошқа жиҳозлардан тўғри фойдаланишни тушунтириш.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02920" y="10003536"/>
            <a:ext cx="14109192" cy="0"/>
          </a:xfrm>
          <a:prstGeom prst="line">
            <a:avLst/>
          </a:prstGeom>
          <a:ln w="15240">
            <a:solidFill>
              <a:srgbClr val="D9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30352" y="10113264"/>
            <a:ext cx="1403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8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526973"/>
                </a:solidFill>
                <a:latin typeface="Noto Sans"/>
              </a:defRPr>
            </a:pPr>
            <a:r>
              <a:t>Ижрочилар: факультет деканлари, бўлим бошлиқлари, РТТМ мудири, ТТЖ мудирлари ва комендантлар.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" y="10351008"/>
            <a:ext cx="131673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526973"/>
                </a:solidFill>
                <a:latin typeface="Noto Sans"/>
              </a:defRPr>
            </a:pPr>
            <a:r>
              <a:t>Манба: тақдим этилган ФарДУ маълумотномаси. Энергия бирликлари кВт·соатга бирхиллаштирилди; жами = 822 053 + 81 000 + 27 900 + 10 620.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00" y="1031443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7F78"/>
                </a:solidFill>
                <a:latin typeface="Noto Sans"/>
              </a:defRPr>
            </a:pPr>
            <a:r>
              <a:t>ФарДУ |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ФарДУ — куз-қиш мавсуми ва энергия самарадорлиги, 2026/2027</dc:title>
  <dc:subject>Икки варақли A3 planshet тақдимот</dc:subject>
  <dc:creator>Фарғона давлат университети — тақдим этилган маълумот асосида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