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Assalomu alaykum, aziz talabalar. Bugungi ma’ruzamiz «Bulutli tarmoq texnologiyalari» mavzusiga bag‘ishlanadi. Mavzuni murakkab atamalardan emas, kundalik ehtiyojdan boshlaymiz. Talaba portal nomini brauzerga yozadi. So‘rov DNS orqali manzil topadi, kerak bo‘lsa CDN dan fayl oladi va yuklama taqsimlagich orqali ilovaga yetib boradi. Baza esa bevosita internetga ochilmaydi.</a:t>
            </a:r>
          </a:p>
          <a:p/>
          <a:p>
            <a:r>
              <a:t>Biz avval asosiy tushunchalarni ajratamiz, keyin ularning ishlash tartibini sxemada ko‘ramiz. Maqsad xizmat nomlarini yodlash emas, ularning qaysi vazifani bajarishini va qayerda cheklanishini tushunishdir. Inglizcha atama uchraganda uning sodda o‘zbekcha ma’nosi bilan bog‘laymiz. Slayddagi qisqa jumlalar tayanch fikrlar bo‘lib, ularning batafsil izohi ushbu ma’ruza matnida beriladi.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Ma’ruza oltita asosiy bo‘limdan iborat. 1-bo‘limda vpc va subnet tushuntiriladi. 2-bo‘limda ip-manzillash va routing tushuntiriladi. 3-bo‘limda nat va xavfsizlik chegarasi tushuntiriladi. 4-bo‘limda dns va https tushuntiriladi. 5-bo‘limda load balancer tushuntiriladi. 6-bo‘limda cdn va kesh tushuntiriladi.</a:t>
            </a:r>
          </a:p>
          <a:p/>
          <a:p>
            <a:r>
              <a:t>Har bir bo‘limda bir xil fikrlash tartibidan foydalanamiz: tushuncha nimani anglatadi, qanday ishlaydi, universitet portalida qayerda ko‘rinadi va qaysi holatda ehtiyot bo‘lish kerak. Shundan keyin umumiy sxema barcha qismlarni bir-biriga bog‘laydi. Oxirida o‘qituvchi bayon qiladigan misol, chalkash tushunchalar va yakuniy xulosalar beriladi. Bu ketma-ketlik amaliy topshiriq emas, videodarsning tushuntirish rejasidir.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VPC bulut ichida mantiqiy ajratilgan tarmoq muhitini beradi. Subnet uning IP diapazoniga tegishli kichik bo‘limidir. Public va private atamalari marshrut hamda kirish konfiguratsiyasi bilan bog‘liq.</a:t>
            </a:r>
          </a:p>
          <a:p/>
          <a:p>
            <a:r>
              <a:t>Tarmoq CIDR diapazoni rejalashtiriladi. So‘ng ilova, baza va tashqi kirish uchun mos subnet lar yaratiladi. Xizmatlar va provayderlar subnet ko‘lamini turlicha belgilashi mumkin.</a:t>
            </a:r>
          </a:p>
          <a:p/>
          <a:p>
            <a:r>
              <a:t>Universitet misolida buni quyidagicha tasavvur qilamiz. Portalning kirish komponenti tashqi trafikni qabul qiladi, ilova va baza esa private manzillarda ishlaydi. Bu misolda texnik atama real vazifa bilan bog‘lanadi: resursning nomini emas, nima uchun tanlanganini tushunish muhim.</a:t>
            </a:r>
          </a:p>
          <a:p/>
          <a:p>
            <a:r>
              <a:t>E’tibor beradigan chegara ham bor. Bir provayderdagi subnet xususiyatini boshqasiga aynan ko‘chirish mumkin emas: masalan, hudud va zona ko‘lami farqlanadi.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IP manzil tarmoqdagi interfeysni aniqlash uchun ishlatiladi. Marshrut jadvali paket qaysi keyingi nuqtaga yuborilishini belgilaydi. CIDR belgisi tarmoq prefiksi uzunligini ko‘rsatadi.</a:t>
            </a:r>
          </a:p>
          <a:p/>
          <a:p>
            <a:r>
              <a:t>Masalan, 10.20.0.0/16 ichidan 10.20.1.0/24 ajratish mumkin. /24 diapazonda jami 256 manzil bor, lekin provayder ayrimlarini zaxiraga olishi mumkin.</a:t>
            </a:r>
          </a:p>
          <a:p/>
          <a:p>
            <a:r>
              <a:t>Universitet misolida buni quyidagicha tasavvur qilamiz. Ilova subnet i baza subnet iga ichki yo‘l bilan ulanadi, internetga chiqish esa alohida marshrut orqali bo‘ladi. Bu misolda texnik atama real vazifa bilan bog‘lanadi: resursning nomini emas, nima uchun tanlanganini tushunish muhim.</a:t>
            </a:r>
          </a:p>
          <a:p/>
          <a:p>
            <a:r>
              <a:t>E’tibor beradigan chegara ham bor. 256 manzilning barchasi virtual serverga beriladi deb hisoblash noto‘g‘ri.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NAT tarmoq manzillarini o‘zgartiradi. Bulutda u private resursga tashqi xizmatga ulanish imkonini berish uchun ko‘p ishlatiladi. Bunda resursning o‘ziga ommaviy IP berish shart bo‘lmasligi mumkin.</a:t>
            </a:r>
          </a:p>
          <a:p/>
          <a:p>
            <a:r>
              <a:t>Ilova tashqi yangilanish serveriga so‘rov yuboradi. NAT chiqish manzilini almashtiradi va qaytgan javobni mos ichki ulanishga qaytaradi.</a:t>
            </a:r>
          </a:p>
          <a:p/>
          <a:p>
            <a:r>
              <a:t>Universitet misolida buni quyidagicha tasavvur qilamiz. Private ilova paket yangilanishini oladi, lekin tashqaridan to‘g‘ridan-to‘g‘ri yangi ulanish qabul qilmaydi. Bu misolda texnik atama real vazifa bilan bog‘lanadi: resursning nomini emas, nima uchun tanlanganini tushunish muhim.</a:t>
            </a:r>
          </a:p>
          <a:p/>
          <a:p>
            <a:r>
              <a:t>E’tibor beradigan chegara ham bor. NAT xavfsizlik devori o‘rnini bosmaydi va barcha trafikni avtomatik tekshirmaydi.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DNS foydalanuvchiga qulay nomni tegishli yozuvlarga bog‘laydi. HTTPS esa TLS yordamida uzatilayotgan ma’lumotni himoya qiladi va sertifikat orqali server identifikatsiyasini tekshirishga yordam beradi.</a:t>
            </a:r>
          </a:p>
          <a:p/>
          <a:p>
            <a:r>
              <a:t>Brauzer DNS javobini oladi, server bilan TLS aloqasini o‘rnatadi va HTTP so‘rovini yuboradi. DNS keshi tufayli o‘zgarishlar turli mijozlarga turli vaqtda ko‘rinishi mumkin.</a:t>
            </a:r>
          </a:p>
          <a:p/>
          <a:p>
            <a:r>
              <a:t>Universitet misolida buni quyidagicha tasavvur qilamiz. portal.universitet.uz nomi yuklama taqsimlagichga yo‘naltiriladi, talaba login ma’lumoti HTTPS orqali uzatiladi. Bu misolda texnik atama real vazifa bilan bog‘lanadi: resursning nomini emas, nima uchun tanlanganini tushunish muhim.</a:t>
            </a:r>
          </a:p>
          <a:p/>
          <a:p>
            <a:r>
              <a:t>E’tibor beradigan chegara ham bor. HTTPS ilova ichidagi noto‘g‘ri ruxsat yoki zararli kodni avtomatik bartaraf etmaydi.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Yuklama taqsimlagich bitta kirish nuqtasi ortida bir nechta ilova nusxasini ishlatishga yordam beradi. U sog‘lomlik tekshiruvlari asosida ishlamayotgan nusxalarni vaqtincha chetlab o‘tishi mumkin. Qatlam va imkoniyatlar mahsulotga qarab farqlanadi.</a:t>
            </a:r>
          </a:p>
          <a:p/>
          <a:p>
            <a:r>
              <a:t>Qoidalar host, yo‘l yoki ulanish darajasida yo‘naltiradi. Bir xil so‘rovlar turli nusxaga tushishi mumkin, shu sababli sessiya holati tashqi xizmatda saqlanishi ma’qul.</a:t>
            </a:r>
          </a:p>
          <a:p/>
          <a:p>
            <a:r>
              <a:t>Universitet misolida buni quyidagicha tasavvur qilamiz. Baholar sahifasi uch ilova nusxasiga taqsimlanadi. Nosoz nusxa tayyor bo‘lmaguncha trafik olmaydi. Bu misolda texnik atama real vazifa bilan bog‘lanadi: resursning nomini emas, nima uchun tanlanganini tushunish muhim.</a:t>
            </a:r>
          </a:p>
          <a:p/>
          <a:p>
            <a:r>
              <a:t>E’tibor beradigan chegara ham bor. Load Balancer bitta bazaga tushadigan barcha yukni kamaytirmaydi; baza alohida tor joy bo‘lishi mumkin.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CDN statik fayllar va mos kesh siyosatidagi javoblarni chekka nuqtalarda saqlaydi. Bu origin server yukini va geografik kechikishni kamaytirishi mumkin. Kesh kaliti va amal qilish muddati muhim.</a:t>
            </a:r>
          </a:p>
          <a:p/>
          <a:p>
            <a:r>
              <a:t>Fayl birinchi so‘rovda origin dan olinadi, keyingi mos so‘rovlar keshdan javob olishi mumkin. Yangi versiya chiqarishda nomni versiyalash yoki invalidation ishlatiladi.</a:t>
            </a:r>
          </a:p>
          <a:p/>
          <a:p>
            <a:r>
              <a:t>Universitet misolida buni quyidagicha tasavvur qilamiz. Portalning rasm, uslub fayllari va ommaviy videolari CDN orqali uzatiladi. Bu misolda texnik atama real vazifa bilan bog‘lanadi: resursning nomini emas, nima uchun tanlanganini tushunish muhim.</a:t>
            </a:r>
          </a:p>
          <a:p/>
          <a:p>
            <a:r>
              <a:t>E’tibor beradigan chegara ham bor. Shaxsiy baholar yoki login javoblarini noto‘g‘ri umumiy keshga qo‘yish maxfiylik buzilishiga olib keladi.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Endi mavzuni yaxlit sxemada ko‘ramiz. To‘rtburchaklar asosiy komponentlarni, o‘qlar esa ma’lumot, murojaat yoki boshqaruv bog‘lanishini ko‘rsatadi. Bu soddalashtirilgan ta’lim sxemasi: unda barcha xavfsizlik qoidalari, ichki protokollar va zaxira komponentlari alohida chizilmagan.</a:t>
            </a:r>
          </a:p>
          <a:p/>
          <a:p>
            <a:r>
              <a:t>«Brauzer» bilan «DNS / CDN / LB» o‘rtasida sxemada bog‘lanish ko‘rsatilgan. «DNS / CDN / LB» bilan «Private ilova» o‘rtasida sxemada bog‘lanish ko‘rsatilgan. «Private ilova» bilan «Private baza» o‘rtasida sxemada bog‘lanish ko‘rsatilgan. «Private ilova» bilan «NAT → tashqi API» o‘rtasida sxemada bog‘lanish ko‘rsatilgan.</a:t>
            </a:r>
          </a:p>
          <a:p/>
          <a:p>
            <a:r>
              <a:t>Bu bog‘lanishlarni barcha xizmatlarda bir xil buyruq yoki bir xil fizik kabel deb tushunmaymiz. Ayrim o‘qlar bajarilish ketma-ketligini, ayrimlari resursni boshqarish yoki unga kirish aloqasini anglatadi. Masalan, 10.20.0.0/16 ichidan 10.20.1.0/24 ajratish mumkin. /24 diapazonda jami 256 manzil bor, lekin provayder ayrimlarini zaxiraga olishi mumkin.</a:t>
            </a:r>
          </a:p>
          <a:p/>
          <a:p>
            <a:r>
              <a:t>Sxemaning asosiy foydasi mas’uliyatlarni ajratib ko‘rsatishdir. Baholar sahifasi uch ilova nusxasiga taqsimlanadi. Nosoz nusxa tayyor bo‘lmaguncha trafik olmaydi. Bir qismdagi o‘zgarish boshqasiga qanday ta’sir qilishini ko‘rish orqali murakkab tizimni kichik va tushunarli qismlarga ajratamiz.</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Keling, nazariyani bitta izchil vaziyat bilan bog‘laymiz. Talaba portal nomini brauzerga yozadi. So‘rov DNS orqali manzil topadi, kerak bo‘lsa CDN dan fayl oladi va yuklama taqsimlagich orqali ilovaga yetib boradi. Baza esa bevosita internetga ochilmaydi.</a:t>
            </a:r>
          </a:p>
          <a:p/>
          <a:p>
            <a:r>
              <a:t>Avval ehtiyoj aniqlanadi: kim tizimdan foydalanadi, qaysi ma’lumot bilan ishlanadi va qanday natija kutiladi. Portalning kirish komponenti tashqi trafikni qabul qiladi, ilova va baza esa private manzillarda ishlaydi. Keyin texnik qismlar shu talabga mos tanlanadi. Private ilova paket yangilanishini oladi, lekin tashqaridan to‘g‘ridan-to‘g‘ri yangi ulanish qabul qilmaydi.</a:t>
            </a:r>
          </a:p>
          <a:p/>
          <a:p>
            <a:r>
              <a:t>Ishlash jarayonida faqat muvaffaqiyatli holat emas, xato va cheklovlar ham hisobga olinadi. HTTPS ilova ichidagi noto‘g‘ri ruxsat yoki zararli kodni avtomatik bartaraf etmaydi. Shu sababli jamoa talabni, ruxsatni va nosozlikdagi xatti-harakatni oldindan belgilaydi. Portalning rasm, uslub fayllari va ommaviy videolari CDN orqali uzatiladi.</a:t>
            </a:r>
          </a:p>
          <a:p/>
          <a:p>
            <a:r>
              <a:t>Misolning xulosasi shuki, texnologiya alohida maqsad emas. U talabaga kerakli xizmatni sodda, xavfsiz va barqaror yetkazishga xizmat qiladi. Slayddagi tayanch qismlar ishni rejalashga yordam beradi; haqiqiy joylashtirishda esa aniq konfiguratsiya va amaldagi hujjatlar talab qilinadi.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Mavzuni to‘g‘ri tushunish uchun uchta chegarani qayta ajratamiz.</a:t>
            </a:r>
          </a:p>
          <a:p/>
          <a:p>
            <a:r>
              <a:t>1. Bir provayderdagi subnet xususiyatini boshqasiga aynan ko‘chirish mumkin emas: masalan, hudud va zona ko‘lami farqlanadi. To‘g‘ri talqin quyidagicha: VPC bulut ichida mantiqiy ajratilgan tarmoq muhitini beradi. Subnet uning IP diapazoniga tegishli kichik bo‘limidir. Public va private atamalari marshrut hamda kirish konfiguratsiyasi bilan bog‘liq.</a:t>
            </a:r>
          </a:p>
          <a:p/>
          <a:p>
            <a:r>
              <a:t>2. HTTPS ilova ichidagi noto‘g‘ri ruxsat yoki zararli kodni avtomatik bartaraf etmaydi. To‘g‘ri talqin quyidagicha: DNS foydalanuvchiga qulay nomni tegishli yozuvlarga bog‘laydi. HTTPS esa TLS yordamida uzatilayotgan ma’lumotni himoya qiladi va sertifikat orqali server identifikatsiyasini tekshirishga yordam beradi.</a:t>
            </a:r>
          </a:p>
          <a:p/>
          <a:p>
            <a:r>
              <a:t>3. Shaxsiy baholar yoki login javoblarini noto‘g‘ri umumiy keshga qo‘yish maxfiylik buzilishiga olib keladi. To‘g‘ri talqin quyidagicha: CDN statik fayllar va mos kesh siyosatidagi javoblarni chekka nuqtalarda saqlaydi. Bu origin server yukini va geografik kechikishni kamaytirishi mumkin. Kesh kaliti va amal qilish muddati muhim.</a:t>
            </a:r>
          </a:p>
          <a:p/>
          <a:p>
            <a:r>
              <a:t>Bu izohlar texnologiyani rad etish uchun emas, undan o‘rinli foydalanish uchun kerak. Ta’rif, amaliy vazifa va shart birga o‘qilgandagina to‘g‘ri xulosa paydo bo‘ladi. Shuning uchun xizmat nomi yoki bitta imkoniyatga qarab butun tizim haqida umumiy hukm chiqarmaymiz.</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Bugungi ma’ruzani yakunlaymiz. VPC dan CDN gacha bo‘lgan so‘rov yo‘li — mavzuning umumiy mazmunini ifodalaydi.</a:t>
            </a:r>
          </a:p>
          <a:p/>
          <a:p>
            <a:r>
              <a:t>Asosiy tayanch fikr: Mantiqiy tarmoqni kichik bo‘limlarga ajratish. Tarmoq CIDR diapazoni rejalashtiriladi. So‘ng ilova, baza va tashqi kirish uchun mos subnet lar yaratiladi. Xizmatlar va provayderlar subnet ko‘lamini turlicha belgilashi mumkin.</a:t>
            </a:r>
          </a:p>
          <a:p/>
          <a:p>
            <a:r>
              <a:t>Asosiy tayanch fikr: Private manzildan tashqi xizmatga chiqish. Ilova tashqi yangilanish serveriga so‘rov yuboradi. NAT chiqish manzilini almashtiradi va qaytgan javobni mos ichki ulanishga qaytaradi.</a:t>
            </a:r>
          </a:p>
          <a:p/>
          <a:p>
            <a:r>
              <a:t>Asosiy tayanch fikr: So‘rovlarni sog‘lom nusxalar orasida taqsimlash. Qoidalar host, yo‘l yoki ulanish darajasida yo‘naltiradi. Bir xil so‘rovlar turli nusxaga tushishi mumkin, shu sababli sessiya holati tashqi xizmatda saqlanishi ma’qul.</a:t>
            </a:r>
          </a:p>
          <a:p/>
          <a:p>
            <a:r>
              <a:t>Barcha bo‘limlarni universitet portali misoli orqali bog‘ladik. Endi atamalarni alohida so‘z sifatida emas, tizimdagi aniq vazifa sifatida ko‘rish mumkin. Arxitektura tanlashda talab, cheklov, xavfsizlik va xarajat birgalikda baholanadi. Mavzuni takrorlashda avval ta’rifni, keyin sxemani, so‘ng misol va chegaralarni ko‘zdan kechirish foydali. E’tiboringiz uchun rahmat.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Ushbu mavzu foydalanuvchi taqdim etgan BTST206 sillabusidagi tegishli ma’ruza bo‘limi asosida tuzildi. Slaydda mavzuni chuqurroq o‘qish uchun rasmiy hujjatlarga havolalar ko‘rsatilgan. Xizmatlar yangilanib boradi, shuning uchun amaliy ish oldidan tanlangan versiya, region, tarif va limitlar tekshiriladi. Bu ma’ruzada maqsad o‘zgaruvchan raqamlarni yodlash emas, barqaror tamoyillarni tushunishdir.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AFD"/>
        </a:solidFill>
        <a:effectLst/>
      </p:bgPr>
    </p:bg>
    <p:spTree>
      <p:nvGrpSpPr>
        <p:cNvPr id="1" name=""/>
        <p:cNvGrpSpPr/>
        <p:nvPr/>
      </p:nvGrpSpPr>
      <p:grpSpPr/>
      <p:cxnSp>
        <p:nvCxnSpPr>
          <p:cNvPr id="2" name="Connector 1"/>
          <p:cNvCxnSpPr/>
          <p:nvPr/>
        </p:nvCxnSpPr>
        <p:spPr>
          <a:xfrm>
            <a:off x="4572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3716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8288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22860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7432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2004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6576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1148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5720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0292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4864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9436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4008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8580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3152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7724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2296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6868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1440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6012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00584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05156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09728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14300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18872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4572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0" y="9144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0" y="13716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0" y="18288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0" y="22860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0" y="27432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0" y="32004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0" y="36576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0" y="41148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0" y="45720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0" y="50292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0" y="54864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0" y="59436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0" y="64008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365760" y="365760"/>
            <a:ext cx="11457432" cy="6035040"/>
          </a:xfrm>
          <a:prstGeom prst="rect">
            <a:avLst/>
          </a:prstGeom>
          <a:solidFill>
            <a:srgbClr val="F5FAFD"/>
          </a:solidFill>
          <a:ln>
            <a:solidFill>
              <a:srgbClr val="A4C7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85800" y="621792"/>
            <a:ext cx="10698480" cy="320040"/>
          </a:xfrm>
          <a:prstGeom prst="rect">
            <a:avLst/>
          </a:prstGeom>
          <a:noFill/>
        </p:spPr>
        <p:txBody>
          <a:bodyPr wrap="square" lIns="27432" rIns="27432" tIns="18288" bIns="0">
            <a:spAutoFit/>
          </a:bodyPr>
          <a:lstStyle/>
          <a:p>
            <a:pPr>
              <a:spcAft>
                <a:spcPts val="800"/>
              </a:spcAft>
              <a:defRPr sz="1400" b="1">
                <a:solidFill>
                  <a:srgbClr val="087EB6"/>
                </a:solidFill>
                <a:latin typeface="DejaVu Sans"/>
              </a:defRPr>
            </a:pPr>
            <a:r>
              <a:t>ENGINEERING SHEET 10     /     BULUTLI TARMOQ</a:t>
            </a:r>
          </a:p>
        </p:txBody>
      </p:sp>
      <p:sp>
        <p:nvSpPr>
          <p:cNvPr id="44" name="TextBox 43"/>
          <p:cNvSpPr txBox="1"/>
          <p:nvPr/>
        </p:nvSpPr>
        <p:spPr>
          <a:xfrm>
            <a:off x="713232" y="1435608"/>
            <a:ext cx="5486400" cy="1600200"/>
          </a:xfrm>
          <a:prstGeom prst="rect">
            <a:avLst/>
          </a:prstGeom>
          <a:noFill/>
        </p:spPr>
        <p:txBody>
          <a:bodyPr wrap="square" lIns="27432" rIns="27432" tIns="18288" bIns="0">
            <a:spAutoFit/>
          </a:bodyPr>
          <a:lstStyle/>
          <a:p>
            <a:pPr>
              <a:spcAft>
                <a:spcPts val="800"/>
              </a:spcAft>
              <a:defRPr sz="3600" b="1">
                <a:solidFill>
                  <a:srgbClr val="14324C"/>
                </a:solidFill>
                <a:latin typeface="DejaVu Sans"/>
              </a:defRPr>
            </a:pPr>
            <a:r>
              <a:t>So‘rovning</a:t>
            </a:r>
          </a:p>
          <a:p>
            <a:pPr>
              <a:spcAft>
                <a:spcPts val="800"/>
              </a:spcAft>
              <a:defRPr sz="3600" b="1">
                <a:solidFill>
                  <a:srgbClr val="14324C"/>
                </a:solidFill>
                <a:latin typeface="DejaVu Sans"/>
              </a:defRPr>
            </a:pPr>
            <a:r>
              <a:t>bulutdagi yo‘li</a:t>
            </a:r>
          </a:p>
        </p:txBody>
      </p:sp>
      <p:sp>
        <p:nvSpPr>
          <p:cNvPr id="45" name="TextBox 44"/>
          <p:cNvSpPr txBox="1"/>
          <p:nvPr/>
        </p:nvSpPr>
        <p:spPr>
          <a:xfrm>
            <a:off x="722376" y="3355848"/>
            <a:ext cx="5120640" cy="1051560"/>
          </a:xfrm>
          <a:prstGeom prst="rect">
            <a:avLst/>
          </a:prstGeom>
          <a:noFill/>
        </p:spPr>
        <p:txBody>
          <a:bodyPr wrap="square" lIns="27432" rIns="27432" tIns="18288" bIns="0">
            <a:spAutoFit/>
          </a:bodyPr>
          <a:lstStyle/>
          <a:p>
            <a:pPr>
              <a:spcAft>
                <a:spcPts val="800"/>
              </a:spcAft>
              <a:defRPr sz="2300" b="0">
                <a:solidFill>
                  <a:srgbClr val="14324C"/>
                </a:solidFill>
                <a:latin typeface="DejaVu Sans"/>
              </a:defRPr>
            </a:pPr>
            <a:r>
              <a:t>VPC, subnet, routing, DNS, HTTPS, Load Balancer va CDN</a:t>
            </a:r>
          </a:p>
        </p:txBody>
      </p:sp>
      <p:sp>
        <p:nvSpPr>
          <p:cNvPr id="46" name="Rectangle 45"/>
          <p:cNvSpPr/>
          <p:nvPr/>
        </p:nvSpPr>
        <p:spPr>
          <a:xfrm>
            <a:off x="6510528" y="1399032"/>
            <a:ext cx="4709160" cy="3657600"/>
          </a:xfrm>
          <a:prstGeom prst="rect">
            <a:avLst/>
          </a:prstGeom>
          <a:solidFill>
            <a:srgbClr val="FFFFFF"/>
          </a:solidFill>
          <a:ln>
            <a:solidFill>
              <a:srgbClr val="A4C7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7" name="Picture 46" descr="M10_cilium.png"/>
          <p:cNvPicPr>
            <a:picLocks noChangeAspect="1"/>
          </p:cNvPicPr>
          <p:nvPr/>
        </p:nvPicPr>
        <p:blipFill>
          <a:blip r:embed="rId2"/>
          <a:stretch>
            <a:fillRect/>
          </a:stretch>
        </p:blipFill>
        <p:spPr>
          <a:xfrm>
            <a:off x="7277217" y="1618487"/>
            <a:ext cx="3157492" cy="3200400"/>
          </a:xfrm>
          <a:prstGeom prst="rect">
            <a:avLst/>
          </a:prstGeom>
        </p:spPr>
      </p:pic>
      <p:sp>
        <p:nvSpPr>
          <p:cNvPr id="48" name="Rectangle 47"/>
          <p:cNvSpPr/>
          <p:nvPr/>
        </p:nvSpPr>
        <p:spPr>
          <a:xfrm>
            <a:off x="731520" y="5330952"/>
            <a:ext cx="3310127" cy="777240"/>
          </a:xfrm>
          <a:prstGeom prst="rect">
            <a:avLst/>
          </a:prstGeom>
          <a:solidFill>
            <a:srgbClr val="E4F2FA"/>
          </a:solidFill>
          <a:ln>
            <a:solidFill>
              <a:srgbClr val="087E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50392" y="5440680"/>
            <a:ext cx="3072383" cy="612647"/>
          </a:xfrm>
          <a:prstGeom prst="rect">
            <a:avLst/>
          </a:prstGeom>
          <a:noFill/>
        </p:spPr>
        <p:txBody>
          <a:bodyPr wrap="square" lIns="27432" rIns="27432" tIns="18288" bIns="0">
            <a:spAutoFit/>
          </a:bodyPr>
          <a:lstStyle/>
          <a:p>
            <a:pPr>
              <a:spcAft>
                <a:spcPts val="800"/>
              </a:spcAft>
              <a:defRPr sz="1700" b="1">
                <a:solidFill>
                  <a:srgbClr val="14324C"/>
                </a:solidFill>
                <a:latin typeface="DejaVu Sans"/>
              </a:defRPr>
            </a:pPr>
            <a:r>
              <a:t>Brauzer</a:t>
            </a:r>
          </a:p>
        </p:txBody>
      </p:sp>
      <p:cxnSp>
        <p:nvCxnSpPr>
          <p:cNvPr id="50" name="Connector 49"/>
          <p:cNvCxnSpPr/>
          <p:nvPr/>
        </p:nvCxnSpPr>
        <p:spPr>
          <a:xfrm>
            <a:off x="4041648" y="5719572"/>
            <a:ext cx="292607" cy="0"/>
          </a:xfrm>
          <a:prstGeom prst="line">
            <a:avLst/>
          </a:prstGeom>
          <a:ln w="24130">
            <a:solidFill>
              <a:srgbClr val="087EB6"/>
            </a:solidFill>
            <a:tailEnd type="triangle"/>
          </a:ln>
        </p:spPr>
        <p:style>
          <a:lnRef idx="2">
            <a:schemeClr val="accent1"/>
          </a:lnRef>
          <a:fillRef idx="0">
            <a:schemeClr val="accent1"/>
          </a:fillRef>
          <a:effectRef idx="1">
            <a:schemeClr val="accent1"/>
          </a:effectRef>
          <a:fontRef idx="minor">
            <a:schemeClr val="tx1"/>
          </a:fontRef>
        </p:style>
      </p:cxnSp>
      <p:sp>
        <p:nvSpPr>
          <p:cNvPr id="51" name="Rectangle 50"/>
          <p:cNvSpPr/>
          <p:nvPr/>
        </p:nvSpPr>
        <p:spPr>
          <a:xfrm>
            <a:off x="4334255" y="5330952"/>
            <a:ext cx="3310127" cy="777240"/>
          </a:xfrm>
          <a:prstGeom prst="rect">
            <a:avLst/>
          </a:prstGeom>
          <a:solidFill>
            <a:srgbClr val="E4F2FA"/>
          </a:solidFill>
          <a:ln>
            <a:solidFill>
              <a:srgbClr val="087E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453127" y="5440680"/>
            <a:ext cx="3072383" cy="612647"/>
          </a:xfrm>
          <a:prstGeom prst="rect">
            <a:avLst/>
          </a:prstGeom>
          <a:noFill/>
        </p:spPr>
        <p:txBody>
          <a:bodyPr wrap="square" lIns="27432" rIns="27432" tIns="18288" bIns="0">
            <a:spAutoFit/>
          </a:bodyPr>
          <a:lstStyle/>
          <a:p>
            <a:pPr>
              <a:spcAft>
                <a:spcPts val="800"/>
              </a:spcAft>
              <a:defRPr sz="1700" b="1">
                <a:solidFill>
                  <a:srgbClr val="14324C"/>
                </a:solidFill>
                <a:latin typeface="DejaVu Sans"/>
              </a:defRPr>
            </a:pPr>
            <a:r>
              <a:t>Tarmoq</a:t>
            </a:r>
          </a:p>
        </p:txBody>
      </p:sp>
      <p:cxnSp>
        <p:nvCxnSpPr>
          <p:cNvPr id="53" name="Connector 52"/>
          <p:cNvCxnSpPr/>
          <p:nvPr/>
        </p:nvCxnSpPr>
        <p:spPr>
          <a:xfrm>
            <a:off x="7644383" y="5719572"/>
            <a:ext cx="292609" cy="0"/>
          </a:xfrm>
          <a:prstGeom prst="line">
            <a:avLst/>
          </a:prstGeom>
          <a:ln w="24130">
            <a:solidFill>
              <a:srgbClr val="087EB6"/>
            </a:solidFill>
            <a:tailEnd type="triangle"/>
          </a:ln>
        </p:spPr>
        <p:style>
          <a:lnRef idx="2">
            <a:schemeClr val="accent1"/>
          </a:lnRef>
          <a:fillRef idx="0">
            <a:schemeClr val="accent1"/>
          </a:fillRef>
          <a:effectRef idx="1">
            <a:schemeClr val="accent1"/>
          </a:effectRef>
          <a:fontRef idx="minor">
            <a:schemeClr val="tx1"/>
          </a:fontRef>
        </p:style>
      </p:cxnSp>
      <p:sp>
        <p:nvSpPr>
          <p:cNvPr id="54" name="Rectangle 53"/>
          <p:cNvSpPr/>
          <p:nvPr/>
        </p:nvSpPr>
        <p:spPr>
          <a:xfrm>
            <a:off x="7936992" y="5330952"/>
            <a:ext cx="3310127" cy="777240"/>
          </a:xfrm>
          <a:prstGeom prst="rect">
            <a:avLst/>
          </a:prstGeom>
          <a:solidFill>
            <a:srgbClr val="E4F2FA"/>
          </a:solidFill>
          <a:ln>
            <a:solidFill>
              <a:srgbClr val="087E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055864" y="5440680"/>
            <a:ext cx="3072383" cy="612647"/>
          </a:xfrm>
          <a:prstGeom prst="rect">
            <a:avLst/>
          </a:prstGeom>
          <a:noFill/>
        </p:spPr>
        <p:txBody>
          <a:bodyPr wrap="square" lIns="27432" rIns="27432" tIns="18288" bIns="0">
            <a:spAutoFit/>
          </a:bodyPr>
          <a:lstStyle/>
          <a:p>
            <a:pPr>
              <a:spcAft>
                <a:spcPts val="800"/>
              </a:spcAft>
              <a:defRPr sz="1700" b="1">
                <a:solidFill>
                  <a:srgbClr val="14324C"/>
                </a:solidFill>
                <a:latin typeface="DejaVu Sans"/>
              </a:defRPr>
            </a:pPr>
            <a:r>
              <a:t>Ilova</a:t>
            </a:r>
          </a:p>
        </p:txBody>
      </p:sp>
      <p:sp>
        <p:nvSpPr>
          <p:cNvPr id="56" name="TextBox 55"/>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4324C"/>
                </a:solidFill>
                <a:latin typeface="DejaVu Sans"/>
              </a:defRPr>
            </a:pPr>
            <a:r>
              <a:t>BTST206   /   M10   /   2027–2028</a:t>
            </a:r>
          </a:p>
        </p:txBody>
      </p:sp>
      <p:sp>
        <p:nvSpPr>
          <p:cNvPr id="57" name="TextBox 56"/>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4324C"/>
                </a:solidFill>
                <a:latin typeface="DejaVu Sans"/>
              </a:defRPr>
            </a:pPr>
            <a:r>
              <a:t>01 / 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AFD"/>
        </a:solidFill>
        <a:effectLst/>
      </p:bgPr>
    </p:bg>
    <p:spTree>
      <p:nvGrpSpPr>
        <p:cNvPr id="1" name=""/>
        <p:cNvGrpSpPr/>
        <p:nvPr/>
      </p:nvGrpSpPr>
      <p:grpSpPr/>
      <p:cxnSp>
        <p:nvCxnSpPr>
          <p:cNvPr id="2" name="Connector 1"/>
          <p:cNvCxnSpPr/>
          <p:nvPr/>
        </p:nvCxnSpPr>
        <p:spPr>
          <a:xfrm>
            <a:off x="4572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3716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8288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22860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7432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2004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6576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1148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5720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0292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4864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9436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4008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8580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3152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7724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2296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6868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1440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6012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00584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05156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09728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14300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18872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4572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0" y="9144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0" y="13716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0" y="18288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0" y="22860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0" y="27432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0" y="32004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0" y="36576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0" y="41148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0" y="45720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0" y="50292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0" y="54864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0" y="59436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0" y="64008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320040" y="320040"/>
            <a:ext cx="11548872" cy="6080760"/>
          </a:xfrm>
          <a:prstGeom prst="rect">
            <a:avLst/>
          </a:prstGeom>
          <a:solidFill>
            <a:srgbClr val="F5FAFD"/>
          </a:solidFill>
          <a:ln>
            <a:solidFill>
              <a:srgbClr val="BED9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3" name="Connector 42"/>
          <p:cNvCxnSpPr/>
          <p:nvPr/>
        </p:nvCxnSpPr>
        <p:spPr>
          <a:xfrm>
            <a:off x="320040" y="1682496"/>
            <a:ext cx="11548872" cy="0"/>
          </a:xfrm>
          <a:prstGeom prst="line">
            <a:avLst/>
          </a:prstGeom>
          <a:ln w="12700">
            <a:solidFill>
              <a:srgbClr val="BED9E7"/>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640080" y="493776"/>
            <a:ext cx="10058400" cy="274320"/>
          </a:xfrm>
          <a:prstGeom prst="rect">
            <a:avLst/>
          </a:prstGeom>
          <a:noFill/>
        </p:spPr>
        <p:txBody>
          <a:bodyPr wrap="square" lIns="27432" rIns="27432" tIns="18288" bIns="0">
            <a:spAutoFit/>
          </a:bodyPr>
          <a:lstStyle/>
          <a:p>
            <a:pPr>
              <a:spcAft>
                <a:spcPts val="800"/>
              </a:spcAft>
              <a:defRPr sz="1200" b="1">
                <a:solidFill>
                  <a:srgbClr val="087EB6"/>
                </a:solidFill>
                <a:latin typeface="DejaVu Sans"/>
              </a:defRPr>
            </a:pPr>
            <a:r>
              <a:t>BTST206  /  TARMOQ REJASI  /  SHEET 02</a:t>
            </a:r>
          </a:p>
        </p:txBody>
      </p:sp>
      <p:sp>
        <p:nvSpPr>
          <p:cNvPr id="45" name="TextBox 44"/>
          <p:cNvSpPr txBox="1"/>
          <p:nvPr/>
        </p:nvSpPr>
        <p:spPr>
          <a:xfrm>
            <a:off x="640080" y="914400"/>
            <a:ext cx="10881360" cy="685800"/>
          </a:xfrm>
          <a:prstGeom prst="rect">
            <a:avLst/>
          </a:prstGeom>
          <a:noFill/>
        </p:spPr>
        <p:txBody>
          <a:bodyPr wrap="square" lIns="27432" rIns="27432" tIns="18288" bIns="0">
            <a:spAutoFit/>
          </a:bodyPr>
          <a:lstStyle/>
          <a:p>
            <a:pPr>
              <a:spcAft>
                <a:spcPts val="800"/>
              </a:spcAft>
              <a:defRPr sz="2700" b="1">
                <a:solidFill>
                  <a:srgbClr val="14324C"/>
                </a:solidFill>
                <a:latin typeface="DejaVu Sans"/>
              </a:defRPr>
            </a:pPr>
            <a:r>
              <a:t>Ma’ruza yo‘l xaritasi</a:t>
            </a:r>
          </a:p>
        </p:txBody>
      </p:sp>
      <p:sp>
        <p:nvSpPr>
          <p:cNvPr id="46" name="TextBox 45"/>
          <p:cNvSpPr txBox="1"/>
          <p:nvPr/>
        </p:nvSpPr>
        <p:spPr>
          <a:xfrm>
            <a:off x="640080" y="1865376"/>
            <a:ext cx="10789920" cy="411480"/>
          </a:xfrm>
          <a:prstGeom prst="rect">
            <a:avLst/>
          </a:prstGeom>
          <a:noFill/>
        </p:spPr>
        <p:txBody>
          <a:bodyPr wrap="square" lIns="27432" rIns="27432" tIns="18288" bIns="0">
            <a:spAutoFit/>
          </a:bodyPr>
          <a:lstStyle/>
          <a:p>
            <a:pPr>
              <a:spcAft>
                <a:spcPts val="800"/>
              </a:spcAft>
              <a:defRPr sz="1500" b="0">
                <a:solidFill>
                  <a:srgbClr val="087EB6"/>
                </a:solidFill>
                <a:latin typeface="DejaVu Sans"/>
              </a:defRPr>
            </a:pPr>
            <a:r>
              <a:t>Olti tushuncha — bitta yaxlit tizim</a:t>
            </a:r>
          </a:p>
        </p:txBody>
      </p:sp>
      <p:sp>
        <p:nvSpPr>
          <p:cNvPr id="47" name="TextBox 46"/>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4324C"/>
                </a:solidFill>
                <a:latin typeface="DejaVu Sans"/>
              </a:defRPr>
            </a:pPr>
            <a:r>
              <a:t>BTST206   /   M10   /   2027–2028</a:t>
            </a:r>
          </a:p>
        </p:txBody>
      </p:sp>
      <p:sp>
        <p:nvSpPr>
          <p:cNvPr id="48" name="TextBox 47"/>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4324C"/>
                </a:solidFill>
                <a:latin typeface="DejaVu Sans"/>
              </a:defRPr>
            </a:pPr>
            <a:r>
              <a:t>02 / 13</a:t>
            </a:r>
          </a:p>
        </p:txBody>
      </p:sp>
      <p:sp>
        <p:nvSpPr>
          <p:cNvPr id="49" name="Rectangle 48"/>
          <p:cNvSpPr/>
          <p:nvPr/>
        </p:nvSpPr>
        <p:spPr>
          <a:xfrm>
            <a:off x="685800" y="2423160"/>
            <a:ext cx="5212080" cy="932688"/>
          </a:xfrm>
          <a:prstGeom prst="rect">
            <a:avLst/>
          </a:prstGeom>
          <a:solidFill>
            <a:srgbClr val="FFFFFF"/>
          </a:solidFill>
          <a:ln>
            <a:solidFill>
              <a:srgbClr val="8DB8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95528" y="2651760"/>
            <a:ext cx="457200" cy="365760"/>
          </a:xfrm>
          <a:prstGeom prst="rect">
            <a:avLst/>
          </a:prstGeom>
          <a:noFill/>
        </p:spPr>
        <p:txBody>
          <a:bodyPr wrap="square" lIns="27432" rIns="27432" tIns="18288" bIns="0">
            <a:spAutoFit/>
          </a:bodyPr>
          <a:lstStyle/>
          <a:p>
            <a:pPr>
              <a:spcAft>
                <a:spcPts val="800"/>
              </a:spcAft>
              <a:defRPr sz="1500" b="1">
                <a:solidFill>
                  <a:srgbClr val="087EB6"/>
                </a:solidFill>
                <a:latin typeface="DejaVu Sans"/>
              </a:defRPr>
            </a:pPr>
            <a:r>
              <a:t>01</a:t>
            </a:r>
          </a:p>
        </p:txBody>
      </p:sp>
      <p:sp>
        <p:nvSpPr>
          <p:cNvPr id="51" name="TextBox 50"/>
          <p:cNvSpPr txBox="1"/>
          <p:nvPr/>
        </p:nvSpPr>
        <p:spPr>
          <a:xfrm>
            <a:off x="1417320" y="2587752"/>
            <a:ext cx="4297680" cy="667512"/>
          </a:xfrm>
          <a:prstGeom prst="rect">
            <a:avLst/>
          </a:prstGeom>
          <a:noFill/>
        </p:spPr>
        <p:txBody>
          <a:bodyPr wrap="square" lIns="27432" rIns="27432" tIns="18288" bIns="0">
            <a:spAutoFit/>
          </a:bodyPr>
          <a:lstStyle/>
          <a:p>
            <a:pPr>
              <a:spcAft>
                <a:spcPts val="800"/>
              </a:spcAft>
              <a:defRPr sz="2000" b="1">
                <a:solidFill>
                  <a:srgbClr val="14324C"/>
                </a:solidFill>
                <a:latin typeface="DejaVu Sans"/>
              </a:defRPr>
            </a:pPr>
            <a:r>
              <a:t>VPC va subnet</a:t>
            </a:r>
          </a:p>
        </p:txBody>
      </p:sp>
      <p:sp>
        <p:nvSpPr>
          <p:cNvPr id="52" name="Rectangle 51"/>
          <p:cNvSpPr/>
          <p:nvPr/>
        </p:nvSpPr>
        <p:spPr>
          <a:xfrm>
            <a:off x="6355080" y="2423160"/>
            <a:ext cx="5212080" cy="932688"/>
          </a:xfrm>
          <a:prstGeom prst="rect">
            <a:avLst/>
          </a:prstGeom>
          <a:solidFill>
            <a:srgbClr val="FFFFFF"/>
          </a:solidFill>
          <a:ln>
            <a:solidFill>
              <a:srgbClr val="8DB8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464808" y="2651760"/>
            <a:ext cx="457200" cy="365760"/>
          </a:xfrm>
          <a:prstGeom prst="rect">
            <a:avLst/>
          </a:prstGeom>
          <a:noFill/>
        </p:spPr>
        <p:txBody>
          <a:bodyPr wrap="square" lIns="27432" rIns="27432" tIns="18288" bIns="0">
            <a:spAutoFit/>
          </a:bodyPr>
          <a:lstStyle/>
          <a:p>
            <a:pPr>
              <a:spcAft>
                <a:spcPts val="800"/>
              </a:spcAft>
              <a:defRPr sz="1500" b="1">
                <a:solidFill>
                  <a:srgbClr val="087EB6"/>
                </a:solidFill>
                <a:latin typeface="DejaVu Sans"/>
              </a:defRPr>
            </a:pPr>
            <a:r>
              <a:t>02</a:t>
            </a:r>
          </a:p>
        </p:txBody>
      </p:sp>
      <p:sp>
        <p:nvSpPr>
          <p:cNvPr id="54" name="TextBox 53"/>
          <p:cNvSpPr txBox="1"/>
          <p:nvPr/>
        </p:nvSpPr>
        <p:spPr>
          <a:xfrm>
            <a:off x="7086600" y="2587752"/>
            <a:ext cx="4297680" cy="667512"/>
          </a:xfrm>
          <a:prstGeom prst="rect">
            <a:avLst/>
          </a:prstGeom>
          <a:noFill/>
        </p:spPr>
        <p:txBody>
          <a:bodyPr wrap="square" lIns="27432" rIns="27432" tIns="18288" bIns="0">
            <a:spAutoFit/>
          </a:bodyPr>
          <a:lstStyle/>
          <a:p>
            <a:pPr>
              <a:spcAft>
                <a:spcPts val="800"/>
              </a:spcAft>
              <a:defRPr sz="2000" b="1">
                <a:solidFill>
                  <a:srgbClr val="14324C"/>
                </a:solidFill>
                <a:latin typeface="DejaVu Sans"/>
              </a:defRPr>
            </a:pPr>
            <a:r>
              <a:t>IP-manzillash va routing</a:t>
            </a:r>
          </a:p>
        </p:txBody>
      </p:sp>
      <p:sp>
        <p:nvSpPr>
          <p:cNvPr id="55" name="Rectangle 54"/>
          <p:cNvSpPr/>
          <p:nvPr/>
        </p:nvSpPr>
        <p:spPr>
          <a:xfrm>
            <a:off x="685800" y="3593591"/>
            <a:ext cx="5212080" cy="932688"/>
          </a:xfrm>
          <a:prstGeom prst="rect">
            <a:avLst/>
          </a:prstGeom>
          <a:solidFill>
            <a:srgbClr val="FFFFFF"/>
          </a:solidFill>
          <a:ln>
            <a:solidFill>
              <a:srgbClr val="8DB8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95528" y="3822191"/>
            <a:ext cx="457200" cy="365760"/>
          </a:xfrm>
          <a:prstGeom prst="rect">
            <a:avLst/>
          </a:prstGeom>
          <a:noFill/>
        </p:spPr>
        <p:txBody>
          <a:bodyPr wrap="square" lIns="27432" rIns="27432" tIns="18288" bIns="0">
            <a:spAutoFit/>
          </a:bodyPr>
          <a:lstStyle/>
          <a:p>
            <a:pPr>
              <a:spcAft>
                <a:spcPts val="800"/>
              </a:spcAft>
              <a:defRPr sz="1500" b="1">
                <a:solidFill>
                  <a:srgbClr val="087EB6"/>
                </a:solidFill>
                <a:latin typeface="DejaVu Sans"/>
              </a:defRPr>
            </a:pPr>
            <a:r>
              <a:t>03</a:t>
            </a:r>
          </a:p>
        </p:txBody>
      </p:sp>
      <p:sp>
        <p:nvSpPr>
          <p:cNvPr id="57" name="TextBox 56"/>
          <p:cNvSpPr txBox="1"/>
          <p:nvPr/>
        </p:nvSpPr>
        <p:spPr>
          <a:xfrm>
            <a:off x="1417320" y="3758183"/>
            <a:ext cx="4297680" cy="667512"/>
          </a:xfrm>
          <a:prstGeom prst="rect">
            <a:avLst/>
          </a:prstGeom>
          <a:noFill/>
        </p:spPr>
        <p:txBody>
          <a:bodyPr wrap="square" lIns="27432" rIns="27432" tIns="18288" bIns="0">
            <a:spAutoFit/>
          </a:bodyPr>
          <a:lstStyle/>
          <a:p>
            <a:pPr>
              <a:spcAft>
                <a:spcPts val="800"/>
              </a:spcAft>
              <a:defRPr sz="2000" b="1">
                <a:solidFill>
                  <a:srgbClr val="14324C"/>
                </a:solidFill>
                <a:latin typeface="DejaVu Sans"/>
              </a:defRPr>
            </a:pPr>
            <a:r>
              <a:t>NAT va xavfsizlik chegarasi</a:t>
            </a:r>
          </a:p>
        </p:txBody>
      </p:sp>
      <p:sp>
        <p:nvSpPr>
          <p:cNvPr id="58" name="Rectangle 57"/>
          <p:cNvSpPr/>
          <p:nvPr/>
        </p:nvSpPr>
        <p:spPr>
          <a:xfrm>
            <a:off x="6355080" y="3593591"/>
            <a:ext cx="5212080" cy="932688"/>
          </a:xfrm>
          <a:prstGeom prst="rect">
            <a:avLst/>
          </a:prstGeom>
          <a:solidFill>
            <a:srgbClr val="FFFFFF"/>
          </a:solidFill>
          <a:ln>
            <a:solidFill>
              <a:srgbClr val="8DB8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464808" y="3822191"/>
            <a:ext cx="457200" cy="365760"/>
          </a:xfrm>
          <a:prstGeom prst="rect">
            <a:avLst/>
          </a:prstGeom>
          <a:noFill/>
        </p:spPr>
        <p:txBody>
          <a:bodyPr wrap="square" lIns="27432" rIns="27432" tIns="18288" bIns="0">
            <a:spAutoFit/>
          </a:bodyPr>
          <a:lstStyle/>
          <a:p>
            <a:pPr>
              <a:spcAft>
                <a:spcPts val="800"/>
              </a:spcAft>
              <a:defRPr sz="1500" b="1">
                <a:solidFill>
                  <a:srgbClr val="087EB6"/>
                </a:solidFill>
                <a:latin typeface="DejaVu Sans"/>
              </a:defRPr>
            </a:pPr>
            <a:r>
              <a:t>04</a:t>
            </a:r>
          </a:p>
        </p:txBody>
      </p:sp>
      <p:sp>
        <p:nvSpPr>
          <p:cNvPr id="60" name="TextBox 59"/>
          <p:cNvSpPr txBox="1"/>
          <p:nvPr/>
        </p:nvSpPr>
        <p:spPr>
          <a:xfrm>
            <a:off x="7086600" y="3758183"/>
            <a:ext cx="4297680" cy="667512"/>
          </a:xfrm>
          <a:prstGeom prst="rect">
            <a:avLst/>
          </a:prstGeom>
          <a:noFill/>
        </p:spPr>
        <p:txBody>
          <a:bodyPr wrap="square" lIns="27432" rIns="27432" tIns="18288" bIns="0">
            <a:spAutoFit/>
          </a:bodyPr>
          <a:lstStyle/>
          <a:p>
            <a:pPr>
              <a:spcAft>
                <a:spcPts val="800"/>
              </a:spcAft>
              <a:defRPr sz="2000" b="1">
                <a:solidFill>
                  <a:srgbClr val="14324C"/>
                </a:solidFill>
                <a:latin typeface="DejaVu Sans"/>
              </a:defRPr>
            </a:pPr>
            <a:r>
              <a:t>DNS va HTTPS</a:t>
            </a:r>
          </a:p>
        </p:txBody>
      </p:sp>
      <p:sp>
        <p:nvSpPr>
          <p:cNvPr id="61" name="Rectangle 60"/>
          <p:cNvSpPr/>
          <p:nvPr/>
        </p:nvSpPr>
        <p:spPr>
          <a:xfrm>
            <a:off x="685800" y="4764024"/>
            <a:ext cx="5212080" cy="932688"/>
          </a:xfrm>
          <a:prstGeom prst="rect">
            <a:avLst/>
          </a:prstGeom>
          <a:solidFill>
            <a:srgbClr val="FFFFFF"/>
          </a:solidFill>
          <a:ln>
            <a:solidFill>
              <a:srgbClr val="8DB8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95528" y="4992624"/>
            <a:ext cx="457200" cy="365760"/>
          </a:xfrm>
          <a:prstGeom prst="rect">
            <a:avLst/>
          </a:prstGeom>
          <a:noFill/>
        </p:spPr>
        <p:txBody>
          <a:bodyPr wrap="square" lIns="27432" rIns="27432" tIns="18288" bIns="0">
            <a:spAutoFit/>
          </a:bodyPr>
          <a:lstStyle/>
          <a:p>
            <a:pPr>
              <a:spcAft>
                <a:spcPts val="800"/>
              </a:spcAft>
              <a:defRPr sz="1500" b="1">
                <a:solidFill>
                  <a:srgbClr val="087EB6"/>
                </a:solidFill>
                <a:latin typeface="DejaVu Sans"/>
              </a:defRPr>
            </a:pPr>
            <a:r>
              <a:t>05</a:t>
            </a:r>
          </a:p>
        </p:txBody>
      </p:sp>
      <p:sp>
        <p:nvSpPr>
          <p:cNvPr id="63" name="TextBox 62"/>
          <p:cNvSpPr txBox="1"/>
          <p:nvPr/>
        </p:nvSpPr>
        <p:spPr>
          <a:xfrm>
            <a:off x="1417320" y="4928616"/>
            <a:ext cx="4297680" cy="667512"/>
          </a:xfrm>
          <a:prstGeom prst="rect">
            <a:avLst/>
          </a:prstGeom>
          <a:noFill/>
        </p:spPr>
        <p:txBody>
          <a:bodyPr wrap="square" lIns="27432" rIns="27432" tIns="18288" bIns="0">
            <a:spAutoFit/>
          </a:bodyPr>
          <a:lstStyle/>
          <a:p>
            <a:pPr>
              <a:spcAft>
                <a:spcPts val="800"/>
              </a:spcAft>
              <a:defRPr sz="2000" b="1">
                <a:solidFill>
                  <a:srgbClr val="14324C"/>
                </a:solidFill>
                <a:latin typeface="DejaVu Sans"/>
              </a:defRPr>
            </a:pPr>
            <a:r>
              <a:t>Load Balancer</a:t>
            </a:r>
          </a:p>
        </p:txBody>
      </p:sp>
      <p:sp>
        <p:nvSpPr>
          <p:cNvPr id="64" name="Rectangle 63"/>
          <p:cNvSpPr/>
          <p:nvPr/>
        </p:nvSpPr>
        <p:spPr>
          <a:xfrm>
            <a:off x="6355080" y="4764024"/>
            <a:ext cx="5212080" cy="932688"/>
          </a:xfrm>
          <a:prstGeom prst="rect">
            <a:avLst/>
          </a:prstGeom>
          <a:solidFill>
            <a:srgbClr val="FFFFFF"/>
          </a:solidFill>
          <a:ln>
            <a:solidFill>
              <a:srgbClr val="8DB8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464808" y="4992624"/>
            <a:ext cx="457200" cy="365760"/>
          </a:xfrm>
          <a:prstGeom prst="rect">
            <a:avLst/>
          </a:prstGeom>
          <a:noFill/>
        </p:spPr>
        <p:txBody>
          <a:bodyPr wrap="square" lIns="27432" rIns="27432" tIns="18288" bIns="0">
            <a:spAutoFit/>
          </a:bodyPr>
          <a:lstStyle/>
          <a:p>
            <a:pPr>
              <a:spcAft>
                <a:spcPts val="800"/>
              </a:spcAft>
              <a:defRPr sz="1500" b="1">
                <a:solidFill>
                  <a:srgbClr val="087EB6"/>
                </a:solidFill>
                <a:latin typeface="DejaVu Sans"/>
              </a:defRPr>
            </a:pPr>
            <a:r>
              <a:t>06</a:t>
            </a:r>
          </a:p>
        </p:txBody>
      </p:sp>
      <p:sp>
        <p:nvSpPr>
          <p:cNvPr id="66" name="TextBox 65"/>
          <p:cNvSpPr txBox="1"/>
          <p:nvPr/>
        </p:nvSpPr>
        <p:spPr>
          <a:xfrm>
            <a:off x="7086600" y="4928616"/>
            <a:ext cx="4297680" cy="667512"/>
          </a:xfrm>
          <a:prstGeom prst="rect">
            <a:avLst/>
          </a:prstGeom>
          <a:noFill/>
        </p:spPr>
        <p:txBody>
          <a:bodyPr wrap="square" lIns="27432" rIns="27432" tIns="18288" bIns="0">
            <a:spAutoFit/>
          </a:bodyPr>
          <a:lstStyle/>
          <a:p>
            <a:pPr>
              <a:spcAft>
                <a:spcPts val="800"/>
              </a:spcAft>
              <a:defRPr sz="2000" b="1">
                <a:solidFill>
                  <a:srgbClr val="14324C"/>
                </a:solidFill>
                <a:latin typeface="DejaVu Sans"/>
              </a:defRPr>
            </a:pPr>
            <a:r>
              <a:t>CDN va kesh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AFD"/>
        </a:solidFill>
        <a:effectLst/>
      </p:bgPr>
    </p:bg>
    <p:spTree>
      <p:nvGrpSpPr>
        <p:cNvPr id="1" name=""/>
        <p:cNvGrpSpPr/>
        <p:nvPr/>
      </p:nvGrpSpPr>
      <p:grpSpPr/>
      <p:cxnSp>
        <p:nvCxnSpPr>
          <p:cNvPr id="2" name="Connector 1"/>
          <p:cNvCxnSpPr/>
          <p:nvPr/>
        </p:nvCxnSpPr>
        <p:spPr>
          <a:xfrm>
            <a:off x="4572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3716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8288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22860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7432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2004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6576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1148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5720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0292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4864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9436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4008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8580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3152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7724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2296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6868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1440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6012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00584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05156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09728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14300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18872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4572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0" y="9144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0" y="13716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0" y="18288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0" y="22860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0" y="27432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0" y="32004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0" y="36576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0" y="41148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0" y="45720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0" y="50292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0" y="54864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0" y="59436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0" y="64008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320040" y="320040"/>
            <a:ext cx="11548872" cy="6080760"/>
          </a:xfrm>
          <a:prstGeom prst="rect">
            <a:avLst/>
          </a:prstGeom>
          <a:solidFill>
            <a:srgbClr val="F5FAFD"/>
          </a:solidFill>
          <a:ln>
            <a:solidFill>
              <a:srgbClr val="BED9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3" name="Connector 42"/>
          <p:cNvCxnSpPr/>
          <p:nvPr/>
        </p:nvCxnSpPr>
        <p:spPr>
          <a:xfrm>
            <a:off x="320040" y="1682496"/>
            <a:ext cx="11548872" cy="0"/>
          </a:xfrm>
          <a:prstGeom prst="line">
            <a:avLst/>
          </a:prstGeom>
          <a:ln w="12700">
            <a:solidFill>
              <a:srgbClr val="BED9E7"/>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640080" y="493776"/>
            <a:ext cx="10058400" cy="274320"/>
          </a:xfrm>
          <a:prstGeom prst="rect">
            <a:avLst/>
          </a:prstGeom>
          <a:noFill/>
        </p:spPr>
        <p:txBody>
          <a:bodyPr wrap="square" lIns="27432" rIns="27432" tIns="18288" bIns="0">
            <a:spAutoFit/>
          </a:bodyPr>
          <a:lstStyle/>
          <a:p>
            <a:pPr>
              <a:spcAft>
                <a:spcPts val="800"/>
              </a:spcAft>
              <a:defRPr sz="1200" b="1">
                <a:solidFill>
                  <a:srgbClr val="087EB6"/>
                </a:solidFill>
                <a:latin typeface="DejaVu Sans"/>
              </a:defRPr>
            </a:pPr>
            <a:r>
              <a:t>BTST206  /  TARMOQ REJASI  /  SHEET 03</a:t>
            </a:r>
          </a:p>
        </p:txBody>
      </p:sp>
      <p:sp>
        <p:nvSpPr>
          <p:cNvPr id="45" name="TextBox 44"/>
          <p:cNvSpPr txBox="1"/>
          <p:nvPr/>
        </p:nvSpPr>
        <p:spPr>
          <a:xfrm>
            <a:off x="640080" y="914400"/>
            <a:ext cx="10881360" cy="685800"/>
          </a:xfrm>
          <a:prstGeom prst="rect">
            <a:avLst/>
          </a:prstGeom>
          <a:noFill/>
        </p:spPr>
        <p:txBody>
          <a:bodyPr wrap="square" lIns="27432" rIns="27432" tIns="18288" bIns="0">
            <a:spAutoFit/>
          </a:bodyPr>
          <a:lstStyle/>
          <a:p>
            <a:pPr>
              <a:spcAft>
                <a:spcPts val="800"/>
              </a:spcAft>
              <a:defRPr sz="2700" b="1">
                <a:solidFill>
                  <a:srgbClr val="14324C"/>
                </a:solidFill>
                <a:latin typeface="DejaVu Sans"/>
              </a:defRPr>
            </a:pPr>
            <a:r>
              <a:t>VPC va subnet</a:t>
            </a:r>
          </a:p>
        </p:txBody>
      </p:sp>
      <p:sp>
        <p:nvSpPr>
          <p:cNvPr id="46" name="TextBox 45"/>
          <p:cNvSpPr txBox="1"/>
          <p:nvPr/>
        </p:nvSpPr>
        <p:spPr>
          <a:xfrm>
            <a:off x="640080" y="1865376"/>
            <a:ext cx="10789920" cy="411480"/>
          </a:xfrm>
          <a:prstGeom prst="rect">
            <a:avLst/>
          </a:prstGeom>
          <a:noFill/>
        </p:spPr>
        <p:txBody>
          <a:bodyPr wrap="square" lIns="27432" rIns="27432" tIns="18288" bIns="0">
            <a:spAutoFit/>
          </a:bodyPr>
          <a:lstStyle/>
          <a:p>
            <a:pPr>
              <a:spcAft>
                <a:spcPts val="800"/>
              </a:spcAft>
              <a:defRPr sz="1500" b="0">
                <a:solidFill>
                  <a:srgbClr val="087EB6"/>
                </a:solidFill>
                <a:latin typeface="DejaVu Sans"/>
              </a:defRPr>
            </a:pPr>
            <a:r>
              <a:t>Mantiqiy tarmoqni kichik bo‘limlarga ajratish.</a:t>
            </a:r>
          </a:p>
        </p:txBody>
      </p:sp>
      <p:sp>
        <p:nvSpPr>
          <p:cNvPr id="47" name="TextBox 46"/>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4324C"/>
                </a:solidFill>
                <a:latin typeface="DejaVu Sans"/>
              </a:defRPr>
            </a:pPr>
            <a:r>
              <a:t>BTST206   /   M10   /   2027–2028</a:t>
            </a:r>
          </a:p>
        </p:txBody>
      </p:sp>
      <p:sp>
        <p:nvSpPr>
          <p:cNvPr id="48" name="TextBox 47"/>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4324C"/>
                </a:solidFill>
                <a:latin typeface="DejaVu Sans"/>
              </a:defRPr>
            </a:pPr>
            <a:r>
              <a:t>03 / 13</a:t>
            </a:r>
          </a:p>
        </p:txBody>
      </p:sp>
      <p:sp>
        <p:nvSpPr>
          <p:cNvPr id="49" name="TextBox 48"/>
          <p:cNvSpPr txBox="1"/>
          <p:nvPr/>
        </p:nvSpPr>
        <p:spPr>
          <a:xfrm>
            <a:off x="713232" y="2532888"/>
            <a:ext cx="6446520" cy="1261872"/>
          </a:xfrm>
          <a:prstGeom prst="rect">
            <a:avLst/>
          </a:prstGeom>
          <a:noFill/>
        </p:spPr>
        <p:txBody>
          <a:bodyPr wrap="square" lIns="27432" rIns="27432" tIns="18288" bIns="0">
            <a:spAutoFit/>
          </a:bodyPr>
          <a:lstStyle/>
          <a:p>
            <a:pPr>
              <a:spcAft>
                <a:spcPts val="800"/>
              </a:spcAft>
              <a:defRPr sz="2200" b="1">
                <a:solidFill>
                  <a:srgbClr val="14324C"/>
                </a:solidFill>
                <a:latin typeface="DejaVu Sans"/>
              </a:defRPr>
            </a:pPr>
            <a:r>
              <a:t>VPC — mantiqiy ajratilgan tarmoq. Subnet — uning IP diapazonidagi kichik bo‘lim.</a:t>
            </a:r>
          </a:p>
        </p:txBody>
      </p:sp>
      <p:sp>
        <p:nvSpPr>
          <p:cNvPr id="50" name="TextBox 49"/>
          <p:cNvSpPr txBox="1"/>
          <p:nvPr/>
        </p:nvSpPr>
        <p:spPr>
          <a:xfrm>
            <a:off x="713232" y="3986784"/>
            <a:ext cx="6446520" cy="1764792"/>
          </a:xfrm>
          <a:prstGeom prst="rect">
            <a:avLst/>
          </a:prstGeom>
          <a:noFill/>
        </p:spPr>
        <p:txBody>
          <a:bodyPr wrap="square" lIns="27432" rIns="27432" tIns="18288" bIns="0">
            <a:spAutoFit/>
          </a:bodyPr>
          <a:lstStyle/>
          <a:p>
            <a:pPr>
              <a:spcAft>
                <a:spcPts val="800"/>
              </a:spcAft>
              <a:defRPr sz="2100" b="0">
                <a:solidFill>
                  <a:srgbClr val="14324C"/>
                </a:solidFill>
                <a:latin typeface="DejaVu Sans"/>
              </a:defRPr>
            </a:pPr>
            <a:r>
              <a:t>Public yoki private bo‘lishi marshrut va kirish konfiguratsiyasiga bog‘liq.</a:t>
            </a:r>
          </a:p>
        </p:txBody>
      </p:sp>
      <p:sp>
        <p:nvSpPr>
          <p:cNvPr id="51" name="Rectangle 50"/>
          <p:cNvSpPr/>
          <p:nvPr/>
        </p:nvSpPr>
        <p:spPr>
          <a:xfrm>
            <a:off x="7772400" y="2560320"/>
            <a:ext cx="3547872" cy="713232"/>
          </a:xfrm>
          <a:prstGeom prst="rect">
            <a:avLst/>
          </a:prstGeom>
          <a:solidFill>
            <a:srgbClr val="FFFFFF"/>
          </a:solidFill>
          <a:ln>
            <a:solidFill>
              <a:srgbClr val="087E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891272" y="2670048"/>
            <a:ext cx="3310128" cy="548640"/>
          </a:xfrm>
          <a:prstGeom prst="rect">
            <a:avLst/>
          </a:prstGeom>
          <a:noFill/>
        </p:spPr>
        <p:txBody>
          <a:bodyPr wrap="square" lIns="27432" rIns="27432" tIns="18288" bIns="0">
            <a:spAutoFit/>
          </a:bodyPr>
          <a:lstStyle/>
          <a:p>
            <a:pPr>
              <a:spcAft>
                <a:spcPts val="800"/>
              </a:spcAft>
              <a:defRPr sz="1900" b="1">
                <a:solidFill>
                  <a:srgbClr val="14324C"/>
                </a:solidFill>
                <a:latin typeface="DejaVu Sans"/>
              </a:defRPr>
            </a:pPr>
            <a:r>
              <a:t>VPC</a:t>
            </a:r>
          </a:p>
        </p:txBody>
      </p:sp>
      <p:cxnSp>
        <p:nvCxnSpPr>
          <p:cNvPr id="53" name="Connector 52"/>
          <p:cNvCxnSpPr/>
          <p:nvPr/>
        </p:nvCxnSpPr>
        <p:spPr>
          <a:xfrm>
            <a:off x="9546336" y="3273552"/>
            <a:ext cx="0" cy="274320"/>
          </a:xfrm>
          <a:prstGeom prst="line">
            <a:avLst/>
          </a:prstGeom>
          <a:ln w="25400">
            <a:solidFill>
              <a:srgbClr val="087EB6"/>
            </a:solidFill>
            <a:tailEnd type="triangle"/>
          </a:ln>
        </p:spPr>
        <p:style>
          <a:lnRef idx="2">
            <a:schemeClr val="accent1"/>
          </a:lnRef>
          <a:fillRef idx="0">
            <a:schemeClr val="accent1"/>
          </a:fillRef>
          <a:effectRef idx="1">
            <a:schemeClr val="accent1"/>
          </a:effectRef>
          <a:fontRef idx="minor">
            <a:schemeClr val="tx1"/>
          </a:fontRef>
        </p:style>
      </p:cxnSp>
      <p:sp>
        <p:nvSpPr>
          <p:cNvPr id="54" name="Rectangle 53"/>
          <p:cNvSpPr/>
          <p:nvPr/>
        </p:nvSpPr>
        <p:spPr>
          <a:xfrm>
            <a:off x="7772400" y="3547872"/>
            <a:ext cx="3547872" cy="713232"/>
          </a:xfrm>
          <a:prstGeom prst="rect">
            <a:avLst/>
          </a:prstGeom>
          <a:solidFill>
            <a:srgbClr val="FFFFFF"/>
          </a:solidFill>
          <a:ln>
            <a:solidFill>
              <a:srgbClr val="087E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891272" y="3657600"/>
            <a:ext cx="3310128" cy="548640"/>
          </a:xfrm>
          <a:prstGeom prst="rect">
            <a:avLst/>
          </a:prstGeom>
          <a:noFill/>
        </p:spPr>
        <p:txBody>
          <a:bodyPr wrap="square" lIns="27432" rIns="27432" tIns="18288" bIns="0">
            <a:spAutoFit/>
          </a:bodyPr>
          <a:lstStyle/>
          <a:p>
            <a:pPr>
              <a:spcAft>
                <a:spcPts val="800"/>
              </a:spcAft>
              <a:defRPr sz="1900" b="1">
                <a:solidFill>
                  <a:srgbClr val="14324C"/>
                </a:solidFill>
                <a:latin typeface="DejaVu Sans"/>
              </a:defRPr>
            </a:pPr>
            <a:r>
              <a:t>Public subnet</a:t>
            </a:r>
          </a:p>
        </p:txBody>
      </p:sp>
      <p:cxnSp>
        <p:nvCxnSpPr>
          <p:cNvPr id="56" name="Connector 55"/>
          <p:cNvCxnSpPr/>
          <p:nvPr/>
        </p:nvCxnSpPr>
        <p:spPr>
          <a:xfrm>
            <a:off x="9546336" y="4261104"/>
            <a:ext cx="0" cy="274320"/>
          </a:xfrm>
          <a:prstGeom prst="line">
            <a:avLst/>
          </a:prstGeom>
          <a:ln w="25400">
            <a:solidFill>
              <a:srgbClr val="087EB6"/>
            </a:solidFill>
            <a:tailEnd type="triangle"/>
          </a:ln>
        </p:spPr>
        <p:style>
          <a:lnRef idx="2">
            <a:schemeClr val="accent1"/>
          </a:lnRef>
          <a:fillRef idx="0">
            <a:schemeClr val="accent1"/>
          </a:fillRef>
          <a:effectRef idx="1">
            <a:schemeClr val="accent1"/>
          </a:effectRef>
          <a:fontRef idx="minor">
            <a:schemeClr val="tx1"/>
          </a:fontRef>
        </p:style>
      </p:cxnSp>
      <p:sp>
        <p:nvSpPr>
          <p:cNvPr id="57" name="Rectangle 56"/>
          <p:cNvSpPr/>
          <p:nvPr/>
        </p:nvSpPr>
        <p:spPr>
          <a:xfrm>
            <a:off x="7772400" y="4535424"/>
            <a:ext cx="3547872" cy="713232"/>
          </a:xfrm>
          <a:prstGeom prst="rect">
            <a:avLst/>
          </a:prstGeom>
          <a:solidFill>
            <a:srgbClr val="FFFFFF"/>
          </a:solidFill>
          <a:ln>
            <a:solidFill>
              <a:srgbClr val="087E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891272" y="4645152"/>
            <a:ext cx="3310128" cy="548640"/>
          </a:xfrm>
          <a:prstGeom prst="rect">
            <a:avLst/>
          </a:prstGeom>
          <a:noFill/>
        </p:spPr>
        <p:txBody>
          <a:bodyPr wrap="square" lIns="27432" rIns="27432" tIns="18288" bIns="0">
            <a:spAutoFit/>
          </a:bodyPr>
          <a:lstStyle/>
          <a:p>
            <a:pPr>
              <a:spcAft>
                <a:spcPts val="800"/>
              </a:spcAft>
              <a:defRPr sz="1900" b="1">
                <a:solidFill>
                  <a:srgbClr val="14324C"/>
                </a:solidFill>
                <a:latin typeface="DejaVu Sans"/>
              </a:defRPr>
            </a:pPr>
            <a:r>
              <a:t>Private subnet</a:t>
            </a:r>
          </a:p>
        </p:txBody>
      </p:sp>
      <p:sp>
        <p:nvSpPr>
          <p:cNvPr id="59" name="TextBox 58"/>
          <p:cNvSpPr txBox="1"/>
          <p:nvPr/>
        </p:nvSpPr>
        <p:spPr>
          <a:xfrm>
            <a:off x="731520" y="6108192"/>
            <a:ext cx="10698480" cy="329184"/>
          </a:xfrm>
          <a:prstGeom prst="rect">
            <a:avLst/>
          </a:prstGeom>
          <a:noFill/>
        </p:spPr>
        <p:txBody>
          <a:bodyPr wrap="square" lIns="27432" rIns="27432" tIns="18288" bIns="0">
            <a:spAutoFit/>
          </a:bodyPr>
          <a:lstStyle/>
          <a:p>
            <a:pPr>
              <a:spcAft>
                <a:spcPts val="800"/>
              </a:spcAft>
              <a:defRPr sz="1200" b="0">
                <a:solidFill>
                  <a:srgbClr val="087EB6"/>
                </a:solidFill>
                <a:latin typeface="DejaVu Sans"/>
              </a:defRPr>
            </a:pPr>
            <a:r>
              <a:t>MISOL / Kirish qatlami tashqi trafik oladi; ilova va baza private manzillarda ishlaydi.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AFD"/>
        </a:solidFill>
        <a:effectLst/>
      </p:bgPr>
    </p:bg>
    <p:spTree>
      <p:nvGrpSpPr>
        <p:cNvPr id="1" name=""/>
        <p:cNvGrpSpPr/>
        <p:nvPr/>
      </p:nvGrpSpPr>
      <p:grpSpPr/>
      <p:cxnSp>
        <p:nvCxnSpPr>
          <p:cNvPr id="2" name="Connector 1"/>
          <p:cNvCxnSpPr/>
          <p:nvPr/>
        </p:nvCxnSpPr>
        <p:spPr>
          <a:xfrm>
            <a:off x="4572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3716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8288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22860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7432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2004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6576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1148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5720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0292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4864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9436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4008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8580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3152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7724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2296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6868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1440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6012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00584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05156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09728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14300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18872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4572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0" y="9144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0" y="13716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0" y="18288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0" y="22860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0" y="27432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0" y="32004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0" y="36576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0" y="41148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0" y="45720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0" y="50292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0" y="54864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0" y="59436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0" y="64008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320040" y="320040"/>
            <a:ext cx="11548872" cy="6080760"/>
          </a:xfrm>
          <a:prstGeom prst="rect">
            <a:avLst/>
          </a:prstGeom>
          <a:solidFill>
            <a:srgbClr val="F5FAFD"/>
          </a:solidFill>
          <a:ln>
            <a:solidFill>
              <a:srgbClr val="BED9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3" name="Connector 42"/>
          <p:cNvCxnSpPr/>
          <p:nvPr/>
        </p:nvCxnSpPr>
        <p:spPr>
          <a:xfrm>
            <a:off x="320040" y="1682496"/>
            <a:ext cx="11548872" cy="0"/>
          </a:xfrm>
          <a:prstGeom prst="line">
            <a:avLst/>
          </a:prstGeom>
          <a:ln w="12700">
            <a:solidFill>
              <a:srgbClr val="BED9E7"/>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640080" y="493776"/>
            <a:ext cx="10058400" cy="274320"/>
          </a:xfrm>
          <a:prstGeom prst="rect">
            <a:avLst/>
          </a:prstGeom>
          <a:noFill/>
        </p:spPr>
        <p:txBody>
          <a:bodyPr wrap="square" lIns="27432" rIns="27432" tIns="18288" bIns="0">
            <a:spAutoFit/>
          </a:bodyPr>
          <a:lstStyle/>
          <a:p>
            <a:pPr>
              <a:spcAft>
                <a:spcPts val="800"/>
              </a:spcAft>
              <a:defRPr sz="1200" b="1">
                <a:solidFill>
                  <a:srgbClr val="087EB6"/>
                </a:solidFill>
                <a:latin typeface="DejaVu Sans"/>
              </a:defRPr>
            </a:pPr>
            <a:r>
              <a:t>BTST206  /  TARMOQ REJASI  /  SHEET 04</a:t>
            </a:r>
          </a:p>
        </p:txBody>
      </p:sp>
      <p:sp>
        <p:nvSpPr>
          <p:cNvPr id="45" name="TextBox 44"/>
          <p:cNvSpPr txBox="1"/>
          <p:nvPr/>
        </p:nvSpPr>
        <p:spPr>
          <a:xfrm>
            <a:off x="640080" y="914400"/>
            <a:ext cx="10881360" cy="685800"/>
          </a:xfrm>
          <a:prstGeom prst="rect">
            <a:avLst/>
          </a:prstGeom>
          <a:noFill/>
        </p:spPr>
        <p:txBody>
          <a:bodyPr wrap="square" lIns="27432" rIns="27432" tIns="18288" bIns="0">
            <a:spAutoFit/>
          </a:bodyPr>
          <a:lstStyle/>
          <a:p>
            <a:pPr>
              <a:spcAft>
                <a:spcPts val="800"/>
              </a:spcAft>
              <a:defRPr sz="2700" b="1">
                <a:solidFill>
                  <a:srgbClr val="14324C"/>
                </a:solidFill>
                <a:latin typeface="DejaVu Sans"/>
              </a:defRPr>
            </a:pPr>
            <a:r>
              <a:t>IP-manzillash va routing</a:t>
            </a:r>
          </a:p>
        </p:txBody>
      </p:sp>
      <p:sp>
        <p:nvSpPr>
          <p:cNvPr id="46" name="TextBox 45"/>
          <p:cNvSpPr txBox="1"/>
          <p:nvPr/>
        </p:nvSpPr>
        <p:spPr>
          <a:xfrm>
            <a:off x="640080" y="1865376"/>
            <a:ext cx="10789920" cy="411480"/>
          </a:xfrm>
          <a:prstGeom prst="rect">
            <a:avLst/>
          </a:prstGeom>
          <a:noFill/>
        </p:spPr>
        <p:txBody>
          <a:bodyPr wrap="square" lIns="27432" rIns="27432" tIns="18288" bIns="0">
            <a:spAutoFit/>
          </a:bodyPr>
          <a:lstStyle/>
          <a:p>
            <a:pPr>
              <a:spcAft>
                <a:spcPts val="800"/>
              </a:spcAft>
              <a:defRPr sz="1500" b="0">
                <a:solidFill>
                  <a:srgbClr val="087EB6"/>
                </a:solidFill>
                <a:latin typeface="DejaVu Sans"/>
              </a:defRPr>
            </a:pPr>
            <a:r>
              <a:t>Manzil — qayerda; marshrut — qaysi yo‘ldan.</a:t>
            </a:r>
          </a:p>
        </p:txBody>
      </p:sp>
      <p:sp>
        <p:nvSpPr>
          <p:cNvPr id="47" name="TextBox 46"/>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4324C"/>
                </a:solidFill>
                <a:latin typeface="DejaVu Sans"/>
              </a:defRPr>
            </a:pPr>
            <a:r>
              <a:t>BTST206   /   M10   /   2027–2028</a:t>
            </a:r>
          </a:p>
        </p:txBody>
      </p:sp>
      <p:sp>
        <p:nvSpPr>
          <p:cNvPr id="48" name="TextBox 47"/>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4324C"/>
                </a:solidFill>
                <a:latin typeface="DejaVu Sans"/>
              </a:defRPr>
            </a:pPr>
            <a:r>
              <a:t>04 / 13</a:t>
            </a:r>
          </a:p>
        </p:txBody>
      </p:sp>
      <p:sp>
        <p:nvSpPr>
          <p:cNvPr id="49" name="Rectangle 48"/>
          <p:cNvSpPr/>
          <p:nvPr/>
        </p:nvSpPr>
        <p:spPr>
          <a:xfrm>
            <a:off x="731520" y="2423160"/>
            <a:ext cx="5532120" cy="3566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14400" y="2633472"/>
            <a:ext cx="5166360" cy="1508760"/>
          </a:xfrm>
          <a:prstGeom prst="rect">
            <a:avLst/>
          </a:prstGeom>
          <a:noFill/>
        </p:spPr>
        <p:txBody>
          <a:bodyPr wrap="square" lIns="27432" rIns="27432" tIns="18288" bIns="0">
            <a:spAutoFit/>
          </a:bodyPr>
          <a:lstStyle/>
          <a:p>
            <a:pPr>
              <a:spcAft>
                <a:spcPts val="800"/>
              </a:spcAft>
              <a:defRPr sz="2100" b="1">
                <a:solidFill>
                  <a:srgbClr val="14324C"/>
                </a:solidFill>
                <a:latin typeface="DejaVu Sans"/>
              </a:defRPr>
            </a:pPr>
            <a:r>
              <a:t>IP interfeysni belgilaydi. Marshrut jadvali paket qaysi keyingi nuqtaga borishini tanlaydi.</a:t>
            </a:r>
          </a:p>
        </p:txBody>
      </p:sp>
      <p:sp>
        <p:nvSpPr>
          <p:cNvPr id="51" name="TextBox 50"/>
          <p:cNvSpPr txBox="1"/>
          <p:nvPr/>
        </p:nvSpPr>
        <p:spPr>
          <a:xfrm>
            <a:off x="914400" y="4343400"/>
            <a:ext cx="5166360" cy="1371600"/>
          </a:xfrm>
          <a:prstGeom prst="rect">
            <a:avLst/>
          </a:prstGeom>
          <a:noFill/>
        </p:spPr>
        <p:txBody>
          <a:bodyPr wrap="square" lIns="27432" rIns="27432" tIns="18288" bIns="0">
            <a:spAutoFit/>
          </a:bodyPr>
          <a:lstStyle/>
          <a:p>
            <a:pPr>
              <a:spcAft>
                <a:spcPts val="800"/>
              </a:spcAft>
              <a:defRPr sz="2000" b="0">
                <a:solidFill>
                  <a:srgbClr val="14324C"/>
                </a:solidFill>
                <a:latin typeface="DejaVu Sans"/>
              </a:defRPr>
            </a:pPr>
            <a:r>
              <a:t>10.20.0.0/16 ichidan 10.20.1.0/24 subnet ajratish mumkin.</a:t>
            </a:r>
          </a:p>
        </p:txBody>
      </p:sp>
      <p:sp>
        <p:nvSpPr>
          <p:cNvPr id="52" name="Rectangle 51"/>
          <p:cNvSpPr/>
          <p:nvPr/>
        </p:nvSpPr>
        <p:spPr>
          <a:xfrm>
            <a:off x="7269480" y="2450592"/>
            <a:ext cx="4224528" cy="3584448"/>
          </a:xfrm>
          <a:prstGeom prst="rect">
            <a:avLst/>
          </a:prstGeom>
          <a:solidFill>
            <a:srgbClr val="E4F2FA"/>
          </a:solidFill>
          <a:ln>
            <a:solidFill>
              <a:srgbClr val="087E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3" name="Picture 52" descr="M10_cilium.png"/>
          <p:cNvPicPr>
            <a:picLocks noChangeAspect="1"/>
          </p:cNvPicPr>
          <p:nvPr/>
        </p:nvPicPr>
        <p:blipFill>
          <a:blip r:embed="rId2"/>
          <a:stretch>
            <a:fillRect/>
          </a:stretch>
        </p:blipFill>
        <p:spPr>
          <a:xfrm>
            <a:off x="8096193" y="2651759"/>
            <a:ext cx="2571100" cy="2606040"/>
          </a:xfrm>
          <a:prstGeom prst="rect">
            <a:avLst/>
          </a:prstGeom>
        </p:spPr>
      </p:pic>
      <p:sp>
        <p:nvSpPr>
          <p:cNvPr id="54" name="TextBox 53"/>
          <p:cNvSpPr txBox="1"/>
          <p:nvPr/>
        </p:nvSpPr>
        <p:spPr>
          <a:xfrm>
            <a:off x="7443216" y="5413248"/>
            <a:ext cx="3840480" cy="493776"/>
          </a:xfrm>
          <a:prstGeom prst="rect">
            <a:avLst/>
          </a:prstGeom>
          <a:noFill/>
        </p:spPr>
        <p:txBody>
          <a:bodyPr wrap="square" lIns="27432" rIns="27432" tIns="18288" bIns="0">
            <a:spAutoFit/>
          </a:bodyPr>
          <a:lstStyle/>
          <a:p>
            <a:pPr>
              <a:spcAft>
                <a:spcPts val="800"/>
              </a:spcAft>
              <a:defRPr sz="1300" b="1">
                <a:solidFill>
                  <a:srgbClr val="087EB6"/>
                </a:solidFill>
                <a:latin typeface="DejaVu Sans"/>
              </a:defRPr>
            </a:pPr>
            <a:r>
              <a:t>Cilium — bulut tarmoqlari loyihasi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AFD"/>
        </a:solidFill>
        <a:effectLst/>
      </p:bgPr>
    </p:bg>
    <p:spTree>
      <p:nvGrpSpPr>
        <p:cNvPr id="1" name=""/>
        <p:cNvGrpSpPr/>
        <p:nvPr/>
      </p:nvGrpSpPr>
      <p:grpSpPr/>
      <p:cxnSp>
        <p:nvCxnSpPr>
          <p:cNvPr id="2" name="Connector 1"/>
          <p:cNvCxnSpPr/>
          <p:nvPr/>
        </p:nvCxnSpPr>
        <p:spPr>
          <a:xfrm>
            <a:off x="4572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3716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8288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22860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7432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2004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6576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1148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5720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0292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4864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9436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4008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8580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3152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7724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2296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6868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1440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6012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00584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05156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09728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14300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18872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4572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0" y="9144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0" y="13716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0" y="18288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0" y="22860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0" y="27432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0" y="32004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0" y="36576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0" y="41148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0" y="45720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0" y="50292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0" y="54864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0" y="59436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0" y="64008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320040" y="320040"/>
            <a:ext cx="11548872" cy="6080760"/>
          </a:xfrm>
          <a:prstGeom prst="rect">
            <a:avLst/>
          </a:prstGeom>
          <a:solidFill>
            <a:srgbClr val="F5FAFD"/>
          </a:solidFill>
          <a:ln>
            <a:solidFill>
              <a:srgbClr val="BED9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3" name="Connector 42"/>
          <p:cNvCxnSpPr/>
          <p:nvPr/>
        </p:nvCxnSpPr>
        <p:spPr>
          <a:xfrm>
            <a:off x="320040" y="1682496"/>
            <a:ext cx="11548872" cy="0"/>
          </a:xfrm>
          <a:prstGeom prst="line">
            <a:avLst/>
          </a:prstGeom>
          <a:ln w="12700">
            <a:solidFill>
              <a:srgbClr val="BED9E7"/>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640080" y="493776"/>
            <a:ext cx="10058400" cy="274320"/>
          </a:xfrm>
          <a:prstGeom prst="rect">
            <a:avLst/>
          </a:prstGeom>
          <a:noFill/>
        </p:spPr>
        <p:txBody>
          <a:bodyPr wrap="square" lIns="27432" rIns="27432" tIns="18288" bIns="0">
            <a:spAutoFit/>
          </a:bodyPr>
          <a:lstStyle/>
          <a:p>
            <a:pPr>
              <a:spcAft>
                <a:spcPts val="800"/>
              </a:spcAft>
              <a:defRPr sz="1200" b="1">
                <a:solidFill>
                  <a:srgbClr val="087EB6"/>
                </a:solidFill>
                <a:latin typeface="DejaVu Sans"/>
              </a:defRPr>
            </a:pPr>
            <a:r>
              <a:t>BTST206  /  TARMOQ REJASI  /  SHEET 05</a:t>
            </a:r>
          </a:p>
        </p:txBody>
      </p:sp>
      <p:sp>
        <p:nvSpPr>
          <p:cNvPr id="45" name="TextBox 44"/>
          <p:cNvSpPr txBox="1"/>
          <p:nvPr/>
        </p:nvSpPr>
        <p:spPr>
          <a:xfrm>
            <a:off x="640080" y="914400"/>
            <a:ext cx="10881360" cy="685800"/>
          </a:xfrm>
          <a:prstGeom prst="rect">
            <a:avLst/>
          </a:prstGeom>
          <a:noFill/>
        </p:spPr>
        <p:txBody>
          <a:bodyPr wrap="square" lIns="27432" rIns="27432" tIns="18288" bIns="0">
            <a:spAutoFit/>
          </a:bodyPr>
          <a:lstStyle/>
          <a:p>
            <a:pPr>
              <a:spcAft>
                <a:spcPts val="800"/>
              </a:spcAft>
              <a:defRPr sz="2700" b="1">
                <a:solidFill>
                  <a:srgbClr val="14324C"/>
                </a:solidFill>
                <a:latin typeface="DejaVu Sans"/>
              </a:defRPr>
            </a:pPr>
            <a:r>
              <a:t>NAT va xavfsizlik chegarasi</a:t>
            </a:r>
          </a:p>
        </p:txBody>
      </p:sp>
      <p:sp>
        <p:nvSpPr>
          <p:cNvPr id="46" name="TextBox 45"/>
          <p:cNvSpPr txBox="1"/>
          <p:nvPr/>
        </p:nvSpPr>
        <p:spPr>
          <a:xfrm>
            <a:off x="640080" y="1865376"/>
            <a:ext cx="10789920" cy="411480"/>
          </a:xfrm>
          <a:prstGeom prst="rect">
            <a:avLst/>
          </a:prstGeom>
          <a:noFill/>
        </p:spPr>
        <p:txBody>
          <a:bodyPr wrap="square" lIns="27432" rIns="27432" tIns="18288" bIns="0">
            <a:spAutoFit/>
          </a:bodyPr>
          <a:lstStyle/>
          <a:p>
            <a:pPr>
              <a:spcAft>
                <a:spcPts val="800"/>
              </a:spcAft>
              <a:defRPr sz="1500" b="0">
                <a:solidFill>
                  <a:srgbClr val="087EB6"/>
                </a:solidFill>
                <a:latin typeface="DejaVu Sans"/>
              </a:defRPr>
            </a:pPr>
            <a:r>
              <a:t>Private manzildan tashqi xizmatga chiqish.</a:t>
            </a:r>
          </a:p>
        </p:txBody>
      </p:sp>
      <p:sp>
        <p:nvSpPr>
          <p:cNvPr id="47" name="TextBox 46"/>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4324C"/>
                </a:solidFill>
                <a:latin typeface="DejaVu Sans"/>
              </a:defRPr>
            </a:pPr>
            <a:r>
              <a:t>BTST206   /   M10   /   2027–2028</a:t>
            </a:r>
          </a:p>
        </p:txBody>
      </p:sp>
      <p:sp>
        <p:nvSpPr>
          <p:cNvPr id="48" name="TextBox 47"/>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4324C"/>
                </a:solidFill>
                <a:latin typeface="DejaVu Sans"/>
              </a:defRPr>
            </a:pPr>
            <a:r>
              <a:t>05 / 13</a:t>
            </a:r>
          </a:p>
        </p:txBody>
      </p:sp>
      <p:sp>
        <p:nvSpPr>
          <p:cNvPr id="49" name="TextBox 48"/>
          <p:cNvSpPr txBox="1"/>
          <p:nvPr/>
        </p:nvSpPr>
        <p:spPr>
          <a:xfrm>
            <a:off x="713232" y="2532888"/>
            <a:ext cx="6446520" cy="1261872"/>
          </a:xfrm>
          <a:prstGeom prst="rect">
            <a:avLst/>
          </a:prstGeom>
          <a:noFill/>
        </p:spPr>
        <p:txBody>
          <a:bodyPr wrap="square" lIns="27432" rIns="27432" tIns="18288" bIns="0">
            <a:spAutoFit/>
          </a:bodyPr>
          <a:lstStyle/>
          <a:p>
            <a:pPr>
              <a:spcAft>
                <a:spcPts val="800"/>
              </a:spcAft>
              <a:defRPr sz="2200" b="1">
                <a:solidFill>
                  <a:srgbClr val="14324C"/>
                </a:solidFill>
                <a:latin typeface="DejaVu Sans"/>
              </a:defRPr>
            </a:pPr>
            <a:r>
              <a:t>NAT tarmoq manzilini o‘zgartiradi. U private resursga tashqi xizmatga murojaat qilishda yordam beradi.</a:t>
            </a:r>
          </a:p>
        </p:txBody>
      </p:sp>
      <p:sp>
        <p:nvSpPr>
          <p:cNvPr id="50" name="TextBox 49"/>
          <p:cNvSpPr txBox="1"/>
          <p:nvPr/>
        </p:nvSpPr>
        <p:spPr>
          <a:xfrm>
            <a:off x="713232" y="3986784"/>
            <a:ext cx="6446520" cy="1764792"/>
          </a:xfrm>
          <a:prstGeom prst="rect">
            <a:avLst/>
          </a:prstGeom>
          <a:noFill/>
        </p:spPr>
        <p:txBody>
          <a:bodyPr wrap="square" lIns="27432" rIns="27432" tIns="18288" bIns="0">
            <a:spAutoFit/>
          </a:bodyPr>
          <a:lstStyle/>
          <a:p>
            <a:pPr>
              <a:spcAft>
                <a:spcPts val="800"/>
              </a:spcAft>
              <a:defRPr sz="2100" b="0">
                <a:solidFill>
                  <a:srgbClr val="14324C"/>
                </a:solidFill>
                <a:latin typeface="DejaVu Sans"/>
              </a:defRPr>
            </a:pPr>
            <a:r>
              <a:t>Javob mos ichki ulanishga qaytariladi; resursga public IP shart bo‘lmasligi mumkin.</a:t>
            </a:r>
          </a:p>
        </p:txBody>
      </p:sp>
      <p:sp>
        <p:nvSpPr>
          <p:cNvPr id="51" name="Rectangle 50"/>
          <p:cNvSpPr/>
          <p:nvPr/>
        </p:nvSpPr>
        <p:spPr>
          <a:xfrm>
            <a:off x="7772400" y="2560320"/>
            <a:ext cx="3547872" cy="713232"/>
          </a:xfrm>
          <a:prstGeom prst="rect">
            <a:avLst/>
          </a:prstGeom>
          <a:solidFill>
            <a:srgbClr val="FFFFFF"/>
          </a:solidFill>
          <a:ln>
            <a:solidFill>
              <a:srgbClr val="087E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891272" y="2670048"/>
            <a:ext cx="3310128" cy="548640"/>
          </a:xfrm>
          <a:prstGeom prst="rect">
            <a:avLst/>
          </a:prstGeom>
          <a:noFill/>
        </p:spPr>
        <p:txBody>
          <a:bodyPr wrap="square" lIns="27432" rIns="27432" tIns="18288" bIns="0">
            <a:spAutoFit/>
          </a:bodyPr>
          <a:lstStyle/>
          <a:p>
            <a:pPr>
              <a:spcAft>
                <a:spcPts val="800"/>
              </a:spcAft>
              <a:defRPr sz="1900" b="1">
                <a:solidFill>
                  <a:srgbClr val="14324C"/>
                </a:solidFill>
                <a:latin typeface="DejaVu Sans"/>
              </a:defRPr>
            </a:pPr>
            <a:r>
              <a:t>Private ilova</a:t>
            </a:r>
          </a:p>
        </p:txBody>
      </p:sp>
      <p:cxnSp>
        <p:nvCxnSpPr>
          <p:cNvPr id="53" name="Connector 52"/>
          <p:cNvCxnSpPr/>
          <p:nvPr/>
        </p:nvCxnSpPr>
        <p:spPr>
          <a:xfrm>
            <a:off x="9546336" y="3273552"/>
            <a:ext cx="0" cy="274320"/>
          </a:xfrm>
          <a:prstGeom prst="line">
            <a:avLst/>
          </a:prstGeom>
          <a:ln w="25400">
            <a:solidFill>
              <a:srgbClr val="087EB6"/>
            </a:solidFill>
            <a:tailEnd type="triangle"/>
          </a:ln>
        </p:spPr>
        <p:style>
          <a:lnRef idx="2">
            <a:schemeClr val="accent1"/>
          </a:lnRef>
          <a:fillRef idx="0">
            <a:schemeClr val="accent1"/>
          </a:fillRef>
          <a:effectRef idx="1">
            <a:schemeClr val="accent1"/>
          </a:effectRef>
          <a:fontRef idx="minor">
            <a:schemeClr val="tx1"/>
          </a:fontRef>
        </p:style>
      </p:cxnSp>
      <p:sp>
        <p:nvSpPr>
          <p:cNvPr id="54" name="Rectangle 53"/>
          <p:cNvSpPr/>
          <p:nvPr/>
        </p:nvSpPr>
        <p:spPr>
          <a:xfrm>
            <a:off x="7772400" y="3547872"/>
            <a:ext cx="3547872" cy="713232"/>
          </a:xfrm>
          <a:prstGeom prst="rect">
            <a:avLst/>
          </a:prstGeom>
          <a:solidFill>
            <a:srgbClr val="FFFFFF"/>
          </a:solidFill>
          <a:ln>
            <a:solidFill>
              <a:srgbClr val="087E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891272" y="3657600"/>
            <a:ext cx="3310128" cy="548640"/>
          </a:xfrm>
          <a:prstGeom prst="rect">
            <a:avLst/>
          </a:prstGeom>
          <a:noFill/>
        </p:spPr>
        <p:txBody>
          <a:bodyPr wrap="square" lIns="27432" rIns="27432" tIns="18288" bIns="0">
            <a:spAutoFit/>
          </a:bodyPr>
          <a:lstStyle/>
          <a:p>
            <a:pPr>
              <a:spcAft>
                <a:spcPts val="800"/>
              </a:spcAft>
              <a:defRPr sz="1900" b="1">
                <a:solidFill>
                  <a:srgbClr val="14324C"/>
                </a:solidFill>
                <a:latin typeface="DejaVu Sans"/>
              </a:defRPr>
            </a:pPr>
            <a:r>
              <a:t>NAT</a:t>
            </a:r>
          </a:p>
        </p:txBody>
      </p:sp>
      <p:cxnSp>
        <p:nvCxnSpPr>
          <p:cNvPr id="56" name="Connector 55"/>
          <p:cNvCxnSpPr/>
          <p:nvPr/>
        </p:nvCxnSpPr>
        <p:spPr>
          <a:xfrm>
            <a:off x="9546336" y="4261104"/>
            <a:ext cx="0" cy="274320"/>
          </a:xfrm>
          <a:prstGeom prst="line">
            <a:avLst/>
          </a:prstGeom>
          <a:ln w="25400">
            <a:solidFill>
              <a:srgbClr val="087EB6"/>
            </a:solidFill>
            <a:tailEnd type="triangle"/>
          </a:ln>
        </p:spPr>
        <p:style>
          <a:lnRef idx="2">
            <a:schemeClr val="accent1"/>
          </a:lnRef>
          <a:fillRef idx="0">
            <a:schemeClr val="accent1"/>
          </a:fillRef>
          <a:effectRef idx="1">
            <a:schemeClr val="accent1"/>
          </a:effectRef>
          <a:fontRef idx="minor">
            <a:schemeClr val="tx1"/>
          </a:fontRef>
        </p:style>
      </p:cxnSp>
      <p:sp>
        <p:nvSpPr>
          <p:cNvPr id="57" name="Rectangle 56"/>
          <p:cNvSpPr/>
          <p:nvPr/>
        </p:nvSpPr>
        <p:spPr>
          <a:xfrm>
            <a:off x="7772400" y="4535424"/>
            <a:ext cx="3547872" cy="713232"/>
          </a:xfrm>
          <a:prstGeom prst="rect">
            <a:avLst/>
          </a:prstGeom>
          <a:solidFill>
            <a:srgbClr val="FFFFFF"/>
          </a:solidFill>
          <a:ln>
            <a:solidFill>
              <a:srgbClr val="087E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891272" y="4645152"/>
            <a:ext cx="3310128" cy="548640"/>
          </a:xfrm>
          <a:prstGeom prst="rect">
            <a:avLst/>
          </a:prstGeom>
          <a:noFill/>
        </p:spPr>
        <p:txBody>
          <a:bodyPr wrap="square" lIns="27432" rIns="27432" tIns="18288" bIns="0">
            <a:spAutoFit/>
          </a:bodyPr>
          <a:lstStyle/>
          <a:p>
            <a:pPr>
              <a:spcAft>
                <a:spcPts val="800"/>
              </a:spcAft>
              <a:defRPr sz="1900" b="1">
                <a:solidFill>
                  <a:srgbClr val="14324C"/>
                </a:solidFill>
                <a:latin typeface="DejaVu Sans"/>
              </a:defRPr>
            </a:pPr>
            <a:r>
              <a:t>Tashqi xizmat</a:t>
            </a:r>
          </a:p>
        </p:txBody>
      </p:sp>
      <p:sp>
        <p:nvSpPr>
          <p:cNvPr id="59" name="TextBox 58"/>
          <p:cNvSpPr txBox="1"/>
          <p:nvPr/>
        </p:nvSpPr>
        <p:spPr>
          <a:xfrm>
            <a:off x="731520" y="6108192"/>
            <a:ext cx="10698480" cy="329184"/>
          </a:xfrm>
          <a:prstGeom prst="rect">
            <a:avLst/>
          </a:prstGeom>
          <a:noFill/>
        </p:spPr>
        <p:txBody>
          <a:bodyPr wrap="square" lIns="27432" rIns="27432" tIns="18288" bIns="0">
            <a:spAutoFit/>
          </a:bodyPr>
          <a:lstStyle/>
          <a:p>
            <a:pPr>
              <a:spcAft>
                <a:spcPts val="800"/>
              </a:spcAft>
              <a:defRPr sz="1200" b="0">
                <a:solidFill>
                  <a:srgbClr val="087EB6"/>
                </a:solidFill>
                <a:latin typeface="DejaVu Sans"/>
              </a:defRPr>
            </a:pPr>
            <a:r>
              <a:t>MISOL / Ilova yangilanish oladi. NAT xavfsizlik devori va barcha trafik tekshiruvi o‘rnini bosmaydi.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AFD"/>
        </a:solidFill>
        <a:effectLst/>
      </p:bgPr>
    </p:bg>
    <p:spTree>
      <p:nvGrpSpPr>
        <p:cNvPr id="1" name=""/>
        <p:cNvGrpSpPr/>
        <p:nvPr/>
      </p:nvGrpSpPr>
      <p:grpSpPr/>
      <p:cxnSp>
        <p:nvCxnSpPr>
          <p:cNvPr id="2" name="Connector 1"/>
          <p:cNvCxnSpPr/>
          <p:nvPr/>
        </p:nvCxnSpPr>
        <p:spPr>
          <a:xfrm>
            <a:off x="4572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3716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8288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22860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7432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2004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6576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1148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5720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0292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4864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9436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4008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8580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3152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7724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2296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6868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1440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6012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00584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05156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09728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14300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18872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4572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0" y="9144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0" y="13716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0" y="18288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0" y="22860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0" y="27432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0" y="32004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0" y="36576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0" y="41148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0" y="45720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0" y="50292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0" y="54864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0" y="59436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0" y="64008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320040" y="320040"/>
            <a:ext cx="11548872" cy="6080760"/>
          </a:xfrm>
          <a:prstGeom prst="rect">
            <a:avLst/>
          </a:prstGeom>
          <a:solidFill>
            <a:srgbClr val="F5FAFD"/>
          </a:solidFill>
          <a:ln>
            <a:solidFill>
              <a:srgbClr val="BED9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3" name="Connector 42"/>
          <p:cNvCxnSpPr/>
          <p:nvPr/>
        </p:nvCxnSpPr>
        <p:spPr>
          <a:xfrm>
            <a:off x="320040" y="1682496"/>
            <a:ext cx="11548872" cy="0"/>
          </a:xfrm>
          <a:prstGeom prst="line">
            <a:avLst/>
          </a:prstGeom>
          <a:ln w="12700">
            <a:solidFill>
              <a:srgbClr val="BED9E7"/>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640080" y="493776"/>
            <a:ext cx="10058400" cy="274320"/>
          </a:xfrm>
          <a:prstGeom prst="rect">
            <a:avLst/>
          </a:prstGeom>
          <a:noFill/>
        </p:spPr>
        <p:txBody>
          <a:bodyPr wrap="square" lIns="27432" rIns="27432" tIns="18288" bIns="0">
            <a:spAutoFit/>
          </a:bodyPr>
          <a:lstStyle/>
          <a:p>
            <a:pPr>
              <a:spcAft>
                <a:spcPts val="800"/>
              </a:spcAft>
              <a:defRPr sz="1200" b="1">
                <a:solidFill>
                  <a:srgbClr val="087EB6"/>
                </a:solidFill>
                <a:latin typeface="DejaVu Sans"/>
              </a:defRPr>
            </a:pPr>
            <a:r>
              <a:t>BTST206  /  TARMOQ REJASI  /  SHEET 06</a:t>
            </a:r>
          </a:p>
        </p:txBody>
      </p:sp>
      <p:sp>
        <p:nvSpPr>
          <p:cNvPr id="45" name="TextBox 44"/>
          <p:cNvSpPr txBox="1"/>
          <p:nvPr/>
        </p:nvSpPr>
        <p:spPr>
          <a:xfrm>
            <a:off x="640080" y="914400"/>
            <a:ext cx="10881360" cy="685800"/>
          </a:xfrm>
          <a:prstGeom prst="rect">
            <a:avLst/>
          </a:prstGeom>
          <a:noFill/>
        </p:spPr>
        <p:txBody>
          <a:bodyPr wrap="square" lIns="27432" rIns="27432" tIns="18288" bIns="0">
            <a:spAutoFit/>
          </a:bodyPr>
          <a:lstStyle/>
          <a:p>
            <a:pPr>
              <a:spcAft>
                <a:spcPts val="800"/>
              </a:spcAft>
              <a:defRPr sz="2700" b="1">
                <a:solidFill>
                  <a:srgbClr val="14324C"/>
                </a:solidFill>
                <a:latin typeface="DejaVu Sans"/>
              </a:defRPr>
            </a:pPr>
            <a:r>
              <a:t>DNS va HTTPS</a:t>
            </a:r>
          </a:p>
        </p:txBody>
      </p:sp>
      <p:sp>
        <p:nvSpPr>
          <p:cNvPr id="46" name="TextBox 45"/>
          <p:cNvSpPr txBox="1"/>
          <p:nvPr/>
        </p:nvSpPr>
        <p:spPr>
          <a:xfrm>
            <a:off x="640080" y="1865376"/>
            <a:ext cx="10789920" cy="411480"/>
          </a:xfrm>
          <a:prstGeom prst="rect">
            <a:avLst/>
          </a:prstGeom>
          <a:noFill/>
        </p:spPr>
        <p:txBody>
          <a:bodyPr wrap="square" lIns="27432" rIns="27432" tIns="18288" bIns="0">
            <a:spAutoFit/>
          </a:bodyPr>
          <a:lstStyle/>
          <a:p>
            <a:pPr>
              <a:spcAft>
                <a:spcPts val="800"/>
              </a:spcAft>
              <a:defRPr sz="1500" b="0">
                <a:solidFill>
                  <a:srgbClr val="087EB6"/>
                </a:solidFill>
                <a:latin typeface="DejaVu Sans"/>
              </a:defRPr>
            </a:pPr>
            <a:r>
              <a:t>Nomni manzilga, ulanishni himoyalangan kanalga.</a:t>
            </a:r>
          </a:p>
        </p:txBody>
      </p:sp>
      <p:sp>
        <p:nvSpPr>
          <p:cNvPr id="47" name="TextBox 46"/>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4324C"/>
                </a:solidFill>
                <a:latin typeface="DejaVu Sans"/>
              </a:defRPr>
            </a:pPr>
            <a:r>
              <a:t>BTST206   /   M10   /   2027–2028</a:t>
            </a:r>
          </a:p>
        </p:txBody>
      </p:sp>
      <p:sp>
        <p:nvSpPr>
          <p:cNvPr id="48" name="TextBox 47"/>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4324C"/>
                </a:solidFill>
                <a:latin typeface="DejaVu Sans"/>
              </a:defRPr>
            </a:pPr>
            <a:r>
              <a:t>06 / 13</a:t>
            </a:r>
          </a:p>
        </p:txBody>
      </p:sp>
      <p:sp>
        <p:nvSpPr>
          <p:cNvPr id="49" name="TextBox 48"/>
          <p:cNvSpPr txBox="1"/>
          <p:nvPr/>
        </p:nvSpPr>
        <p:spPr>
          <a:xfrm>
            <a:off x="713232" y="2532888"/>
            <a:ext cx="6446520" cy="1261872"/>
          </a:xfrm>
          <a:prstGeom prst="rect">
            <a:avLst/>
          </a:prstGeom>
          <a:noFill/>
        </p:spPr>
        <p:txBody>
          <a:bodyPr wrap="square" lIns="27432" rIns="27432" tIns="18288" bIns="0">
            <a:spAutoFit/>
          </a:bodyPr>
          <a:lstStyle/>
          <a:p>
            <a:pPr>
              <a:spcAft>
                <a:spcPts val="800"/>
              </a:spcAft>
              <a:defRPr sz="2200" b="1">
                <a:solidFill>
                  <a:srgbClr val="14324C"/>
                </a:solidFill>
                <a:latin typeface="DejaVu Sans"/>
              </a:defRPr>
            </a:pPr>
            <a:r>
              <a:t>DNS nomni tegishli yozuvga bog‘laydi. HTTPS TLS yordamida uzatishni himoyalaydi.</a:t>
            </a:r>
          </a:p>
        </p:txBody>
      </p:sp>
      <p:sp>
        <p:nvSpPr>
          <p:cNvPr id="50" name="TextBox 49"/>
          <p:cNvSpPr txBox="1"/>
          <p:nvPr/>
        </p:nvSpPr>
        <p:spPr>
          <a:xfrm>
            <a:off x="713232" y="3986784"/>
            <a:ext cx="6446520" cy="1764792"/>
          </a:xfrm>
          <a:prstGeom prst="rect">
            <a:avLst/>
          </a:prstGeom>
          <a:noFill/>
        </p:spPr>
        <p:txBody>
          <a:bodyPr wrap="square" lIns="27432" rIns="27432" tIns="18288" bIns="0">
            <a:spAutoFit/>
          </a:bodyPr>
          <a:lstStyle/>
          <a:p>
            <a:pPr>
              <a:spcAft>
                <a:spcPts val="800"/>
              </a:spcAft>
              <a:defRPr sz="2100" b="0">
                <a:solidFill>
                  <a:srgbClr val="14324C"/>
                </a:solidFill>
                <a:latin typeface="DejaVu Sans"/>
              </a:defRPr>
            </a:pPr>
            <a:r>
              <a:t>Brauzer: DNS javobi → TLS aloqa → HTTP so‘rovi. DNS keshidagi ma’lumot vaqtincha saqlanadi.</a:t>
            </a:r>
          </a:p>
        </p:txBody>
      </p:sp>
      <p:sp>
        <p:nvSpPr>
          <p:cNvPr id="51" name="Rectangle 50"/>
          <p:cNvSpPr/>
          <p:nvPr/>
        </p:nvSpPr>
        <p:spPr>
          <a:xfrm>
            <a:off x="7772400" y="2560320"/>
            <a:ext cx="3547872" cy="713232"/>
          </a:xfrm>
          <a:prstGeom prst="rect">
            <a:avLst/>
          </a:prstGeom>
          <a:solidFill>
            <a:srgbClr val="FFFFFF"/>
          </a:solidFill>
          <a:ln>
            <a:solidFill>
              <a:srgbClr val="087E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891272" y="2670048"/>
            <a:ext cx="3310128" cy="548640"/>
          </a:xfrm>
          <a:prstGeom prst="rect">
            <a:avLst/>
          </a:prstGeom>
          <a:noFill/>
        </p:spPr>
        <p:txBody>
          <a:bodyPr wrap="square" lIns="27432" rIns="27432" tIns="18288" bIns="0">
            <a:spAutoFit/>
          </a:bodyPr>
          <a:lstStyle/>
          <a:p>
            <a:pPr>
              <a:spcAft>
                <a:spcPts val="800"/>
              </a:spcAft>
              <a:defRPr sz="1900" b="1">
                <a:solidFill>
                  <a:srgbClr val="14324C"/>
                </a:solidFill>
                <a:latin typeface="DejaVu Sans"/>
              </a:defRPr>
            </a:pPr>
            <a:r>
              <a:t>DNS</a:t>
            </a:r>
          </a:p>
        </p:txBody>
      </p:sp>
      <p:cxnSp>
        <p:nvCxnSpPr>
          <p:cNvPr id="53" name="Connector 52"/>
          <p:cNvCxnSpPr/>
          <p:nvPr/>
        </p:nvCxnSpPr>
        <p:spPr>
          <a:xfrm>
            <a:off x="9546336" y="3273552"/>
            <a:ext cx="0" cy="274320"/>
          </a:xfrm>
          <a:prstGeom prst="line">
            <a:avLst/>
          </a:prstGeom>
          <a:ln w="25400">
            <a:solidFill>
              <a:srgbClr val="087EB6"/>
            </a:solidFill>
            <a:tailEnd type="triangle"/>
          </a:ln>
        </p:spPr>
        <p:style>
          <a:lnRef idx="2">
            <a:schemeClr val="accent1"/>
          </a:lnRef>
          <a:fillRef idx="0">
            <a:schemeClr val="accent1"/>
          </a:fillRef>
          <a:effectRef idx="1">
            <a:schemeClr val="accent1"/>
          </a:effectRef>
          <a:fontRef idx="minor">
            <a:schemeClr val="tx1"/>
          </a:fontRef>
        </p:style>
      </p:cxnSp>
      <p:sp>
        <p:nvSpPr>
          <p:cNvPr id="54" name="Rectangle 53"/>
          <p:cNvSpPr/>
          <p:nvPr/>
        </p:nvSpPr>
        <p:spPr>
          <a:xfrm>
            <a:off x="7772400" y="3547872"/>
            <a:ext cx="3547872" cy="713232"/>
          </a:xfrm>
          <a:prstGeom prst="rect">
            <a:avLst/>
          </a:prstGeom>
          <a:solidFill>
            <a:srgbClr val="FFFFFF"/>
          </a:solidFill>
          <a:ln>
            <a:solidFill>
              <a:srgbClr val="087E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891272" y="3657600"/>
            <a:ext cx="3310128" cy="548640"/>
          </a:xfrm>
          <a:prstGeom prst="rect">
            <a:avLst/>
          </a:prstGeom>
          <a:noFill/>
        </p:spPr>
        <p:txBody>
          <a:bodyPr wrap="square" lIns="27432" rIns="27432" tIns="18288" bIns="0">
            <a:spAutoFit/>
          </a:bodyPr>
          <a:lstStyle/>
          <a:p>
            <a:pPr>
              <a:spcAft>
                <a:spcPts val="800"/>
              </a:spcAft>
              <a:defRPr sz="1900" b="1">
                <a:solidFill>
                  <a:srgbClr val="14324C"/>
                </a:solidFill>
                <a:latin typeface="DejaVu Sans"/>
              </a:defRPr>
            </a:pPr>
            <a:r>
              <a:t>TLS</a:t>
            </a:r>
          </a:p>
        </p:txBody>
      </p:sp>
      <p:cxnSp>
        <p:nvCxnSpPr>
          <p:cNvPr id="56" name="Connector 55"/>
          <p:cNvCxnSpPr/>
          <p:nvPr/>
        </p:nvCxnSpPr>
        <p:spPr>
          <a:xfrm>
            <a:off x="9546336" y="4261104"/>
            <a:ext cx="0" cy="274320"/>
          </a:xfrm>
          <a:prstGeom prst="line">
            <a:avLst/>
          </a:prstGeom>
          <a:ln w="25400">
            <a:solidFill>
              <a:srgbClr val="087EB6"/>
            </a:solidFill>
            <a:tailEnd type="triangle"/>
          </a:ln>
        </p:spPr>
        <p:style>
          <a:lnRef idx="2">
            <a:schemeClr val="accent1"/>
          </a:lnRef>
          <a:fillRef idx="0">
            <a:schemeClr val="accent1"/>
          </a:fillRef>
          <a:effectRef idx="1">
            <a:schemeClr val="accent1"/>
          </a:effectRef>
          <a:fontRef idx="minor">
            <a:schemeClr val="tx1"/>
          </a:fontRef>
        </p:style>
      </p:cxnSp>
      <p:sp>
        <p:nvSpPr>
          <p:cNvPr id="57" name="Rectangle 56"/>
          <p:cNvSpPr/>
          <p:nvPr/>
        </p:nvSpPr>
        <p:spPr>
          <a:xfrm>
            <a:off x="7772400" y="4535424"/>
            <a:ext cx="3547872" cy="713232"/>
          </a:xfrm>
          <a:prstGeom prst="rect">
            <a:avLst/>
          </a:prstGeom>
          <a:solidFill>
            <a:srgbClr val="FFFFFF"/>
          </a:solidFill>
          <a:ln>
            <a:solidFill>
              <a:srgbClr val="087E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891272" y="4645152"/>
            <a:ext cx="3310128" cy="548640"/>
          </a:xfrm>
          <a:prstGeom prst="rect">
            <a:avLst/>
          </a:prstGeom>
          <a:noFill/>
        </p:spPr>
        <p:txBody>
          <a:bodyPr wrap="square" lIns="27432" rIns="27432" tIns="18288" bIns="0">
            <a:spAutoFit/>
          </a:bodyPr>
          <a:lstStyle/>
          <a:p>
            <a:pPr>
              <a:spcAft>
                <a:spcPts val="800"/>
              </a:spcAft>
              <a:defRPr sz="1900" b="1">
                <a:solidFill>
                  <a:srgbClr val="14324C"/>
                </a:solidFill>
                <a:latin typeface="DejaVu Sans"/>
              </a:defRPr>
            </a:pPr>
            <a:r>
              <a:t>HTTPS so‘rovi</a:t>
            </a:r>
          </a:p>
        </p:txBody>
      </p:sp>
      <p:sp>
        <p:nvSpPr>
          <p:cNvPr id="59" name="TextBox 58"/>
          <p:cNvSpPr txBox="1"/>
          <p:nvPr/>
        </p:nvSpPr>
        <p:spPr>
          <a:xfrm>
            <a:off x="731520" y="6108192"/>
            <a:ext cx="10698480" cy="329184"/>
          </a:xfrm>
          <a:prstGeom prst="rect">
            <a:avLst/>
          </a:prstGeom>
          <a:noFill/>
        </p:spPr>
        <p:txBody>
          <a:bodyPr wrap="square" lIns="27432" rIns="27432" tIns="18288" bIns="0">
            <a:spAutoFit/>
          </a:bodyPr>
          <a:lstStyle/>
          <a:p>
            <a:pPr>
              <a:spcAft>
                <a:spcPts val="800"/>
              </a:spcAft>
              <a:defRPr sz="1200" b="0">
                <a:solidFill>
                  <a:srgbClr val="087EB6"/>
                </a:solidFill>
                <a:latin typeface="DejaVu Sans"/>
              </a:defRPr>
            </a:pPr>
            <a:r>
              <a:t>MISOL / HTTPS noto‘g‘ri ruxsat siyosati yoki ilova xatosini avtomatik bartaraf etmaydi.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AFD"/>
        </a:solidFill>
        <a:effectLst/>
      </p:bgPr>
    </p:bg>
    <p:spTree>
      <p:nvGrpSpPr>
        <p:cNvPr id="1" name=""/>
        <p:cNvGrpSpPr/>
        <p:nvPr/>
      </p:nvGrpSpPr>
      <p:grpSpPr/>
      <p:cxnSp>
        <p:nvCxnSpPr>
          <p:cNvPr id="2" name="Connector 1"/>
          <p:cNvCxnSpPr/>
          <p:nvPr/>
        </p:nvCxnSpPr>
        <p:spPr>
          <a:xfrm>
            <a:off x="4572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3716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8288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22860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7432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2004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6576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1148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5720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0292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4864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9436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4008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8580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3152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7724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2296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6868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1440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6012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00584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05156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09728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14300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18872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4572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0" y="9144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0" y="13716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0" y="18288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0" y="22860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0" y="27432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0" y="32004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0" y="36576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0" y="41148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0" y="45720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0" y="50292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0" y="54864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0" y="59436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0" y="64008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320040" y="320040"/>
            <a:ext cx="11548872" cy="6080760"/>
          </a:xfrm>
          <a:prstGeom prst="rect">
            <a:avLst/>
          </a:prstGeom>
          <a:solidFill>
            <a:srgbClr val="F5FAFD"/>
          </a:solidFill>
          <a:ln>
            <a:solidFill>
              <a:srgbClr val="BED9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3" name="Connector 42"/>
          <p:cNvCxnSpPr/>
          <p:nvPr/>
        </p:nvCxnSpPr>
        <p:spPr>
          <a:xfrm>
            <a:off x="320040" y="1682496"/>
            <a:ext cx="11548872" cy="0"/>
          </a:xfrm>
          <a:prstGeom prst="line">
            <a:avLst/>
          </a:prstGeom>
          <a:ln w="12700">
            <a:solidFill>
              <a:srgbClr val="BED9E7"/>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640080" y="493776"/>
            <a:ext cx="10058400" cy="274320"/>
          </a:xfrm>
          <a:prstGeom prst="rect">
            <a:avLst/>
          </a:prstGeom>
          <a:noFill/>
        </p:spPr>
        <p:txBody>
          <a:bodyPr wrap="square" lIns="27432" rIns="27432" tIns="18288" bIns="0">
            <a:spAutoFit/>
          </a:bodyPr>
          <a:lstStyle/>
          <a:p>
            <a:pPr>
              <a:spcAft>
                <a:spcPts val="800"/>
              </a:spcAft>
              <a:defRPr sz="1200" b="1">
                <a:solidFill>
                  <a:srgbClr val="087EB6"/>
                </a:solidFill>
                <a:latin typeface="DejaVu Sans"/>
              </a:defRPr>
            </a:pPr>
            <a:r>
              <a:t>BTST206  /  TARMOQ REJASI  /  SHEET 07</a:t>
            </a:r>
          </a:p>
        </p:txBody>
      </p:sp>
      <p:sp>
        <p:nvSpPr>
          <p:cNvPr id="45" name="TextBox 44"/>
          <p:cNvSpPr txBox="1"/>
          <p:nvPr/>
        </p:nvSpPr>
        <p:spPr>
          <a:xfrm>
            <a:off x="640080" y="914400"/>
            <a:ext cx="10881360" cy="685800"/>
          </a:xfrm>
          <a:prstGeom prst="rect">
            <a:avLst/>
          </a:prstGeom>
          <a:noFill/>
        </p:spPr>
        <p:txBody>
          <a:bodyPr wrap="square" lIns="27432" rIns="27432" tIns="18288" bIns="0">
            <a:spAutoFit/>
          </a:bodyPr>
          <a:lstStyle/>
          <a:p>
            <a:pPr>
              <a:spcAft>
                <a:spcPts val="800"/>
              </a:spcAft>
              <a:defRPr sz="2700" b="1">
                <a:solidFill>
                  <a:srgbClr val="14324C"/>
                </a:solidFill>
                <a:latin typeface="DejaVu Sans"/>
              </a:defRPr>
            </a:pPr>
            <a:r>
              <a:t>Load Balancer</a:t>
            </a:r>
          </a:p>
        </p:txBody>
      </p:sp>
      <p:sp>
        <p:nvSpPr>
          <p:cNvPr id="46" name="TextBox 45"/>
          <p:cNvSpPr txBox="1"/>
          <p:nvPr/>
        </p:nvSpPr>
        <p:spPr>
          <a:xfrm>
            <a:off x="640080" y="1865376"/>
            <a:ext cx="10789920" cy="411480"/>
          </a:xfrm>
          <a:prstGeom prst="rect">
            <a:avLst/>
          </a:prstGeom>
          <a:noFill/>
        </p:spPr>
        <p:txBody>
          <a:bodyPr wrap="square" lIns="27432" rIns="27432" tIns="18288" bIns="0">
            <a:spAutoFit/>
          </a:bodyPr>
          <a:lstStyle/>
          <a:p>
            <a:pPr>
              <a:spcAft>
                <a:spcPts val="800"/>
              </a:spcAft>
              <a:defRPr sz="1500" b="0">
                <a:solidFill>
                  <a:srgbClr val="087EB6"/>
                </a:solidFill>
                <a:latin typeface="DejaVu Sans"/>
              </a:defRPr>
            </a:pPr>
            <a:r>
              <a:t>So‘rovlarni sog‘lom nusxalar orasida taqsimlash.</a:t>
            </a:r>
          </a:p>
        </p:txBody>
      </p:sp>
      <p:sp>
        <p:nvSpPr>
          <p:cNvPr id="47" name="TextBox 46"/>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4324C"/>
                </a:solidFill>
                <a:latin typeface="DejaVu Sans"/>
              </a:defRPr>
            </a:pPr>
            <a:r>
              <a:t>BTST206   /   M10   /   2027–2028</a:t>
            </a:r>
          </a:p>
        </p:txBody>
      </p:sp>
      <p:sp>
        <p:nvSpPr>
          <p:cNvPr id="48" name="TextBox 47"/>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4324C"/>
                </a:solidFill>
                <a:latin typeface="DejaVu Sans"/>
              </a:defRPr>
            </a:pPr>
            <a:r>
              <a:t>07 / 13</a:t>
            </a:r>
          </a:p>
        </p:txBody>
      </p:sp>
      <p:sp>
        <p:nvSpPr>
          <p:cNvPr id="49" name="TextBox 48"/>
          <p:cNvSpPr txBox="1"/>
          <p:nvPr/>
        </p:nvSpPr>
        <p:spPr>
          <a:xfrm>
            <a:off x="713232" y="2532888"/>
            <a:ext cx="6446520" cy="1261872"/>
          </a:xfrm>
          <a:prstGeom prst="rect">
            <a:avLst/>
          </a:prstGeom>
          <a:noFill/>
        </p:spPr>
        <p:txBody>
          <a:bodyPr wrap="square" lIns="27432" rIns="27432" tIns="18288" bIns="0">
            <a:spAutoFit/>
          </a:bodyPr>
          <a:lstStyle/>
          <a:p>
            <a:pPr>
              <a:spcAft>
                <a:spcPts val="800"/>
              </a:spcAft>
              <a:defRPr sz="2200" b="1">
                <a:solidFill>
                  <a:srgbClr val="14324C"/>
                </a:solidFill>
                <a:latin typeface="DejaVu Sans"/>
              </a:defRPr>
            </a:pPr>
            <a:r>
              <a:t>Load Balancer bitta kirish ortida bir nechta ilova nusxasiga so‘rov yuboradi.</a:t>
            </a:r>
          </a:p>
        </p:txBody>
      </p:sp>
      <p:sp>
        <p:nvSpPr>
          <p:cNvPr id="50" name="TextBox 49"/>
          <p:cNvSpPr txBox="1"/>
          <p:nvPr/>
        </p:nvSpPr>
        <p:spPr>
          <a:xfrm>
            <a:off x="713232" y="3986784"/>
            <a:ext cx="6446520" cy="1764792"/>
          </a:xfrm>
          <a:prstGeom prst="rect">
            <a:avLst/>
          </a:prstGeom>
          <a:noFill/>
        </p:spPr>
        <p:txBody>
          <a:bodyPr wrap="square" lIns="27432" rIns="27432" tIns="18288" bIns="0">
            <a:spAutoFit/>
          </a:bodyPr>
          <a:lstStyle/>
          <a:p>
            <a:pPr>
              <a:spcAft>
                <a:spcPts val="800"/>
              </a:spcAft>
              <a:defRPr sz="2100" b="0">
                <a:solidFill>
                  <a:srgbClr val="14324C"/>
                </a:solidFill>
                <a:latin typeface="DejaVu Sans"/>
              </a:defRPr>
            </a:pPr>
            <a:r>
              <a:t>Sog‘lomlik tekshiruvlari ishlamayotgan nusxani vaqtincha chetlab o‘tishga yordam beradi.</a:t>
            </a:r>
          </a:p>
        </p:txBody>
      </p:sp>
      <p:sp>
        <p:nvSpPr>
          <p:cNvPr id="51" name="Rectangle 50"/>
          <p:cNvSpPr/>
          <p:nvPr/>
        </p:nvSpPr>
        <p:spPr>
          <a:xfrm>
            <a:off x="7772400" y="2560320"/>
            <a:ext cx="3547872" cy="713232"/>
          </a:xfrm>
          <a:prstGeom prst="rect">
            <a:avLst/>
          </a:prstGeom>
          <a:solidFill>
            <a:srgbClr val="FFFFFF"/>
          </a:solidFill>
          <a:ln>
            <a:solidFill>
              <a:srgbClr val="087E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891272" y="2670048"/>
            <a:ext cx="3310128" cy="548640"/>
          </a:xfrm>
          <a:prstGeom prst="rect">
            <a:avLst/>
          </a:prstGeom>
          <a:noFill/>
        </p:spPr>
        <p:txBody>
          <a:bodyPr wrap="square" lIns="27432" rIns="27432" tIns="18288" bIns="0">
            <a:spAutoFit/>
          </a:bodyPr>
          <a:lstStyle/>
          <a:p>
            <a:pPr>
              <a:spcAft>
                <a:spcPts val="800"/>
              </a:spcAft>
              <a:defRPr sz="1900" b="1">
                <a:solidFill>
                  <a:srgbClr val="14324C"/>
                </a:solidFill>
                <a:latin typeface="DejaVu Sans"/>
              </a:defRPr>
            </a:pPr>
            <a:r>
              <a:t>Load Balancer</a:t>
            </a:r>
          </a:p>
        </p:txBody>
      </p:sp>
      <p:cxnSp>
        <p:nvCxnSpPr>
          <p:cNvPr id="53" name="Connector 52"/>
          <p:cNvCxnSpPr/>
          <p:nvPr/>
        </p:nvCxnSpPr>
        <p:spPr>
          <a:xfrm>
            <a:off x="9546336" y="3273552"/>
            <a:ext cx="0" cy="274320"/>
          </a:xfrm>
          <a:prstGeom prst="line">
            <a:avLst/>
          </a:prstGeom>
          <a:ln w="25400">
            <a:solidFill>
              <a:srgbClr val="087EB6"/>
            </a:solidFill>
            <a:tailEnd type="triangle"/>
          </a:ln>
        </p:spPr>
        <p:style>
          <a:lnRef idx="2">
            <a:schemeClr val="accent1"/>
          </a:lnRef>
          <a:fillRef idx="0">
            <a:schemeClr val="accent1"/>
          </a:fillRef>
          <a:effectRef idx="1">
            <a:schemeClr val="accent1"/>
          </a:effectRef>
          <a:fontRef idx="minor">
            <a:schemeClr val="tx1"/>
          </a:fontRef>
        </p:style>
      </p:cxnSp>
      <p:sp>
        <p:nvSpPr>
          <p:cNvPr id="54" name="Rectangle 53"/>
          <p:cNvSpPr/>
          <p:nvPr/>
        </p:nvSpPr>
        <p:spPr>
          <a:xfrm>
            <a:off x="7772400" y="3547872"/>
            <a:ext cx="3547872" cy="713232"/>
          </a:xfrm>
          <a:prstGeom prst="rect">
            <a:avLst/>
          </a:prstGeom>
          <a:solidFill>
            <a:srgbClr val="FFFFFF"/>
          </a:solidFill>
          <a:ln>
            <a:solidFill>
              <a:srgbClr val="087E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891272" y="3657600"/>
            <a:ext cx="3310128" cy="548640"/>
          </a:xfrm>
          <a:prstGeom prst="rect">
            <a:avLst/>
          </a:prstGeom>
          <a:noFill/>
        </p:spPr>
        <p:txBody>
          <a:bodyPr wrap="square" lIns="27432" rIns="27432" tIns="18288" bIns="0">
            <a:spAutoFit/>
          </a:bodyPr>
          <a:lstStyle/>
          <a:p>
            <a:pPr>
              <a:spcAft>
                <a:spcPts val="800"/>
              </a:spcAft>
              <a:defRPr sz="1900" b="1">
                <a:solidFill>
                  <a:srgbClr val="14324C"/>
                </a:solidFill>
                <a:latin typeface="DejaVu Sans"/>
              </a:defRPr>
            </a:pPr>
            <a:r>
              <a:t>Ilova A  /  B  /  C</a:t>
            </a:r>
          </a:p>
        </p:txBody>
      </p:sp>
      <p:sp>
        <p:nvSpPr>
          <p:cNvPr id="56" name="TextBox 55"/>
          <p:cNvSpPr txBox="1"/>
          <p:nvPr/>
        </p:nvSpPr>
        <p:spPr>
          <a:xfrm>
            <a:off x="731520" y="6108192"/>
            <a:ext cx="10698480" cy="329184"/>
          </a:xfrm>
          <a:prstGeom prst="rect">
            <a:avLst/>
          </a:prstGeom>
          <a:noFill/>
        </p:spPr>
        <p:txBody>
          <a:bodyPr wrap="square" lIns="27432" rIns="27432" tIns="18288" bIns="0">
            <a:spAutoFit/>
          </a:bodyPr>
          <a:lstStyle/>
          <a:p>
            <a:pPr>
              <a:spcAft>
                <a:spcPts val="800"/>
              </a:spcAft>
              <a:defRPr sz="1200" b="0">
                <a:solidFill>
                  <a:srgbClr val="087EB6"/>
                </a:solidFill>
                <a:latin typeface="DejaVu Sans"/>
              </a:defRPr>
            </a:pPr>
            <a:r>
              <a:t>MISOL / Portal uch nusxada ishlaydi. Umumiy sessiya holatini alohida xizmatda saqlash foydali.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AFD"/>
        </a:solidFill>
        <a:effectLst/>
      </p:bgPr>
    </p:bg>
    <p:spTree>
      <p:nvGrpSpPr>
        <p:cNvPr id="1" name=""/>
        <p:cNvGrpSpPr/>
        <p:nvPr/>
      </p:nvGrpSpPr>
      <p:grpSpPr/>
      <p:cxnSp>
        <p:nvCxnSpPr>
          <p:cNvPr id="2" name="Connector 1"/>
          <p:cNvCxnSpPr/>
          <p:nvPr/>
        </p:nvCxnSpPr>
        <p:spPr>
          <a:xfrm>
            <a:off x="4572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3716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8288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22860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7432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2004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6576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1148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5720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0292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4864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9436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4008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8580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3152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7724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2296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6868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1440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6012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00584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05156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09728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14300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18872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4572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0" y="9144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0" y="13716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0" y="18288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0" y="22860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0" y="27432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0" y="32004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0" y="36576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0" y="41148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0" y="45720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0" y="50292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0" y="54864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0" y="59436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0" y="64008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320040" y="320040"/>
            <a:ext cx="11548872" cy="6080760"/>
          </a:xfrm>
          <a:prstGeom prst="rect">
            <a:avLst/>
          </a:prstGeom>
          <a:solidFill>
            <a:srgbClr val="F5FAFD"/>
          </a:solidFill>
          <a:ln>
            <a:solidFill>
              <a:srgbClr val="BED9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3" name="Connector 42"/>
          <p:cNvCxnSpPr/>
          <p:nvPr/>
        </p:nvCxnSpPr>
        <p:spPr>
          <a:xfrm>
            <a:off x="320040" y="1682496"/>
            <a:ext cx="11548872" cy="0"/>
          </a:xfrm>
          <a:prstGeom prst="line">
            <a:avLst/>
          </a:prstGeom>
          <a:ln w="12700">
            <a:solidFill>
              <a:srgbClr val="BED9E7"/>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640080" y="493776"/>
            <a:ext cx="10058400" cy="274320"/>
          </a:xfrm>
          <a:prstGeom prst="rect">
            <a:avLst/>
          </a:prstGeom>
          <a:noFill/>
        </p:spPr>
        <p:txBody>
          <a:bodyPr wrap="square" lIns="27432" rIns="27432" tIns="18288" bIns="0">
            <a:spAutoFit/>
          </a:bodyPr>
          <a:lstStyle/>
          <a:p>
            <a:pPr>
              <a:spcAft>
                <a:spcPts val="800"/>
              </a:spcAft>
              <a:defRPr sz="1200" b="1">
                <a:solidFill>
                  <a:srgbClr val="087EB6"/>
                </a:solidFill>
                <a:latin typeface="DejaVu Sans"/>
              </a:defRPr>
            </a:pPr>
            <a:r>
              <a:t>BTST206  /  TARMOQ REJASI  /  SHEET 08</a:t>
            </a:r>
          </a:p>
        </p:txBody>
      </p:sp>
      <p:sp>
        <p:nvSpPr>
          <p:cNvPr id="45" name="TextBox 44"/>
          <p:cNvSpPr txBox="1"/>
          <p:nvPr/>
        </p:nvSpPr>
        <p:spPr>
          <a:xfrm>
            <a:off x="640080" y="914400"/>
            <a:ext cx="10881360" cy="685800"/>
          </a:xfrm>
          <a:prstGeom prst="rect">
            <a:avLst/>
          </a:prstGeom>
          <a:noFill/>
        </p:spPr>
        <p:txBody>
          <a:bodyPr wrap="square" lIns="27432" rIns="27432" tIns="18288" bIns="0">
            <a:spAutoFit/>
          </a:bodyPr>
          <a:lstStyle/>
          <a:p>
            <a:pPr>
              <a:spcAft>
                <a:spcPts val="800"/>
              </a:spcAft>
              <a:defRPr sz="2700" b="1">
                <a:solidFill>
                  <a:srgbClr val="14324C"/>
                </a:solidFill>
                <a:latin typeface="DejaVu Sans"/>
              </a:defRPr>
            </a:pPr>
            <a:r>
              <a:t>CDN va kesh</a:t>
            </a:r>
          </a:p>
        </p:txBody>
      </p:sp>
      <p:sp>
        <p:nvSpPr>
          <p:cNvPr id="46" name="TextBox 45"/>
          <p:cNvSpPr txBox="1"/>
          <p:nvPr/>
        </p:nvSpPr>
        <p:spPr>
          <a:xfrm>
            <a:off x="640080" y="1865376"/>
            <a:ext cx="10789920" cy="411480"/>
          </a:xfrm>
          <a:prstGeom prst="rect">
            <a:avLst/>
          </a:prstGeom>
          <a:noFill/>
        </p:spPr>
        <p:txBody>
          <a:bodyPr wrap="square" lIns="27432" rIns="27432" tIns="18288" bIns="0">
            <a:spAutoFit/>
          </a:bodyPr>
          <a:lstStyle/>
          <a:p>
            <a:pPr>
              <a:spcAft>
                <a:spcPts val="800"/>
              </a:spcAft>
              <a:defRPr sz="1500" b="0">
                <a:solidFill>
                  <a:srgbClr val="087EB6"/>
                </a:solidFill>
                <a:latin typeface="DejaVu Sans"/>
              </a:defRPr>
            </a:pPr>
            <a:r>
              <a:t>Kontentni foydalanuvchiga yaqinroq yetkazish.</a:t>
            </a:r>
          </a:p>
        </p:txBody>
      </p:sp>
      <p:sp>
        <p:nvSpPr>
          <p:cNvPr id="47" name="TextBox 46"/>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4324C"/>
                </a:solidFill>
                <a:latin typeface="DejaVu Sans"/>
              </a:defRPr>
            </a:pPr>
            <a:r>
              <a:t>BTST206   /   M10   /   2027–2028</a:t>
            </a:r>
          </a:p>
        </p:txBody>
      </p:sp>
      <p:sp>
        <p:nvSpPr>
          <p:cNvPr id="48" name="TextBox 47"/>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4324C"/>
                </a:solidFill>
                <a:latin typeface="DejaVu Sans"/>
              </a:defRPr>
            </a:pPr>
            <a:r>
              <a:t>08 / 13</a:t>
            </a:r>
          </a:p>
        </p:txBody>
      </p:sp>
      <p:sp>
        <p:nvSpPr>
          <p:cNvPr id="49" name="TextBox 48"/>
          <p:cNvSpPr txBox="1"/>
          <p:nvPr/>
        </p:nvSpPr>
        <p:spPr>
          <a:xfrm>
            <a:off x="713232" y="2532888"/>
            <a:ext cx="6446520" cy="1261872"/>
          </a:xfrm>
          <a:prstGeom prst="rect">
            <a:avLst/>
          </a:prstGeom>
          <a:noFill/>
        </p:spPr>
        <p:txBody>
          <a:bodyPr wrap="square" lIns="27432" rIns="27432" tIns="18288" bIns="0">
            <a:spAutoFit/>
          </a:bodyPr>
          <a:lstStyle/>
          <a:p>
            <a:pPr>
              <a:spcAft>
                <a:spcPts val="800"/>
              </a:spcAft>
              <a:defRPr sz="2200" b="1">
                <a:solidFill>
                  <a:srgbClr val="14324C"/>
                </a:solidFill>
                <a:latin typeface="DejaVu Sans"/>
              </a:defRPr>
            </a:pPr>
            <a:r>
              <a:t>CDN mos fayl va javoblarni foydalanuvchiga yaqin chekka nuqtalarda keshlaydi.</a:t>
            </a:r>
          </a:p>
        </p:txBody>
      </p:sp>
      <p:sp>
        <p:nvSpPr>
          <p:cNvPr id="50" name="TextBox 49"/>
          <p:cNvSpPr txBox="1"/>
          <p:nvPr/>
        </p:nvSpPr>
        <p:spPr>
          <a:xfrm>
            <a:off x="713232" y="3986784"/>
            <a:ext cx="6446520" cy="1764792"/>
          </a:xfrm>
          <a:prstGeom prst="rect">
            <a:avLst/>
          </a:prstGeom>
          <a:noFill/>
        </p:spPr>
        <p:txBody>
          <a:bodyPr wrap="square" lIns="27432" rIns="27432" tIns="18288" bIns="0">
            <a:spAutoFit/>
          </a:bodyPr>
          <a:lstStyle/>
          <a:p>
            <a:pPr>
              <a:spcAft>
                <a:spcPts val="800"/>
              </a:spcAft>
              <a:defRPr sz="2100" b="0">
                <a:solidFill>
                  <a:srgbClr val="14324C"/>
                </a:solidFill>
                <a:latin typeface="DejaVu Sans"/>
              </a:defRPr>
            </a:pPr>
            <a:r>
              <a:t>Cache miss: origin dan olish. Cache hit: mos javobni keshdan berish.</a:t>
            </a:r>
          </a:p>
        </p:txBody>
      </p:sp>
      <p:sp>
        <p:nvSpPr>
          <p:cNvPr id="51" name="Rectangle 50"/>
          <p:cNvSpPr/>
          <p:nvPr/>
        </p:nvSpPr>
        <p:spPr>
          <a:xfrm>
            <a:off x="7772400" y="2560320"/>
            <a:ext cx="3547872" cy="713232"/>
          </a:xfrm>
          <a:prstGeom prst="rect">
            <a:avLst/>
          </a:prstGeom>
          <a:solidFill>
            <a:srgbClr val="FFFFFF"/>
          </a:solidFill>
          <a:ln>
            <a:solidFill>
              <a:srgbClr val="087E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891272" y="2670048"/>
            <a:ext cx="3310128" cy="548640"/>
          </a:xfrm>
          <a:prstGeom prst="rect">
            <a:avLst/>
          </a:prstGeom>
          <a:noFill/>
        </p:spPr>
        <p:txBody>
          <a:bodyPr wrap="square" lIns="27432" rIns="27432" tIns="18288" bIns="0">
            <a:spAutoFit/>
          </a:bodyPr>
          <a:lstStyle/>
          <a:p>
            <a:pPr>
              <a:spcAft>
                <a:spcPts val="800"/>
              </a:spcAft>
              <a:defRPr sz="1900" b="1">
                <a:solidFill>
                  <a:srgbClr val="14324C"/>
                </a:solidFill>
                <a:latin typeface="DejaVu Sans"/>
              </a:defRPr>
            </a:pPr>
            <a:r>
              <a:t>Talaba</a:t>
            </a:r>
          </a:p>
        </p:txBody>
      </p:sp>
      <p:cxnSp>
        <p:nvCxnSpPr>
          <p:cNvPr id="53" name="Connector 52"/>
          <p:cNvCxnSpPr/>
          <p:nvPr/>
        </p:nvCxnSpPr>
        <p:spPr>
          <a:xfrm>
            <a:off x="9546336" y="3273552"/>
            <a:ext cx="0" cy="274320"/>
          </a:xfrm>
          <a:prstGeom prst="line">
            <a:avLst/>
          </a:prstGeom>
          <a:ln w="25400">
            <a:solidFill>
              <a:srgbClr val="087EB6"/>
            </a:solidFill>
            <a:tailEnd type="triangle"/>
          </a:ln>
        </p:spPr>
        <p:style>
          <a:lnRef idx="2">
            <a:schemeClr val="accent1"/>
          </a:lnRef>
          <a:fillRef idx="0">
            <a:schemeClr val="accent1"/>
          </a:fillRef>
          <a:effectRef idx="1">
            <a:schemeClr val="accent1"/>
          </a:effectRef>
          <a:fontRef idx="minor">
            <a:schemeClr val="tx1"/>
          </a:fontRef>
        </p:style>
      </p:cxnSp>
      <p:sp>
        <p:nvSpPr>
          <p:cNvPr id="54" name="Rectangle 53"/>
          <p:cNvSpPr/>
          <p:nvPr/>
        </p:nvSpPr>
        <p:spPr>
          <a:xfrm>
            <a:off x="7772400" y="3547872"/>
            <a:ext cx="3547872" cy="713232"/>
          </a:xfrm>
          <a:prstGeom prst="rect">
            <a:avLst/>
          </a:prstGeom>
          <a:solidFill>
            <a:srgbClr val="FFFFFF"/>
          </a:solidFill>
          <a:ln>
            <a:solidFill>
              <a:srgbClr val="087E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891272" y="3657600"/>
            <a:ext cx="3310128" cy="548640"/>
          </a:xfrm>
          <a:prstGeom prst="rect">
            <a:avLst/>
          </a:prstGeom>
          <a:noFill/>
        </p:spPr>
        <p:txBody>
          <a:bodyPr wrap="square" lIns="27432" rIns="27432" tIns="18288" bIns="0">
            <a:spAutoFit/>
          </a:bodyPr>
          <a:lstStyle/>
          <a:p>
            <a:pPr>
              <a:spcAft>
                <a:spcPts val="800"/>
              </a:spcAft>
              <a:defRPr sz="1900" b="1">
                <a:solidFill>
                  <a:srgbClr val="14324C"/>
                </a:solidFill>
                <a:latin typeface="DejaVu Sans"/>
              </a:defRPr>
            </a:pPr>
            <a:r>
              <a:t>CDN kesh</a:t>
            </a:r>
          </a:p>
        </p:txBody>
      </p:sp>
      <p:cxnSp>
        <p:nvCxnSpPr>
          <p:cNvPr id="56" name="Connector 55"/>
          <p:cNvCxnSpPr/>
          <p:nvPr/>
        </p:nvCxnSpPr>
        <p:spPr>
          <a:xfrm>
            <a:off x="9546336" y="4261104"/>
            <a:ext cx="0" cy="274320"/>
          </a:xfrm>
          <a:prstGeom prst="line">
            <a:avLst/>
          </a:prstGeom>
          <a:ln w="25400">
            <a:solidFill>
              <a:srgbClr val="087EB6"/>
            </a:solidFill>
            <a:tailEnd type="triangle"/>
          </a:ln>
        </p:spPr>
        <p:style>
          <a:lnRef idx="2">
            <a:schemeClr val="accent1"/>
          </a:lnRef>
          <a:fillRef idx="0">
            <a:schemeClr val="accent1"/>
          </a:fillRef>
          <a:effectRef idx="1">
            <a:schemeClr val="accent1"/>
          </a:effectRef>
          <a:fontRef idx="minor">
            <a:schemeClr val="tx1"/>
          </a:fontRef>
        </p:style>
      </p:cxnSp>
      <p:sp>
        <p:nvSpPr>
          <p:cNvPr id="57" name="Rectangle 56"/>
          <p:cNvSpPr/>
          <p:nvPr/>
        </p:nvSpPr>
        <p:spPr>
          <a:xfrm>
            <a:off x="7772400" y="4535424"/>
            <a:ext cx="3547872" cy="713232"/>
          </a:xfrm>
          <a:prstGeom prst="rect">
            <a:avLst/>
          </a:prstGeom>
          <a:solidFill>
            <a:srgbClr val="FFFFFF"/>
          </a:solidFill>
          <a:ln>
            <a:solidFill>
              <a:srgbClr val="087E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891272" y="4645152"/>
            <a:ext cx="3310128" cy="548640"/>
          </a:xfrm>
          <a:prstGeom prst="rect">
            <a:avLst/>
          </a:prstGeom>
          <a:noFill/>
        </p:spPr>
        <p:txBody>
          <a:bodyPr wrap="square" lIns="27432" rIns="27432" tIns="18288" bIns="0">
            <a:spAutoFit/>
          </a:bodyPr>
          <a:lstStyle/>
          <a:p>
            <a:pPr>
              <a:spcAft>
                <a:spcPts val="800"/>
              </a:spcAft>
              <a:defRPr sz="1900" b="1">
                <a:solidFill>
                  <a:srgbClr val="14324C"/>
                </a:solidFill>
                <a:latin typeface="DejaVu Sans"/>
              </a:defRPr>
            </a:pPr>
            <a:r>
              <a:t>Origin</a:t>
            </a:r>
          </a:p>
        </p:txBody>
      </p:sp>
      <p:sp>
        <p:nvSpPr>
          <p:cNvPr id="59" name="TextBox 58"/>
          <p:cNvSpPr txBox="1"/>
          <p:nvPr/>
        </p:nvSpPr>
        <p:spPr>
          <a:xfrm>
            <a:off x="731520" y="6108192"/>
            <a:ext cx="10698480" cy="329184"/>
          </a:xfrm>
          <a:prstGeom prst="rect">
            <a:avLst/>
          </a:prstGeom>
          <a:noFill/>
        </p:spPr>
        <p:txBody>
          <a:bodyPr wrap="square" lIns="27432" rIns="27432" tIns="18288" bIns="0">
            <a:spAutoFit/>
          </a:bodyPr>
          <a:lstStyle/>
          <a:p>
            <a:pPr>
              <a:spcAft>
                <a:spcPts val="800"/>
              </a:spcAft>
              <a:defRPr sz="1200" b="0">
                <a:solidFill>
                  <a:srgbClr val="087EB6"/>
                </a:solidFill>
                <a:latin typeface="DejaVu Sans"/>
              </a:defRPr>
            </a:pPr>
            <a:r>
              <a:t>MISOL / Rasm va uslub fayllari uchun qulay. Shaxsiy baholarni umumiy keshga joylamang.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AFD"/>
        </a:solidFill>
        <a:effectLst/>
      </p:bgPr>
    </p:bg>
    <p:spTree>
      <p:nvGrpSpPr>
        <p:cNvPr id="1" name=""/>
        <p:cNvGrpSpPr/>
        <p:nvPr/>
      </p:nvGrpSpPr>
      <p:grpSpPr/>
      <p:cxnSp>
        <p:nvCxnSpPr>
          <p:cNvPr id="2" name="Connector 1"/>
          <p:cNvCxnSpPr/>
          <p:nvPr/>
        </p:nvCxnSpPr>
        <p:spPr>
          <a:xfrm>
            <a:off x="4572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3716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8288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22860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7432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2004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6576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1148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5720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0292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4864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9436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4008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8580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3152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7724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2296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6868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1440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6012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00584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05156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09728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14300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18872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4572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0" y="9144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0" y="13716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0" y="18288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0" y="22860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0" y="27432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0" y="32004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0" y="36576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0" y="41148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0" y="45720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0" y="50292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0" y="54864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0" y="59436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0" y="64008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320040" y="320040"/>
            <a:ext cx="11548872" cy="6080760"/>
          </a:xfrm>
          <a:prstGeom prst="rect">
            <a:avLst/>
          </a:prstGeom>
          <a:solidFill>
            <a:srgbClr val="F5FAFD"/>
          </a:solidFill>
          <a:ln>
            <a:solidFill>
              <a:srgbClr val="BED9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3" name="Connector 42"/>
          <p:cNvCxnSpPr/>
          <p:nvPr/>
        </p:nvCxnSpPr>
        <p:spPr>
          <a:xfrm>
            <a:off x="320040" y="1682496"/>
            <a:ext cx="11548872" cy="0"/>
          </a:xfrm>
          <a:prstGeom prst="line">
            <a:avLst/>
          </a:prstGeom>
          <a:ln w="12700">
            <a:solidFill>
              <a:srgbClr val="BED9E7"/>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640080" y="493776"/>
            <a:ext cx="10058400" cy="274320"/>
          </a:xfrm>
          <a:prstGeom prst="rect">
            <a:avLst/>
          </a:prstGeom>
          <a:noFill/>
        </p:spPr>
        <p:txBody>
          <a:bodyPr wrap="square" lIns="27432" rIns="27432" tIns="18288" bIns="0">
            <a:spAutoFit/>
          </a:bodyPr>
          <a:lstStyle/>
          <a:p>
            <a:pPr>
              <a:spcAft>
                <a:spcPts val="800"/>
              </a:spcAft>
              <a:defRPr sz="1200" b="1">
                <a:solidFill>
                  <a:srgbClr val="087EB6"/>
                </a:solidFill>
                <a:latin typeface="DejaVu Sans"/>
              </a:defRPr>
            </a:pPr>
            <a:r>
              <a:t>BTST206  /  TARMOQ REJASI  /  SHEET 09</a:t>
            </a:r>
          </a:p>
        </p:txBody>
      </p:sp>
      <p:sp>
        <p:nvSpPr>
          <p:cNvPr id="45" name="TextBox 44"/>
          <p:cNvSpPr txBox="1"/>
          <p:nvPr/>
        </p:nvSpPr>
        <p:spPr>
          <a:xfrm>
            <a:off x="640080" y="914400"/>
            <a:ext cx="10881360" cy="685800"/>
          </a:xfrm>
          <a:prstGeom prst="rect">
            <a:avLst/>
          </a:prstGeom>
          <a:noFill/>
        </p:spPr>
        <p:txBody>
          <a:bodyPr wrap="square" lIns="27432" rIns="27432" tIns="18288" bIns="0">
            <a:spAutoFit/>
          </a:bodyPr>
          <a:lstStyle/>
          <a:p>
            <a:pPr>
              <a:spcAft>
                <a:spcPts val="800"/>
              </a:spcAft>
              <a:defRPr sz="2700" b="1">
                <a:solidFill>
                  <a:srgbClr val="14324C"/>
                </a:solidFill>
                <a:latin typeface="DejaVu Sans"/>
              </a:defRPr>
            </a:pPr>
            <a:r>
              <a:t>Texnik diagramma</a:t>
            </a:r>
          </a:p>
        </p:txBody>
      </p:sp>
      <p:sp>
        <p:nvSpPr>
          <p:cNvPr id="46" name="TextBox 45"/>
          <p:cNvSpPr txBox="1"/>
          <p:nvPr/>
        </p:nvSpPr>
        <p:spPr>
          <a:xfrm>
            <a:off x="640080" y="1865376"/>
            <a:ext cx="10789920" cy="411480"/>
          </a:xfrm>
          <a:prstGeom prst="rect">
            <a:avLst/>
          </a:prstGeom>
          <a:noFill/>
        </p:spPr>
        <p:txBody>
          <a:bodyPr wrap="square" lIns="27432" rIns="27432" tIns="18288" bIns="0">
            <a:spAutoFit/>
          </a:bodyPr>
          <a:lstStyle/>
          <a:p>
            <a:pPr>
              <a:spcAft>
                <a:spcPts val="800"/>
              </a:spcAft>
              <a:defRPr sz="1500" b="0">
                <a:solidFill>
                  <a:srgbClr val="087EB6"/>
                </a:solidFill>
                <a:latin typeface="DejaVu Sans"/>
              </a:defRPr>
            </a:pPr>
            <a:r>
              <a:t>Komponentlar va ular orasidagi asosiy bog‘lanish</a:t>
            </a:r>
          </a:p>
        </p:txBody>
      </p:sp>
      <p:sp>
        <p:nvSpPr>
          <p:cNvPr id="47" name="TextBox 46"/>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4324C"/>
                </a:solidFill>
                <a:latin typeface="DejaVu Sans"/>
              </a:defRPr>
            </a:pPr>
            <a:r>
              <a:t>BTST206   /   M10   /   2027–2028</a:t>
            </a:r>
          </a:p>
        </p:txBody>
      </p:sp>
      <p:sp>
        <p:nvSpPr>
          <p:cNvPr id="48" name="TextBox 47"/>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4324C"/>
                </a:solidFill>
                <a:latin typeface="DejaVu Sans"/>
              </a:defRPr>
            </a:pPr>
            <a:r>
              <a:t>09 / 13</a:t>
            </a:r>
          </a:p>
        </p:txBody>
      </p:sp>
      <p:sp>
        <p:nvSpPr>
          <p:cNvPr id="49" name="Rectangle 48"/>
          <p:cNvSpPr/>
          <p:nvPr/>
        </p:nvSpPr>
        <p:spPr>
          <a:xfrm>
            <a:off x="731520" y="2560320"/>
            <a:ext cx="2455163" cy="777240"/>
          </a:xfrm>
          <a:prstGeom prst="rect">
            <a:avLst/>
          </a:prstGeom>
          <a:solidFill>
            <a:srgbClr val="E4F2FA"/>
          </a:solidFill>
          <a:ln>
            <a:solidFill>
              <a:srgbClr val="087E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50392" y="2670048"/>
            <a:ext cx="2217420" cy="612647"/>
          </a:xfrm>
          <a:prstGeom prst="rect">
            <a:avLst/>
          </a:prstGeom>
          <a:noFill/>
        </p:spPr>
        <p:txBody>
          <a:bodyPr wrap="square" lIns="27432" rIns="27432" tIns="18288" bIns="0">
            <a:spAutoFit/>
          </a:bodyPr>
          <a:lstStyle/>
          <a:p>
            <a:pPr>
              <a:spcAft>
                <a:spcPts val="800"/>
              </a:spcAft>
              <a:defRPr sz="1700" b="1">
                <a:solidFill>
                  <a:srgbClr val="14324C"/>
                </a:solidFill>
                <a:latin typeface="DejaVu Sans"/>
              </a:defRPr>
            </a:pPr>
            <a:r>
              <a:t>Brauzer</a:t>
            </a:r>
          </a:p>
        </p:txBody>
      </p:sp>
      <p:cxnSp>
        <p:nvCxnSpPr>
          <p:cNvPr id="51" name="Connector 50"/>
          <p:cNvCxnSpPr/>
          <p:nvPr/>
        </p:nvCxnSpPr>
        <p:spPr>
          <a:xfrm>
            <a:off x="3186683" y="2948939"/>
            <a:ext cx="292608" cy="0"/>
          </a:xfrm>
          <a:prstGeom prst="line">
            <a:avLst/>
          </a:prstGeom>
          <a:ln w="24130">
            <a:solidFill>
              <a:srgbClr val="087EB6"/>
            </a:solidFill>
            <a:tailEnd type="triangle"/>
          </a:ln>
        </p:spPr>
        <p:style>
          <a:lnRef idx="2">
            <a:schemeClr val="accent1"/>
          </a:lnRef>
          <a:fillRef idx="0">
            <a:schemeClr val="accent1"/>
          </a:fillRef>
          <a:effectRef idx="1">
            <a:schemeClr val="accent1"/>
          </a:effectRef>
          <a:fontRef idx="minor">
            <a:schemeClr val="tx1"/>
          </a:fontRef>
        </p:style>
      </p:cxnSp>
      <p:sp>
        <p:nvSpPr>
          <p:cNvPr id="52" name="Rectangle 51"/>
          <p:cNvSpPr/>
          <p:nvPr/>
        </p:nvSpPr>
        <p:spPr>
          <a:xfrm>
            <a:off x="3479291" y="2560320"/>
            <a:ext cx="2455163" cy="777240"/>
          </a:xfrm>
          <a:prstGeom prst="rect">
            <a:avLst/>
          </a:prstGeom>
          <a:solidFill>
            <a:srgbClr val="E4F2FA"/>
          </a:solidFill>
          <a:ln>
            <a:solidFill>
              <a:srgbClr val="087E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598163" y="2670048"/>
            <a:ext cx="2217420" cy="612647"/>
          </a:xfrm>
          <a:prstGeom prst="rect">
            <a:avLst/>
          </a:prstGeom>
          <a:noFill/>
        </p:spPr>
        <p:txBody>
          <a:bodyPr wrap="square" lIns="27432" rIns="27432" tIns="18288" bIns="0">
            <a:spAutoFit/>
          </a:bodyPr>
          <a:lstStyle/>
          <a:p>
            <a:pPr>
              <a:spcAft>
                <a:spcPts val="800"/>
              </a:spcAft>
              <a:defRPr sz="1700" b="1">
                <a:solidFill>
                  <a:srgbClr val="14324C"/>
                </a:solidFill>
                <a:latin typeface="DejaVu Sans"/>
              </a:defRPr>
            </a:pPr>
            <a:r>
              <a:t>DNS / CDN</a:t>
            </a:r>
          </a:p>
        </p:txBody>
      </p:sp>
      <p:cxnSp>
        <p:nvCxnSpPr>
          <p:cNvPr id="54" name="Connector 53"/>
          <p:cNvCxnSpPr/>
          <p:nvPr/>
        </p:nvCxnSpPr>
        <p:spPr>
          <a:xfrm>
            <a:off x="5934455" y="2948939"/>
            <a:ext cx="292608" cy="0"/>
          </a:xfrm>
          <a:prstGeom prst="line">
            <a:avLst/>
          </a:prstGeom>
          <a:ln w="24130">
            <a:solidFill>
              <a:srgbClr val="087EB6"/>
            </a:solidFill>
            <a:tailEnd type="triangle"/>
          </a:ln>
        </p:spPr>
        <p:style>
          <a:lnRef idx="2">
            <a:schemeClr val="accent1"/>
          </a:lnRef>
          <a:fillRef idx="0">
            <a:schemeClr val="accent1"/>
          </a:fillRef>
          <a:effectRef idx="1">
            <a:schemeClr val="accent1"/>
          </a:effectRef>
          <a:fontRef idx="minor">
            <a:schemeClr val="tx1"/>
          </a:fontRef>
        </p:style>
      </p:cxnSp>
      <p:sp>
        <p:nvSpPr>
          <p:cNvPr id="55" name="Rectangle 54"/>
          <p:cNvSpPr/>
          <p:nvPr/>
        </p:nvSpPr>
        <p:spPr>
          <a:xfrm>
            <a:off x="6227063" y="2560320"/>
            <a:ext cx="2455163" cy="777240"/>
          </a:xfrm>
          <a:prstGeom prst="rect">
            <a:avLst/>
          </a:prstGeom>
          <a:solidFill>
            <a:srgbClr val="E4F2FA"/>
          </a:solidFill>
          <a:ln>
            <a:solidFill>
              <a:srgbClr val="087E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345935" y="2670048"/>
            <a:ext cx="2217420" cy="612647"/>
          </a:xfrm>
          <a:prstGeom prst="rect">
            <a:avLst/>
          </a:prstGeom>
          <a:noFill/>
        </p:spPr>
        <p:txBody>
          <a:bodyPr wrap="square" lIns="27432" rIns="27432" tIns="18288" bIns="0">
            <a:spAutoFit/>
          </a:bodyPr>
          <a:lstStyle/>
          <a:p>
            <a:pPr>
              <a:spcAft>
                <a:spcPts val="800"/>
              </a:spcAft>
              <a:defRPr sz="1700" b="1">
                <a:solidFill>
                  <a:srgbClr val="14324C"/>
                </a:solidFill>
                <a:latin typeface="DejaVu Sans"/>
              </a:defRPr>
            </a:pPr>
            <a:r>
              <a:t>Load Balancer</a:t>
            </a:r>
          </a:p>
        </p:txBody>
      </p:sp>
      <p:cxnSp>
        <p:nvCxnSpPr>
          <p:cNvPr id="57" name="Connector 56"/>
          <p:cNvCxnSpPr/>
          <p:nvPr/>
        </p:nvCxnSpPr>
        <p:spPr>
          <a:xfrm>
            <a:off x="8682228" y="2948939"/>
            <a:ext cx="292608" cy="0"/>
          </a:xfrm>
          <a:prstGeom prst="line">
            <a:avLst/>
          </a:prstGeom>
          <a:ln w="24130">
            <a:solidFill>
              <a:srgbClr val="087EB6"/>
            </a:solidFill>
            <a:tailEnd type="triangle"/>
          </a:ln>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8974836" y="2560320"/>
            <a:ext cx="2455163" cy="777240"/>
          </a:xfrm>
          <a:prstGeom prst="rect">
            <a:avLst/>
          </a:prstGeom>
          <a:solidFill>
            <a:srgbClr val="E4F2FA"/>
          </a:solidFill>
          <a:ln>
            <a:solidFill>
              <a:srgbClr val="087E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093708" y="2670048"/>
            <a:ext cx="2217420" cy="612647"/>
          </a:xfrm>
          <a:prstGeom prst="rect">
            <a:avLst/>
          </a:prstGeom>
          <a:noFill/>
        </p:spPr>
        <p:txBody>
          <a:bodyPr wrap="square" lIns="27432" rIns="27432" tIns="18288" bIns="0">
            <a:spAutoFit/>
          </a:bodyPr>
          <a:lstStyle/>
          <a:p>
            <a:pPr>
              <a:spcAft>
                <a:spcPts val="800"/>
              </a:spcAft>
              <a:defRPr sz="1700" b="1">
                <a:solidFill>
                  <a:srgbClr val="14324C"/>
                </a:solidFill>
                <a:latin typeface="DejaVu Sans"/>
              </a:defRPr>
            </a:pPr>
            <a:r>
              <a:t>Private ilova</a:t>
            </a:r>
          </a:p>
        </p:txBody>
      </p:sp>
      <p:sp>
        <p:nvSpPr>
          <p:cNvPr id="60" name="Rectangle 59"/>
          <p:cNvSpPr/>
          <p:nvPr/>
        </p:nvSpPr>
        <p:spPr>
          <a:xfrm>
            <a:off x="7452360" y="4297680"/>
            <a:ext cx="3749039" cy="822960"/>
          </a:xfrm>
          <a:prstGeom prst="rect">
            <a:avLst/>
          </a:prstGeom>
          <a:solidFill>
            <a:srgbClr val="FFFFFF"/>
          </a:solidFill>
          <a:ln>
            <a:solidFill>
              <a:srgbClr val="087E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571232" y="4407408"/>
            <a:ext cx="3511296" cy="658368"/>
          </a:xfrm>
          <a:prstGeom prst="rect">
            <a:avLst/>
          </a:prstGeom>
          <a:noFill/>
        </p:spPr>
        <p:txBody>
          <a:bodyPr wrap="square" lIns="27432" rIns="27432" tIns="18288" bIns="0">
            <a:spAutoFit/>
          </a:bodyPr>
          <a:lstStyle/>
          <a:p>
            <a:pPr>
              <a:spcAft>
                <a:spcPts val="800"/>
              </a:spcAft>
              <a:defRPr sz="2200" b="1">
                <a:solidFill>
                  <a:srgbClr val="14324C"/>
                </a:solidFill>
                <a:latin typeface="DejaVu Sans"/>
              </a:defRPr>
            </a:pPr>
            <a:r>
              <a:t>Private baza</a:t>
            </a:r>
          </a:p>
        </p:txBody>
      </p:sp>
      <p:cxnSp>
        <p:nvCxnSpPr>
          <p:cNvPr id="62" name="Connector 61"/>
          <p:cNvCxnSpPr/>
          <p:nvPr/>
        </p:nvCxnSpPr>
        <p:spPr>
          <a:xfrm flipH="1">
            <a:off x="9326880" y="3337560"/>
            <a:ext cx="694944" cy="960120"/>
          </a:xfrm>
          <a:prstGeom prst="line">
            <a:avLst/>
          </a:prstGeom>
          <a:ln w="25400">
            <a:solidFill>
              <a:srgbClr val="087EB6"/>
            </a:solidFill>
            <a:tailEnd type="triangle"/>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777240" y="4462272"/>
            <a:ext cx="6126480" cy="1097280"/>
          </a:xfrm>
          <a:prstGeom prst="rect">
            <a:avLst/>
          </a:prstGeom>
          <a:noFill/>
        </p:spPr>
        <p:txBody>
          <a:bodyPr wrap="square" lIns="27432" rIns="27432" tIns="18288" bIns="0">
            <a:spAutoFit/>
          </a:bodyPr>
          <a:lstStyle/>
          <a:p>
            <a:pPr>
              <a:spcAft>
                <a:spcPts val="800"/>
              </a:spcAft>
              <a:defRPr sz="2100" b="0">
                <a:solidFill>
                  <a:srgbClr val="14324C"/>
                </a:solidFill>
                <a:latin typeface="DejaVu Sans"/>
              </a:defRPr>
            </a:pPr>
            <a:r>
              <a:t>NAT: private ilovadan tashqi xizmatga chiqish. Baza internetga bevosita ochilmaydi.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AFD"/>
        </a:solidFill>
        <a:effectLst/>
      </p:bgPr>
    </p:bg>
    <p:spTree>
      <p:nvGrpSpPr>
        <p:cNvPr id="1" name=""/>
        <p:cNvGrpSpPr/>
        <p:nvPr/>
      </p:nvGrpSpPr>
      <p:grpSpPr/>
      <p:cxnSp>
        <p:nvCxnSpPr>
          <p:cNvPr id="2" name="Connector 1"/>
          <p:cNvCxnSpPr/>
          <p:nvPr/>
        </p:nvCxnSpPr>
        <p:spPr>
          <a:xfrm>
            <a:off x="4572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3716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8288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22860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7432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2004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6576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1148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5720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0292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4864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9436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4008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8580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3152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7724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2296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6868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1440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6012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00584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05156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09728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14300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18872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4572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0" y="9144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0" y="13716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0" y="18288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0" y="22860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0" y="27432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0" y="32004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0" y="36576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0" y="41148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0" y="45720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0" y="50292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0" y="54864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0" y="59436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0" y="64008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320040" y="320040"/>
            <a:ext cx="11548872" cy="6080760"/>
          </a:xfrm>
          <a:prstGeom prst="rect">
            <a:avLst/>
          </a:prstGeom>
          <a:solidFill>
            <a:srgbClr val="F5FAFD"/>
          </a:solidFill>
          <a:ln>
            <a:solidFill>
              <a:srgbClr val="BED9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3" name="Connector 42"/>
          <p:cNvCxnSpPr/>
          <p:nvPr/>
        </p:nvCxnSpPr>
        <p:spPr>
          <a:xfrm>
            <a:off x="320040" y="1682496"/>
            <a:ext cx="11548872" cy="0"/>
          </a:xfrm>
          <a:prstGeom prst="line">
            <a:avLst/>
          </a:prstGeom>
          <a:ln w="12700">
            <a:solidFill>
              <a:srgbClr val="BED9E7"/>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640080" y="493776"/>
            <a:ext cx="10058400" cy="274320"/>
          </a:xfrm>
          <a:prstGeom prst="rect">
            <a:avLst/>
          </a:prstGeom>
          <a:noFill/>
        </p:spPr>
        <p:txBody>
          <a:bodyPr wrap="square" lIns="27432" rIns="27432" tIns="18288" bIns="0">
            <a:spAutoFit/>
          </a:bodyPr>
          <a:lstStyle/>
          <a:p>
            <a:pPr>
              <a:spcAft>
                <a:spcPts val="800"/>
              </a:spcAft>
              <a:defRPr sz="1200" b="1">
                <a:solidFill>
                  <a:srgbClr val="087EB6"/>
                </a:solidFill>
                <a:latin typeface="DejaVu Sans"/>
              </a:defRPr>
            </a:pPr>
            <a:r>
              <a:t>BTST206  /  TARMOQ REJASI  /  SHEET 10</a:t>
            </a:r>
          </a:p>
        </p:txBody>
      </p:sp>
      <p:sp>
        <p:nvSpPr>
          <p:cNvPr id="45" name="TextBox 44"/>
          <p:cNvSpPr txBox="1"/>
          <p:nvPr/>
        </p:nvSpPr>
        <p:spPr>
          <a:xfrm>
            <a:off x="640080" y="914400"/>
            <a:ext cx="10881360" cy="685800"/>
          </a:xfrm>
          <a:prstGeom prst="rect">
            <a:avLst/>
          </a:prstGeom>
          <a:noFill/>
        </p:spPr>
        <p:txBody>
          <a:bodyPr wrap="square" lIns="27432" rIns="27432" tIns="18288" bIns="0">
            <a:spAutoFit/>
          </a:bodyPr>
          <a:lstStyle/>
          <a:p>
            <a:pPr>
              <a:spcAft>
                <a:spcPts val="800"/>
              </a:spcAft>
              <a:defRPr sz="2700" b="1">
                <a:solidFill>
                  <a:srgbClr val="14324C"/>
                </a:solidFill>
                <a:latin typeface="DejaVu Sans"/>
              </a:defRPr>
            </a:pPr>
            <a:r>
              <a:t>Universitet misolida</a:t>
            </a:r>
          </a:p>
        </p:txBody>
      </p:sp>
      <p:sp>
        <p:nvSpPr>
          <p:cNvPr id="46" name="TextBox 45"/>
          <p:cNvSpPr txBox="1"/>
          <p:nvPr/>
        </p:nvSpPr>
        <p:spPr>
          <a:xfrm>
            <a:off x="640080" y="1865376"/>
            <a:ext cx="10789920" cy="411480"/>
          </a:xfrm>
          <a:prstGeom prst="rect">
            <a:avLst/>
          </a:prstGeom>
          <a:noFill/>
        </p:spPr>
        <p:txBody>
          <a:bodyPr wrap="square" lIns="27432" rIns="27432" tIns="18288" bIns="0">
            <a:spAutoFit/>
          </a:bodyPr>
          <a:lstStyle/>
          <a:p>
            <a:pPr>
              <a:spcAft>
                <a:spcPts val="800"/>
              </a:spcAft>
              <a:defRPr sz="1500" b="0">
                <a:solidFill>
                  <a:srgbClr val="087EB6"/>
                </a:solidFill>
                <a:latin typeface="DejaVu Sans"/>
              </a:defRPr>
            </a:pPr>
            <a:r>
              <a:t>Tushunchalar amaliy tizimda qanday birlashadi?</a:t>
            </a:r>
          </a:p>
        </p:txBody>
      </p:sp>
      <p:sp>
        <p:nvSpPr>
          <p:cNvPr id="47" name="TextBox 46"/>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4324C"/>
                </a:solidFill>
                <a:latin typeface="DejaVu Sans"/>
              </a:defRPr>
            </a:pPr>
            <a:r>
              <a:t>BTST206   /   M10   /   2027–2028</a:t>
            </a:r>
          </a:p>
        </p:txBody>
      </p:sp>
      <p:sp>
        <p:nvSpPr>
          <p:cNvPr id="48" name="TextBox 47"/>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4324C"/>
                </a:solidFill>
                <a:latin typeface="DejaVu Sans"/>
              </a:defRPr>
            </a:pPr>
            <a:r>
              <a:t>10 / 13</a:t>
            </a:r>
          </a:p>
        </p:txBody>
      </p:sp>
      <p:sp>
        <p:nvSpPr>
          <p:cNvPr id="49" name="Rectangle 48"/>
          <p:cNvSpPr/>
          <p:nvPr/>
        </p:nvSpPr>
        <p:spPr>
          <a:xfrm>
            <a:off x="758952" y="2514600"/>
            <a:ext cx="10625328" cy="1874519"/>
          </a:xfrm>
          <a:prstGeom prst="rect">
            <a:avLst/>
          </a:prstGeom>
          <a:solidFill>
            <a:srgbClr val="FFFFFF"/>
          </a:solidFill>
          <a:ln>
            <a:solidFill>
              <a:srgbClr val="087E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60120" y="2743200"/>
            <a:ext cx="10213848" cy="1463040"/>
          </a:xfrm>
          <a:prstGeom prst="rect">
            <a:avLst/>
          </a:prstGeom>
          <a:noFill/>
        </p:spPr>
        <p:txBody>
          <a:bodyPr wrap="square" lIns="27432" rIns="27432" tIns="18288" bIns="0">
            <a:spAutoFit/>
          </a:bodyPr>
          <a:lstStyle/>
          <a:p>
            <a:pPr>
              <a:spcAft>
                <a:spcPts val="800"/>
              </a:spcAft>
              <a:defRPr sz="2400" b="0">
                <a:solidFill>
                  <a:srgbClr val="14324C"/>
                </a:solidFill>
                <a:latin typeface="DejaVu Sans"/>
              </a:defRPr>
            </a:pPr>
            <a:r>
              <a:t>Talaba portal nomini brauzerga yozadi. So‘rov DNS orqali manzil topadi, kerak bo‘lsa CDN dan fayl oladi va yuklama taqsimlagich orqali ilovaga yetib boradi. Baza esa bevosita internetga ochilmaydi.</a:t>
            </a:r>
          </a:p>
        </p:txBody>
      </p:sp>
      <p:sp>
        <p:nvSpPr>
          <p:cNvPr id="51" name="Rectangle 50"/>
          <p:cNvSpPr/>
          <p:nvPr/>
        </p:nvSpPr>
        <p:spPr>
          <a:xfrm>
            <a:off x="758952" y="5047488"/>
            <a:ext cx="2402586" cy="777240"/>
          </a:xfrm>
          <a:prstGeom prst="rect">
            <a:avLst/>
          </a:prstGeom>
          <a:solidFill>
            <a:srgbClr val="E4F2FA"/>
          </a:solidFill>
          <a:ln>
            <a:solidFill>
              <a:srgbClr val="087E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77824" y="5157216"/>
            <a:ext cx="2164842" cy="612647"/>
          </a:xfrm>
          <a:prstGeom prst="rect">
            <a:avLst/>
          </a:prstGeom>
          <a:noFill/>
        </p:spPr>
        <p:txBody>
          <a:bodyPr wrap="square" lIns="27432" rIns="27432" tIns="18288" bIns="0">
            <a:spAutoFit/>
          </a:bodyPr>
          <a:lstStyle/>
          <a:p>
            <a:pPr>
              <a:spcAft>
                <a:spcPts val="800"/>
              </a:spcAft>
              <a:defRPr sz="1700" b="1">
                <a:solidFill>
                  <a:srgbClr val="14324C"/>
                </a:solidFill>
                <a:latin typeface="DejaVu Sans"/>
              </a:defRPr>
            </a:pPr>
            <a:r>
              <a:t>DNS va CDN</a:t>
            </a:r>
          </a:p>
        </p:txBody>
      </p:sp>
      <p:cxnSp>
        <p:nvCxnSpPr>
          <p:cNvPr id="53" name="Connector 52"/>
          <p:cNvCxnSpPr/>
          <p:nvPr/>
        </p:nvCxnSpPr>
        <p:spPr>
          <a:xfrm>
            <a:off x="3161538" y="5436107"/>
            <a:ext cx="292608" cy="0"/>
          </a:xfrm>
          <a:prstGeom prst="line">
            <a:avLst/>
          </a:prstGeom>
          <a:ln w="24130">
            <a:solidFill>
              <a:srgbClr val="087EB6"/>
            </a:solidFill>
            <a:tailEnd type="triangle"/>
          </a:ln>
        </p:spPr>
        <p:style>
          <a:lnRef idx="2">
            <a:schemeClr val="accent1"/>
          </a:lnRef>
          <a:fillRef idx="0">
            <a:schemeClr val="accent1"/>
          </a:fillRef>
          <a:effectRef idx="1">
            <a:schemeClr val="accent1"/>
          </a:effectRef>
          <a:fontRef idx="minor">
            <a:schemeClr val="tx1"/>
          </a:fontRef>
        </p:style>
      </p:cxnSp>
      <p:sp>
        <p:nvSpPr>
          <p:cNvPr id="54" name="Rectangle 53"/>
          <p:cNvSpPr/>
          <p:nvPr/>
        </p:nvSpPr>
        <p:spPr>
          <a:xfrm>
            <a:off x="3454146" y="5047488"/>
            <a:ext cx="2402586" cy="777240"/>
          </a:xfrm>
          <a:prstGeom prst="rect">
            <a:avLst/>
          </a:prstGeom>
          <a:solidFill>
            <a:srgbClr val="E4F2FA"/>
          </a:solidFill>
          <a:ln>
            <a:solidFill>
              <a:srgbClr val="087E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573018" y="5157216"/>
            <a:ext cx="2164842" cy="612647"/>
          </a:xfrm>
          <a:prstGeom prst="rect">
            <a:avLst/>
          </a:prstGeom>
          <a:noFill/>
        </p:spPr>
        <p:txBody>
          <a:bodyPr wrap="square" lIns="27432" rIns="27432" tIns="18288" bIns="0">
            <a:spAutoFit/>
          </a:bodyPr>
          <a:lstStyle/>
          <a:p>
            <a:pPr>
              <a:spcAft>
                <a:spcPts val="800"/>
              </a:spcAft>
              <a:defRPr sz="1700" b="1">
                <a:solidFill>
                  <a:srgbClr val="14324C"/>
                </a:solidFill>
                <a:latin typeface="DejaVu Sans"/>
              </a:defRPr>
            </a:pPr>
            <a:r>
              <a:t>Load Balancer</a:t>
            </a:r>
          </a:p>
        </p:txBody>
      </p:sp>
      <p:cxnSp>
        <p:nvCxnSpPr>
          <p:cNvPr id="56" name="Connector 55"/>
          <p:cNvCxnSpPr/>
          <p:nvPr/>
        </p:nvCxnSpPr>
        <p:spPr>
          <a:xfrm>
            <a:off x="5856732" y="5436107"/>
            <a:ext cx="292608" cy="0"/>
          </a:xfrm>
          <a:prstGeom prst="line">
            <a:avLst/>
          </a:prstGeom>
          <a:ln w="24130">
            <a:solidFill>
              <a:srgbClr val="087EB6"/>
            </a:solidFill>
            <a:tailEnd type="triangle"/>
          </a:ln>
        </p:spPr>
        <p:style>
          <a:lnRef idx="2">
            <a:schemeClr val="accent1"/>
          </a:lnRef>
          <a:fillRef idx="0">
            <a:schemeClr val="accent1"/>
          </a:fillRef>
          <a:effectRef idx="1">
            <a:schemeClr val="accent1"/>
          </a:effectRef>
          <a:fontRef idx="minor">
            <a:schemeClr val="tx1"/>
          </a:fontRef>
        </p:style>
      </p:cxnSp>
      <p:sp>
        <p:nvSpPr>
          <p:cNvPr id="57" name="Rectangle 56"/>
          <p:cNvSpPr/>
          <p:nvPr/>
        </p:nvSpPr>
        <p:spPr>
          <a:xfrm>
            <a:off x="6149340" y="5047488"/>
            <a:ext cx="2402586" cy="777240"/>
          </a:xfrm>
          <a:prstGeom prst="rect">
            <a:avLst/>
          </a:prstGeom>
          <a:solidFill>
            <a:srgbClr val="E4F2FA"/>
          </a:solidFill>
          <a:ln>
            <a:solidFill>
              <a:srgbClr val="087E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268212" y="5157216"/>
            <a:ext cx="2164842" cy="612647"/>
          </a:xfrm>
          <a:prstGeom prst="rect">
            <a:avLst/>
          </a:prstGeom>
          <a:noFill/>
        </p:spPr>
        <p:txBody>
          <a:bodyPr wrap="square" lIns="27432" rIns="27432" tIns="18288" bIns="0">
            <a:spAutoFit/>
          </a:bodyPr>
          <a:lstStyle/>
          <a:p>
            <a:pPr>
              <a:spcAft>
                <a:spcPts val="800"/>
              </a:spcAft>
              <a:defRPr sz="1700" b="1">
                <a:solidFill>
                  <a:srgbClr val="14324C"/>
                </a:solidFill>
                <a:latin typeface="DejaVu Sans"/>
              </a:defRPr>
            </a:pPr>
            <a:r>
              <a:t>Private ilova</a:t>
            </a:r>
          </a:p>
        </p:txBody>
      </p:sp>
      <p:cxnSp>
        <p:nvCxnSpPr>
          <p:cNvPr id="59" name="Connector 58"/>
          <p:cNvCxnSpPr/>
          <p:nvPr/>
        </p:nvCxnSpPr>
        <p:spPr>
          <a:xfrm>
            <a:off x="8551926" y="5436107"/>
            <a:ext cx="292608" cy="0"/>
          </a:xfrm>
          <a:prstGeom prst="line">
            <a:avLst/>
          </a:prstGeom>
          <a:ln w="24130">
            <a:solidFill>
              <a:srgbClr val="087EB6"/>
            </a:solidFill>
            <a:tailEnd type="triangle"/>
          </a:ln>
        </p:spPr>
        <p:style>
          <a:lnRef idx="2">
            <a:schemeClr val="accent1"/>
          </a:lnRef>
          <a:fillRef idx="0">
            <a:schemeClr val="accent1"/>
          </a:fillRef>
          <a:effectRef idx="1">
            <a:schemeClr val="accent1"/>
          </a:effectRef>
          <a:fontRef idx="minor">
            <a:schemeClr val="tx1"/>
          </a:fontRef>
        </p:style>
      </p:cxnSp>
      <p:sp>
        <p:nvSpPr>
          <p:cNvPr id="60" name="Rectangle 59"/>
          <p:cNvSpPr/>
          <p:nvPr/>
        </p:nvSpPr>
        <p:spPr>
          <a:xfrm>
            <a:off x="8844534" y="5047488"/>
            <a:ext cx="2402586" cy="777240"/>
          </a:xfrm>
          <a:prstGeom prst="rect">
            <a:avLst/>
          </a:prstGeom>
          <a:solidFill>
            <a:srgbClr val="E4F2FA"/>
          </a:solidFill>
          <a:ln>
            <a:solidFill>
              <a:srgbClr val="087E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963406" y="5157216"/>
            <a:ext cx="2164842" cy="612647"/>
          </a:xfrm>
          <a:prstGeom prst="rect">
            <a:avLst/>
          </a:prstGeom>
          <a:noFill/>
        </p:spPr>
        <p:txBody>
          <a:bodyPr wrap="square" lIns="27432" rIns="27432" tIns="18288" bIns="0">
            <a:spAutoFit/>
          </a:bodyPr>
          <a:lstStyle/>
          <a:p>
            <a:pPr>
              <a:spcAft>
                <a:spcPts val="800"/>
              </a:spcAft>
              <a:defRPr sz="1700" b="1">
                <a:solidFill>
                  <a:srgbClr val="14324C"/>
                </a:solidFill>
                <a:latin typeface="DejaVu Sans"/>
              </a:defRPr>
            </a:pPr>
            <a:r>
              <a:t>Private ma’lumotlar bazasi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AFD"/>
        </a:solidFill>
        <a:effectLst/>
      </p:bgPr>
    </p:bg>
    <p:spTree>
      <p:nvGrpSpPr>
        <p:cNvPr id="1" name=""/>
        <p:cNvGrpSpPr/>
        <p:nvPr/>
      </p:nvGrpSpPr>
      <p:grpSpPr/>
      <p:cxnSp>
        <p:nvCxnSpPr>
          <p:cNvPr id="2" name="Connector 1"/>
          <p:cNvCxnSpPr/>
          <p:nvPr/>
        </p:nvCxnSpPr>
        <p:spPr>
          <a:xfrm>
            <a:off x="4572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3716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8288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22860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7432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2004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6576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1148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5720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0292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4864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9436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4008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8580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3152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7724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2296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6868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1440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6012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00584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05156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09728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14300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18872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4572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0" y="9144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0" y="13716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0" y="18288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0" y="22860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0" y="27432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0" y="32004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0" y="36576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0" y="41148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0" y="45720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0" y="50292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0" y="54864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0" y="59436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0" y="64008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320040" y="320040"/>
            <a:ext cx="11548872" cy="6080760"/>
          </a:xfrm>
          <a:prstGeom prst="rect">
            <a:avLst/>
          </a:prstGeom>
          <a:solidFill>
            <a:srgbClr val="F5FAFD"/>
          </a:solidFill>
          <a:ln>
            <a:solidFill>
              <a:srgbClr val="BED9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3" name="Connector 42"/>
          <p:cNvCxnSpPr/>
          <p:nvPr/>
        </p:nvCxnSpPr>
        <p:spPr>
          <a:xfrm>
            <a:off x="320040" y="1682496"/>
            <a:ext cx="11548872" cy="0"/>
          </a:xfrm>
          <a:prstGeom prst="line">
            <a:avLst/>
          </a:prstGeom>
          <a:ln w="12700">
            <a:solidFill>
              <a:srgbClr val="BED9E7"/>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640080" y="493776"/>
            <a:ext cx="10058400" cy="274320"/>
          </a:xfrm>
          <a:prstGeom prst="rect">
            <a:avLst/>
          </a:prstGeom>
          <a:noFill/>
        </p:spPr>
        <p:txBody>
          <a:bodyPr wrap="square" lIns="27432" rIns="27432" tIns="18288" bIns="0">
            <a:spAutoFit/>
          </a:bodyPr>
          <a:lstStyle/>
          <a:p>
            <a:pPr>
              <a:spcAft>
                <a:spcPts val="800"/>
              </a:spcAft>
              <a:defRPr sz="1200" b="1">
                <a:solidFill>
                  <a:srgbClr val="087EB6"/>
                </a:solidFill>
                <a:latin typeface="DejaVu Sans"/>
              </a:defRPr>
            </a:pPr>
            <a:r>
              <a:t>BTST206  /  TARMOQ REJASI  /  SHEET 11</a:t>
            </a:r>
          </a:p>
        </p:txBody>
      </p:sp>
      <p:sp>
        <p:nvSpPr>
          <p:cNvPr id="45" name="TextBox 44"/>
          <p:cNvSpPr txBox="1"/>
          <p:nvPr/>
        </p:nvSpPr>
        <p:spPr>
          <a:xfrm>
            <a:off x="640080" y="914400"/>
            <a:ext cx="10881360" cy="685800"/>
          </a:xfrm>
          <a:prstGeom prst="rect">
            <a:avLst/>
          </a:prstGeom>
          <a:noFill/>
        </p:spPr>
        <p:txBody>
          <a:bodyPr wrap="square" lIns="27432" rIns="27432" tIns="18288" bIns="0">
            <a:spAutoFit/>
          </a:bodyPr>
          <a:lstStyle/>
          <a:p>
            <a:pPr>
              <a:spcAft>
                <a:spcPts val="800"/>
              </a:spcAft>
              <a:defRPr sz="2700" b="1">
                <a:solidFill>
                  <a:srgbClr val="14324C"/>
                </a:solidFill>
                <a:latin typeface="DejaVu Sans"/>
              </a:defRPr>
            </a:pPr>
            <a:r>
              <a:t>Ko‘p uchraydigan xato tushunchalar</a:t>
            </a:r>
          </a:p>
        </p:txBody>
      </p:sp>
      <p:sp>
        <p:nvSpPr>
          <p:cNvPr id="46" name="TextBox 45"/>
          <p:cNvSpPr txBox="1"/>
          <p:nvPr/>
        </p:nvSpPr>
        <p:spPr>
          <a:xfrm>
            <a:off x="640080" y="1865376"/>
            <a:ext cx="10789920" cy="411480"/>
          </a:xfrm>
          <a:prstGeom prst="rect">
            <a:avLst/>
          </a:prstGeom>
          <a:noFill/>
        </p:spPr>
        <p:txBody>
          <a:bodyPr wrap="square" lIns="27432" rIns="27432" tIns="18288" bIns="0">
            <a:spAutoFit/>
          </a:bodyPr>
          <a:lstStyle/>
          <a:p>
            <a:pPr>
              <a:spcAft>
                <a:spcPts val="800"/>
              </a:spcAft>
              <a:defRPr sz="1500" b="0">
                <a:solidFill>
                  <a:srgbClr val="087EB6"/>
                </a:solidFill>
                <a:latin typeface="DejaVu Sans"/>
              </a:defRPr>
            </a:pPr>
            <a:r>
              <a:t>To‘g‘ri talqin xizmatni ongli tanlashga yordam beradi</a:t>
            </a:r>
          </a:p>
        </p:txBody>
      </p:sp>
      <p:sp>
        <p:nvSpPr>
          <p:cNvPr id="47" name="TextBox 46"/>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4324C"/>
                </a:solidFill>
                <a:latin typeface="DejaVu Sans"/>
              </a:defRPr>
            </a:pPr>
            <a:r>
              <a:t>BTST206   /   M10   /   2027–2028</a:t>
            </a:r>
          </a:p>
        </p:txBody>
      </p:sp>
      <p:sp>
        <p:nvSpPr>
          <p:cNvPr id="48" name="TextBox 47"/>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4324C"/>
                </a:solidFill>
                <a:latin typeface="DejaVu Sans"/>
              </a:defRPr>
            </a:pPr>
            <a:r>
              <a:t>11 / 13</a:t>
            </a:r>
          </a:p>
        </p:txBody>
      </p:sp>
      <p:sp>
        <p:nvSpPr>
          <p:cNvPr id="49" name="Rectangle 48"/>
          <p:cNvSpPr/>
          <p:nvPr/>
        </p:nvSpPr>
        <p:spPr>
          <a:xfrm>
            <a:off x="758952" y="2514600"/>
            <a:ext cx="10625328" cy="9418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23544" y="2688336"/>
            <a:ext cx="548640" cy="502920"/>
          </a:xfrm>
          <a:prstGeom prst="rect">
            <a:avLst/>
          </a:prstGeom>
          <a:noFill/>
        </p:spPr>
        <p:txBody>
          <a:bodyPr wrap="square" lIns="27432" rIns="27432" tIns="18288" bIns="0">
            <a:spAutoFit/>
          </a:bodyPr>
          <a:lstStyle/>
          <a:p>
            <a:pPr>
              <a:spcAft>
                <a:spcPts val="800"/>
              </a:spcAft>
              <a:defRPr sz="2100" b="1">
                <a:solidFill>
                  <a:srgbClr val="087EB6"/>
                </a:solidFill>
                <a:latin typeface="DejaVu Sans"/>
              </a:defRPr>
            </a:pPr>
            <a:r>
              <a:t>01</a:t>
            </a:r>
          </a:p>
        </p:txBody>
      </p:sp>
      <p:sp>
        <p:nvSpPr>
          <p:cNvPr id="51" name="TextBox 50"/>
          <p:cNvSpPr txBox="1"/>
          <p:nvPr/>
        </p:nvSpPr>
        <p:spPr>
          <a:xfrm>
            <a:off x="1700784" y="2660904"/>
            <a:ext cx="9500616" cy="704088"/>
          </a:xfrm>
          <a:prstGeom prst="rect">
            <a:avLst/>
          </a:prstGeom>
          <a:noFill/>
        </p:spPr>
        <p:txBody>
          <a:bodyPr wrap="square" lIns="27432" rIns="27432" tIns="18288" bIns="0">
            <a:spAutoFit/>
          </a:bodyPr>
          <a:lstStyle/>
          <a:p>
            <a:pPr>
              <a:spcAft>
                <a:spcPts val="800"/>
              </a:spcAft>
              <a:defRPr sz="2100" b="0">
                <a:solidFill>
                  <a:srgbClr val="14324C"/>
                </a:solidFill>
                <a:latin typeface="DejaVu Sans"/>
              </a:defRPr>
            </a:pPr>
            <a:r>
              <a:t>NAT xavfsizlik devori o‘rnini bosmaydi va barcha trafikni avtomatik tekshirmaydi.</a:t>
            </a:r>
          </a:p>
        </p:txBody>
      </p:sp>
      <p:sp>
        <p:nvSpPr>
          <p:cNvPr id="52" name="Rectangle 51"/>
          <p:cNvSpPr/>
          <p:nvPr/>
        </p:nvSpPr>
        <p:spPr>
          <a:xfrm>
            <a:off x="758952" y="3584448"/>
            <a:ext cx="10625328" cy="9418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23544" y="3758184"/>
            <a:ext cx="548640" cy="502920"/>
          </a:xfrm>
          <a:prstGeom prst="rect">
            <a:avLst/>
          </a:prstGeom>
          <a:noFill/>
        </p:spPr>
        <p:txBody>
          <a:bodyPr wrap="square" lIns="27432" rIns="27432" tIns="18288" bIns="0">
            <a:spAutoFit/>
          </a:bodyPr>
          <a:lstStyle/>
          <a:p>
            <a:pPr>
              <a:spcAft>
                <a:spcPts val="800"/>
              </a:spcAft>
              <a:defRPr sz="2100" b="1">
                <a:solidFill>
                  <a:srgbClr val="087EB6"/>
                </a:solidFill>
                <a:latin typeface="DejaVu Sans"/>
              </a:defRPr>
            </a:pPr>
            <a:r>
              <a:t>02</a:t>
            </a:r>
          </a:p>
        </p:txBody>
      </p:sp>
      <p:sp>
        <p:nvSpPr>
          <p:cNvPr id="54" name="TextBox 53"/>
          <p:cNvSpPr txBox="1"/>
          <p:nvPr/>
        </p:nvSpPr>
        <p:spPr>
          <a:xfrm>
            <a:off x="1700784" y="3730752"/>
            <a:ext cx="9500616" cy="704088"/>
          </a:xfrm>
          <a:prstGeom prst="rect">
            <a:avLst/>
          </a:prstGeom>
          <a:noFill/>
        </p:spPr>
        <p:txBody>
          <a:bodyPr wrap="square" lIns="27432" rIns="27432" tIns="18288" bIns="0">
            <a:spAutoFit/>
          </a:bodyPr>
          <a:lstStyle/>
          <a:p>
            <a:pPr>
              <a:spcAft>
                <a:spcPts val="800"/>
              </a:spcAft>
              <a:defRPr sz="2100" b="0">
                <a:solidFill>
                  <a:srgbClr val="14324C"/>
                </a:solidFill>
                <a:latin typeface="DejaVu Sans"/>
              </a:defRPr>
            </a:pPr>
            <a:r>
              <a:t>HTTPS ilova ichidagi noto‘g‘ri ruxsat yoki zararli kodni avtomatik bartaraf etmaydi.</a:t>
            </a:r>
          </a:p>
        </p:txBody>
      </p:sp>
      <p:sp>
        <p:nvSpPr>
          <p:cNvPr id="55" name="Rectangle 54"/>
          <p:cNvSpPr/>
          <p:nvPr/>
        </p:nvSpPr>
        <p:spPr>
          <a:xfrm>
            <a:off x="758952" y="4654296"/>
            <a:ext cx="10625328" cy="9418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23544" y="4828032"/>
            <a:ext cx="548640" cy="502920"/>
          </a:xfrm>
          <a:prstGeom prst="rect">
            <a:avLst/>
          </a:prstGeom>
          <a:noFill/>
        </p:spPr>
        <p:txBody>
          <a:bodyPr wrap="square" lIns="27432" rIns="27432" tIns="18288" bIns="0">
            <a:spAutoFit/>
          </a:bodyPr>
          <a:lstStyle/>
          <a:p>
            <a:pPr>
              <a:spcAft>
                <a:spcPts val="800"/>
              </a:spcAft>
              <a:defRPr sz="2100" b="1">
                <a:solidFill>
                  <a:srgbClr val="087EB6"/>
                </a:solidFill>
                <a:latin typeface="DejaVu Sans"/>
              </a:defRPr>
            </a:pPr>
            <a:r>
              <a:t>03</a:t>
            </a:r>
          </a:p>
        </p:txBody>
      </p:sp>
      <p:sp>
        <p:nvSpPr>
          <p:cNvPr id="57" name="TextBox 56"/>
          <p:cNvSpPr txBox="1"/>
          <p:nvPr/>
        </p:nvSpPr>
        <p:spPr>
          <a:xfrm>
            <a:off x="1700784" y="4800600"/>
            <a:ext cx="9500616" cy="704088"/>
          </a:xfrm>
          <a:prstGeom prst="rect">
            <a:avLst/>
          </a:prstGeom>
          <a:noFill/>
        </p:spPr>
        <p:txBody>
          <a:bodyPr wrap="square" lIns="27432" rIns="27432" tIns="18288" bIns="0">
            <a:spAutoFit/>
          </a:bodyPr>
          <a:lstStyle/>
          <a:p>
            <a:pPr>
              <a:spcAft>
                <a:spcPts val="800"/>
              </a:spcAft>
              <a:defRPr sz="2100" b="0">
                <a:solidFill>
                  <a:srgbClr val="14324C"/>
                </a:solidFill>
                <a:latin typeface="DejaVu Sans"/>
              </a:defRPr>
            </a:pPr>
            <a:r>
              <a:t>Shaxsiy baholar yoki login javoblarini noto‘g‘ri umumiy keshga qo‘yish maxfiylik buzilishiga olib keladi.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AFD"/>
        </a:solidFill>
        <a:effectLst/>
      </p:bgPr>
    </p:bg>
    <p:spTree>
      <p:nvGrpSpPr>
        <p:cNvPr id="1" name=""/>
        <p:cNvGrpSpPr/>
        <p:nvPr/>
      </p:nvGrpSpPr>
      <p:grpSpPr/>
      <p:cxnSp>
        <p:nvCxnSpPr>
          <p:cNvPr id="2" name="Connector 1"/>
          <p:cNvCxnSpPr/>
          <p:nvPr/>
        </p:nvCxnSpPr>
        <p:spPr>
          <a:xfrm>
            <a:off x="4572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3716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8288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22860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7432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2004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6576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1148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5720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0292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4864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9436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4008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8580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3152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7724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2296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6868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1440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6012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00584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05156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09728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14300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1887200" y="0"/>
            <a:ext cx="0" cy="685800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4572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0" y="9144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0" y="13716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0" y="18288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0" y="22860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0" y="27432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0" y="32004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0" y="36576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0" y="41148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0" y="45720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0" y="50292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0" y="54864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0" y="59436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0" y="6400800"/>
            <a:ext cx="12191695" cy="0"/>
          </a:xfrm>
          <a:prstGeom prst="line">
            <a:avLst/>
          </a:prstGeom>
          <a:ln w="5715">
            <a:solidFill>
              <a:srgbClr val="E7F1F8"/>
            </a:solidFill>
          </a:ln>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320040" y="320040"/>
            <a:ext cx="11548872" cy="6080760"/>
          </a:xfrm>
          <a:prstGeom prst="rect">
            <a:avLst/>
          </a:prstGeom>
          <a:solidFill>
            <a:srgbClr val="F5FAFD"/>
          </a:solidFill>
          <a:ln>
            <a:solidFill>
              <a:srgbClr val="BED9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3" name="Connector 42"/>
          <p:cNvCxnSpPr/>
          <p:nvPr/>
        </p:nvCxnSpPr>
        <p:spPr>
          <a:xfrm>
            <a:off x="320040" y="1682496"/>
            <a:ext cx="11548872" cy="0"/>
          </a:xfrm>
          <a:prstGeom prst="line">
            <a:avLst/>
          </a:prstGeom>
          <a:ln w="12700">
            <a:solidFill>
              <a:srgbClr val="BED9E7"/>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640080" y="493776"/>
            <a:ext cx="10058400" cy="274320"/>
          </a:xfrm>
          <a:prstGeom prst="rect">
            <a:avLst/>
          </a:prstGeom>
          <a:noFill/>
        </p:spPr>
        <p:txBody>
          <a:bodyPr wrap="square" lIns="27432" rIns="27432" tIns="18288" bIns="0">
            <a:spAutoFit/>
          </a:bodyPr>
          <a:lstStyle/>
          <a:p>
            <a:pPr>
              <a:spcAft>
                <a:spcPts val="800"/>
              </a:spcAft>
              <a:defRPr sz="1200" b="1">
                <a:solidFill>
                  <a:srgbClr val="087EB6"/>
                </a:solidFill>
                <a:latin typeface="DejaVu Sans"/>
              </a:defRPr>
            </a:pPr>
            <a:r>
              <a:t>BTST206  /  TARMOQ REJASI  /  SHEET 12</a:t>
            </a:r>
          </a:p>
        </p:txBody>
      </p:sp>
      <p:sp>
        <p:nvSpPr>
          <p:cNvPr id="45" name="TextBox 44"/>
          <p:cNvSpPr txBox="1"/>
          <p:nvPr/>
        </p:nvSpPr>
        <p:spPr>
          <a:xfrm>
            <a:off x="640080" y="914400"/>
            <a:ext cx="10881360" cy="685800"/>
          </a:xfrm>
          <a:prstGeom prst="rect">
            <a:avLst/>
          </a:prstGeom>
          <a:noFill/>
        </p:spPr>
        <p:txBody>
          <a:bodyPr wrap="square" lIns="27432" rIns="27432" tIns="18288" bIns="0">
            <a:spAutoFit/>
          </a:bodyPr>
          <a:lstStyle/>
          <a:p>
            <a:pPr>
              <a:spcAft>
                <a:spcPts val="800"/>
              </a:spcAft>
              <a:defRPr sz="2700" b="1">
                <a:solidFill>
                  <a:srgbClr val="14324C"/>
                </a:solidFill>
                <a:latin typeface="DejaVu Sans"/>
              </a:defRPr>
            </a:pPr>
            <a:r>
              <a:t>Asosiy xulosalar</a:t>
            </a:r>
          </a:p>
        </p:txBody>
      </p:sp>
      <p:sp>
        <p:nvSpPr>
          <p:cNvPr id="46" name="TextBox 45"/>
          <p:cNvSpPr txBox="1"/>
          <p:nvPr/>
        </p:nvSpPr>
        <p:spPr>
          <a:xfrm>
            <a:off x="640080" y="1865376"/>
            <a:ext cx="10789920" cy="411480"/>
          </a:xfrm>
          <a:prstGeom prst="rect">
            <a:avLst/>
          </a:prstGeom>
          <a:noFill/>
        </p:spPr>
        <p:txBody>
          <a:bodyPr wrap="square" lIns="27432" rIns="27432" tIns="18288" bIns="0">
            <a:spAutoFit/>
          </a:bodyPr>
          <a:lstStyle/>
          <a:p>
            <a:pPr>
              <a:spcAft>
                <a:spcPts val="800"/>
              </a:spcAft>
              <a:defRPr sz="1500" b="0">
                <a:solidFill>
                  <a:srgbClr val="087EB6"/>
                </a:solidFill>
                <a:latin typeface="DejaVu Sans"/>
              </a:defRPr>
            </a:pPr>
            <a:r>
              <a:t>Yodda qoladigan olti fikr</a:t>
            </a:r>
          </a:p>
        </p:txBody>
      </p:sp>
      <p:sp>
        <p:nvSpPr>
          <p:cNvPr id="47" name="TextBox 46"/>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4324C"/>
                </a:solidFill>
                <a:latin typeface="DejaVu Sans"/>
              </a:defRPr>
            </a:pPr>
            <a:r>
              <a:t>BTST206   /   M10   /   2027–2028</a:t>
            </a:r>
          </a:p>
        </p:txBody>
      </p:sp>
      <p:sp>
        <p:nvSpPr>
          <p:cNvPr id="48" name="TextBox 47"/>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4324C"/>
                </a:solidFill>
                <a:latin typeface="DejaVu Sans"/>
              </a:defRPr>
            </a:pPr>
            <a:r>
              <a:t>12 / 13</a:t>
            </a:r>
          </a:p>
        </p:txBody>
      </p:sp>
      <p:sp>
        <p:nvSpPr>
          <p:cNvPr id="49" name="Oval 48"/>
          <p:cNvSpPr/>
          <p:nvPr/>
        </p:nvSpPr>
        <p:spPr>
          <a:xfrm>
            <a:off x="822959" y="2569464"/>
            <a:ext cx="155448" cy="155448"/>
          </a:xfrm>
          <a:prstGeom prst="ellipse">
            <a:avLst/>
          </a:prstGeom>
          <a:solidFill>
            <a:srgbClr val="19A5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170432" y="2496312"/>
            <a:ext cx="10168128" cy="475488"/>
          </a:xfrm>
          <a:prstGeom prst="rect">
            <a:avLst/>
          </a:prstGeom>
          <a:noFill/>
        </p:spPr>
        <p:txBody>
          <a:bodyPr wrap="square" lIns="27432" rIns="27432" tIns="18288" bIns="0">
            <a:spAutoFit/>
          </a:bodyPr>
          <a:lstStyle/>
          <a:p>
            <a:pPr>
              <a:spcAft>
                <a:spcPts val="800"/>
              </a:spcAft>
              <a:defRPr sz="2200" b="1">
                <a:solidFill>
                  <a:srgbClr val="14324C"/>
                </a:solidFill>
                <a:latin typeface="DejaVu Sans"/>
              </a:defRPr>
            </a:pPr>
            <a:r>
              <a:t>VPC va subnet tarmoqni bo‘limlaydi.</a:t>
            </a:r>
          </a:p>
        </p:txBody>
      </p:sp>
      <p:sp>
        <p:nvSpPr>
          <p:cNvPr id="51" name="Oval 50"/>
          <p:cNvSpPr/>
          <p:nvPr/>
        </p:nvSpPr>
        <p:spPr>
          <a:xfrm>
            <a:off x="822959" y="3108960"/>
            <a:ext cx="155448" cy="155448"/>
          </a:xfrm>
          <a:prstGeom prst="ellipse">
            <a:avLst/>
          </a:prstGeom>
          <a:solidFill>
            <a:srgbClr val="19A5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170432" y="3035808"/>
            <a:ext cx="10168128" cy="475488"/>
          </a:xfrm>
          <a:prstGeom prst="rect">
            <a:avLst/>
          </a:prstGeom>
          <a:noFill/>
        </p:spPr>
        <p:txBody>
          <a:bodyPr wrap="square" lIns="27432" rIns="27432" tIns="18288" bIns="0">
            <a:spAutoFit/>
          </a:bodyPr>
          <a:lstStyle/>
          <a:p>
            <a:pPr>
              <a:spcAft>
                <a:spcPts val="800"/>
              </a:spcAft>
              <a:defRPr sz="2200" b="0">
                <a:solidFill>
                  <a:srgbClr val="14324C"/>
                </a:solidFill>
                <a:latin typeface="DejaVu Sans"/>
              </a:defRPr>
            </a:pPr>
            <a:r>
              <a:t>Routing paketning keyingi yo‘lini tanlaydi.</a:t>
            </a:r>
          </a:p>
        </p:txBody>
      </p:sp>
      <p:sp>
        <p:nvSpPr>
          <p:cNvPr id="53" name="Oval 52"/>
          <p:cNvSpPr/>
          <p:nvPr/>
        </p:nvSpPr>
        <p:spPr>
          <a:xfrm>
            <a:off x="822959" y="3648456"/>
            <a:ext cx="155448" cy="155448"/>
          </a:xfrm>
          <a:prstGeom prst="ellipse">
            <a:avLst/>
          </a:prstGeom>
          <a:solidFill>
            <a:srgbClr val="19A5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170432" y="3575304"/>
            <a:ext cx="10168128" cy="475488"/>
          </a:xfrm>
          <a:prstGeom prst="rect">
            <a:avLst/>
          </a:prstGeom>
          <a:noFill/>
        </p:spPr>
        <p:txBody>
          <a:bodyPr wrap="square" lIns="27432" rIns="27432" tIns="18288" bIns="0">
            <a:spAutoFit/>
          </a:bodyPr>
          <a:lstStyle/>
          <a:p>
            <a:pPr>
              <a:spcAft>
                <a:spcPts val="800"/>
              </a:spcAft>
              <a:defRPr sz="2200" b="0">
                <a:solidFill>
                  <a:srgbClr val="14324C"/>
                </a:solidFill>
                <a:latin typeface="DejaVu Sans"/>
              </a:defRPr>
            </a:pPr>
            <a:r>
              <a:t>NAT va xavfsizlik devori vazifalari farq qiladi.</a:t>
            </a:r>
          </a:p>
        </p:txBody>
      </p:sp>
      <p:sp>
        <p:nvSpPr>
          <p:cNvPr id="55" name="Oval 54"/>
          <p:cNvSpPr/>
          <p:nvPr/>
        </p:nvSpPr>
        <p:spPr>
          <a:xfrm>
            <a:off x="822959" y="4187952"/>
            <a:ext cx="155448" cy="155448"/>
          </a:xfrm>
          <a:prstGeom prst="ellipse">
            <a:avLst/>
          </a:prstGeom>
          <a:solidFill>
            <a:srgbClr val="19A5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170432" y="4114800"/>
            <a:ext cx="10168128" cy="475488"/>
          </a:xfrm>
          <a:prstGeom prst="rect">
            <a:avLst/>
          </a:prstGeom>
          <a:noFill/>
        </p:spPr>
        <p:txBody>
          <a:bodyPr wrap="square" lIns="27432" rIns="27432" tIns="18288" bIns="0">
            <a:spAutoFit/>
          </a:bodyPr>
          <a:lstStyle/>
          <a:p>
            <a:pPr>
              <a:spcAft>
                <a:spcPts val="800"/>
              </a:spcAft>
              <a:defRPr sz="2200" b="0">
                <a:solidFill>
                  <a:srgbClr val="14324C"/>
                </a:solidFill>
                <a:latin typeface="DejaVu Sans"/>
              </a:defRPr>
            </a:pPr>
            <a:r>
              <a:t>DNS nomni topadi, TLS kanalni himoyalaydi.</a:t>
            </a:r>
          </a:p>
        </p:txBody>
      </p:sp>
      <p:sp>
        <p:nvSpPr>
          <p:cNvPr id="57" name="Oval 56"/>
          <p:cNvSpPr/>
          <p:nvPr/>
        </p:nvSpPr>
        <p:spPr>
          <a:xfrm>
            <a:off x="822959" y="4727448"/>
            <a:ext cx="155448" cy="155448"/>
          </a:xfrm>
          <a:prstGeom prst="ellipse">
            <a:avLst/>
          </a:prstGeom>
          <a:solidFill>
            <a:srgbClr val="19A5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170432" y="4654296"/>
            <a:ext cx="10168128" cy="475488"/>
          </a:xfrm>
          <a:prstGeom prst="rect">
            <a:avLst/>
          </a:prstGeom>
          <a:noFill/>
        </p:spPr>
        <p:txBody>
          <a:bodyPr wrap="square" lIns="27432" rIns="27432" tIns="18288" bIns="0">
            <a:spAutoFit/>
          </a:bodyPr>
          <a:lstStyle/>
          <a:p>
            <a:pPr>
              <a:spcAft>
                <a:spcPts val="800"/>
              </a:spcAft>
              <a:defRPr sz="2200" b="0">
                <a:solidFill>
                  <a:srgbClr val="14324C"/>
                </a:solidFill>
                <a:latin typeface="DejaVu Sans"/>
              </a:defRPr>
            </a:pPr>
            <a:r>
              <a:t>Load Balancer sog‘lom nusxalarni tanlaydi.</a:t>
            </a:r>
          </a:p>
        </p:txBody>
      </p:sp>
      <p:sp>
        <p:nvSpPr>
          <p:cNvPr id="59" name="Oval 58"/>
          <p:cNvSpPr/>
          <p:nvPr/>
        </p:nvSpPr>
        <p:spPr>
          <a:xfrm>
            <a:off x="822959" y="5266944"/>
            <a:ext cx="155448" cy="155448"/>
          </a:xfrm>
          <a:prstGeom prst="ellipse">
            <a:avLst/>
          </a:prstGeom>
          <a:solidFill>
            <a:srgbClr val="19A5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170432" y="5193792"/>
            <a:ext cx="10168128" cy="475488"/>
          </a:xfrm>
          <a:prstGeom prst="rect">
            <a:avLst/>
          </a:prstGeom>
          <a:noFill/>
        </p:spPr>
        <p:txBody>
          <a:bodyPr wrap="square" lIns="27432" rIns="27432" tIns="18288" bIns="0">
            <a:spAutoFit/>
          </a:bodyPr>
          <a:lstStyle/>
          <a:p>
            <a:pPr>
              <a:spcAft>
                <a:spcPts val="800"/>
              </a:spcAft>
              <a:defRPr sz="2200" b="0">
                <a:solidFill>
                  <a:srgbClr val="14324C"/>
                </a:solidFill>
                <a:latin typeface="DejaVu Sans"/>
              </a:defRPr>
            </a:pPr>
            <a:r>
              <a:t>CDN uchun xavfsiz kesh siyosati zarur.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AFD"/>
        </a:solidFill>
        <a:effectLst/>
      </p:bgPr>
    </p:bg>
    <p:spTree>
      <p:nvGrpSpPr>
        <p:cNvPr id="1" name=""/>
        <p:cNvGrpSpPr/>
        <p:nvPr/>
      </p:nvGrpSpPr>
      <p:grpSpPr/>
      <p:sp>
        <p:nvSpPr>
          <p:cNvPr id="2" name="Rectangle 1"/>
          <p:cNvSpPr/>
          <p:nvPr/>
        </p:nvSpPr>
        <p:spPr>
          <a:xfrm>
            <a:off x="502920" y="548640"/>
            <a:ext cx="109728" cy="640080"/>
          </a:xfrm>
          <a:prstGeom prst="rect">
            <a:avLst/>
          </a:prstGeom>
          <a:solidFill>
            <a:srgbClr val="087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94360"/>
            <a:ext cx="10789920" cy="777240"/>
          </a:xfrm>
          <a:prstGeom prst="rect">
            <a:avLst/>
          </a:prstGeom>
          <a:noFill/>
        </p:spPr>
        <p:txBody>
          <a:bodyPr wrap="square" lIns="27432" rIns="27432" tIns="18288" bIns="0">
            <a:spAutoFit/>
          </a:bodyPr>
          <a:lstStyle/>
          <a:p>
            <a:pPr>
              <a:spcAft>
                <a:spcPts val="800"/>
              </a:spcAft>
              <a:defRPr sz="2900" b="1">
                <a:solidFill>
                  <a:srgbClr val="14324C"/>
                </a:solidFill>
                <a:latin typeface="DejaVu Sans"/>
              </a:defRPr>
            </a:pPr>
            <a:r>
              <a:t>Manbalar va rasm manbasi</a:t>
            </a:r>
          </a:p>
        </p:txBody>
      </p:sp>
      <p:sp>
        <p:nvSpPr>
          <p:cNvPr id="4" name="TextBox 3"/>
          <p:cNvSpPr txBox="1"/>
          <p:nvPr/>
        </p:nvSpPr>
        <p:spPr>
          <a:xfrm>
            <a:off x="731520" y="1600200"/>
            <a:ext cx="10789920" cy="594360"/>
          </a:xfrm>
          <a:prstGeom prst="rect">
            <a:avLst/>
          </a:prstGeom>
          <a:noFill/>
        </p:spPr>
        <p:txBody>
          <a:bodyPr wrap="square" lIns="27432" rIns="27432" tIns="18288" bIns="0">
            <a:spAutoFit/>
          </a:bodyPr>
          <a:lstStyle/>
          <a:p>
            <a:pPr>
              <a:spcAft>
                <a:spcPts val="800"/>
              </a:spcAft>
              <a:defRPr sz="1700" b="0">
                <a:solidFill>
                  <a:srgbClr val="14324C"/>
                </a:solidFill>
                <a:latin typeface="DejaVu Sans"/>
              </a:defRPr>
            </a:pPr>
            <a:r>
              <a:t>Asos: BTST206, 2027–2028 sillabusi. Rasmiy texnik hujjatlar:</a:t>
            </a:r>
          </a:p>
        </p:txBody>
      </p:sp>
      <p:sp>
        <p:nvSpPr>
          <p:cNvPr id="5" name="TextBox 4"/>
          <p:cNvSpPr txBox="1"/>
          <p:nvPr/>
        </p:nvSpPr>
        <p:spPr>
          <a:xfrm>
            <a:off x="777240" y="2286000"/>
            <a:ext cx="10652760" cy="365760"/>
          </a:xfrm>
          <a:prstGeom prst="rect">
            <a:avLst/>
          </a:prstGeom>
          <a:noFill/>
        </p:spPr>
        <p:txBody>
          <a:bodyPr wrap="square" lIns="27432" rIns="27432" tIns="18288" bIns="0">
            <a:spAutoFit/>
          </a:bodyPr>
          <a:lstStyle/>
          <a:p>
            <a:pPr>
              <a:spcAft>
                <a:spcPts val="800"/>
              </a:spcAft>
              <a:defRPr sz="1300" b="0">
                <a:solidFill>
                  <a:srgbClr val="087EB6"/>
                </a:solidFill>
                <a:latin typeface="DejaVu Sans"/>
              </a:defRPr>
            </a:pPr>
            <a:r>
              <a:t>https://docs.aws.amazon.com/vpc/latest/userguide/</a:t>
            </a:r>
          </a:p>
        </p:txBody>
      </p:sp>
      <p:sp>
        <p:nvSpPr>
          <p:cNvPr id="6" name="TextBox 5"/>
          <p:cNvSpPr txBox="1"/>
          <p:nvPr/>
        </p:nvSpPr>
        <p:spPr>
          <a:xfrm>
            <a:off x="777240" y="2715768"/>
            <a:ext cx="10652760" cy="365760"/>
          </a:xfrm>
          <a:prstGeom prst="rect">
            <a:avLst/>
          </a:prstGeom>
          <a:noFill/>
        </p:spPr>
        <p:txBody>
          <a:bodyPr wrap="square" lIns="27432" rIns="27432" tIns="18288" bIns="0">
            <a:spAutoFit/>
          </a:bodyPr>
          <a:lstStyle/>
          <a:p>
            <a:pPr>
              <a:spcAft>
                <a:spcPts val="800"/>
              </a:spcAft>
              <a:defRPr sz="1300" b="0">
                <a:solidFill>
                  <a:srgbClr val="087EB6"/>
                </a:solidFill>
                <a:latin typeface="DejaVu Sans"/>
              </a:defRPr>
            </a:pPr>
            <a:r>
              <a:t>https://learn.microsoft.com/azure/virtual-network/</a:t>
            </a:r>
          </a:p>
        </p:txBody>
      </p:sp>
      <p:sp>
        <p:nvSpPr>
          <p:cNvPr id="7" name="TextBox 6"/>
          <p:cNvSpPr txBox="1"/>
          <p:nvPr/>
        </p:nvSpPr>
        <p:spPr>
          <a:xfrm>
            <a:off x="777240" y="3145536"/>
            <a:ext cx="10652760" cy="365760"/>
          </a:xfrm>
          <a:prstGeom prst="rect">
            <a:avLst/>
          </a:prstGeom>
          <a:noFill/>
        </p:spPr>
        <p:txBody>
          <a:bodyPr wrap="square" lIns="27432" rIns="27432" tIns="18288" bIns="0">
            <a:spAutoFit/>
          </a:bodyPr>
          <a:lstStyle/>
          <a:p>
            <a:pPr>
              <a:spcAft>
                <a:spcPts val="800"/>
              </a:spcAft>
              <a:defRPr sz="1300" b="0">
                <a:solidFill>
                  <a:srgbClr val="087EB6"/>
                </a:solidFill>
                <a:latin typeface="DejaVu Sans"/>
              </a:defRPr>
            </a:pPr>
            <a:r>
              <a:t>https://cloud.google.com/vpc/docs/overview</a:t>
            </a:r>
          </a:p>
        </p:txBody>
      </p:sp>
      <p:sp>
        <p:nvSpPr>
          <p:cNvPr id="8" name="TextBox 7"/>
          <p:cNvSpPr txBox="1"/>
          <p:nvPr/>
        </p:nvSpPr>
        <p:spPr>
          <a:xfrm>
            <a:off x="777240" y="4251960"/>
            <a:ext cx="10652760" cy="365760"/>
          </a:xfrm>
          <a:prstGeom prst="rect">
            <a:avLst/>
          </a:prstGeom>
          <a:noFill/>
        </p:spPr>
        <p:txBody>
          <a:bodyPr wrap="square" lIns="27432" rIns="27432" tIns="18288" bIns="0">
            <a:spAutoFit/>
          </a:bodyPr>
          <a:lstStyle/>
          <a:p>
            <a:pPr>
              <a:spcAft>
                <a:spcPts val="800"/>
              </a:spcAft>
              <a:defRPr sz="1200" b="1">
                <a:solidFill>
                  <a:srgbClr val="087EB6"/>
                </a:solidFill>
                <a:latin typeface="DejaVu Sans"/>
              </a:defRPr>
            </a:pPr>
            <a:r>
              <a:t>INTERNET RASMI</a:t>
            </a:r>
          </a:p>
        </p:txBody>
      </p:sp>
      <p:sp>
        <p:nvSpPr>
          <p:cNvPr id="9" name="TextBox 8"/>
          <p:cNvSpPr txBox="1"/>
          <p:nvPr/>
        </p:nvSpPr>
        <p:spPr>
          <a:xfrm>
            <a:off x="777240" y="4663440"/>
            <a:ext cx="10652760" cy="576072"/>
          </a:xfrm>
          <a:prstGeom prst="rect">
            <a:avLst/>
          </a:prstGeom>
          <a:noFill/>
        </p:spPr>
        <p:txBody>
          <a:bodyPr wrap="square" lIns="27432" rIns="27432" tIns="18288" bIns="0">
            <a:spAutoFit/>
          </a:bodyPr>
          <a:lstStyle/>
          <a:p>
            <a:pPr>
              <a:spcAft>
                <a:spcPts val="800"/>
              </a:spcAft>
              <a:defRPr sz="1400" b="0">
                <a:solidFill>
                  <a:srgbClr val="14324C"/>
                </a:solidFill>
                <a:latin typeface="DejaVu Sans"/>
              </a:defRPr>
            </a:pPr>
            <a:r>
              <a:t>Cilium / CNCF official artwork</a:t>
            </a:r>
          </a:p>
        </p:txBody>
      </p:sp>
      <p:sp>
        <p:nvSpPr>
          <p:cNvPr id="10" name="TextBox 9"/>
          <p:cNvSpPr txBox="1"/>
          <p:nvPr/>
        </p:nvSpPr>
        <p:spPr>
          <a:xfrm>
            <a:off x="777240" y="5285232"/>
            <a:ext cx="10652760" cy="640080"/>
          </a:xfrm>
          <a:prstGeom prst="rect">
            <a:avLst/>
          </a:prstGeom>
          <a:noFill/>
        </p:spPr>
        <p:txBody>
          <a:bodyPr wrap="square" lIns="27432" rIns="27432" tIns="18288" bIns="0">
            <a:spAutoFit/>
          </a:bodyPr>
          <a:lstStyle/>
          <a:p>
            <a:pPr>
              <a:spcAft>
                <a:spcPts val="800"/>
              </a:spcAft>
              <a:defRPr sz="1000" b="0">
                <a:solidFill>
                  <a:srgbClr val="14324C"/>
                </a:solidFill>
                <a:latin typeface="DejaVu Sans"/>
              </a:defRPr>
            </a:pPr>
            <a:r>
              <a:t>https://raw.githubusercontent.com/cncf/artwork/main/projects/cilium/icon/color/cilium_icon-color.png</a:t>
            </a:r>
          </a:p>
        </p:txBody>
      </p:sp>
      <p:sp>
        <p:nvSpPr>
          <p:cNvPr id="11" name="TextBox 10"/>
          <p:cNvSpPr txBox="1"/>
          <p:nvPr/>
        </p:nvSpPr>
        <p:spPr>
          <a:xfrm>
            <a:off x="777240" y="6035040"/>
            <a:ext cx="10652760" cy="320040"/>
          </a:xfrm>
          <a:prstGeom prst="rect">
            <a:avLst/>
          </a:prstGeom>
          <a:noFill/>
        </p:spPr>
        <p:txBody>
          <a:bodyPr wrap="square" lIns="27432" rIns="27432" tIns="18288" bIns="0">
            <a:spAutoFit/>
          </a:bodyPr>
          <a:lstStyle/>
          <a:p>
            <a:pPr>
              <a:spcAft>
                <a:spcPts val="800"/>
              </a:spcAft>
              <a:defRPr sz="1100" b="0">
                <a:solidFill>
                  <a:srgbClr val="14324C"/>
                </a:solidFill>
                <a:latin typeface="DejaVu Sans"/>
              </a:defRPr>
            </a:pPr>
            <a:r>
              <a:t>Barcha rasm manbalari va foydalanish izohlari: ASSET_SOURCES.md</a:t>
            </a:r>
          </a:p>
        </p:txBody>
      </p:sp>
      <p:sp>
        <p:nvSpPr>
          <p:cNvPr id="12" name="TextBox 11"/>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4324C"/>
                </a:solidFill>
                <a:latin typeface="DejaVu Sans"/>
              </a:defRPr>
            </a:pPr>
            <a:r>
              <a:t>BTST206   /   M10   /   2027–2028</a:t>
            </a:r>
          </a:p>
        </p:txBody>
      </p:sp>
      <p:sp>
        <p:nvSpPr>
          <p:cNvPr id="13" name="TextBox 12"/>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4324C"/>
                </a:solidFill>
                <a:latin typeface="DejaVu Sans"/>
              </a:defRPr>
            </a:pPr>
            <a:r>
              <a:t>13 / 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