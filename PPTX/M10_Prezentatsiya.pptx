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«Bulutli tarmoq texnologiyalari» mavzusiga bag‘ishlanadi. Mavzuni murakkab atamalardan emas, kundalik ehtiyojdan boshlaymiz. Talaba portal nomini brauzerga yozadi. So‘rov DNS orqali manzil topadi, kerak bo‘lsa CDN dan fayl oladi va yuklama taqsimlagich orqali ilovaga yetib boradi. Baza esa bevosita internetga ochilmaydi.</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vpc va subnet tushuntiriladi. 2-bo‘limda ip-manzillash va routing tushuntiriladi. 3-bo‘limda nat va xavfsizlik chegarasi tushuntiriladi. 4-bo‘limda dns va https tushuntiriladi. 5-bo‘limda load balancer tushuntiriladi. 6-bo‘limda cdn va kesh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VPC bulut ichida mantiqiy ajratilgan tarmoq muhitini beradi. Subnet uning IP diapazoniga tegishli kichik bo‘limidir. Public va private atamalari marshrut hamda kirish konfiguratsiyasi bilan bog‘liq.</a:t>
            </a:r>
          </a:p>
          <a:p/>
          <a:p>
            <a:r>
              <a:t>Tarmoq CIDR diapazoni rejalashtiriladi. So‘ng ilova, baza va tashqi kirish uchun mos subnet lar yaratiladi. Xizmatlar va provayderlar subnet ko‘lamini turlicha belgilashi mumkin.</a:t>
            </a:r>
          </a:p>
          <a:p/>
          <a:p>
            <a:r>
              <a:t>Universitet misolida buni quyidagicha tasavvur qilamiz. Portalning kirish komponenti tashqi trafikni qabul qiladi, ilova va baza esa private manzillarda ishlaydi. Bu misolda texnik atama real vazifa bilan bog‘lanadi: resursning nomini emas, nima uchun tanlanganini tushunish muhim.</a:t>
            </a:r>
          </a:p>
          <a:p/>
          <a:p>
            <a:r>
              <a:t>E’tibor beradigan chegara ham bor. Bir provayderdagi subnet xususiyatini boshqasiga aynan ko‘chirish mumkin emas: masalan, hudud va zona ko‘lami farqlanadi.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 manzil tarmoqdagi interfeysni aniqlash uchun ishlatiladi. Marshrut jadvali paket qaysi keyingi nuqtaga yuborilishini belgilaydi. CIDR belgisi tarmoq prefiksi uzunligini ko‘rsatadi.</a:t>
            </a:r>
          </a:p>
          <a:p/>
          <a:p>
            <a:r>
              <a:t>Masalan, 10.20.0.0/16 ichidan 10.20.1.0/24 ajratish mumkin. /24 diapazonda jami 256 manzil bor, lekin provayder ayrimlarini zaxiraga olishi mumkin.</a:t>
            </a:r>
          </a:p>
          <a:p/>
          <a:p>
            <a:r>
              <a:t>Universitet misolida buni quyidagicha tasavvur qilamiz. Ilova subnet i baza subnet iga ichki yo‘l bilan ulanadi, internetga chiqish esa alohida marshrut orqali bo‘ladi. Bu misolda texnik atama real vazifa bilan bog‘lanadi: resursning nomini emas, nima uchun tanlanganini tushunish muhim.</a:t>
            </a:r>
          </a:p>
          <a:p/>
          <a:p>
            <a:r>
              <a:t>E’tibor beradigan chegara ham bor. 256 manzilning barchasi virtual serverga beriladi deb hisoblash noto‘g‘ri.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 tarmoq manzillarini o‘zgartiradi. Bulutda u private resursga tashqi xizmatga ulanish imkonini berish uchun ko‘p ishlatiladi. Bunda resursning o‘ziga ommaviy IP berish shart bo‘lmasligi mumkin.</a:t>
            </a:r>
          </a:p>
          <a:p/>
          <a:p>
            <a:r>
              <a:t>Ilova tashqi yangilanish serveriga so‘rov yuboradi. NAT chiqish manzilini almashtiradi va qaytgan javobni mos ichki ulanishga qaytaradi.</a:t>
            </a:r>
          </a:p>
          <a:p/>
          <a:p>
            <a:r>
              <a:t>Universitet misolida buni quyidagicha tasavvur qilamiz. Private ilova paket yangilanishini oladi, lekin tashqaridan to‘g‘ridan-to‘g‘ri yangi ulanish qabul qilmaydi. Bu misolda texnik atama real vazifa bilan bog‘lanadi: resursning nomini emas, nima uchun tanlanganini tushunish muhim.</a:t>
            </a:r>
          </a:p>
          <a:p/>
          <a:p>
            <a:r>
              <a:t>E’tibor beradigan chegara ham bor. NAT xavfsizlik devori o‘rnini bosmaydi va barcha trafikni avtomatik tekshirmaydi.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DNS foydalanuvchiga qulay nomni tegishli yozuvlarga bog‘laydi. HTTPS esa TLS yordamida uzatilayotgan ma’lumotni himoya qiladi va sertifikat orqali server identifikatsiyasini tekshirishga yordam beradi.</a:t>
            </a:r>
          </a:p>
          <a:p/>
          <a:p>
            <a:r>
              <a:t>Brauzer DNS javobini oladi, server bilan TLS aloqasini o‘rnatadi va HTTP so‘rovini yuboradi. DNS keshi tufayli o‘zgarishlar turli mijozlarga turli vaqtda ko‘rinishi mumkin.</a:t>
            </a:r>
          </a:p>
          <a:p/>
          <a:p>
            <a:r>
              <a:t>Universitet misolida buni quyidagicha tasavvur qilamiz. portal.universitet.uz nomi yuklama taqsimlagichga yo‘naltiriladi, talaba login ma’lumoti HTTPS orqali uzatiladi. Bu misolda texnik atama real vazifa bilan bog‘lanadi: resursning nomini emas, nima uchun tanlanganini tushunish muhim.</a:t>
            </a:r>
          </a:p>
          <a:p/>
          <a:p>
            <a:r>
              <a:t>E’tibor beradigan chegara ham bor. HTTPS ilova ichidagi noto‘g‘ri ruxsat yoki zararli kodni avtomatik bartaraf etmaydi.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Yuklama taqsimlagich bitta kirish nuqtasi ortida bir nechta ilova nusxasini ishlatishga yordam beradi. U sog‘lomlik tekshiruvlari asosida ishlamayotgan nusxalarni vaqtincha chetlab o‘tishi mumkin. Qatlam va imkoniyatlar mahsulotga qarab farqlanadi.</a:t>
            </a:r>
          </a:p>
          <a:p/>
          <a:p>
            <a:r>
              <a:t>Qoidalar host, yo‘l yoki ulanish darajasida yo‘naltiradi. Bir xil so‘rovlar turli nusxaga tushishi mumkin, shu sababli sessiya holati tashqi xizmatda saqlanishi ma’qul.</a:t>
            </a:r>
          </a:p>
          <a:p/>
          <a:p>
            <a:r>
              <a:t>Universitet misolida buni quyidagicha tasavvur qilamiz. Baholar sahifasi uch ilova nusxasiga taqsimlanadi. Nosoz nusxa tayyor bo‘lmaguncha trafik olmaydi. Bu misolda texnik atama real vazifa bilan bog‘lanadi: resursning nomini emas, nima uchun tanlanganini tushunish muhim.</a:t>
            </a:r>
          </a:p>
          <a:p/>
          <a:p>
            <a:r>
              <a:t>E’tibor beradigan chegara ham bor. Load Balancer bitta bazaga tushadigan barcha yukni kamaytirmaydi; baza alohida tor joy bo‘lishi mumkin.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CDN statik fayllar va mos kesh siyosatidagi javoblarni chekka nuqtalarda saqlaydi. Bu origin server yukini va geografik kechikishni kamaytirishi mumkin. Kesh kaliti va amal qilish muddati muhim.</a:t>
            </a:r>
          </a:p>
          <a:p/>
          <a:p>
            <a:r>
              <a:t>Fayl birinchi so‘rovda origin dan olinadi, keyingi mos so‘rovlar keshdan javob olishi mumkin. Yangi versiya chiqarishda nomni versiyalash yoki invalidation ishlatiladi.</a:t>
            </a:r>
          </a:p>
          <a:p/>
          <a:p>
            <a:r>
              <a:t>Universitet misolida buni quyidagicha tasavvur qilamiz. Portalning rasm, uslub fayllari va ommaviy videolari CDN orqali uzatiladi. Bu misolda texnik atama real vazifa bilan bog‘lanadi: resursning nomini emas, nima uchun tanlanganini tushunish muhim.</a:t>
            </a:r>
          </a:p>
          <a:p/>
          <a:p>
            <a:r>
              <a:t>E’tibor beradigan chegara ham bor. Shaxsiy baholar yoki login javoblarini noto‘g‘ri umumiy keshga qo‘yish maxfiylik buzilishiga olib keladi.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«Brauzer» bilan «DNS / CDN / LB» o‘rtasida sxemada bog‘lanish ko‘rsatilgan. «DNS / CDN / LB» bilan «Private ilova» o‘rtasida sxemada bog‘lanish ko‘rsatilgan. «Private ilova» bilan «Private baza» o‘rtasida sxemada bog‘lanish ko‘rsatilgan. «Private ilova» bilan «NAT → tashqi API» o‘rtasida sxemada bog‘lanish ko‘rsatilgan.</a:t>
            </a:r>
          </a:p>
          <a:p/>
          <a:p>
            <a:r>
              <a:t>Bu bog‘lanishlarni barcha xizmatlarda bir xil buyruq yoki bir xil fizik kabel deb tushunmaymiz. Ayrim o‘qlar bajarilish ketma-ketligini, ayrimlari resursni boshqarish yoki unga kirish aloqasini anglatadi. Masalan, 10.20.0.0/16 ichidan 10.20.1.0/24 ajratish mumkin. /24 diapazonda jami 256 manzil bor, lekin provayder ayrimlarini zaxiraga olishi mumkin.</a:t>
            </a:r>
          </a:p>
          <a:p/>
          <a:p>
            <a:r>
              <a:t>Sxemaning asosiy foydasi mas’uliyatlarni ajratib ko‘rsatishdir. Baholar sahifasi uch ilova nusxasiga taqsimlanadi. Nosoz nusxa tayyor bo‘lmaguncha trafik olmaydi.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Talaba portal nomini brauzerga yozadi. So‘rov DNS orqali manzil topadi, kerak bo‘lsa CDN dan fayl oladi va yuklama taqsimlagich orqali ilovaga yetib boradi. Baza esa bevosita internetga ochilmaydi.</a:t>
            </a:r>
          </a:p>
          <a:p/>
          <a:p>
            <a:r>
              <a:t>Avval ehtiyoj aniqlanadi: kim tizimdan foydalanadi, qaysi ma’lumot bilan ishlanadi va qanday natija kutiladi. Portalning kirish komponenti tashqi trafikni qabul qiladi, ilova va baza esa private manzillarda ishlaydi. Keyin texnik qismlar shu talabga mos tanlanadi. Private ilova paket yangilanishini oladi, lekin tashqaridan to‘g‘ridan-to‘g‘ri yangi ulanish qabul qilmaydi.</a:t>
            </a:r>
          </a:p>
          <a:p/>
          <a:p>
            <a:r>
              <a:t>Ishlash jarayonida faqat muvaffaqiyatli holat emas, xato va cheklovlar ham hisobga olinadi. HTTPS ilova ichidagi noto‘g‘ri ruxsat yoki zararli kodni avtomatik bartaraf etmaydi. Shu sababli jamoa talabni, ruxsatni va nosozlikdagi xatti-harakatni oldindan belgilaydi. Portalning rasm, uslub fayllari va ommaviy videolari CDN orqali uzatiladi.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Bir provayderdagi subnet xususiyatini boshqasiga aynan ko‘chirish mumkin emas: masalan, hudud va zona ko‘lami farqlanadi. To‘g‘ri talqin quyidagicha: VPC bulut ichida mantiqiy ajratilgan tarmoq muhitini beradi. Subnet uning IP diapazoniga tegishli kichik bo‘limidir. Public va private atamalari marshrut hamda kirish konfiguratsiyasi bilan bog‘liq.</a:t>
            </a:r>
          </a:p>
          <a:p/>
          <a:p>
            <a:r>
              <a:t>2. HTTPS ilova ichidagi noto‘g‘ri ruxsat yoki zararli kodni avtomatik bartaraf etmaydi. To‘g‘ri talqin quyidagicha: DNS foydalanuvchiga qulay nomni tegishli yozuvlarga bog‘laydi. HTTPS esa TLS yordamida uzatilayotgan ma’lumotni himoya qiladi va sertifikat orqali server identifikatsiyasini tekshirishga yordam beradi.</a:t>
            </a:r>
          </a:p>
          <a:p/>
          <a:p>
            <a:r>
              <a:t>3. Shaxsiy baholar yoki login javoblarini noto‘g‘ri umumiy keshga qo‘yish maxfiylik buzilishiga olib keladi. To‘g‘ri talqin quyidagicha: CDN statik fayllar va mos kesh siyosatidagi javoblarni chekka nuqtalarda saqlaydi. Bu origin server yukini va geografik kechikishni kamaytirishi mumkin. Kesh kaliti va amal qilish muddati muhim.</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VPC dan CDN gacha bo‘lgan so‘rov yo‘li — mavzuning umumiy mazmunini ifodalaydi.</a:t>
            </a:r>
          </a:p>
          <a:p/>
          <a:p>
            <a:r>
              <a:t>Asosiy tayanch fikr: Mantiqiy tarmoqni kichik bo‘limlarga ajratish. Tarmoq CIDR diapazoni rejalashtiriladi. So‘ng ilova, baza va tashqi kirish uchun mos subnet lar yaratiladi. Xizmatlar va provayderlar subnet ko‘lamini turlicha belgilashi mumkin.</a:t>
            </a:r>
          </a:p>
          <a:p/>
          <a:p>
            <a:r>
              <a:t>Asosiy tayanch fikr: Private manzildan tashqi xizmatga chiqish. Ilova tashqi yangilanish serveriga so‘rov yuboradi. NAT chiqish manzilini almashtiradi va qaytgan javobni mos ichki ulanishga qaytaradi.</a:t>
            </a:r>
          </a:p>
          <a:p/>
          <a:p>
            <a:r>
              <a:t>Asosiy tayanch fikr: So‘rovlarni sog‘lom nusxalar orasida taqsimlash. Qoidalar host, yo‘l yoki ulanish darajasida yo‘naltiradi. Bir xil so‘rovlar turli nusxaga tushishi mumkin, shu sababli sessiya holati tashqi xizmatda saqlanishi ma’qul.</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1c8f91bc-6381-4745-8533-c57166497063.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16636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594360"/>
            <a:ext cx="594360" cy="73152"/>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896112"/>
            <a:ext cx="4480560" cy="457200"/>
          </a:xfrm>
          <a:prstGeom prst="rect">
            <a:avLst/>
          </a:prstGeom>
          <a:noFill/>
        </p:spPr>
        <p:txBody>
          <a:bodyPr wrap="square" lIns="27432" rIns="27432" tIns="18288" bIns="0">
            <a:spAutoFit/>
          </a:bodyPr>
          <a:lstStyle/>
          <a:p>
            <a:pPr>
              <a:spcAft>
                <a:spcPts val="1000"/>
              </a:spcAft>
              <a:defRPr sz="1700" b="1">
                <a:solidFill>
                  <a:srgbClr val="1678D2"/>
                </a:solidFill>
                <a:latin typeface="DejaVu Sans"/>
              </a:defRPr>
            </a:pPr>
            <a:r>
              <a:t>M10  /  BTST206</a:t>
            </a:r>
          </a:p>
        </p:txBody>
      </p:sp>
      <p:sp>
        <p:nvSpPr>
          <p:cNvPr id="6" name="TextBox 5"/>
          <p:cNvSpPr txBox="1"/>
          <p:nvPr/>
        </p:nvSpPr>
        <p:spPr>
          <a:xfrm>
            <a:off x="548640" y="1737360"/>
            <a:ext cx="4480560" cy="2788920"/>
          </a:xfrm>
          <a:prstGeom prst="rect">
            <a:avLst/>
          </a:prstGeom>
          <a:noFill/>
        </p:spPr>
        <p:txBody>
          <a:bodyPr wrap="square" lIns="27432" rIns="27432" tIns="18288" bIns="0">
            <a:spAutoFit/>
          </a:bodyPr>
          <a:lstStyle/>
          <a:p>
            <a:pPr>
              <a:spcAft>
                <a:spcPts val="1000"/>
              </a:spcAft>
              <a:defRPr sz="3000" b="1">
                <a:solidFill>
                  <a:srgbClr val="15365B"/>
                </a:solidFill>
                <a:latin typeface="DejaVu Sans"/>
              </a:defRPr>
            </a:pPr>
            <a:r>
              <a:t>Bulutli tarmoq texnologiyalari</a:t>
            </a:r>
          </a:p>
        </p:txBody>
      </p:sp>
      <p:sp>
        <p:nvSpPr>
          <p:cNvPr id="7" name="TextBox 6"/>
          <p:cNvSpPr txBox="1"/>
          <p:nvPr/>
        </p:nvSpPr>
        <p:spPr>
          <a:xfrm>
            <a:off x="548640" y="4800600"/>
            <a:ext cx="4434840" cy="914400"/>
          </a:xfrm>
          <a:prstGeom prst="rect">
            <a:avLst/>
          </a:prstGeom>
          <a:noFill/>
        </p:spPr>
        <p:txBody>
          <a:bodyPr wrap="square" lIns="27432" rIns="27432" tIns="18288" bIns="0">
            <a:spAutoFit/>
          </a:bodyPr>
          <a:lstStyle/>
          <a:p>
            <a:pPr>
              <a:spcAft>
                <a:spcPts val="1000"/>
              </a:spcAft>
              <a:defRPr sz="1900" b="0">
                <a:solidFill>
                  <a:srgbClr val="53687D"/>
                </a:solidFill>
                <a:latin typeface="DejaVu Sans"/>
              </a:defRPr>
            </a:pPr>
            <a:r>
              <a:t>VPC dan CDN gacha bo‘lgan so‘rov yo‘li</a:t>
            </a:r>
          </a:p>
        </p:txBody>
      </p:sp>
      <p:sp>
        <p:nvSpPr>
          <p:cNvPr id="8" name="TextBox 7"/>
          <p:cNvSpPr txBox="1"/>
          <p:nvPr/>
        </p:nvSpPr>
        <p:spPr>
          <a:xfrm>
            <a:off x="548640" y="6217920"/>
            <a:ext cx="4480560" cy="365760"/>
          </a:xfrm>
          <a:prstGeom prst="rect">
            <a:avLst/>
          </a:prstGeom>
          <a:noFill/>
        </p:spPr>
        <p:txBody>
          <a:bodyPr wrap="square" lIns="27432" rIns="27432" tIns="18288" bIns="0">
            <a:spAutoFit/>
          </a:bodyPr>
          <a:lstStyle/>
          <a:p>
            <a:pPr>
              <a:spcAft>
                <a:spcPts val="1000"/>
              </a:spcAft>
              <a:defRPr sz="1100" b="0">
                <a:solidFill>
                  <a:srgbClr val="1678D2"/>
                </a:solidFill>
                <a:latin typeface="DejaVu Sans"/>
              </a:defRPr>
            </a:pPr>
            <a:r>
              <a:t>2027–2028  •  VIDEOMA’RUZA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M10 · O‘RGANISH TARTIBI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Bugungi mavzuning yo‘l xaritasi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02</a:t>
            </a:r>
          </a:p>
        </p:txBody>
      </p:sp>
      <p:sp>
        <p:nvSpPr>
          <p:cNvPr id="8" name="Rounded Rectangle 7"/>
          <p:cNvSpPr/>
          <p:nvPr/>
        </p:nvSpPr>
        <p:spPr>
          <a:xfrm>
            <a:off x="59436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01</a:t>
            </a:r>
          </a:p>
        </p:txBody>
      </p:sp>
      <p:sp>
        <p:nvSpPr>
          <p:cNvPr id="10" name="TextBox 9"/>
          <p:cNvSpPr txBox="1"/>
          <p:nvPr/>
        </p:nvSpPr>
        <p:spPr>
          <a:xfrm>
            <a:off x="138074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VPC va subnet</a:t>
            </a:r>
          </a:p>
        </p:txBody>
      </p:sp>
      <p:sp>
        <p:nvSpPr>
          <p:cNvPr id="11" name="Rounded Rectangle 10"/>
          <p:cNvSpPr/>
          <p:nvPr/>
        </p:nvSpPr>
        <p:spPr>
          <a:xfrm>
            <a:off x="626364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02</a:t>
            </a:r>
          </a:p>
        </p:txBody>
      </p:sp>
      <p:sp>
        <p:nvSpPr>
          <p:cNvPr id="13" name="TextBox 12"/>
          <p:cNvSpPr txBox="1"/>
          <p:nvPr/>
        </p:nvSpPr>
        <p:spPr>
          <a:xfrm>
            <a:off x="705002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IP-manzillash va routing</a:t>
            </a:r>
          </a:p>
        </p:txBody>
      </p:sp>
      <p:sp>
        <p:nvSpPr>
          <p:cNvPr id="14" name="Rounded Rectangle 13"/>
          <p:cNvSpPr/>
          <p:nvPr/>
        </p:nvSpPr>
        <p:spPr>
          <a:xfrm>
            <a:off x="59436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03</a:t>
            </a:r>
          </a:p>
        </p:txBody>
      </p:sp>
      <p:sp>
        <p:nvSpPr>
          <p:cNvPr id="16" name="TextBox 15"/>
          <p:cNvSpPr txBox="1"/>
          <p:nvPr/>
        </p:nvSpPr>
        <p:spPr>
          <a:xfrm>
            <a:off x="138074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NAT va xavfsizlik chegarasi</a:t>
            </a:r>
          </a:p>
        </p:txBody>
      </p:sp>
      <p:sp>
        <p:nvSpPr>
          <p:cNvPr id="17" name="Rounded Rectangle 16"/>
          <p:cNvSpPr/>
          <p:nvPr/>
        </p:nvSpPr>
        <p:spPr>
          <a:xfrm>
            <a:off x="626364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04</a:t>
            </a:r>
          </a:p>
        </p:txBody>
      </p:sp>
      <p:sp>
        <p:nvSpPr>
          <p:cNvPr id="19" name="TextBox 18"/>
          <p:cNvSpPr txBox="1"/>
          <p:nvPr/>
        </p:nvSpPr>
        <p:spPr>
          <a:xfrm>
            <a:off x="705002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DNS va HTTPS</a:t>
            </a:r>
          </a:p>
        </p:txBody>
      </p:sp>
      <p:sp>
        <p:nvSpPr>
          <p:cNvPr id="20" name="Rounded Rectangle 19"/>
          <p:cNvSpPr/>
          <p:nvPr/>
        </p:nvSpPr>
        <p:spPr>
          <a:xfrm>
            <a:off x="59436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05</a:t>
            </a:r>
          </a:p>
        </p:txBody>
      </p:sp>
      <p:sp>
        <p:nvSpPr>
          <p:cNvPr id="22" name="TextBox 21"/>
          <p:cNvSpPr txBox="1"/>
          <p:nvPr/>
        </p:nvSpPr>
        <p:spPr>
          <a:xfrm>
            <a:off x="138074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Load Balancer</a:t>
            </a:r>
          </a:p>
        </p:txBody>
      </p:sp>
      <p:sp>
        <p:nvSpPr>
          <p:cNvPr id="23" name="Rounded Rectangle 22"/>
          <p:cNvSpPr/>
          <p:nvPr/>
        </p:nvSpPr>
        <p:spPr>
          <a:xfrm>
            <a:off x="626364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06</a:t>
            </a:r>
          </a:p>
        </p:txBody>
      </p:sp>
      <p:sp>
        <p:nvSpPr>
          <p:cNvPr id="25" name="TextBox 24"/>
          <p:cNvSpPr txBox="1"/>
          <p:nvPr/>
        </p:nvSpPr>
        <p:spPr>
          <a:xfrm>
            <a:off x="705002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CDN va kesh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M10 · ASOSIY TUSHUNCHA 1/6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VPC va subnet</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03</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Mantiqiy tarmoqni kichik bo‘limlarga ajratish.</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Portalning kirish komponenti tashqi trafikni qabul qiladi, ilova va baza esa private manzillarda ishlaydi.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M10 · ASOSIY TUSHUNCHA 2/6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IP-manzillash va routing</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04</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Masalan, 10.20.0.0/16 ichidan 10.20.1.0/24 ajratish mumkin.</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256 manzilning barchasi virtual serverga beriladi deb hisoblash noto‘g‘ri.</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Manzil — qayerda; marshrut — qaysi yo‘ldan.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M10 · ASOSIY TUSHUNCHA 3/6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NAT va xavfsizlik chegarasi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05</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Private manzildan tashqi xizmatga chiqish.</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NAT tarmoq manzillarini o‘zgartiradi.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M10 · ASOSIY TUSHUNCHA 4/6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DNS va HTTPS</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06</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Nomni manzilga, ulanishni himoyalangan kanalga.</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portal.universitet.uz nomi yuklama taqsimlagichga yo‘naltiriladi, talaba login ma’lumoti HTTPS orqali uzatiladi.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M10 · ASOSIY TUSHUNCHA 5/6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Load Balancer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07</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Qoidalar host, yo‘l yoki ulanish darajasida yo‘naltiradi.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Load Balancer bitta bazaga tushadigan barcha yukni kamaytirmaydi; baza alohida tor joy bo‘lishi mumkin.</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So‘rovlarni sog‘lom nusxalar orasida taqsimlash.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M10 · ASOSIY TUSHUNCHA 6/6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CDN va kesh</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08</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Kontentni foydalanuvchiga yaqinroq yetkazish.</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CDN statik fayllar va mos kesh siyosatidagi javoblarni chekka nuqtalarda saqlaydi.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M10 · ARXITEKTURA</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Texnik sxema: qismlar qanday bog‘lanadi?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09</a:t>
            </a:r>
          </a:p>
        </p:txBody>
      </p:sp>
      <p:cxnSp>
        <p:nvCxnSpPr>
          <p:cNvPr id="8" name="Connector 7"/>
          <p:cNvCxnSpPr/>
          <p:nvPr/>
        </p:nvCxnSpPr>
        <p:spPr>
          <a:xfrm>
            <a:off x="347472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9516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114800" y="3246120"/>
            <a:ext cx="502920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8046720" y="3246120"/>
            <a:ext cx="109728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1520" y="2286000"/>
            <a:ext cx="2743200" cy="960120"/>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2450592"/>
            <a:ext cx="2505456" cy="685800"/>
          </a:xfrm>
          <a:prstGeom prst="rect">
            <a:avLst/>
          </a:prstGeom>
          <a:noFill/>
        </p:spPr>
        <p:txBody>
          <a:bodyPr wrap="square" lIns="27432" rIns="27432" tIns="18288" bIns="0">
            <a:spAutoFit/>
          </a:bodyPr>
          <a:lstStyle/>
          <a:p>
            <a:pPr>
              <a:spcAft>
                <a:spcPts val="1000"/>
              </a:spcAft>
              <a:defRPr sz="1800" b="1">
                <a:solidFill>
                  <a:srgbClr val="FFFFFF"/>
                </a:solidFill>
                <a:latin typeface="DejaVu Sans"/>
              </a:defRPr>
            </a:pPr>
            <a:r>
              <a:t>Brauzer</a:t>
            </a:r>
          </a:p>
        </p:txBody>
      </p:sp>
      <p:sp>
        <p:nvSpPr>
          <p:cNvPr id="14" name="Rounded Rectangle 13"/>
          <p:cNvSpPr/>
          <p:nvPr/>
        </p:nvSpPr>
        <p:spPr>
          <a:xfrm>
            <a:off x="425196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DNS / CDN / LB</a:t>
            </a:r>
          </a:p>
        </p:txBody>
      </p:sp>
      <p:sp>
        <p:nvSpPr>
          <p:cNvPr id="16" name="Rounded Rectangle 15"/>
          <p:cNvSpPr/>
          <p:nvPr/>
        </p:nvSpPr>
        <p:spPr>
          <a:xfrm>
            <a:off x="777240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9127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Private ilova</a:t>
            </a:r>
          </a:p>
        </p:txBody>
      </p:sp>
      <p:sp>
        <p:nvSpPr>
          <p:cNvPr id="18" name="Rounded Rectangle 17"/>
          <p:cNvSpPr/>
          <p:nvPr/>
        </p:nvSpPr>
        <p:spPr>
          <a:xfrm>
            <a:off x="274320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6207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Private baza</a:t>
            </a:r>
          </a:p>
        </p:txBody>
      </p:sp>
      <p:sp>
        <p:nvSpPr>
          <p:cNvPr id="20" name="Rounded Rectangle 19"/>
          <p:cNvSpPr/>
          <p:nvPr/>
        </p:nvSpPr>
        <p:spPr>
          <a:xfrm>
            <a:off x="667512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NAT → tashqi API</a:t>
            </a:r>
          </a:p>
        </p:txBody>
      </p:sp>
      <p:sp>
        <p:nvSpPr>
          <p:cNvPr id="22" name="TextBox 21"/>
          <p:cNvSpPr txBox="1"/>
          <p:nvPr/>
        </p:nvSpPr>
        <p:spPr>
          <a:xfrm>
            <a:off x="777240" y="5806440"/>
            <a:ext cx="10789920" cy="347472"/>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O‘qlar: asosiy bog‘lanish yoki boshqaruv yo‘nalishi. Sxema soddalashtirilgan.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M10 · O‘QITUVCHI BAYONI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Universitet portali misolida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10</a:t>
            </a:r>
          </a:p>
        </p:txBody>
      </p:sp>
      <p:sp>
        <p:nvSpPr>
          <p:cNvPr id="8" name="TextBox 7"/>
          <p:cNvSpPr txBox="1"/>
          <p:nvPr/>
        </p:nvSpPr>
        <p:spPr>
          <a:xfrm>
            <a:off x="658368" y="1920240"/>
            <a:ext cx="7040880" cy="150876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Talaba portal nomini brauzerga yozadi. So‘rov DNS orqali manzil topadi, kerak bo‘lsa CDN dan fayl oladi va yuklama taqsimlagich orqali ilovaga yetib boradi. Baza esa bevosita internetga ochilmaydi.</a:t>
            </a:r>
          </a:p>
        </p:txBody>
      </p:sp>
      <p:sp>
        <p:nvSpPr>
          <p:cNvPr id="9" name="Rounded Rectangle 8"/>
          <p:cNvSpPr/>
          <p:nvPr/>
        </p:nvSpPr>
        <p:spPr>
          <a:xfrm>
            <a:off x="685800"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DNS va CDN</a:t>
            </a:r>
          </a:p>
        </p:txBody>
      </p:sp>
      <p:sp>
        <p:nvSpPr>
          <p:cNvPr id="11" name="Rounded Rectangle 10"/>
          <p:cNvSpPr/>
          <p:nvPr/>
        </p:nvSpPr>
        <p:spPr>
          <a:xfrm>
            <a:off x="3584448"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1608"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Load Balancer</a:t>
            </a:r>
          </a:p>
        </p:txBody>
      </p:sp>
      <p:sp>
        <p:nvSpPr>
          <p:cNvPr id="13" name="Rounded Rectangle 12"/>
          <p:cNvSpPr/>
          <p:nvPr/>
        </p:nvSpPr>
        <p:spPr>
          <a:xfrm>
            <a:off x="6483096"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0256"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Private ilova</a:t>
            </a:r>
          </a:p>
        </p:txBody>
      </p:sp>
      <p:sp>
        <p:nvSpPr>
          <p:cNvPr id="15" name="Rounded Rectangle 14"/>
          <p:cNvSpPr/>
          <p:nvPr/>
        </p:nvSpPr>
        <p:spPr>
          <a:xfrm>
            <a:off x="9381744"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4"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Private ma’lumotlar bazasi</a:t>
            </a:r>
          </a:p>
        </p:txBody>
      </p:sp>
      <p:sp>
        <p:nvSpPr>
          <p:cNvPr id="17" name="TextBox 16"/>
          <p:cNvSpPr txBox="1"/>
          <p:nvPr/>
        </p:nvSpPr>
        <p:spPr>
          <a:xfrm>
            <a:off x="713232" y="5632704"/>
            <a:ext cx="10789920" cy="365760"/>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Yuqoridagi bloklar — misolning tayanch qismlari; ular har doim chiziqli trafik yo‘li emas.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M10 · ANIQLIK KIRITAMIZ</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Ko‘p uchraydigan noto‘g‘ri xulosalar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11</a:t>
            </a:r>
          </a:p>
        </p:txBody>
      </p:sp>
      <p:sp>
        <p:nvSpPr>
          <p:cNvPr id="8" name="Rounded Rectangle 7"/>
          <p:cNvSpPr/>
          <p:nvPr/>
        </p:nvSpPr>
        <p:spPr>
          <a:xfrm>
            <a:off x="640080" y="1892807"/>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929384"/>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1</a:t>
            </a:r>
          </a:p>
        </p:txBody>
      </p:sp>
      <p:sp>
        <p:nvSpPr>
          <p:cNvPr id="10" name="TextBox 9"/>
          <p:cNvSpPr txBox="1"/>
          <p:nvPr/>
        </p:nvSpPr>
        <p:spPr>
          <a:xfrm>
            <a:off x="1353312" y="1892807"/>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Bir provayderdagi subnet xususiyatini boshqasiga aynan ko‘chirish mumkin emas: masalan, hudud va zona ko‘lami farqlanadi.</a:t>
            </a:r>
          </a:p>
        </p:txBody>
      </p:sp>
      <p:sp>
        <p:nvSpPr>
          <p:cNvPr id="11" name="Rounded Rectangle 10"/>
          <p:cNvSpPr/>
          <p:nvPr/>
        </p:nvSpPr>
        <p:spPr>
          <a:xfrm>
            <a:off x="640080" y="3246120"/>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282696"/>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2</a:t>
            </a:r>
          </a:p>
        </p:txBody>
      </p:sp>
      <p:sp>
        <p:nvSpPr>
          <p:cNvPr id="13" name="TextBox 12"/>
          <p:cNvSpPr txBox="1"/>
          <p:nvPr/>
        </p:nvSpPr>
        <p:spPr>
          <a:xfrm>
            <a:off x="1353312" y="3246120"/>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HTTPS ilova ichidagi noto‘g‘ri ruxsat yoki zararli kodni avtomatik bartaraf etmaydi.</a:t>
            </a:r>
          </a:p>
        </p:txBody>
      </p:sp>
      <p:sp>
        <p:nvSpPr>
          <p:cNvPr id="14" name="Rounded Rectangle 13"/>
          <p:cNvSpPr/>
          <p:nvPr/>
        </p:nvSpPr>
        <p:spPr>
          <a:xfrm>
            <a:off x="640080" y="4599431"/>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636007"/>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3</a:t>
            </a:r>
          </a:p>
        </p:txBody>
      </p:sp>
      <p:sp>
        <p:nvSpPr>
          <p:cNvPr id="16" name="TextBox 15"/>
          <p:cNvSpPr txBox="1"/>
          <p:nvPr/>
        </p:nvSpPr>
        <p:spPr>
          <a:xfrm>
            <a:off x="1353312" y="4599431"/>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Shaxsiy baholar yoki login javoblarini noto‘g‘ri umumiy keshga qo‘yish maxfiylik buzilishiga olib keladi.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M10 · YAKUN</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Mavzuning asosiy xulosalari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12</a:t>
            </a:r>
          </a:p>
        </p:txBody>
      </p:sp>
      <p:sp>
        <p:nvSpPr>
          <p:cNvPr id="8" name="Rounded Rectangle 7"/>
          <p:cNvSpPr/>
          <p:nvPr/>
        </p:nvSpPr>
        <p:spPr>
          <a:xfrm>
            <a:off x="640080"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01</a:t>
            </a:r>
          </a:p>
        </p:txBody>
      </p:sp>
      <p:sp>
        <p:nvSpPr>
          <p:cNvPr id="10" name="TextBox 9"/>
          <p:cNvSpPr txBox="1"/>
          <p:nvPr/>
        </p:nvSpPr>
        <p:spPr>
          <a:xfrm>
            <a:off x="859536"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Mantiqiy tarmoqni kichik bo‘limlarga ajratish.</a:t>
            </a:r>
          </a:p>
        </p:txBody>
      </p:sp>
      <p:sp>
        <p:nvSpPr>
          <p:cNvPr id="11" name="Rounded Rectangle 10"/>
          <p:cNvSpPr/>
          <p:nvPr/>
        </p:nvSpPr>
        <p:spPr>
          <a:xfrm>
            <a:off x="4498848"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02</a:t>
            </a:r>
          </a:p>
        </p:txBody>
      </p:sp>
      <p:sp>
        <p:nvSpPr>
          <p:cNvPr id="13" name="TextBox 12"/>
          <p:cNvSpPr txBox="1"/>
          <p:nvPr/>
        </p:nvSpPr>
        <p:spPr>
          <a:xfrm>
            <a:off x="4718304"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Private manzildan tashqi xizmatga chiqish.</a:t>
            </a:r>
          </a:p>
        </p:txBody>
      </p:sp>
      <p:sp>
        <p:nvSpPr>
          <p:cNvPr id="14" name="Rounded Rectangle 13"/>
          <p:cNvSpPr/>
          <p:nvPr/>
        </p:nvSpPr>
        <p:spPr>
          <a:xfrm>
            <a:off x="8357615"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77072"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03</a:t>
            </a:r>
          </a:p>
        </p:txBody>
      </p:sp>
      <p:sp>
        <p:nvSpPr>
          <p:cNvPr id="16" name="TextBox 15"/>
          <p:cNvSpPr txBox="1"/>
          <p:nvPr/>
        </p:nvSpPr>
        <p:spPr>
          <a:xfrm>
            <a:off x="8577072"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So‘rovlarni sog‘lom nusxalar orasida taqsimlash.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M10 · QO‘SHIMCHA O‘QISH</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Manbalar va terminlar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13</a:t>
            </a:r>
          </a:p>
        </p:txBody>
      </p:sp>
      <p:sp>
        <p:nvSpPr>
          <p:cNvPr id="8" name="TextBox 7"/>
          <p:cNvSpPr txBox="1"/>
          <p:nvPr/>
        </p:nvSpPr>
        <p:spPr>
          <a:xfrm>
            <a:off x="685800" y="1920240"/>
            <a:ext cx="10789920" cy="822960"/>
          </a:xfrm>
          <a:prstGeom prst="rect">
            <a:avLst/>
          </a:prstGeom>
          <a:noFill/>
        </p:spPr>
        <p:txBody>
          <a:bodyPr wrap="square" lIns="27432" rIns="27432" tIns="18288" bIns="0">
            <a:spAutoFit/>
          </a:bodyPr>
          <a:lstStyle/>
          <a:p>
            <a:pPr>
              <a:spcAft>
                <a:spcPts val="1000"/>
              </a:spcAft>
              <a:defRPr sz="2100" b="1">
                <a:solidFill>
                  <a:srgbClr val="15365B"/>
                </a:solidFill>
                <a:latin typeface="DejaVu Sans"/>
              </a:defRPr>
            </a:pPr>
            <a:r>
              <a:t>Asos: BTST206 sillabusi, 2027–2028. M1–M18 ma’ruza bo‘limi.</a:t>
            </a:r>
          </a:p>
        </p:txBody>
      </p:sp>
      <p:sp>
        <p:nvSpPr>
          <p:cNvPr id="9" name="TextBox 8"/>
          <p:cNvSpPr txBox="1"/>
          <p:nvPr/>
        </p:nvSpPr>
        <p:spPr>
          <a:xfrm>
            <a:off x="713232" y="2926080"/>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https://docs.aws.amazon.com/vpc/latest/userguide/</a:t>
            </a:r>
          </a:p>
        </p:txBody>
      </p:sp>
      <p:sp>
        <p:nvSpPr>
          <p:cNvPr id="10" name="TextBox 9"/>
          <p:cNvSpPr txBox="1"/>
          <p:nvPr/>
        </p:nvSpPr>
        <p:spPr>
          <a:xfrm>
            <a:off x="713232" y="3456432"/>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https://learn.microsoft.com/azure/virtual-network/</a:t>
            </a:r>
          </a:p>
        </p:txBody>
      </p:sp>
      <p:sp>
        <p:nvSpPr>
          <p:cNvPr id="11" name="TextBox 10"/>
          <p:cNvSpPr txBox="1"/>
          <p:nvPr/>
        </p:nvSpPr>
        <p:spPr>
          <a:xfrm>
            <a:off x="713232" y="3986784"/>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https://cloud.google.com/vpc/docs/overview</a:t>
            </a:r>
          </a:p>
        </p:txBody>
      </p:sp>
      <p:sp>
        <p:nvSpPr>
          <p:cNvPr id="12" name="TextBox 11"/>
          <p:cNvSpPr txBox="1"/>
          <p:nvPr/>
        </p:nvSpPr>
        <p:spPr>
          <a:xfrm>
            <a:off x="713232" y="5650992"/>
            <a:ext cx="10789920" cy="502920"/>
          </a:xfrm>
          <a:prstGeom prst="rect">
            <a:avLst/>
          </a:prstGeom>
          <a:noFill/>
        </p:spPr>
        <p:txBody>
          <a:bodyPr wrap="square" lIns="27432" rIns="27432" tIns="18288" bIns="0">
            <a:spAutoFit/>
          </a:bodyPr>
          <a:lstStyle/>
          <a:p>
            <a:pPr>
              <a:spcAft>
                <a:spcPts val="1000"/>
              </a:spcAft>
              <a:defRPr sz="1600" b="0">
                <a:solidFill>
                  <a:srgbClr val="53687D"/>
                </a:solidFill>
                <a:latin typeface="DejaVu Sans"/>
              </a:defRPr>
            </a:pPr>
            <a:r>
              <a:t>Narx, limit va xizmat nomlarining amaldagi holati rasmiy hujjatlarda tekshiriladi.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