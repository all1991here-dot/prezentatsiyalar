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«Bulut infratuzilmasini avtomatlashtirish va DevOps» mavzusiga bag‘ishlanadi. Mavzuni murakkab atamalardan emas, kundalik ehtiyojdan boshlaymiz. Portalning test va asosiy muhitlari qo‘lda yaratilgani uchun bir-biridan farq qiladi. IaC konfiguratsiyani versiyalash, CI/CD esa tekshirilgan o‘zgarishlarni izchil yetkazish orqali bu farqni kamaytiradi.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devops va hamkorlik tushuntiriladi. 2-bo‘limda infrastructure as code tushuntiriladi. 3-bo‘limda terraform ish jarayoni tushuntiriladi. 4-bo‘limda state, drift va sirlar tushuntiriladi. 5-bo‘limda ci: uzluksiz integratsiya tushuntiriladi. 6-bo‘limda cd va xavfsiz yetkazish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DevOps faqat vositalar to‘plami emas. U ishlab chiquvchi va ekspluatatsiya jamoalarining umumiy javobgarligi, tez fikr-mulohaza va avtomatlashtirish madaniyatini anglatadi. Maqsad tezlik bilan birga barqarorlikni oshirishdir.</a:t>
            </a:r>
          </a:p>
          <a:p/>
          <a:p>
            <a:r>
              <a:t>O‘zgarish kichik bo‘laklarda qilinadi. Tekshiruvlar avtomatlashtiriladi, natija kuzatiladi va xato bo‘lsa tiklash yo‘li oldindan belgilanadi.</a:t>
            </a:r>
          </a:p>
          <a:p/>
          <a:p>
            <a:r>
              <a:t>Universitet misolida buni quyidagicha tasavvur qilamiz. Portal yangilanishini yaratgan jamoa uning loglari, javob vaqti va foydalanuvchi xatosini ham kuzatadi. Bu misolda texnik atama real vazifa bilan bog‘lanadi: resursning nomini emas, nima uchun tanlanganini tushunish muhim.</a:t>
            </a:r>
          </a:p>
          <a:p/>
          <a:p>
            <a:r>
              <a:t>E’tibor beradigan chegara ham bor. DevOps deb nomlangan alohida lavozim mavjudligi o‘z-o‘zidan hamkorlik madaniyatini yaratmaydi.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 tarmoq, server va boshqa resurslar konfiguratsiyasini kod ko‘rinishida ta’riflashdir. Bu o‘zgarishlarni ko‘rib chiqish, takrorlash va audit qilishga yordam beradi. Deklarativ usul kerakli yakuniy holatni bildiradi.</a:t>
            </a:r>
          </a:p>
          <a:p/>
          <a:p>
            <a:r>
              <a:t>Konfiguratsiya Git da saqlanadi, o‘zgarish muhokama qilinadi va avtomatlashtirilgan vosita orqali qo‘llanadi. Muhitlar parametrlar bilan farqlanadi, lekin umumiy modullar qayta ishlatiladi.</a:t>
            </a:r>
          </a:p>
          <a:p/>
          <a:p>
            <a:r>
              <a:t>Universitet misolida buni quyidagicha tasavvur qilamiz. Test va asosiy portal uchun bir xil tarmoq moduli ishlatiladi; resurs o‘lchamlari alohida parametr bilan beriladi. Bu misolda texnik atama real vazifa bilan bog‘lanadi: resursning nomini emas, nima uchun tanlanganini tushunish muhim.</a:t>
            </a:r>
          </a:p>
          <a:p/>
          <a:p>
            <a:r>
              <a:t>E’tibor beradigan chegara ham bor. Kodga yozilgan noto‘g‘ri konfiguratsiya ham tez takrorlanadi; tekshiruv va tasdiq zarur.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provider lar orqali xizmat API lariga murojaat qiladi. init kerakli plagin va modulni tayyorlaydi. plan kutilayotgan o‘zgarishni ko‘rsatadi. apply esa ko‘rib chiqilgan reja asosida resurslarni o‘zgartiradi.</a:t>
            </a:r>
          </a:p>
          <a:p/>
          <a:p>
            <a:r>
              <a:t>Avval konfiguratsiya tekshiriladi. Rejadagi yaratish, yangilash va o‘chirish amallari o‘qiladi. So‘ng kerakli tasdiqdan keyin qo‘llanadi va natija kuzatiladi.</a:t>
            </a:r>
          </a:p>
          <a:p/>
          <a:p>
            <a:r>
              <a:t>Universitet misolida buni quyidagicha tasavvur qilamiz. Rejada bitta VM kattalashishi, boshqa disk esa tasodifan o‘chirilishi ko‘rinsa, apply dan oldin xato tuzatiladi. Bu misolda texnik atama real vazifa bilan bog‘lanadi: resursning nomini emas, nima uchun tanlanganini tushunish muhim.</a:t>
            </a:r>
          </a:p>
          <a:p/>
          <a:p>
            <a:r>
              <a:t>E’tibor beradigan chegara ham bor. Plan natijasini ko‘rmasdan apply bajarish muhim ma’lumotni yo‘qotishga olib kelishi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state boshqarilayotgan obyektlar bilan konfiguratsiya o‘rtasidagi moslikni saqlaydi. Drift resurs qo‘lda o‘zgartirilganda kerakli holatdan chetga chiqishidir. State tarkibida sezgir ma’lumot bo‘lishi mumkin.</a:t>
            </a:r>
          </a:p>
          <a:p/>
          <a:p>
            <a:r>
              <a:t>Jamoa himoyalangan remote backend va qo‘llab-quvvatlanadigan locking mexanizmidan foydalanadi. Ruxsatlar cheklanadi. Drift muntazam tekshiriladi va konfiguratsiya bilan muvofiqlashtiriladi.</a:t>
            </a:r>
          </a:p>
          <a:p/>
          <a:p>
            <a:r>
              <a:t>Universitet misolida buni quyidagicha tasavvur qilamiz. Administrator portal serverini konsolda kattalashtirgan bo‘lsa, keyingi plan bu farqni aniqlashi mumkin. Bu misolda texnik atama real vazifa bilan bog‘lanadi: resursning nomini emas, nima uchun tanlanganini tushunish muhim.</a:t>
            </a:r>
          </a:p>
          <a:p/>
          <a:p>
            <a:r>
              <a:t>E’tibor beradigan chegara ham bor. sensitive belgisi qiymatning barcha saqlash joylaridan yo‘qolishini anglatmaydi; state ham himoyalanadi.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kichik o‘zgarishlarni tez-tez birlashtirish va ularni tekshirish yondashuvidir. Test, lint, qurilish hamda xavfsizlik tekshiruvlari muammolarni erta ko‘rsatadi. GitHub Actions va GitLab CI/CD ish oqimini bajaruvchi vositalardir.</a:t>
            </a:r>
          </a:p>
          <a:p/>
          <a:p>
            <a:r>
              <a:t>Commit yoki pull request pipeline ni boshlaydi. Bog‘liqliklar o‘rnatiladi, testlar ishlaydi va image yaratiladi. Faqat kerakli tekshiruvlardan o‘tgan artefakt keyingi bosqichga o‘tadi.</a:t>
            </a:r>
          </a:p>
          <a:p/>
          <a:p>
            <a:r>
              <a:t>Universitet misolida buni quyidagicha tasavvur qilamiz. Portal image i bir marta yaratiladi va sinovdan o‘tgan aynan shu versiya joylashtiriladi. Bu misolda texnik atama real vazifa bilan bog‘lanadi: resursning nomini emas, nima uchun tanlanganini tushunish muhim.</a:t>
            </a:r>
          </a:p>
          <a:p/>
          <a:p>
            <a:r>
              <a:t>E’tibor beradigan chegara ham bor. Testlarning muvaffaqiyati barcha real xatolar yo‘qligini kafolatlamaydi; test qamrovi va kuzatuv muhim.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o‘zgarishni chiqarishga tayyor holatda ushlaydi, asosiy muhitga o‘tish tasdiq bilan bo‘lishi mumkin. Continuous Deployment esa talablar bajarilganda avtomatik chiqarishni anglatadi. Ikkalasi bir xil qisqartma bilan yuritiladi.</a:t>
            </a:r>
          </a:p>
          <a:p/>
          <a:p>
            <a:r>
              <a:t>Yangi versiya test muhitiga chiqadi, smoke tekshiruvi bajariladi va tegishli siyosat bilan asosiy muhitga o‘tadi. Rolling, canary yoki blue-green usuli xavfni kamaytiradi.</a:t>
            </a:r>
          </a:p>
          <a:p/>
          <a:p>
            <a:r>
              <a:t>Universitet misolida buni quyidagicha tasavvur qilamiz. Avval trafikning kichik qismi yangi portalga beriladi. Xatolar oshsa eski versiyaga qaytariladi. Bu misolda texnik atama real vazifa bilan bog‘lanadi: resursning nomini emas, nima uchun tanlanganini tushunish muhim.</a:t>
            </a:r>
          </a:p>
          <a:p/>
          <a:p>
            <a:r>
              <a:t>E’tibor beradigan chegara ham bor. Ilovani qaytarish baza sxemasini avtomatik orqaga qaytarmaydi; migratsiya mosligi oldindan rejalashtiriladi.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«Git / pull request» bilan «CI va test» o‘rtasida sxemada bog‘lanish ko‘rsatilgan. «CI va test» bilan «Terraform plan» o‘rtasida sxemada bog‘lanish ko‘rsatilgan. «Terraform plan» bilan «Tasdiq → apply» o‘rtasida sxemada bog‘lanish ko‘rsatilgan. «Tasdiq → apply» bilan «Monitoring» o‘rtasida sxemada bog‘lanish ko‘rsatilgan.</a:t>
            </a:r>
          </a:p>
          <a:p/>
          <a:p>
            <a:r>
              <a:t>Bu bog‘lanishlarni barcha xizmatlarda bir xil buyruq yoki bir xil fizik kabel deb tushunmaymiz. Ayrim o‘qlar bajarilish ketma-ketligini, ayrimlari resursni boshqarish yoki unga kirish aloqasini anglatadi. Konfiguratsiya Git da saqlanadi, o‘zgarish muhokama qilinadi va avtomatlashtirilgan vosita orqali qo‘llanadi. Muhitlar parametrlar bilan farqlanadi, lekin umumiy modullar qayta ishlatiladi.</a:t>
            </a:r>
          </a:p>
          <a:p/>
          <a:p>
            <a:r>
              <a:t>Sxemaning asosiy foydasi mas’uliyatlarni ajratib ko‘rsatishdir. Portal image i bir marta yaratiladi va sinovdan o‘tgan aynan shu versiya joylashtiriladi.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Portalning test va asosiy muhitlari qo‘lda yaratilgani uchun bir-biridan farq qiladi. IaC konfiguratsiyani versiyalash, CI/CD esa tekshirilgan o‘zgarishlarni izchil yetkazish orqali bu farqni kamaytiradi.</a:t>
            </a:r>
          </a:p>
          <a:p/>
          <a:p>
            <a:r>
              <a:t>Avval ehtiyoj aniqlanadi: kim tizimdan foydalanadi, qaysi ma’lumot bilan ishlanadi va qanday natija kutiladi. Portal yangilanishini yaratgan jamoa uning loglari, javob vaqti va foydalanuvchi xatosini ham kuzatadi. Keyin texnik qismlar shu talabga mos tanlanadi. Rejada bitta VM kattalashishi, boshqa disk esa tasodifan o‘chirilishi ko‘rinsa, apply dan oldin xato tuzatiladi.</a:t>
            </a:r>
          </a:p>
          <a:p/>
          <a:p>
            <a:r>
              <a:t>Ishlash jarayonida faqat muvaffaqiyatli holat emas, xato va cheklovlar ham hisobga olinadi. sensitive belgisi qiymatning barcha saqlash joylaridan yo‘qolishini anglatmaydi; state ham himoyalanadi. Shu sababli jamoa talabni, ruxsatni va nosozlikdagi xatti-harakatni oldindan belgilaydi. Avval trafikning kichik qismi yangi portalga beriladi. Xatolar oshsa eski versiyaga qaytariladi.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DevOps deb nomlangan alohida lavozim mavjudligi o‘z-o‘zidan hamkorlik madaniyatini yaratmaydi. To‘g‘ri talqin quyidagicha: DevOps faqat vositalar to‘plami emas. U ishlab chiquvchi va ekspluatatsiya jamoalarining umumiy javobgarligi, tez fikr-mulohaza va avtomatlashtirish madaniyatini anglatadi. Maqsad tezlik bilan birga barqarorlikni oshirishdir.</a:t>
            </a:r>
          </a:p>
          <a:p/>
          <a:p>
            <a:r>
              <a:t>2. sensitive belgisi qiymatning barcha saqlash joylaridan yo‘qolishini anglatmaydi; state ham himoyalanadi. To‘g‘ri talqin quyidagicha: Terraform state boshqarilayotgan obyektlar bilan konfiguratsiya o‘rtasidagi moslikni saqlaydi. Drift resurs qo‘lda o‘zgartirilganda kerakli holatdan chetga chiqishidir. State tarkibida sezgir ma’lumot bo‘lishi mumkin.</a:t>
            </a:r>
          </a:p>
          <a:p/>
          <a:p>
            <a:r>
              <a:t>3. Ilovani qaytarish baza sxemasini avtomatik orqaga qaytarmaydi; migratsiya mosligi oldindan rejalashtiriladi. To‘g‘ri talqin quyidagicha: Continuous Delivery o‘zgarishni chiqarishga tayyor holatda ushlaydi, asosiy muhitga o‘tish tasdiq bilan bo‘lishi mumkin. Continuous Deployment esa talablar bajarilganda avtomatik chiqarishni anglatadi. Ikkalasi bir xil qisqartma bilan yuritiladi.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Infrastructure as Code, Terraform va CI/CD — mavzuning umumiy mazmunini ifodalaydi.</a:t>
            </a:r>
          </a:p>
          <a:p/>
          <a:p>
            <a:r>
              <a:t>Asosiy tayanch fikr: Ishlab chiqish, yetkazish va ishlatish bir oqimdir. O‘zgarish kichik bo‘laklarda qilinadi. Tekshiruvlar avtomatlashtiriladi, natija kuzatiladi va xato bo‘lsa tiklash yo‘li oldindan belgilanadi.</a:t>
            </a:r>
          </a:p>
          <a:p/>
          <a:p>
            <a:r>
              <a:t>Asosiy tayanch fikr: init → plan → apply → tekshirish. Avval konfiguratsiya tekshiriladi. Rejadagi yaratish, yangilash va o‘chirish amallari o‘qiladi. So‘ng kerakli tasdiqdan keyin qo‘llanadi va natija kuzatiladi.</a:t>
            </a:r>
          </a:p>
          <a:p/>
          <a:p>
            <a:r>
              <a:t>Asosiy tayanch fikr: Kod birlashmasidan oldin avtomatik tekshiruvlar. Commit yoki pull request pipeline ni boshlaydi. Bog‘liqliklar o‘rnatiladi, testlar ishlaydi va image yaratiladi. Faqat kerakli tekshiruvlardan o‘tgan artefakt keyingi bosqichga o‘tadi.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640080" y="621792"/>
            <a:ext cx="10881360" cy="5276088"/>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621792"/>
            <a:ext cx="155448" cy="5276088"/>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9264" y="868680"/>
            <a:ext cx="6400800" cy="347472"/>
          </a:xfrm>
          <a:prstGeom prst="rect">
            <a:avLst/>
          </a:prstGeom>
          <a:noFill/>
        </p:spPr>
        <p:txBody>
          <a:bodyPr wrap="square" lIns="27432" rIns="27432" tIns="18288" bIns="0">
            <a:spAutoFit/>
          </a:bodyPr>
          <a:lstStyle/>
          <a:p>
            <a:pPr>
              <a:spcAft>
                <a:spcPts val="800"/>
              </a:spcAft>
              <a:defRPr sz="1500" b="1">
                <a:solidFill>
                  <a:srgbClr val="D94D4D"/>
                </a:solidFill>
                <a:latin typeface="DejaVu Sans"/>
              </a:defRPr>
            </a:pPr>
            <a:r>
              <a:t>16   /   INFRASTRUKTURA MUHANDISLIGI</a:t>
            </a:r>
          </a:p>
        </p:txBody>
      </p:sp>
      <p:sp>
        <p:nvSpPr>
          <p:cNvPr id="40" name="TextBox 39"/>
          <p:cNvSpPr txBox="1"/>
          <p:nvPr/>
        </p:nvSpPr>
        <p:spPr>
          <a:xfrm>
            <a:off x="960120" y="1719072"/>
            <a:ext cx="6922008" cy="2249424"/>
          </a:xfrm>
          <a:prstGeom prst="rect">
            <a:avLst/>
          </a:prstGeom>
          <a:noFill/>
        </p:spPr>
        <p:txBody>
          <a:bodyPr wrap="square" lIns="27432" rIns="27432" tIns="18288" bIns="0">
            <a:spAutoFit/>
          </a:bodyPr>
          <a:lstStyle/>
          <a:p>
            <a:pPr>
              <a:spcAft>
                <a:spcPts val="800"/>
              </a:spcAft>
              <a:defRPr sz="4000" b="1">
                <a:solidFill>
                  <a:srgbClr val="20354B"/>
                </a:solidFill>
                <a:latin typeface="DejaVu Sans"/>
              </a:defRPr>
            </a:pPr>
            <a:r>
              <a:t>Avtomatlashtirish</a:t>
            </a:r>
          </a:p>
          <a:p>
            <a:pPr>
              <a:spcAft>
                <a:spcPts val="800"/>
              </a:spcAft>
              <a:defRPr sz="4000" b="1">
                <a:solidFill>
                  <a:srgbClr val="20354B"/>
                </a:solidFill>
                <a:latin typeface="DejaVu Sans"/>
              </a:defRPr>
            </a:pPr>
            <a:r>
              <a:t>va DevOps</a:t>
            </a:r>
          </a:p>
        </p:txBody>
      </p:sp>
      <p:sp>
        <p:nvSpPr>
          <p:cNvPr id="41" name="TextBox 40"/>
          <p:cNvSpPr txBox="1"/>
          <p:nvPr/>
        </p:nvSpPr>
        <p:spPr>
          <a:xfrm>
            <a:off x="987552" y="4224528"/>
            <a:ext cx="6656832" cy="960120"/>
          </a:xfrm>
          <a:prstGeom prst="rect">
            <a:avLst/>
          </a:prstGeom>
          <a:noFill/>
        </p:spPr>
        <p:txBody>
          <a:bodyPr wrap="square" lIns="27432" rIns="27432" tIns="18288" bIns="0">
            <a:spAutoFit/>
          </a:bodyPr>
          <a:lstStyle/>
          <a:p>
            <a:pPr>
              <a:spcAft>
                <a:spcPts val="800"/>
              </a:spcAft>
              <a:defRPr sz="2400" b="1">
                <a:solidFill>
                  <a:srgbClr val="245B9E"/>
                </a:solidFill>
                <a:latin typeface="DejaVu Sans"/>
              </a:defRPr>
            </a:pPr>
            <a:r>
              <a:t>Infrastructure as Code, Terraform va CI/CD</a:t>
            </a:r>
          </a:p>
        </p:txBody>
      </p:sp>
      <p:pic>
        <p:nvPicPr>
          <p:cNvPr id="42" name="Picture 41" descr="M16_argo.png"/>
          <p:cNvPicPr>
            <a:picLocks noChangeAspect="1"/>
          </p:cNvPicPr>
          <p:nvPr/>
        </p:nvPicPr>
        <p:blipFill>
          <a:blip r:embed="rId2"/>
          <a:stretch>
            <a:fillRect/>
          </a:stretch>
        </p:blipFill>
        <p:spPr>
          <a:xfrm>
            <a:off x="8304275" y="1399031"/>
            <a:ext cx="2282952" cy="2935224"/>
          </a:xfrm>
          <a:prstGeom prst="rect">
            <a:avLst/>
          </a:prstGeom>
        </p:spPr>
      </p:pic>
      <p:sp>
        <p:nvSpPr>
          <p:cNvPr id="43" name="TextBox 42"/>
          <p:cNvSpPr txBox="1"/>
          <p:nvPr/>
        </p:nvSpPr>
        <p:spPr>
          <a:xfrm>
            <a:off x="8147304" y="4608576"/>
            <a:ext cx="2697480" cy="594360"/>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Argo — GitOps vositalari.</a:t>
            </a:r>
          </a:p>
        </p:txBody>
      </p:sp>
      <p:sp>
        <p:nvSpPr>
          <p:cNvPr id="44" name="TextBox 43"/>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5" name="TextBox 44"/>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Yetkazish zanjirining olti mavzusi</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02 / 13</a:t>
            </a:r>
          </a:p>
        </p:txBody>
      </p:sp>
      <p:sp>
        <p:nvSpPr>
          <p:cNvPr id="43" name="Rectangle 42"/>
          <p:cNvSpPr/>
          <p:nvPr/>
        </p:nvSpPr>
        <p:spPr>
          <a:xfrm>
            <a:off x="822960" y="1874519"/>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2960" y="1874519"/>
            <a:ext cx="484632" cy="484632"/>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1933955"/>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1</a:t>
            </a:r>
          </a:p>
        </p:txBody>
      </p:sp>
      <p:sp>
        <p:nvSpPr>
          <p:cNvPr id="46" name="TextBox 45"/>
          <p:cNvSpPr txBox="1"/>
          <p:nvPr/>
        </p:nvSpPr>
        <p:spPr>
          <a:xfrm>
            <a:off x="1005840" y="255117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DevOps va hamkorlik</a:t>
            </a:r>
          </a:p>
        </p:txBody>
      </p:sp>
      <p:sp>
        <p:nvSpPr>
          <p:cNvPr id="47" name="Rectangle 46"/>
          <p:cNvSpPr/>
          <p:nvPr/>
        </p:nvSpPr>
        <p:spPr>
          <a:xfrm>
            <a:off x="4517136" y="1874519"/>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17136" y="1874519"/>
            <a:ext cx="484632" cy="484632"/>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62856" y="1933955"/>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2</a:t>
            </a:r>
          </a:p>
        </p:txBody>
      </p:sp>
      <p:sp>
        <p:nvSpPr>
          <p:cNvPr id="50" name="TextBox 49"/>
          <p:cNvSpPr txBox="1"/>
          <p:nvPr/>
        </p:nvSpPr>
        <p:spPr>
          <a:xfrm>
            <a:off x="4700016" y="255117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Infrastructure as Code</a:t>
            </a:r>
          </a:p>
        </p:txBody>
      </p:sp>
      <p:sp>
        <p:nvSpPr>
          <p:cNvPr id="51" name="Rectangle 50"/>
          <p:cNvSpPr/>
          <p:nvPr/>
        </p:nvSpPr>
        <p:spPr>
          <a:xfrm>
            <a:off x="8211312" y="1874519"/>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211312" y="1874519"/>
            <a:ext cx="484632" cy="484632"/>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57032" y="1933955"/>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3</a:t>
            </a:r>
          </a:p>
        </p:txBody>
      </p:sp>
      <p:sp>
        <p:nvSpPr>
          <p:cNvPr id="54" name="TextBox 53"/>
          <p:cNvSpPr txBox="1"/>
          <p:nvPr/>
        </p:nvSpPr>
        <p:spPr>
          <a:xfrm>
            <a:off x="8394192" y="255117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Terraform ish jarayoni</a:t>
            </a:r>
          </a:p>
        </p:txBody>
      </p:sp>
      <p:sp>
        <p:nvSpPr>
          <p:cNvPr id="55" name="Rectangle 54"/>
          <p:cNvSpPr/>
          <p:nvPr/>
        </p:nvSpPr>
        <p:spPr>
          <a:xfrm>
            <a:off x="822960" y="3794760"/>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22960" y="3794760"/>
            <a:ext cx="484632" cy="484632"/>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8680" y="3854196"/>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4</a:t>
            </a:r>
          </a:p>
        </p:txBody>
      </p:sp>
      <p:sp>
        <p:nvSpPr>
          <p:cNvPr id="58" name="TextBox 57"/>
          <p:cNvSpPr txBox="1"/>
          <p:nvPr/>
        </p:nvSpPr>
        <p:spPr>
          <a:xfrm>
            <a:off x="1005840" y="447141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State, drift va sirlar</a:t>
            </a:r>
          </a:p>
        </p:txBody>
      </p:sp>
      <p:sp>
        <p:nvSpPr>
          <p:cNvPr id="59" name="Rectangle 58"/>
          <p:cNvSpPr/>
          <p:nvPr/>
        </p:nvSpPr>
        <p:spPr>
          <a:xfrm>
            <a:off x="4517136" y="3794760"/>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517136" y="3794760"/>
            <a:ext cx="484632" cy="484632"/>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62856" y="3854196"/>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5</a:t>
            </a:r>
          </a:p>
        </p:txBody>
      </p:sp>
      <p:sp>
        <p:nvSpPr>
          <p:cNvPr id="62" name="TextBox 61"/>
          <p:cNvSpPr txBox="1"/>
          <p:nvPr/>
        </p:nvSpPr>
        <p:spPr>
          <a:xfrm>
            <a:off x="4700016" y="447141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CI: uzluksiz integratsiya</a:t>
            </a:r>
          </a:p>
        </p:txBody>
      </p:sp>
      <p:sp>
        <p:nvSpPr>
          <p:cNvPr id="63" name="Rectangle 62"/>
          <p:cNvSpPr/>
          <p:nvPr/>
        </p:nvSpPr>
        <p:spPr>
          <a:xfrm>
            <a:off x="8211312" y="3794760"/>
            <a:ext cx="3346704" cy="1581912"/>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211312" y="3794760"/>
            <a:ext cx="484632" cy="484632"/>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57032" y="3854196"/>
            <a:ext cx="393192" cy="365760"/>
          </a:xfrm>
          <a:prstGeom prst="rect">
            <a:avLst/>
          </a:prstGeom>
          <a:noFill/>
        </p:spPr>
        <p:txBody>
          <a:bodyPr wrap="square" lIns="27432" rIns="27432" tIns="18288" bIns="0">
            <a:spAutoFit/>
          </a:bodyPr>
          <a:lstStyle/>
          <a:p>
            <a:pPr algn="ctr">
              <a:spcAft>
                <a:spcPts val="800"/>
              </a:spcAft>
              <a:defRPr sz="1900" b="1">
                <a:solidFill>
                  <a:srgbClr val="FFFFFF"/>
                </a:solidFill>
                <a:latin typeface="DejaVu Sans"/>
              </a:defRPr>
            </a:pPr>
            <a:r>
              <a:t>6</a:t>
            </a:r>
          </a:p>
        </p:txBody>
      </p:sp>
      <p:sp>
        <p:nvSpPr>
          <p:cNvPr id="66" name="TextBox 65"/>
          <p:cNvSpPr txBox="1"/>
          <p:nvPr/>
        </p:nvSpPr>
        <p:spPr>
          <a:xfrm>
            <a:off x="8394192" y="4471416"/>
            <a:ext cx="2971800" cy="804672"/>
          </a:xfrm>
          <a:prstGeom prst="rect">
            <a:avLst/>
          </a:prstGeom>
          <a:noFill/>
        </p:spPr>
        <p:txBody>
          <a:bodyPr wrap="square" lIns="27432" rIns="27432" tIns="18288" bIns="0">
            <a:spAutoFit/>
          </a:bodyPr>
          <a:lstStyle/>
          <a:p>
            <a:pPr>
              <a:spcAft>
                <a:spcPts val="800"/>
              </a:spcAft>
              <a:defRPr sz="2200" b="1">
                <a:solidFill>
                  <a:srgbClr val="20354B"/>
                </a:solidFill>
                <a:latin typeface="DejaVu Sans"/>
              </a:defRPr>
            </a:pPr>
            <a:r>
              <a:t>CD va xavfsiz yetkazish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DevOps va hamkorlik</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03 / 13</a:t>
            </a:r>
          </a:p>
        </p:txBody>
      </p:sp>
      <p:sp>
        <p:nvSpPr>
          <p:cNvPr id="43" name="TextBox 42"/>
          <p:cNvSpPr txBox="1"/>
          <p:nvPr/>
        </p:nvSpPr>
        <p:spPr>
          <a:xfrm>
            <a:off x="804672" y="1865376"/>
            <a:ext cx="6537960" cy="1124712"/>
          </a:xfrm>
          <a:prstGeom prst="rect">
            <a:avLst/>
          </a:prstGeom>
          <a:noFill/>
        </p:spPr>
        <p:txBody>
          <a:bodyPr wrap="square" lIns="27432" rIns="27432" tIns="18288" bIns="0">
            <a:spAutoFit/>
          </a:bodyPr>
          <a:lstStyle/>
          <a:p>
            <a:pPr>
              <a:spcAft>
                <a:spcPts val="800"/>
              </a:spcAft>
              <a:defRPr sz="2900" b="1">
                <a:solidFill>
                  <a:srgbClr val="20354B"/>
                </a:solidFill>
                <a:latin typeface="DejaVu Sans"/>
              </a:defRPr>
            </a:pPr>
            <a:r>
              <a:t>Ishlab chiqish, yetkazish va ishlatish bir oqimdir.</a:t>
            </a:r>
          </a:p>
        </p:txBody>
      </p:sp>
      <p:sp>
        <p:nvSpPr>
          <p:cNvPr id="44" name="TextBox 43"/>
          <p:cNvSpPr txBox="1"/>
          <p:nvPr/>
        </p:nvSpPr>
        <p:spPr>
          <a:xfrm>
            <a:off x="822960" y="3273552"/>
            <a:ext cx="6428232" cy="1417320"/>
          </a:xfrm>
          <a:prstGeom prst="rect">
            <a:avLst/>
          </a:prstGeom>
          <a:noFill/>
        </p:spPr>
        <p:txBody>
          <a:bodyPr wrap="square" lIns="27432" rIns="27432" tIns="18288" bIns="0">
            <a:spAutoFit/>
          </a:bodyPr>
          <a:lstStyle/>
          <a:p>
            <a:pPr>
              <a:spcAft>
                <a:spcPts val="800"/>
              </a:spcAft>
              <a:defRPr sz="2300" b="0">
                <a:solidFill>
                  <a:srgbClr val="20354B"/>
                </a:solidFill>
                <a:latin typeface="DejaVu Sans"/>
              </a:defRPr>
            </a:pPr>
            <a:r>
              <a:t>Jamoalar umumiy javobgarlik, tez fikr-mulohaza va avtomatlashtirish orqali hamkorlik qiladi.</a:t>
            </a:r>
          </a:p>
        </p:txBody>
      </p:sp>
      <p:pic>
        <p:nvPicPr>
          <p:cNvPr id="45" name="Picture 44" descr="M16_argo.png"/>
          <p:cNvPicPr>
            <a:picLocks noChangeAspect="1"/>
          </p:cNvPicPr>
          <p:nvPr/>
        </p:nvPicPr>
        <p:blipFill>
          <a:blip r:embed="rId2"/>
          <a:stretch>
            <a:fillRect/>
          </a:stretch>
        </p:blipFill>
        <p:spPr>
          <a:xfrm>
            <a:off x="8582152" y="1883664"/>
            <a:ext cx="1827783" cy="2350008"/>
          </a:xfrm>
          <a:prstGeom prst="rect">
            <a:avLst/>
          </a:prstGeom>
        </p:spPr>
      </p:pic>
      <p:sp>
        <p:nvSpPr>
          <p:cNvPr id="46" name="Chevron 45"/>
          <p:cNvSpPr/>
          <p:nvPr/>
        </p:nvSpPr>
        <p:spPr>
          <a:xfrm>
            <a:off x="777240" y="470916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3544" y="487375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Git</a:t>
            </a:r>
          </a:p>
        </p:txBody>
      </p:sp>
      <p:sp>
        <p:nvSpPr>
          <p:cNvPr id="48" name="Chevron 47"/>
          <p:cNvSpPr/>
          <p:nvPr/>
        </p:nvSpPr>
        <p:spPr>
          <a:xfrm>
            <a:off x="3063240" y="470916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9544" y="487375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Test</a:t>
            </a:r>
          </a:p>
        </p:txBody>
      </p:sp>
      <p:sp>
        <p:nvSpPr>
          <p:cNvPr id="50" name="Chevron 49"/>
          <p:cNvSpPr/>
          <p:nvPr/>
        </p:nvSpPr>
        <p:spPr>
          <a:xfrm>
            <a:off x="5349240" y="4709160"/>
            <a:ext cx="2139696" cy="804672"/>
          </a:xfrm>
          <a:prstGeom prst="chevron">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95544" y="487375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Plan</a:t>
            </a:r>
          </a:p>
        </p:txBody>
      </p:sp>
      <p:sp>
        <p:nvSpPr>
          <p:cNvPr id="52" name="Chevron 51"/>
          <p:cNvSpPr/>
          <p:nvPr/>
        </p:nvSpPr>
        <p:spPr>
          <a:xfrm>
            <a:off x="7635240" y="470916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81544" y="487375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Apply</a:t>
            </a:r>
          </a:p>
        </p:txBody>
      </p:sp>
      <p:sp>
        <p:nvSpPr>
          <p:cNvPr id="54" name="Rectangle 53"/>
          <p:cNvSpPr/>
          <p:nvPr/>
        </p:nvSpPr>
        <p:spPr>
          <a:xfrm>
            <a:off x="9921240" y="4709160"/>
            <a:ext cx="2139696" cy="804672"/>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67544" y="487375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Monitor</a:t>
            </a:r>
          </a:p>
        </p:txBody>
      </p:sp>
      <p:sp>
        <p:nvSpPr>
          <p:cNvPr id="56" name="Rounded Rectangle 55"/>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DevOps deb nomlangan alohida lavozim mavjudligi o‘z-o‘zidan hamkorlik madaniyatini yaratmaydi.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Infrastructure as Code</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04 / 13</a:t>
            </a:r>
          </a:p>
        </p:txBody>
      </p:sp>
      <p:sp>
        <p:nvSpPr>
          <p:cNvPr id="43" name="Rectangle 42"/>
          <p:cNvSpPr/>
          <p:nvPr/>
        </p:nvSpPr>
        <p:spPr>
          <a:xfrm>
            <a:off x="795528" y="1865376"/>
            <a:ext cx="4937760" cy="3483864"/>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95528" y="1865376"/>
            <a:ext cx="4937760" cy="420624"/>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8" y="1933956"/>
            <a:ext cx="4544568" cy="292608"/>
          </a:xfrm>
          <a:prstGeom prst="rect">
            <a:avLst/>
          </a:prstGeom>
          <a:noFill/>
        </p:spPr>
        <p:txBody>
          <a:bodyPr wrap="square" lIns="27432" rIns="27432" tIns="18288" bIns="0">
            <a:spAutoFit/>
          </a:bodyPr>
          <a:lstStyle/>
          <a:p>
            <a:pPr>
              <a:spcAft>
                <a:spcPts val="800"/>
              </a:spcAft>
              <a:defRPr sz="1200" b="1">
                <a:solidFill>
                  <a:srgbClr val="FFFFFF"/>
                </a:solidFill>
                <a:latin typeface="DejaVu Sans"/>
              </a:defRPr>
            </a:pPr>
            <a:r>
              <a:t>infrastructure.tf  /  sxematik namuna</a:t>
            </a:r>
          </a:p>
        </p:txBody>
      </p:sp>
      <p:sp>
        <p:nvSpPr>
          <p:cNvPr id="46" name="TextBox 45"/>
          <p:cNvSpPr txBox="1"/>
          <p:nvPr/>
        </p:nvSpPr>
        <p:spPr>
          <a:xfrm>
            <a:off x="1024128" y="2660904"/>
            <a:ext cx="4425696" cy="2011680"/>
          </a:xfrm>
          <a:prstGeom prst="rect">
            <a:avLst/>
          </a:prstGeom>
          <a:noFill/>
        </p:spPr>
        <p:txBody>
          <a:bodyPr wrap="square" lIns="27432" rIns="27432" tIns="18288" bIns="0">
            <a:spAutoFit/>
          </a:bodyPr>
          <a:lstStyle/>
          <a:p>
            <a:pPr>
              <a:spcAft>
                <a:spcPts val="800"/>
              </a:spcAft>
              <a:defRPr sz="2700" b="1">
                <a:solidFill>
                  <a:srgbClr val="245B9E"/>
                </a:solidFill>
                <a:latin typeface="DejaVu Sans"/>
              </a:defRPr>
            </a:pPr>
            <a:r>
              <a:t>resource</a:t>
            </a:r>
          </a:p>
          <a:p>
            <a:pPr>
              <a:spcAft>
                <a:spcPts val="800"/>
              </a:spcAft>
              <a:defRPr sz="2700" b="1">
                <a:solidFill>
                  <a:srgbClr val="245B9E"/>
                </a:solidFill>
                <a:latin typeface="DejaVu Sans"/>
              </a:defRPr>
            </a:pPr>
            <a:r>
              <a:t>  tarmoq</a:t>
            </a:r>
          </a:p>
          <a:p>
            <a:pPr>
              <a:spcAft>
                <a:spcPts val="800"/>
              </a:spcAft>
              <a:defRPr sz="2700" b="1">
                <a:solidFill>
                  <a:srgbClr val="245B9E"/>
                </a:solidFill>
                <a:latin typeface="DejaVu Sans"/>
              </a:defRPr>
            </a:pPr>
            <a:r>
              <a:t>  server</a:t>
            </a:r>
          </a:p>
          <a:p>
            <a:pPr>
              <a:spcAft>
                <a:spcPts val="800"/>
              </a:spcAft>
              <a:defRPr sz="2700" b="1">
                <a:solidFill>
                  <a:srgbClr val="245B9E"/>
                </a:solidFill>
                <a:latin typeface="DejaVu Sans"/>
              </a:defRPr>
            </a:pPr>
            <a:r>
              <a:t>  ruxsatlar</a:t>
            </a:r>
          </a:p>
        </p:txBody>
      </p:sp>
      <p:sp>
        <p:nvSpPr>
          <p:cNvPr id="47" name="TextBox 46"/>
          <p:cNvSpPr txBox="1"/>
          <p:nvPr/>
        </p:nvSpPr>
        <p:spPr>
          <a:xfrm>
            <a:off x="6199632" y="1883664"/>
            <a:ext cx="5065776" cy="1097280"/>
          </a:xfrm>
          <a:prstGeom prst="rect">
            <a:avLst/>
          </a:prstGeom>
          <a:noFill/>
        </p:spPr>
        <p:txBody>
          <a:bodyPr wrap="square" lIns="27432" rIns="27432" tIns="18288" bIns="0">
            <a:spAutoFit/>
          </a:bodyPr>
          <a:lstStyle/>
          <a:p>
            <a:pPr>
              <a:spcAft>
                <a:spcPts val="800"/>
              </a:spcAft>
              <a:defRPr sz="2800" b="1">
                <a:solidFill>
                  <a:srgbClr val="20354B"/>
                </a:solidFill>
                <a:latin typeface="DejaVu Sans"/>
              </a:defRPr>
            </a:pPr>
            <a:r>
              <a:t>Infratuzilma talablari versiyalanadigan matnda yoziladi.</a:t>
            </a:r>
          </a:p>
        </p:txBody>
      </p:sp>
      <p:sp>
        <p:nvSpPr>
          <p:cNvPr id="48" name="TextBox 47"/>
          <p:cNvSpPr txBox="1"/>
          <p:nvPr/>
        </p:nvSpPr>
        <p:spPr>
          <a:xfrm>
            <a:off x="6199632" y="3346704"/>
            <a:ext cx="5065776" cy="1783080"/>
          </a:xfrm>
          <a:prstGeom prst="rect">
            <a:avLst/>
          </a:prstGeom>
          <a:noFill/>
        </p:spPr>
        <p:txBody>
          <a:bodyPr wrap="square" lIns="27432" rIns="27432" tIns="18288" bIns="0">
            <a:spAutoFit/>
          </a:bodyPr>
          <a:lstStyle/>
          <a:p>
            <a:pPr>
              <a:spcAft>
                <a:spcPts val="800"/>
              </a:spcAft>
              <a:defRPr sz="2200" b="0">
                <a:solidFill>
                  <a:srgbClr val="20354B"/>
                </a:solidFill>
                <a:latin typeface="DejaVu Sans"/>
              </a:defRPr>
            </a:pPr>
            <a:r>
              <a:t>Konfiguratsiya Git da saqlanadi, o‘zgarish muhokama qilinadi va avtomatlashtirilgan vosita orqali qo‘llanadi.</a:t>
            </a:r>
          </a:p>
        </p:txBody>
      </p:sp>
      <p:sp>
        <p:nvSpPr>
          <p:cNvPr id="49" name="Rounded Rectangle 48"/>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Kodga yozilgan noto‘g‘ri konfiguratsiya ham tez takrorlanadi; tekshiruv va tasdiq zarur.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Terraform ish jarayoni</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05 / 13</a:t>
            </a:r>
          </a:p>
        </p:txBody>
      </p:sp>
      <p:sp>
        <p:nvSpPr>
          <p:cNvPr id="43" name="TextBox 42"/>
          <p:cNvSpPr txBox="1"/>
          <p:nvPr/>
        </p:nvSpPr>
        <p:spPr>
          <a:xfrm>
            <a:off x="804672" y="1856231"/>
            <a:ext cx="10451592" cy="822960"/>
          </a:xfrm>
          <a:prstGeom prst="rect">
            <a:avLst/>
          </a:prstGeom>
          <a:noFill/>
        </p:spPr>
        <p:txBody>
          <a:bodyPr wrap="square" lIns="27432" rIns="27432" tIns="18288" bIns="0">
            <a:spAutoFit/>
          </a:bodyPr>
          <a:lstStyle/>
          <a:p>
            <a:pPr>
              <a:spcAft>
                <a:spcPts val="800"/>
              </a:spcAft>
              <a:defRPr sz="3100" b="1">
                <a:solidFill>
                  <a:srgbClr val="245B9E"/>
                </a:solidFill>
                <a:latin typeface="DejaVu Sans"/>
              </a:defRPr>
            </a:pPr>
            <a:r>
              <a:t>init → plan → apply → tekshirish.</a:t>
            </a:r>
          </a:p>
        </p:txBody>
      </p:sp>
      <p:sp>
        <p:nvSpPr>
          <p:cNvPr id="44" name="Chevron 43"/>
          <p:cNvSpPr/>
          <p:nvPr/>
        </p:nvSpPr>
        <p:spPr>
          <a:xfrm>
            <a:off x="777240" y="301752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 y="318211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Git</a:t>
            </a:r>
          </a:p>
        </p:txBody>
      </p:sp>
      <p:sp>
        <p:nvSpPr>
          <p:cNvPr id="46" name="Chevron 45"/>
          <p:cNvSpPr/>
          <p:nvPr/>
        </p:nvSpPr>
        <p:spPr>
          <a:xfrm>
            <a:off x="3063240" y="301752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9544" y="318211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Test</a:t>
            </a:r>
          </a:p>
        </p:txBody>
      </p:sp>
      <p:sp>
        <p:nvSpPr>
          <p:cNvPr id="48" name="Chevron 47"/>
          <p:cNvSpPr/>
          <p:nvPr/>
        </p:nvSpPr>
        <p:spPr>
          <a:xfrm>
            <a:off x="5349240" y="3017520"/>
            <a:ext cx="2139696" cy="804672"/>
          </a:xfrm>
          <a:prstGeom prst="chevron">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95544" y="318211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Plan</a:t>
            </a:r>
          </a:p>
        </p:txBody>
      </p:sp>
      <p:sp>
        <p:nvSpPr>
          <p:cNvPr id="50" name="Chevron 49"/>
          <p:cNvSpPr/>
          <p:nvPr/>
        </p:nvSpPr>
        <p:spPr>
          <a:xfrm>
            <a:off x="7635240" y="3017520"/>
            <a:ext cx="2139696" cy="804672"/>
          </a:xfrm>
          <a:prstGeom prst="chevron">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81544" y="318211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Apply</a:t>
            </a:r>
          </a:p>
        </p:txBody>
      </p:sp>
      <p:sp>
        <p:nvSpPr>
          <p:cNvPr id="52" name="Rectangle 51"/>
          <p:cNvSpPr/>
          <p:nvPr/>
        </p:nvSpPr>
        <p:spPr>
          <a:xfrm>
            <a:off x="9921240" y="3017520"/>
            <a:ext cx="2139696" cy="804672"/>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67544" y="3182112"/>
            <a:ext cx="1773936" cy="457200"/>
          </a:xfrm>
          <a:prstGeom prst="rect">
            <a:avLst/>
          </a:prstGeom>
          <a:noFill/>
        </p:spPr>
        <p:txBody>
          <a:bodyPr wrap="square" lIns="27432" rIns="27432" tIns="18288" bIns="0">
            <a:spAutoFit/>
          </a:bodyPr>
          <a:lstStyle/>
          <a:p>
            <a:pPr algn="ctr">
              <a:spcAft>
                <a:spcPts val="800"/>
              </a:spcAft>
              <a:defRPr sz="2100" b="1">
                <a:solidFill>
                  <a:srgbClr val="FFFFFF"/>
                </a:solidFill>
                <a:latin typeface="DejaVu Sans"/>
              </a:defRPr>
            </a:pPr>
            <a:r>
              <a:t>Monitor</a:t>
            </a:r>
          </a:p>
        </p:txBody>
      </p:sp>
      <p:sp>
        <p:nvSpPr>
          <p:cNvPr id="54" name="Rectangle 53"/>
          <p:cNvSpPr/>
          <p:nvPr/>
        </p:nvSpPr>
        <p:spPr>
          <a:xfrm>
            <a:off x="822960" y="4279392"/>
            <a:ext cx="10515600" cy="978408"/>
          </a:xfrm>
          <a:prstGeom prst="rect">
            <a:avLst/>
          </a:prstGeom>
          <a:solidFill>
            <a:srgbClr val="FDEEEE"/>
          </a:solidFill>
          <a:ln>
            <a:solidFill>
              <a:srgbClr val="D94D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560" y="4462272"/>
            <a:ext cx="10058400" cy="667512"/>
          </a:xfrm>
          <a:prstGeom prst="rect">
            <a:avLst/>
          </a:prstGeom>
          <a:noFill/>
        </p:spPr>
        <p:txBody>
          <a:bodyPr wrap="square" lIns="27432" rIns="27432" tIns="18288" bIns="0">
            <a:spAutoFit/>
          </a:bodyPr>
          <a:lstStyle/>
          <a:p>
            <a:pPr>
              <a:spcAft>
                <a:spcPts val="800"/>
              </a:spcAft>
              <a:defRPr sz="2400" b="1">
                <a:solidFill>
                  <a:srgbClr val="20354B"/>
                </a:solidFill>
                <a:latin typeface="DejaVu Sans"/>
              </a:defRPr>
            </a:pPr>
            <a:r>
              <a:t>Plan — o‘zgarishni oldindan ko‘rish; apply — ko‘rib chiqilgan rejani bajarish.</a:t>
            </a:r>
          </a:p>
        </p:txBody>
      </p:sp>
      <p:sp>
        <p:nvSpPr>
          <p:cNvPr id="56" name="Rounded Rectangle 55"/>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Plan natijasini ko‘rmasdan apply bajarish muhim ma’lumotni yo‘qotishga olib kelishi mumkin.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State, drift va sirlar</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06 / 13</a:t>
            </a:r>
          </a:p>
        </p:txBody>
      </p:sp>
      <p:sp>
        <p:nvSpPr>
          <p:cNvPr id="43" name="Rectangle 42"/>
          <p:cNvSpPr/>
          <p:nvPr/>
        </p:nvSpPr>
        <p:spPr>
          <a:xfrm>
            <a:off x="822960" y="1856231"/>
            <a:ext cx="5257800" cy="3429000"/>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4128" y="2048256"/>
            <a:ext cx="4818888" cy="512064"/>
          </a:xfrm>
          <a:prstGeom prst="rect">
            <a:avLst/>
          </a:prstGeom>
          <a:noFill/>
        </p:spPr>
        <p:txBody>
          <a:bodyPr wrap="square" lIns="27432" rIns="27432" tIns="18288" bIns="0">
            <a:spAutoFit/>
          </a:bodyPr>
          <a:lstStyle/>
          <a:p>
            <a:pPr>
              <a:spcAft>
                <a:spcPts val="800"/>
              </a:spcAft>
              <a:defRPr sz="3000" b="1">
                <a:solidFill>
                  <a:srgbClr val="245B9E"/>
                </a:solidFill>
                <a:latin typeface="DejaVu Sans"/>
              </a:defRPr>
            </a:pPr>
            <a:r>
              <a:t>State</a:t>
            </a:r>
          </a:p>
        </p:txBody>
      </p:sp>
      <p:sp>
        <p:nvSpPr>
          <p:cNvPr id="45" name="TextBox 44"/>
          <p:cNvSpPr txBox="1"/>
          <p:nvPr/>
        </p:nvSpPr>
        <p:spPr>
          <a:xfrm>
            <a:off x="1024128" y="2999232"/>
            <a:ext cx="4818888" cy="1892807"/>
          </a:xfrm>
          <a:prstGeom prst="rect">
            <a:avLst/>
          </a:prstGeom>
          <a:noFill/>
        </p:spPr>
        <p:txBody>
          <a:bodyPr wrap="square" lIns="27432" rIns="27432" tIns="18288" bIns="0">
            <a:spAutoFit/>
          </a:bodyPr>
          <a:lstStyle/>
          <a:p>
            <a:pPr>
              <a:spcAft>
                <a:spcPts val="800"/>
              </a:spcAft>
              <a:defRPr sz="2300" b="0">
                <a:solidFill>
                  <a:srgbClr val="20354B"/>
                </a:solidFill>
                <a:latin typeface="DejaVu Sans"/>
              </a:defRPr>
            </a:pPr>
            <a:r>
              <a:t>Terraform state boshqarilayotgan obyektlar bilan konfiguratsiya o‘rtasidagi moslikni saqlaydi.</a:t>
            </a:r>
          </a:p>
        </p:txBody>
      </p:sp>
      <p:sp>
        <p:nvSpPr>
          <p:cNvPr id="46" name="Rectangle 45"/>
          <p:cNvSpPr/>
          <p:nvPr/>
        </p:nvSpPr>
        <p:spPr>
          <a:xfrm>
            <a:off x="6355080" y="1856231"/>
            <a:ext cx="5257800" cy="3429000"/>
          </a:xfrm>
          <a:prstGeom prst="rect">
            <a:avLst/>
          </a:prstGeom>
          <a:solidFill>
            <a:srgbClr val="FFFFFF"/>
          </a:solidFill>
          <a:ln>
            <a:solidFill>
              <a:srgbClr val="245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56248" y="2048256"/>
            <a:ext cx="4818888" cy="512064"/>
          </a:xfrm>
          <a:prstGeom prst="rect">
            <a:avLst/>
          </a:prstGeom>
          <a:noFill/>
        </p:spPr>
        <p:txBody>
          <a:bodyPr wrap="square" lIns="27432" rIns="27432" tIns="18288" bIns="0">
            <a:spAutoFit/>
          </a:bodyPr>
          <a:lstStyle/>
          <a:p>
            <a:pPr>
              <a:spcAft>
                <a:spcPts val="800"/>
              </a:spcAft>
              <a:defRPr sz="3000" b="1">
                <a:solidFill>
                  <a:srgbClr val="D94D4D"/>
                </a:solidFill>
                <a:latin typeface="DejaVu Sans"/>
              </a:defRPr>
            </a:pPr>
            <a:r>
              <a:t>Drift</a:t>
            </a:r>
          </a:p>
        </p:txBody>
      </p:sp>
      <p:sp>
        <p:nvSpPr>
          <p:cNvPr id="48" name="TextBox 47"/>
          <p:cNvSpPr txBox="1"/>
          <p:nvPr/>
        </p:nvSpPr>
        <p:spPr>
          <a:xfrm>
            <a:off x="6556248" y="2999232"/>
            <a:ext cx="4818888" cy="1892807"/>
          </a:xfrm>
          <a:prstGeom prst="rect">
            <a:avLst/>
          </a:prstGeom>
          <a:noFill/>
        </p:spPr>
        <p:txBody>
          <a:bodyPr wrap="square" lIns="27432" rIns="27432" tIns="18288" bIns="0">
            <a:spAutoFit/>
          </a:bodyPr>
          <a:lstStyle/>
          <a:p>
            <a:pPr>
              <a:spcAft>
                <a:spcPts val="800"/>
              </a:spcAft>
              <a:defRPr sz="2300" b="0">
                <a:solidFill>
                  <a:srgbClr val="20354B"/>
                </a:solidFill>
                <a:latin typeface="DejaVu Sans"/>
              </a:defRPr>
            </a:pPr>
            <a:r>
              <a:t>Jamoa himoyalangan remote backend va qo‘llab-quvvatlanadigan locking mexanizmidan foydalanadi.</a:t>
            </a:r>
          </a:p>
        </p:txBody>
      </p:sp>
      <p:sp>
        <p:nvSpPr>
          <p:cNvPr id="49" name="Rounded Rectangle 48"/>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sensitive belgisi qiymatning barcha saqlash joylaridan yo‘qolishini anglatmaydi; state ham himoyalanadi.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CI: uzluksiz integratsiya</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07 / 13</a:t>
            </a:r>
          </a:p>
        </p:txBody>
      </p:sp>
      <p:sp>
        <p:nvSpPr>
          <p:cNvPr id="43" name="TextBox 42"/>
          <p:cNvSpPr txBox="1"/>
          <p:nvPr/>
        </p:nvSpPr>
        <p:spPr>
          <a:xfrm>
            <a:off x="822960" y="1856231"/>
            <a:ext cx="10424160" cy="914400"/>
          </a:xfrm>
          <a:prstGeom prst="rect">
            <a:avLst/>
          </a:prstGeom>
          <a:noFill/>
        </p:spPr>
        <p:txBody>
          <a:bodyPr wrap="square" lIns="27432" rIns="27432" tIns="18288" bIns="0">
            <a:spAutoFit/>
          </a:bodyPr>
          <a:lstStyle/>
          <a:p>
            <a:pPr>
              <a:spcAft>
                <a:spcPts val="800"/>
              </a:spcAft>
              <a:defRPr sz="2800" b="1">
                <a:solidFill>
                  <a:srgbClr val="20354B"/>
                </a:solidFill>
                <a:latin typeface="DejaVu Sans"/>
              </a:defRPr>
            </a:pPr>
            <a:r>
              <a:t>Kod birlashmasidan oldin avtomatik tekshiruvlar.</a:t>
            </a:r>
          </a:p>
        </p:txBody>
      </p:sp>
      <p:sp>
        <p:nvSpPr>
          <p:cNvPr id="44" name="Rounded Rectangle 43"/>
          <p:cNvSpPr/>
          <p:nvPr/>
        </p:nvSpPr>
        <p:spPr>
          <a:xfrm>
            <a:off x="822960" y="3145536"/>
            <a:ext cx="5047488" cy="2112264"/>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3291840"/>
            <a:ext cx="4681727" cy="365760"/>
          </a:xfrm>
          <a:prstGeom prst="rect">
            <a:avLst/>
          </a:prstGeom>
          <a:noFill/>
        </p:spPr>
        <p:txBody>
          <a:bodyPr wrap="square" lIns="27432" rIns="27432" tIns="18288" bIns="0">
            <a:spAutoFit/>
          </a:bodyPr>
          <a:lstStyle/>
          <a:p>
            <a:pPr>
              <a:spcAft>
                <a:spcPts val="800"/>
              </a:spcAft>
              <a:defRPr sz="1400" b="1">
                <a:solidFill>
                  <a:srgbClr val="245B9E"/>
                </a:solidFill>
                <a:latin typeface="DejaVu Sans"/>
              </a:defRPr>
            </a:pPr>
            <a:r>
              <a:t>ISH JARAYONI</a:t>
            </a:r>
          </a:p>
        </p:txBody>
      </p:sp>
      <p:sp>
        <p:nvSpPr>
          <p:cNvPr id="46" name="TextBox 45"/>
          <p:cNvSpPr txBox="1"/>
          <p:nvPr/>
        </p:nvSpPr>
        <p:spPr>
          <a:xfrm>
            <a:off x="1005840" y="3767328"/>
            <a:ext cx="4681727" cy="1380744"/>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Commit yoki pull request pipeline ni boshlaydi. Bog‘liqliklar o‘rnatiladi, testlar ishlaydi va image yaratiladi.</a:t>
            </a:r>
          </a:p>
        </p:txBody>
      </p:sp>
      <p:sp>
        <p:nvSpPr>
          <p:cNvPr id="47" name="Rounded Rectangle 46"/>
          <p:cNvSpPr/>
          <p:nvPr/>
        </p:nvSpPr>
        <p:spPr>
          <a:xfrm>
            <a:off x="6190488" y="3145536"/>
            <a:ext cx="5129784" cy="2112264"/>
          </a:xfrm>
          <a:prstGeom prst="roundRect">
            <a:avLst>
              <a:gd name="adj" fmla="val 8000"/>
            </a:avLst>
          </a:prstGeom>
          <a:solidFill>
            <a:srgbClr val="F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291840"/>
            <a:ext cx="4764024" cy="365760"/>
          </a:xfrm>
          <a:prstGeom prst="rect">
            <a:avLst/>
          </a:prstGeom>
          <a:noFill/>
        </p:spPr>
        <p:txBody>
          <a:bodyPr wrap="square" lIns="27432" rIns="27432" tIns="18288" bIns="0">
            <a:spAutoFit/>
          </a:bodyPr>
          <a:lstStyle/>
          <a:p>
            <a:pPr>
              <a:spcAft>
                <a:spcPts val="800"/>
              </a:spcAft>
              <a:defRPr sz="1400" b="1">
                <a:solidFill>
                  <a:srgbClr val="D94D4D"/>
                </a:solidFill>
                <a:latin typeface="DejaVu Sans"/>
              </a:defRPr>
            </a:pPr>
            <a:r>
              <a:t>REAL MISOL</a:t>
            </a:r>
          </a:p>
        </p:txBody>
      </p:sp>
      <p:sp>
        <p:nvSpPr>
          <p:cNvPr id="49" name="TextBox 48"/>
          <p:cNvSpPr txBox="1"/>
          <p:nvPr/>
        </p:nvSpPr>
        <p:spPr>
          <a:xfrm>
            <a:off x="6373368" y="3767328"/>
            <a:ext cx="4764024" cy="1380744"/>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Portal image i bir marta yaratiladi va sinovdan o‘tgan aynan shu versiya joylashtiriladi.</a:t>
            </a:r>
          </a:p>
        </p:txBody>
      </p:sp>
      <p:sp>
        <p:nvSpPr>
          <p:cNvPr id="50" name="Rounded Rectangle 49"/>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Testlarning muvaffaqiyati barcha real xatolar yo‘qligini kafolatlamaydi; test qamrovi va kuzatuv muhim.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CD va xavfsiz yetkazish</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08 / 13</a:t>
            </a:r>
          </a:p>
        </p:txBody>
      </p:sp>
      <p:sp>
        <p:nvSpPr>
          <p:cNvPr id="43" name="TextBox 42"/>
          <p:cNvSpPr txBox="1"/>
          <p:nvPr/>
        </p:nvSpPr>
        <p:spPr>
          <a:xfrm>
            <a:off x="822960" y="1856231"/>
            <a:ext cx="10424160" cy="914400"/>
          </a:xfrm>
          <a:prstGeom prst="rect">
            <a:avLst/>
          </a:prstGeom>
          <a:noFill/>
        </p:spPr>
        <p:txBody>
          <a:bodyPr wrap="square" lIns="27432" rIns="27432" tIns="18288" bIns="0">
            <a:spAutoFit/>
          </a:bodyPr>
          <a:lstStyle/>
          <a:p>
            <a:pPr>
              <a:spcAft>
                <a:spcPts val="800"/>
              </a:spcAft>
              <a:defRPr sz="2800" b="1">
                <a:solidFill>
                  <a:srgbClr val="20354B"/>
                </a:solidFill>
                <a:latin typeface="DejaVu Sans"/>
              </a:defRPr>
            </a:pPr>
            <a:r>
              <a:t>Delivery — tayyorlash; deployment — avtomatik chiqarish.</a:t>
            </a:r>
          </a:p>
        </p:txBody>
      </p:sp>
      <p:sp>
        <p:nvSpPr>
          <p:cNvPr id="44" name="Rounded Rectangle 43"/>
          <p:cNvSpPr/>
          <p:nvPr/>
        </p:nvSpPr>
        <p:spPr>
          <a:xfrm>
            <a:off x="822960" y="3145536"/>
            <a:ext cx="5047488" cy="2112264"/>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3291840"/>
            <a:ext cx="4681727" cy="365760"/>
          </a:xfrm>
          <a:prstGeom prst="rect">
            <a:avLst/>
          </a:prstGeom>
          <a:noFill/>
        </p:spPr>
        <p:txBody>
          <a:bodyPr wrap="square" lIns="27432" rIns="27432" tIns="18288" bIns="0">
            <a:spAutoFit/>
          </a:bodyPr>
          <a:lstStyle/>
          <a:p>
            <a:pPr>
              <a:spcAft>
                <a:spcPts val="800"/>
              </a:spcAft>
              <a:defRPr sz="1400" b="1">
                <a:solidFill>
                  <a:srgbClr val="245B9E"/>
                </a:solidFill>
                <a:latin typeface="DejaVu Sans"/>
              </a:defRPr>
            </a:pPr>
            <a:r>
              <a:t>ISH JARAYONI</a:t>
            </a:r>
          </a:p>
        </p:txBody>
      </p:sp>
      <p:sp>
        <p:nvSpPr>
          <p:cNvPr id="46" name="TextBox 45"/>
          <p:cNvSpPr txBox="1"/>
          <p:nvPr/>
        </p:nvSpPr>
        <p:spPr>
          <a:xfrm>
            <a:off x="1005840" y="3767328"/>
            <a:ext cx="4681727" cy="1380744"/>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Yangi versiya test muhitiga chiqadi, smoke tekshiruvi bajariladi va tegishli siyosat bilan asosiy muhitga o‘tadi.</a:t>
            </a:r>
          </a:p>
        </p:txBody>
      </p:sp>
      <p:sp>
        <p:nvSpPr>
          <p:cNvPr id="47" name="Rounded Rectangle 46"/>
          <p:cNvSpPr/>
          <p:nvPr/>
        </p:nvSpPr>
        <p:spPr>
          <a:xfrm>
            <a:off x="6190488" y="3145536"/>
            <a:ext cx="5129784" cy="2112264"/>
          </a:xfrm>
          <a:prstGeom prst="roundRect">
            <a:avLst>
              <a:gd name="adj" fmla="val 8000"/>
            </a:avLst>
          </a:prstGeom>
          <a:solidFill>
            <a:srgbClr val="FDF1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291840"/>
            <a:ext cx="4764024" cy="365760"/>
          </a:xfrm>
          <a:prstGeom prst="rect">
            <a:avLst/>
          </a:prstGeom>
          <a:noFill/>
        </p:spPr>
        <p:txBody>
          <a:bodyPr wrap="square" lIns="27432" rIns="27432" tIns="18288" bIns="0">
            <a:spAutoFit/>
          </a:bodyPr>
          <a:lstStyle/>
          <a:p>
            <a:pPr>
              <a:spcAft>
                <a:spcPts val="800"/>
              </a:spcAft>
              <a:defRPr sz="1400" b="1">
                <a:solidFill>
                  <a:srgbClr val="D94D4D"/>
                </a:solidFill>
                <a:latin typeface="DejaVu Sans"/>
              </a:defRPr>
            </a:pPr>
            <a:r>
              <a:t>REAL MISOL</a:t>
            </a:r>
          </a:p>
        </p:txBody>
      </p:sp>
      <p:sp>
        <p:nvSpPr>
          <p:cNvPr id="49" name="TextBox 48"/>
          <p:cNvSpPr txBox="1"/>
          <p:nvPr/>
        </p:nvSpPr>
        <p:spPr>
          <a:xfrm>
            <a:off x="6373368" y="3767328"/>
            <a:ext cx="4764024" cy="1380744"/>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Avval trafikning kichik qismi yangi portalga beriladi. Xatolar oshsa eski versiyaga qaytariladi.</a:t>
            </a:r>
          </a:p>
        </p:txBody>
      </p:sp>
      <p:sp>
        <p:nvSpPr>
          <p:cNvPr id="50" name="Rounded Rectangle 49"/>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Ilovani qaytarish baza sxemasini avtomatik orqaga qaytarmaydi; migratsiya mosligi oldindan rejalashtiriladi.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O‘zgarishdan kuzatuvgacha bo‘lgan pipeline</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09 / 13</a:t>
            </a:r>
          </a:p>
        </p:txBody>
      </p:sp>
      <p:cxnSp>
        <p:nvCxnSpPr>
          <p:cNvPr id="43" name="Connector 42"/>
          <p:cNvCxnSpPr/>
          <p:nvPr/>
        </p:nvCxnSpPr>
        <p:spPr>
          <a:xfrm>
            <a:off x="3474720" y="2331720"/>
            <a:ext cx="777240" cy="0"/>
          </a:xfrm>
          <a:prstGeom prst="line">
            <a:avLst/>
          </a:prstGeom>
          <a:ln w="25400">
            <a:solidFill>
              <a:srgbClr val="245B9E"/>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995160" y="2331720"/>
            <a:ext cx="777240" cy="0"/>
          </a:xfrm>
          <a:prstGeom prst="line">
            <a:avLst/>
          </a:prstGeom>
          <a:ln w="25400">
            <a:solidFill>
              <a:srgbClr val="245B9E"/>
            </a:solidFill>
            <a:tail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3931920" y="2816352"/>
            <a:ext cx="5212080" cy="1161287"/>
          </a:xfrm>
          <a:prstGeom prst="line">
            <a:avLst/>
          </a:prstGeom>
          <a:ln w="25400">
            <a:solidFill>
              <a:srgbClr val="245B9E"/>
            </a:solidFill>
            <a:tail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303520" y="4434840"/>
            <a:ext cx="1554480" cy="0"/>
          </a:xfrm>
          <a:prstGeom prst="line">
            <a:avLst/>
          </a:prstGeom>
          <a:ln w="25400">
            <a:solidFill>
              <a:srgbClr val="245B9E"/>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31520" y="1874519"/>
            <a:ext cx="2743200" cy="941832"/>
          </a:xfrm>
          <a:prstGeom prst="roundRect">
            <a:avLst>
              <a:gd name="adj" fmla="val 8000"/>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8" y="2011679"/>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Git / pull request</a:t>
            </a:r>
          </a:p>
        </p:txBody>
      </p:sp>
      <p:sp>
        <p:nvSpPr>
          <p:cNvPr id="49" name="Rounded Rectangle 48"/>
          <p:cNvSpPr/>
          <p:nvPr/>
        </p:nvSpPr>
        <p:spPr>
          <a:xfrm>
            <a:off x="4251960" y="1874519"/>
            <a:ext cx="2743200" cy="94183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61688" y="2011679"/>
            <a:ext cx="2523744" cy="685800"/>
          </a:xfrm>
          <a:prstGeom prst="rect">
            <a:avLst/>
          </a:prstGeom>
          <a:noFill/>
        </p:spPr>
        <p:txBody>
          <a:bodyPr wrap="square" lIns="27432" rIns="27432" tIns="18288" bIns="0">
            <a:spAutoFit/>
          </a:bodyPr>
          <a:lstStyle/>
          <a:p>
            <a:pPr>
              <a:spcAft>
                <a:spcPts val="800"/>
              </a:spcAft>
              <a:defRPr sz="1700" b="1">
                <a:solidFill>
                  <a:srgbClr val="20354B"/>
                </a:solidFill>
                <a:latin typeface="DejaVu Sans"/>
              </a:defRPr>
            </a:pPr>
            <a:r>
              <a:t>CI va test</a:t>
            </a:r>
          </a:p>
        </p:txBody>
      </p:sp>
      <p:sp>
        <p:nvSpPr>
          <p:cNvPr id="51" name="Rounded Rectangle 50"/>
          <p:cNvSpPr/>
          <p:nvPr/>
        </p:nvSpPr>
        <p:spPr>
          <a:xfrm>
            <a:off x="7772400" y="1874519"/>
            <a:ext cx="2743200" cy="94183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82127" y="2011679"/>
            <a:ext cx="2523744" cy="685800"/>
          </a:xfrm>
          <a:prstGeom prst="rect">
            <a:avLst/>
          </a:prstGeom>
          <a:noFill/>
        </p:spPr>
        <p:txBody>
          <a:bodyPr wrap="square" lIns="27432" rIns="27432" tIns="18288" bIns="0">
            <a:spAutoFit/>
          </a:bodyPr>
          <a:lstStyle/>
          <a:p>
            <a:pPr>
              <a:spcAft>
                <a:spcPts val="800"/>
              </a:spcAft>
              <a:defRPr sz="1700" b="1">
                <a:solidFill>
                  <a:srgbClr val="20354B"/>
                </a:solidFill>
                <a:latin typeface="DejaVu Sans"/>
              </a:defRPr>
            </a:pPr>
            <a:r>
              <a:t>Terraform plan</a:t>
            </a:r>
          </a:p>
        </p:txBody>
      </p:sp>
      <p:sp>
        <p:nvSpPr>
          <p:cNvPr id="53" name="Rounded Rectangle 52"/>
          <p:cNvSpPr/>
          <p:nvPr/>
        </p:nvSpPr>
        <p:spPr>
          <a:xfrm>
            <a:off x="2560320" y="3977639"/>
            <a:ext cx="2743200" cy="94183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670048" y="4114800"/>
            <a:ext cx="2523744" cy="685800"/>
          </a:xfrm>
          <a:prstGeom prst="rect">
            <a:avLst/>
          </a:prstGeom>
          <a:noFill/>
        </p:spPr>
        <p:txBody>
          <a:bodyPr wrap="square" lIns="27432" rIns="27432" tIns="18288" bIns="0">
            <a:spAutoFit/>
          </a:bodyPr>
          <a:lstStyle/>
          <a:p>
            <a:pPr>
              <a:spcAft>
                <a:spcPts val="800"/>
              </a:spcAft>
              <a:defRPr sz="1700" b="1">
                <a:solidFill>
                  <a:srgbClr val="20354B"/>
                </a:solidFill>
                <a:latin typeface="DejaVu Sans"/>
              </a:defRPr>
            </a:pPr>
            <a:r>
              <a:t>Tasdiq → apply</a:t>
            </a:r>
          </a:p>
        </p:txBody>
      </p:sp>
      <p:sp>
        <p:nvSpPr>
          <p:cNvPr id="55" name="Rounded Rectangle 54"/>
          <p:cNvSpPr/>
          <p:nvPr/>
        </p:nvSpPr>
        <p:spPr>
          <a:xfrm>
            <a:off x="6858000" y="3977639"/>
            <a:ext cx="2743200" cy="94183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67728" y="4114800"/>
            <a:ext cx="2523744" cy="685800"/>
          </a:xfrm>
          <a:prstGeom prst="rect">
            <a:avLst/>
          </a:prstGeom>
          <a:noFill/>
        </p:spPr>
        <p:txBody>
          <a:bodyPr wrap="square" lIns="27432" rIns="27432" tIns="18288" bIns="0">
            <a:spAutoFit/>
          </a:bodyPr>
          <a:lstStyle/>
          <a:p>
            <a:pPr>
              <a:spcAft>
                <a:spcPts val="800"/>
              </a:spcAft>
              <a:defRPr sz="1700" b="1">
                <a:solidFill>
                  <a:srgbClr val="20354B"/>
                </a:solidFill>
                <a:latin typeface="DejaVu Sans"/>
              </a:defRPr>
            </a:pPr>
            <a:r>
              <a:t>Monitoring</a:t>
            </a:r>
          </a:p>
        </p:txBody>
      </p:sp>
      <p:sp>
        <p:nvSpPr>
          <p:cNvPr id="57" name="TextBox 56"/>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20354B"/>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Universitet misoli: muhitlar orasidagi farq</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10 / 13</a:t>
            </a:r>
          </a:p>
        </p:txBody>
      </p:sp>
      <p:sp>
        <p:nvSpPr>
          <p:cNvPr id="43" name="TextBox 42"/>
          <p:cNvSpPr txBox="1"/>
          <p:nvPr/>
        </p:nvSpPr>
        <p:spPr>
          <a:xfrm>
            <a:off x="822960" y="1847088"/>
            <a:ext cx="10451592" cy="1755648"/>
          </a:xfrm>
          <a:prstGeom prst="rect">
            <a:avLst/>
          </a:prstGeom>
          <a:noFill/>
        </p:spPr>
        <p:txBody>
          <a:bodyPr wrap="square" lIns="27432" rIns="27432" tIns="18288" bIns="0">
            <a:spAutoFit/>
          </a:bodyPr>
          <a:lstStyle/>
          <a:p>
            <a:pPr>
              <a:spcAft>
                <a:spcPts val="800"/>
              </a:spcAft>
              <a:defRPr sz="2700" b="0">
                <a:solidFill>
                  <a:srgbClr val="20354B"/>
                </a:solidFill>
                <a:latin typeface="DejaVu Sans"/>
              </a:defRPr>
            </a:pPr>
            <a:r>
              <a:t>Portalning test va asosiy muhitlari qo‘lda yaratilgani uchun bir-biridan farq qiladi. IaC konfiguratsiyani versiyalash, CI/CD esa tekshirilgan o‘zgarishlarni izchil yetkazish orqali bu farqni kamaytiradi.</a:t>
            </a:r>
          </a:p>
        </p:txBody>
      </p:sp>
      <p:sp>
        <p:nvSpPr>
          <p:cNvPr id="44" name="Rounded Rectangle 43"/>
          <p:cNvSpPr/>
          <p:nvPr/>
        </p:nvSpPr>
        <p:spPr>
          <a:xfrm>
            <a:off x="822960" y="4032504"/>
            <a:ext cx="5029200" cy="1481328"/>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4178808"/>
            <a:ext cx="4663440" cy="365760"/>
          </a:xfrm>
          <a:prstGeom prst="rect">
            <a:avLst/>
          </a:prstGeom>
          <a:noFill/>
        </p:spPr>
        <p:txBody>
          <a:bodyPr wrap="square" lIns="27432" rIns="27432" tIns="18288" bIns="0">
            <a:spAutoFit/>
          </a:bodyPr>
          <a:lstStyle/>
          <a:p>
            <a:pPr>
              <a:spcAft>
                <a:spcPts val="800"/>
              </a:spcAft>
              <a:defRPr sz="1400" b="1">
                <a:solidFill>
                  <a:srgbClr val="245B9E"/>
                </a:solidFill>
                <a:latin typeface="DejaVu Sans"/>
              </a:defRPr>
            </a:pPr>
            <a:r>
              <a:t>IAC</a:t>
            </a:r>
          </a:p>
        </p:txBody>
      </p:sp>
      <p:sp>
        <p:nvSpPr>
          <p:cNvPr id="46" name="TextBox 45"/>
          <p:cNvSpPr txBox="1"/>
          <p:nvPr/>
        </p:nvSpPr>
        <p:spPr>
          <a:xfrm>
            <a:off x="1005840" y="4654296"/>
            <a:ext cx="4663440" cy="749808"/>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Muhitni takrorlanadigan ta’rifdan yaratish.</a:t>
            </a:r>
          </a:p>
        </p:txBody>
      </p:sp>
      <p:sp>
        <p:nvSpPr>
          <p:cNvPr id="47" name="Rounded Rectangle 46"/>
          <p:cNvSpPr/>
          <p:nvPr/>
        </p:nvSpPr>
        <p:spPr>
          <a:xfrm>
            <a:off x="6199632" y="4032504"/>
            <a:ext cx="5120640" cy="1481328"/>
          </a:xfrm>
          <a:prstGeom prst="roundRect">
            <a:avLst>
              <a:gd name="adj" fmla="val 8000"/>
            </a:avLst>
          </a:prstGeom>
          <a:solidFill>
            <a:srgbClr val="FD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82512" y="4178808"/>
            <a:ext cx="4754879" cy="365760"/>
          </a:xfrm>
          <a:prstGeom prst="rect">
            <a:avLst/>
          </a:prstGeom>
          <a:noFill/>
        </p:spPr>
        <p:txBody>
          <a:bodyPr wrap="square" lIns="27432" rIns="27432" tIns="18288" bIns="0">
            <a:spAutoFit/>
          </a:bodyPr>
          <a:lstStyle/>
          <a:p>
            <a:pPr>
              <a:spcAft>
                <a:spcPts val="800"/>
              </a:spcAft>
              <a:defRPr sz="1400" b="1">
                <a:solidFill>
                  <a:srgbClr val="D94D4D"/>
                </a:solidFill>
                <a:latin typeface="DejaVu Sans"/>
              </a:defRPr>
            </a:pPr>
            <a:r>
              <a:t>CI/CD</a:t>
            </a:r>
          </a:p>
        </p:txBody>
      </p:sp>
      <p:sp>
        <p:nvSpPr>
          <p:cNvPr id="49" name="TextBox 48"/>
          <p:cNvSpPr txBox="1"/>
          <p:nvPr/>
        </p:nvSpPr>
        <p:spPr>
          <a:xfrm>
            <a:off x="6382512" y="4654296"/>
            <a:ext cx="4754879" cy="749808"/>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Tekshirilgan versiyani izchil yetkazish.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Avtomatlashtirishdagi xavfli taxminlar</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11 / 13</a:t>
            </a:r>
          </a:p>
        </p:txBody>
      </p:sp>
      <p:sp>
        <p:nvSpPr>
          <p:cNvPr id="43" name="Rectangle 42"/>
          <p:cNvSpPr/>
          <p:nvPr/>
        </p:nvSpPr>
        <p:spPr>
          <a:xfrm>
            <a:off x="731520" y="1737360"/>
            <a:ext cx="512064" cy="1152144"/>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 y="192024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1</a:t>
            </a:r>
          </a:p>
        </p:txBody>
      </p:sp>
      <p:sp>
        <p:nvSpPr>
          <p:cNvPr id="45" name="TextBox 44"/>
          <p:cNvSpPr txBox="1"/>
          <p:nvPr/>
        </p:nvSpPr>
        <p:spPr>
          <a:xfrm>
            <a:off x="1444752" y="1773936"/>
            <a:ext cx="3063240" cy="1124712"/>
          </a:xfrm>
          <a:prstGeom prst="rect">
            <a:avLst/>
          </a:prstGeom>
          <a:noFill/>
        </p:spPr>
        <p:txBody>
          <a:bodyPr wrap="square" lIns="27432" rIns="27432" tIns="18288" bIns="0">
            <a:spAutoFit/>
          </a:bodyPr>
          <a:lstStyle/>
          <a:p>
            <a:pPr>
              <a:spcAft>
                <a:spcPts val="800"/>
              </a:spcAft>
              <a:defRPr sz="2100" b="1">
                <a:solidFill>
                  <a:srgbClr val="20354B"/>
                </a:solidFill>
                <a:latin typeface="DejaVu Sans"/>
              </a:defRPr>
            </a:pPr>
            <a:r>
              <a:t>DevOps va hamkorlik</a:t>
            </a:r>
          </a:p>
        </p:txBody>
      </p:sp>
      <p:sp>
        <p:nvSpPr>
          <p:cNvPr id="46" name="Rectangle 45"/>
          <p:cNvSpPr/>
          <p:nvPr/>
        </p:nvSpPr>
        <p:spPr>
          <a:xfrm>
            <a:off x="4599432" y="1737360"/>
            <a:ext cx="6812280" cy="1170432"/>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82312" y="1856231"/>
            <a:ext cx="6428232" cy="987552"/>
          </a:xfrm>
          <a:prstGeom prst="rect">
            <a:avLst/>
          </a:prstGeom>
          <a:noFill/>
        </p:spPr>
        <p:txBody>
          <a:bodyPr wrap="square" lIns="27432" rIns="27432" tIns="18288" bIns="0">
            <a:spAutoFit/>
          </a:bodyPr>
          <a:lstStyle/>
          <a:p>
            <a:pPr>
              <a:spcAft>
                <a:spcPts val="800"/>
              </a:spcAft>
              <a:defRPr sz="2000" b="0">
                <a:solidFill>
                  <a:srgbClr val="20354B"/>
                </a:solidFill>
                <a:latin typeface="DejaVu Sans"/>
              </a:defRPr>
            </a:pPr>
            <a:r>
              <a:t>DevOps deb nomlangan alohida lavozim mavjudligi o‘z-o‘zidan hamkorlik madaniyatini yaratmaydi.</a:t>
            </a:r>
          </a:p>
        </p:txBody>
      </p:sp>
      <p:sp>
        <p:nvSpPr>
          <p:cNvPr id="48" name="Rectangle 47"/>
          <p:cNvSpPr/>
          <p:nvPr/>
        </p:nvSpPr>
        <p:spPr>
          <a:xfrm>
            <a:off x="731520" y="3154680"/>
            <a:ext cx="512064" cy="1152144"/>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6384" y="333756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2</a:t>
            </a:r>
          </a:p>
        </p:txBody>
      </p:sp>
      <p:sp>
        <p:nvSpPr>
          <p:cNvPr id="50" name="TextBox 49"/>
          <p:cNvSpPr txBox="1"/>
          <p:nvPr/>
        </p:nvSpPr>
        <p:spPr>
          <a:xfrm>
            <a:off x="1444752" y="3191256"/>
            <a:ext cx="3063240" cy="1124712"/>
          </a:xfrm>
          <a:prstGeom prst="rect">
            <a:avLst/>
          </a:prstGeom>
          <a:noFill/>
        </p:spPr>
        <p:txBody>
          <a:bodyPr wrap="square" lIns="27432" rIns="27432" tIns="18288" bIns="0">
            <a:spAutoFit/>
          </a:bodyPr>
          <a:lstStyle/>
          <a:p>
            <a:pPr>
              <a:spcAft>
                <a:spcPts val="800"/>
              </a:spcAft>
              <a:defRPr sz="2100" b="1">
                <a:solidFill>
                  <a:srgbClr val="20354B"/>
                </a:solidFill>
                <a:latin typeface="DejaVu Sans"/>
              </a:defRPr>
            </a:pPr>
            <a:r>
              <a:t>Terraform ish jarayoni</a:t>
            </a:r>
          </a:p>
        </p:txBody>
      </p:sp>
      <p:sp>
        <p:nvSpPr>
          <p:cNvPr id="51" name="Rectangle 50"/>
          <p:cNvSpPr/>
          <p:nvPr/>
        </p:nvSpPr>
        <p:spPr>
          <a:xfrm>
            <a:off x="4599432" y="3154680"/>
            <a:ext cx="6812280" cy="1170432"/>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82312" y="3273552"/>
            <a:ext cx="6428232" cy="987552"/>
          </a:xfrm>
          <a:prstGeom prst="rect">
            <a:avLst/>
          </a:prstGeom>
          <a:noFill/>
        </p:spPr>
        <p:txBody>
          <a:bodyPr wrap="square" lIns="27432" rIns="27432" tIns="18288" bIns="0">
            <a:spAutoFit/>
          </a:bodyPr>
          <a:lstStyle/>
          <a:p>
            <a:pPr>
              <a:spcAft>
                <a:spcPts val="800"/>
              </a:spcAft>
              <a:defRPr sz="2000" b="0">
                <a:solidFill>
                  <a:srgbClr val="20354B"/>
                </a:solidFill>
                <a:latin typeface="DejaVu Sans"/>
              </a:defRPr>
            </a:pPr>
            <a:r>
              <a:t>Plan natijasini ko‘rmasdan apply bajarish muhim ma’lumotni yo‘qotishga olib kelishi mumkin.</a:t>
            </a:r>
          </a:p>
        </p:txBody>
      </p:sp>
      <p:sp>
        <p:nvSpPr>
          <p:cNvPr id="53" name="Rectangle 52"/>
          <p:cNvSpPr/>
          <p:nvPr/>
        </p:nvSpPr>
        <p:spPr>
          <a:xfrm>
            <a:off x="731520" y="4572000"/>
            <a:ext cx="512064" cy="1152144"/>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6384" y="475488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3</a:t>
            </a:r>
          </a:p>
        </p:txBody>
      </p:sp>
      <p:sp>
        <p:nvSpPr>
          <p:cNvPr id="55" name="TextBox 54"/>
          <p:cNvSpPr txBox="1"/>
          <p:nvPr/>
        </p:nvSpPr>
        <p:spPr>
          <a:xfrm>
            <a:off x="1444752" y="4608576"/>
            <a:ext cx="3063240" cy="1124712"/>
          </a:xfrm>
          <a:prstGeom prst="rect">
            <a:avLst/>
          </a:prstGeom>
          <a:noFill/>
        </p:spPr>
        <p:txBody>
          <a:bodyPr wrap="square" lIns="27432" rIns="27432" tIns="18288" bIns="0">
            <a:spAutoFit/>
          </a:bodyPr>
          <a:lstStyle/>
          <a:p>
            <a:pPr>
              <a:spcAft>
                <a:spcPts val="800"/>
              </a:spcAft>
              <a:defRPr sz="2100" b="1">
                <a:solidFill>
                  <a:srgbClr val="20354B"/>
                </a:solidFill>
                <a:latin typeface="DejaVu Sans"/>
              </a:defRPr>
            </a:pPr>
            <a:r>
              <a:t>CI: uzluksiz integratsiya</a:t>
            </a:r>
          </a:p>
        </p:txBody>
      </p:sp>
      <p:sp>
        <p:nvSpPr>
          <p:cNvPr id="56" name="Rectangle 55"/>
          <p:cNvSpPr/>
          <p:nvPr/>
        </p:nvSpPr>
        <p:spPr>
          <a:xfrm>
            <a:off x="4599432" y="4572000"/>
            <a:ext cx="6812280" cy="1170432"/>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82312" y="4690872"/>
            <a:ext cx="6428232" cy="987552"/>
          </a:xfrm>
          <a:prstGeom prst="rect">
            <a:avLst/>
          </a:prstGeom>
          <a:noFill/>
        </p:spPr>
        <p:txBody>
          <a:bodyPr wrap="square" lIns="27432" rIns="27432" tIns="18288" bIns="0">
            <a:spAutoFit/>
          </a:bodyPr>
          <a:lstStyle/>
          <a:p>
            <a:pPr>
              <a:spcAft>
                <a:spcPts val="800"/>
              </a:spcAft>
              <a:defRPr sz="2000" b="0">
                <a:solidFill>
                  <a:srgbClr val="20354B"/>
                </a:solidFill>
                <a:latin typeface="DejaVu Sans"/>
              </a:defRPr>
            </a:pPr>
            <a:r>
              <a:t>Testlarning muvaffaqiyati barcha real xatolar yo‘qligini kafolatlamaydi; test qamrovi va kuzatuv muhim.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457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828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43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657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14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72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029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00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72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229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144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0584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5156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9728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430000" y="1627632"/>
            <a:ext cx="0" cy="4544568"/>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8640" y="1828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48640" y="2286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48640" y="2743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8640" y="3200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8640" y="3657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8640" y="41148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48640" y="45720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48640" y="50292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48640" y="54864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48640" y="5943600"/>
            <a:ext cx="11064240" cy="0"/>
          </a:xfrm>
          <a:prstGeom prst="line">
            <a:avLst/>
          </a:prstGeom>
          <a:ln w="5715">
            <a:solidFill>
              <a:srgbClr val="EFF3F8"/>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48640" y="393192"/>
            <a:ext cx="109728" cy="868680"/>
          </a:xfrm>
          <a:prstGeom prst="rect">
            <a:avLst/>
          </a:prstGeom>
          <a:solidFill>
            <a:srgbClr val="D9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536" y="448056"/>
            <a:ext cx="10469880" cy="1051560"/>
          </a:xfrm>
          <a:prstGeom prst="rect">
            <a:avLst/>
          </a:prstGeom>
          <a:noFill/>
        </p:spPr>
        <p:txBody>
          <a:bodyPr wrap="square" lIns="27432" rIns="27432" tIns="18288" bIns="0">
            <a:spAutoFit/>
          </a:bodyPr>
          <a:lstStyle/>
          <a:p>
            <a:pPr>
              <a:spcAft>
                <a:spcPts val="800"/>
              </a:spcAft>
              <a:defRPr sz="3000" b="1">
                <a:solidFill>
                  <a:srgbClr val="20354B"/>
                </a:solidFill>
                <a:latin typeface="DejaVu Sans"/>
              </a:defRPr>
            </a:pPr>
            <a:r>
              <a:t>Tezlik va barqarorlik birga boshqariladi</a:t>
            </a:r>
          </a:p>
        </p:txBody>
      </p:sp>
      <p:cxnSp>
        <p:nvCxnSpPr>
          <p:cNvPr id="39" name="Connector 38"/>
          <p:cNvCxnSpPr/>
          <p:nvPr/>
        </p:nvCxnSpPr>
        <p:spPr>
          <a:xfrm>
            <a:off x="548640" y="1499616"/>
            <a:ext cx="11082528" cy="0"/>
          </a:xfrm>
          <a:prstGeom prst="line">
            <a:avLst/>
          </a:prstGeom>
          <a:ln w="16510">
            <a:solidFill>
              <a:srgbClr val="245B9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241280" y="137160"/>
            <a:ext cx="1325880" cy="246888"/>
          </a:xfrm>
          <a:prstGeom prst="rect">
            <a:avLst/>
          </a:prstGeom>
          <a:noFill/>
        </p:spPr>
        <p:txBody>
          <a:bodyPr wrap="square" lIns="27432" rIns="27432" tIns="18288" bIns="0">
            <a:spAutoFit/>
          </a:bodyPr>
          <a:lstStyle/>
          <a:p>
            <a:pPr>
              <a:spcAft>
                <a:spcPts val="800"/>
              </a:spcAft>
              <a:defRPr sz="900" b="1">
                <a:solidFill>
                  <a:srgbClr val="245B9E"/>
                </a:solidFill>
                <a:latin typeface="DejaVu Sans"/>
              </a:defRPr>
            </a:pPr>
            <a:r>
              <a:t>REV. 2027</a:t>
            </a:r>
          </a:p>
        </p:txBody>
      </p:sp>
      <p:sp>
        <p:nvSpPr>
          <p:cNvPr id="41" name="TextBox 4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42" name="TextBox 4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12 / 13</a:t>
            </a:r>
          </a:p>
        </p:txBody>
      </p:sp>
      <p:sp>
        <p:nvSpPr>
          <p:cNvPr id="43" name="Rounded Rectangle 42"/>
          <p:cNvSpPr/>
          <p:nvPr/>
        </p:nvSpPr>
        <p:spPr>
          <a:xfrm>
            <a:off x="731520" y="1874519"/>
            <a:ext cx="3465576" cy="3611880"/>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3544" y="2029968"/>
            <a:ext cx="3072384" cy="502920"/>
          </a:xfrm>
          <a:prstGeom prst="rect">
            <a:avLst/>
          </a:prstGeom>
          <a:noFill/>
        </p:spPr>
        <p:txBody>
          <a:bodyPr wrap="square" lIns="27432" rIns="27432" tIns="18288" bIns="0">
            <a:spAutoFit/>
          </a:bodyPr>
          <a:lstStyle/>
          <a:p>
            <a:pPr>
              <a:spcAft>
                <a:spcPts val="800"/>
              </a:spcAft>
              <a:defRPr sz="3200" b="1">
                <a:solidFill>
                  <a:srgbClr val="245B9E"/>
                </a:solidFill>
                <a:latin typeface="DejaVu Sans"/>
              </a:defRPr>
            </a:pPr>
            <a:r>
              <a:t>01</a:t>
            </a:r>
          </a:p>
        </p:txBody>
      </p:sp>
      <p:sp>
        <p:nvSpPr>
          <p:cNvPr id="45" name="TextBox 44"/>
          <p:cNvSpPr txBox="1"/>
          <p:nvPr/>
        </p:nvSpPr>
        <p:spPr>
          <a:xfrm>
            <a:off x="923544" y="2788920"/>
            <a:ext cx="3072384" cy="1042415"/>
          </a:xfrm>
          <a:prstGeom prst="rect">
            <a:avLst/>
          </a:prstGeom>
          <a:noFill/>
        </p:spPr>
        <p:txBody>
          <a:bodyPr wrap="square" lIns="27432" rIns="27432" tIns="18288" bIns="0">
            <a:spAutoFit/>
          </a:bodyPr>
          <a:lstStyle/>
          <a:p>
            <a:pPr>
              <a:spcAft>
                <a:spcPts val="800"/>
              </a:spcAft>
              <a:defRPr sz="2400" b="1">
                <a:solidFill>
                  <a:srgbClr val="20354B"/>
                </a:solidFill>
                <a:latin typeface="DejaVu Sans"/>
              </a:defRPr>
            </a:pPr>
            <a:r>
              <a:t>DevOps va hamkorlik</a:t>
            </a:r>
          </a:p>
        </p:txBody>
      </p:sp>
      <p:sp>
        <p:nvSpPr>
          <p:cNvPr id="46" name="TextBox 45"/>
          <p:cNvSpPr txBox="1"/>
          <p:nvPr/>
        </p:nvSpPr>
        <p:spPr>
          <a:xfrm>
            <a:off x="923544" y="4087368"/>
            <a:ext cx="3072384" cy="1234440"/>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Ishlab chiqish, yetkazish va ishlatish bir oqimdir.</a:t>
            </a:r>
          </a:p>
        </p:txBody>
      </p:sp>
      <p:sp>
        <p:nvSpPr>
          <p:cNvPr id="47" name="Rounded Rectangle 46"/>
          <p:cNvSpPr/>
          <p:nvPr/>
        </p:nvSpPr>
        <p:spPr>
          <a:xfrm>
            <a:off x="4425696" y="1874519"/>
            <a:ext cx="3465576" cy="3611880"/>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17720" y="2029968"/>
            <a:ext cx="3072384" cy="502920"/>
          </a:xfrm>
          <a:prstGeom prst="rect">
            <a:avLst/>
          </a:prstGeom>
          <a:noFill/>
        </p:spPr>
        <p:txBody>
          <a:bodyPr wrap="square" lIns="27432" rIns="27432" tIns="18288" bIns="0">
            <a:spAutoFit/>
          </a:bodyPr>
          <a:lstStyle/>
          <a:p>
            <a:pPr>
              <a:spcAft>
                <a:spcPts val="800"/>
              </a:spcAft>
              <a:defRPr sz="3200" b="1">
                <a:solidFill>
                  <a:srgbClr val="245B9E"/>
                </a:solidFill>
                <a:latin typeface="DejaVu Sans"/>
              </a:defRPr>
            </a:pPr>
            <a:r>
              <a:t>02</a:t>
            </a:r>
          </a:p>
        </p:txBody>
      </p:sp>
      <p:sp>
        <p:nvSpPr>
          <p:cNvPr id="49" name="TextBox 48"/>
          <p:cNvSpPr txBox="1"/>
          <p:nvPr/>
        </p:nvSpPr>
        <p:spPr>
          <a:xfrm>
            <a:off x="4617720" y="2788920"/>
            <a:ext cx="3072384" cy="1042415"/>
          </a:xfrm>
          <a:prstGeom prst="rect">
            <a:avLst/>
          </a:prstGeom>
          <a:noFill/>
        </p:spPr>
        <p:txBody>
          <a:bodyPr wrap="square" lIns="27432" rIns="27432" tIns="18288" bIns="0">
            <a:spAutoFit/>
          </a:bodyPr>
          <a:lstStyle/>
          <a:p>
            <a:pPr>
              <a:spcAft>
                <a:spcPts val="800"/>
              </a:spcAft>
              <a:defRPr sz="2400" b="1">
                <a:solidFill>
                  <a:srgbClr val="20354B"/>
                </a:solidFill>
                <a:latin typeface="DejaVu Sans"/>
              </a:defRPr>
            </a:pPr>
            <a:r>
              <a:t>Terraform ish jarayoni</a:t>
            </a:r>
          </a:p>
        </p:txBody>
      </p:sp>
      <p:sp>
        <p:nvSpPr>
          <p:cNvPr id="50" name="TextBox 49"/>
          <p:cNvSpPr txBox="1"/>
          <p:nvPr/>
        </p:nvSpPr>
        <p:spPr>
          <a:xfrm>
            <a:off x="4617720" y="4087368"/>
            <a:ext cx="3072384" cy="1234440"/>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init → plan → apply → tekshirish.</a:t>
            </a:r>
          </a:p>
        </p:txBody>
      </p:sp>
      <p:sp>
        <p:nvSpPr>
          <p:cNvPr id="51" name="Rounded Rectangle 50"/>
          <p:cNvSpPr/>
          <p:nvPr/>
        </p:nvSpPr>
        <p:spPr>
          <a:xfrm>
            <a:off x="8119872" y="1874519"/>
            <a:ext cx="3465576" cy="3611880"/>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11896" y="2029968"/>
            <a:ext cx="3072384" cy="502920"/>
          </a:xfrm>
          <a:prstGeom prst="rect">
            <a:avLst/>
          </a:prstGeom>
          <a:noFill/>
        </p:spPr>
        <p:txBody>
          <a:bodyPr wrap="square" lIns="27432" rIns="27432" tIns="18288" bIns="0">
            <a:spAutoFit/>
          </a:bodyPr>
          <a:lstStyle/>
          <a:p>
            <a:pPr>
              <a:spcAft>
                <a:spcPts val="800"/>
              </a:spcAft>
              <a:defRPr sz="3200" b="1">
                <a:solidFill>
                  <a:srgbClr val="245B9E"/>
                </a:solidFill>
                <a:latin typeface="DejaVu Sans"/>
              </a:defRPr>
            </a:pPr>
            <a:r>
              <a:t>03</a:t>
            </a:r>
          </a:p>
        </p:txBody>
      </p:sp>
      <p:sp>
        <p:nvSpPr>
          <p:cNvPr id="53" name="TextBox 52"/>
          <p:cNvSpPr txBox="1"/>
          <p:nvPr/>
        </p:nvSpPr>
        <p:spPr>
          <a:xfrm>
            <a:off x="8311896" y="2788920"/>
            <a:ext cx="3072384" cy="1042415"/>
          </a:xfrm>
          <a:prstGeom prst="rect">
            <a:avLst/>
          </a:prstGeom>
          <a:noFill/>
        </p:spPr>
        <p:txBody>
          <a:bodyPr wrap="square" lIns="27432" rIns="27432" tIns="18288" bIns="0">
            <a:spAutoFit/>
          </a:bodyPr>
          <a:lstStyle/>
          <a:p>
            <a:pPr>
              <a:spcAft>
                <a:spcPts val="800"/>
              </a:spcAft>
              <a:defRPr sz="2400" b="1">
                <a:solidFill>
                  <a:srgbClr val="20354B"/>
                </a:solidFill>
                <a:latin typeface="DejaVu Sans"/>
              </a:defRPr>
            </a:pPr>
            <a:r>
              <a:t>CI: uzluksiz integratsiya</a:t>
            </a:r>
          </a:p>
        </p:txBody>
      </p:sp>
      <p:sp>
        <p:nvSpPr>
          <p:cNvPr id="54" name="TextBox 53"/>
          <p:cNvSpPr txBox="1"/>
          <p:nvPr/>
        </p:nvSpPr>
        <p:spPr>
          <a:xfrm>
            <a:off x="8311896" y="4087368"/>
            <a:ext cx="3072384" cy="1234440"/>
          </a:xfrm>
          <a:prstGeom prst="rect">
            <a:avLst/>
          </a:prstGeom>
          <a:noFill/>
        </p:spPr>
        <p:txBody>
          <a:bodyPr wrap="square" lIns="27432" rIns="27432" tIns="18288" bIns="0">
            <a:spAutoFit/>
          </a:bodyPr>
          <a:lstStyle/>
          <a:p>
            <a:pPr>
              <a:spcAft>
                <a:spcPts val="800"/>
              </a:spcAft>
              <a:defRPr sz="2100" b="0">
                <a:solidFill>
                  <a:srgbClr val="20354B"/>
                </a:solidFill>
                <a:latin typeface="DejaVu Sans"/>
              </a:defRPr>
            </a:pPr>
            <a:r>
              <a:t>Kod birlashmasidan oldin avtomatik tekshiruvlar.</a:t>
            </a:r>
          </a:p>
        </p:txBody>
      </p:sp>
      <p:sp>
        <p:nvSpPr>
          <p:cNvPr id="55" name="Rounded Rectangle 54"/>
          <p:cNvSpPr/>
          <p:nvPr/>
        </p:nvSpPr>
        <p:spPr>
          <a:xfrm>
            <a:off x="731520" y="5641848"/>
            <a:ext cx="10698480" cy="621792"/>
          </a:xfrm>
          <a:prstGeom prst="roundRect">
            <a:avLst>
              <a:gd name="adj" fmla="val 8000"/>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Asosiy mezon: xizmatni tanlashda xavfsizlik, mavjudlik va xarajatni birga baholang.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2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20354B"/>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20354B"/>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245B9E"/>
                </a:solidFill>
                <a:latin typeface="DejaVu Sans"/>
              </a:defRPr>
            </a:pPr>
            <a:r>
              <a:t>https://developer.hashicorp.com/terraform/intro</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245B9E"/>
                </a:solidFill>
                <a:latin typeface="DejaVu Sans"/>
              </a:defRPr>
            </a:pPr>
            <a:r>
              <a:t>https://developer.hashicorp.com/terraform/language/state</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245B9E"/>
                </a:solidFill>
                <a:latin typeface="DejaVu Sans"/>
              </a:defRPr>
            </a:pPr>
            <a:r>
              <a:t>https://docs.github.com/actions</a:t>
            </a:r>
          </a:p>
        </p:txBody>
      </p:sp>
      <p:sp>
        <p:nvSpPr>
          <p:cNvPr id="8" name="TextBox 7"/>
          <p:cNvSpPr txBox="1"/>
          <p:nvPr/>
        </p:nvSpPr>
        <p:spPr>
          <a:xfrm>
            <a:off x="777240" y="3575304"/>
            <a:ext cx="10652760" cy="365760"/>
          </a:xfrm>
          <a:prstGeom prst="rect">
            <a:avLst/>
          </a:prstGeom>
          <a:noFill/>
        </p:spPr>
        <p:txBody>
          <a:bodyPr wrap="square" lIns="27432" rIns="27432" tIns="18288" bIns="0">
            <a:spAutoFit/>
          </a:bodyPr>
          <a:lstStyle/>
          <a:p>
            <a:pPr>
              <a:spcAft>
                <a:spcPts val="800"/>
              </a:spcAft>
              <a:defRPr sz="1300" b="0">
                <a:solidFill>
                  <a:srgbClr val="245B9E"/>
                </a:solidFill>
                <a:latin typeface="DejaVu Sans"/>
              </a:defRPr>
            </a:pPr>
            <a:r>
              <a:t>https://docs.gitlab.com/ci/</a:t>
            </a:r>
          </a:p>
        </p:txBody>
      </p:sp>
      <p:sp>
        <p:nvSpPr>
          <p:cNvPr id="9" name="TextBox 8"/>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245B9E"/>
                </a:solidFill>
                <a:latin typeface="DejaVu Sans"/>
              </a:defRPr>
            </a:pPr>
            <a:r>
              <a:t>INTERNET RASMI</a:t>
            </a:r>
          </a:p>
        </p:txBody>
      </p:sp>
      <p:sp>
        <p:nvSpPr>
          <p:cNvPr id="10" name="TextBox 9"/>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20354B"/>
                </a:solidFill>
                <a:latin typeface="DejaVu Sans"/>
              </a:defRPr>
            </a:pPr>
            <a:r>
              <a:t>Argo / CNCF official artwork</a:t>
            </a:r>
          </a:p>
        </p:txBody>
      </p:sp>
      <p:sp>
        <p:nvSpPr>
          <p:cNvPr id="11" name="TextBox 10"/>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https://raw.githubusercontent.com/cncf/artwork/main/projects/argo/icon/color/argo-icon-color.png</a:t>
            </a:r>
          </a:p>
        </p:txBody>
      </p:sp>
      <p:sp>
        <p:nvSpPr>
          <p:cNvPr id="12" name="TextBox 11"/>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20354B"/>
                </a:solidFill>
                <a:latin typeface="DejaVu Sans"/>
              </a:defRPr>
            </a:pPr>
            <a:r>
              <a:t>Barcha rasm manbalari va foydalanish izohlari: ASSET_SOURCES.md</a:t>
            </a:r>
          </a:p>
        </p:txBody>
      </p:sp>
      <p:sp>
        <p:nvSpPr>
          <p:cNvPr id="13" name="TextBox 12"/>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0354B"/>
                </a:solidFill>
                <a:latin typeface="DejaVu Sans"/>
              </a:defRPr>
            </a:pPr>
            <a:r>
              <a:t>BTST206   /   M16   /   2027–2028</a:t>
            </a:r>
          </a:p>
        </p:txBody>
      </p:sp>
      <p:sp>
        <p:nvSpPr>
          <p:cNvPr id="14" name="TextBox 13"/>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0354B"/>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