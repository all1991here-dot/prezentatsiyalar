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«Bulutli ma’lumotlar bazalari va Big Data» mavzusiga bag‘ishlanadi. Mavzuni murakkab atamalardan emas, kundalik ehtiyojdan boshlaymiz. Universitet baholarni ishonchli saqlashi, portal hodisalarini tez yozishi va yillik faoliyatni tahlil qilishi kerak. Bu uch vazifa bir xil ma’lumot modelini talab qilmasligi mumkin.</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relatsion baza va sql tushuntiriladi. 2-bo‘limda nosql va key-value store tushuntiriladi. 3-bo‘limda database as a service tushuntiriladi. 4-bo‘limda newsql va taqsimlangan muvofiqlik tushuntiriladi. 5-bo‘limda big data va hadoop tushuntiriladi. 6-bo‘limda apache spark va tahlil oqimi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Relatsion baza ma’lumotni jadvallarda saqlaydi. Kalitlar jadvallarni bog‘laydi, SQL esa so‘rov yozish tilidir. Tranzaksiya bir nechta o‘zgarishni yaxlit ish sifatida boshqaradi. ACID xususiyatlari to‘g‘ri yangilashga yordam beradi.</a:t>
            </a:r>
          </a:p>
          <a:p/>
          <a:p>
            <a:r>
              <a:t>Talaba, fan va baho jadvallari identifikatorlar orqali bog‘lanadi. Baho yozishda ma’lumot yaxlitligi va tranzaksiya qoidalari nazorat qilinadi.</a:t>
            </a:r>
          </a:p>
          <a:p/>
          <a:p>
            <a:r>
              <a:t>Universitet misolida buni quyidagicha tasavvur qilamiz. Baho o‘zgarishi va unga tegishli audit yozuvi bitta tranzaksiyada bajarilishi mumkin. Bu misolda texnik atama real vazifa bilan bog‘lanadi: resursning nomini emas, nima uchun tanlanganini tushunish muhim.</a:t>
            </a:r>
          </a:p>
          <a:p/>
          <a:p>
            <a:r>
              <a:t>E’tibor beradigan chegara ham bor. SQL borligi bazaning barcha konfiguratsiyalarda bir xil izolyatsiya yoki masshtablashga ega ekanini bildirmaydi.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NoSQL bir nechta model oilasini qamrab oladi: kalit-qiymat, hujjat, keng ustun va graf. Kalit-qiymat bazasida yozuv kalit orqali topiladi. Bu sessiya va ma’lum identifikatorga tez kirish uchun qulay.</a:t>
            </a:r>
          </a:p>
          <a:p/>
          <a:p>
            <a:r>
              <a:t>Ilova oldindan qanday so‘rovlar berilishini aniqlaydi. Partition key ma’lumot taqsimlanishiga ta’sir qiladi. Noto‘g‘ri kalit bitta bo‘limga ortiqcha yuk to‘plashi mumkin.</a:t>
            </a:r>
          </a:p>
          <a:p/>
          <a:p>
            <a:r>
              <a:t>Universitet misolida buni quyidagicha tasavvur qilamiz. DynamoDB dagi student_id kaliti bo‘yicha talaba profiliga kirish mumkin; mos indeks qo‘shimcha qidirishni qo‘llab-quvvatlaydi. Bu misolda texnik atama real vazifa bilan bog‘lanadi: resursning nomini emas, nima uchun tanlanganini tushunish muhim.</a:t>
            </a:r>
          </a:p>
          <a:p/>
          <a:p>
            <a:r>
              <a:t>E’tibor beradigan chegara ham bor. NoSQL doimo sxemasiz yoki tranzaksiyasiz degani emas; xususiyatlar xizmatga bog‘liq.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DBaaS baza yaratish, yangilash, zaxiralash va kuzatish ishlarining bir qismini xizmat sifatida beradi. Mijoz sxema, indeks, so‘rov, ma’lumot va kirish ruxsatlarini boshqaradi. Operatsion yuk kamayadi, lekin barcha mas’uliyat yo‘qolmaydi.</a:t>
            </a:r>
          </a:p>
          <a:p/>
          <a:p>
            <a:r>
              <a:t>Amazon RDS boshqariladigan relatsion bazalarni, Azure SQL Database SQL Server asosidagi xizmatni, Cloud SQL esa qo‘llab-quvvatlanadigan relatsion dvijoklarni taqdim etadi.</a:t>
            </a:r>
          </a:p>
          <a:p/>
          <a:p>
            <a:r>
              <a:t>Universitet misolida buni quyidagicha tasavvur qilamiz. Universitet boshqariladigan PostgreSQL xizmatidan foydalanib, server operatsion tizimini qo‘lda yuritmaydi. Bu misolda texnik atama real vazifa bilan bog‘lanadi: resursning nomini emas, nima uchun tanlanganini tushunish muhim.</a:t>
            </a:r>
          </a:p>
          <a:p/>
          <a:p>
            <a:r>
              <a:t>E’tibor beradigan chegara ham bor. Zaxira saqlash muddati, yuqori mavjudlik va private kirish odatda tekshirish va sozlashni talab qiladi.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NewSQL atamasi relatsion model va tranzaksiyalarni taqsimlangan masshtablash bilan uyg‘unlashtiradigan tizimlar uchun ishlatiladi. Bu alohida bitta mahsulot yoki qat’iy standart emas. Tugunlar orasidagi muvofiqlik aloqa va kelishuv mexanizmlarini talab qiladi.</a:t>
            </a:r>
          </a:p>
          <a:p/>
          <a:p>
            <a:r>
              <a:t>Ma’lumot bo‘limlarga ajratiladi, nusxalanadi va yozuvlar kelishuv protokollari bilan boshqariladi. Kuchli muvofiqlik va past kechikish orasidagi amaliy muvozanat hududlar soniga bog‘liq.</a:t>
            </a:r>
          </a:p>
          <a:p/>
          <a:p>
            <a:r>
              <a:t>Universitet misolida buni quyidagicha tasavvur qilamiz. Bir necha hududdagi yozuvlarni izchil yuritadigan taqsimlangan SQL bazasi global xizmatga mos bo‘lishi mumkin. Bu misolda texnik atama real vazifa bilan bog‘lanadi: resursning nomini emas, nima uchun tanlanganini tushunish muhim.</a:t>
            </a:r>
          </a:p>
          <a:p/>
          <a:p>
            <a:r>
              <a:t>E’tibor beradigan chegara ham bor. Tarmoq bo‘linishida barcha tomonlarda bir vaqtda kuchli muvofiqlik va doimiy javobni kafolatlash muammoli; CAP aynan shu holatni ko‘rsatadi.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faqat katta fayl degani emas. Hajm, kelish tezligi va ma’lumot turining xilma-xilligi odatiy vositalarni cheklashi mumkin. Hadoop ekotizimida HDFS taqsimlangan saqlashni, MapReduce esa bosqichli hisoblashni tashkil etadi.</a:t>
            </a:r>
          </a:p>
          <a:p/>
          <a:p>
            <a:r>
              <a:t>Map qadamida ma’lumot qismlari parallel o‘qilib qayta ishlanadi. Shuffle tegishli kalitlarni jamlaydi. Reduce natijalarni birlashtiradi. Oraliq disk operatsiyalari bajarilish vaqtiga ta’sir qiladi.</a:t>
            </a:r>
          </a:p>
          <a:p/>
          <a:p>
            <a:r>
              <a:t>Universitet misolida buni quyidagicha tasavvur qilamiz. Bir necha yillik portal loglari bo‘yicha har kunlik kirishlar soni parallel hisoblanadi. Bu misolda texnik atama real vazifa bilan bog‘lanadi: resursning nomini emas, nima uchun tanlanganini tushunish muhim.</a:t>
            </a:r>
          </a:p>
          <a:p/>
          <a:p>
            <a:r>
              <a:t>E’tibor beradigan chegara ham bor. Har bir ma’lumot uchun Hadoop klasteri zarur emas; kichik hajm oddiy SQL bilan tezroq va arzonroq ishlanishi mumkin.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Spark katta ma’lumotni klasterda qayta ishlash dvijogidir. U DataFrame, SQL va boshqa interfeyslar orqali hisoblash rejasini tuzadi. Xotiradan foydalanish qayta ishlanadigan oraliq natijalarni tezlashtirishi mumkin.</a:t>
            </a:r>
          </a:p>
          <a:p/>
          <a:p>
            <a:r>
              <a:t>Driver vazifani rejalashtiradi, executor lar qismlarni bajaradi. Zarur bo‘lsa diskka yoziladi; barcha ma’lumot doim xotirada qolishi shart emas. Batch va streaming yondashuvlar qo‘llanadi.</a:t>
            </a:r>
          </a:p>
          <a:p/>
          <a:p>
            <a:r>
              <a:t>Universitet misolida buni quyidagicha tasavvur qilamiz. Portal hodisalari obyekt saqlashga tushadi, Spark ularni tozalab, tahlil jadvaliga aylantiradi. Bu misolda texnik atama real vazifa bilan bog‘lanadi: resursning nomini emas, nima uchun tanlanganini tushunish muhim.</a:t>
            </a:r>
          </a:p>
          <a:p/>
          <a:p>
            <a:r>
              <a:t>E’tibor beradigan chegara ham bor. Spark ma’lumotlar bazasining to‘liq o‘rnini bosmaydi; kichik tranzaksion so‘rovlar uchun alohida baza mosroq.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«Portal» bilan «SQL / NoSQL baza» o‘rtasida sxemada bog‘lanish ko‘rsatilgan. «Portal» bilan «Log va hodisalar» o‘rtasida sxemada bog‘lanish ko‘rsatilgan. «Log va hodisalar» bilan «Hadoop / Spark» o‘rtasida sxemada bog‘lanish ko‘rsatilgan. «Hadoop / Spark» bilan «Analitik natija» o‘rtasida sxemada bog‘lanish ko‘rsatilgan.</a:t>
            </a:r>
          </a:p>
          <a:p/>
          <a:p>
            <a:r>
              <a:t>Bu bog‘lanishlarni barcha xizmatlarda bir xil buyruq yoki bir xil fizik kabel deb tushunmaymiz. Ayrim o‘qlar bajarilish ketma-ketligini, ayrimlari resursni boshqarish yoki unga kirish aloqasini anglatadi. Ilova oldindan qanday so‘rovlar berilishini aniqlaydi. Partition key ma’lumot taqsimlanishiga ta’sir qiladi. Noto‘g‘ri kalit bitta bo‘limga ortiqcha yuk to‘plashi mumkin.</a:t>
            </a:r>
          </a:p>
          <a:p/>
          <a:p>
            <a:r>
              <a:t>Sxemaning asosiy foydasi mas’uliyatlarni ajratib ko‘rsatishdir. Bir necha yillik portal loglari bo‘yicha har kunlik kirishlar soni parallel hisoblanadi.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baholarni ishonchli saqlashi, portal hodisalarini tez yozishi va yillik faoliyatni tahlil qilishi kerak. Bu uch vazifa bir xil ma’lumot modelini talab qilmasligi mumkin.</a:t>
            </a:r>
          </a:p>
          <a:p/>
          <a:p>
            <a:r>
              <a:t>Avval ehtiyoj aniqlanadi: kim tizimdan foydalanadi, qaysi ma’lumot bilan ishlanadi va qanday natija kutiladi. Baho o‘zgarishi va unga tegishli audit yozuvi bitta tranzaksiyada bajarilishi mumkin. Keyin texnik qismlar shu talabga mos tanlanadi. Universitet boshqariladigan PostgreSQL xizmatidan foydalanib, server operatsion tizimini qo‘lda yuritmaydi.</a:t>
            </a:r>
          </a:p>
          <a:p/>
          <a:p>
            <a:r>
              <a:t>Ishlash jarayonida faqat muvaffaqiyatli holat emas, xato va cheklovlar ham hisobga olinadi. Tarmoq bo‘linishida barcha tomonlarda bir vaqtda kuchli muvofiqlik va doimiy javobni kafolatlash muammoli; CAP aynan shu holatni ko‘rsatadi. Shu sababli jamoa talabni, ruxsatni va nosozlikdagi xatti-harakatni oldindan belgilaydi. Portal hodisalari obyekt saqlashga tushadi, Spark ularni tozalab, tahlil jadvaliga aylantiradi.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SQL borligi bazaning barcha konfiguratsiyalarda bir xil izolyatsiya yoki masshtablashga ega ekanini bildirmaydi. To‘g‘ri talqin quyidagicha: Relatsion baza ma’lumotni jadvallarda saqlaydi. Kalitlar jadvallarni bog‘laydi, SQL esa so‘rov yozish tilidir. Tranzaksiya bir nechta o‘zgarishni yaxlit ish sifatida boshqaradi. ACID xususiyatlari to‘g‘ri yangilashga yordam beradi.</a:t>
            </a:r>
          </a:p>
          <a:p/>
          <a:p>
            <a:r>
              <a:t>2. Tarmoq bo‘linishida barcha tomonlarda bir vaqtda kuchli muvofiqlik va doimiy javobni kafolatlash muammoli; CAP aynan shu holatni ko‘rsatadi. To‘g‘ri talqin quyidagicha: NewSQL atamasi relatsion model va tranzaksiyalarni taqsimlangan masshtablash bilan uyg‘unlashtiradigan tizimlar uchun ishlatiladi. Bu alohida bitta mahsulot yoki qat’iy standart emas. Tugunlar orasidagi muvofiqlik aloqa va kelishuv mexanizmlarini talab qiladi.</a:t>
            </a:r>
          </a:p>
          <a:p/>
          <a:p>
            <a:r>
              <a:t>3. Spark ma’lumotlar bazasining to‘liq o‘rnini bosmaydi; kichik tranzaksion so‘rovlar uchun alohida baza mosroq. To‘g‘ri talqin quyidagicha: Spark katta ma’lumotni klasterda qayta ishlash dvijogidir. U DataFrame, SQL va boshqa interfeyslar orqali hisoblash rejasini tuzadi. Xotiradan foydalanish qayta ishlanadigan oraliq natijalarni tezlashtirishi mumkin.</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SQL, NoSQL, DBaaS va taqsimlangan tahlil — mavzuning umumiy mazmunini ifodalaydi.</a:t>
            </a:r>
          </a:p>
          <a:p/>
          <a:p>
            <a:r>
              <a:t>Asosiy tayanch fikr: Jadvallar, bog‘lanishlar va tranzaksiyalar. Talaba, fan va baho jadvallari identifikatorlar orqali bog‘lanadi. Baho yozishda ma’lumot yaxlitligi va tranzaksiya qoidalari nazorat qilinadi.</a:t>
            </a:r>
          </a:p>
          <a:p/>
          <a:p>
            <a:r>
              <a:t>Asosiy tayanch fikr: Baza boshqaruvining bir qismi provayderga o‘tadi. Amazon RDS boshqariladigan relatsion bazalarni, Azure SQL Database SQL Server asosidagi xizmatni, Cloud SQL esa qo‘llab-quvvatlanadigan relatsion dvijoklarni taqdim etadi.</a:t>
            </a:r>
          </a:p>
          <a:p/>
          <a:p>
            <a:r>
              <a:t>Asosiy tayanch fikr: Katta hajmni bo‘lib saqlash va parallel qayta ishlash. Map qadamida ma’lumot qismlari parallel o‘qilib qayta ishlanadi. Shuffle tegishli kalitlarni jamlaydi. Reduce natijalarni birlashtiradi. Oraliq disk operatsiyalari bajarilish vaqtiga ta’sir qiladi.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Oval 1"/>
          <p:cNvSpPr/>
          <p:nvPr/>
        </p:nvSpPr>
        <p:spPr>
          <a:xfrm>
            <a:off x="8869680" y="-822960"/>
            <a:ext cx="4389120" cy="4389120"/>
          </a:xfrm>
          <a:prstGeom prst="ellipse">
            <a:avLst/>
          </a:prstGeom>
          <a:solidFill>
            <a:srgbClr val="EEE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49840" y="137160"/>
            <a:ext cx="2468880" cy="2468880"/>
          </a:xfrm>
          <a:prstGeom prst="ellipse">
            <a:avLst/>
          </a:prstGeom>
          <a:solidFill>
            <a:srgbClr val="DBCE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1792" y="594360"/>
            <a:ext cx="1920240" cy="365760"/>
          </a:xfrm>
          <a:prstGeom prst="roundRect">
            <a:avLst>
              <a:gd name="adj" fmla="val 8000"/>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658368"/>
            <a:ext cx="1691640" cy="274320"/>
          </a:xfrm>
          <a:prstGeom prst="rect">
            <a:avLst/>
          </a:prstGeom>
          <a:noFill/>
        </p:spPr>
        <p:txBody>
          <a:bodyPr wrap="square" lIns="27432" rIns="27432" tIns="18288" bIns="0">
            <a:spAutoFit/>
          </a:bodyPr>
          <a:lstStyle/>
          <a:p>
            <a:pPr>
              <a:spcAft>
                <a:spcPts val="800"/>
              </a:spcAft>
              <a:defRPr sz="1100" b="1">
                <a:solidFill>
                  <a:srgbClr val="FFFFFF"/>
                </a:solidFill>
                <a:latin typeface="DejaVu Sans"/>
              </a:defRPr>
            </a:pPr>
            <a:r>
              <a:t>DATA NOTEBOOK 09</a:t>
            </a:r>
          </a:p>
        </p:txBody>
      </p:sp>
      <p:sp>
        <p:nvSpPr>
          <p:cNvPr id="6" name="TextBox 5"/>
          <p:cNvSpPr txBox="1"/>
          <p:nvPr/>
        </p:nvSpPr>
        <p:spPr>
          <a:xfrm>
            <a:off x="640080" y="1325880"/>
            <a:ext cx="5623560" cy="2148840"/>
          </a:xfrm>
          <a:prstGeom prst="rect">
            <a:avLst/>
          </a:prstGeom>
          <a:noFill/>
        </p:spPr>
        <p:txBody>
          <a:bodyPr wrap="square" lIns="27432" rIns="27432" tIns="18288" bIns="0">
            <a:spAutoFit/>
          </a:bodyPr>
          <a:lstStyle/>
          <a:p>
            <a:pPr>
              <a:spcAft>
                <a:spcPts val="800"/>
              </a:spcAft>
              <a:defRPr sz="3900" b="1">
                <a:solidFill>
                  <a:srgbClr val="30234F"/>
                </a:solidFill>
                <a:latin typeface="DejaVu Sans"/>
              </a:defRPr>
            </a:pPr>
            <a:r>
              <a:t>Bulutli bazalar</a:t>
            </a:r>
          </a:p>
          <a:p>
            <a:pPr>
              <a:spcAft>
                <a:spcPts val="800"/>
              </a:spcAft>
              <a:defRPr sz="3900" b="1">
                <a:solidFill>
                  <a:srgbClr val="30234F"/>
                </a:solidFill>
                <a:latin typeface="DejaVu Sans"/>
              </a:defRPr>
            </a:pPr>
            <a:r>
              <a:t>va Big Data</a:t>
            </a:r>
          </a:p>
        </p:txBody>
      </p:sp>
      <p:sp>
        <p:nvSpPr>
          <p:cNvPr id="7" name="TextBox 6"/>
          <p:cNvSpPr txBox="1"/>
          <p:nvPr/>
        </p:nvSpPr>
        <p:spPr>
          <a:xfrm>
            <a:off x="658368" y="3694176"/>
            <a:ext cx="5212080" cy="1051560"/>
          </a:xfrm>
          <a:prstGeom prst="rect">
            <a:avLst/>
          </a:prstGeom>
          <a:noFill/>
        </p:spPr>
        <p:txBody>
          <a:bodyPr wrap="square" lIns="27432" rIns="27432" tIns="18288" bIns="0">
            <a:spAutoFit/>
          </a:bodyPr>
          <a:lstStyle/>
          <a:p>
            <a:pPr>
              <a:spcAft>
                <a:spcPts val="800"/>
              </a:spcAft>
              <a:defRPr sz="2400" b="0">
                <a:solidFill>
                  <a:srgbClr val="30234F"/>
                </a:solidFill>
                <a:latin typeface="DejaVu Sans"/>
              </a:defRPr>
            </a:pPr>
            <a:r>
              <a:t>SQL, NoSQL, DBaaS va taqsimlangan tahlil</a:t>
            </a:r>
          </a:p>
        </p:txBody>
      </p:sp>
      <p:sp>
        <p:nvSpPr>
          <p:cNvPr id="8" name="Rounded Rectangle 7"/>
          <p:cNvSpPr/>
          <p:nvPr/>
        </p:nvSpPr>
        <p:spPr>
          <a:xfrm>
            <a:off x="6766560" y="1280160"/>
            <a:ext cx="4572000" cy="4297680"/>
          </a:xfrm>
          <a:prstGeom prst="roundRect">
            <a:avLst>
              <a:gd name="adj" fmla="val 8000"/>
            </a:avLst>
          </a:prstGeom>
          <a:solidFill>
            <a:srgbClr val="FFFFFF"/>
          </a:solidFill>
          <a:ln>
            <a:solidFill>
              <a:srgbClr val="DFD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09_apache_spark.png"/>
          <p:cNvPicPr>
            <a:picLocks noChangeAspect="1"/>
          </p:cNvPicPr>
          <p:nvPr/>
        </p:nvPicPr>
        <p:blipFill>
          <a:blip r:embed="rId2"/>
          <a:stretch>
            <a:fillRect/>
          </a:stretch>
        </p:blipFill>
        <p:spPr>
          <a:xfrm>
            <a:off x="6995160" y="2184273"/>
            <a:ext cx="4114800" cy="2215134"/>
          </a:xfrm>
          <a:prstGeom prst="rect">
            <a:avLst/>
          </a:prstGeom>
        </p:spPr>
      </p:pic>
      <p:sp>
        <p:nvSpPr>
          <p:cNvPr id="10" name="TextBox 9"/>
          <p:cNvSpPr txBox="1"/>
          <p:nvPr/>
        </p:nvSpPr>
        <p:spPr>
          <a:xfrm>
            <a:off x="7086600" y="5138928"/>
            <a:ext cx="3840480" cy="274320"/>
          </a:xfrm>
          <a:prstGeom prst="rect">
            <a:avLst/>
          </a:prstGeom>
          <a:noFill/>
        </p:spPr>
        <p:txBody>
          <a:bodyPr wrap="square" lIns="27432" rIns="27432" tIns="18288" bIns="0">
            <a:spAutoFit/>
          </a:bodyPr>
          <a:lstStyle/>
          <a:p>
            <a:pPr>
              <a:spcAft>
                <a:spcPts val="800"/>
              </a:spcAft>
              <a:defRPr sz="1300" b="1">
                <a:solidFill>
                  <a:srgbClr val="7552C8"/>
                </a:solidFill>
                <a:latin typeface="DejaVu Sans"/>
              </a:defRPr>
            </a:pPr>
            <a:r>
              <a:t>MA’LUMOT → QAROR</a:t>
            </a:r>
          </a:p>
        </p:txBody>
      </p:sp>
      <p:sp>
        <p:nvSpPr>
          <p:cNvPr id="11" name="Rounded Rectangle 10"/>
          <p:cNvSpPr/>
          <p:nvPr/>
        </p:nvSpPr>
        <p:spPr>
          <a:xfrm>
            <a:off x="667512" y="5559552"/>
            <a:ext cx="1737360" cy="347472"/>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5605272"/>
            <a:ext cx="1591056" cy="274320"/>
          </a:xfrm>
          <a:prstGeom prst="rect">
            <a:avLst/>
          </a:prstGeom>
          <a:noFill/>
        </p:spPr>
        <p:txBody>
          <a:bodyPr wrap="square" lIns="27432" rIns="27432" tIns="18288" bIns="0">
            <a:spAutoFit/>
          </a:bodyPr>
          <a:lstStyle/>
          <a:p>
            <a:pPr>
              <a:spcAft>
                <a:spcPts val="800"/>
              </a:spcAft>
              <a:defRPr sz="1200" b="1">
                <a:solidFill>
                  <a:srgbClr val="30234F"/>
                </a:solidFill>
                <a:latin typeface="DejaVu Sans"/>
              </a:defRPr>
            </a:pPr>
            <a:r>
              <a:t>SAQLASH</a:t>
            </a:r>
          </a:p>
        </p:txBody>
      </p:sp>
      <p:sp>
        <p:nvSpPr>
          <p:cNvPr id="13" name="Rounded Rectangle 12"/>
          <p:cNvSpPr/>
          <p:nvPr/>
        </p:nvSpPr>
        <p:spPr>
          <a:xfrm>
            <a:off x="2542032" y="5559552"/>
            <a:ext cx="1737360" cy="347472"/>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15184" y="5605272"/>
            <a:ext cx="1591056" cy="274320"/>
          </a:xfrm>
          <a:prstGeom prst="rect">
            <a:avLst/>
          </a:prstGeom>
          <a:noFill/>
        </p:spPr>
        <p:txBody>
          <a:bodyPr wrap="square" lIns="27432" rIns="27432" tIns="18288" bIns="0">
            <a:spAutoFit/>
          </a:bodyPr>
          <a:lstStyle/>
          <a:p>
            <a:pPr>
              <a:spcAft>
                <a:spcPts val="800"/>
              </a:spcAft>
              <a:defRPr sz="1200" b="1">
                <a:solidFill>
                  <a:srgbClr val="30234F"/>
                </a:solidFill>
                <a:latin typeface="DejaVu Sans"/>
              </a:defRPr>
            </a:pPr>
            <a:r>
              <a:t>QAYTA ISHLASH</a:t>
            </a:r>
          </a:p>
        </p:txBody>
      </p:sp>
      <p:sp>
        <p:nvSpPr>
          <p:cNvPr id="15" name="Rounded Rectangle 14"/>
          <p:cNvSpPr/>
          <p:nvPr/>
        </p:nvSpPr>
        <p:spPr>
          <a:xfrm>
            <a:off x="4416552" y="5559552"/>
            <a:ext cx="1737360" cy="347472"/>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5605272"/>
            <a:ext cx="1591056" cy="274320"/>
          </a:xfrm>
          <a:prstGeom prst="rect">
            <a:avLst/>
          </a:prstGeom>
          <a:noFill/>
        </p:spPr>
        <p:txBody>
          <a:bodyPr wrap="square" lIns="27432" rIns="27432" tIns="18288" bIns="0">
            <a:spAutoFit/>
          </a:bodyPr>
          <a:lstStyle/>
          <a:p>
            <a:pPr>
              <a:spcAft>
                <a:spcPts val="800"/>
              </a:spcAft>
              <a:defRPr sz="1200" b="1">
                <a:solidFill>
                  <a:srgbClr val="30234F"/>
                </a:solidFill>
                <a:latin typeface="DejaVu Sans"/>
              </a:defRPr>
            </a:pPr>
            <a:r>
              <a:t>TAHLIL</a:t>
            </a:r>
          </a:p>
        </p:txBody>
      </p:sp>
      <p:sp>
        <p:nvSpPr>
          <p:cNvPr id="17" name="TextBox 16"/>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18" name="TextBox 17"/>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Ma’ruza yo‘l xaritasi</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Olti tushuncha — bitta yaxlit tizim</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02 / 13</a:t>
            </a:r>
          </a:p>
        </p:txBody>
      </p:sp>
      <p:sp>
        <p:nvSpPr>
          <p:cNvPr id="10" name="Rounded Rectangle 9"/>
          <p:cNvSpPr/>
          <p:nvPr/>
        </p:nvSpPr>
        <p:spPr>
          <a:xfrm>
            <a:off x="658368" y="2468880"/>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41247" y="2688336"/>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2761488"/>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1</a:t>
            </a:r>
          </a:p>
        </p:txBody>
      </p:sp>
      <p:sp>
        <p:nvSpPr>
          <p:cNvPr id="13" name="TextBox 12"/>
          <p:cNvSpPr txBox="1"/>
          <p:nvPr/>
        </p:nvSpPr>
        <p:spPr>
          <a:xfrm>
            <a:off x="1536192" y="2642616"/>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Relatsion baza va SQL</a:t>
            </a:r>
          </a:p>
        </p:txBody>
      </p:sp>
      <p:sp>
        <p:nvSpPr>
          <p:cNvPr id="14" name="Rounded Rectangle 13"/>
          <p:cNvSpPr/>
          <p:nvPr/>
        </p:nvSpPr>
        <p:spPr>
          <a:xfrm>
            <a:off x="6281928" y="2468880"/>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4808" y="2688336"/>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56248" y="2761488"/>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2</a:t>
            </a:r>
          </a:p>
        </p:txBody>
      </p:sp>
      <p:sp>
        <p:nvSpPr>
          <p:cNvPr id="17" name="TextBox 16"/>
          <p:cNvSpPr txBox="1"/>
          <p:nvPr/>
        </p:nvSpPr>
        <p:spPr>
          <a:xfrm>
            <a:off x="7159752" y="2642616"/>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NoSQL va key-value store</a:t>
            </a:r>
          </a:p>
        </p:txBody>
      </p:sp>
      <p:sp>
        <p:nvSpPr>
          <p:cNvPr id="18" name="Rounded Rectangle 17"/>
          <p:cNvSpPr/>
          <p:nvPr/>
        </p:nvSpPr>
        <p:spPr>
          <a:xfrm>
            <a:off x="658368" y="3602736"/>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1247" y="3822192"/>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895344"/>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3</a:t>
            </a:r>
          </a:p>
        </p:txBody>
      </p:sp>
      <p:sp>
        <p:nvSpPr>
          <p:cNvPr id="21" name="TextBox 20"/>
          <p:cNvSpPr txBox="1"/>
          <p:nvPr/>
        </p:nvSpPr>
        <p:spPr>
          <a:xfrm>
            <a:off x="1536192" y="3776472"/>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Database as a Service</a:t>
            </a:r>
          </a:p>
        </p:txBody>
      </p:sp>
      <p:sp>
        <p:nvSpPr>
          <p:cNvPr id="22" name="Rounded Rectangle 21"/>
          <p:cNvSpPr/>
          <p:nvPr/>
        </p:nvSpPr>
        <p:spPr>
          <a:xfrm>
            <a:off x="6281928" y="3602736"/>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64808" y="3822192"/>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3895344"/>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4</a:t>
            </a:r>
          </a:p>
        </p:txBody>
      </p:sp>
      <p:sp>
        <p:nvSpPr>
          <p:cNvPr id="25" name="TextBox 24"/>
          <p:cNvSpPr txBox="1"/>
          <p:nvPr/>
        </p:nvSpPr>
        <p:spPr>
          <a:xfrm>
            <a:off x="7159752" y="3776472"/>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NewSQL va taqsimlangan muvofiqlik</a:t>
            </a:r>
          </a:p>
        </p:txBody>
      </p:sp>
      <p:sp>
        <p:nvSpPr>
          <p:cNvPr id="26" name="Rounded Rectangle 25"/>
          <p:cNvSpPr/>
          <p:nvPr/>
        </p:nvSpPr>
        <p:spPr>
          <a:xfrm>
            <a:off x="658368" y="4736592"/>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41247" y="4956048"/>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5029200"/>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5</a:t>
            </a:r>
          </a:p>
        </p:txBody>
      </p:sp>
      <p:sp>
        <p:nvSpPr>
          <p:cNvPr id="29" name="TextBox 28"/>
          <p:cNvSpPr txBox="1"/>
          <p:nvPr/>
        </p:nvSpPr>
        <p:spPr>
          <a:xfrm>
            <a:off x="1536192" y="4910328"/>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Big Data va Hadoop</a:t>
            </a:r>
          </a:p>
        </p:txBody>
      </p:sp>
      <p:sp>
        <p:nvSpPr>
          <p:cNvPr id="30" name="Rounded Rectangle 29"/>
          <p:cNvSpPr/>
          <p:nvPr/>
        </p:nvSpPr>
        <p:spPr>
          <a:xfrm>
            <a:off x="6281928" y="4736592"/>
            <a:ext cx="5330952" cy="960120"/>
          </a:xfrm>
          <a:prstGeom prst="roundRect">
            <a:avLst>
              <a:gd name="adj" fmla="val 8000"/>
            </a:avLst>
          </a:prstGeom>
          <a:solidFill>
            <a:srgbClr val="FFFFFF"/>
          </a:solidFill>
          <a:ln>
            <a:solidFill>
              <a:srgbClr val="E2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464808" y="4956048"/>
            <a:ext cx="502920" cy="502920"/>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5029200"/>
            <a:ext cx="329184" cy="320040"/>
          </a:xfrm>
          <a:prstGeom prst="rect">
            <a:avLst/>
          </a:prstGeom>
          <a:noFill/>
        </p:spPr>
        <p:txBody>
          <a:bodyPr wrap="square" lIns="27432" rIns="27432" tIns="18288" bIns="0">
            <a:spAutoFit/>
          </a:bodyPr>
          <a:lstStyle/>
          <a:p>
            <a:pPr>
              <a:spcAft>
                <a:spcPts val="800"/>
              </a:spcAft>
              <a:defRPr sz="1400" b="1">
                <a:solidFill>
                  <a:srgbClr val="7552C8"/>
                </a:solidFill>
                <a:latin typeface="DejaVu Sans"/>
              </a:defRPr>
            </a:pPr>
            <a:r>
              <a:t>6</a:t>
            </a:r>
          </a:p>
        </p:txBody>
      </p:sp>
      <p:sp>
        <p:nvSpPr>
          <p:cNvPr id="33" name="TextBox 32"/>
          <p:cNvSpPr txBox="1"/>
          <p:nvPr/>
        </p:nvSpPr>
        <p:spPr>
          <a:xfrm>
            <a:off x="7159752" y="4910328"/>
            <a:ext cx="4224528" cy="68580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Apache Spark va tahlil oqimi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Relatsion baza va SQL</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Jadvallar, bog‘lanishlar va tranzaksiyalar.</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03 / 13</a:t>
            </a:r>
          </a:p>
        </p:txBody>
      </p:sp>
      <p:sp>
        <p:nvSpPr>
          <p:cNvPr id="10" name="Rounded Rectangle 9"/>
          <p:cNvSpPr/>
          <p:nvPr/>
        </p:nvSpPr>
        <p:spPr>
          <a:xfrm>
            <a:off x="694944" y="2423160"/>
            <a:ext cx="6492240" cy="3639312"/>
          </a:xfrm>
          <a:prstGeom prst="roundRect">
            <a:avLst>
              <a:gd name="adj" fmla="val 8000"/>
            </a:avLst>
          </a:prstGeom>
          <a:solidFill>
            <a:srgbClr val="FFFFFF"/>
          </a:solidFill>
          <a:ln>
            <a:solidFill>
              <a:srgbClr val="E2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60904"/>
            <a:ext cx="6016752" cy="1170432"/>
          </a:xfrm>
          <a:prstGeom prst="rect">
            <a:avLst/>
          </a:prstGeom>
          <a:noFill/>
        </p:spPr>
        <p:txBody>
          <a:bodyPr wrap="square" lIns="27432" rIns="27432" tIns="18288" bIns="0">
            <a:spAutoFit/>
          </a:bodyPr>
          <a:lstStyle/>
          <a:p>
            <a:pPr>
              <a:spcAft>
                <a:spcPts val="800"/>
              </a:spcAft>
              <a:defRPr sz="2200" b="1">
                <a:solidFill>
                  <a:srgbClr val="30234F"/>
                </a:solidFill>
                <a:latin typeface="DejaVu Sans"/>
              </a:defRPr>
            </a:pPr>
            <a:r>
              <a:t>Relatsion baza jadvallar va kalitlar orqali bog‘langan ma’lumotni saqlaydi. SQL — so‘rov tili.</a:t>
            </a:r>
          </a:p>
        </p:txBody>
      </p:sp>
      <p:sp>
        <p:nvSpPr>
          <p:cNvPr id="12" name="TextBox 11"/>
          <p:cNvSpPr txBox="1"/>
          <p:nvPr/>
        </p:nvSpPr>
        <p:spPr>
          <a:xfrm>
            <a:off x="914400" y="4050791"/>
            <a:ext cx="6016752" cy="1627632"/>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Tranzaksiya bir nechta o‘zgarishni yaxlit ish sifatida boshqaradi.</a:t>
            </a:r>
          </a:p>
        </p:txBody>
      </p:sp>
      <p:sp>
        <p:nvSpPr>
          <p:cNvPr id="13" name="Rectangle 12"/>
          <p:cNvSpPr/>
          <p:nvPr/>
        </p:nvSpPr>
        <p:spPr>
          <a:xfrm>
            <a:off x="7763256" y="2633472"/>
            <a:ext cx="1185672" cy="612648"/>
          </a:xfrm>
          <a:prstGeom prst="rect">
            <a:avLst/>
          </a:prstGeom>
          <a:solidFill>
            <a:srgbClr val="7552C8"/>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27264" y="2770632"/>
            <a:ext cx="1085087" cy="45720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Talaba</a:t>
            </a:r>
          </a:p>
        </p:txBody>
      </p:sp>
      <p:sp>
        <p:nvSpPr>
          <p:cNvPr id="15" name="Rectangle 14"/>
          <p:cNvSpPr/>
          <p:nvPr/>
        </p:nvSpPr>
        <p:spPr>
          <a:xfrm>
            <a:off x="8976360" y="2633472"/>
            <a:ext cx="1185672" cy="612648"/>
          </a:xfrm>
          <a:prstGeom prst="rect">
            <a:avLst/>
          </a:prstGeom>
          <a:solidFill>
            <a:srgbClr val="7552C8"/>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40368" y="2770632"/>
            <a:ext cx="1085087" cy="45720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Fan</a:t>
            </a:r>
          </a:p>
        </p:txBody>
      </p:sp>
      <p:sp>
        <p:nvSpPr>
          <p:cNvPr id="17" name="Rectangle 16"/>
          <p:cNvSpPr/>
          <p:nvPr/>
        </p:nvSpPr>
        <p:spPr>
          <a:xfrm>
            <a:off x="10189464" y="2633472"/>
            <a:ext cx="1185672" cy="612648"/>
          </a:xfrm>
          <a:prstGeom prst="rect">
            <a:avLst/>
          </a:prstGeom>
          <a:solidFill>
            <a:srgbClr val="7552C8"/>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53472" y="2770632"/>
            <a:ext cx="1085087" cy="457200"/>
          </a:xfrm>
          <a:prstGeom prst="rect">
            <a:avLst/>
          </a:prstGeom>
          <a:noFill/>
        </p:spPr>
        <p:txBody>
          <a:bodyPr wrap="square" lIns="27432" rIns="27432" tIns="18288" bIns="0">
            <a:spAutoFit/>
          </a:bodyPr>
          <a:lstStyle/>
          <a:p>
            <a:pPr>
              <a:spcAft>
                <a:spcPts val="800"/>
              </a:spcAft>
              <a:defRPr sz="1500" b="1">
                <a:solidFill>
                  <a:srgbClr val="FFFFFF"/>
                </a:solidFill>
                <a:latin typeface="DejaVu Sans"/>
              </a:defRPr>
            </a:pPr>
            <a:r>
              <a:t>Baho</a:t>
            </a:r>
          </a:p>
        </p:txBody>
      </p:sp>
      <p:sp>
        <p:nvSpPr>
          <p:cNvPr id="19" name="Rectangle 18"/>
          <p:cNvSpPr/>
          <p:nvPr/>
        </p:nvSpPr>
        <p:spPr>
          <a:xfrm>
            <a:off x="7763256" y="3273552"/>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27264" y="3410712"/>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ID: 120</a:t>
            </a:r>
          </a:p>
        </p:txBody>
      </p:sp>
      <p:sp>
        <p:nvSpPr>
          <p:cNvPr id="21" name="Rectangle 20"/>
          <p:cNvSpPr/>
          <p:nvPr/>
        </p:nvSpPr>
        <p:spPr>
          <a:xfrm>
            <a:off x="8976360" y="3273552"/>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40368" y="3410712"/>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BTST206</a:t>
            </a:r>
          </a:p>
        </p:txBody>
      </p:sp>
      <p:sp>
        <p:nvSpPr>
          <p:cNvPr id="23" name="Rectangle 22"/>
          <p:cNvSpPr/>
          <p:nvPr/>
        </p:nvSpPr>
        <p:spPr>
          <a:xfrm>
            <a:off x="10189464" y="3273552"/>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53472" y="3410712"/>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86</a:t>
            </a:r>
          </a:p>
        </p:txBody>
      </p:sp>
      <p:sp>
        <p:nvSpPr>
          <p:cNvPr id="25" name="Rectangle 24"/>
          <p:cNvSpPr/>
          <p:nvPr/>
        </p:nvSpPr>
        <p:spPr>
          <a:xfrm>
            <a:off x="7763256" y="3913631"/>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27264" y="4050791"/>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ID: 121</a:t>
            </a:r>
          </a:p>
        </p:txBody>
      </p:sp>
      <p:sp>
        <p:nvSpPr>
          <p:cNvPr id="27" name="Rectangle 26"/>
          <p:cNvSpPr/>
          <p:nvPr/>
        </p:nvSpPr>
        <p:spPr>
          <a:xfrm>
            <a:off x="8976360" y="3913631"/>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40368" y="4050791"/>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BTST206</a:t>
            </a:r>
          </a:p>
        </p:txBody>
      </p:sp>
      <p:sp>
        <p:nvSpPr>
          <p:cNvPr id="29" name="Rectangle 28"/>
          <p:cNvSpPr/>
          <p:nvPr/>
        </p:nvSpPr>
        <p:spPr>
          <a:xfrm>
            <a:off x="10189464" y="3913631"/>
            <a:ext cx="1185672" cy="612648"/>
          </a:xfrm>
          <a:prstGeom prst="rect">
            <a:avLst/>
          </a:prstGeom>
          <a:solidFill>
            <a:srgbClr val="FFFFFF"/>
          </a:solidFill>
          <a:ln>
            <a:solidFill>
              <a:srgbClr val="D8CC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253472" y="4050791"/>
            <a:ext cx="1085087" cy="457200"/>
          </a:xfrm>
          <a:prstGeom prst="rect">
            <a:avLst/>
          </a:prstGeom>
          <a:noFill/>
        </p:spPr>
        <p:txBody>
          <a:bodyPr wrap="square" lIns="27432" rIns="27432" tIns="18288" bIns="0">
            <a:spAutoFit/>
          </a:bodyPr>
          <a:lstStyle/>
          <a:p>
            <a:pPr>
              <a:spcAft>
                <a:spcPts val="800"/>
              </a:spcAft>
              <a:defRPr sz="1500" b="0">
                <a:solidFill>
                  <a:srgbClr val="30234F"/>
                </a:solidFill>
                <a:latin typeface="DejaVu Sans"/>
              </a:defRPr>
            </a:pPr>
            <a:r>
              <a:t>91</a:t>
            </a:r>
          </a:p>
        </p:txBody>
      </p:sp>
      <p:sp>
        <p:nvSpPr>
          <p:cNvPr id="31" name="TextBox 30"/>
          <p:cNvSpPr txBox="1"/>
          <p:nvPr/>
        </p:nvSpPr>
        <p:spPr>
          <a:xfrm>
            <a:off x="7763256" y="4965192"/>
            <a:ext cx="3639312" cy="457200"/>
          </a:xfrm>
          <a:prstGeom prst="rect">
            <a:avLst/>
          </a:prstGeom>
          <a:noFill/>
        </p:spPr>
        <p:txBody>
          <a:bodyPr wrap="square" lIns="27432" rIns="27432" tIns="18288" bIns="0">
            <a:spAutoFit/>
          </a:bodyPr>
          <a:lstStyle/>
          <a:p>
            <a:pPr>
              <a:spcAft>
                <a:spcPts val="800"/>
              </a:spcAft>
              <a:defRPr sz="1500" b="0">
                <a:solidFill>
                  <a:srgbClr val="7552C8"/>
                </a:solidFill>
                <a:latin typeface="DejaVu Sans"/>
              </a:defRPr>
            </a:pPr>
            <a:r>
              <a:t>Sxematik jadval</a:t>
            </a:r>
          </a:p>
        </p:txBody>
      </p:sp>
      <p:sp>
        <p:nvSpPr>
          <p:cNvPr id="32" name="TextBox 31"/>
          <p:cNvSpPr txBox="1"/>
          <p:nvPr/>
        </p:nvSpPr>
        <p:spPr>
          <a:xfrm>
            <a:off x="731520" y="6108192"/>
            <a:ext cx="10698480" cy="329184"/>
          </a:xfrm>
          <a:prstGeom prst="rect">
            <a:avLst/>
          </a:prstGeom>
          <a:noFill/>
        </p:spPr>
        <p:txBody>
          <a:bodyPr wrap="square" lIns="27432" rIns="27432" tIns="18288" bIns="0">
            <a:spAutoFit/>
          </a:bodyPr>
          <a:lstStyle/>
          <a:p>
            <a:pPr>
              <a:spcAft>
                <a:spcPts val="800"/>
              </a:spcAft>
              <a:defRPr sz="1200" b="0">
                <a:solidFill>
                  <a:srgbClr val="7552C8"/>
                </a:solidFill>
                <a:latin typeface="DejaVu Sans"/>
              </a:defRPr>
            </a:pPr>
            <a:r>
              <a:t>MISOL / Baho o‘zgarishi va audit yozuvi bitta tranzaksiyada bajarilishi mumkin.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NoSQL va key-value store</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Modelni kirish usuliga qarab tanlash.</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04 / 13</a:t>
            </a:r>
          </a:p>
        </p:txBody>
      </p:sp>
      <p:sp>
        <p:nvSpPr>
          <p:cNvPr id="10" name="Rounded Rectangle 9"/>
          <p:cNvSpPr/>
          <p:nvPr/>
        </p:nvSpPr>
        <p:spPr>
          <a:xfrm>
            <a:off x="694944" y="2468880"/>
            <a:ext cx="3730752" cy="3520440"/>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743200"/>
            <a:ext cx="3255264" cy="667512"/>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52928"/>
            <a:ext cx="3017520" cy="502920"/>
          </a:xfrm>
          <a:prstGeom prst="rect">
            <a:avLst/>
          </a:prstGeom>
          <a:noFill/>
        </p:spPr>
        <p:txBody>
          <a:bodyPr wrap="square" lIns="27432" rIns="27432" tIns="18288" bIns="0">
            <a:spAutoFit/>
          </a:bodyPr>
          <a:lstStyle/>
          <a:p>
            <a:pPr>
              <a:spcAft>
                <a:spcPts val="800"/>
              </a:spcAft>
              <a:defRPr sz="1800" b="1">
                <a:solidFill>
                  <a:srgbClr val="30234F"/>
                </a:solidFill>
                <a:latin typeface="DejaVu Sans"/>
              </a:defRPr>
            </a:pPr>
            <a:r>
              <a:t>student_id → profil</a:t>
            </a:r>
          </a:p>
        </p:txBody>
      </p:sp>
      <p:sp>
        <p:nvSpPr>
          <p:cNvPr id="13" name="Rectangle 12"/>
          <p:cNvSpPr/>
          <p:nvPr/>
        </p:nvSpPr>
        <p:spPr>
          <a:xfrm>
            <a:off x="932688" y="3584448"/>
            <a:ext cx="3255264" cy="667512"/>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694176"/>
            <a:ext cx="3017520" cy="502920"/>
          </a:xfrm>
          <a:prstGeom prst="rect">
            <a:avLst/>
          </a:prstGeom>
          <a:noFill/>
        </p:spPr>
        <p:txBody>
          <a:bodyPr wrap="square" lIns="27432" rIns="27432" tIns="18288" bIns="0">
            <a:spAutoFit/>
          </a:bodyPr>
          <a:lstStyle/>
          <a:p>
            <a:pPr>
              <a:spcAft>
                <a:spcPts val="800"/>
              </a:spcAft>
              <a:defRPr sz="1800" b="1">
                <a:solidFill>
                  <a:srgbClr val="30234F"/>
                </a:solidFill>
                <a:latin typeface="DejaVu Sans"/>
              </a:defRPr>
            </a:pPr>
            <a:r>
              <a:t>session_id → sessiya</a:t>
            </a:r>
          </a:p>
        </p:txBody>
      </p:sp>
      <p:sp>
        <p:nvSpPr>
          <p:cNvPr id="15" name="Rectangle 14"/>
          <p:cNvSpPr/>
          <p:nvPr/>
        </p:nvSpPr>
        <p:spPr>
          <a:xfrm>
            <a:off x="932688" y="4425696"/>
            <a:ext cx="3255264" cy="667512"/>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535424"/>
            <a:ext cx="3017520" cy="502920"/>
          </a:xfrm>
          <a:prstGeom prst="rect">
            <a:avLst/>
          </a:prstGeom>
          <a:noFill/>
        </p:spPr>
        <p:txBody>
          <a:bodyPr wrap="square" lIns="27432" rIns="27432" tIns="18288" bIns="0">
            <a:spAutoFit/>
          </a:bodyPr>
          <a:lstStyle/>
          <a:p>
            <a:pPr>
              <a:spcAft>
                <a:spcPts val="800"/>
              </a:spcAft>
              <a:defRPr sz="1800" b="1">
                <a:solidFill>
                  <a:srgbClr val="30234F"/>
                </a:solidFill>
                <a:latin typeface="DejaVu Sans"/>
              </a:defRPr>
            </a:pPr>
            <a:r>
              <a:t>course_id → fan</a:t>
            </a:r>
          </a:p>
        </p:txBody>
      </p:sp>
      <p:sp>
        <p:nvSpPr>
          <p:cNvPr id="17" name="TextBox 16"/>
          <p:cNvSpPr txBox="1"/>
          <p:nvPr/>
        </p:nvSpPr>
        <p:spPr>
          <a:xfrm>
            <a:off x="4782312" y="2578608"/>
            <a:ext cx="6537960" cy="1188720"/>
          </a:xfrm>
          <a:prstGeom prst="rect">
            <a:avLst/>
          </a:prstGeom>
          <a:noFill/>
        </p:spPr>
        <p:txBody>
          <a:bodyPr wrap="square" lIns="27432" rIns="27432" tIns="18288" bIns="0">
            <a:spAutoFit/>
          </a:bodyPr>
          <a:lstStyle/>
          <a:p>
            <a:pPr>
              <a:spcAft>
                <a:spcPts val="800"/>
              </a:spcAft>
              <a:defRPr sz="2300" b="1">
                <a:solidFill>
                  <a:srgbClr val="30234F"/>
                </a:solidFill>
                <a:latin typeface="DejaVu Sans"/>
              </a:defRPr>
            </a:pPr>
            <a:r>
              <a:t>NoSQL oilasi: kalit-qiymat, hujjat, keng ustun va graf. Har biri turli so‘rovlarga mos.</a:t>
            </a:r>
          </a:p>
        </p:txBody>
      </p:sp>
      <p:sp>
        <p:nvSpPr>
          <p:cNvPr id="18" name="TextBox 17"/>
          <p:cNvSpPr txBox="1"/>
          <p:nvPr/>
        </p:nvSpPr>
        <p:spPr>
          <a:xfrm>
            <a:off x="4782312" y="3995928"/>
            <a:ext cx="6537960" cy="1645920"/>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Partition key ma’lumot taqsimlanishiga ta’sir qiladi. Noto‘g‘ri kalit ortiqcha yuk to‘plashi mumkin.</a:t>
            </a:r>
          </a:p>
        </p:txBody>
      </p:sp>
      <p:sp>
        <p:nvSpPr>
          <p:cNvPr id="19" name="TextBox 18"/>
          <p:cNvSpPr txBox="1"/>
          <p:nvPr/>
        </p:nvSpPr>
        <p:spPr>
          <a:xfrm>
            <a:off x="731520" y="6108192"/>
            <a:ext cx="10698480" cy="329184"/>
          </a:xfrm>
          <a:prstGeom prst="rect">
            <a:avLst/>
          </a:prstGeom>
          <a:noFill/>
        </p:spPr>
        <p:txBody>
          <a:bodyPr wrap="square" lIns="27432" rIns="27432" tIns="18288" bIns="0">
            <a:spAutoFit/>
          </a:bodyPr>
          <a:lstStyle/>
          <a:p>
            <a:pPr>
              <a:spcAft>
                <a:spcPts val="800"/>
              </a:spcAft>
              <a:defRPr sz="1200" b="0">
                <a:solidFill>
                  <a:srgbClr val="7552C8"/>
                </a:solidFill>
                <a:latin typeface="DejaVu Sans"/>
              </a:defRPr>
            </a:pPr>
            <a:r>
              <a:t>MISOL / Sessiya yoki talaba profilini aniq identifikator bo‘yicha tez topish.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Database as a Service</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Baza boshqaruvining bir qismi provayderga o‘tadi.</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05 / 13</a:t>
            </a:r>
          </a:p>
        </p:txBody>
      </p:sp>
      <p:sp>
        <p:nvSpPr>
          <p:cNvPr id="10" name="Rounded Rectangle 9"/>
          <p:cNvSpPr/>
          <p:nvPr/>
        </p:nvSpPr>
        <p:spPr>
          <a:xfrm>
            <a:off x="694944" y="2423160"/>
            <a:ext cx="6492240" cy="3639312"/>
          </a:xfrm>
          <a:prstGeom prst="roundRect">
            <a:avLst>
              <a:gd name="adj" fmla="val 8000"/>
            </a:avLst>
          </a:prstGeom>
          <a:solidFill>
            <a:srgbClr val="FFFFFF"/>
          </a:solidFill>
          <a:ln>
            <a:solidFill>
              <a:srgbClr val="E2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60904"/>
            <a:ext cx="6016752" cy="1170432"/>
          </a:xfrm>
          <a:prstGeom prst="rect">
            <a:avLst/>
          </a:prstGeom>
          <a:noFill/>
        </p:spPr>
        <p:txBody>
          <a:bodyPr wrap="square" lIns="27432" rIns="27432" tIns="18288" bIns="0">
            <a:spAutoFit/>
          </a:bodyPr>
          <a:lstStyle/>
          <a:p>
            <a:pPr>
              <a:spcAft>
                <a:spcPts val="800"/>
              </a:spcAft>
              <a:defRPr sz="2200" b="1">
                <a:solidFill>
                  <a:srgbClr val="30234F"/>
                </a:solidFill>
                <a:latin typeface="DejaVu Sans"/>
              </a:defRPr>
            </a:pPr>
            <a:r>
              <a:t>DBaaS yaratish, yangilash, backup va kuzatuvning bir qismini provayderga topshiradi.</a:t>
            </a:r>
          </a:p>
        </p:txBody>
      </p:sp>
      <p:sp>
        <p:nvSpPr>
          <p:cNvPr id="12" name="TextBox 11"/>
          <p:cNvSpPr txBox="1"/>
          <p:nvPr/>
        </p:nvSpPr>
        <p:spPr>
          <a:xfrm>
            <a:off x="914400" y="4050791"/>
            <a:ext cx="6016752" cy="1627632"/>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Universitet sxema, indeks, so‘rov, ma’lumot va ruxsatlar uchun javobgar bo‘lib qoladi.</a:t>
            </a:r>
          </a:p>
        </p:txBody>
      </p:sp>
      <p:sp>
        <p:nvSpPr>
          <p:cNvPr id="13" name="Rectangle 12"/>
          <p:cNvSpPr/>
          <p:nvPr/>
        </p:nvSpPr>
        <p:spPr>
          <a:xfrm>
            <a:off x="7763256" y="2633472"/>
            <a:ext cx="3639312" cy="68580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8" y="2743200"/>
            <a:ext cx="3401568" cy="521208"/>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Provayder</a:t>
            </a:r>
          </a:p>
        </p:txBody>
      </p:sp>
      <p:sp>
        <p:nvSpPr>
          <p:cNvPr id="15" name="Rectangle 14"/>
          <p:cNvSpPr/>
          <p:nvPr/>
        </p:nvSpPr>
        <p:spPr>
          <a:xfrm>
            <a:off x="7763256" y="3529584"/>
            <a:ext cx="3639312" cy="68580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82128" y="3639312"/>
            <a:ext cx="3401568" cy="521208"/>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Mijoz</a:t>
            </a:r>
          </a:p>
        </p:txBody>
      </p:sp>
      <p:sp>
        <p:nvSpPr>
          <p:cNvPr id="17" name="TextBox 16"/>
          <p:cNvSpPr txBox="1"/>
          <p:nvPr/>
        </p:nvSpPr>
        <p:spPr>
          <a:xfrm>
            <a:off x="731520" y="6108192"/>
            <a:ext cx="10698480" cy="329184"/>
          </a:xfrm>
          <a:prstGeom prst="rect">
            <a:avLst/>
          </a:prstGeom>
          <a:noFill/>
        </p:spPr>
        <p:txBody>
          <a:bodyPr wrap="square" lIns="27432" rIns="27432" tIns="18288" bIns="0">
            <a:spAutoFit/>
          </a:bodyPr>
          <a:lstStyle/>
          <a:p>
            <a:pPr>
              <a:spcAft>
                <a:spcPts val="800"/>
              </a:spcAft>
              <a:defRPr sz="1200" b="0">
                <a:solidFill>
                  <a:srgbClr val="7552C8"/>
                </a:solidFill>
                <a:latin typeface="DejaVu Sans"/>
              </a:defRPr>
            </a:pPr>
            <a:r>
              <a:t>MISOL / RDS, Azure SQL Database va Cloud SQL — boshqariladigan baza xizmatlariga misollar.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NewSQL va taqsimlangan muvofiqlik</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SQL hamda taqsimlangan masshtablashni birlashtirish.</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06 / 13</a:t>
            </a:r>
          </a:p>
        </p:txBody>
      </p:sp>
      <p:sp>
        <p:nvSpPr>
          <p:cNvPr id="10" name="Rounded Rectangle 9"/>
          <p:cNvSpPr/>
          <p:nvPr/>
        </p:nvSpPr>
        <p:spPr>
          <a:xfrm>
            <a:off x="694944" y="2468880"/>
            <a:ext cx="3730752" cy="3520440"/>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743200"/>
            <a:ext cx="3255264" cy="68580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52928"/>
            <a:ext cx="3017520" cy="521208"/>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Bo‘lim A</a:t>
            </a:r>
          </a:p>
        </p:txBody>
      </p:sp>
      <p:sp>
        <p:nvSpPr>
          <p:cNvPr id="13" name="Rectangle 12"/>
          <p:cNvSpPr/>
          <p:nvPr/>
        </p:nvSpPr>
        <p:spPr>
          <a:xfrm>
            <a:off x="932688" y="3639312"/>
            <a:ext cx="3255264" cy="68580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749039"/>
            <a:ext cx="3017520" cy="521208"/>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Bo‘lim B</a:t>
            </a:r>
          </a:p>
        </p:txBody>
      </p:sp>
      <p:sp>
        <p:nvSpPr>
          <p:cNvPr id="15" name="Rectangle 14"/>
          <p:cNvSpPr/>
          <p:nvPr/>
        </p:nvSpPr>
        <p:spPr>
          <a:xfrm>
            <a:off x="932688" y="4535424"/>
            <a:ext cx="3255264" cy="68580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45152"/>
            <a:ext cx="3017520" cy="521208"/>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Kelishuv</a:t>
            </a:r>
          </a:p>
        </p:txBody>
      </p:sp>
      <p:sp>
        <p:nvSpPr>
          <p:cNvPr id="17" name="TextBox 16"/>
          <p:cNvSpPr txBox="1"/>
          <p:nvPr/>
        </p:nvSpPr>
        <p:spPr>
          <a:xfrm>
            <a:off x="4782312" y="2578608"/>
            <a:ext cx="6537960" cy="1188720"/>
          </a:xfrm>
          <a:prstGeom prst="rect">
            <a:avLst/>
          </a:prstGeom>
          <a:noFill/>
        </p:spPr>
        <p:txBody>
          <a:bodyPr wrap="square" lIns="27432" rIns="27432" tIns="18288" bIns="0">
            <a:spAutoFit/>
          </a:bodyPr>
          <a:lstStyle/>
          <a:p>
            <a:pPr>
              <a:spcAft>
                <a:spcPts val="800"/>
              </a:spcAft>
              <a:defRPr sz="2300" b="1">
                <a:solidFill>
                  <a:srgbClr val="30234F"/>
                </a:solidFill>
                <a:latin typeface="DejaVu Sans"/>
              </a:defRPr>
            </a:pPr>
            <a:r>
              <a:t>NewSQL — relatsion model va tranzaksiyalarni taqsimlangan masshtablash bilan birlashtiruvchi tizimlar.</a:t>
            </a:r>
          </a:p>
        </p:txBody>
      </p:sp>
      <p:sp>
        <p:nvSpPr>
          <p:cNvPr id="18" name="TextBox 17"/>
          <p:cNvSpPr txBox="1"/>
          <p:nvPr/>
        </p:nvSpPr>
        <p:spPr>
          <a:xfrm>
            <a:off x="4782312" y="3995928"/>
            <a:ext cx="6537960" cy="1645920"/>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Ma’lumot bo‘limlanadi, nusxalanadi va yozuvlar tugunlar o‘rtasida kelishiladi.</a:t>
            </a:r>
          </a:p>
        </p:txBody>
      </p:sp>
      <p:sp>
        <p:nvSpPr>
          <p:cNvPr id="19" name="TextBox 18"/>
          <p:cNvSpPr txBox="1"/>
          <p:nvPr/>
        </p:nvSpPr>
        <p:spPr>
          <a:xfrm>
            <a:off x="731520" y="6108192"/>
            <a:ext cx="10698480" cy="329184"/>
          </a:xfrm>
          <a:prstGeom prst="rect">
            <a:avLst/>
          </a:prstGeom>
          <a:noFill/>
        </p:spPr>
        <p:txBody>
          <a:bodyPr wrap="square" lIns="27432" rIns="27432" tIns="18288" bIns="0">
            <a:spAutoFit/>
          </a:bodyPr>
          <a:lstStyle/>
          <a:p>
            <a:pPr>
              <a:spcAft>
                <a:spcPts val="800"/>
              </a:spcAft>
              <a:defRPr sz="1200" b="0">
                <a:solidFill>
                  <a:srgbClr val="7552C8"/>
                </a:solidFill>
                <a:latin typeface="DejaVu Sans"/>
              </a:defRPr>
            </a:pPr>
            <a:r>
              <a:t>MISOL / Hududlar orasidagi kechikish muhim. Tarmoq bo‘linishida muvofiqlik va javob mavjudligi cheklanadi.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Big Data va Hadoop</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Katta hajmni bo‘lib saqlash va parallel qayta ishlash.</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07 / 13</a:t>
            </a:r>
          </a:p>
        </p:txBody>
      </p:sp>
      <p:sp>
        <p:nvSpPr>
          <p:cNvPr id="10" name="Rounded Rectangle 9"/>
          <p:cNvSpPr/>
          <p:nvPr/>
        </p:nvSpPr>
        <p:spPr>
          <a:xfrm>
            <a:off x="694944" y="2423160"/>
            <a:ext cx="6492240" cy="3639312"/>
          </a:xfrm>
          <a:prstGeom prst="roundRect">
            <a:avLst>
              <a:gd name="adj" fmla="val 8000"/>
            </a:avLst>
          </a:prstGeom>
          <a:solidFill>
            <a:srgbClr val="FFFFFF"/>
          </a:solidFill>
          <a:ln>
            <a:solidFill>
              <a:srgbClr val="E2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60904"/>
            <a:ext cx="6016752" cy="1170432"/>
          </a:xfrm>
          <a:prstGeom prst="rect">
            <a:avLst/>
          </a:prstGeom>
          <a:noFill/>
        </p:spPr>
        <p:txBody>
          <a:bodyPr wrap="square" lIns="27432" rIns="27432" tIns="18288" bIns="0">
            <a:spAutoFit/>
          </a:bodyPr>
          <a:lstStyle/>
          <a:p>
            <a:pPr>
              <a:spcAft>
                <a:spcPts val="800"/>
              </a:spcAft>
              <a:defRPr sz="2200" b="1">
                <a:solidFill>
                  <a:srgbClr val="30234F"/>
                </a:solidFill>
                <a:latin typeface="DejaVu Sans"/>
              </a:defRPr>
            </a:pPr>
            <a:r>
              <a:t>Big Data — hajm, kelish tezligi va xilma-xillik oddiy vositalarni cheklaydigan vaziyat.</a:t>
            </a:r>
          </a:p>
        </p:txBody>
      </p:sp>
      <p:sp>
        <p:nvSpPr>
          <p:cNvPr id="12" name="TextBox 11"/>
          <p:cNvSpPr txBox="1"/>
          <p:nvPr/>
        </p:nvSpPr>
        <p:spPr>
          <a:xfrm>
            <a:off x="914400" y="4050791"/>
            <a:ext cx="6016752" cy="1627632"/>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HDFS — taqsimlangan saqlash. MapReduce — Map → Shuffle → Reduce hisoblash jarayoni.</a:t>
            </a:r>
          </a:p>
        </p:txBody>
      </p:sp>
      <p:sp>
        <p:nvSpPr>
          <p:cNvPr id="13" name="Rectangle 12"/>
          <p:cNvSpPr/>
          <p:nvPr/>
        </p:nvSpPr>
        <p:spPr>
          <a:xfrm>
            <a:off x="7763256" y="2633472"/>
            <a:ext cx="3639312" cy="704088"/>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8" y="2743200"/>
            <a:ext cx="3401568" cy="539496"/>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Map</a:t>
            </a:r>
          </a:p>
        </p:txBody>
      </p:sp>
      <p:sp>
        <p:nvSpPr>
          <p:cNvPr id="15" name="Rectangle 14"/>
          <p:cNvSpPr/>
          <p:nvPr/>
        </p:nvSpPr>
        <p:spPr>
          <a:xfrm>
            <a:off x="7763256" y="3547872"/>
            <a:ext cx="3639312" cy="704088"/>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82128" y="3657600"/>
            <a:ext cx="3401568" cy="539496"/>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Shuffle</a:t>
            </a:r>
          </a:p>
        </p:txBody>
      </p:sp>
      <p:sp>
        <p:nvSpPr>
          <p:cNvPr id="17" name="Rectangle 16"/>
          <p:cNvSpPr/>
          <p:nvPr/>
        </p:nvSpPr>
        <p:spPr>
          <a:xfrm>
            <a:off x="7763256" y="4462272"/>
            <a:ext cx="3639312" cy="704088"/>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4572000"/>
            <a:ext cx="3401568" cy="539496"/>
          </a:xfrm>
          <a:prstGeom prst="rect">
            <a:avLst/>
          </a:prstGeom>
          <a:noFill/>
        </p:spPr>
        <p:txBody>
          <a:bodyPr wrap="square" lIns="27432" rIns="27432" tIns="18288" bIns="0">
            <a:spAutoFit/>
          </a:bodyPr>
          <a:lstStyle/>
          <a:p>
            <a:pPr>
              <a:spcAft>
                <a:spcPts val="800"/>
              </a:spcAft>
              <a:defRPr sz="2000" b="1">
                <a:solidFill>
                  <a:srgbClr val="30234F"/>
                </a:solidFill>
                <a:latin typeface="DejaVu Sans"/>
              </a:defRPr>
            </a:pPr>
            <a:r>
              <a:t>Reduce</a:t>
            </a:r>
          </a:p>
        </p:txBody>
      </p:sp>
      <p:sp>
        <p:nvSpPr>
          <p:cNvPr id="19" name="TextBox 18"/>
          <p:cNvSpPr txBox="1"/>
          <p:nvPr/>
        </p:nvSpPr>
        <p:spPr>
          <a:xfrm>
            <a:off x="731520" y="6108192"/>
            <a:ext cx="10698480" cy="329184"/>
          </a:xfrm>
          <a:prstGeom prst="rect">
            <a:avLst/>
          </a:prstGeom>
          <a:noFill/>
        </p:spPr>
        <p:txBody>
          <a:bodyPr wrap="square" lIns="27432" rIns="27432" tIns="18288" bIns="0">
            <a:spAutoFit/>
          </a:bodyPr>
          <a:lstStyle/>
          <a:p>
            <a:pPr>
              <a:spcAft>
                <a:spcPts val="800"/>
              </a:spcAft>
              <a:defRPr sz="1200" b="0">
                <a:solidFill>
                  <a:srgbClr val="7552C8"/>
                </a:solidFill>
                <a:latin typeface="DejaVu Sans"/>
              </a:defRPr>
            </a:pPr>
            <a:r>
              <a:t>MISOL / Ko‘p yillik portal loglaridan har kunlik kirishlar sonini parallel hisoblash.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Apache Spark va tahlil oqimi</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Parallel hisoblash, reja va qayta foydalanish.</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08 / 13</a:t>
            </a:r>
          </a:p>
        </p:txBody>
      </p:sp>
      <p:sp>
        <p:nvSpPr>
          <p:cNvPr id="10" name="Rounded Rectangle 9"/>
          <p:cNvSpPr/>
          <p:nvPr/>
        </p:nvSpPr>
        <p:spPr>
          <a:xfrm>
            <a:off x="731520" y="2423160"/>
            <a:ext cx="5532120" cy="3566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33472"/>
            <a:ext cx="5166360" cy="1508760"/>
          </a:xfrm>
          <a:prstGeom prst="rect">
            <a:avLst/>
          </a:prstGeom>
          <a:noFill/>
        </p:spPr>
        <p:txBody>
          <a:bodyPr wrap="square" lIns="27432" rIns="27432" tIns="18288" bIns="0">
            <a:spAutoFit/>
          </a:bodyPr>
          <a:lstStyle/>
          <a:p>
            <a:pPr>
              <a:spcAft>
                <a:spcPts val="800"/>
              </a:spcAft>
              <a:defRPr sz="2100" b="1">
                <a:solidFill>
                  <a:srgbClr val="30234F"/>
                </a:solidFill>
                <a:latin typeface="DejaVu Sans"/>
              </a:defRPr>
            </a:pPr>
            <a:r>
              <a:t>Spark klasterda DataFrame va SQL orqali katta ma’lumotni parallel qayta ishlaydi.</a:t>
            </a:r>
          </a:p>
        </p:txBody>
      </p:sp>
      <p:sp>
        <p:nvSpPr>
          <p:cNvPr id="12" name="TextBox 11"/>
          <p:cNvSpPr txBox="1"/>
          <p:nvPr/>
        </p:nvSpPr>
        <p:spPr>
          <a:xfrm>
            <a:off x="914400" y="4343400"/>
            <a:ext cx="5166360" cy="1371600"/>
          </a:xfrm>
          <a:prstGeom prst="rect">
            <a:avLst/>
          </a:prstGeom>
          <a:noFill/>
        </p:spPr>
        <p:txBody>
          <a:bodyPr wrap="square" lIns="27432" rIns="27432" tIns="18288" bIns="0">
            <a:spAutoFit/>
          </a:bodyPr>
          <a:lstStyle/>
          <a:p>
            <a:pPr>
              <a:spcAft>
                <a:spcPts val="800"/>
              </a:spcAft>
              <a:defRPr sz="2000" b="0">
                <a:solidFill>
                  <a:srgbClr val="30234F"/>
                </a:solidFill>
                <a:latin typeface="DejaVu Sans"/>
              </a:defRPr>
            </a:pPr>
            <a:r>
              <a:t>Driver ishni rejalaydi; executor lar qismlarni bajaradi. Zarur bo‘lsa diskdan ham foydalaniladi.</a:t>
            </a:r>
          </a:p>
        </p:txBody>
      </p:sp>
      <p:sp>
        <p:nvSpPr>
          <p:cNvPr id="13" name="Rounded Rectangle 12"/>
          <p:cNvSpPr/>
          <p:nvPr/>
        </p:nvSpPr>
        <p:spPr>
          <a:xfrm>
            <a:off x="7269480" y="2450592"/>
            <a:ext cx="4224528" cy="3584448"/>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09_apache_spark.png"/>
          <p:cNvPicPr>
            <a:picLocks noChangeAspect="1"/>
          </p:cNvPicPr>
          <p:nvPr/>
        </p:nvPicPr>
        <p:blipFill>
          <a:blip r:embed="rId2"/>
          <a:stretch>
            <a:fillRect/>
          </a:stretch>
        </p:blipFill>
        <p:spPr>
          <a:xfrm>
            <a:off x="7452360" y="2916128"/>
            <a:ext cx="3858768" cy="2077303"/>
          </a:xfrm>
          <a:prstGeom prst="rect">
            <a:avLst/>
          </a:prstGeom>
        </p:spPr>
      </p:pic>
      <p:sp>
        <p:nvSpPr>
          <p:cNvPr id="15" name="TextBox 14"/>
          <p:cNvSpPr txBox="1"/>
          <p:nvPr/>
        </p:nvSpPr>
        <p:spPr>
          <a:xfrm>
            <a:off x="7443216" y="5413248"/>
            <a:ext cx="3840480" cy="493776"/>
          </a:xfrm>
          <a:prstGeom prst="rect">
            <a:avLst/>
          </a:prstGeom>
          <a:noFill/>
        </p:spPr>
        <p:txBody>
          <a:bodyPr wrap="square" lIns="27432" rIns="27432" tIns="18288" bIns="0">
            <a:spAutoFit/>
          </a:bodyPr>
          <a:lstStyle/>
          <a:p>
            <a:pPr>
              <a:spcAft>
                <a:spcPts val="800"/>
              </a:spcAft>
              <a:defRPr sz="1300" b="1">
                <a:solidFill>
                  <a:srgbClr val="7552C8"/>
                </a:solidFill>
                <a:latin typeface="DejaVu Sans"/>
              </a:defRPr>
            </a:pPr>
            <a:r>
              <a:t>Apache Spark — katta ma’lumotlarni qayta ishlash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Texnik diagramma</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Komponentlar va ular orasidagi asosiy bog‘lanish</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09 / 13</a:t>
            </a:r>
          </a:p>
        </p:txBody>
      </p:sp>
      <p:sp>
        <p:nvSpPr>
          <p:cNvPr id="10" name="Rectangle 9"/>
          <p:cNvSpPr/>
          <p:nvPr/>
        </p:nvSpPr>
        <p:spPr>
          <a:xfrm>
            <a:off x="731520" y="2743200"/>
            <a:ext cx="2478024" cy="77724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852928"/>
            <a:ext cx="2240280" cy="612647"/>
          </a:xfrm>
          <a:prstGeom prst="rect">
            <a:avLst/>
          </a:prstGeom>
          <a:noFill/>
        </p:spPr>
        <p:txBody>
          <a:bodyPr wrap="square" lIns="27432" rIns="27432" tIns="18288" bIns="0">
            <a:spAutoFit/>
          </a:bodyPr>
          <a:lstStyle/>
          <a:p>
            <a:pPr>
              <a:spcAft>
                <a:spcPts val="800"/>
              </a:spcAft>
              <a:defRPr sz="1700" b="1">
                <a:solidFill>
                  <a:srgbClr val="30234F"/>
                </a:solidFill>
                <a:latin typeface="DejaVu Sans"/>
              </a:defRPr>
            </a:pPr>
            <a:r>
              <a:t>Portal hodisasi</a:t>
            </a:r>
          </a:p>
        </p:txBody>
      </p:sp>
      <p:cxnSp>
        <p:nvCxnSpPr>
          <p:cNvPr id="12" name="Connector 11"/>
          <p:cNvCxnSpPr/>
          <p:nvPr/>
        </p:nvCxnSpPr>
        <p:spPr>
          <a:xfrm>
            <a:off x="3209544" y="3131820"/>
            <a:ext cx="292608" cy="0"/>
          </a:xfrm>
          <a:prstGeom prst="line">
            <a:avLst/>
          </a:prstGeom>
          <a:ln w="24130">
            <a:solidFill>
              <a:srgbClr val="7552C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3502152" y="2743200"/>
            <a:ext cx="2478024" cy="77724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2852928"/>
            <a:ext cx="2240280" cy="612647"/>
          </a:xfrm>
          <a:prstGeom prst="rect">
            <a:avLst/>
          </a:prstGeom>
          <a:noFill/>
        </p:spPr>
        <p:txBody>
          <a:bodyPr wrap="square" lIns="27432" rIns="27432" tIns="18288" bIns="0">
            <a:spAutoFit/>
          </a:bodyPr>
          <a:lstStyle/>
          <a:p>
            <a:pPr>
              <a:spcAft>
                <a:spcPts val="800"/>
              </a:spcAft>
              <a:defRPr sz="1700" b="1">
                <a:solidFill>
                  <a:srgbClr val="30234F"/>
                </a:solidFill>
                <a:latin typeface="DejaVu Sans"/>
              </a:defRPr>
            </a:pPr>
            <a:r>
              <a:t>Obyekt saqlash</a:t>
            </a:r>
          </a:p>
        </p:txBody>
      </p:sp>
      <p:cxnSp>
        <p:nvCxnSpPr>
          <p:cNvPr id="15" name="Connector 14"/>
          <p:cNvCxnSpPr/>
          <p:nvPr/>
        </p:nvCxnSpPr>
        <p:spPr>
          <a:xfrm>
            <a:off x="5980176" y="3131820"/>
            <a:ext cx="292607" cy="0"/>
          </a:xfrm>
          <a:prstGeom prst="line">
            <a:avLst/>
          </a:prstGeom>
          <a:ln w="24130">
            <a:solidFill>
              <a:srgbClr val="7552C8"/>
            </a:solidFill>
            <a:tailEnd type="triangle"/>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272783" y="2743200"/>
            <a:ext cx="2478024" cy="77724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5" y="2852928"/>
            <a:ext cx="2240280" cy="612647"/>
          </a:xfrm>
          <a:prstGeom prst="rect">
            <a:avLst/>
          </a:prstGeom>
          <a:noFill/>
        </p:spPr>
        <p:txBody>
          <a:bodyPr wrap="square" lIns="27432" rIns="27432" tIns="18288" bIns="0">
            <a:spAutoFit/>
          </a:bodyPr>
          <a:lstStyle/>
          <a:p>
            <a:pPr>
              <a:spcAft>
                <a:spcPts val="800"/>
              </a:spcAft>
              <a:defRPr sz="1700" b="1">
                <a:solidFill>
                  <a:srgbClr val="30234F"/>
                </a:solidFill>
                <a:latin typeface="DejaVu Sans"/>
              </a:defRPr>
            </a:pPr>
            <a:r>
              <a:t>Hadoop / Spark</a:t>
            </a:r>
          </a:p>
        </p:txBody>
      </p:sp>
      <p:cxnSp>
        <p:nvCxnSpPr>
          <p:cNvPr id="18" name="Connector 17"/>
          <p:cNvCxnSpPr/>
          <p:nvPr/>
        </p:nvCxnSpPr>
        <p:spPr>
          <a:xfrm>
            <a:off x="8750808" y="3131820"/>
            <a:ext cx="292608" cy="0"/>
          </a:xfrm>
          <a:prstGeom prst="line">
            <a:avLst/>
          </a:prstGeom>
          <a:ln w="24130">
            <a:solidFill>
              <a:srgbClr val="7552C8"/>
            </a:solidFill>
            <a:tailEnd type="triangle"/>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9043416" y="2743200"/>
            <a:ext cx="2478024" cy="777240"/>
          </a:xfrm>
          <a:prstGeom prst="rect">
            <a:avLst/>
          </a:prstGeom>
          <a:solidFill>
            <a:srgbClr val="EEE8FA"/>
          </a:solidFill>
          <a:ln>
            <a:solidFill>
              <a:srgbClr val="7552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62288" y="2852928"/>
            <a:ext cx="2240280" cy="612647"/>
          </a:xfrm>
          <a:prstGeom prst="rect">
            <a:avLst/>
          </a:prstGeom>
          <a:noFill/>
        </p:spPr>
        <p:txBody>
          <a:bodyPr wrap="square" lIns="27432" rIns="27432" tIns="18288" bIns="0">
            <a:spAutoFit/>
          </a:bodyPr>
          <a:lstStyle/>
          <a:p>
            <a:pPr>
              <a:spcAft>
                <a:spcPts val="800"/>
              </a:spcAft>
              <a:defRPr sz="1700" b="1">
                <a:solidFill>
                  <a:srgbClr val="30234F"/>
                </a:solidFill>
                <a:latin typeface="DejaVu Sans"/>
              </a:defRPr>
            </a:pPr>
            <a:r>
              <a:t>Tahlil jadvali</a:t>
            </a:r>
          </a:p>
        </p:txBody>
      </p:sp>
      <p:sp>
        <p:nvSpPr>
          <p:cNvPr id="21" name="Rounded Rectangle 20"/>
          <p:cNvSpPr/>
          <p:nvPr/>
        </p:nvSpPr>
        <p:spPr>
          <a:xfrm>
            <a:off x="758952" y="4206240"/>
            <a:ext cx="10607040" cy="1234440"/>
          </a:xfrm>
          <a:prstGeom prst="roundRect">
            <a:avLst>
              <a:gd name="adj" fmla="val 8000"/>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480560"/>
            <a:ext cx="10195560" cy="731520"/>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SQL / NoSQL — tezkor ilova ma’lumoti.</a:t>
            </a:r>
          </a:p>
          <a:p>
            <a:pPr>
              <a:spcAft>
                <a:spcPts val="800"/>
              </a:spcAft>
              <a:defRPr sz="2200" b="0">
                <a:solidFill>
                  <a:srgbClr val="30234F"/>
                </a:solidFill>
                <a:latin typeface="DejaVu Sans"/>
              </a:defRPr>
            </a:pPr>
            <a:r>
              <a:t>Analitik oqim — katta hajmdan umumlashtirilgan natija.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Universitet misolida</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Tushunchalar amaliy tizimda qanday birlashadi?</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10 / 13</a:t>
            </a:r>
          </a:p>
        </p:txBody>
      </p:sp>
      <p:sp>
        <p:nvSpPr>
          <p:cNvPr id="10" name="Rounded Rectangle 9"/>
          <p:cNvSpPr/>
          <p:nvPr/>
        </p:nvSpPr>
        <p:spPr>
          <a:xfrm>
            <a:off x="777240" y="2514600"/>
            <a:ext cx="3401568" cy="1371600"/>
          </a:xfrm>
          <a:prstGeom prst="roundRect">
            <a:avLst>
              <a:gd name="adj" fmla="val 8000"/>
            </a:avLst>
          </a:prstGeom>
          <a:solidFill>
            <a:srgbClr val="FFFFFF"/>
          </a:solidFill>
          <a:ln>
            <a:solidFill>
              <a:srgbClr val="D9CD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724912"/>
            <a:ext cx="3017520" cy="45720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BAHOLAR</a:t>
            </a:r>
          </a:p>
        </p:txBody>
      </p:sp>
      <p:sp>
        <p:nvSpPr>
          <p:cNvPr id="12" name="TextBox 11"/>
          <p:cNvSpPr txBox="1"/>
          <p:nvPr/>
        </p:nvSpPr>
        <p:spPr>
          <a:xfrm>
            <a:off x="960120" y="3319272"/>
            <a:ext cx="3017520" cy="457200"/>
          </a:xfrm>
          <a:prstGeom prst="rect">
            <a:avLst/>
          </a:prstGeom>
          <a:noFill/>
        </p:spPr>
        <p:txBody>
          <a:bodyPr wrap="square" lIns="27432" rIns="27432" tIns="18288" bIns="0">
            <a:spAutoFit/>
          </a:bodyPr>
          <a:lstStyle/>
          <a:p>
            <a:pPr>
              <a:spcAft>
                <a:spcPts val="800"/>
              </a:spcAft>
              <a:defRPr sz="1600" b="0">
                <a:solidFill>
                  <a:srgbClr val="30234F"/>
                </a:solidFill>
                <a:latin typeface="DejaVu Sans"/>
              </a:defRPr>
            </a:pPr>
            <a:r>
              <a:t>Yaxlit tranzaksiyalar</a:t>
            </a:r>
          </a:p>
        </p:txBody>
      </p:sp>
      <p:sp>
        <p:nvSpPr>
          <p:cNvPr id="13" name="Rounded Rectangle 12"/>
          <p:cNvSpPr/>
          <p:nvPr/>
        </p:nvSpPr>
        <p:spPr>
          <a:xfrm>
            <a:off x="4480559" y="2514600"/>
            <a:ext cx="3401568" cy="1371600"/>
          </a:xfrm>
          <a:prstGeom prst="roundRect">
            <a:avLst>
              <a:gd name="adj" fmla="val 8000"/>
            </a:avLst>
          </a:prstGeom>
          <a:solidFill>
            <a:srgbClr val="FFFFFF"/>
          </a:solidFill>
          <a:ln>
            <a:solidFill>
              <a:srgbClr val="D9CD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724912"/>
            <a:ext cx="3017520" cy="45720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HODISALAR</a:t>
            </a:r>
          </a:p>
        </p:txBody>
      </p:sp>
      <p:sp>
        <p:nvSpPr>
          <p:cNvPr id="15" name="TextBox 14"/>
          <p:cNvSpPr txBox="1"/>
          <p:nvPr/>
        </p:nvSpPr>
        <p:spPr>
          <a:xfrm>
            <a:off x="4663440" y="3319272"/>
            <a:ext cx="3017520" cy="457200"/>
          </a:xfrm>
          <a:prstGeom prst="rect">
            <a:avLst/>
          </a:prstGeom>
          <a:noFill/>
        </p:spPr>
        <p:txBody>
          <a:bodyPr wrap="square" lIns="27432" rIns="27432" tIns="18288" bIns="0">
            <a:spAutoFit/>
          </a:bodyPr>
          <a:lstStyle/>
          <a:p>
            <a:pPr>
              <a:spcAft>
                <a:spcPts val="800"/>
              </a:spcAft>
              <a:defRPr sz="1600" b="0">
                <a:solidFill>
                  <a:srgbClr val="30234F"/>
                </a:solidFill>
                <a:latin typeface="DejaVu Sans"/>
              </a:defRPr>
            </a:pPr>
            <a:r>
              <a:t>Tez yozish / kirish</a:t>
            </a:r>
          </a:p>
        </p:txBody>
      </p:sp>
      <p:sp>
        <p:nvSpPr>
          <p:cNvPr id="16" name="Rounded Rectangle 15"/>
          <p:cNvSpPr/>
          <p:nvPr/>
        </p:nvSpPr>
        <p:spPr>
          <a:xfrm>
            <a:off x="8183879" y="2514600"/>
            <a:ext cx="3401568" cy="1371600"/>
          </a:xfrm>
          <a:prstGeom prst="roundRect">
            <a:avLst>
              <a:gd name="adj" fmla="val 8000"/>
            </a:avLst>
          </a:prstGeom>
          <a:solidFill>
            <a:srgbClr val="FFFFFF"/>
          </a:solidFill>
          <a:ln>
            <a:solidFill>
              <a:srgbClr val="D9CD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9" y="2724912"/>
            <a:ext cx="3017520" cy="45720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TAHLIL</a:t>
            </a:r>
          </a:p>
        </p:txBody>
      </p:sp>
      <p:sp>
        <p:nvSpPr>
          <p:cNvPr id="18" name="TextBox 17"/>
          <p:cNvSpPr txBox="1"/>
          <p:nvPr/>
        </p:nvSpPr>
        <p:spPr>
          <a:xfrm>
            <a:off x="8366759" y="3319272"/>
            <a:ext cx="3017520" cy="457200"/>
          </a:xfrm>
          <a:prstGeom prst="rect">
            <a:avLst/>
          </a:prstGeom>
          <a:noFill/>
        </p:spPr>
        <p:txBody>
          <a:bodyPr wrap="square" lIns="27432" rIns="27432" tIns="18288" bIns="0">
            <a:spAutoFit/>
          </a:bodyPr>
          <a:lstStyle/>
          <a:p>
            <a:pPr>
              <a:spcAft>
                <a:spcPts val="800"/>
              </a:spcAft>
              <a:defRPr sz="1600" b="0">
                <a:solidFill>
                  <a:srgbClr val="30234F"/>
                </a:solidFill>
                <a:latin typeface="DejaVu Sans"/>
              </a:defRPr>
            </a:pPr>
            <a:r>
              <a:t>Umumlashtirilgan natija</a:t>
            </a:r>
          </a:p>
        </p:txBody>
      </p:sp>
      <p:sp>
        <p:nvSpPr>
          <p:cNvPr id="19" name="TextBox 18"/>
          <p:cNvSpPr txBox="1"/>
          <p:nvPr/>
        </p:nvSpPr>
        <p:spPr>
          <a:xfrm>
            <a:off x="841248" y="4370832"/>
            <a:ext cx="10469880" cy="1371600"/>
          </a:xfrm>
          <a:prstGeom prst="rect">
            <a:avLst/>
          </a:prstGeom>
          <a:noFill/>
        </p:spPr>
        <p:txBody>
          <a:bodyPr wrap="square" lIns="27432" rIns="27432" tIns="18288" bIns="0">
            <a:spAutoFit/>
          </a:bodyPr>
          <a:lstStyle/>
          <a:p>
            <a:pPr>
              <a:spcAft>
                <a:spcPts val="800"/>
              </a:spcAft>
              <a:defRPr sz="2500" b="0">
                <a:solidFill>
                  <a:srgbClr val="30234F"/>
                </a:solidFill>
                <a:latin typeface="DejaVu Sans"/>
              </a:defRPr>
            </a:pPr>
            <a:r>
              <a:t>Universitet baholarni ishonchli saqlashi, portal hodisalarini tez yozishi va yillik faoliyatni tahlil qilishi kerak. Bu uch vazifa bir xil ma’lumot modelini talab qilmasligi mumkin.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Ko‘p uchraydigan xato tushunchalar</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To‘g‘ri talqin xizmatni ongli tanlashga yordam beradi</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11 / 13</a:t>
            </a:r>
          </a:p>
        </p:txBody>
      </p:sp>
      <p:sp>
        <p:nvSpPr>
          <p:cNvPr id="10" name="Rounded Rectangle 9"/>
          <p:cNvSpPr/>
          <p:nvPr/>
        </p:nvSpPr>
        <p:spPr>
          <a:xfrm>
            <a:off x="758952" y="2514600"/>
            <a:ext cx="10625328"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2688336"/>
            <a:ext cx="548640" cy="50292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01</a:t>
            </a:r>
          </a:p>
        </p:txBody>
      </p:sp>
      <p:sp>
        <p:nvSpPr>
          <p:cNvPr id="12" name="TextBox 11"/>
          <p:cNvSpPr txBox="1"/>
          <p:nvPr/>
        </p:nvSpPr>
        <p:spPr>
          <a:xfrm>
            <a:off x="1700784" y="2660904"/>
            <a:ext cx="9500616" cy="704088"/>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NoSQL doimo sxemasiz yoki tranzaksiyasiz degani emas; xususiyatlar xizmatga bog‘liq.</a:t>
            </a:r>
          </a:p>
        </p:txBody>
      </p:sp>
      <p:sp>
        <p:nvSpPr>
          <p:cNvPr id="13" name="Rounded Rectangle 12"/>
          <p:cNvSpPr/>
          <p:nvPr/>
        </p:nvSpPr>
        <p:spPr>
          <a:xfrm>
            <a:off x="758952" y="3584448"/>
            <a:ext cx="10625328"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3544" y="3758184"/>
            <a:ext cx="548640" cy="50292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02</a:t>
            </a:r>
          </a:p>
        </p:txBody>
      </p:sp>
      <p:sp>
        <p:nvSpPr>
          <p:cNvPr id="15" name="TextBox 14"/>
          <p:cNvSpPr txBox="1"/>
          <p:nvPr/>
        </p:nvSpPr>
        <p:spPr>
          <a:xfrm>
            <a:off x="1700784" y="3730752"/>
            <a:ext cx="9500616" cy="704088"/>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Har bir ma’lumot uchun Hadoop klasteri zarur emas; kichik hajm oddiy SQL bilan tezroq va arzonroq ishlanishi mumkin.</a:t>
            </a:r>
          </a:p>
        </p:txBody>
      </p:sp>
      <p:sp>
        <p:nvSpPr>
          <p:cNvPr id="16" name="Rounded Rectangle 15"/>
          <p:cNvSpPr/>
          <p:nvPr/>
        </p:nvSpPr>
        <p:spPr>
          <a:xfrm>
            <a:off x="758952" y="4654296"/>
            <a:ext cx="10625328" cy="9418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4" y="4828032"/>
            <a:ext cx="548640" cy="502920"/>
          </a:xfrm>
          <a:prstGeom prst="rect">
            <a:avLst/>
          </a:prstGeom>
          <a:noFill/>
        </p:spPr>
        <p:txBody>
          <a:bodyPr wrap="square" lIns="27432" rIns="27432" tIns="18288" bIns="0">
            <a:spAutoFit/>
          </a:bodyPr>
          <a:lstStyle/>
          <a:p>
            <a:pPr>
              <a:spcAft>
                <a:spcPts val="800"/>
              </a:spcAft>
              <a:defRPr sz="2100" b="1">
                <a:solidFill>
                  <a:srgbClr val="7552C8"/>
                </a:solidFill>
                <a:latin typeface="DejaVu Sans"/>
              </a:defRPr>
            </a:pPr>
            <a:r>
              <a:t>03</a:t>
            </a:r>
          </a:p>
        </p:txBody>
      </p:sp>
      <p:sp>
        <p:nvSpPr>
          <p:cNvPr id="18" name="TextBox 17"/>
          <p:cNvSpPr txBox="1"/>
          <p:nvPr/>
        </p:nvSpPr>
        <p:spPr>
          <a:xfrm>
            <a:off x="1700784" y="4800600"/>
            <a:ext cx="9500616" cy="704088"/>
          </a:xfrm>
          <a:prstGeom prst="rect">
            <a:avLst/>
          </a:prstGeom>
          <a:noFill/>
        </p:spPr>
        <p:txBody>
          <a:bodyPr wrap="square" lIns="27432" rIns="27432" tIns="18288" bIns="0">
            <a:spAutoFit/>
          </a:bodyPr>
          <a:lstStyle/>
          <a:p>
            <a:pPr>
              <a:spcAft>
                <a:spcPts val="800"/>
              </a:spcAft>
              <a:defRPr sz="2100" b="0">
                <a:solidFill>
                  <a:srgbClr val="30234F"/>
                </a:solidFill>
                <a:latin typeface="DejaVu Sans"/>
              </a:defRPr>
            </a:pPr>
            <a:r>
              <a:t>Spark ma’lumotlar bazasining to‘liq o‘rnini bosmaydi; kichik tranzaksion so‘rovlar uchun alohida baza mosroq.</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0" y="0"/>
            <a:ext cx="12191695" cy="32004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48640"/>
            <a:ext cx="9784080" cy="292608"/>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DATA NOTEBOOK  /  SQL · NoSQL · ANALYTICS</a:t>
            </a:r>
          </a:p>
        </p:txBody>
      </p:sp>
      <p:sp>
        <p:nvSpPr>
          <p:cNvPr id="4" name="Oval 3"/>
          <p:cNvSpPr/>
          <p:nvPr/>
        </p:nvSpPr>
        <p:spPr>
          <a:xfrm>
            <a:off x="10607040" y="594360"/>
            <a:ext cx="512064" cy="512064"/>
          </a:xfrm>
          <a:prstGeom prst="ellipse">
            <a:avLst/>
          </a:prstGeom>
          <a:solidFill>
            <a:srgbClr val="EE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594360"/>
            <a:ext cx="512064" cy="512064"/>
          </a:xfrm>
          <a:prstGeom prst="ellipse">
            <a:avLst/>
          </a:prstGeom>
          <a:solidFill>
            <a:srgbClr val="D7C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969264"/>
            <a:ext cx="10927080" cy="914400"/>
          </a:xfrm>
          <a:prstGeom prst="rect">
            <a:avLst/>
          </a:prstGeom>
          <a:noFill/>
        </p:spPr>
        <p:txBody>
          <a:bodyPr wrap="square" lIns="27432" rIns="27432" tIns="18288" bIns="0">
            <a:spAutoFit/>
          </a:bodyPr>
          <a:lstStyle/>
          <a:p>
            <a:pPr>
              <a:spcAft>
                <a:spcPts val="800"/>
              </a:spcAft>
              <a:defRPr sz="2800" b="1">
                <a:solidFill>
                  <a:srgbClr val="30234F"/>
                </a:solidFill>
                <a:latin typeface="DejaVu Sans"/>
              </a:defRPr>
            </a:pPr>
            <a:r>
              <a:t>Asosiy xulosalar</a:t>
            </a:r>
          </a:p>
        </p:txBody>
      </p:sp>
      <p:sp>
        <p:nvSpPr>
          <p:cNvPr id="7" name="TextBox 6"/>
          <p:cNvSpPr txBox="1"/>
          <p:nvPr/>
        </p:nvSpPr>
        <p:spPr>
          <a:xfrm>
            <a:off x="594360" y="1847088"/>
            <a:ext cx="10789920" cy="438912"/>
          </a:xfrm>
          <a:prstGeom prst="rect">
            <a:avLst/>
          </a:prstGeom>
          <a:noFill/>
        </p:spPr>
        <p:txBody>
          <a:bodyPr wrap="square" lIns="27432" rIns="27432" tIns="18288" bIns="0">
            <a:spAutoFit/>
          </a:bodyPr>
          <a:lstStyle/>
          <a:p>
            <a:pPr>
              <a:spcAft>
                <a:spcPts val="800"/>
              </a:spcAft>
              <a:defRPr sz="1600" b="0">
                <a:solidFill>
                  <a:srgbClr val="7552C8"/>
                </a:solidFill>
                <a:latin typeface="DejaVu Sans"/>
              </a:defRPr>
            </a:pPr>
            <a:r>
              <a:t>Yodda qoladigan olti fikr</a:t>
            </a:r>
          </a:p>
        </p:txBody>
      </p:sp>
      <p:sp>
        <p:nvSpPr>
          <p:cNvPr id="8" name="TextBox 7"/>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9" name="TextBox 8"/>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12 / 13</a:t>
            </a:r>
          </a:p>
        </p:txBody>
      </p:sp>
      <p:sp>
        <p:nvSpPr>
          <p:cNvPr id="10" name="Oval 9"/>
          <p:cNvSpPr/>
          <p:nvPr/>
        </p:nvSpPr>
        <p:spPr>
          <a:xfrm>
            <a:off x="822959" y="2569464"/>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496312"/>
            <a:ext cx="10168128" cy="475488"/>
          </a:xfrm>
          <a:prstGeom prst="rect">
            <a:avLst/>
          </a:prstGeom>
          <a:noFill/>
        </p:spPr>
        <p:txBody>
          <a:bodyPr wrap="square" lIns="27432" rIns="27432" tIns="18288" bIns="0">
            <a:spAutoFit/>
          </a:bodyPr>
          <a:lstStyle/>
          <a:p>
            <a:pPr>
              <a:spcAft>
                <a:spcPts val="800"/>
              </a:spcAft>
              <a:defRPr sz="2200" b="1">
                <a:solidFill>
                  <a:srgbClr val="30234F"/>
                </a:solidFill>
                <a:latin typeface="DejaVu Sans"/>
              </a:defRPr>
            </a:pPr>
            <a:r>
              <a:t>SQL jadval va tranzaksiyalar bilan ishlaydi.</a:t>
            </a:r>
          </a:p>
        </p:txBody>
      </p:sp>
      <p:sp>
        <p:nvSpPr>
          <p:cNvPr id="12" name="Oval 11"/>
          <p:cNvSpPr/>
          <p:nvPr/>
        </p:nvSpPr>
        <p:spPr>
          <a:xfrm>
            <a:off x="822959" y="3108960"/>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035808"/>
            <a:ext cx="10168128" cy="475488"/>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NoSQL modeli so‘rovga qarab tanlanadi.</a:t>
            </a:r>
          </a:p>
        </p:txBody>
      </p:sp>
      <p:sp>
        <p:nvSpPr>
          <p:cNvPr id="14" name="Oval 13"/>
          <p:cNvSpPr/>
          <p:nvPr/>
        </p:nvSpPr>
        <p:spPr>
          <a:xfrm>
            <a:off x="822959" y="3648456"/>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3575304"/>
            <a:ext cx="10168128" cy="475488"/>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DBaaS barcha mas’uliyatni olib tashlamaydi.</a:t>
            </a:r>
          </a:p>
        </p:txBody>
      </p:sp>
      <p:sp>
        <p:nvSpPr>
          <p:cNvPr id="16" name="Oval 15"/>
          <p:cNvSpPr/>
          <p:nvPr/>
        </p:nvSpPr>
        <p:spPr>
          <a:xfrm>
            <a:off x="822959" y="4187952"/>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114800"/>
            <a:ext cx="10168128" cy="475488"/>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Taqsimlangan SQL muvofiqlikni rejalaydi.</a:t>
            </a:r>
          </a:p>
        </p:txBody>
      </p:sp>
      <p:sp>
        <p:nvSpPr>
          <p:cNvPr id="18" name="Oval 17"/>
          <p:cNvSpPr/>
          <p:nvPr/>
        </p:nvSpPr>
        <p:spPr>
          <a:xfrm>
            <a:off x="822959" y="4727448"/>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654296"/>
            <a:ext cx="10168128" cy="475488"/>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Hadoop ishni qismlarga bo‘lib bajaradi.</a:t>
            </a:r>
          </a:p>
        </p:txBody>
      </p:sp>
      <p:sp>
        <p:nvSpPr>
          <p:cNvPr id="20" name="Oval 19"/>
          <p:cNvSpPr/>
          <p:nvPr/>
        </p:nvSpPr>
        <p:spPr>
          <a:xfrm>
            <a:off x="822959" y="5266944"/>
            <a:ext cx="155448" cy="155448"/>
          </a:xfrm>
          <a:prstGeom prst="ellipse">
            <a:avLst/>
          </a:prstGeom>
          <a:solidFill>
            <a:srgbClr val="1B9F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0432" y="5193792"/>
            <a:ext cx="10168128" cy="475488"/>
          </a:xfrm>
          <a:prstGeom prst="rect">
            <a:avLst/>
          </a:prstGeom>
          <a:noFill/>
        </p:spPr>
        <p:txBody>
          <a:bodyPr wrap="square" lIns="27432" rIns="27432" tIns="18288" bIns="0">
            <a:spAutoFit/>
          </a:bodyPr>
          <a:lstStyle/>
          <a:p>
            <a:pPr>
              <a:spcAft>
                <a:spcPts val="800"/>
              </a:spcAft>
              <a:defRPr sz="2200" b="0">
                <a:solidFill>
                  <a:srgbClr val="30234F"/>
                </a:solidFill>
                <a:latin typeface="DejaVu Sans"/>
              </a:defRPr>
            </a:pPr>
            <a:r>
              <a:t>Spark — parallel tahlil dvijogi.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6FD"/>
        </a:solidFill>
        <a:effectLst/>
      </p:bgPr>
    </p:bg>
    <p:spTree>
      <p:nvGrpSpPr>
        <p:cNvPr id="1" name=""/>
        <p:cNvGrpSpPr/>
        <p:nvPr/>
      </p:nvGrpSpPr>
      <p:grpSpPr/>
      <p:sp>
        <p:nvSpPr>
          <p:cNvPr id="2" name="Rectangle 1"/>
          <p:cNvSpPr/>
          <p:nvPr/>
        </p:nvSpPr>
        <p:spPr>
          <a:xfrm>
            <a:off x="502920" y="548640"/>
            <a:ext cx="109728" cy="640080"/>
          </a:xfrm>
          <a:prstGeom prst="rect">
            <a:avLst/>
          </a:prstGeom>
          <a:solidFill>
            <a:srgbClr val="7552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789920" cy="777240"/>
          </a:xfrm>
          <a:prstGeom prst="rect">
            <a:avLst/>
          </a:prstGeom>
          <a:noFill/>
        </p:spPr>
        <p:txBody>
          <a:bodyPr wrap="square" lIns="27432" rIns="27432" tIns="18288" bIns="0">
            <a:spAutoFit/>
          </a:bodyPr>
          <a:lstStyle/>
          <a:p>
            <a:pPr>
              <a:spcAft>
                <a:spcPts val="800"/>
              </a:spcAft>
              <a:defRPr sz="2900" b="1">
                <a:solidFill>
                  <a:srgbClr val="30234F"/>
                </a:solidFill>
                <a:latin typeface="DejaVu Sans"/>
              </a:defRPr>
            </a:pPr>
            <a:r>
              <a:t>Manbalar va rasm manbasi</a:t>
            </a:r>
          </a:p>
        </p:txBody>
      </p:sp>
      <p:sp>
        <p:nvSpPr>
          <p:cNvPr id="4" name="TextBox 3"/>
          <p:cNvSpPr txBox="1"/>
          <p:nvPr/>
        </p:nvSpPr>
        <p:spPr>
          <a:xfrm>
            <a:off x="731520" y="1600200"/>
            <a:ext cx="10789920" cy="594360"/>
          </a:xfrm>
          <a:prstGeom prst="rect">
            <a:avLst/>
          </a:prstGeom>
          <a:noFill/>
        </p:spPr>
        <p:txBody>
          <a:bodyPr wrap="square" lIns="27432" rIns="27432" tIns="18288" bIns="0">
            <a:spAutoFit/>
          </a:bodyPr>
          <a:lstStyle/>
          <a:p>
            <a:pPr>
              <a:spcAft>
                <a:spcPts val="800"/>
              </a:spcAft>
              <a:defRPr sz="1700" b="0">
                <a:solidFill>
                  <a:srgbClr val="30234F"/>
                </a:solidFill>
                <a:latin typeface="DejaVu Sans"/>
              </a:defRPr>
            </a:pPr>
            <a:r>
              <a:t>Asos: BTST206, 2027–2028 sillabusi. Rasmiy texnik hujjatlar:</a:t>
            </a:r>
          </a:p>
        </p:txBody>
      </p:sp>
      <p:sp>
        <p:nvSpPr>
          <p:cNvPr id="5" name="TextBox 4"/>
          <p:cNvSpPr txBox="1"/>
          <p:nvPr/>
        </p:nvSpPr>
        <p:spPr>
          <a:xfrm>
            <a:off x="777240" y="2286000"/>
            <a:ext cx="10652760" cy="365760"/>
          </a:xfrm>
          <a:prstGeom prst="rect">
            <a:avLst/>
          </a:prstGeom>
          <a:noFill/>
        </p:spPr>
        <p:txBody>
          <a:bodyPr wrap="square" lIns="27432" rIns="27432" tIns="18288" bIns="0">
            <a:spAutoFit/>
          </a:bodyPr>
          <a:lstStyle/>
          <a:p>
            <a:pPr>
              <a:spcAft>
                <a:spcPts val="800"/>
              </a:spcAft>
              <a:defRPr sz="1300" b="0">
                <a:solidFill>
                  <a:srgbClr val="7552C8"/>
                </a:solidFill>
                <a:latin typeface="DejaVu Sans"/>
              </a:defRPr>
            </a:pPr>
            <a:r>
              <a:t>https://docs.aws.amazon.com/AmazonRDS/latest/UserGuide/</a:t>
            </a:r>
          </a:p>
        </p:txBody>
      </p:sp>
      <p:sp>
        <p:nvSpPr>
          <p:cNvPr id="6" name="TextBox 5"/>
          <p:cNvSpPr txBox="1"/>
          <p:nvPr/>
        </p:nvSpPr>
        <p:spPr>
          <a:xfrm>
            <a:off x="777240" y="2715768"/>
            <a:ext cx="10652760" cy="365760"/>
          </a:xfrm>
          <a:prstGeom prst="rect">
            <a:avLst/>
          </a:prstGeom>
          <a:noFill/>
        </p:spPr>
        <p:txBody>
          <a:bodyPr wrap="square" lIns="27432" rIns="27432" tIns="18288" bIns="0">
            <a:spAutoFit/>
          </a:bodyPr>
          <a:lstStyle/>
          <a:p>
            <a:pPr>
              <a:spcAft>
                <a:spcPts val="800"/>
              </a:spcAft>
              <a:defRPr sz="1300" b="0">
                <a:solidFill>
                  <a:srgbClr val="7552C8"/>
                </a:solidFill>
                <a:latin typeface="DejaVu Sans"/>
              </a:defRPr>
            </a:pPr>
            <a:r>
              <a:t>https://docs.aws.amazon.com/amazondynamodb/latest/developerguide/</a:t>
            </a:r>
          </a:p>
        </p:txBody>
      </p:sp>
      <p:sp>
        <p:nvSpPr>
          <p:cNvPr id="7" name="TextBox 6"/>
          <p:cNvSpPr txBox="1"/>
          <p:nvPr/>
        </p:nvSpPr>
        <p:spPr>
          <a:xfrm>
            <a:off x="777240" y="3145536"/>
            <a:ext cx="10652760" cy="365760"/>
          </a:xfrm>
          <a:prstGeom prst="rect">
            <a:avLst/>
          </a:prstGeom>
          <a:noFill/>
        </p:spPr>
        <p:txBody>
          <a:bodyPr wrap="square" lIns="27432" rIns="27432" tIns="18288" bIns="0">
            <a:spAutoFit/>
          </a:bodyPr>
          <a:lstStyle/>
          <a:p>
            <a:pPr>
              <a:spcAft>
                <a:spcPts val="800"/>
              </a:spcAft>
              <a:defRPr sz="1300" b="0">
                <a:solidFill>
                  <a:srgbClr val="7552C8"/>
                </a:solidFill>
                <a:latin typeface="DejaVu Sans"/>
              </a:defRPr>
            </a:pPr>
            <a:r>
              <a:t>https://hadoop.apache.org/docs/stable/</a:t>
            </a:r>
          </a:p>
        </p:txBody>
      </p:sp>
      <p:sp>
        <p:nvSpPr>
          <p:cNvPr id="8" name="TextBox 7"/>
          <p:cNvSpPr txBox="1"/>
          <p:nvPr/>
        </p:nvSpPr>
        <p:spPr>
          <a:xfrm>
            <a:off x="777240" y="3575304"/>
            <a:ext cx="10652760" cy="365760"/>
          </a:xfrm>
          <a:prstGeom prst="rect">
            <a:avLst/>
          </a:prstGeom>
          <a:noFill/>
        </p:spPr>
        <p:txBody>
          <a:bodyPr wrap="square" lIns="27432" rIns="27432" tIns="18288" bIns="0">
            <a:spAutoFit/>
          </a:bodyPr>
          <a:lstStyle/>
          <a:p>
            <a:pPr>
              <a:spcAft>
                <a:spcPts val="800"/>
              </a:spcAft>
              <a:defRPr sz="1300" b="0">
                <a:solidFill>
                  <a:srgbClr val="7552C8"/>
                </a:solidFill>
                <a:latin typeface="DejaVu Sans"/>
              </a:defRPr>
            </a:pPr>
            <a:r>
              <a:t>https://spark.apache.org/docs/latest/</a:t>
            </a:r>
          </a:p>
        </p:txBody>
      </p:sp>
      <p:sp>
        <p:nvSpPr>
          <p:cNvPr id="9" name="TextBox 8"/>
          <p:cNvSpPr txBox="1"/>
          <p:nvPr/>
        </p:nvSpPr>
        <p:spPr>
          <a:xfrm>
            <a:off x="777240" y="4251960"/>
            <a:ext cx="10652760" cy="365760"/>
          </a:xfrm>
          <a:prstGeom prst="rect">
            <a:avLst/>
          </a:prstGeom>
          <a:noFill/>
        </p:spPr>
        <p:txBody>
          <a:bodyPr wrap="square" lIns="27432" rIns="27432" tIns="18288" bIns="0">
            <a:spAutoFit/>
          </a:bodyPr>
          <a:lstStyle/>
          <a:p>
            <a:pPr>
              <a:spcAft>
                <a:spcPts val="800"/>
              </a:spcAft>
              <a:defRPr sz="1200" b="1">
                <a:solidFill>
                  <a:srgbClr val="7552C8"/>
                </a:solidFill>
                <a:latin typeface="DejaVu Sans"/>
              </a:defRPr>
            </a:pPr>
            <a:r>
              <a:t>INTERNET RASMI</a:t>
            </a:r>
          </a:p>
        </p:txBody>
      </p:sp>
      <p:sp>
        <p:nvSpPr>
          <p:cNvPr id="10" name="TextBox 9"/>
          <p:cNvSpPr txBox="1"/>
          <p:nvPr/>
        </p:nvSpPr>
        <p:spPr>
          <a:xfrm>
            <a:off x="777240" y="4663440"/>
            <a:ext cx="10652760" cy="576072"/>
          </a:xfrm>
          <a:prstGeom prst="rect">
            <a:avLst/>
          </a:prstGeom>
          <a:noFill/>
        </p:spPr>
        <p:txBody>
          <a:bodyPr wrap="square" lIns="27432" rIns="27432" tIns="18288" bIns="0">
            <a:spAutoFit/>
          </a:bodyPr>
          <a:lstStyle/>
          <a:p>
            <a:pPr>
              <a:spcAft>
                <a:spcPts val="800"/>
              </a:spcAft>
              <a:defRPr sz="1400" b="0">
                <a:solidFill>
                  <a:srgbClr val="30234F"/>
                </a:solidFill>
                <a:latin typeface="DejaVu Sans"/>
              </a:defRPr>
            </a:pPr>
            <a:r>
              <a:t>The Apache Software Foundation</a:t>
            </a:r>
          </a:p>
        </p:txBody>
      </p:sp>
      <p:sp>
        <p:nvSpPr>
          <p:cNvPr id="11" name="TextBox 10"/>
          <p:cNvSpPr txBox="1"/>
          <p:nvPr/>
        </p:nvSpPr>
        <p:spPr>
          <a:xfrm>
            <a:off x="777240" y="5285232"/>
            <a:ext cx="10652760" cy="64008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https://raw.githubusercontent.com/cncf/landscape/master/hosted_logos/apache-spark.svg</a:t>
            </a:r>
          </a:p>
        </p:txBody>
      </p:sp>
      <p:sp>
        <p:nvSpPr>
          <p:cNvPr id="12" name="TextBox 11"/>
          <p:cNvSpPr txBox="1"/>
          <p:nvPr/>
        </p:nvSpPr>
        <p:spPr>
          <a:xfrm>
            <a:off x="777240" y="6035040"/>
            <a:ext cx="10652760" cy="320040"/>
          </a:xfrm>
          <a:prstGeom prst="rect">
            <a:avLst/>
          </a:prstGeom>
          <a:noFill/>
        </p:spPr>
        <p:txBody>
          <a:bodyPr wrap="square" lIns="27432" rIns="27432" tIns="18288" bIns="0">
            <a:spAutoFit/>
          </a:bodyPr>
          <a:lstStyle/>
          <a:p>
            <a:pPr>
              <a:spcAft>
                <a:spcPts val="800"/>
              </a:spcAft>
              <a:defRPr sz="1100" b="0">
                <a:solidFill>
                  <a:srgbClr val="30234F"/>
                </a:solidFill>
                <a:latin typeface="DejaVu Sans"/>
              </a:defRPr>
            </a:pPr>
            <a:r>
              <a:t>Barcha rasm manbalari va foydalanish izohlari: ASSET_SOURCES.md</a:t>
            </a:r>
          </a:p>
        </p:txBody>
      </p:sp>
      <p:sp>
        <p:nvSpPr>
          <p:cNvPr id="13" name="TextBox 12"/>
          <p:cNvSpPr txBox="1"/>
          <p:nvPr/>
        </p:nvSpPr>
        <p:spPr>
          <a:xfrm>
            <a:off x="502920" y="6537960"/>
            <a:ext cx="9144000" cy="210312"/>
          </a:xfrm>
          <a:prstGeom prst="rect">
            <a:avLst/>
          </a:prstGeom>
          <a:noFill/>
        </p:spPr>
        <p:txBody>
          <a:bodyPr wrap="square" lIns="27432" rIns="27432" tIns="18288" bIns="0">
            <a:spAutoFit/>
          </a:bodyPr>
          <a:lstStyle/>
          <a:p>
            <a:pPr>
              <a:spcAft>
                <a:spcPts val="800"/>
              </a:spcAft>
              <a:defRPr sz="900" b="0">
                <a:solidFill>
                  <a:srgbClr val="30234F"/>
                </a:solidFill>
                <a:latin typeface="DejaVu Sans"/>
              </a:defRPr>
            </a:pPr>
            <a:r>
              <a:t>BTST206   /   M09   /   2027–2028</a:t>
            </a:r>
          </a:p>
        </p:txBody>
      </p:sp>
      <p:sp>
        <p:nvSpPr>
          <p:cNvPr id="14" name="TextBox 13"/>
          <p:cNvSpPr txBox="1"/>
          <p:nvPr/>
        </p:nvSpPr>
        <p:spPr>
          <a:xfrm>
            <a:off x="10789920" y="6492240"/>
            <a:ext cx="822960" cy="274320"/>
          </a:xfrm>
          <a:prstGeom prst="rect">
            <a:avLst/>
          </a:prstGeom>
          <a:noFill/>
        </p:spPr>
        <p:txBody>
          <a:bodyPr wrap="square" lIns="27432" rIns="27432" tIns="18288" bIns="0">
            <a:spAutoFit/>
          </a:bodyPr>
          <a:lstStyle/>
          <a:p>
            <a:pPr>
              <a:spcAft>
                <a:spcPts val="800"/>
              </a:spcAft>
              <a:defRPr sz="1000" b="0">
                <a:solidFill>
                  <a:srgbClr val="30234F"/>
                </a:solidFill>
                <a:latin typeface="DejaVu Sans"/>
              </a:defRPr>
            </a:pPr>
            <a: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