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Assalomu alaykum, aziz talabalar. Bugungi ma’ruzamiz «Amazon Web Services bulut platformasi» mavzusiga bag‘ishlanadi. Mavzuni murakkab atamalardan emas, kundalik ehtiyojdan boshlaymiz. Universitet AWS da portal qurmoqda. Ilova EC2 da ishlaydi, talabalar ma’lumoti RDS da, videolar S3 da saqlanadi. IAM va VPC bu qismlar orasidagi kirishni cheklaydi.</a:t>
            </a:r>
          </a:p>
          <a:p/>
          <a:p>
            <a:r>
              <a:t>Biz avval asosiy tushunchalarni ajratamiz, keyin ularning ishlash tartibini sxemada ko‘ramiz. Maqsad xizmat nomlarini yodlash emas, ularning qaysi vazifani bajarishini va qayerda cheklanishini tushunishdir. Inglizcha atama uchraganda uning sodda o‘zbekcha ma’nosi bilan bog‘laymiz. Slayddagi qisqa jumlalar tayanch fikrlar bo‘lib, ularning batafsil izohi ushbu ma’ruza matnida beriladi.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Ma’ruza oltita asosiy bo‘limdan iborat. 1-bo‘limda aws global arxitekturasi tushuntiriladi. 2-bo‘limda ec2: hisoblash xizmati tushuntiriladi. 3-bo‘limda s3: obyekt saqlash tushuntiriladi. 4-bo‘limda rds: boshqariladigan relatsion baza tushuntiriladi. 5-bo‘limda vpc va iam ni birga qo‘llash tushuntiriladi. 6-bo‘limda lambda va kuzatuv tushuntiriladi.</a:t>
            </a:r>
          </a:p>
          <a:p/>
          <a:p>
            <a:r>
              <a:t>Har bir bo‘limda bir xil fikrlash tartibidan foydalanamiz: tushuncha nimani anglatadi, qanday ishlaydi, universitet portalida qayerda ko‘rinadi va qaysi holatda ehtiyot bo‘lish kerak. Shundan keyin umumiy sxema barcha qismlarni bir-biriga bog‘laydi. Oxirida o‘qituvchi bayon qiladigan misol, chalkash tushunchalar va yakuniy xulosalar beriladi. Bu ketma-ketlik amaliy topshiriq emas, videodarsning tushuntirish rejasidir.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Region geografik hududdagi infratuzilma guruhidir. Availability Zone bir yoki bir nechta ma’lumotlar markaziga tayangan mustaqil nosozlik hududidir. Hudud tanlash kechikish, xizmat mavjudligi va ma’lumot joylashuviga ta’sir qiladi.</a:t>
            </a:r>
          </a:p>
          <a:p/>
          <a:p>
            <a:r>
              <a:t>Muhim ilova bir nechta zonada joylashtiriladi. Resurslarning ayrimlari hududga, boshqalari zonaga yoki global ko‘lamga tegishli. Har bir xizmat uchun bu xususiyat tekshiriladi.</a:t>
            </a:r>
          </a:p>
          <a:p/>
          <a:p>
            <a:r>
              <a:t>Universitet misolida buni quyidagicha tasavvur qilamiz. Portal nusxalari ikki zonada, ularga kirish esa Application Load Balancer orqali tashkil etiladi. Bu misolda texnik atama real vazifa bilan bog‘lanadi: resursning nomini emas, nima uchun tanlanganini tushunish muhim.</a:t>
            </a:r>
          </a:p>
          <a:p/>
          <a:p>
            <a:r>
              <a:t>E’tibor beradigan chegara ham bor. Bir Region ichidagi ikki nusxa boshqa Region darajasidagi uzilishdan to‘liq himoya bermaydi.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 EC2 virtual mashinalarni ishga tushirish xizmatidir. Instance turi CPU, xotira va boshqa imkoniyatlarni belgilaydi. AMI boshlang‘ich tizim andozasi, EBS esa ko‘p holatda doimiy blokli disk vazifasini bajaradi.</a:t>
            </a:r>
          </a:p>
          <a:p/>
          <a:p>
            <a:r>
              <a:t>Instance private subnet da ishga tushiriladi, unga IAM role va xavfsizlik guruhlari biriktiriladi. Ilova loglari va metrikalari kuzatuv xizmatiga yuboriladi.</a:t>
            </a:r>
          </a:p>
          <a:p/>
          <a:p>
            <a:r>
              <a:t>Universitet misolida buni quyidagicha tasavvur qilamiz. Portal ilovasi ikkita EC2 nusxasida ishlaydi, yangilanish esa bir nusxadan boshlab tekshiriladi. Bu misolda texnik atama real vazifa bilan bog‘lanadi: resursning nomini emas, nima uchun tanlanganini tushunish muhim.</a:t>
            </a:r>
          </a:p>
          <a:p/>
          <a:p>
            <a:r>
              <a:t>E’tibor beradigan chegara ham bor. EC2 da operatsion tizim va dastur yangilanishi odatda mijoz mas’uliyatida qoladi.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 S3 obyektlarni bucket ichida saqlaydi. Video, rasm, statik fayl va zaxira uchun keng qo‘llanadi. Kirish IAM va bucket siyosatlari bilan boshqariladi. Versioning eski nusxalarni ushlashga yordam beradi.</a:t>
            </a:r>
          </a:p>
          <a:p/>
          <a:p>
            <a:r>
              <a:t>Ilova obyektni API orqali yuklaydi. Talaba faylni tegishli ruxsat yoki vaqtli imzolangan manzil orqali olishi mumkin. Lifecycle qoidalari saqlash sinfini boshqaradi.</a:t>
            </a:r>
          </a:p>
          <a:p/>
          <a:p>
            <a:r>
              <a:t>Universitet misolida buni quyidagicha tasavvur qilamiz. Ma’ruza videosi S3 da saqlanadi, ommaviy tarqatish zarur bo‘lsa CloudFront qo‘shiladi. Bu misolda texnik atama real vazifa bilan bog‘lanadi: resursning nomini emas, nima uchun tanlanganini tushunish muhim.</a:t>
            </a:r>
          </a:p>
          <a:p/>
          <a:p>
            <a:r>
              <a:t>E’tibor beradigan chegara ham bor. S3 odatiy virtual disk emas; uni blokli disk kabi taxmin qilish dastur mosligini buzishi mumkin.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 RDS qo‘llab-quvvatlanadigan relatsion baza dvijoklarini boshqarishga yordam beradi. Yangilash, avtomatik zaxiralash va mavjudlik imkoniyatlari konfiguratsiyaga qarab qo‘llanadi. Jadval, indeks va so‘rov sifati esa mijozda qoladi.</a:t>
            </a:r>
          </a:p>
          <a:p/>
          <a:p>
            <a:r>
              <a:t>Baza private subnet guruhida yaratiladi. Xavfsizlik guruhi faqat ilova ulanishiga ruxsat beradi. Zaxira saqlash muddati va tiklash talablari alohida tekshiriladi.</a:t>
            </a:r>
          </a:p>
          <a:p/>
          <a:p>
            <a:r>
              <a:t>Universitet misolida buni quyidagicha tasavvur qilamiz. Talaba va baholar PostgreSQL asosidagi RDS bazasida saqlanadi. Bu misolda texnik atama real vazifa bilan bog‘lanadi: resursning nomini emas, nima uchun tanlanganini tushunish muhim.</a:t>
            </a:r>
          </a:p>
          <a:p/>
          <a:p>
            <a:r>
              <a:t>E’tibor beradigan chegara ham bor. Read replica o‘qishni kengaytirish va ayrim tiklash vazifalari uchun; u har doim Multi-AZ failover bilan bir xil emas.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VPC resurslarning tarmoq joylashuvini, IAM esa xizmat amallariga kim ruxsat olishini boshqaradi. Security group tarmoq trafikini cheklaydi. Ushbu qatlamlar bir-birini to‘ldiradi, lekin vazifalari bir xil emas.</a:t>
            </a:r>
          </a:p>
          <a:p/>
          <a:p>
            <a:r>
              <a:t>EC2 roli S3 dagi tegishli obyektlarni o‘qishga ruxsat oladi. Baza porti faqat ilova xavfsizlik guruhiga ochiladi. Administrator kirishi alohida boshqariladi.</a:t>
            </a:r>
          </a:p>
          <a:p/>
          <a:p>
            <a:r>
              <a:t>Universitet misolida buni quyidagicha tasavvur qilamiz. Portal S3 dan video metadata sini o‘qiy oladi, lekin boshqa loyihaning bucket ini o‘chira olmaydi. Bu misolda texnik atama real vazifa bilan bog‘lanadi: resursning nomini emas, nima uchun tanlanganini tushunish muhim.</a:t>
            </a:r>
          </a:p>
          <a:p/>
          <a:p>
            <a:r>
              <a:t>E’tibor beradigan chegara ham bor. Tarmoq orqali yetib borish resurs ustida amal bajarishga ruxsat borligini bildirmaydi.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 Lambda hodisa kelganda funksiyani bajaradi. CloudWatch log, metrika va ogohlantirishlar bilan kuzatuvga yordam beradi. Kichik yordamchi vazifani doim ishlaydigan serverdan ajratish arxitekturani soddalashtirishi mumkin.</a:t>
            </a:r>
          </a:p>
          <a:p/>
          <a:p>
            <a:r>
              <a:t>S3 ga rasm tushganda hodisa Lambda ni chaqiradi. Funksiya tekshiruvdan so‘ng kichik nusxani yaratadi. Xato va bajarilish vaqti metrikalarda kuzatiladi.</a:t>
            </a:r>
          </a:p>
          <a:p/>
          <a:p>
            <a:r>
              <a:t>Universitet misolida buni quyidagicha tasavvur qilamiz. Talaba profil rasmini yuklaganda avtomatik thumbnail yaratiladi, asosiy portal nusxalari esa bu ish bilan band bo‘lmaydi. Bu misolda texnik atama real vazifa bilan bog‘lanadi: resursning nomini emas, nima uchun tanlanganini tushunish muhim.</a:t>
            </a:r>
          </a:p>
          <a:p/>
          <a:p>
            <a:r>
              <a:t>E’tibor beradigan chegara ham bor. Qayta urinish va takroriy hodisa kelishi mumkin; funksiya bir ishni qayta bajarishda xavfsiz bo‘lishi kerak. Shuning uchun texnik qaror chiqarishda slayddagi asosiy fikr bilan birga shu shartni ham yodda tutamiz.</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Endi mavzuni yaxlit sxemada ko‘ramiz. To‘rtburchaklar asosiy komponentlarni, o‘qlar esa ma’lumot, murojaat yoki boshqaruv bog‘lanishini ko‘rsatadi. Bu soddalashtirilgan ta’lim sxemasi: unda barcha xavfsizlik qoidalari, ichki protokollar va zaxira komponentlari alohida chizilmagan.</a:t>
            </a:r>
          </a:p>
          <a:p/>
          <a:p>
            <a:r>
              <a:t>«ALB · tashqi kirish» bilan «EC2 · ilova» o‘rtasida sxemada bog‘lanish ko‘rsatilgan. «EC2 · ilova» bilan «RDS · private baza» o‘rtasida sxemada bog‘lanish ko‘rsatilgan. «EC2 · ilova» bilan «S3 · fayllar» o‘rtasida sxemada bog‘lanish ko‘rsatilgan. «S3 · fayllar» bilan «Lambda · rasm» o‘rtasida sxemada bog‘lanish ko‘rsatilgan.</a:t>
            </a:r>
          </a:p>
          <a:p/>
          <a:p>
            <a:r>
              <a:t>Bu bog‘lanishlarni barcha xizmatlarda bir xil buyruq yoki bir xil fizik kabel deb tushunmaymiz. Ayrim o‘qlar bajarilish ketma-ketligini, ayrimlari resursni boshqarish yoki unga kirish aloqasini anglatadi. Instance private subnet da ishga tushiriladi, unga IAM role va xavfsizlik guruhlari biriktiriladi. Ilova loglari va metrikalari kuzatuv xizmatiga yuboriladi.</a:t>
            </a:r>
          </a:p>
          <a:p/>
          <a:p>
            <a:r>
              <a:t>Sxemaning asosiy foydasi mas’uliyatlarni ajratib ko‘rsatishdir. Portal S3 dan video metadata sini o‘qiy oladi, lekin boshqa loyihaning bucket ini o‘chira olmaydi. Bir qismdagi o‘zgarish boshqasiga qanday ta’sir qilishini ko‘rish orqali murakkab tizimni kichik va tushunarli qismlarga ajratamiz.</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Keling, nazariyani bitta izchil vaziyat bilan bog‘laymiz. Universitet AWS da portal qurmoqda. Ilova EC2 da ishlaydi, talabalar ma’lumoti RDS da, videolar S3 da saqlanadi. IAM va VPC bu qismlar orasidagi kirishni cheklaydi.</a:t>
            </a:r>
          </a:p>
          <a:p/>
          <a:p>
            <a:r>
              <a:t>Avval ehtiyoj aniqlanadi: kim tizimdan foydalanadi, qaysi ma’lumot bilan ishlanadi va qanday natija kutiladi. Portal nusxalari ikki zonada, ularga kirish esa Application Load Balancer orqali tashkil etiladi. Keyin texnik qismlar shu talabga mos tanlanadi. Ma’ruza videosi S3 da saqlanadi, ommaviy tarqatish zarur bo‘lsa CloudFront qo‘shiladi.</a:t>
            </a:r>
          </a:p>
          <a:p/>
          <a:p>
            <a:r>
              <a:t>Ishlash jarayonida faqat muvaffaqiyatli holat emas, xato va cheklovlar ham hisobga olinadi. Read replica o‘qishni kengaytirish va ayrim tiklash vazifalari uchun; u har doim Multi-AZ failover bilan bir xil emas. Shu sababli jamoa talabni, ruxsatni va nosozlikdagi xatti-harakatni oldindan belgilaydi. Talaba profil rasmini yuklaganda avtomatik thumbnail yaratiladi, asosiy portal nusxalari esa bu ish bilan band bo‘lmaydi.</a:t>
            </a:r>
          </a:p>
          <a:p/>
          <a:p>
            <a:r>
              <a:t>Misolning xulosasi shuki, texnologiya alohida maqsad emas. U talabaga kerakli xizmatni sodda, xavfsiz va barqaror yetkazishga xizmat qiladi. Slayddagi tayanch qismlar ishni rejalashga yordam beradi; haqiqiy joylashtirishda esa aniq konfiguratsiya va amaldagi hujjatlar talab qilinadi.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Mavzuni to‘g‘ri tushunish uchun uchta chegarani qayta ajratamiz.</a:t>
            </a:r>
          </a:p>
          <a:p/>
          <a:p>
            <a:r>
              <a:t>1. Bir Region ichidagi ikki nusxa boshqa Region darajasidagi uzilishdan to‘liq himoya bermaydi. To‘g‘ri talqin quyidagicha: AWS Region geografik hududdagi infratuzilma guruhidir. Availability Zone bir yoki bir nechta ma’lumotlar markaziga tayangan mustaqil nosozlik hududidir. Hudud tanlash kechikish, xizmat mavjudligi va ma’lumot joylashuviga ta’sir qiladi.</a:t>
            </a:r>
          </a:p>
          <a:p/>
          <a:p>
            <a:r>
              <a:t>2. Read replica o‘qishni kengaytirish va ayrim tiklash vazifalari uchun; u har doim Multi-AZ failover bilan bir xil emas. To‘g‘ri talqin quyidagicha: Amazon RDS qo‘llab-quvvatlanadigan relatsion baza dvijoklarini boshqarishga yordam beradi. Yangilash, avtomatik zaxiralash va mavjudlik imkoniyatlari konfiguratsiyaga qarab qo‘llanadi. Jadval, indeks va so‘rov sifati esa mijozda qoladi.</a:t>
            </a:r>
          </a:p>
          <a:p/>
          <a:p>
            <a:r>
              <a:t>3. Qayta urinish va takroriy hodisa kelishi mumkin; funksiya bir ishni qayta bajarishda xavfsiz bo‘lishi kerak. To‘g‘ri talqin quyidagicha: AWS Lambda hodisa kelganda funksiyani bajaradi. CloudWatch log, metrika va ogohlantirishlar bilan kuzatuvga yordam beradi. Kichik yordamchi vazifani doim ishlaydigan serverdan ajratish arxitekturani soddalashtirishi mumkin.</a:t>
            </a:r>
          </a:p>
          <a:p/>
          <a:p>
            <a:r>
              <a:t>Bu izohlar texnologiyani rad etish uchun emas, undan o‘rinli foydalanish uchun kerak. Ta’rif, amaliy vazifa va shart birga o‘qilgandagina to‘g‘ri xulosa paydo bo‘ladi. Shuning uchun xizmat nomi yoki bitta imkoniyatga qarab butun tizim haqida umumiy hukm chiqarmaymiz.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Bugungi ma’ruzani yakunlaymiz. EC2, S3, RDS, VPC, IAM va Lambda bir tizimda — mavzuning umumiy mazmunini ifodalaydi.</a:t>
            </a:r>
          </a:p>
          <a:p/>
          <a:p>
            <a:r>
              <a:t>Asosiy tayanch fikr: Region → Availability Zone → xizmat resurslari. Muhim ilova bir nechta zonada joylashtiriladi. Resurslarning ayrimlari hududga, boshqalari zonaga yoki global ko‘lamga tegishli. Har bir xizmat uchun bu xususiyat tekshiriladi.</a:t>
            </a:r>
          </a:p>
          <a:p/>
          <a:p>
            <a:r>
              <a:t>Asosiy tayanch fikr: Bucket va key orqali fayllarga murojaat qilish. Ilova obyektni API orqali yuklaydi. Talaba faylni tegishli ruxsat yoki vaqtli imzolangan manzil orqali olishi mumkin. Lifecycle qoidalari saqlash sinfini boshqaradi.</a:t>
            </a:r>
          </a:p>
          <a:p/>
          <a:p>
            <a:r>
              <a:t>Asosiy tayanch fikr: Tarmoq yo‘li va amal ruxsati — ikki xil nazorat. EC2 roli S3 dagi tegishli obyektlarni o‘qishga ruxsat oladi. Baza porti faqat ilova xavfsizlik guruhiga ochiladi. Administrator kirishi alohida boshqariladi.</a:t>
            </a:r>
          </a:p>
          <a:p/>
          <a:p>
            <a:r>
              <a:t>Barcha bo‘limlarni universitet portali misoli orqali bog‘ladik. Endi atamalarni alohida so‘z sifatida emas, tizimdagi aniq vazifa sifatida ko‘rish mumkin. Arxitektura tanlashda talab, cheklov, xavfsizlik va xarajat birgalikda baholanadi. Mavzuni takrorlashda avval ta’rifni, keyin sxemani, so‘ng misol va chegaralarni ko‘zdan kechirish foydali. E’tiboringiz uchun rahmat.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mavzu foydalanuvchi taqdim etgan BTST206 sillabusidagi tegishli ma’ruza bo‘limi asosida tuzildi. Slaydda mavzuni chuqurroq o‘qish uchun rasmiy hujjatlarga havolalar ko‘rsatilgan. Xizmatlar yangilanib boradi, shuning uchun amaliy ish oldidan tanlangan versiya, region, tarif va limitlar tekshiriladi. Bu ma’ruzada maqsad o‘zgaruvchan raqamlarni yodlash emas, barqaror tamoyillarni tushunishdir.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55448"/>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640080"/>
            <a:ext cx="1234440" cy="585216"/>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86384"/>
            <a:ext cx="914400" cy="365760"/>
          </a:xfrm>
          <a:prstGeom prst="rect">
            <a:avLst/>
          </a:prstGeom>
          <a:noFill/>
        </p:spPr>
        <p:txBody>
          <a:bodyPr wrap="square" lIns="27432" rIns="27432" tIns="18288" bIns="0">
            <a:spAutoFit/>
          </a:bodyPr>
          <a:lstStyle/>
          <a:p>
            <a:pPr>
              <a:spcAft>
                <a:spcPts val="800"/>
              </a:spcAft>
              <a:defRPr sz="2200" b="1">
                <a:solidFill>
                  <a:srgbClr val="FFFFFF"/>
                </a:solidFill>
                <a:latin typeface="DejaVu Sans"/>
              </a:defRPr>
            </a:pPr>
            <a:r>
              <a:t>AWS</a:t>
            </a:r>
          </a:p>
        </p:txBody>
      </p:sp>
      <p:sp>
        <p:nvSpPr>
          <p:cNvPr id="5" name="TextBox 4"/>
          <p:cNvSpPr txBox="1"/>
          <p:nvPr/>
        </p:nvSpPr>
        <p:spPr>
          <a:xfrm>
            <a:off x="2011680" y="795528"/>
            <a:ext cx="8686800" cy="365760"/>
          </a:xfrm>
          <a:prstGeom prst="rect">
            <a:avLst/>
          </a:prstGeom>
          <a:noFill/>
        </p:spPr>
        <p:txBody>
          <a:bodyPr wrap="square" lIns="27432" rIns="27432" tIns="18288" bIns="0">
            <a:spAutoFit/>
          </a:bodyPr>
          <a:lstStyle/>
          <a:p>
            <a:pPr>
              <a:spcAft>
                <a:spcPts val="800"/>
              </a:spcAft>
              <a:defRPr sz="1400" b="1">
                <a:solidFill>
                  <a:srgbClr val="243B53"/>
                </a:solidFill>
                <a:latin typeface="DejaVu Sans"/>
              </a:defRPr>
            </a:pPr>
            <a:r>
              <a:t>12  /  XIZMATLARDAN YAXLIT TIZIMGA</a:t>
            </a:r>
          </a:p>
        </p:txBody>
      </p:sp>
      <p:sp>
        <p:nvSpPr>
          <p:cNvPr id="6" name="TextBox 5"/>
          <p:cNvSpPr txBox="1"/>
          <p:nvPr/>
        </p:nvSpPr>
        <p:spPr>
          <a:xfrm>
            <a:off x="640080" y="1691640"/>
            <a:ext cx="5852160" cy="1783080"/>
          </a:xfrm>
          <a:prstGeom prst="rect">
            <a:avLst/>
          </a:prstGeom>
          <a:noFill/>
        </p:spPr>
        <p:txBody>
          <a:bodyPr wrap="square" lIns="27432" rIns="27432" tIns="18288" bIns="0">
            <a:spAutoFit/>
          </a:bodyPr>
          <a:lstStyle/>
          <a:p>
            <a:pPr>
              <a:spcAft>
                <a:spcPts val="800"/>
              </a:spcAft>
              <a:defRPr sz="4000" b="1">
                <a:solidFill>
                  <a:srgbClr val="243B53"/>
                </a:solidFill>
                <a:latin typeface="DejaVu Sans"/>
              </a:defRPr>
            </a:pPr>
            <a:r>
              <a:t>Amazon</a:t>
            </a:r>
          </a:p>
          <a:p>
            <a:pPr>
              <a:spcAft>
                <a:spcPts val="800"/>
              </a:spcAft>
              <a:defRPr sz="4000" b="1">
                <a:solidFill>
                  <a:srgbClr val="243B53"/>
                </a:solidFill>
                <a:latin typeface="DejaVu Sans"/>
              </a:defRPr>
            </a:pPr>
            <a:r>
              <a:t>Web Services</a:t>
            </a:r>
          </a:p>
        </p:txBody>
      </p:sp>
      <p:sp>
        <p:nvSpPr>
          <p:cNvPr id="7" name="TextBox 6"/>
          <p:cNvSpPr txBox="1"/>
          <p:nvPr/>
        </p:nvSpPr>
        <p:spPr>
          <a:xfrm>
            <a:off x="658368" y="3721608"/>
            <a:ext cx="5303520" cy="1005840"/>
          </a:xfrm>
          <a:prstGeom prst="rect">
            <a:avLst/>
          </a:prstGeom>
          <a:noFill/>
        </p:spPr>
        <p:txBody>
          <a:bodyPr wrap="square" lIns="27432" rIns="27432" tIns="18288" bIns="0">
            <a:spAutoFit/>
          </a:bodyPr>
          <a:lstStyle/>
          <a:p>
            <a:pPr>
              <a:spcAft>
                <a:spcPts val="800"/>
              </a:spcAft>
              <a:defRPr sz="2300" b="0">
                <a:solidFill>
                  <a:srgbClr val="243B53"/>
                </a:solidFill>
                <a:latin typeface="DejaVu Sans"/>
              </a:defRPr>
            </a:pPr>
            <a:r>
              <a:t>EC2, S3, RDS, VPC, IAM va Lambda bir tizimda</a:t>
            </a:r>
          </a:p>
        </p:txBody>
      </p:sp>
      <p:sp>
        <p:nvSpPr>
          <p:cNvPr id="8" name="Rectangle 7"/>
          <p:cNvSpPr/>
          <p:nvPr/>
        </p:nvSpPr>
        <p:spPr>
          <a:xfrm>
            <a:off x="6720840" y="1691640"/>
            <a:ext cx="4663440" cy="3383280"/>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0" y="1810512"/>
            <a:ext cx="4206240" cy="320040"/>
          </a:xfrm>
          <a:prstGeom prst="rect">
            <a:avLst/>
          </a:prstGeom>
          <a:noFill/>
        </p:spPr>
        <p:txBody>
          <a:bodyPr wrap="square" lIns="27432" rIns="27432" tIns="18288" bIns="0">
            <a:spAutoFit/>
          </a:bodyPr>
          <a:lstStyle/>
          <a:p>
            <a:pPr>
              <a:spcAft>
                <a:spcPts val="800"/>
              </a:spcAft>
              <a:defRPr sz="1200" b="1">
                <a:solidFill>
                  <a:srgbClr val="E88D16"/>
                </a:solidFill>
                <a:latin typeface="DejaVu Sans"/>
              </a:defRPr>
            </a:pPr>
            <a:r>
              <a:t>AWS CLOUD / ARXITEKTURA</a:t>
            </a:r>
          </a:p>
        </p:txBody>
      </p:sp>
      <p:pic>
        <p:nvPicPr>
          <p:cNvPr id="10" name="Picture 9" descr="M12_amazon_web_services.png"/>
          <p:cNvPicPr>
            <a:picLocks noChangeAspect="1"/>
          </p:cNvPicPr>
          <p:nvPr/>
        </p:nvPicPr>
        <p:blipFill>
          <a:blip r:embed="rId2"/>
          <a:stretch>
            <a:fillRect/>
          </a:stretch>
        </p:blipFill>
        <p:spPr>
          <a:xfrm>
            <a:off x="6995160" y="2294001"/>
            <a:ext cx="4114800" cy="2462022"/>
          </a:xfrm>
          <a:prstGeom prst="rect">
            <a:avLst/>
          </a:prstGeom>
        </p:spPr>
      </p:pic>
      <p:sp>
        <p:nvSpPr>
          <p:cNvPr id="11" name="Rectangle 10"/>
          <p:cNvSpPr/>
          <p:nvPr/>
        </p:nvSpPr>
        <p:spPr>
          <a:xfrm>
            <a:off x="685800" y="5413248"/>
            <a:ext cx="3371087" cy="77724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5522976"/>
            <a:ext cx="3133343" cy="612647"/>
          </a:xfrm>
          <a:prstGeom prst="rect">
            <a:avLst/>
          </a:prstGeom>
          <a:noFill/>
        </p:spPr>
        <p:txBody>
          <a:bodyPr wrap="square" lIns="27432" rIns="27432" tIns="18288" bIns="0">
            <a:spAutoFit/>
          </a:bodyPr>
          <a:lstStyle/>
          <a:p>
            <a:pPr>
              <a:spcAft>
                <a:spcPts val="800"/>
              </a:spcAft>
              <a:defRPr sz="1700" b="1">
                <a:solidFill>
                  <a:srgbClr val="243B53"/>
                </a:solidFill>
                <a:latin typeface="DejaVu Sans"/>
              </a:defRPr>
            </a:pPr>
            <a:r>
              <a:t>EC2 · ilova</a:t>
            </a:r>
          </a:p>
        </p:txBody>
      </p:sp>
      <p:cxnSp>
        <p:nvCxnSpPr>
          <p:cNvPr id="13" name="Connector 12"/>
          <p:cNvCxnSpPr/>
          <p:nvPr/>
        </p:nvCxnSpPr>
        <p:spPr>
          <a:xfrm>
            <a:off x="4056887" y="5801868"/>
            <a:ext cx="292608" cy="0"/>
          </a:xfrm>
          <a:prstGeom prst="line">
            <a:avLst/>
          </a:prstGeom>
          <a:ln w="24130">
            <a:solidFill>
              <a:srgbClr val="E88D16"/>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349495" y="5413248"/>
            <a:ext cx="3371087" cy="77724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68367" y="5522976"/>
            <a:ext cx="3133343" cy="612647"/>
          </a:xfrm>
          <a:prstGeom prst="rect">
            <a:avLst/>
          </a:prstGeom>
          <a:noFill/>
        </p:spPr>
        <p:txBody>
          <a:bodyPr wrap="square" lIns="27432" rIns="27432" tIns="18288" bIns="0">
            <a:spAutoFit/>
          </a:bodyPr>
          <a:lstStyle/>
          <a:p>
            <a:pPr>
              <a:spcAft>
                <a:spcPts val="800"/>
              </a:spcAft>
              <a:defRPr sz="1700" b="1">
                <a:solidFill>
                  <a:srgbClr val="243B53"/>
                </a:solidFill>
                <a:latin typeface="DejaVu Sans"/>
              </a:defRPr>
            </a:pPr>
            <a:r>
              <a:t>RDS · baza</a:t>
            </a:r>
          </a:p>
        </p:txBody>
      </p:sp>
      <p:cxnSp>
        <p:nvCxnSpPr>
          <p:cNvPr id="16" name="Connector 15"/>
          <p:cNvCxnSpPr/>
          <p:nvPr/>
        </p:nvCxnSpPr>
        <p:spPr>
          <a:xfrm>
            <a:off x="7720583" y="5801868"/>
            <a:ext cx="292608" cy="0"/>
          </a:xfrm>
          <a:prstGeom prst="line">
            <a:avLst/>
          </a:prstGeom>
          <a:ln w="24130">
            <a:solidFill>
              <a:srgbClr val="E88D16"/>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013191" y="5413248"/>
            <a:ext cx="3371087" cy="77724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2063" y="5522976"/>
            <a:ext cx="3133343" cy="612647"/>
          </a:xfrm>
          <a:prstGeom prst="rect">
            <a:avLst/>
          </a:prstGeom>
          <a:noFill/>
        </p:spPr>
        <p:txBody>
          <a:bodyPr wrap="square" lIns="27432" rIns="27432" tIns="18288" bIns="0">
            <a:spAutoFit/>
          </a:bodyPr>
          <a:lstStyle/>
          <a:p>
            <a:pPr>
              <a:spcAft>
                <a:spcPts val="800"/>
              </a:spcAft>
              <a:defRPr sz="1700" b="1">
                <a:solidFill>
                  <a:srgbClr val="243B53"/>
                </a:solidFill>
                <a:latin typeface="DejaVu Sans"/>
              </a:defRPr>
            </a:pPr>
            <a:r>
              <a:t>S3 · fayllar</a:t>
            </a:r>
          </a:p>
        </p:txBody>
      </p:sp>
      <p:sp>
        <p:nvSpPr>
          <p:cNvPr id="19" name="TextBox 1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43B53"/>
                </a:solidFill>
                <a:latin typeface="DejaVu Sans"/>
              </a:defRPr>
            </a:pPr>
            <a:r>
              <a:t>BTST206   /   M12   /   2027–2028</a:t>
            </a:r>
          </a:p>
        </p:txBody>
      </p:sp>
      <p:sp>
        <p:nvSpPr>
          <p:cNvPr id="20" name="TextBox 1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01 / 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
            <a:ext cx="210312" cy="6729984"/>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9921240" cy="329184"/>
          </a:xfrm>
          <a:prstGeom prst="rect">
            <a:avLst/>
          </a:prstGeom>
          <a:noFill/>
        </p:spPr>
        <p:txBody>
          <a:bodyPr wrap="square" lIns="27432" rIns="27432" tIns="18288" bIns="0">
            <a:spAutoFit/>
          </a:bodyPr>
          <a:lstStyle/>
          <a:p>
            <a:pPr>
              <a:spcAft>
                <a:spcPts val="800"/>
              </a:spcAft>
              <a:defRPr sz="1200" b="1">
                <a:solidFill>
                  <a:srgbClr val="243B53"/>
                </a:solidFill>
                <a:latin typeface="DejaVu Sans"/>
              </a:defRPr>
            </a:pPr>
            <a:r>
              <a:t>AMAZON WEB SERVICES  /  ARXITEKTURA KARTASI</a:t>
            </a:r>
          </a:p>
        </p:txBody>
      </p:sp>
      <p:sp>
        <p:nvSpPr>
          <p:cNvPr id="5" name="Rectangle 4"/>
          <p:cNvSpPr/>
          <p:nvPr/>
        </p:nvSpPr>
        <p:spPr>
          <a:xfrm>
            <a:off x="10917936" y="411480"/>
            <a:ext cx="594360" cy="59436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91088" y="530352"/>
            <a:ext cx="457200" cy="365760"/>
          </a:xfrm>
          <a:prstGeom prst="rect">
            <a:avLst/>
          </a:prstGeom>
          <a:noFill/>
        </p:spPr>
        <p:txBody>
          <a:bodyPr wrap="square" lIns="27432" rIns="27432" tIns="18288" bIns="0">
            <a:spAutoFit/>
          </a:bodyPr>
          <a:lstStyle/>
          <a:p>
            <a:pPr>
              <a:spcAft>
                <a:spcPts val="800"/>
              </a:spcAft>
              <a:defRPr sz="1500" b="1">
                <a:solidFill>
                  <a:srgbClr val="E88D16"/>
                </a:solidFill>
                <a:latin typeface="DejaVu Sans"/>
              </a:defRPr>
            </a:pPr>
            <a:r>
              <a:t>02</a:t>
            </a:r>
          </a:p>
        </p:txBody>
      </p:sp>
      <p:sp>
        <p:nvSpPr>
          <p:cNvPr id="7" name="TextBox 6"/>
          <p:cNvSpPr txBox="1"/>
          <p:nvPr/>
        </p:nvSpPr>
        <p:spPr>
          <a:xfrm>
            <a:off x="658368" y="923544"/>
            <a:ext cx="10104120" cy="868680"/>
          </a:xfrm>
          <a:prstGeom prst="rect">
            <a:avLst/>
          </a:prstGeom>
          <a:noFill/>
        </p:spPr>
        <p:txBody>
          <a:bodyPr wrap="square" lIns="27432" rIns="27432" tIns="18288" bIns="0">
            <a:spAutoFit/>
          </a:bodyPr>
          <a:lstStyle/>
          <a:p>
            <a:pPr>
              <a:spcAft>
                <a:spcPts val="800"/>
              </a:spcAft>
              <a:defRPr sz="2800" b="1">
                <a:solidFill>
                  <a:srgbClr val="243B53"/>
                </a:solidFill>
                <a:latin typeface="DejaVu Sans"/>
              </a:defRPr>
            </a:pPr>
            <a:r>
              <a:t>Ma’ruza yo‘l xaritasi</a:t>
            </a:r>
          </a:p>
        </p:txBody>
      </p:sp>
      <p:sp>
        <p:nvSpPr>
          <p:cNvPr id="8" name="TextBox 7"/>
          <p:cNvSpPr txBox="1"/>
          <p:nvPr/>
        </p:nvSpPr>
        <p:spPr>
          <a:xfrm>
            <a:off x="667512" y="1856231"/>
            <a:ext cx="10607040" cy="411480"/>
          </a:xfrm>
          <a:prstGeom prst="rect">
            <a:avLst/>
          </a:prstGeom>
          <a:noFill/>
        </p:spPr>
        <p:txBody>
          <a:bodyPr wrap="square" lIns="27432" rIns="27432" tIns="18288" bIns="0">
            <a:spAutoFit/>
          </a:bodyPr>
          <a:lstStyle/>
          <a:p>
            <a:pPr>
              <a:spcAft>
                <a:spcPts val="800"/>
              </a:spcAft>
              <a:defRPr sz="1500" b="1">
                <a:solidFill>
                  <a:srgbClr val="2077BA"/>
                </a:solidFill>
                <a:latin typeface="DejaVu Sans"/>
              </a:defRPr>
            </a:pPr>
            <a:r>
              <a:t>Olti tushuncha — bitta yaxlit tizim</a:t>
            </a: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43B53"/>
                </a:solidFill>
                <a:latin typeface="DejaVu Sans"/>
              </a:defRPr>
            </a:pPr>
            <a:r>
              <a:t>BTST206   /   M12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02 / 13</a:t>
            </a:r>
          </a:p>
        </p:txBody>
      </p:sp>
      <p:sp>
        <p:nvSpPr>
          <p:cNvPr id="11" name="Rectangle 10"/>
          <p:cNvSpPr/>
          <p:nvPr/>
        </p:nvSpPr>
        <p:spPr>
          <a:xfrm>
            <a:off x="685800" y="2514600"/>
            <a:ext cx="3474720" cy="1280160"/>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2514600"/>
            <a:ext cx="109728" cy="1280160"/>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5256" y="2651760"/>
            <a:ext cx="2999232" cy="274320"/>
          </a:xfrm>
          <a:prstGeom prst="rect">
            <a:avLst/>
          </a:prstGeom>
          <a:noFill/>
        </p:spPr>
        <p:txBody>
          <a:bodyPr wrap="square" lIns="27432" rIns="27432" tIns="18288" bIns="0">
            <a:spAutoFit/>
          </a:bodyPr>
          <a:lstStyle/>
          <a:p>
            <a:pPr>
              <a:spcAft>
                <a:spcPts val="800"/>
              </a:spcAft>
              <a:defRPr sz="1100" b="1">
                <a:solidFill>
                  <a:srgbClr val="2077BA"/>
                </a:solidFill>
                <a:latin typeface="DejaVu Sans"/>
              </a:defRPr>
            </a:pPr>
            <a:r>
              <a:t>SERVICE 01</a:t>
            </a:r>
          </a:p>
        </p:txBody>
      </p:sp>
      <p:sp>
        <p:nvSpPr>
          <p:cNvPr id="14" name="TextBox 13"/>
          <p:cNvSpPr txBox="1"/>
          <p:nvPr/>
        </p:nvSpPr>
        <p:spPr>
          <a:xfrm>
            <a:off x="905256" y="3054096"/>
            <a:ext cx="2990088" cy="64008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AWS global arxitekturasi</a:t>
            </a:r>
          </a:p>
        </p:txBody>
      </p:sp>
      <p:sp>
        <p:nvSpPr>
          <p:cNvPr id="15" name="Rectangle 14"/>
          <p:cNvSpPr/>
          <p:nvPr/>
        </p:nvSpPr>
        <p:spPr>
          <a:xfrm>
            <a:off x="4480560" y="2514600"/>
            <a:ext cx="3474720" cy="1280160"/>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480560" y="2514600"/>
            <a:ext cx="109728" cy="1280160"/>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00016" y="2651760"/>
            <a:ext cx="2999232" cy="274320"/>
          </a:xfrm>
          <a:prstGeom prst="rect">
            <a:avLst/>
          </a:prstGeom>
          <a:noFill/>
        </p:spPr>
        <p:txBody>
          <a:bodyPr wrap="square" lIns="27432" rIns="27432" tIns="18288" bIns="0">
            <a:spAutoFit/>
          </a:bodyPr>
          <a:lstStyle/>
          <a:p>
            <a:pPr>
              <a:spcAft>
                <a:spcPts val="800"/>
              </a:spcAft>
              <a:defRPr sz="1100" b="1">
                <a:solidFill>
                  <a:srgbClr val="2077BA"/>
                </a:solidFill>
                <a:latin typeface="DejaVu Sans"/>
              </a:defRPr>
            </a:pPr>
            <a:r>
              <a:t>SERVICE 02</a:t>
            </a:r>
          </a:p>
        </p:txBody>
      </p:sp>
      <p:sp>
        <p:nvSpPr>
          <p:cNvPr id="18" name="TextBox 17"/>
          <p:cNvSpPr txBox="1"/>
          <p:nvPr/>
        </p:nvSpPr>
        <p:spPr>
          <a:xfrm>
            <a:off x="4700016" y="3054096"/>
            <a:ext cx="2990088" cy="64008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EC2: hisoblash xizmati</a:t>
            </a:r>
          </a:p>
        </p:txBody>
      </p:sp>
      <p:sp>
        <p:nvSpPr>
          <p:cNvPr id="19" name="Rectangle 18"/>
          <p:cNvSpPr/>
          <p:nvPr/>
        </p:nvSpPr>
        <p:spPr>
          <a:xfrm>
            <a:off x="8275320" y="2514600"/>
            <a:ext cx="3474720" cy="1280160"/>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75320" y="2514600"/>
            <a:ext cx="109728" cy="1280160"/>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94776" y="2651760"/>
            <a:ext cx="2999232" cy="274320"/>
          </a:xfrm>
          <a:prstGeom prst="rect">
            <a:avLst/>
          </a:prstGeom>
          <a:noFill/>
        </p:spPr>
        <p:txBody>
          <a:bodyPr wrap="square" lIns="27432" rIns="27432" tIns="18288" bIns="0">
            <a:spAutoFit/>
          </a:bodyPr>
          <a:lstStyle/>
          <a:p>
            <a:pPr>
              <a:spcAft>
                <a:spcPts val="800"/>
              </a:spcAft>
              <a:defRPr sz="1100" b="1">
                <a:solidFill>
                  <a:srgbClr val="2077BA"/>
                </a:solidFill>
                <a:latin typeface="DejaVu Sans"/>
              </a:defRPr>
            </a:pPr>
            <a:r>
              <a:t>SERVICE 03</a:t>
            </a:r>
          </a:p>
        </p:txBody>
      </p:sp>
      <p:sp>
        <p:nvSpPr>
          <p:cNvPr id="22" name="TextBox 21"/>
          <p:cNvSpPr txBox="1"/>
          <p:nvPr/>
        </p:nvSpPr>
        <p:spPr>
          <a:xfrm>
            <a:off x="8494776" y="3054096"/>
            <a:ext cx="2990088" cy="64008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S3: obyekt saqlash</a:t>
            </a:r>
          </a:p>
        </p:txBody>
      </p:sp>
      <p:sp>
        <p:nvSpPr>
          <p:cNvPr id="23" name="Rectangle 22"/>
          <p:cNvSpPr/>
          <p:nvPr/>
        </p:nvSpPr>
        <p:spPr>
          <a:xfrm>
            <a:off x="685800" y="4069080"/>
            <a:ext cx="3474720" cy="1280160"/>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4069080"/>
            <a:ext cx="109728" cy="1280160"/>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6" y="4206240"/>
            <a:ext cx="2999232" cy="274320"/>
          </a:xfrm>
          <a:prstGeom prst="rect">
            <a:avLst/>
          </a:prstGeom>
          <a:noFill/>
        </p:spPr>
        <p:txBody>
          <a:bodyPr wrap="square" lIns="27432" rIns="27432" tIns="18288" bIns="0">
            <a:spAutoFit/>
          </a:bodyPr>
          <a:lstStyle/>
          <a:p>
            <a:pPr>
              <a:spcAft>
                <a:spcPts val="800"/>
              </a:spcAft>
              <a:defRPr sz="1100" b="1">
                <a:solidFill>
                  <a:srgbClr val="2077BA"/>
                </a:solidFill>
                <a:latin typeface="DejaVu Sans"/>
              </a:defRPr>
            </a:pPr>
            <a:r>
              <a:t>SERVICE 04</a:t>
            </a:r>
          </a:p>
        </p:txBody>
      </p:sp>
      <p:sp>
        <p:nvSpPr>
          <p:cNvPr id="26" name="TextBox 25"/>
          <p:cNvSpPr txBox="1"/>
          <p:nvPr/>
        </p:nvSpPr>
        <p:spPr>
          <a:xfrm>
            <a:off x="905256" y="4608576"/>
            <a:ext cx="2990088" cy="64008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RDS: boshqariladigan relatsion baza</a:t>
            </a:r>
          </a:p>
        </p:txBody>
      </p:sp>
      <p:sp>
        <p:nvSpPr>
          <p:cNvPr id="27" name="Rectangle 26"/>
          <p:cNvSpPr/>
          <p:nvPr/>
        </p:nvSpPr>
        <p:spPr>
          <a:xfrm>
            <a:off x="4480560" y="4069080"/>
            <a:ext cx="3474720" cy="1280160"/>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80560" y="4069080"/>
            <a:ext cx="109728" cy="1280160"/>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700016" y="4206240"/>
            <a:ext cx="2999232" cy="274320"/>
          </a:xfrm>
          <a:prstGeom prst="rect">
            <a:avLst/>
          </a:prstGeom>
          <a:noFill/>
        </p:spPr>
        <p:txBody>
          <a:bodyPr wrap="square" lIns="27432" rIns="27432" tIns="18288" bIns="0">
            <a:spAutoFit/>
          </a:bodyPr>
          <a:lstStyle/>
          <a:p>
            <a:pPr>
              <a:spcAft>
                <a:spcPts val="800"/>
              </a:spcAft>
              <a:defRPr sz="1100" b="1">
                <a:solidFill>
                  <a:srgbClr val="2077BA"/>
                </a:solidFill>
                <a:latin typeface="DejaVu Sans"/>
              </a:defRPr>
            </a:pPr>
            <a:r>
              <a:t>SERVICE 05</a:t>
            </a:r>
          </a:p>
        </p:txBody>
      </p:sp>
      <p:sp>
        <p:nvSpPr>
          <p:cNvPr id="30" name="TextBox 29"/>
          <p:cNvSpPr txBox="1"/>
          <p:nvPr/>
        </p:nvSpPr>
        <p:spPr>
          <a:xfrm>
            <a:off x="4700016" y="4608576"/>
            <a:ext cx="2990088" cy="64008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VPC va IAM ni birga qo‘llash</a:t>
            </a:r>
          </a:p>
        </p:txBody>
      </p:sp>
      <p:sp>
        <p:nvSpPr>
          <p:cNvPr id="31" name="Rectangle 30"/>
          <p:cNvSpPr/>
          <p:nvPr/>
        </p:nvSpPr>
        <p:spPr>
          <a:xfrm>
            <a:off x="8275320" y="4069080"/>
            <a:ext cx="3474720" cy="1280160"/>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275320" y="4069080"/>
            <a:ext cx="109728" cy="1280160"/>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94776" y="4206240"/>
            <a:ext cx="2999232" cy="274320"/>
          </a:xfrm>
          <a:prstGeom prst="rect">
            <a:avLst/>
          </a:prstGeom>
          <a:noFill/>
        </p:spPr>
        <p:txBody>
          <a:bodyPr wrap="square" lIns="27432" rIns="27432" tIns="18288" bIns="0">
            <a:spAutoFit/>
          </a:bodyPr>
          <a:lstStyle/>
          <a:p>
            <a:pPr>
              <a:spcAft>
                <a:spcPts val="800"/>
              </a:spcAft>
              <a:defRPr sz="1100" b="1">
                <a:solidFill>
                  <a:srgbClr val="2077BA"/>
                </a:solidFill>
                <a:latin typeface="DejaVu Sans"/>
              </a:defRPr>
            </a:pPr>
            <a:r>
              <a:t>SERVICE 06</a:t>
            </a:r>
          </a:p>
        </p:txBody>
      </p:sp>
      <p:sp>
        <p:nvSpPr>
          <p:cNvPr id="34" name="TextBox 33"/>
          <p:cNvSpPr txBox="1"/>
          <p:nvPr/>
        </p:nvSpPr>
        <p:spPr>
          <a:xfrm>
            <a:off x="8494776" y="4608576"/>
            <a:ext cx="2990088" cy="64008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Lambda va kuzatuv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
            <a:ext cx="210312" cy="6729984"/>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9921240" cy="329184"/>
          </a:xfrm>
          <a:prstGeom prst="rect">
            <a:avLst/>
          </a:prstGeom>
          <a:noFill/>
        </p:spPr>
        <p:txBody>
          <a:bodyPr wrap="square" lIns="27432" rIns="27432" tIns="18288" bIns="0">
            <a:spAutoFit/>
          </a:bodyPr>
          <a:lstStyle/>
          <a:p>
            <a:pPr>
              <a:spcAft>
                <a:spcPts val="800"/>
              </a:spcAft>
              <a:defRPr sz="1200" b="1">
                <a:solidFill>
                  <a:srgbClr val="243B53"/>
                </a:solidFill>
                <a:latin typeface="DejaVu Sans"/>
              </a:defRPr>
            </a:pPr>
            <a:r>
              <a:t>AMAZON WEB SERVICES  /  ARXITEKTURA KARTASI</a:t>
            </a:r>
          </a:p>
        </p:txBody>
      </p:sp>
      <p:sp>
        <p:nvSpPr>
          <p:cNvPr id="5" name="Rectangle 4"/>
          <p:cNvSpPr/>
          <p:nvPr/>
        </p:nvSpPr>
        <p:spPr>
          <a:xfrm>
            <a:off x="10917936" y="411480"/>
            <a:ext cx="594360" cy="59436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91088" y="530352"/>
            <a:ext cx="457200" cy="365760"/>
          </a:xfrm>
          <a:prstGeom prst="rect">
            <a:avLst/>
          </a:prstGeom>
          <a:noFill/>
        </p:spPr>
        <p:txBody>
          <a:bodyPr wrap="square" lIns="27432" rIns="27432" tIns="18288" bIns="0">
            <a:spAutoFit/>
          </a:bodyPr>
          <a:lstStyle/>
          <a:p>
            <a:pPr>
              <a:spcAft>
                <a:spcPts val="800"/>
              </a:spcAft>
              <a:defRPr sz="1500" b="1">
                <a:solidFill>
                  <a:srgbClr val="E88D16"/>
                </a:solidFill>
                <a:latin typeface="DejaVu Sans"/>
              </a:defRPr>
            </a:pPr>
            <a:r>
              <a:t>03</a:t>
            </a:r>
          </a:p>
        </p:txBody>
      </p:sp>
      <p:sp>
        <p:nvSpPr>
          <p:cNvPr id="7" name="TextBox 6"/>
          <p:cNvSpPr txBox="1"/>
          <p:nvPr/>
        </p:nvSpPr>
        <p:spPr>
          <a:xfrm>
            <a:off x="658368" y="923544"/>
            <a:ext cx="10104120" cy="868680"/>
          </a:xfrm>
          <a:prstGeom prst="rect">
            <a:avLst/>
          </a:prstGeom>
          <a:noFill/>
        </p:spPr>
        <p:txBody>
          <a:bodyPr wrap="square" lIns="27432" rIns="27432" tIns="18288" bIns="0">
            <a:spAutoFit/>
          </a:bodyPr>
          <a:lstStyle/>
          <a:p>
            <a:pPr>
              <a:spcAft>
                <a:spcPts val="800"/>
              </a:spcAft>
              <a:defRPr sz="2800" b="1">
                <a:solidFill>
                  <a:srgbClr val="243B53"/>
                </a:solidFill>
                <a:latin typeface="DejaVu Sans"/>
              </a:defRPr>
            </a:pPr>
            <a:r>
              <a:t>AWS global arxitekturasi</a:t>
            </a:r>
          </a:p>
        </p:txBody>
      </p:sp>
      <p:sp>
        <p:nvSpPr>
          <p:cNvPr id="8" name="TextBox 7"/>
          <p:cNvSpPr txBox="1"/>
          <p:nvPr/>
        </p:nvSpPr>
        <p:spPr>
          <a:xfrm>
            <a:off x="667512" y="1856231"/>
            <a:ext cx="10607040" cy="411480"/>
          </a:xfrm>
          <a:prstGeom prst="rect">
            <a:avLst/>
          </a:prstGeom>
          <a:noFill/>
        </p:spPr>
        <p:txBody>
          <a:bodyPr wrap="square" lIns="27432" rIns="27432" tIns="18288" bIns="0">
            <a:spAutoFit/>
          </a:bodyPr>
          <a:lstStyle/>
          <a:p>
            <a:pPr>
              <a:spcAft>
                <a:spcPts val="800"/>
              </a:spcAft>
              <a:defRPr sz="1500" b="1">
                <a:solidFill>
                  <a:srgbClr val="2077BA"/>
                </a:solidFill>
                <a:latin typeface="DejaVu Sans"/>
              </a:defRPr>
            </a:pPr>
            <a:r>
              <a:t>Region → Availability Zone → xizmat resurslari.</a:t>
            </a: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43B53"/>
                </a:solidFill>
                <a:latin typeface="DejaVu Sans"/>
              </a:defRPr>
            </a:pPr>
            <a:r>
              <a:t>BTST206   /   M12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03 / 13</a:t>
            </a:r>
          </a:p>
        </p:txBody>
      </p:sp>
      <p:sp>
        <p:nvSpPr>
          <p:cNvPr id="11" name="Rectangle 10"/>
          <p:cNvSpPr/>
          <p:nvPr/>
        </p:nvSpPr>
        <p:spPr>
          <a:xfrm>
            <a:off x="722376" y="2468880"/>
            <a:ext cx="2743200" cy="3511296"/>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770632"/>
            <a:ext cx="2267712" cy="1051560"/>
          </a:xfrm>
          <a:prstGeom prst="rect">
            <a:avLst/>
          </a:prstGeom>
          <a:noFill/>
        </p:spPr>
        <p:txBody>
          <a:bodyPr wrap="square" lIns="27432" rIns="27432" tIns="18288" bIns="0">
            <a:spAutoFit/>
          </a:bodyPr>
          <a:lstStyle/>
          <a:p>
            <a:pPr>
              <a:spcAft>
                <a:spcPts val="800"/>
              </a:spcAft>
              <a:defRPr sz="2600" b="1">
                <a:solidFill>
                  <a:srgbClr val="FFFFFF"/>
                </a:solidFill>
                <a:latin typeface="DejaVu Sans"/>
              </a:defRPr>
            </a:pPr>
            <a:r>
              <a:t>Region → Zone → resurs</a:t>
            </a:r>
          </a:p>
        </p:txBody>
      </p:sp>
      <p:sp>
        <p:nvSpPr>
          <p:cNvPr id="13" name="TextBox 12"/>
          <p:cNvSpPr txBox="1"/>
          <p:nvPr/>
        </p:nvSpPr>
        <p:spPr>
          <a:xfrm>
            <a:off x="960120" y="4215384"/>
            <a:ext cx="2267712" cy="1280160"/>
          </a:xfrm>
          <a:prstGeom prst="rect">
            <a:avLst/>
          </a:prstGeom>
          <a:noFill/>
        </p:spPr>
        <p:txBody>
          <a:bodyPr wrap="square" lIns="27432" rIns="27432" tIns="18288" bIns="0">
            <a:spAutoFit/>
          </a:bodyPr>
          <a:lstStyle/>
          <a:p>
            <a:pPr>
              <a:spcAft>
                <a:spcPts val="800"/>
              </a:spcAft>
              <a:defRPr sz="1800" b="0">
                <a:solidFill>
                  <a:srgbClr val="F4C77E"/>
                </a:solidFill>
                <a:latin typeface="DejaVu Sans"/>
              </a:defRPr>
            </a:pPr>
            <a:r>
              <a:t>Xizmatni vazifaga mos tanlash</a:t>
            </a:r>
          </a:p>
        </p:txBody>
      </p:sp>
      <p:sp>
        <p:nvSpPr>
          <p:cNvPr id="14" name="TextBox 13"/>
          <p:cNvSpPr txBox="1"/>
          <p:nvPr/>
        </p:nvSpPr>
        <p:spPr>
          <a:xfrm>
            <a:off x="3822191" y="2606040"/>
            <a:ext cx="4023360" cy="1417320"/>
          </a:xfrm>
          <a:prstGeom prst="rect">
            <a:avLst/>
          </a:prstGeom>
          <a:noFill/>
        </p:spPr>
        <p:txBody>
          <a:bodyPr wrap="square" lIns="27432" rIns="27432" tIns="18288" bIns="0">
            <a:spAutoFit/>
          </a:bodyPr>
          <a:lstStyle/>
          <a:p>
            <a:pPr>
              <a:spcAft>
                <a:spcPts val="800"/>
              </a:spcAft>
              <a:defRPr sz="2200" b="1">
                <a:solidFill>
                  <a:srgbClr val="243B53"/>
                </a:solidFill>
                <a:latin typeface="DejaVu Sans"/>
              </a:defRPr>
            </a:pPr>
            <a:r>
              <a:t>Region — geografik hududdagi infratuzilma guruhi. Availability Zone — alohida nosozlik hududi.</a:t>
            </a:r>
          </a:p>
        </p:txBody>
      </p:sp>
      <p:sp>
        <p:nvSpPr>
          <p:cNvPr id="15" name="TextBox 14"/>
          <p:cNvSpPr txBox="1"/>
          <p:nvPr/>
        </p:nvSpPr>
        <p:spPr>
          <a:xfrm>
            <a:off x="3822191" y="4206240"/>
            <a:ext cx="4023360" cy="1645920"/>
          </a:xfrm>
          <a:prstGeom prst="rect">
            <a:avLst/>
          </a:prstGeom>
          <a:noFill/>
        </p:spPr>
        <p:txBody>
          <a:bodyPr wrap="square" lIns="27432" rIns="27432" tIns="18288" bIns="0">
            <a:spAutoFit/>
          </a:bodyPr>
          <a:lstStyle/>
          <a:p>
            <a:pPr>
              <a:spcAft>
                <a:spcPts val="800"/>
              </a:spcAft>
              <a:defRPr sz="2000" b="0">
                <a:solidFill>
                  <a:srgbClr val="243B53"/>
                </a:solidFill>
                <a:latin typeface="DejaVu Sans"/>
              </a:defRPr>
            </a:pPr>
            <a:r>
              <a:t>Bir nechta zonada joylashtirish bitta zona uzilishi xavfini kamaytiradi.</a:t>
            </a:r>
          </a:p>
        </p:txBody>
      </p:sp>
      <p:sp>
        <p:nvSpPr>
          <p:cNvPr id="16" name="Rectangle 15"/>
          <p:cNvSpPr/>
          <p:nvPr/>
        </p:nvSpPr>
        <p:spPr>
          <a:xfrm>
            <a:off x="8229600" y="2624328"/>
            <a:ext cx="3108960" cy="713232"/>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624328"/>
            <a:ext cx="109728" cy="713232"/>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79776"/>
            <a:ext cx="2651760" cy="45720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Region</a:t>
            </a:r>
          </a:p>
        </p:txBody>
      </p:sp>
      <p:cxnSp>
        <p:nvCxnSpPr>
          <p:cNvPr id="19" name="Connector 18"/>
          <p:cNvCxnSpPr/>
          <p:nvPr/>
        </p:nvCxnSpPr>
        <p:spPr>
          <a:xfrm>
            <a:off x="9784080" y="3337560"/>
            <a:ext cx="0" cy="246888"/>
          </a:xfrm>
          <a:prstGeom prst="line">
            <a:avLst/>
          </a:prstGeom>
          <a:ln w="25400">
            <a:solidFill>
              <a:srgbClr val="2077BA"/>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229600" y="3584448"/>
            <a:ext cx="3108960" cy="713232"/>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3584448"/>
            <a:ext cx="109728" cy="713232"/>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3739896"/>
            <a:ext cx="2651760" cy="45720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Zone A  |  Zone B</a:t>
            </a:r>
          </a:p>
        </p:txBody>
      </p:sp>
      <p:sp>
        <p:nvSpPr>
          <p:cNvPr id="23" name="TextBox 22"/>
          <p:cNvSpPr txBox="1"/>
          <p:nvPr/>
        </p:nvSpPr>
        <p:spPr>
          <a:xfrm>
            <a:off x="731520" y="6108192"/>
            <a:ext cx="10698480" cy="329184"/>
          </a:xfrm>
          <a:prstGeom prst="rect">
            <a:avLst/>
          </a:prstGeom>
          <a:noFill/>
        </p:spPr>
        <p:txBody>
          <a:bodyPr wrap="square" lIns="27432" rIns="27432" tIns="18288" bIns="0">
            <a:spAutoFit/>
          </a:bodyPr>
          <a:lstStyle/>
          <a:p>
            <a:pPr>
              <a:spcAft>
                <a:spcPts val="800"/>
              </a:spcAft>
              <a:defRPr sz="1200" b="0">
                <a:solidFill>
                  <a:srgbClr val="E88D16"/>
                </a:solidFill>
                <a:latin typeface="DejaVu Sans"/>
              </a:defRPr>
            </a:pPr>
            <a:r>
              <a:t>MISOL / Ikki zonadagi portal nusxalariga ALB orqali kiriladi. Bu boshqa Region uzilishiga teng himoya emas.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
            <a:ext cx="210312" cy="6729984"/>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9921240" cy="329184"/>
          </a:xfrm>
          <a:prstGeom prst="rect">
            <a:avLst/>
          </a:prstGeom>
          <a:noFill/>
        </p:spPr>
        <p:txBody>
          <a:bodyPr wrap="square" lIns="27432" rIns="27432" tIns="18288" bIns="0">
            <a:spAutoFit/>
          </a:bodyPr>
          <a:lstStyle/>
          <a:p>
            <a:pPr>
              <a:spcAft>
                <a:spcPts val="800"/>
              </a:spcAft>
              <a:defRPr sz="1200" b="1">
                <a:solidFill>
                  <a:srgbClr val="243B53"/>
                </a:solidFill>
                <a:latin typeface="DejaVu Sans"/>
              </a:defRPr>
            </a:pPr>
            <a:r>
              <a:t>AMAZON WEB SERVICES  /  ARXITEKTURA KARTASI</a:t>
            </a:r>
          </a:p>
        </p:txBody>
      </p:sp>
      <p:sp>
        <p:nvSpPr>
          <p:cNvPr id="5" name="Rectangle 4"/>
          <p:cNvSpPr/>
          <p:nvPr/>
        </p:nvSpPr>
        <p:spPr>
          <a:xfrm>
            <a:off x="10917936" y="411480"/>
            <a:ext cx="594360" cy="59436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91088" y="530352"/>
            <a:ext cx="457200" cy="365760"/>
          </a:xfrm>
          <a:prstGeom prst="rect">
            <a:avLst/>
          </a:prstGeom>
          <a:noFill/>
        </p:spPr>
        <p:txBody>
          <a:bodyPr wrap="square" lIns="27432" rIns="27432" tIns="18288" bIns="0">
            <a:spAutoFit/>
          </a:bodyPr>
          <a:lstStyle/>
          <a:p>
            <a:pPr>
              <a:spcAft>
                <a:spcPts val="800"/>
              </a:spcAft>
              <a:defRPr sz="1500" b="1">
                <a:solidFill>
                  <a:srgbClr val="E88D16"/>
                </a:solidFill>
                <a:latin typeface="DejaVu Sans"/>
              </a:defRPr>
            </a:pPr>
            <a:r>
              <a:t>04</a:t>
            </a:r>
          </a:p>
        </p:txBody>
      </p:sp>
      <p:sp>
        <p:nvSpPr>
          <p:cNvPr id="7" name="TextBox 6"/>
          <p:cNvSpPr txBox="1"/>
          <p:nvPr/>
        </p:nvSpPr>
        <p:spPr>
          <a:xfrm>
            <a:off x="658368" y="923544"/>
            <a:ext cx="10104120" cy="868680"/>
          </a:xfrm>
          <a:prstGeom prst="rect">
            <a:avLst/>
          </a:prstGeom>
          <a:noFill/>
        </p:spPr>
        <p:txBody>
          <a:bodyPr wrap="square" lIns="27432" rIns="27432" tIns="18288" bIns="0">
            <a:spAutoFit/>
          </a:bodyPr>
          <a:lstStyle/>
          <a:p>
            <a:pPr>
              <a:spcAft>
                <a:spcPts val="800"/>
              </a:spcAft>
              <a:defRPr sz="2800" b="1">
                <a:solidFill>
                  <a:srgbClr val="243B53"/>
                </a:solidFill>
                <a:latin typeface="DejaVu Sans"/>
              </a:defRPr>
            </a:pPr>
            <a:r>
              <a:t>EC2: hisoblash xizmati</a:t>
            </a:r>
          </a:p>
        </p:txBody>
      </p:sp>
      <p:sp>
        <p:nvSpPr>
          <p:cNvPr id="8" name="TextBox 7"/>
          <p:cNvSpPr txBox="1"/>
          <p:nvPr/>
        </p:nvSpPr>
        <p:spPr>
          <a:xfrm>
            <a:off x="667512" y="1856231"/>
            <a:ext cx="10607040" cy="411480"/>
          </a:xfrm>
          <a:prstGeom prst="rect">
            <a:avLst/>
          </a:prstGeom>
          <a:noFill/>
        </p:spPr>
        <p:txBody>
          <a:bodyPr wrap="square" lIns="27432" rIns="27432" tIns="18288" bIns="0">
            <a:spAutoFit/>
          </a:bodyPr>
          <a:lstStyle/>
          <a:p>
            <a:pPr>
              <a:spcAft>
                <a:spcPts val="800"/>
              </a:spcAft>
              <a:defRPr sz="1500" b="1">
                <a:solidFill>
                  <a:srgbClr val="2077BA"/>
                </a:solidFill>
                <a:latin typeface="DejaVu Sans"/>
              </a:defRPr>
            </a:pPr>
            <a:r>
              <a:t>Virtual server turini ish yuklamasiga mos tanlash.</a:t>
            </a: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43B53"/>
                </a:solidFill>
                <a:latin typeface="DejaVu Sans"/>
              </a:defRPr>
            </a:pPr>
            <a:r>
              <a:t>BTST206   /   M12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04 / 13</a:t>
            </a:r>
          </a:p>
        </p:txBody>
      </p:sp>
      <p:sp>
        <p:nvSpPr>
          <p:cNvPr id="11" name="Rectangle 10"/>
          <p:cNvSpPr/>
          <p:nvPr/>
        </p:nvSpPr>
        <p:spPr>
          <a:xfrm>
            <a:off x="731520" y="2423160"/>
            <a:ext cx="5532120" cy="3566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633472"/>
            <a:ext cx="5166360" cy="1143000"/>
          </a:xfrm>
          <a:prstGeom prst="rect">
            <a:avLst/>
          </a:prstGeom>
          <a:noFill/>
        </p:spPr>
        <p:txBody>
          <a:bodyPr wrap="square" lIns="27432" rIns="27432" tIns="18288" bIns="0">
            <a:spAutoFit/>
          </a:bodyPr>
          <a:lstStyle/>
          <a:p>
            <a:pPr>
              <a:spcAft>
                <a:spcPts val="800"/>
              </a:spcAft>
              <a:defRPr sz="2200" b="1">
                <a:solidFill>
                  <a:srgbClr val="243B53"/>
                </a:solidFill>
                <a:latin typeface="DejaVu Sans"/>
              </a:defRPr>
            </a:pPr>
            <a:r>
              <a:t>Instance turi CPU, xotira va boshqa imkoniyatlarni belgilaydi. AMI — boshlang‘ich tizim andozasi.</a:t>
            </a:r>
          </a:p>
        </p:txBody>
      </p:sp>
      <p:sp>
        <p:nvSpPr>
          <p:cNvPr id="13" name="TextBox 12"/>
          <p:cNvSpPr txBox="1"/>
          <p:nvPr/>
        </p:nvSpPr>
        <p:spPr>
          <a:xfrm>
            <a:off x="914400" y="3913632"/>
            <a:ext cx="5166360" cy="1572768"/>
          </a:xfrm>
          <a:prstGeom prst="rect">
            <a:avLst/>
          </a:prstGeom>
          <a:noFill/>
        </p:spPr>
        <p:txBody>
          <a:bodyPr wrap="square" lIns="27432" rIns="27432" tIns="18288" bIns="0">
            <a:spAutoFit/>
          </a:bodyPr>
          <a:lstStyle/>
          <a:p>
            <a:pPr>
              <a:spcAft>
                <a:spcPts val="800"/>
              </a:spcAft>
              <a:defRPr sz="2100" b="0">
                <a:solidFill>
                  <a:srgbClr val="243B53"/>
                </a:solidFill>
                <a:latin typeface="DejaVu Sans"/>
              </a:defRPr>
            </a:pPr>
            <a:r>
              <a:t>EC2 ga IAM role va security group biriktiriladi. EBS ko‘p holatda doimiy blokli disk bo‘ladi.</a:t>
            </a:r>
          </a:p>
        </p:txBody>
      </p:sp>
      <p:sp>
        <p:nvSpPr>
          <p:cNvPr id="14" name="Rectangle 13"/>
          <p:cNvSpPr/>
          <p:nvPr/>
        </p:nvSpPr>
        <p:spPr>
          <a:xfrm>
            <a:off x="7269480" y="2450592"/>
            <a:ext cx="4224528" cy="3584448"/>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M12_amazon_web_services.png"/>
          <p:cNvPicPr>
            <a:picLocks noChangeAspect="1"/>
          </p:cNvPicPr>
          <p:nvPr/>
        </p:nvPicPr>
        <p:blipFill>
          <a:blip r:embed="rId2"/>
          <a:stretch>
            <a:fillRect/>
          </a:stretch>
        </p:blipFill>
        <p:spPr>
          <a:xfrm>
            <a:off x="7452360" y="2800365"/>
            <a:ext cx="3858768" cy="2308829"/>
          </a:xfrm>
          <a:prstGeom prst="rect">
            <a:avLst/>
          </a:prstGeom>
        </p:spPr>
      </p:pic>
      <p:sp>
        <p:nvSpPr>
          <p:cNvPr id="16" name="TextBox 15"/>
          <p:cNvSpPr txBox="1"/>
          <p:nvPr/>
        </p:nvSpPr>
        <p:spPr>
          <a:xfrm>
            <a:off x="7443216" y="5413248"/>
            <a:ext cx="3840480" cy="493776"/>
          </a:xfrm>
          <a:prstGeom prst="rect">
            <a:avLst/>
          </a:prstGeom>
          <a:noFill/>
        </p:spPr>
        <p:txBody>
          <a:bodyPr wrap="square" lIns="27432" rIns="27432" tIns="18288" bIns="0">
            <a:spAutoFit/>
          </a:bodyPr>
          <a:lstStyle/>
          <a:p>
            <a:pPr>
              <a:spcAft>
                <a:spcPts val="800"/>
              </a:spcAft>
              <a:defRPr sz="1300" b="1">
                <a:solidFill>
                  <a:srgbClr val="E88D16"/>
                </a:solidFill>
                <a:latin typeface="DejaVu Sans"/>
              </a:defRPr>
            </a:pPr>
            <a:r>
              <a:t>Mavzuga oid internet rasmi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
            <a:ext cx="210312" cy="6729984"/>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9921240" cy="329184"/>
          </a:xfrm>
          <a:prstGeom prst="rect">
            <a:avLst/>
          </a:prstGeom>
          <a:noFill/>
        </p:spPr>
        <p:txBody>
          <a:bodyPr wrap="square" lIns="27432" rIns="27432" tIns="18288" bIns="0">
            <a:spAutoFit/>
          </a:bodyPr>
          <a:lstStyle/>
          <a:p>
            <a:pPr>
              <a:spcAft>
                <a:spcPts val="800"/>
              </a:spcAft>
              <a:defRPr sz="1200" b="1">
                <a:solidFill>
                  <a:srgbClr val="243B53"/>
                </a:solidFill>
                <a:latin typeface="DejaVu Sans"/>
              </a:defRPr>
            </a:pPr>
            <a:r>
              <a:t>AMAZON WEB SERVICES  /  ARXITEKTURA KARTASI</a:t>
            </a:r>
          </a:p>
        </p:txBody>
      </p:sp>
      <p:sp>
        <p:nvSpPr>
          <p:cNvPr id="5" name="Rectangle 4"/>
          <p:cNvSpPr/>
          <p:nvPr/>
        </p:nvSpPr>
        <p:spPr>
          <a:xfrm>
            <a:off x="10917936" y="411480"/>
            <a:ext cx="594360" cy="59436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91088" y="530352"/>
            <a:ext cx="457200" cy="365760"/>
          </a:xfrm>
          <a:prstGeom prst="rect">
            <a:avLst/>
          </a:prstGeom>
          <a:noFill/>
        </p:spPr>
        <p:txBody>
          <a:bodyPr wrap="square" lIns="27432" rIns="27432" tIns="18288" bIns="0">
            <a:spAutoFit/>
          </a:bodyPr>
          <a:lstStyle/>
          <a:p>
            <a:pPr>
              <a:spcAft>
                <a:spcPts val="800"/>
              </a:spcAft>
              <a:defRPr sz="1500" b="1">
                <a:solidFill>
                  <a:srgbClr val="E88D16"/>
                </a:solidFill>
                <a:latin typeface="DejaVu Sans"/>
              </a:defRPr>
            </a:pPr>
            <a:r>
              <a:t>05</a:t>
            </a:r>
          </a:p>
        </p:txBody>
      </p:sp>
      <p:sp>
        <p:nvSpPr>
          <p:cNvPr id="7" name="TextBox 6"/>
          <p:cNvSpPr txBox="1"/>
          <p:nvPr/>
        </p:nvSpPr>
        <p:spPr>
          <a:xfrm>
            <a:off x="658368" y="923544"/>
            <a:ext cx="10104120" cy="868680"/>
          </a:xfrm>
          <a:prstGeom prst="rect">
            <a:avLst/>
          </a:prstGeom>
          <a:noFill/>
        </p:spPr>
        <p:txBody>
          <a:bodyPr wrap="square" lIns="27432" rIns="27432" tIns="18288" bIns="0">
            <a:spAutoFit/>
          </a:bodyPr>
          <a:lstStyle/>
          <a:p>
            <a:pPr>
              <a:spcAft>
                <a:spcPts val="800"/>
              </a:spcAft>
              <a:defRPr sz="2800" b="1">
                <a:solidFill>
                  <a:srgbClr val="243B53"/>
                </a:solidFill>
                <a:latin typeface="DejaVu Sans"/>
              </a:defRPr>
            </a:pPr>
            <a:r>
              <a:t>S3: obyekt saqlash</a:t>
            </a:r>
          </a:p>
        </p:txBody>
      </p:sp>
      <p:sp>
        <p:nvSpPr>
          <p:cNvPr id="8" name="TextBox 7"/>
          <p:cNvSpPr txBox="1"/>
          <p:nvPr/>
        </p:nvSpPr>
        <p:spPr>
          <a:xfrm>
            <a:off x="667512" y="1856231"/>
            <a:ext cx="10607040" cy="411480"/>
          </a:xfrm>
          <a:prstGeom prst="rect">
            <a:avLst/>
          </a:prstGeom>
          <a:noFill/>
        </p:spPr>
        <p:txBody>
          <a:bodyPr wrap="square" lIns="27432" rIns="27432" tIns="18288" bIns="0">
            <a:spAutoFit/>
          </a:bodyPr>
          <a:lstStyle/>
          <a:p>
            <a:pPr>
              <a:spcAft>
                <a:spcPts val="800"/>
              </a:spcAft>
              <a:defRPr sz="1500" b="1">
                <a:solidFill>
                  <a:srgbClr val="2077BA"/>
                </a:solidFill>
                <a:latin typeface="DejaVu Sans"/>
              </a:defRPr>
            </a:pPr>
            <a:r>
              <a:t>Bucket va key orqali fayllarga murojaat qilish.</a:t>
            </a: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43B53"/>
                </a:solidFill>
                <a:latin typeface="DejaVu Sans"/>
              </a:defRPr>
            </a:pPr>
            <a:r>
              <a:t>BTST206   /   M12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05 / 13</a:t>
            </a:r>
          </a:p>
        </p:txBody>
      </p:sp>
      <p:sp>
        <p:nvSpPr>
          <p:cNvPr id="11" name="Rectangle 10"/>
          <p:cNvSpPr/>
          <p:nvPr/>
        </p:nvSpPr>
        <p:spPr>
          <a:xfrm>
            <a:off x="722376" y="2468880"/>
            <a:ext cx="2743200" cy="3511296"/>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770632"/>
            <a:ext cx="2267712" cy="1051560"/>
          </a:xfrm>
          <a:prstGeom prst="rect">
            <a:avLst/>
          </a:prstGeom>
          <a:noFill/>
        </p:spPr>
        <p:txBody>
          <a:bodyPr wrap="square" lIns="27432" rIns="27432" tIns="18288" bIns="0">
            <a:spAutoFit/>
          </a:bodyPr>
          <a:lstStyle/>
          <a:p>
            <a:pPr>
              <a:spcAft>
                <a:spcPts val="800"/>
              </a:spcAft>
              <a:defRPr sz="2600" b="1">
                <a:solidFill>
                  <a:srgbClr val="FFFFFF"/>
                </a:solidFill>
                <a:latin typeface="DejaVu Sans"/>
              </a:defRPr>
            </a:pPr>
            <a:r>
              <a:t>S3: obyektlar</a:t>
            </a:r>
          </a:p>
        </p:txBody>
      </p:sp>
      <p:sp>
        <p:nvSpPr>
          <p:cNvPr id="13" name="TextBox 12"/>
          <p:cNvSpPr txBox="1"/>
          <p:nvPr/>
        </p:nvSpPr>
        <p:spPr>
          <a:xfrm>
            <a:off x="960120" y="4215384"/>
            <a:ext cx="2267712" cy="1280160"/>
          </a:xfrm>
          <a:prstGeom prst="rect">
            <a:avLst/>
          </a:prstGeom>
          <a:noFill/>
        </p:spPr>
        <p:txBody>
          <a:bodyPr wrap="square" lIns="27432" rIns="27432" tIns="18288" bIns="0">
            <a:spAutoFit/>
          </a:bodyPr>
          <a:lstStyle/>
          <a:p>
            <a:pPr>
              <a:spcAft>
                <a:spcPts val="800"/>
              </a:spcAft>
              <a:defRPr sz="1800" b="0">
                <a:solidFill>
                  <a:srgbClr val="F4C77E"/>
                </a:solidFill>
                <a:latin typeface="DejaVu Sans"/>
              </a:defRPr>
            </a:pPr>
            <a:r>
              <a:t>Xizmatni vazifaga mos tanlash</a:t>
            </a:r>
          </a:p>
        </p:txBody>
      </p:sp>
      <p:sp>
        <p:nvSpPr>
          <p:cNvPr id="14" name="TextBox 13"/>
          <p:cNvSpPr txBox="1"/>
          <p:nvPr/>
        </p:nvSpPr>
        <p:spPr>
          <a:xfrm>
            <a:off x="3822191" y="2606040"/>
            <a:ext cx="4023360" cy="1417320"/>
          </a:xfrm>
          <a:prstGeom prst="rect">
            <a:avLst/>
          </a:prstGeom>
          <a:noFill/>
        </p:spPr>
        <p:txBody>
          <a:bodyPr wrap="square" lIns="27432" rIns="27432" tIns="18288" bIns="0">
            <a:spAutoFit/>
          </a:bodyPr>
          <a:lstStyle/>
          <a:p>
            <a:pPr>
              <a:spcAft>
                <a:spcPts val="800"/>
              </a:spcAft>
              <a:defRPr sz="2200" b="1">
                <a:solidFill>
                  <a:srgbClr val="243B53"/>
                </a:solidFill>
                <a:latin typeface="DejaVu Sans"/>
              </a:defRPr>
            </a:pPr>
            <a:r>
              <a:t>S3 ma’lumotni bucket ichida key orqali saqlaydi. Video, rasm va zaxiralar uchun qo‘llanadi.</a:t>
            </a:r>
          </a:p>
        </p:txBody>
      </p:sp>
      <p:sp>
        <p:nvSpPr>
          <p:cNvPr id="15" name="TextBox 14"/>
          <p:cNvSpPr txBox="1"/>
          <p:nvPr/>
        </p:nvSpPr>
        <p:spPr>
          <a:xfrm>
            <a:off x="3822191" y="4206240"/>
            <a:ext cx="4023360" cy="1645920"/>
          </a:xfrm>
          <a:prstGeom prst="rect">
            <a:avLst/>
          </a:prstGeom>
          <a:noFill/>
        </p:spPr>
        <p:txBody>
          <a:bodyPr wrap="square" lIns="27432" rIns="27432" tIns="18288" bIns="0">
            <a:spAutoFit/>
          </a:bodyPr>
          <a:lstStyle/>
          <a:p>
            <a:pPr>
              <a:spcAft>
                <a:spcPts val="800"/>
              </a:spcAft>
              <a:defRPr sz="2000" b="0">
                <a:solidFill>
                  <a:srgbClr val="243B53"/>
                </a:solidFill>
                <a:latin typeface="DejaVu Sans"/>
              </a:defRPr>
            </a:pPr>
            <a:r>
              <a:t>IAM va bucket siyosati kirishni boshqaradi. Versioning va lifecycle hayot sikliga yordam beradi.</a:t>
            </a:r>
          </a:p>
        </p:txBody>
      </p:sp>
      <p:sp>
        <p:nvSpPr>
          <p:cNvPr id="16" name="Rectangle 15"/>
          <p:cNvSpPr/>
          <p:nvPr/>
        </p:nvSpPr>
        <p:spPr>
          <a:xfrm>
            <a:off x="8229600" y="2624328"/>
            <a:ext cx="3108960" cy="713232"/>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624328"/>
            <a:ext cx="109728" cy="713232"/>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79776"/>
            <a:ext cx="2651760" cy="45720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S3 bucket</a:t>
            </a:r>
          </a:p>
        </p:txBody>
      </p:sp>
      <p:cxnSp>
        <p:nvCxnSpPr>
          <p:cNvPr id="19" name="Connector 18"/>
          <p:cNvCxnSpPr/>
          <p:nvPr/>
        </p:nvCxnSpPr>
        <p:spPr>
          <a:xfrm>
            <a:off x="9784080" y="3337560"/>
            <a:ext cx="0" cy="246888"/>
          </a:xfrm>
          <a:prstGeom prst="line">
            <a:avLst/>
          </a:prstGeom>
          <a:ln w="25400">
            <a:solidFill>
              <a:srgbClr val="2077BA"/>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229600" y="3584448"/>
            <a:ext cx="3108960" cy="713232"/>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3584448"/>
            <a:ext cx="109728" cy="713232"/>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3739896"/>
            <a:ext cx="2651760" cy="45720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Obyekt + key</a:t>
            </a:r>
          </a:p>
        </p:txBody>
      </p:sp>
      <p:sp>
        <p:nvSpPr>
          <p:cNvPr id="23" name="TextBox 22"/>
          <p:cNvSpPr txBox="1"/>
          <p:nvPr/>
        </p:nvSpPr>
        <p:spPr>
          <a:xfrm>
            <a:off x="731520" y="6108192"/>
            <a:ext cx="10698480" cy="329184"/>
          </a:xfrm>
          <a:prstGeom prst="rect">
            <a:avLst/>
          </a:prstGeom>
          <a:noFill/>
        </p:spPr>
        <p:txBody>
          <a:bodyPr wrap="square" lIns="27432" rIns="27432" tIns="18288" bIns="0">
            <a:spAutoFit/>
          </a:bodyPr>
          <a:lstStyle/>
          <a:p>
            <a:pPr>
              <a:spcAft>
                <a:spcPts val="800"/>
              </a:spcAft>
              <a:defRPr sz="1200" b="0">
                <a:solidFill>
                  <a:srgbClr val="E88D16"/>
                </a:solidFill>
                <a:latin typeface="DejaVu Sans"/>
              </a:defRPr>
            </a:pPr>
            <a:r>
              <a:t>MISOL / Video ruxsat yoki vaqtli imzolangan manzil bilan uzatiladi. S3 odatiy blokli disk emas.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
            <a:ext cx="210312" cy="6729984"/>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9921240" cy="329184"/>
          </a:xfrm>
          <a:prstGeom prst="rect">
            <a:avLst/>
          </a:prstGeom>
          <a:noFill/>
        </p:spPr>
        <p:txBody>
          <a:bodyPr wrap="square" lIns="27432" rIns="27432" tIns="18288" bIns="0">
            <a:spAutoFit/>
          </a:bodyPr>
          <a:lstStyle/>
          <a:p>
            <a:pPr>
              <a:spcAft>
                <a:spcPts val="800"/>
              </a:spcAft>
              <a:defRPr sz="1200" b="1">
                <a:solidFill>
                  <a:srgbClr val="243B53"/>
                </a:solidFill>
                <a:latin typeface="DejaVu Sans"/>
              </a:defRPr>
            </a:pPr>
            <a:r>
              <a:t>AMAZON WEB SERVICES  /  ARXITEKTURA KARTASI</a:t>
            </a:r>
          </a:p>
        </p:txBody>
      </p:sp>
      <p:sp>
        <p:nvSpPr>
          <p:cNvPr id="5" name="Rectangle 4"/>
          <p:cNvSpPr/>
          <p:nvPr/>
        </p:nvSpPr>
        <p:spPr>
          <a:xfrm>
            <a:off x="10917936" y="411480"/>
            <a:ext cx="594360" cy="59436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91088" y="530352"/>
            <a:ext cx="457200" cy="365760"/>
          </a:xfrm>
          <a:prstGeom prst="rect">
            <a:avLst/>
          </a:prstGeom>
          <a:noFill/>
        </p:spPr>
        <p:txBody>
          <a:bodyPr wrap="square" lIns="27432" rIns="27432" tIns="18288" bIns="0">
            <a:spAutoFit/>
          </a:bodyPr>
          <a:lstStyle/>
          <a:p>
            <a:pPr>
              <a:spcAft>
                <a:spcPts val="800"/>
              </a:spcAft>
              <a:defRPr sz="1500" b="1">
                <a:solidFill>
                  <a:srgbClr val="E88D16"/>
                </a:solidFill>
                <a:latin typeface="DejaVu Sans"/>
              </a:defRPr>
            </a:pPr>
            <a:r>
              <a:t>06</a:t>
            </a:r>
          </a:p>
        </p:txBody>
      </p:sp>
      <p:sp>
        <p:nvSpPr>
          <p:cNvPr id="7" name="TextBox 6"/>
          <p:cNvSpPr txBox="1"/>
          <p:nvPr/>
        </p:nvSpPr>
        <p:spPr>
          <a:xfrm>
            <a:off x="658368" y="923544"/>
            <a:ext cx="10104120" cy="868680"/>
          </a:xfrm>
          <a:prstGeom prst="rect">
            <a:avLst/>
          </a:prstGeom>
          <a:noFill/>
        </p:spPr>
        <p:txBody>
          <a:bodyPr wrap="square" lIns="27432" rIns="27432" tIns="18288" bIns="0">
            <a:spAutoFit/>
          </a:bodyPr>
          <a:lstStyle/>
          <a:p>
            <a:pPr>
              <a:spcAft>
                <a:spcPts val="800"/>
              </a:spcAft>
              <a:defRPr sz="2800" b="1">
                <a:solidFill>
                  <a:srgbClr val="243B53"/>
                </a:solidFill>
                <a:latin typeface="DejaVu Sans"/>
              </a:defRPr>
            </a:pPr>
            <a:r>
              <a:t>RDS: boshqariladigan relatsion baza</a:t>
            </a:r>
          </a:p>
        </p:txBody>
      </p:sp>
      <p:sp>
        <p:nvSpPr>
          <p:cNvPr id="8" name="TextBox 7"/>
          <p:cNvSpPr txBox="1"/>
          <p:nvPr/>
        </p:nvSpPr>
        <p:spPr>
          <a:xfrm>
            <a:off x="667512" y="1856231"/>
            <a:ext cx="10607040" cy="411480"/>
          </a:xfrm>
          <a:prstGeom prst="rect">
            <a:avLst/>
          </a:prstGeom>
          <a:noFill/>
        </p:spPr>
        <p:txBody>
          <a:bodyPr wrap="square" lIns="27432" rIns="27432" tIns="18288" bIns="0">
            <a:spAutoFit/>
          </a:bodyPr>
          <a:lstStyle/>
          <a:p>
            <a:pPr>
              <a:spcAft>
                <a:spcPts val="800"/>
              </a:spcAft>
              <a:defRPr sz="1500" b="1">
                <a:solidFill>
                  <a:srgbClr val="2077BA"/>
                </a:solidFill>
                <a:latin typeface="DejaVu Sans"/>
              </a:defRPr>
            </a:pPr>
            <a:r>
              <a:t>Baza dvijogi xizmat sifatida boshqariladi.</a:t>
            </a: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43B53"/>
                </a:solidFill>
                <a:latin typeface="DejaVu Sans"/>
              </a:defRPr>
            </a:pPr>
            <a:r>
              <a:t>BTST206   /   M12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06 / 13</a:t>
            </a:r>
          </a:p>
        </p:txBody>
      </p:sp>
      <p:sp>
        <p:nvSpPr>
          <p:cNvPr id="11" name="Rectangle 10"/>
          <p:cNvSpPr/>
          <p:nvPr/>
        </p:nvSpPr>
        <p:spPr>
          <a:xfrm>
            <a:off x="722376" y="2468880"/>
            <a:ext cx="2743200" cy="3511296"/>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770632"/>
            <a:ext cx="2267712" cy="1051560"/>
          </a:xfrm>
          <a:prstGeom prst="rect">
            <a:avLst/>
          </a:prstGeom>
          <a:noFill/>
        </p:spPr>
        <p:txBody>
          <a:bodyPr wrap="square" lIns="27432" rIns="27432" tIns="18288" bIns="0">
            <a:spAutoFit/>
          </a:bodyPr>
          <a:lstStyle/>
          <a:p>
            <a:pPr>
              <a:spcAft>
                <a:spcPts val="800"/>
              </a:spcAft>
              <a:defRPr sz="2600" b="1">
                <a:solidFill>
                  <a:srgbClr val="FFFFFF"/>
                </a:solidFill>
                <a:latin typeface="DejaVu Sans"/>
              </a:defRPr>
            </a:pPr>
            <a:r>
              <a:t>RDS: baza xizmati</a:t>
            </a:r>
          </a:p>
        </p:txBody>
      </p:sp>
      <p:sp>
        <p:nvSpPr>
          <p:cNvPr id="13" name="TextBox 12"/>
          <p:cNvSpPr txBox="1"/>
          <p:nvPr/>
        </p:nvSpPr>
        <p:spPr>
          <a:xfrm>
            <a:off x="960120" y="4215384"/>
            <a:ext cx="2267712" cy="1280160"/>
          </a:xfrm>
          <a:prstGeom prst="rect">
            <a:avLst/>
          </a:prstGeom>
          <a:noFill/>
        </p:spPr>
        <p:txBody>
          <a:bodyPr wrap="square" lIns="27432" rIns="27432" tIns="18288" bIns="0">
            <a:spAutoFit/>
          </a:bodyPr>
          <a:lstStyle/>
          <a:p>
            <a:pPr>
              <a:spcAft>
                <a:spcPts val="800"/>
              </a:spcAft>
              <a:defRPr sz="1800" b="0">
                <a:solidFill>
                  <a:srgbClr val="F4C77E"/>
                </a:solidFill>
                <a:latin typeface="DejaVu Sans"/>
              </a:defRPr>
            </a:pPr>
            <a:r>
              <a:t>Xizmatni vazifaga mos tanlash</a:t>
            </a:r>
          </a:p>
        </p:txBody>
      </p:sp>
      <p:sp>
        <p:nvSpPr>
          <p:cNvPr id="14" name="TextBox 13"/>
          <p:cNvSpPr txBox="1"/>
          <p:nvPr/>
        </p:nvSpPr>
        <p:spPr>
          <a:xfrm>
            <a:off x="3822191" y="2606040"/>
            <a:ext cx="4023360" cy="1417320"/>
          </a:xfrm>
          <a:prstGeom prst="rect">
            <a:avLst/>
          </a:prstGeom>
          <a:noFill/>
        </p:spPr>
        <p:txBody>
          <a:bodyPr wrap="square" lIns="27432" rIns="27432" tIns="18288" bIns="0">
            <a:spAutoFit/>
          </a:bodyPr>
          <a:lstStyle/>
          <a:p>
            <a:pPr>
              <a:spcAft>
                <a:spcPts val="800"/>
              </a:spcAft>
              <a:defRPr sz="2200" b="1">
                <a:solidFill>
                  <a:srgbClr val="243B53"/>
                </a:solidFill>
                <a:latin typeface="DejaVu Sans"/>
              </a:defRPr>
            </a:pPr>
            <a:r>
              <a:t>RDS relatsion baza dvijoklarini boshqarishga yordam beradi. Jadval, indeks va so‘rov mijozda qoladi.</a:t>
            </a:r>
          </a:p>
        </p:txBody>
      </p:sp>
      <p:sp>
        <p:nvSpPr>
          <p:cNvPr id="15" name="TextBox 14"/>
          <p:cNvSpPr txBox="1"/>
          <p:nvPr/>
        </p:nvSpPr>
        <p:spPr>
          <a:xfrm>
            <a:off x="3822191" y="4206240"/>
            <a:ext cx="4023360" cy="1645920"/>
          </a:xfrm>
          <a:prstGeom prst="rect">
            <a:avLst/>
          </a:prstGeom>
          <a:noFill/>
        </p:spPr>
        <p:txBody>
          <a:bodyPr wrap="square" lIns="27432" rIns="27432" tIns="18288" bIns="0">
            <a:spAutoFit/>
          </a:bodyPr>
          <a:lstStyle/>
          <a:p>
            <a:pPr>
              <a:spcAft>
                <a:spcPts val="800"/>
              </a:spcAft>
              <a:defRPr sz="2000" b="0">
                <a:solidFill>
                  <a:srgbClr val="243B53"/>
                </a:solidFill>
                <a:latin typeface="DejaVu Sans"/>
              </a:defRPr>
            </a:pPr>
            <a:r>
              <a:t>Private subnet va security group: baza portiga faqat ilova ulanadi. Backup muddati tekshiriladi.</a:t>
            </a:r>
          </a:p>
        </p:txBody>
      </p:sp>
      <p:sp>
        <p:nvSpPr>
          <p:cNvPr id="16" name="Rectangle 15"/>
          <p:cNvSpPr/>
          <p:nvPr/>
        </p:nvSpPr>
        <p:spPr>
          <a:xfrm>
            <a:off x="8229600" y="2624328"/>
            <a:ext cx="3108960" cy="713232"/>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624328"/>
            <a:ext cx="109728" cy="713232"/>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79776"/>
            <a:ext cx="2651760" cy="45720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Private RDS</a:t>
            </a:r>
          </a:p>
        </p:txBody>
      </p:sp>
      <p:cxnSp>
        <p:nvCxnSpPr>
          <p:cNvPr id="19" name="Connector 18"/>
          <p:cNvCxnSpPr/>
          <p:nvPr/>
        </p:nvCxnSpPr>
        <p:spPr>
          <a:xfrm>
            <a:off x="9784080" y="3337560"/>
            <a:ext cx="0" cy="246888"/>
          </a:xfrm>
          <a:prstGeom prst="line">
            <a:avLst/>
          </a:prstGeom>
          <a:ln w="25400">
            <a:solidFill>
              <a:srgbClr val="2077BA"/>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229600" y="3584448"/>
            <a:ext cx="3108960" cy="713232"/>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3584448"/>
            <a:ext cx="109728" cy="713232"/>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3739896"/>
            <a:ext cx="2651760" cy="45720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Backup / tiklash</a:t>
            </a:r>
          </a:p>
        </p:txBody>
      </p:sp>
      <p:sp>
        <p:nvSpPr>
          <p:cNvPr id="23" name="TextBox 22"/>
          <p:cNvSpPr txBox="1"/>
          <p:nvPr/>
        </p:nvSpPr>
        <p:spPr>
          <a:xfrm>
            <a:off x="731520" y="6108192"/>
            <a:ext cx="10698480" cy="329184"/>
          </a:xfrm>
          <a:prstGeom prst="rect">
            <a:avLst/>
          </a:prstGeom>
          <a:noFill/>
        </p:spPr>
        <p:txBody>
          <a:bodyPr wrap="square" lIns="27432" rIns="27432" tIns="18288" bIns="0">
            <a:spAutoFit/>
          </a:bodyPr>
          <a:lstStyle/>
          <a:p>
            <a:pPr>
              <a:spcAft>
                <a:spcPts val="800"/>
              </a:spcAft>
              <a:defRPr sz="1200" b="0">
                <a:solidFill>
                  <a:srgbClr val="E88D16"/>
                </a:solidFill>
                <a:latin typeface="DejaVu Sans"/>
              </a:defRPr>
            </a:pPr>
            <a:r>
              <a:t>MISOL / Talaba va baholar PostgreSQL bazasida. Read replica hamda Multi-AZ failover bir xil vazifa emas.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
            <a:ext cx="210312" cy="6729984"/>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9921240" cy="329184"/>
          </a:xfrm>
          <a:prstGeom prst="rect">
            <a:avLst/>
          </a:prstGeom>
          <a:noFill/>
        </p:spPr>
        <p:txBody>
          <a:bodyPr wrap="square" lIns="27432" rIns="27432" tIns="18288" bIns="0">
            <a:spAutoFit/>
          </a:bodyPr>
          <a:lstStyle/>
          <a:p>
            <a:pPr>
              <a:spcAft>
                <a:spcPts val="800"/>
              </a:spcAft>
              <a:defRPr sz="1200" b="1">
                <a:solidFill>
                  <a:srgbClr val="243B53"/>
                </a:solidFill>
                <a:latin typeface="DejaVu Sans"/>
              </a:defRPr>
            </a:pPr>
            <a:r>
              <a:t>AMAZON WEB SERVICES  /  ARXITEKTURA KARTASI</a:t>
            </a:r>
          </a:p>
        </p:txBody>
      </p:sp>
      <p:sp>
        <p:nvSpPr>
          <p:cNvPr id="5" name="Rectangle 4"/>
          <p:cNvSpPr/>
          <p:nvPr/>
        </p:nvSpPr>
        <p:spPr>
          <a:xfrm>
            <a:off x="10917936" y="411480"/>
            <a:ext cx="594360" cy="59436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91088" y="530352"/>
            <a:ext cx="457200" cy="365760"/>
          </a:xfrm>
          <a:prstGeom prst="rect">
            <a:avLst/>
          </a:prstGeom>
          <a:noFill/>
        </p:spPr>
        <p:txBody>
          <a:bodyPr wrap="square" lIns="27432" rIns="27432" tIns="18288" bIns="0">
            <a:spAutoFit/>
          </a:bodyPr>
          <a:lstStyle/>
          <a:p>
            <a:pPr>
              <a:spcAft>
                <a:spcPts val="800"/>
              </a:spcAft>
              <a:defRPr sz="1500" b="1">
                <a:solidFill>
                  <a:srgbClr val="E88D16"/>
                </a:solidFill>
                <a:latin typeface="DejaVu Sans"/>
              </a:defRPr>
            </a:pPr>
            <a:r>
              <a:t>07</a:t>
            </a:r>
          </a:p>
        </p:txBody>
      </p:sp>
      <p:sp>
        <p:nvSpPr>
          <p:cNvPr id="7" name="TextBox 6"/>
          <p:cNvSpPr txBox="1"/>
          <p:nvPr/>
        </p:nvSpPr>
        <p:spPr>
          <a:xfrm>
            <a:off x="658368" y="923544"/>
            <a:ext cx="10104120" cy="868680"/>
          </a:xfrm>
          <a:prstGeom prst="rect">
            <a:avLst/>
          </a:prstGeom>
          <a:noFill/>
        </p:spPr>
        <p:txBody>
          <a:bodyPr wrap="square" lIns="27432" rIns="27432" tIns="18288" bIns="0">
            <a:spAutoFit/>
          </a:bodyPr>
          <a:lstStyle/>
          <a:p>
            <a:pPr>
              <a:spcAft>
                <a:spcPts val="800"/>
              </a:spcAft>
              <a:defRPr sz="2800" b="1">
                <a:solidFill>
                  <a:srgbClr val="243B53"/>
                </a:solidFill>
                <a:latin typeface="DejaVu Sans"/>
              </a:defRPr>
            </a:pPr>
            <a:r>
              <a:t>VPC va IAM ni birga qo‘llash</a:t>
            </a:r>
          </a:p>
        </p:txBody>
      </p:sp>
      <p:sp>
        <p:nvSpPr>
          <p:cNvPr id="8" name="TextBox 7"/>
          <p:cNvSpPr txBox="1"/>
          <p:nvPr/>
        </p:nvSpPr>
        <p:spPr>
          <a:xfrm>
            <a:off x="667512" y="1856231"/>
            <a:ext cx="10607040" cy="411480"/>
          </a:xfrm>
          <a:prstGeom prst="rect">
            <a:avLst/>
          </a:prstGeom>
          <a:noFill/>
        </p:spPr>
        <p:txBody>
          <a:bodyPr wrap="square" lIns="27432" rIns="27432" tIns="18288" bIns="0">
            <a:spAutoFit/>
          </a:bodyPr>
          <a:lstStyle/>
          <a:p>
            <a:pPr>
              <a:spcAft>
                <a:spcPts val="800"/>
              </a:spcAft>
              <a:defRPr sz="1500" b="1">
                <a:solidFill>
                  <a:srgbClr val="2077BA"/>
                </a:solidFill>
                <a:latin typeface="DejaVu Sans"/>
              </a:defRPr>
            </a:pPr>
            <a:r>
              <a:t>Tarmoq yo‘li va amal ruxsati — ikki xil nazorat.</a:t>
            </a: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43B53"/>
                </a:solidFill>
                <a:latin typeface="DejaVu Sans"/>
              </a:defRPr>
            </a:pPr>
            <a:r>
              <a:t>BTST206   /   M12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07 / 13</a:t>
            </a:r>
          </a:p>
        </p:txBody>
      </p:sp>
      <p:sp>
        <p:nvSpPr>
          <p:cNvPr id="11" name="Rectangle 10"/>
          <p:cNvSpPr/>
          <p:nvPr/>
        </p:nvSpPr>
        <p:spPr>
          <a:xfrm>
            <a:off x="722376" y="2468880"/>
            <a:ext cx="2743200" cy="3511296"/>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770632"/>
            <a:ext cx="2267712" cy="1051560"/>
          </a:xfrm>
          <a:prstGeom prst="rect">
            <a:avLst/>
          </a:prstGeom>
          <a:noFill/>
        </p:spPr>
        <p:txBody>
          <a:bodyPr wrap="square" lIns="27432" rIns="27432" tIns="18288" bIns="0">
            <a:spAutoFit/>
          </a:bodyPr>
          <a:lstStyle/>
          <a:p>
            <a:pPr>
              <a:spcAft>
                <a:spcPts val="800"/>
              </a:spcAft>
              <a:defRPr sz="2600" b="1">
                <a:solidFill>
                  <a:srgbClr val="FFFFFF"/>
                </a:solidFill>
                <a:latin typeface="DejaVu Sans"/>
              </a:defRPr>
            </a:pPr>
            <a:r>
              <a:t>VPC + IAM</a:t>
            </a:r>
          </a:p>
        </p:txBody>
      </p:sp>
      <p:sp>
        <p:nvSpPr>
          <p:cNvPr id="13" name="TextBox 12"/>
          <p:cNvSpPr txBox="1"/>
          <p:nvPr/>
        </p:nvSpPr>
        <p:spPr>
          <a:xfrm>
            <a:off x="960120" y="4215384"/>
            <a:ext cx="2267712" cy="1280160"/>
          </a:xfrm>
          <a:prstGeom prst="rect">
            <a:avLst/>
          </a:prstGeom>
          <a:noFill/>
        </p:spPr>
        <p:txBody>
          <a:bodyPr wrap="square" lIns="27432" rIns="27432" tIns="18288" bIns="0">
            <a:spAutoFit/>
          </a:bodyPr>
          <a:lstStyle/>
          <a:p>
            <a:pPr>
              <a:spcAft>
                <a:spcPts val="800"/>
              </a:spcAft>
              <a:defRPr sz="1800" b="0">
                <a:solidFill>
                  <a:srgbClr val="F4C77E"/>
                </a:solidFill>
                <a:latin typeface="DejaVu Sans"/>
              </a:defRPr>
            </a:pPr>
            <a:r>
              <a:t>Xizmatni vazifaga mos tanlash</a:t>
            </a:r>
          </a:p>
        </p:txBody>
      </p:sp>
      <p:sp>
        <p:nvSpPr>
          <p:cNvPr id="14" name="TextBox 13"/>
          <p:cNvSpPr txBox="1"/>
          <p:nvPr/>
        </p:nvSpPr>
        <p:spPr>
          <a:xfrm>
            <a:off x="3822191" y="2606040"/>
            <a:ext cx="4023360" cy="1417320"/>
          </a:xfrm>
          <a:prstGeom prst="rect">
            <a:avLst/>
          </a:prstGeom>
          <a:noFill/>
        </p:spPr>
        <p:txBody>
          <a:bodyPr wrap="square" lIns="27432" rIns="27432" tIns="18288" bIns="0">
            <a:spAutoFit/>
          </a:bodyPr>
          <a:lstStyle/>
          <a:p>
            <a:pPr>
              <a:spcAft>
                <a:spcPts val="800"/>
              </a:spcAft>
              <a:defRPr sz="2200" b="1">
                <a:solidFill>
                  <a:srgbClr val="243B53"/>
                </a:solidFill>
                <a:latin typeface="DejaVu Sans"/>
              </a:defRPr>
            </a:pPr>
            <a:r>
              <a:t>VPC — tarmoq joylashuvi. Security group — trafik cheklovi. IAM — xizmat amaliga ruxsat.</a:t>
            </a:r>
          </a:p>
        </p:txBody>
      </p:sp>
      <p:sp>
        <p:nvSpPr>
          <p:cNvPr id="15" name="TextBox 14"/>
          <p:cNvSpPr txBox="1"/>
          <p:nvPr/>
        </p:nvSpPr>
        <p:spPr>
          <a:xfrm>
            <a:off x="3822191" y="4206240"/>
            <a:ext cx="4023360" cy="1645920"/>
          </a:xfrm>
          <a:prstGeom prst="rect">
            <a:avLst/>
          </a:prstGeom>
          <a:noFill/>
        </p:spPr>
        <p:txBody>
          <a:bodyPr wrap="square" lIns="27432" rIns="27432" tIns="18288" bIns="0">
            <a:spAutoFit/>
          </a:bodyPr>
          <a:lstStyle/>
          <a:p>
            <a:pPr>
              <a:spcAft>
                <a:spcPts val="800"/>
              </a:spcAft>
              <a:defRPr sz="2000" b="0">
                <a:solidFill>
                  <a:srgbClr val="243B53"/>
                </a:solidFill>
                <a:latin typeface="DejaVu Sans"/>
              </a:defRPr>
            </a:pPr>
            <a:r>
              <a:t>EC2 roli tegishli S3 obyektini o‘qiydi; baza porti faqat ilova xavfsizlik guruhiga ochiladi.</a:t>
            </a:r>
          </a:p>
        </p:txBody>
      </p:sp>
      <p:sp>
        <p:nvSpPr>
          <p:cNvPr id="16" name="Rectangle 15"/>
          <p:cNvSpPr/>
          <p:nvPr/>
        </p:nvSpPr>
        <p:spPr>
          <a:xfrm>
            <a:off x="8229600" y="2624328"/>
            <a:ext cx="3108960" cy="713232"/>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624328"/>
            <a:ext cx="109728" cy="713232"/>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79776"/>
            <a:ext cx="2651760" cy="45720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VPC · tarmoq</a:t>
            </a:r>
          </a:p>
        </p:txBody>
      </p:sp>
      <p:cxnSp>
        <p:nvCxnSpPr>
          <p:cNvPr id="19" name="Connector 18"/>
          <p:cNvCxnSpPr/>
          <p:nvPr/>
        </p:nvCxnSpPr>
        <p:spPr>
          <a:xfrm>
            <a:off x="9784080" y="3337560"/>
            <a:ext cx="0" cy="246888"/>
          </a:xfrm>
          <a:prstGeom prst="line">
            <a:avLst/>
          </a:prstGeom>
          <a:ln w="25400">
            <a:solidFill>
              <a:srgbClr val="2077BA"/>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229600" y="3584448"/>
            <a:ext cx="3108960" cy="713232"/>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3584448"/>
            <a:ext cx="109728" cy="713232"/>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3739896"/>
            <a:ext cx="2651760" cy="45720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IAM · amal</a:t>
            </a:r>
          </a:p>
        </p:txBody>
      </p:sp>
      <p:sp>
        <p:nvSpPr>
          <p:cNvPr id="23" name="TextBox 22"/>
          <p:cNvSpPr txBox="1"/>
          <p:nvPr/>
        </p:nvSpPr>
        <p:spPr>
          <a:xfrm>
            <a:off x="731520" y="6108192"/>
            <a:ext cx="10698480" cy="329184"/>
          </a:xfrm>
          <a:prstGeom prst="rect">
            <a:avLst/>
          </a:prstGeom>
          <a:noFill/>
        </p:spPr>
        <p:txBody>
          <a:bodyPr wrap="square" lIns="27432" rIns="27432" tIns="18288" bIns="0">
            <a:spAutoFit/>
          </a:bodyPr>
          <a:lstStyle/>
          <a:p>
            <a:pPr>
              <a:spcAft>
                <a:spcPts val="800"/>
              </a:spcAft>
              <a:defRPr sz="1200" b="0">
                <a:solidFill>
                  <a:srgbClr val="E88D16"/>
                </a:solidFill>
                <a:latin typeface="DejaVu Sans"/>
              </a:defRPr>
            </a:pPr>
            <a:r>
              <a:t>MISOL / Tarmoq orqali yetib borish resurs ustida istalgan amal bajarishga ruxsat bermaydi.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
            <a:ext cx="210312" cy="6729984"/>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9921240" cy="329184"/>
          </a:xfrm>
          <a:prstGeom prst="rect">
            <a:avLst/>
          </a:prstGeom>
          <a:noFill/>
        </p:spPr>
        <p:txBody>
          <a:bodyPr wrap="square" lIns="27432" rIns="27432" tIns="18288" bIns="0">
            <a:spAutoFit/>
          </a:bodyPr>
          <a:lstStyle/>
          <a:p>
            <a:pPr>
              <a:spcAft>
                <a:spcPts val="800"/>
              </a:spcAft>
              <a:defRPr sz="1200" b="1">
                <a:solidFill>
                  <a:srgbClr val="243B53"/>
                </a:solidFill>
                <a:latin typeface="DejaVu Sans"/>
              </a:defRPr>
            </a:pPr>
            <a:r>
              <a:t>AMAZON WEB SERVICES  /  ARXITEKTURA KARTASI</a:t>
            </a:r>
          </a:p>
        </p:txBody>
      </p:sp>
      <p:sp>
        <p:nvSpPr>
          <p:cNvPr id="5" name="Rectangle 4"/>
          <p:cNvSpPr/>
          <p:nvPr/>
        </p:nvSpPr>
        <p:spPr>
          <a:xfrm>
            <a:off x="10917936" y="411480"/>
            <a:ext cx="594360" cy="59436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91088" y="530352"/>
            <a:ext cx="457200" cy="365760"/>
          </a:xfrm>
          <a:prstGeom prst="rect">
            <a:avLst/>
          </a:prstGeom>
          <a:noFill/>
        </p:spPr>
        <p:txBody>
          <a:bodyPr wrap="square" lIns="27432" rIns="27432" tIns="18288" bIns="0">
            <a:spAutoFit/>
          </a:bodyPr>
          <a:lstStyle/>
          <a:p>
            <a:pPr>
              <a:spcAft>
                <a:spcPts val="800"/>
              </a:spcAft>
              <a:defRPr sz="1500" b="1">
                <a:solidFill>
                  <a:srgbClr val="E88D16"/>
                </a:solidFill>
                <a:latin typeface="DejaVu Sans"/>
              </a:defRPr>
            </a:pPr>
            <a:r>
              <a:t>08</a:t>
            </a:r>
          </a:p>
        </p:txBody>
      </p:sp>
      <p:sp>
        <p:nvSpPr>
          <p:cNvPr id="7" name="TextBox 6"/>
          <p:cNvSpPr txBox="1"/>
          <p:nvPr/>
        </p:nvSpPr>
        <p:spPr>
          <a:xfrm>
            <a:off x="658368" y="923544"/>
            <a:ext cx="10104120" cy="868680"/>
          </a:xfrm>
          <a:prstGeom prst="rect">
            <a:avLst/>
          </a:prstGeom>
          <a:noFill/>
        </p:spPr>
        <p:txBody>
          <a:bodyPr wrap="square" lIns="27432" rIns="27432" tIns="18288" bIns="0">
            <a:spAutoFit/>
          </a:bodyPr>
          <a:lstStyle/>
          <a:p>
            <a:pPr>
              <a:spcAft>
                <a:spcPts val="800"/>
              </a:spcAft>
              <a:defRPr sz="2800" b="1">
                <a:solidFill>
                  <a:srgbClr val="243B53"/>
                </a:solidFill>
                <a:latin typeface="DejaVu Sans"/>
              </a:defRPr>
            </a:pPr>
            <a:r>
              <a:t>Lambda va kuzatuv</a:t>
            </a:r>
          </a:p>
        </p:txBody>
      </p:sp>
      <p:sp>
        <p:nvSpPr>
          <p:cNvPr id="8" name="TextBox 7"/>
          <p:cNvSpPr txBox="1"/>
          <p:nvPr/>
        </p:nvSpPr>
        <p:spPr>
          <a:xfrm>
            <a:off x="667512" y="1856231"/>
            <a:ext cx="10607040" cy="411480"/>
          </a:xfrm>
          <a:prstGeom prst="rect">
            <a:avLst/>
          </a:prstGeom>
          <a:noFill/>
        </p:spPr>
        <p:txBody>
          <a:bodyPr wrap="square" lIns="27432" rIns="27432" tIns="18288" bIns="0">
            <a:spAutoFit/>
          </a:bodyPr>
          <a:lstStyle/>
          <a:p>
            <a:pPr>
              <a:spcAft>
                <a:spcPts val="800"/>
              </a:spcAft>
              <a:defRPr sz="1500" b="1">
                <a:solidFill>
                  <a:srgbClr val="2077BA"/>
                </a:solidFill>
                <a:latin typeface="DejaVu Sans"/>
              </a:defRPr>
            </a:pPr>
            <a:r>
              <a:t>Hodisaga javob berish va natijani o‘lchash.</a:t>
            </a: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43B53"/>
                </a:solidFill>
                <a:latin typeface="DejaVu Sans"/>
              </a:defRPr>
            </a:pPr>
            <a:r>
              <a:t>BTST206   /   M12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08 / 13</a:t>
            </a:r>
          </a:p>
        </p:txBody>
      </p:sp>
      <p:sp>
        <p:nvSpPr>
          <p:cNvPr id="11" name="Rectangle 10"/>
          <p:cNvSpPr/>
          <p:nvPr/>
        </p:nvSpPr>
        <p:spPr>
          <a:xfrm>
            <a:off x="722376" y="2468880"/>
            <a:ext cx="2743200" cy="3511296"/>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770632"/>
            <a:ext cx="2267712" cy="1051560"/>
          </a:xfrm>
          <a:prstGeom prst="rect">
            <a:avLst/>
          </a:prstGeom>
          <a:noFill/>
        </p:spPr>
        <p:txBody>
          <a:bodyPr wrap="square" lIns="27432" rIns="27432" tIns="18288" bIns="0">
            <a:spAutoFit/>
          </a:bodyPr>
          <a:lstStyle/>
          <a:p>
            <a:pPr>
              <a:spcAft>
                <a:spcPts val="800"/>
              </a:spcAft>
              <a:defRPr sz="2600" b="1">
                <a:solidFill>
                  <a:srgbClr val="FFFFFF"/>
                </a:solidFill>
                <a:latin typeface="DejaVu Sans"/>
              </a:defRPr>
            </a:pPr>
            <a:r>
              <a:t>Lambda + CloudWatch</a:t>
            </a:r>
          </a:p>
        </p:txBody>
      </p:sp>
      <p:sp>
        <p:nvSpPr>
          <p:cNvPr id="13" name="TextBox 12"/>
          <p:cNvSpPr txBox="1"/>
          <p:nvPr/>
        </p:nvSpPr>
        <p:spPr>
          <a:xfrm>
            <a:off x="960120" y="4215384"/>
            <a:ext cx="2267712" cy="1280160"/>
          </a:xfrm>
          <a:prstGeom prst="rect">
            <a:avLst/>
          </a:prstGeom>
          <a:noFill/>
        </p:spPr>
        <p:txBody>
          <a:bodyPr wrap="square" lIns="27432" rIns="27432" tIns="18288" bIns="0">
            <a:spAutoFit/>
          </a:bodyPr>
          <a:lstStyle/>
          <a:p>
            <a:pPr>
              <a:spcAft>
                <a:spcPts val="800"/>
              </a:spcAft>
              <a:defRPr sz="1800" b="0">
                <a:solidFill>
                  <a:srgbClr val="F4C77E"/>
                </a:solidFill>
                <a:latin typeface="DejaVu Sans"/>
              </a:defRPr>
            </a:pPr>
            <a:r>
              <a:t>Xizmatni vazifaga mos tanlash</a:t>
            </a:r>
          </a:p>
        </p:txBody>
      </p:sp>
      <p:sp>
        <p:nvSpPr>
          <p:cNvPr id="14" name="TextBox 13"/>
          <p:cNvSpPr txBox="1"/>
          <p:nvPr/>
        </p:nvSpPr>
        <p:spPr>
          <a:xfrm>
            <a:off x="3822191" y="2606040"/>
            <a:ext cx="4023360" cy="1417320"/>
          </a:xfrm>
          <a:prstGeom prst="rect">
            <a:avLst/>
          </a:prstGeom>
          <a:noFill/>
        </p:spPr>
        <p:txBody>
          <a:bodyPr wrap="square" lIns="27432" rIns="27432" tIns="18288" bIns="0">
            <a:spAutoFit/>
          </a:bodyPr>
          <a:lstStyle/>
          <a:p>
            <a:pPr>
              <a:spcAft>
                <a:spcPts val="800"/>
              </a:spcAft>
              <a:defRPr sz="2200" b="1">
                <a:solidFill>
                  <a:srgbClr val="243B53"/>
                </a:solidFill>
                <a:latin typeface="DejaVu Sans"/>
              </a:defRPr>
            </a:pPr>
            <a:r>
              <a:t>Lambda hodisa kelganda funksiyani bajaradi. CloudWatch log, metrika va ogohlantirishlarni beradi.</a:t>
            </a:r>
          </a:p>
        </p:txBody>
      </p:sp>
      <p:sp>
        <p:nvSpPr>
          <p:cNvPr id="15" name="TextBox 14"/>
          <p:cNvSpPr txBox="1"/>
          <p:nvPr/>
        </p:nvSpPr>
        <p:spPr>
          <a:xfrm>
            <a:off x="3822191" y="4206240"/>
            <a:ext cx="4023360" cy="1645920"/>
          </a:xfrm>
          <a:prstGeom prst="rect">
            <a:avLst/>
          </a:prstGeom>
          <a:noFill/>
        </p:spPr>
        <p:txBody>
          <a:bodyPr wrap="square" lIns="27432" rIns="27432" tIns="18288" bIns="0">
            <a:spAutoFit/>
          </a:bodyPr>
          <a:lstStyle/>
          <a:p>
            <a:pPr>
              <a:spcAft>
                <a:spcPts val="800"/>
              </a:spcAft>
              <a:defRPr sz="2000" b="0">
                <a:solidFill>
                  <a:srgbClr val="243B53"/>
                </a:solidFill>
                <a:latin typeface="DejaVu Sans"/>
              </a:defRPr>
            </a:pPr>
            <a:r>
              <a:t>S3 ga rasm yuklash → Lambda tekshiradi → kichik nusxa yaratadi.</a:t>
            </a:r>
          </a:p>
        </p:txBody>
      </p:sp>
      <p:sp>
        <p:nvSpPr>
          <p:cNvPr id="16" name="Rectangle 15"/>
          <p:cNvSpPr/>
          <p:nvPr/>
        </p:nvSpPr>
        <p:spPr>
          <a:xfrm>
            <a:off x="8229600" y="2624328"/>
            <a:ext cx="3108960" cy="713232"/>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2624328"/>
            <a:ext cx="109728" cy="713232"/>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779776"/>
            <a:ext cx="2651760" cy="45720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S3 hodisasi</a:t>
            </a:r>
          </a:p>
        </p:txBody>
      </p:sp>
      <p:cxnSp>
        <p:nvCxnSpPr>
          <p:cNvPr id="19" name="Connector 18"/>
          <p:cNvCxnSpPr/>
          <p:nvPr/>
        </p:nvCxnSpPr>
        <p:spPr>
          <a:xfrm>
            <a:off x="9784080" y="3337560"/>
            <a:ext cx="0" cy="246888"/>
          </a:xfrm>
          <a:prstGeom prst="line">
            <a:avLst/>
          </a:prstGeom>
          <a:ln w="25400">
            <a:solidFill>
              <a:srgbClr val="2077BA"/>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229600" y="3584448"/>
            <a:ext cx="3108960" cy="713232"/>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29600" y="3584448"/>
            <a:ext cx="109728" cy="713232"/>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3920" y="3739896"/>
            <a:ext cx="2651760" cy="45720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Lambda</a:t>
            </a:r>
          </a:p>
        </p:txBody>
      </p:sp>
      <p:cxnSp>
        <p:nvCxnSpPr>
          <p:cNvPr id="23" name="Connector 22"/>
          <p:cNvCxnSpPr/>
          <p:nvPr/>
        </p:nvCxnSpPr>
        <p:spPr>
          <a:xfrm>
            <a:off x="9784080" y="4297680"/>
            <a:ext cx="0" cy="246888"/>
          </a:xfrm>
          <a:prstGeom prst="line">
            <a:avLst/>
          </a:prstGeom>
          <a:ln w="25400">
            <a:solidFill>
              <a:srgbClr val="2077BA"/>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8229600" y="4544568"/>
            <a:ext cx="3108960" cy="713232"/>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0" y="4544568"/>
            <a:ext cx="109728" cy="713232"/>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0" y="4700016"/>
            <a:ext cx="2651760" cy="457200"/>
          </a:xfrm>
          <a:prstGeom prst="rect">
            <a:avLst/>
          </a:prstGeom>
          <a:noFill/>
        </p:spPr>
        <p:txBody>
          <a:bodyPr wrap="square" lIns="27432" rIns="27432" tIns="18288" bIns="0">
            <a:spAutoFit/>
          </a:bodyPr>
          <a:lstStyle/>
          <a:p>
            <a:pPr>
              <a:spcAft>
                <a:spcPts val="800"/>
              </a:spcAft>
              <a:defRPr sz="1900" b="1">
                <a:solidFill>
                  <a:srgbClr val="243B53"/>
                </a:solidFill>
                <a:latin typeface="DejaVu Sans"/>
              </a:defRPr>
            </a:pPr>
            <a:r>
              <a:t>CloudWatch</a:t>
            </a:r>
          </a:p>
        </p:txBody>
      </p:sp>
      <p:sp>
        <p:nvSpPr>
          <p:cNvPr id="27" name="TextBox 26"/>
          <p:cNvSpPr txBox="1"/>
          <p:nvPr/>
        </p:nvSpPr>
        <p:spPr>
          <a:xfrm>
            <a:off x="731520" y="6108192"/>
            <a:ext cx="10698480" cy="329184"/>
          </a:xfrm>
          <a:prstGeom prst="rect">
            <a:avLst/>
          </a:prstGeom>
          <a:noFill/>
        </p:spPr>
        <p:txBody>
          <a:bodyPr wrap="square" lIns="27432" rIns="27432" tIns="18288" bIns="0">
            <a:spAutoFit/>
          </a:bodyPr>
          <a:lstStyle/>
          <a:p>
            <a:pPr>
              <a:spcAft>
                <a:spcPts val="800"/>
              </a:spcAft>
              <a:defRPr sz="1200" b="0">
                <a:solidFill>
                  <a:srgbClr val="E88D16"/>
                </a:solidFill>
                <a:latin typeface="DejaVu Sans"/>
              </a:defRPr>
            </a:pPr>
            <a:r>
              <a:t>MISOL / Takroriy hodisalar kelishi mumkin: qayta bajarish xavfsiz bo‘lishi kerak.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
            <a:ext cx="210312" cy="6729984"/>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9921240" cy="329184"/>
          </a:xfrm>
          <a:prstGeom prst="rect">
            <a:avLst/>
          </a:prstGeom>
          <a:noFill/>
        </p:spPr>
        <p:txBody>
          <a:bodyPr wrap="square" lIns="27432" rIns="27432" tIns="18288" bIns="0">
            <a:spAutoFit/>
          </a:bodyPr>
          <a:lstStyle/>
          <a:p>
            <a:pPr>
              <a:spcAft>
                <a:spcPts val="800"/>
              </a:spcAft>
              <a:defRPr sz="1200" b="1">
                <a:solidFill>
                  <a:srgbClr val="243B53"/>
                </a:solidFill>
                <a:latin typeface="DejaVu Sans"/>
              </a:defRPr>
            </a:pPr>
            <a:r>
              <a:t>AMAZON WEB SERVICES  /  ARXITEKTURA KARTASI</a:t>
            </a:r>
          </a:p>
        </p:txBody>
      </p:sp>
      <p:sp>
        <p:nvSpPr>
          <p:cNvPr id="5" name="Rectangle 4"/>
          <p:cNvSpPr/>
          <p:nvPr/>
        </p:nvSpPr>
        <p:spPr>
          <a:xfrm>
            <a:off x="10917936" y="411480"/>
            <a:ext cx="594360" cy="59436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91088" y="530352"/>
            <a:ext cx="457200" cy="365760"/>
          </a:xfrm>
          <a:prstGeom prst="rect">
            <a:avLst/>
          </a:prstGeom>
          <a:noFill/>
        </p:spPr>
        <p:txBody>
          <a:bodyPr wrap="square" lIns="27432" rIns="27432" tIns="18288" bIns="0">
            <a:spAutoFit/>
          </a:bodyPr>
          <a:lstStyle/>
          <a:p>
            <a:pPr>
              <a:spcAft>
                <a:spcPts val="800"/>
              </a:spcAft>
              <a:defRPr sz="1500" b="1">
                <a:solidFill>
                  <a:srgbClr val="E88D16"/>
                </a:solidFill>
                <a:latin typeface="DejaVu Sans"/>
              </a:defRPr>
            </a:pPr>
            <a:r>
              <a:t>09</a:t>
            </a:r>
          </a:p>
        </p:txBody>
      </p:sp>
      <p:sp>
        <p:nvSpPr>
          <p:cNvPr id="7" name="TextBox 6"/>
          <p:cNvSpPr txBox="1"/>
          <p:nvPr/>
        </p:nvSpPr>
        <p:spPr>
          <a:xfrm>
            <a:off x="658368" y="923544"/>
            <a:ext cx="10104120" cy="868680"/>
          </a:xfrm>
          <a:prstGeom prst="rect">
            <a:avLst/>
          </a:prstGeom>
          <a:noFill/>
        </p:spPr>
        <p:txBody>
          <a:bodyPr wrap="square" lIns="27432" rIns="27432" tIns="18288" bIns="0">
            <a:spAutoFit/>
          </a:bodyPr>
          <a:lstStyle/>
          <a:p>
            <a:pPr>
              <a:spcAft>
                <a:spcPts val="800"/>
              </a:spcAft>
              <a:defRPr sz="2800" b="1">
                <a:solidFill>
                  <a:srgbClr val="243B53"/>
                </a:solidFill>
                <a:latin typeface="DejaVu Sans"/>
              </a:defRPr>
            </a:pPr>
            <a:r>
              <a:t>Texnik diagramma</a:t>
            </a:r>
          </a:p>
        </p:txBody>
      </p:sp>
      <p:sp>
        <p:nvSpPr>
          <p:cNvPr id="8" name="TextBox 7"/>
          <p:cNvSpPr txBox="1"/>
          <p:nvPr/>
        </p:nvSpPr>
        <p:spPr>
          <a:xfrm>
            <a:off x="667512" y="1856231"/>
            <a:ext cx="10607040" cy="411480"/>
          </a:xfrm>
          <a:prstGeom prst="rect">
            <a:avLst/>
          </a:prstGeom>
          <a:noFill/>
        </p:spPr>
        <p:txBody>
          <a:bodyPr wrap="square" lIns="27432" rIns="27432" tIns="18288" bIns="0">
            <a:spAutoFit/>
          </a:bodyPr>
          <a:lstStyle/>
          <a:p>
            <a:pPr>
              <a:spcAft>
                <a:spcPts val="800"/>
              </a:spcAft>
              <a:defRPr sz="1500" b="1">
                <a:solidFill>
                  <a:srgbClr val="2077BA"/>
                </a:solidFill>
                <a:latin typeface="DejaVu Sans"/>
              </a:defRPr>
            </a:pPr>
            <a:r>
              <a:t>Komponentlar va ular orasidagi asosiy bog‘lanish</a:t>
            </a: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43B53"/>
                </a:solidFill>
                <a:latin typeface="DejaVu Sans"/>
              </a:defRPr>
            </a:pPr>
            <a:r>
              <a:t>BTST206   /   M12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09 / 13</a:t>
            </a:r>
          </a:p>
        </p:txBody>
      </p:sp>
      <p:sp>
        <p:nvSpPr>
          <p:cNvPr id="11" name="Rectangle 10"/>
          <p:cNvSpPr/>
          <p:nvPr/>
        </p:nvSpPr>
        <p:spPr>
          <a:xfrm>
            <a:off x="731520" y="2377440"/>
            <a:ext cx="10725912" cy="3493008"/>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514600"/>
            <a:ext cx="9144000" cy="320040"/>
          </a:xfrm>
          <a:prstGeom prst="rect">
            <a:avLst/>
          </a:prstGeom>
          <a:noFill/>
        </p:spPr>
        <p:txBody>
          <a:bodyPr wrap="square" lIns="27432" rIns="27432" tIns="18288" bIns="0">
            <a:spAutoFit/>
          </a:bodyPr>
          <a:lstStyle/>
          <a:p>
            <a:pPr>
              <a:spcAft>
                <a:spcPts val="800"/>
              </a:spcAft>
              <a:defRPr sz="1400" b="1">
                <a:solidFill>
                  <a:srgbClr val="E88D16"/>
                </a:solidFill>
                <a:latin typeface="DejaVu Sans"/>
              </a:defRPr>
            </a:pPr>
            <a:r>
              <a:t>AWS REGION  /  universitet portali</a:t>
            </a:r>
          </a:p>
        </p:txBody>
      </p:sp>
      <p:sp>
        <p:nvSpPr>
          <p:cNvPr id="13" name="Rectangle 12"/>
          <p:cNvSpPr/>
          <p:nvPr/>
        </p:nvSpPr>
        <p:spPr>
          <a:xfrm>
            <a:off x="914400" y="3154680"/>
            <a:ext cx="3127248" cy="77724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264408"/>
            <a:ext cx="2889504" cy="612647"/>
          </a:xfrm>
          <a:prstGeom prst="rect">
            <a:avLst/>
          </a:prstGeom>
          <a:noFill/>
        </p:spPr>
        <p:txBody>
          <a:bodyPr wrap="square" lIns="27432" rIns="27432" tIns="18288" bIns="0">
            <a:spAutoFit/>
          </a:bodyPr>
          <a:lstStyle/>
          <a:p>
            <a:pPr>
              <a:spcAft>
                <a:spcPts val="800"/>
              </a:spcAft>
              <a:defRPr sz="1700" b="1">
                <a:solidFill>
                  <a:srgbClr val="243B53"/>
                </a:solidFill>
                <a:latin typeface="DejaVu Sans"/>
              </a:defRPr>
            </a:pPr>
            <a:r>
              <a:t>ALB</a:t>
            </a:r>
          </a:p>
        </p:txBody>
      </p:sp>
      <p:cxnSp>
        <p:nvCxnSpPr>
          <p:cNvPr id="15" name="Connector 14"/>
          <p:cNvCxnSpPr/>
          <p:nvPr/>
        </p:nvCxnSpPr>
        <p:spPr>
          <a:xfrm>
            <a:off x="4041648" y="3543300"/>
            <a:ext cx="292608" cy="0"/>
          </a:xfrm>
          <a:prstGeom prst="line">
            <a:avLst/>
          </a:prstGeom>
          <a:ln w="24130">
            <a:solidFill>
              <a:srgbClr val="E88D16"/>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334256" y="3154680"/>
            <a:ext cx="3127248" cy="77724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53128" y="3264408"/>
            <a:ext cx="2889504" cy="612647"/>
          </a:xfrm>
          <a:prstGeom prst="rect">
            <a:avLst/>
          </a:prstGeom>
          <a:noFill/>
        </p:spPr>
        <p:txBody>
          <a:bodyPr wrap="square" lIns="27432" rIns="27432" tIns="18288" bIns="0">
            <a:spAutoFit/>
          </a:bodyPr>
          <a:lstStyle/>
          <a:p>
            <a:pPr>
              <a:spcAft>
                <a:spcPts val="800"/>
              </a:spcAft>
              <a:defRPr sz="1700" b="1">
                <a:solidFill>
                  <a:srgbClr val="243B53"/>
                </a:solidFill>
                <a:latin typeface="DejaVu Sans"/>
              </a:defRPr>
            </a:pPr>
            <a:r>
              <a:t>EC2 · ilova</a:t>
            </a:r>
          </a:p>
        </p:txBody>
      </p:sp>
      <p:cxnSp>
        <p:nvCxnSpPr>
          <p:cNvPr id="18" name="Connector 17"/>
          <p:cNvCxnSpPr/>
          <p:nvPr/>
        </p:nvCxnSpPr>
        <p:spPr>
          <a:xfrm>
            <a:off x="7461504" y="3543300"/>
            <a:ext cx="292608" cy="0"/>
          </a:xfrm>
          <a:prstGeom prst="line">
            <a:avLst/>
          </a:prstGeom>
          <a:ln w="24130">
            <a:solidFill>
              <a:srgbClr val="E88D16"/>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7754112" y="3154680"/>
            <a:ext cx="3127248" cy="77724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72984" y="3264408"/>
            <a:ext cx="2889504" cy="612647"/>
          </a:xfrm>
          <a:prstGeom prst="rect">
            <a:avLst/>
          </a:prstGeom>
          <a:noFill/>
        </p:spPr>
        <p:txBody>
          <a:bodyPr wrap="square" lIns="27432" rIns="27432" tIns="18288" bIns="0">
            <a:spAutoFit/>
          </a:bodyPr>
          <a:lstStyle/>
          <a:p>
            <a:pPr>
              <a:spcAft>
                <a:spcPts val="800"/>
              </a:spcAft>
              <a:defRPr sz="1700" b="1">
                <a:solidFill>
                  <a:srgbClr val="243B53"/>
                </a:solidFill>
                <a:latin typeface="DejaVu Sans"/>
              </a:defRPr>
            </a:pPr>
            <a:r>
              <a:t>RDS · baza</a:t>
            </a:r>
          </a:p>
        </p:txBody>
      </p:sp>
      <p:sp>
        <p:nvSpPr>
          <p:cNvPr id="21" name="Rectangle 20"/>
          <p:cNvSpPr/>
          <p:nvPr/>
        </p:nvSpPr>
        <p:spPr>
          <a:xfrm>
            <a:off x="4407408" y="4645152"/>
            <a:ext cx="2971800" cy="73152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80" y="4754880"/>
            <a:ext cx="2734056" cy="566928"/>
          </a:xfrm>
          <a:prstGeom prst="rect">
            <a:avLst/>
          </a:prstGeom>
          <a:noFill/>
        </p:spPr>
        <p:txBody>
          <a:bodyPr wrap="square" lIns="27432" rIns="27432" tIns="18288" bIns="0">
            <a:spAutoFit/>
          </a:bodyPr>
          <a:lstStyle/>
          <a:p>
            <a:pPr>
              <a:spcAft>
                <a:spcPts val="800"/>
              </a:spcAft>
              <a:defRPr sz="2000" b="1">
                <a:solidFill>
                  <a:srgbClr val="243B53"/>
                </a:solidFill>
                <a:latin typeface="DejaVu Sans"/>
              </a:defRPr>
            </a:pPr>
            <a:r>
              <a:t>S3 · fayllar</a:t>
            </a:r>
          </a:p>
        </p:txBody>
      </p:sp>
      <p:sp>
        <p:nvSpPr>
          <p:cNvPr id="23" name="Rectangle 22"/>
          <p:cNvSpPr/>
          <p:nvPr/>
        </p:nvSpPr>
        <p:spPr>
          <a:xfrm>
            <a:off x="7790688" y="4645152"/>
            <a:ext cx="2971800" cy="73152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909560" y="4754880"/>
            <a:ext cx="2734056" cy="566928"/>
          </a:xfrm>
          <a:prstGeom prst="rect">
            <a:avLst/>
          </a:prstGeom>
          <a:noFill/>
        </p:spPr>
        <p:txBody>
          <a:bodyPr wrap="square" lIns="27432" rIns="27432" tIns="18288" bIns="0">
            <a:spAutoFit/>
          </a:bodyPr>
          <a:lstStyle/>
          <a:p>
            <a:pPr>
              <a:spcAft>
                <a:spcPts val="800"/>
              </a:spcAft>
              <a:defRPr sz="2000" b="1">
                <a:solidFill>
                  <a:srgbClr val="243B53"/>
                </a:solidFill>
                <a:latin typeface="DejaVu Sans"/>
              </a:defRPr>
            </a:pPr>
            <a:r>
              <a:t>Lambda · rasm</a:t>
            </a:r>
          </a:p>
        </p:txBody>
      </p:sp>
      <p:cxnSp>
        <p:nvCxnSpPr>
          <p:cNvPr id="25" name="Connector 24"/>
          <p:cNvCxnSpPr/>
          <p:nvPr/>
        </p:nvCxnSpPr>
        <p:spPr>
          <a:xfrm>
            <a:off x="5897880" y="3931920"/>
            <a:ext cx="0" cy="713232"/>
          </a:xfrm>
          <a:prstGeom prst="line">
            <a:avLst/>
          </a:prstGeom>
          <a:ln w="25400">
            <a:solidFill>
              <a:srgbClr val="2077BA"/>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379208" y="5010912"/>
            <a:ext cx="411480" cy="0"/>
          </a:xfrm>
          <a:prstGeom prst="line">
            <a:avLst/>
          </a:prstGeom>
          <a:ln w="25400">
            <a:solidFill>
              <a:srgbClr val="2077BA"/>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
            <a:ext cx="210312" cy="6729984"/>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9921240" cy="329184"/>
          </a:xfrm>
          <a:prstGeom prst="rect">
            <a:avLst/>
          </a:prstGeom>
          <a:noFill/>
        </p:spPr>
        <p:txBody>
          <a:bodyPr wrap="square" lIns="27432" rIns="27432" tIns="18288" bIns="0">
            <a:spAutoFit/>
          </a:bodyPr>
          <a:lstStyle/>
          <a:p>
            <a:pPr>
              <a:spcAft>
                <a:spcPts val="800"/>
              </a:spcAft>
              <a:defRPr sz="1200" b="1">
                <a:solidFill>
                  <a:srgbClr val="243B53"/>
                </a:solidFill>
                <a:latin typeface="DejaVu Sans"/>
              </a:defRPr>
            </a:pPr>
            <a:r>
              <a:t>AMAZON WEB SERVICES  /  ARXITEKTURA KARTASI</a:t>
            </a:r>
          </a:p>
        </p:txBody>
      </p:sp>
      <p:sp>
        <p:nvSpPr>
          <p:cNvPr id="5" name="Rectangle 4"/>
          <p:cNvSpPr/>
          <p:nvPr/>
        </p:nvSpPr>
        <p:spPr>
          <a:xfrm>
            <a:off x="10917936" y="411480"/>
            <a:ext cx="594360" cy="59436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91088" y="530352"/>
            <a:ext cx="457200" cy="365760"/>
          </a:xfrm>
          <a:prstGeom prst="rect">
            <a:avLst/>
          </a:prstGeom>
          <a:noFill/>
        </p:spPr>
        <p:txBody>
          <a:bodyPr wrap="square" lIns="27432" rIns="27432" tIns="18288" bIns="0">
            <a:spAutoFit/>
          </a:bodyPr>
          <a:lstStyle/>
          <a:p>
            <a:pPr>
              <a:spcAft>
                <a:spcPts val="800"/>
              </a:spcAft>
              <a:defRPr sz="1500" b="1">
                <a:solidFill>
                  <a:srgbClr val="E88D16"/>
                </a:solidFill>
                <a:latin typeface="DejaVu Sans"/>
              </a:defRPr>
            </a:pPr>
            <a:r>
              <a:t>10</a:t>
            </a:r>
          </a:p>
        </p:txBody>
      </p:sp>
      <p:sp>
        <p:nvSpPr>
          <p:cNvPr id="7" name="TextBox 6"/>
          <p:cNvSpPr txBox="1"/>
          <p:nvPr/>
        </p:nvSpPr>
        <p:spPr>
          <a:xfrm>
            <a:off x="658368" y="923544"/>
            <a:ext cx="10104120" cy="868680"/>
          </a:xfrm>
          <a:prstGeom prst="rect">
            <a:avLst/>
          </a:prstGeom>
          <a:noFill/>
        </p:spPr>
        <p:txBody>
          <a:bodyPr wrap="square" lIns="27432" rIns="27432" tIns="18288" bIns="0">
            <a:spAutoFit/>
          </a:bodyPr>
          <a:lstStyle/>
          <a:p>
            <a:pPr>
              <a:spcAft>
                <a:spcPts val="800"/>
              </a:spcAft>
              <a:defRPr sz="2800" b="1">
                <a:solidFill>
                  <a:srgbClr val="243B53"/>
                </a:solidFill>
                <a:latin typeface="DejaVu Sans"/>
              </a:defRPr>
            </a:pPr>
            <a:r>
              <a:t>Universitet misolida</a:t>
            </a:r>
          </a:p>
        </p:txBody>
      </p:sp>
      <p:sp>
        <p:nvSpPr>
          <p:cNvPr id="8" name="TextBox 7"/>
          <p:cNvSpPr txBox="1"/>
          <p:nvPr/>
        </p:nvSpPr>
        <p:spPr>
          <a:xfrm>
            <a:off x="667512" y="1856231"/>
            <a:ext cx="10607040" cy="411480"/>
          </a:xfrm>
          <a:prstGeom prst="rect">
            <a:avLst/>
          </a:prstGeom>
          <a:noFill/>
        </p:spPr>
        <p:txBody>
          <a:bodyPr wrap="square" lIns="27432" rIns="27432" tIns="18288" bIns="0">
            <a:spAutoFit/>
          </a:bodyPr>
          <a:lstStyle/>
          <a:p>
            <a:pPr>
              <a:spcAft>
                <a:spcPts val="800"/>
              </a:spcAft>
              <a:defRPr sz="1500" b="1">
                <a:solidFill>
                  <a:srgbClr val="2077BA"/>
                </a:solidFill>
                <a:latin typeface="DejaVu Sans"/>
              </a:defRPr>
            </a:pPr>
            <a:r>
              <a:t>Tushunchalar amaliy tizimda qanday birlashadi?</a:t>
            </a: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43B53"/>
                </a:solidFill>
                <a:latin typeface="DejaVu Sans"/>
              </a:defRPr>
            </a:pPr>
            <a:r>
              <a:t>BTST206   /   M12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10 / 13</a:t>
            </a:r>
          </a:p>
        </p:txBody>
      </p:sp>
      <p:sp>
        <p:nvSpPr>
          <p:cNvPr id="11" name="Rectangle 10"/>
          <p:cNvSpPr/>
          <p:nvPr/>
        </p:nvSpPr>
        <p:spPr>
          <a:xfrm>
            <a:off x="758952" y="2514600"/>
            <a:ext cx="10625328" cy="1874519"/>
          </a:xfrm>
          <a:prstGeom prst="rect">
            <a:avLst/>
          </a:prstGeom>
          <a:solidFill>
            <a:srgbClr val="FFFFFF"/>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743200"/>
            <a:ext cx="10213848" cy="1463040"/>
          </a:xfrm>
          <a:prstGeom prst="rect">
            <a:avLst/>
          </a:prstGeom>
          <a:noFill/>
        </p:spPr>
        <p:txBody>
          <a:bodyPr wrap="square" lIns="27432" rIns="27432" tIns="18288" bIns="0">
            <a:spAutoFit/>
          </a:bodyPr>
          <a:lstStyle/>
          <a:p>
            <a:pPr>
              <a:spcAft>
                <a:spcPts val="800"/>
              </a:spcAft>
              <a:defRPr sz="2400" b="0">
                <a:solidFill>
                  <a:srgbClr val="243B53"/>
                </a:solidFill>
                <a:latin typeface="DejaVu Sans"/>
              </a:defRPr>
            </a:pPr>
            <a:r>
              <a:t>Universitet AWS da portal qurmoqda. Ilova EC2 da ishlaydi, talabalar ma’lumoti RDS da, videolar S3 da saqlanadi. IAM va VPC bu qismlar orasidagi kirishni cheklaydi.</a:t>
            </a:r>
          </a:p>
        </p:txBody>
      </p:sp>
      <p:sp>
        <p:nvSpPr>
          <p:cNvPr id="13" name="Rectangle 12"/>
          <p:cNvSpPr/>
          <p:nvPr/>
        </p:nvSpPr>
        <p:spPr>
          <a:xfrm>
            <a:off x="758952" y="5047488"/>
            <a:ext cx="2402586" cy="77724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5157216"/>
            <a:ext cx="2164842" cy="612647"/>
          </a:xfrm>
          <a:prstGeom prst="rect">
            <a:avLst/>
          </a:prstGeom>
          <a:noFill/>
        </p:spPr>
        <p:txBody>
          <a:bodyPr wrap="square" lIns="27432" rIns="27432" tIns="18288" bIns="0">
            <a:spAutoFit/>
          </a:bodyPr>
          <a:lstStyle/>
          <a:p>
            <a:pPr>
              <a:spcAft>
                <a:spcPts val="800"/>
              </a:spcAft>
              <a:defRPr sz="1700" b="1">
                <a:solidFill>
                  <a:srgbClr val="243B53"/>
                </a:solidFill>
                <a:latin typeface="DejaVu Sans"/>
              </a:defRPr>
            </a:pPr>
            <a:r>
              <a:t>Route 53 / ALB</a:t>
            </a:r>
          </a:p>
        </p:txBody>
      </p:sp>
      <p:cxnSp>
        <p:nvCxnSpPr>
          <p:cNvPr id="15" name="Connector 14"/>
          <p:cNvCxnSpPr/>
          <p:nvPr/>
        </p:nvCxnSpPr>
        <p:spPr>
          <a:xfrm>
            <a:off x="3161538" y="5436107"/>
            <a:ext cx="292608" cy="0"/>
          </a:xfrm>
          <a:prstGeom prst="line">
            <a:avLst/>
          </a:prstGeom>
          <a:ln w="24130">
            <a:solidFill>
              <a:srgbClr val="E88D16"/>
            </a:solidFill>
            <a:tailEnd type="triangle"/>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3454146" y="5047488"/>
            <a:ext cx="2402586" cy="77724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73018" y="5157216"/>
            <a:ext cx="2164842" cy="612647"/>
          </a:xfrm>
          <a:prstGeom prst="rect">
            <a:avLst/>
          </a:prstGeom>
          <a:noFill/>
        </p:spPr>
        <p:txBody>
          <a:bodyPr wrap="square" lIns="27432" rIns="27432" tIns="18288" bIns="0">
            <a:spAutoFit/>
          </a:bodyPr>
          <a:lstStyle/>
          <a:p>
            <a:pPr>
              <a:spcAft>
                <a:spcPts val="800"/>
              </a:spcAft>
              <a:defRPr sz="1700" b="1">
                <a:solidFill>
                  <a:srgbClr val="243B53"/>
                </a:solidFill>
                <a:latin typeface="DejaVu Sans"/>
              </a:defRPr>
            </a:pPr>
            <a:r>
              <a:t>EC2 ilova</a:t>
            </a:r>
          </a:p>
        </p:txBody>
      </p:sp>
      <p:cxnSp>
        <p:nvCxnSpPr>
          <p:cNvPr id="18" name="Connector 17"/>
          <p:cNvCxnSpPr/>
          <p:nvPr/>
        </p:nvCxnSpPr>
        <p:spPr>
          <a:xfrm>
            <a:off x="5856732" y="5436107"/>
            <a:ext cx="292608" cy="0"/>
          </a:xfrm>
          <a:prstGeom prst="line">
            <a:avLst/>
          </a:prstGeom>
          <a:ln w="24130">
            <a:solidFill>
              <a:srgbClr val="E88D16"/>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149340" y="5047488"/>
            <a:ext cx="2402586" cy="77724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8212" y="5157216"/>
            <a:ext cx="2164842" cy="612647"/>
          </a:xfrm>
          <a:prstGeom prst="rect">
            <a:avLst/>
          </a:prstGeom>
          <a:noFill/>
        </p:spPr>
        <p:txBody>
          <a:bodyPr wrap="square" lIns="27432" rIns="27432" tIns="18288" bIns="0">
            <a:spAutoFit/>
          </a:bodyPr>
          <a:lstStyle/>
          <a:p>
            <a:pPr>
              <a:spcAft>
                <a:spcPts val="800"/>
              </a:spcAft>
              <a:defRPr sz="1700" b="1">
                <a:solidFill>
                  <a:srgbClr val="243B53"/>
                </a:solidFill>
                <a:latin typeface="DejaVu Sans"/>
              </a:defRPr>
            </a:pPr>
            <a:r>
              <a:t>RDS bazasi</a:t>
            </a:r>
          </a:p>
        </p:txBody>
      </p:sp>
      <p:cxnSp>
        <p:nvCxnSpPr>
          <p:cNvPr id="21" name="Connector 20"/>
          <p:cNvCxnSpPr/>
          <p:nvPr/>
        </p:nvCxnSpPr>
        <p:spPr>
          <a:xfrm>
            <a:off x="8551926" y="5436107"/>
            <a:ext cx="292608" cy="0"/>
          </a:xfrm>
          <a:prstGeom prst="line">
            <a:avLst/>
          </a:prstGeom>
          <a:ln w="24130">
            <a:solidFill>
              <a:srgbClr val="E88D16"/>
            </a:solidFill>
            <a:tailEnd type="triangle"/>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8844534" y="5047488"/>
            <a:ext cx="2402586" cy="77724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3406" y="5157216"/>
            <a:ext cx="2164842" cy="612647"/>
          </a:xfrm>
          <a:prstGeom prst="rect">
            <a:avLst/>
          </a:prstGeom>
          <a:noFill/>
        </p:spPr>
        <p:txBody>
          <a:bodyPr wrap="square" lIns="27432" rIns="27432" tIns="18288" bIns="0">
            <a:spAutoFit/>
          </a:bodyPr>
          <a:lstStyle/>
          <a:p>
            <a:pPr>
              <a:spcAft>
                <a:spcPts val="800"/>
              </a:spcAft>
              <a:defRPr sz="1700" b="1">
                <a:solidFill>
                  <a:srgbClr val="243B53"/>
                </a:solidFill>
                <a:latin typeface="DejaVu Sans"/>
              </a:defRPr>
            </a:pPr>
            <a:r>
              <a:t>S3 fayllar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
            <a:ext cx="210312" cy="6729984"/>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9921240" cy="329184"/>
          </a:xfrm>
          <a:prstGeom prst="rect">
            <a:avLst/>
          </a:prstGeom>
          <a:noFill/>
        </p:spPr>
        <p:txBody>
          <a:bodyPr wrap="square" lIns="27432" rIns="27432" tIns="18288" bIns="0">
            <a:spAutoFit/>
          </a:bodyPr>
          <a:lstStyle/>
          <a:p>
            <a:pPr>
              <a:spcAft>
                <a:spcPts val="800"/>
              </a:spcAft>
              <a:defRPr sz="1200" b="1">
                <a:solidFill>
                  <a:srgbClr val="243B53"/>
                </a:solidFill>
                <a:latin typeface="DejaVu Sans"/>
              </a:defRPr>
            </a:pPr>
            <a:r>
              <a:t>AMAZON WEB SERVICES  /  ARXITEKTURA KARTASI</a:t>
            </a:r>
          </a:p>
        </p:txBody>
      </p:sp>
      <p:sp>
        <p:nvSpPr>
          <p:cNvPr id="5" name="Rectangle 4"/>
          <p:cNvSpPr/>
          <p:nvPr/>
        </p:nvSpPr>
        <p:spPr>
          <a:xfrm>
            <a:off x="10917936" y="411480"/>
            <a:ext cx="594360" cy="59436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91088" y="530352"/>
            <a:ext cx="457200" cy="365760"/>
          </a:xfrm>
          <a:prstGeom prst="rect">
            <a:avLst/>
          </a:prstGeom>
          <a:noFill/>
        </p:spPr>
        <p:txBody>
          <a:bodyPr wrap="square" lIns="27432" rIns="27432" tIns="18288" bIns="0">
            <a:spAutoFit/>
          </a:bodyPr>
          <a:lstStyle/>
          <a:p>
            <a:pPr>
              <a:spcAft>
                <a:spcPts val="800"/>
              </a:spcAft>
              <a:defRPr sz="1500" b="1">
                <a:solidFill>
                  <a:srgbClr val="E88D16"/>
                </a:solidFill>
                <a:latin typeface="DejaVu Sans"/>
              </a:defRPr>
            </a:pPr>
            <a:r>
              <a:t>11</a:t>
            </a:r>
          </a:p>
        </p:txBody>
      </p:sp>
      <p:sp>
        <p:nvSpPr>
          <p:cNvPr id="7" name="TextBox 6"/>
          <p:cNvSpPr txBox="1"/>
          <p:nvPr/>
        </p:nvSpPr>
        <p:spPr>
          <a:xfrm>
            <a:off x="658368" y="923544"/>
            <a:ext cx="10104120" cy="868680"/>
          </a:xfrm>
          <a:prstGeom prst="rect">
            <a:avLst/>
          </a:prstGeom>
          <a:noFill/>
        </p:spPr>
        <p:txBody>
          <a:bodyPr wrap="square" lIns="27432" rIns="27432" tIns="18288" bIns="0">
            <a:spAutoFit/>
          </a:bodyPr>
          <a:lstStyle/>
          <a:p>
            <a:pPr>
              <a:spcAft>
                <a:spcPts val="800"/>
              </a:spcAft>
              <a:defRPr sz="2800" b="1">
                <a:solidFill>
                  <a:srgbClr val="243B53"/>
                </a:solidFill>
                <a:latin typeface="DejaVu Sans"/>
              </a:defRPr>
            </a:pPr>
            <a:r>
              <a:t>Ko‘p uchraydigan xato tushunchalar</a:t>
            </a:r>
          </a:p>
        </p:txBody>
      </p:sp>
      <p:sp>
        <p:nvSpPr>
          <p:cNvPr id="8" name="TextBox 7"/>
          <p:cNvSpPr txBox="1"/>
          <p:nvPr/>
        </p:nvSpPr>
        <p:spPr>
          <a:xfrm>
            <a:off x="667512" y="1856231"/>
            <a:ext cx="10607040" cy="411480"/>
          </a:xfrm>
          <a:prstGeom prst="rect">
            <a:avLst/>
          </a:prstGeom>
          <a:noFill/>
        </p:spPr>
        <p:txBody>
          <a:bodyPr wrap="square" lIns="27432" rIns="27432" tIns="18288" bIns="0">
            <a:spAutoFit/>
          </a:bodyPr>
          <a:lstStyle/>
          <a:p>
            <a:pPr>
              <a:spcAft>
                <a:spcPts val="800"/>
              </a:spcAft>
              <a:defRPr sz="1500" b="1">
                <a:solidFill>
                  <a:srgbClr val="2077BA"/>
                </a:solidFill>
                <a:latin typeface="DejaVu Sans"/>
              </a:defRPr>
            </a:pPr>
            <a:r>
              <a:t>To‘g‘ri talqin xizmatni ongli tanlashga yordam beradi</a:t>
            </a: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43B53"/>
                </a:solidFill>
                <a:latin typeface="DejaVu Sans"/>
              </a:defRPr>
            </a:pPr>
            <a:r>
              <a:t>BTST206   /   M12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11 / 13</a:t>
            </a:r>
          </a:p>
        </p:txBody>
      </p:sp>
      <p:sp>
        <p:nvSpPr>
          <p:cNvPr id="11" name="Rectangle 10"/>
          <p:cNvSpPr/>
          <p:nvPr/>
        </p:nvSpPr>
        <p:spPr>
          <a:xfrm>
            <a:off x="758952" y="2514600"/>
            <a:ext cx="10625328" cy="941832"/>
          </a:xfrm>
          <a:prstGeom prst="rect">
            <a:avLst/>
          </a:prstGeom>
          <a:solidFill>
            <a:srgbClr val="FFF4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3544" y="2688336"/>
            <a:ext cx="548640" cy="502920"/>
          </a:xfrm>
          <a:prstGeom prst="rect">
            <a:avLst/>
          </a:prstGeom>
          <a:noFill/>
        </p:spPr>
        <p:txBody>
          <a:bodyPr wrap="square" lIns="27432" rIns="27432" tIns="18288" bIns="0">
            <a:spAutoFit/>
          </a:bodyPr>
          <a:lstStyle/>
          <a:p>
            <a:pPr>
              <a:spcAft>
                <a:spcPts val="800"/>
              </a:spcAft>
              <a:defRPr sz="2100" b="1">
                <a:solidFill>
                  <a:srgbClr val="E88D16"/>
                </a:solidFill>
                <a:latin typeface="DejaVu Sans"/>
              </a:defRPr>
            </a:pPr>
            <a:r>
              <a:t>01</a:t>
            </a:r>
          </a:p>
        </p:txBody>
      </p:sp>
      <p:sp>
        <p:nvSpPr>
          <p:cNvPr id="13" name="TextBox 12"/>
          <p:cNvSpPr txBox="1"/>
          <p:nvPr/>
        </p:nvSpPr>
        <p:spPr>
          <a:xfrm>
            <a:off x="1700784" y="2660904"/>
            <a:ext cx="9500616" cy="704088"/>
          </a:xfrm>
          <a:prstGeom prst="rect">
            <a:avLst/>
          </a:prstGeom>
          <a:noFill/>
        </p:spPr>
        <p:txBody>
          <a:bodyPr wrap="square" lIns="27432" rIns="27432" tIns="18288" bIns="0">
            <a:spAutoFit/>
          </a:bodyPr>
          <a:lstStyle/>
          <a:p>
            <a:pPr>
              <a:spcAft>
                <a:spcPts val="800"/>
              </a:spcAft>
              <a:defRPr sz="2100" b="0">
                <a:solidFill>
                  <a:srgbClr val="243B53"/>
                </a:solidFill>
                <a:latin typeface="DejaVu Sans"/>
              </a:defRPr>
            </a:pPr>
            <a:r>
              <a:t>S3 odatiy virtual disk emas; uni blokli disk kabi taxmin qilish dastur mosligini buzishi mumkin.</a:t>
            </a:r>
          </a:p>
        </p:txBody>
      </p:sp>
      <p:sp>
        <p:nvSpPr>
          <p:cNvPr id="14" name="Rectangle 13"/>
          <p:cNvSpPr/>
          <p:nvPr/>
        </p:nvSpPr>
        <p:spPr>
          <a:xfrm>
            <a:off x="758952" y="3584448"/>
            <a:ext cx="10625328" cy="941832"/>
          </a:xfrm>
          <a:prstGeom prst="rect">
            <a:avLst/>
          </a:prstGeom>
          <a:solidFill>
            <a:srgbClr val="FFF4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 y="3758184"/>
            <a:ext cx="548640" cy="502920"/>
          </a:xfrm>
          <a:prstGeom prst="rect">
            <a:avLst/>
          </a:prstGeom>
          <a:noFill/>
        </p:spPr>
        <p:txBody>
          <a:bodyPr wrap="square" lIns="27432" rIns="27432" tIns="18288" bIns="0">
            <a:spAutoFit/>
          </a:bodyPr>
          <a:lstStyle/>
          <a:p>
            <a:pPr>
              <a:spcAft>
                <a:spcPts val="800"/>
              </a:spcAft>
              <a:defRPr sz="2100" b="1">
                <a:solidFill>
                  <a:srgbClr val="E88D16"/>
                </a:solidFill>
                <a:latin typeface="DejaVu Sans"/>
              </a:defRPr>
            </a:pPr>
            <a:r>
              <a:t>02</a:t>
            </a:r>
          </a:p>
        </p:txBody>
      </p:sp>
      <p:sp>
        <p:nvSpPr>
          <p:cNvPr id="16" name="TextBox 15"/>
          <p:cNvSpPr txBox="1"/>
          <p:nvPr/>
        </p:nvSpPr>
        <p:spPr>
          <a:xfrm>
            <a:off x="1700784" y="3730752"/>
            <a:ext cx="9500616" cy="704088"/>
          </a:xfrm>
          <a:prstGeom prst="rect">
            <a:avLst/>
          </a:prstGeom>
          <a:noFill/>
        </p:spPr>
        <p:txBody>
          <a:bodyPr wrap="square" lIns="27432" rIns="27432" tIns="18288" bIns="0">
            <a:spAutoFit/>
          </a:bodyPr>
          <a:lstStyle/>
          <a:p>
            <a:pPr>
              <a:spcAft>
                <a:spcPts val="800"/>
              </a:spcAft>
              <a:defRPr sz="2100" b="0">
                <a:solidFill>
                  <a:srgbClr val="243B53"/>
                </a:solidFill>
                <a:latin typeface="DejaVu Sans"/>
              </a:defRPr>
            </a:pPr>
            <a:r>
              <a:t>Read replica o‘qishni kengaytirish va ayrim tiklash vazifalari uchun; u har doim Multi-AZ failover bilan bir xil emas.</a:t>
            </a:r>
          </a:p>
        </p:txBody>
      </p:sp>
      <p:sp>
        <p:nvSpPr>
          <p:cNvPr id="17" name="Rectangle 16"/>
          <p:cNvSpPr/>
          <p:nvPr/>
        </p:nvSpPr>
        <p:spPr>
          <a:xfrm>
            <a:off x="758952" y="4654296"/>
            <a:ext cx="10625328" cy="941832"/>
          </a:xfrm>
          <a:prstGeom prst="rect">
            <a:avLst/>
          </a:prstGeom>
          <a:solidFill>
            <a:srgbClr val="FFF4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544" y="4828032"/>
            <a:ext cx="548640" cy="502920"/>
          </a:xfrm>
          <a:prstGeom prst="rect">
            <a:avLst/>
          </a:prstGeom>
          <a:noFill/>
        </p:spPr>
        <p:txBody>
          <a:bodyPr wrap="square" lIns="27432" rIns="27432" tIns="18288" bIns="0">
            <a:spAutoFit/>
          </a:bodyPr>
          <a:lstStyle/>
          <a:p>
            <a:pPr>
              <a:spcAft>
                <a:spcPts val="800"/>
              </a:spcAft>
              <a:defRPr sz="2100" b="1">
                <a:solidFill>
                  <a:srgbClr val="E88D16"/>
                </a:solidFill>
                <a:latin typeface="DejaVu Sans"/>
              </a:defRPr>
            </a:pPr>
            <a:r>
              <a:t>03</a:t>
            </a:r>
          </a:p>
        </p:txBody>
      </p:sp>
      <p:sp>
        <p:nvSpPr>
          <p:cNvPr id="19" name="TextBox 18"/>
          <p:cNvSpPr txBox="1"/>
          <p:nvPr/>
        </p:nvSpPr>
        <p:spPr>
          <a:xfrm>
            <a:off x="1700784" y="4800600"/>
            <a:ext cx="9500616" cy="704088"/>
          </a:xfrm>
          <a:prstGeom prst="rect">
            <a:avLst/>
          </a:prstGeom>
          <a:noFill/>
        </p:spPr>
        <p:txBody>
          <a:bodyPr wrap="square" lIns="27432" rIns="27432" tIns="18288" bIns="0">
            <a:spAutoFit/>
          </a:bodyPr>
          <a:lstStyle/>
          <a:p>
            <a:pPr>
              <a:spcAft>
                <a:spcPts val="800"/>
              </a:spcAft>
              <a:defRPr sz="2100" b="0">
                <a:solidFill>
                  <a:srgbClr val="243B53"/>
                </a:solidFill>
                <a:latin typeface="DejaVu Sans"/>
              </a:defRPr>
            </a:pPr>
            <a:r>
              <a:t>Tarmoq orqali yetib borish resurs ustida amal bajarishga ruxsat borligini bildirmaydi.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28016"/>
            <a:ext cx="210312" cy="6729984"/>
          </a:xfrm>
          <a:prstGeom prst="rect">
            <a:avLst/>
          </a:prstGeom>
          <a:solidFill>
            <a:srgbClr val="243B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9921240" cy="329184"/>
          </a:xfrm>
          <a:prstGeom prst="rect">
            <a:avLst/>
          </a:prstGeom>
          <a:noFill/>
        </p:spPr>
        <p:txBody>
          <a:bodyPr wrap="square" lIns="27432" rIns="27432" tIns="18288" bIns="0">
            <a:spAutoFit/>
          </a:bodyPr>
          <a:lstStyle/>
          <a:p>
            <a:pPr>
              <a:spcAft>
                <a:spcPts val="800"/>
              </a:spcAft>
              <a:defRPr sz="1200" b="1">
                <a:solidFill>
                  <a:srgbClr val="243B53"/>
                </a:solidFill>
                <a:latin typeface="DejaVu Sans"/>
              </a:defRPr>
            </a:pPr>
            <a:r>
              <a:t>AMAZON WEB SERVICES  /  ARXITEKTURA KARTASI</a:t>
            </a:r>
          </a:p>
        </p:txBody>
      </p:sp>
      <p:sp>
        <p:nvSpPr>
          <p:cNvPr id="5" name="Rectangle 4"/>
          <p:cNvSpPr/>
          <p:nvPr/>
        </p:nvSpPr>
        <p:spPr>
          <a:xfrm>
            <a:off x="10917936" y="411480"/>
            <a:ext cx="594360" cy="594360"/>
          </a:xfrm>
          <a:prstGeom prst="rect">
            <a:avLst/>
          </a:prstGeom>
          <a:solidFill>
            <a:srgbClr val="FFF4E3"/>
          </a:solidFill>
          <a:ln>
            <a:solidFill>
              <a:srgbClr val="E88D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91088" y="530352"/>
            <a:ext cx="457200" cy="365760"/>
          </a:xfrm>
          <a:prstGeom prst="rect">
            <a:avLst/>
          </a:prstGeom>
          <a:noFill/>
        </p:spPr>
        <p:txBody>
          <a:bodyPr wrap="square" lIns="27432" rIns="27432" tIns="18288" bIns="0">
            <a:spAutoFit/>
          </a:bodyPr>
          <a:lstStyle/>
          <a:p>
            <a:pPr>
              <a:spcAft>
                <a:spcPts val="800"/>
              </a:spcAft>
              <a:defRPr sz="1500" b="1">
                <a:solidFill>
                  <a:srgbClr val="E88D16"/>
                </a:solidFill>
                <a:latin typeface="DejaVu Sans"/>
              </a:defRPr>
            </a:pPr>
            <a:r>
              <a:t>12</a:t>
            </a:r>
          </a:p>
        </p:txBody>
      </p:sp>
      <p:sp>
        <p:nvSpPr>
          <p:cNvPr id="7" name="TextBox 6"/>
          <p:cNvSpPr txBox="1"/>
          <p:nvPr/>
        </p:nvSpPr>
        <p:spPr>
          <a:xfrm>
            <a:off x="658368" y="923544"/>
            <a:ext cx="10104120" cy="868680"/>
          </a:xfrm>
          <a:prstGeom prst="rect">
            <a:avLst/>
          </a:prstGeom>
          <a:noFill/>
        </p:spPr>
        <p:txBody>
          <a:bodyPr wrap="square" lIns="27432" rIns="27432" tIns="18288" bIns="0">
            <a:spAutoFit/>
          </a:bodyPr>
          <a:lstStyle/>
          <a:p>
            <a:pPr>
              <a:spcAft>
                <a:spcPts val="800"/>
              </a:spcAft>
              <a:defRPr sz="2800" b="1">
                <a:solidFill>
                  <a:srgbClr val="243B53"/>
                </a:solidFill>
                <a:latin typeface="DejaVu Sans"/>
              </a:defRPr>
            </a:pPr>
            <a:r>
              <a:t>Asosiy xulosalar</a:t>
            </a:r>
          </a:p>
        </p:txBody>
      </p:sp>
      <p:sp>
        <p:nvSpPr>
          <p:cNvPr id="8" name="TextBox 7"/>
          <p:cNvSpPr txBox="1"/>
          <p:nvPr/>
        </p:nvSpPr>
        <p:spPr>
          <a:xfrm>
            <a:off x="667512" y="1856231"/>
            <a:ext cx="10607040" cy="411480"/>
          </a:xfrm>
          <a:prstGeom prst="rect">
            <a:avLst/>
          </a:prstGeom>
          <a:noFill/>
        </p:spPr>
        <p:txBody>
          <a:bodyPr wrap="square" lIns="27432" rIns="27432" tIns="18288" bIns="0">
            <a:spAutoFit/>
          </a:bodyPr>
          <a:lstStyle/>
          <a:p>
            <a:pPr>
              <a:spcAft>
                <a:spcPts val="800"/>
              </a:spcAft>
              <a:defRPr sz="1500" b="1">
                <a:solidFill>
                  <a:srgbClr val="2077BA"/>
                </a:solidFill>
                <a:latin typeface="DejaVu Sans"/>
              </a:defRPr>
            </a:pPr>
            <a:r>
              <a:t>Yodda qoladigan olti fikr</a:t>
            </a:r>
          </a:p>
        </p:txBody>
      </p:sp>
      <p:sp>
        <p:nvSpPr>
          <p:cNvPr id="9" name="TextBox 8"/>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43B53"/>
                </a:solidFill>
                <a:latin typeface="DejaVu Sans"/>
              </a:defRPr>
            </a:pPr>
            <a:r>
              <a:t>BTST206   /   M12   /   2027–2028</a:t>
            </a:r>
          </a:p>
        </p:txBody>
      </p:sp>
      <p:sp>
        <p:nvSpPr>
          <p:cNvPr id="10" name="TextBox 9"/>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12 / 13</a:t>
            </a:r>
          </a:p>
        </p:txBody>
      </p:sp>
      <p:sp>
        <p:nvSpPr>
          <p:cNvPr id="11" name="Oval 10"/>
          <p:cNvSpPr/>
          <p:nvPr/>
        </p:nvSpPr>
        <p:spPr>
          <a:xfrm>
            <a:off x="822959" y="2569464"/>
            <a:ext cx="155448" cy="155448"/>
          </a:xfrm>
          <a:prstGeom prst="ellipse">
            <a:avLst/>
          </a:prstGeom>
          <a:solidFill>
            <a:srgbClr val="2077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70432" y="2496312"/>
            <a:ext cx="10168128" cy="475488"/>
          </a:xfrm>
          <a:prstGeom prst="rect">
            <a:avLst/>
          </a:prstGeom>
          <a:noFill/>
        </p:spPr>
        <p:txBody>
          <a:bodyPr wrap="square" lIns="27432" rIns="27432" tIns="18288" bIns="0">
            <a:spAutoFit/>
          </a:bodyPr>
          <a:lstStyle/>
          <a:p>
            <a:pPr>
              <a:spcAft>
                <a:spcPts val="800"/>
              </a:spcAft>
              <a:defRPr sz="2200" b="1">
                <a:solidFill>
                  <a:srgbClr val="243B53"/>
                </a:solidFill>
                <a:latin typeface="DejaVu Sans"/>
              </a:defRPr>
            </a:pPr>
            <a:r>
              <a:t>Region va Zone ko‘lamini to‘g‘ri tanlang.</a:t>
            </a:r>
          </a:p>
        </p:txBody>
      </p:sp>
      <p:sp>
        <p:nvSpPr>
          <p:cNvPr id="13" name="Oval 12"/>
          <p:cNvSpPr/>
          <p:nvPr/>
        </p:nvSpPr>
        <p:spPr>
          <a:xfrm>
            <a:off x="822959" y="3108960"/>
            <a:ext cx="155448" cy="155448"/>
          </a:xfrm>
          <a:prstGeom prst="ellipse">
            <a:avLst/>
          </a:prstGeom>
          <a:solidFill>
            <a:srgbClr val="2077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0432" y="3035808"/>
            <a:ext cx="10168128" cy="475488"/>
          </a:xfrm>
          <a:prstGeom prst="rect">
            <a:avLst/>
          </a:prstGeom>
          <a:noFill/>
        </p:spPr>
        <p:txBody>
          <a:bodyPr wrap="square" lIns="27432" rIns="27432" tIns="18288" bIns="0">
            <a:spAutoFit/>
          </a:bodyPr>
          <a:lstStyle/>
          <a:p>
            <a:pPr>
              <a:spcAft>
                <a:spcPts val="800"/>
              </a:spcAft>
              <a:defRPr sz="2200" b="0">
                <a:solidFill>
                  <a:srgbClr val="243B53"/>
                </a:solidFill>
                <a:latin typeface="DejaVu Sans"/>
              </a:defRPr>
            </a:pPr>
            <a:r>
              <a:t>EC2 — moslashuvchan virtual hisoblash.</a:t>
            </a:r>
          </a:p>
        </p:txBody>
      </p:sp>
      <p:sp>
        <p:nvSpPr>
          <p:cNvPr id="15" name="Oval 14"/>
          <p:cNvSpPr/>
          <p:nvPr/>
        </p:nvSpPr>
        <p:spPr>
          <a:xfrm>
            <a:off x="822959" y="3648456"/>
            <a:ext cx="155448" cy="155448"/>
          </a:xfrm>
          <a:prstGeom prst="ellipse">
            <a:avLst/>
          </a:prstGeom>
          <a:solidFill>
            <a:srgbClr val="2077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70432" y="3575304"/>
            <a:ext cx="10168128" cy="475488"/>
          </a:xfrm>
          <a:prstGeom prst="rect">
            <a:avLst/>
          </a:prstGeom>
          <a:noFill/>
        </p:spPr>
        <p:txBody>
          <a:bodyPr wrap="square" lIns="27432" rIns="27432" tIns="18288" bIns="0">
            <a:spAutoFit/>
          </a:bodyPr>
          <a:lstStyle/>
          <a:p>
            <a:pPr>
              <a:spcAft>
                <a:spcPts val="800"/>
              </a:spcAft>
              <a:defRPr sz="2200" b="0">
                <a:solidFill>
                  <a:srgbClr val="243B53"/>
                </a:solidFill>
                <a:latin typeface="DejaVu Sans"/>
              </a:defRPr>
            </a:pPr>
            <a:r>
              <a:t>S3 — obyekt, EBS — blokli disk.</a:t>
            </a:r>
          </a:p>
        </p:txBody>
      </p:sp>
      <p:sp>
        <p:nvSpPr>
          <p:cNvPr id="17" name="Oval 16"/>
          <p:cNvSpPr/>
          <p:nvPr/>
        </p:nvSpPr>
        <p:spPr>
          <a:xfrm>
            <a:off x="822959" y="4187952"/>
            <a:ext cx="155448" cy="155448"/>
          </a:xfrm>
          <a:prstGeom prst="ellipse">
            <a:avLst/>
          </a:prstGeom>
          <a:solidFill>
            <a:srgbClr val="2077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70432" y="4114800"/>
            <a:ext cx="10168128" cy="475488"/>
          </a:xfrm>
          <a:prstGeom prst="rect">
            <a:avLst/>
          </a:prstGeom>
          <a:noFill/>
        </p:spPr>
        <p:txBody>
          <a:bodyPr wrap="square" lIns="27432" rIns="27432" tIns="18288" bIns="0">
            <a:spAutoFit/>
          </a:bodyPr>
          <a:lstStyle/>
          <a:p>
            <a:pPr>
              <a:spcAft>
                <a:spcPts val="800"/>
              </a:spcAft>
              <a:defRPr sz="2200" b="0">
                <a:solidFill>
                  <a:srgbClr val="243B53"/>
                </a:solidFill>
                <a:latin typeface="DejaVu Sans"/>
              </a:defRPr>
            </a:pPr>
            <a:r>
              <a:t>RDS da sxema va so‘rov mijozda qoladi.</a:t>
            </a:r>
          </a:p>
        </p:txBody>
      </p:sp>
      <p:sp>
        <p:nvSpPr>
          <p:cNvPr id="19" name="Oval 18"/>
          <p:cNvSpPr/>
          <p:nvPr/>
        </p:nvSpPr>
        <p:spPr>
          <a:xfrm>
            <a:off x="822959" y="4727448"/>
            <a:ext cx="155448" cy="155448"/>
          </a:xfrm>
          <a:prstGeom prst="ellipse">
            <a:avLst/>
          </a:prstGeom>
          <a:solidFill>
            <a:srgbClr val="2077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170432" y="4654296"/>
            <a:ext cx="10168128" cy="475488"/>
          </a:xfrm>
          <a:prstGeom prst="rect">
            <a:avLst/>
          </a:prstGeom>
          <a:noFill/>
        </p:spPr>
        <p:txBody>
          <a:bodyPr wrap="square" lIns="27432" rIns="27432" tIns="18288" bIns="0">
            <a:spAutoFit/>
          </a:bodyPr>
          <a:lstStyle/>
          <a:p>
            <a:pPr>
              <a:spcAft>
                <a:spcPts val="800"/>
              </a:spcAft>
              <a:defRPr sz="2200" b="0">
                <a:solidFill>
                  <a:srgbClr val="243B53"/>
                </a:solidFill>
                <a:latin typeface="DejaVu Sans"/>
              </a:defRPr>
            </a:pPr>
            <a:r>
              <a:t>VPC tarmoqni, IAM amalni boshqaradi.</a:t>
            </a:r>
          </a:p>
        </p:txBody>
      </p:sp>
      <p:sp>
        <p:nvSpPr>
          <p:cNvPr id="21" name="Oval 20"/>
          <p:cNvSpPr/>
          <p:nvPr/>
        </p:nvSpPr>
        <p:spPr>
          <a:xfrm>
            <a:off x="822959" y="5266944"/>
            <a:ext cx="155448" cy="155448"/>
          </a:xfrm>
          <a:prstGeom prst="ellipse">
            <a:avLst/>
          </a:prstGeom>
          <a:solidFill>
            <a:srgbClr val="2077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70432" y="5193792"/>
            <a:ext cx="10168128" cy="475488"/>
          </a:xfrm>
          <a:prstGeom prst="rect">
            <a:avLst/>
          </a:prstGeom>
          <a:noFill/>
        </p:spPr>
        <p:txBody>
          <a:bodyPr wrap="square" lIns="27432" rIns="27432" tIns="18288" bIns="0">
            <a:spAutoFit/>
          </a:bodyPr>
          <a:lstStyle/>
          <a:p>
            <a:pPr>
              <a:spcAft>
                <a:spcPts val="800"/>
              </a:spcAft>
              <a:defRPr sz="2200" b="0">
                <a:solidFill>
                  <a:srgbClr val="243B53"/>
                </a:solidFill>
                <a:latin typeface="DejaVu Sans"/>
              </a:defRPr>
            </a:pPr>
            <a:r>
              <a:t>Lambda hodisani bajaradi, CloudWatch kuzatadi.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02920" y="548640"/>
            <a:ext cx="109728" cy="640080"/>
          </a:xfrm>
          <a:prstGeom prst="rect">
            <a:avLst/>
          </a:prstGeom>
          <a:solidFill>
            <a:srgbClr val="E88D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94360"/>
            <a:ext cx="10789920" cy="777240"/>
          </a:xfrm>
          <a:prstGeom prst="rect">
            <a:avLst/>
          </a:prstGeom>
          <a:noFill/>
        </p:spPr>
        <p:txBody>
          <a:bodyPr wrap="square" lIns="27432" rIns="27432" tIns="18288" bIns="0">
            <a:spAutoFit/>
          </a:bodyPr>
          <a:lstStyle/>
          <a:p>
            <a:pPr>
              <a:spcAft>
                <a:spcPts val="800"/>
              </a:spcAft>
              <a:defRPr sz="2900" b="1">
                <a:solidFill>
                  <a:srgbClr val="243B53"/>
                </a:solidFill>
                <a:latin typeface="DejaVu Sans"/>
              </a:defRPr>
            </a:pPr>
            <a:r>
              <a:t>Manbalar va rasm manbasi</a:t>
            </a:r>
          </a:p>
        </p:txBody>
      </p:sp>
      <p:sp>
        <p:nvSpPr>
          <p:cNvPr id="4" name="TextBox 3"/>
          <p:cNvSpPr txBox="1"/>
          <p:nvPr/>
        </p:nvSpPr>
        <p:spPr>
          <a:xfrm>
            <a:off x="731520" y="1600200"/>
            <a:ext cx="10789920" cy="594360"/>
          </a:xfrm>
          <a:prstGeom prst="rect">
            <a:avLst/>
          </a:prstGeom>
          <a:noFill/>
        </p:spPr>
        <p:txBody>
          <a:bodyPr wrap="square" lIns="27432" rIns="27432" tIns="18288" bIns="0">
            <a:spAutoFit/>
          </a:bodyPr>
          <a:lstStyle/>
          <a:p>
            <a:pPr>
              <a:spcAft>
                <a:spcPts val="800"/>
              </a:spcAft>
              <a:defRPr sz="1700" b="0">
                <a:solidFill>
                  <a:srgbClr val="243B53"/>
                </a:solidFill>
                <a:latin typeface="DejaVu Sans"/>
              </a:defRPr>
            </a:pPr>
            <a:r>
              <a:t>Asos: BTST206, 2027–2028 sillabusi. Rasmiy texnik hujjatlar:</a:t>
            </a:r>
          </a:p>
        </p:txBody>
      </p:sp>
      <p:sp>
        <p:nvSpPr>
          <p:cNvPr id="5" name="TextBox 4"/>
          <p:cNvSpPr txBox="1"/>
          <p:nvPr/>
        </p:nvSpPr>
        <p:spPr>
          <a:xfrm>
            <a:off x="777240" y="2286000"/>
            <a:ext cx="10652760" cy="365760"/>
          </a:xfrm>
          <a:prstGeom prst="rect">
            <a:avLst/>
          </a:prstGeom>
          <a:noFill/>
        </p:spPr>
        <p:txBody>
          <a:bodyPr wrap="square" lIns="27432" rIns="27432" tIns="18288" bIns="0">
            <a:spAutoFit/>
          </a:bodyPr>
          <a:lstStyle/>
          <a:p>
            <a:pPr>
              <a:spcAft>
                <a:spcPts val="800"/>
              </a:spcAft>
              <a:defRPr sz="1300" b="0">
                <a:solidFill>
                  <a:srgbClr val="E88D16"/>
                </a:solidFill>
                <a:latin typeface="DejaVu Sans"/>
              </a:defRPr>
            </a:pPr>
            <a:r>
              <a:t>https://docs.aws.amazon.com/whitepapers/latest/aws-overview/</a:t>
            </a:r>
          </a:p>
        </p:txBody>
      </p:sp>
      <p:sp>
        <p:nvSpPr>
          <p:cNvPr id="6" name="TextBox 5"/>
          <p:cNvSpPr txBox="1"/>
          <p:nvPr/>
        </p:nvSpPr>
        <p:spPr>
          <a:xfrm>
            <a:off x="777240" y="2715768"/>
            <a:ext cx="10652760" cy="365760"/>
          </a:xfrm>
          <a:prstGeom prst="rect">
            <a:avLst/>
          </a:prstGeom>
          <a:noFill/>
        </p:spPr>
        <p:txBody>
          <a:bodyPr wrap="square" lIns="27432" rIns="27432" tIns="18288" bIns="0">
            <a:spAutoFit/>
          </a:bodyPr>
          <a:lstStyle/>
          <a:p>
            <a:pPr>
              <a:spcAft>
                <a:spcPts val="800"/>
              </a:spcAft>
              <a:defRPr sz="1300" b="0">
                <a:solidFill>
                  <a:srgbClr val="E88D16"/>
                </a:solidFill>
                <a:latin typeface="DejaVu Sans"/>
              </a:defRPr>
            </a:pPr>
            <a:r>
              <a:t>https://docs.aws.amazon.com/AWSEC2/latest/UserGuide/</a:t>
            </a:r>
          </a:p>
        </p:txBody>
      </p:sp>
      <p:sp>
        <p:nvSpPr>
          <p:cNvPr id="7" name="TextBox 6"/>
          <p:cNvSpPr txBox="1"/>
          <p:nvPr/>
        </p:nvSpPr>
        <p:spPr>
          <a:xfrm>
            <a:off x="777240" y="3145536"/>
            <a:ext cx="10652760" cy="365760"/>
          </a:xfrm>
          <a:prstGeom prst="rect">
            <a:avLst/>
          </a:prstGeom>
          <a:noFill/>
        </p:spPr>
        <p:txBody>
          <a:bodyPr wrap="square" lIns="27432" rIns="27432" tIns="18288" bIns="0">
            <a:spAutoFit/>
          </a:bodyPr>
          <a:lstStyle/>
          <a:p>
            <a:pPr>
              <a:spcAft>
                <a:spcPts val="800"/>
              </a:spcAft>
              <a:defRPr sz="1300" b="0">
                <a:solidFill>
                  <a:srgbClr val="E88D16"/>
                </a:solidFill>
                <a:latin typeface="DejaVu Sans"/>
              </a:defRPr>
            </a:pPr>
            <a:r>
              <a:t>https://docs.aws.amazon.com/lambda/latest/dg/</a:t>
            </a:r>
          </a:p>
        </p:txBody>
      </p:sp>
      <p:sp>
        <p:nvSpPr>
          <p:cNvPr id="8" name="TextBox 7"/>
          <p:cNvSpPr txBox="1"/>
          <p:nvPr/>
        </p:nvSpPr>
        <p:spPr>
          <a:xfrm>
            <a:off x="777240" y="4251960"/>
            <a:ext cx="10652760" cy="365760"/>
          </a:xfrm>
          <a:prstGeom prst="rect">
            <a:avLst/>
          </a:prstGeom>
          <a:noFill/>
        </p:spPr>
        <p:txBody>
          <a:bodyPr wrap="square" lIns="27432" rIns="27432" tIns="18288" bIns="0">
            <a:spAutoFit/>
          </a:bodyPr>
          <a:lstStyle/>
          <a:p>
            <a:pPr>
              <a:spcAft>
                <a:spcPts val="800"/>
              </a:spcAft>
              <a:defRPr sz="1200" b="1">
                <a:solidFill>
                  <a:srgbClr val="E88D16"/>
                </a:solidFill>
                <a:latin typeface="DejaVu Sans"/>
              </a:defRPr>
            </a:pPr>
            <a:r>
              <a:t>INTERNET RASMI</a:t>
            </a:r>
          </a:p>
        </p:txBody>
      </p:sp>
      <p:sp>
        <p:nvSpPr>
          <p:cNvPr id="9" name="TextBox 8"/>
          <p:cNvSpPr txBox="1"/>
          <p:nvPr/>
        </p:nvSpPr>
        <p:spPr>
          <a:xfrm>
            <a:off x="777240" y="4663440"/>
            <a:ext cx="10652760" cy="576072"/>
          </a:xfrm>
          <a:prstGeom prst="rect">
            <a:avLst/>
          </a:prstGeom>
          <a:noFill/>
        </p:spPr>
        <p:txBody>
          <a:bodyPr wrap="square" lIns="27432" rIns="27432" tIns="18288" bIns="0">
            <a:spAutoFit/>
          </a:bodyPr>
          <a:lstStyle/>
          <a:p>
            <a:pPr>
              <a:spcAft>
                <a:spcPts val="800"/>
              </a:spcAft>
              <a:defRPr sz="1400" b="0">
                <a:solidFill>
                  <a:srgbClr val="243B53"/>
                </a:solidFill>
                <a:latin typeface="DejaVu Sans"/>
              </a:defRPr>
            </a:pPr>
            <a:r>
              <a:t>Amazon Web Services; Simple Icons vector</a:t>
            </a:r>
          </a:p>
        </p:txBody>
      </p:sp>
      <p:sp>
        <p:nvSpPr>
          <p:cNvPr id="10" name="TextBox 9"/>
          <p:cNvSpPr txBox="1"/>
          <p:nvPr/>
        </p:nvSpPr>
        <p:spPr>
          <a:xfrm>
            <a:off x="777240" y="5285232"/>
            <a:ext cx="10652760" cy="64008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https://raw.githubusercontent.com/cncf/landscape/master/hosted_logos/amazon-web-services.svg</a:t>
            </a:r>
          </a:p>
        </p:txBody>
      </p:sp>
      <p:sp>
        <p:nvSpPr>
          <p:cNvPr id="11" name="TextBox 10"/>
          <p:cNvSpPr txBox="1"/>
          <p:nvPr/>
        </p:nvSpPr>
        <p:spPr>
          <a:xfrm>
            <a:off x="777240" y="6035040"/>
            <a:ext cx="10652760" cy="320040"/>
          </a:xfrm>
          <a:prstGeom prst="rect">
            <a:avLst/>
          </a:prstGeom>
          <a:noFill/>
        </p:spPr>
        <p:txBody>
          <a:bodyPr wrap="square" lIns="27432" rIns="27432" tIns="18288" bIns="0">
            <a:spAutoFit/>
          </a:bodyPr>
          <a:lstStyle/>
          <a:p>
            <a:pPr>
              <a:spcAft>
                <a:spcPts val="800"/>
              </a:spcAft>
              <a:defRPr sz="1100" b="0">
                <a:solidFill>
                  <a:srgbClr val="243B53"/>
                </a:solidFill>
                <a:latin typeface="DejaVu Sans"/>
              </a:defRPr>
            </a:pPr>
            <a:r>
              <a:t>Barcha rasm manbalari va foydalanish izohlari: ASSET_SOURCES.md</a:t>
            </a:r>
          </a:p>
        </p:txBody>
      </p:sp>
      <p:sp>
        <p:nvSpPr>
          <p:cNvPr id="12" name="TextBox 11"/>
          <p:cNvSpPr txBox="1"/>
          <p:nvPr/>
        </p:nvSpPr>
        <p:spPr>
          <a:xfrm>
            <a:off x="502920" y="6537960"/>
            <a:ext cx="9144000" cy="210312"/>
          </a:xfrm>
          <a:prstGeom prst="rect">
            <a:avLst/>
          </a:prstGeom>
          <a:noFill/>
        </p:spPr>
        <p:txBody>
          <a:bodyPr wrap="square" lIns="27432" rIns="27432" tIns="18288" bIns="0">
            <a:spAutoFit/>
          </a:bodyPr>
          <a:lstStyle/>
          <a:p>
            <a:pPr>
              <a:spcAft>
                <a:spcPts val="800"/>
              </a:spcAft>
              <a:defRPr sz="900" b="0">
                <a:solidFill>
                  <a:srgbClr val="243B53"/>
                </a:solidFill>
                <a:latin typeface="DejaVu Sans"/>
              </a:defRPr>
            </a:pPr>
            <a:r>
              <a:t>BTST206   /   M12   /   2027–2028</a:t>
            </a:r>
          </a:p>
        </p:txBody>
      </p:sp>
      <p:sp>
        <p:nvSpPr>
          <p:cNvPr id="13" name="TextBox 12"/>
          <p:cNvSpPr txBox="1"/>
          <p:nvPr/>
        </p:nvSpPr>
        <p:spPr>
          <a:xfrm>
            <a:off x="10789920" y="6492240"/>
            <a:ext cx="822960" cy="274320"/>
          </a:xfrm>
          <a:prstGeom prst="rect">
            <a:avLst/>
          </a:prstGeom>
          <a:noFill/>
        </p:spPr>
        <p:txBody>
          <a:bodyPr wrap="square" lIns="27432" rIns="27432" tIns="18288" bIns="0">
            <a:spAutoFit/>
          </a:bodyPr>
          <a:lstStyle/>
          <a:p>
            <a:pPr>
              <a:spcAft>
                <a:spcPts val="800"/>
              </a:spcAft>
              <a:defRPr sz="1000" b="0">
                <a:solidFill>
                  <a:srgbClr val="243B53"/>
                </a:solidFill>
                <a:latin typeface="DejaVu Sans"/>
              </a:defRPr>
            </a:pPr>
            <a: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