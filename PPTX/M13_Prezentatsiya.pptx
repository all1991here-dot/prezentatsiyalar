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Assalomu alaykum, aziz talabalar. Bugungi ma’ruzamiz «Microsoft Azure bulut platformasi» mavzusiga bag‘ishlanadi. Mavzuni murakkab atamalardan emas, kundalik ehtiyojdan boshlaymiz. Universitet Microsoft xizmatlaridan foydalanadi va portalni Azure da joylashtirmoqchi. Identifikatsiya, loyiha resurslari va xarajatlarni bir-biriga bog‘langan holda boshqarish muhim.</a:t>
            </a:r>
          </a:p>
          <a:p/>
          <a:p>
            <a:r>
              <a:t>Biz avval asosiy tushunchalarni ajratamiz, keyin ularning ishlash tartibini sxemada ko‘ramiz. Maqsad xizmat nomlarini yodlash emas, ularning qaysi vazifani bajarishini va qayerda cheklanishini tushunishdir. Inglizcha atama uchraganda uning sodda o‘zbekcha ma’nosi bilan bog‘laymiz. Slayddagi qisqa jumlalar tayanch fikrlar bo‘lib, ularning batafsil izohi ushbu ma’ruza matnida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 oltita asosiy bo‘limdan iborat. 1-bo‘limda azure boshqaruv iyerarxiyasi tushuntiriladi. 2-bo‘limda azure virtual machines tushuntiriladi. 3-bo‘limda blob storage tushuntiriladi. 4-bo‘limda azure sql database tushuntiriladi. 5-bo‘limda virtual network va identifikatsiya tushuntiriladi. 6-bo‘limda functions va azure monitor tushuntiriladi.</a:t>
            </a:r>
          </a:p>
          <a:p/>
          <a:p>
            <a:r>
              <a:t>Har bir bo‘limda bir xil fikrlash tartibidan foydalanamiz: tushuncha nimani anglatadi, qanday ishlaydi, universitet portalida qayerda ko‘rinadi va qaysi holatda ehtiyot bo‘lish kerak. Shundan keyin umumiy sxema barcha qismlarni bir-biriga bog‘laydi. Oxirida o‘qituvchi bayon qiladigan misol, chalkash tushunchalar va yakuniy xulosalar beriladi. Bu ketma-ketlik amaliy topshiriq emas, videodarsning tushuntirish rejasidir.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Microsoft Entra tenant tashkilotning identifikatsiya chegarasini ifodalaydi. Subscription hisob-kitob va boshqaruv doirasidir. Resource group esa tegishli resurslarni mantiqiy guruhlaydi. Bitta guruhdagi resurslar turli hududlarda bo‘lishi mumkin.</a:t>
            </a:r>
          </a:p>
          <a:p/>
          <a:p>
            <a:r>
              <a:t>Loyiha uchun resurs guruhi yaratiladi. Unga teglar va ruxsatlar beriladi. Policy va RBAC yordamida tashkilot qoidalari mos ko‘lamda qo‘llanadi.</a:t>
            </a:r>
          </a:p>
          <a:p/>
          <a:p>
            <a:r>
              <a:t>Universitet misolida buni quyidagicha tasavvur qilamiz. Portalning VM, virtual tarmoq va kuzatuv resurslari bitta loyiha guruhi bilan boshqariladi. Bu misolda texnik atama real vazifa bilan bog‘lanadi: resursning nomini emas, nima uchun tanlanganini tushunish muhim.</a:t>
            </a:r>
          </a:p>
          <a:p/>
          <a:p>
            <a:r>
              <a:t>E’tibor beradigan chegara ham bor. Resource group xavfsizlik devori yoki alohida jismoniy ma’lumotlar markazi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Virtual Machines Windows yoki Linux asosidagi virtual serverlarni beradi. Hajm CPU va xotirani, disk turi esa saqlash xususiyatini belgilaydi. Availability Zone lar nosozlikni ajratishga yordam beradi.</a:t>
            </a:r>
          </a:p>
          <a:p/>
          <a:p>
            <a:r>
              <a:t>VM virtual tarmoqqa ulanadi, kirish Network Security Group bilan cheklanadi. Operatsion tizim yangilanishi va ilova konfiguratsiyasi boshqariladi. Masshtablash uchun VM Scale Sets ishlatilishi mumkin.</a:t>
            </a:r>
          </a:p>
          <a:p/>
          <a:p>
            <a:r>
              <a:t>Universitet misolida buni quyidagicha tasavvur qilamiz. Eski universitet dasturi maxsus Linux muhiti bilan Azure VM da ishga tushiriladi. Bu misolda texnik atama real vazifa bilan bog‘lanadi: resursning nomini emas, nima uchun tanlanganini tushunish muhim.</a:t>
            </a:r>
          </a:p>
          <a:p/>
          <a:p>
            <a:r>
              <a:t>E’tibor beradigan chegara ham bor. Oddiy bitta VM yaratish yuqori mavjudlikni ta’minlamaydi.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Blob Storage strukturasi qat’iy bo‘lmagan ma’lumot uchun xizmat qiladi. Storage account ichida container lar va blob lar joylashadi. Blob container atamasi Docker konteyneridan boshqa ma’noga ega.</a:t>
            </a:r>
          </a:p>
          <a:p/>
          <a:p>
            <a:r>
              <a:t>Ilova API orqali obyekt yozadi yoki o‘qiydi. Kirish Microsoft Entra identifikatori, boshqariladigan identifikator yoki cheklangan muddatli SAS orqali tashkil etilishi mumkin.</a:t>
            </a:r>
          </a:p>
          <a:p/>
          <a:p>
            <a:r>
              <a:t>Universitet misolida buni quyidagicha tasavvur qilamiz. Ma’ruza videolari Blob Storage da saqlanib, talabalarga cheklangan muddatli kirish bilan beriladi. Bu misolda texnik atama real vazifa bilan bog‘lanadi: resursning nomini emas, nima uchun tanlanganini tushunish muhim.</a:t>
            </a:r>
          </a:p>
          <a:p/>
          <a:p>
            <a:r>
              <a:t>E’tibor beradigan chegara ham bor. SAS havolasi uni olgan kishiga belgilangan amalni berishi mumkin; uni keraksiz keng va uzoq muddatli qilish xavfli.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SQL Database SQL Server oilasiga tayangan boshqariladigan relatsion xizmatdir. Yangilanish va infratuzilma boshqaruvining katta qismi provayderda bo‘ladi. Sxema, indeks va ma’lumot xavfsizligi esa loyiha tomonidan boshqariladi.</a:t>
            </a:r>
          </a:p>
          <a:p/>
          <a:p>
            <a:r>
              <a:t>Hisoblash darajasi va ulanish siyosati tanlanadi. Ilova xavfsiz ulanishdan foydalanadi. Zaxiralash va tiklash imkoniyatlari talablarga mos tekshiriladi.</a:t>
            </a:r>
          </a:p>
          <a:p/>
          <a:p>
            <a:r>
              <a:t>Universitet misolida buni quyidagicha tasavvur qilamiz. Talabalar ro‘yxati va fanlar jadvali Azure SQL da saqlanadi; portal so‘rovlarni parametr bilan yuboradi. Bu misolda texnik atama real vazifa bilan bog‘lanadi: resursning nomini emas, nima uchun tanlanganini tushunish muhim.</a:t>
            </a:r>
          </a:p>
          <a:p/>
          <a:p>
            <a:r>
              <a:t>E’tibor beradigan chegara ham bor. SQL Database barcha server darajasidagi eski imkoniyatlarga aynan teng emas; moslik oldindan tekshiriladi.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Virtual Network Azure resurslari uchun mantiqiy tarmoq muhitini beradi. NSG tarmoq trafikini filtrlashga, RBAC esa Azure resurslari ustidagi amallarni cheklashga xizmat qiladi. Managed identity ilovaga saqlangan parolsiz identifikator beradi.</a:t>
            </a:r>
          </a:p>
          <a:p/>
          <a:p>
            <a:r>
              <a:t>Ilova identifikatoriga Blob dagi kerakli amal roli beriladi. Baza uchun private kirish tashkil qilinadi. Administratorlar ko‘p omilli tasdiqlash va eng kam vakolat bilan ishlaydi.</a:t>
            </a:r>
          </a:p>
          <a:p/>
          <a:p>
            <a:r>
              <a:t>Universitet misolida buni quyidagicha tasavvur qilamiz. Portal faylni o‘qish uchun kod ichida umumiy hisob kalitini olib yurmaydi, balki o‘z identifikatori bilan kiradi. Bu misolda texnik atama real vazifa bilan bog‘lanadi: resursning nomini emas, nima uchun tanlanganini tushunish muhim.</a:t>
            </a:r>
          </a:p>
          <a:p/>
          <a:p>
            <a:r>
              <a:t>E’tibor beradigan chegara ham bor. NSG qoidasi bilan RBAC rolini almashtirib bo‘lmaydi: ular turli qatlamni boshqaradi.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Azure Functions serverless funksiyalarni ishga tushiradi. Trigger bajarilishni boshlaydi, binding esa ayrim xizmatlar bilan bog‘lanishni soddalashtiradi. Azure Monitor va Application Insights metrika, log va ilova kuzatuviga yordam beradi.</a:t>
            </a:r>
          </a:p>
          <a:p/>
          <a:p>
            <a:r>
              <a:t>Navbatga xabar tushganda funksiya ishga tushadi. U ishni bajarib natijani saqlaydi. Kechikish va xatolar kuzatiladi, ogohlantirish mas’ul jamoaga yetkaziladi.</a:t>
            </a:r>
          </a:p>
          <a:p/>
          <a:p>
            <a:r>
              <a:t>Universitet misolida buni quyidagicha tasavvur qilamiz. Talabaga yuboriladigan xabarnoma navbatdan olinib, asosiy portal javobini kutdirmasdan bajariladi. Bu misolda texnik atama real vazifa bilan bog‘lanadi: resursning nomini emas, nima uchun tanlanganini tushunish muhim.</a:t>
            </a:r>
          </a:p>
          <a:p/>
          <a:p>
            <a:r>
              <a:t>E’tibor beradigan chegara ham bor. Bajarilish muddati va masshtablash xususiyatlari hosting rejasiga bog‘liq; barcha rejalar bir xil emas. Shuning uchun texnik qaror chiqarishda slayddagi asosiy fikr bilan birga shu shartni ham yodda tutamiz.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Endi mavzuni yaxlit sxemada ko‘ramiz. To‘rtburchaklar asosiy komponentlarni, o‘qlar esa ma’lumot, murojaat yoki boshqaruv bog‘lanishini ko‘rsatadi. Bu soddalashtirilgan ta’lim sxemasi: unda barcha xavfsizlik qoidalari, ichki protokollar va zaxira komponentlari alohida chizilmagan.</a:t>
            </a:r>
          </a:p>
          <a:p/>
          <a:p>
            <a:r>
              <a:t>«Entra ID / IAM» bilan «VM / Functions» o‘rtasida sxemada bog‘lanish ko‘rsatilgan. «VM / Functions» bilan «Azure SQL» o‘rtasida sxemada bog‘lanish ko‘rsatilgan. «VM / Functions» bilan «Blob Storage» o‘rtasida sxemada bog‘lanish ko‘rsatilgan. «VM / Functions» bilan «Azure Monitor» o‘rtasida sxemada bog‘lanish ko‘rsatilgan. «Azure SQL» bilan «Azure Monitor» o‘rtasida sxemada bog‘lanish ko‘rsatilgan.</a:t>
            </a:r>
          </a:p>
          <a:p/>
          <a:p>
            <a:r>
              <a:t>Bu bog‘lanishlarni barcha xizmatlarda bir xil buyruq yoki bir xil fizik kabel deb tushunmaymiz. Ayrim o‘qlar bajarilish ketma-ketligini, ayrimlari resursni boshqarish yoki unga kirish aloqasini anglatadi. VM virtual tarmoqqa ulanadi, kirish Network Security Group bilan cheklanadi. Operatsion tizim yangilanishi va ilova konfiguratsiyasi boshqariladi. Masshtablash uchun VM Scale Sets ishlatilishi mumkin.</a:t>
            </a:r>
          </a:p>
          <a:p/>
          <a:p>
            <a:r>
              <a:t>Sxemaning asosiy foydasi mas’uliyatlarni ajratib ko‘rsatishdir. Portal faylni o‘qish uchun kod ichida umumiy hisob kalitini olib yurmaydi, balki o‘z identifikatori bilan kiradi. Bir qismdagi o‘zgarish boshqasiga qanday ta’sir qilishini ko‘rish orqali murakkab tizimni kichik va tushunarli qismlarga ajratamiz.</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Keling, nazariyani bitta izchil vaziyat bilan bog‘laymiz. Universitet Microsoft xizmatlaridan foydalanadi va portalni Azure da joylashtirmoqchi. Identifikatsiya, loyiha resurslari va xarajatlarni bir-biriga bog‘langan holda boshqarish muhim.</a:t>
            </a:r>
          </a:p>
          <a:p/>
          <a:p>
            <a:r>
              <a:t>Avval ehtiyoj aniqlanadi: kim tizimdan foydalanadi, qaysi ma’lumot bilan ishlanadi va qanday natija kutiladi. Portalning VM, virtual tarmoq va kuzatuv resurslari bitta loyiha guruhi bilan boshqariladi. Keyin texnik qismlar shu talabga mos tanlanadi. Ma’ruza videolari Blob Storage da saqlanib, talabalarga cheklangan muddatli kirish bilan beriladi.</a:t>
            </a:r>
          </a:p>
          <a:p/>
          <a:p>
            <a:r>
              <a:t>Ishlash jarayonida faqat muvaffaqiyatli holat emas, xato va cheklovlar ham hisobga olinadi. SQL Database barcha server darajasidagi eski imkoniyatlarga aynan teng emas; moslik oldindan tekshiriladi. Shu sababli jamoa talabni, ruxsatni va nosozlikdagi xatti-harakatni oldindan belgilaydi. Talabaga yuboriladigan xabarnoma navbatdan olinib, asosiy portal javobini kutdirmasdan bajariladi.</a:t>
            </a:r>
          </a:p>
          <a:p/>
          <a:p>
            <a:r>
              <a:t>Misolning xulosasi shuki, texnologiya alohida maqsad emas. U talabaga kerakli xizmatni sodda, xavfsiz va barqaror yetkazishga xizmat qiladi. Slayddagi tayanch qismlar ishni rejalashga yordam beradi; haqiqiy joylashtirishda esa aniq konfiguratsiya va amaldagi hujjatlar talab qilinadi.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 to‘g‘ri tushunish uchun uchta chegarani qayta ajratamiz.</a:t>
            </a:r>
          </a:p>
          <a:p/>
          <a:p>
            <a:r>
              <a:t>1. Resource group xavfsizlik devori yoki alohida jismoniy ma’lumotlar markazi emas. To‘g‘ri talqin quyidagicha: Microsoft Entra tenant tashkilotning identifikatsiya chegarasini ifodalaydi. Subscription hisob-kitob va boshqaruv doirasidir. Resource group esa tegishli resurslarni mantiqiy guruhlaydi. Bitta guruhdagi resurslar turli hududlarda bo‘lishi mumkin.</a:t>
            </a:r>
          </a:p>
          <a:p/>
          <a:p>
            <a:r>
              <a:t>2. SQL Database barcha server darajasidagi eski imkoniyatlarga aynan teng emas; moslik oldindan tekshiriladi. To‘g‘ri talqin quyidagicha: Azure SQL Database SQL Server oilasiga tayangan boshqariladigan relatsion xizmatdir. Yangilanish va infratuzilma boshqaruvining katta qismi provayderda bo‘ladi. Sxema, indeks va ma’lumot xavfsizligi esa loyiha tomonidan boshqariladi.</a:t>
            </a:r>
          </a:p>
          <a:p/>
          <a:p>
            <a:r>
              <a:t>3. Bajarilish muddati va masshtablash xususiyatlari hosting rejasiga bog‘liq; barcha rejalar bir xil emas. To‘g‘ri talqin quyidagicha: Azure Functions serverless funksiyalarni ishga tushiradi. Trigger bajarilishni boshlaydi, binding esa ayrim xizmatlar bilan bog‘lanishni soddalashtiradi. Azure Monitor va Application Insights metrika, log va ilova kuzatuviga yordam beradi.</a:t>
            </a:r>
          </a:p>
          <a:p/>
          <a:p>
            <a:r>
              <a:t>Bu izohlar texnologiyani rad etish uchun emas, undan o‘rinli foydalanish uchun kerak. Ta’rif, amaliy vazifa va shart birga o‘qilgandagina to‘g‘ri xulosa paydo bo‘ladi. Shuning uchun xizmat nomi yoki bitta imkoniyatga qarab butun tizim haqida umumiy hukm chiqarmaymiz.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Bugungi ma’ruzani yakunlaymiz. Boshqaruv iyerarxiyasi va asosiy xizmatlar — mavzuning umumiy mazmunini ifodalaydi.</a:t>
            </a:r>
          </a:p>
          <a:p/>
          <a:p>
            <a:r>
              <a:t>Asosiy tayanch fikr: Tenant → subscription → resource group → resource. Loyiha uchun resurs guruhi yaratiladi. Unga teglar va ruxsatlar beriladi. Policy va RBAC yordamida tashkilot qoidalari mos ko‘lamda qo‘llanadi.</a:t>
            </a:r>
          </a:p>
          <a:p/>
          <a:p>
            <a:r>
              <a:t>Asosiy tayanch fikr: Video, rasm va arxiv uchun obyekt saqlash. Ilova API orqali obyekt yozadi yoki o‘qiydi. Kirish Microsoft Entra identifikatori, boshqariladigan identifikator yoki cheklangan muddatli SAS orqali tashkil etilishi mumkin.</a:t>
            </a:r>
          </a:p>
          <a:p/>
          <a:p>
            <a:r>
              <a:t>Asosiy tayanch fikr: Tarmoq ajratilishi + RBAC + managed identity. Ilova identifikatoriga Blob dagi kerakli amal roli beriladi. Baza uchun private kirish tashkil qilinadi. Administratorlar ko‘p omilli tasdiqlash va eng kam vakolat bilan ishlaydi.</a:t>
            </a:r>
          </a:p>
          <a:p/>
          <a:p>
            <a:r>
              <a:t>Barcha bo‘limlarni universitet portali misoli orqali bog‘ladik. Endi atamalarni alohida so‘z sifatida emas, tizimdagi aniq vazifa sifatida ko‘rish mumkin. Arxitektura tanlashda talab, cheklov, xavfsizlik va xarajat birgalikda baholanadi. Mavzuni takrorlashda avval ta’rifni, keyin sxemani, so‘ng misol va chegaralarni ko‘zdan kechirish foydali. E’tiboringiz uchun rahmat.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mavzu foydalanuvchi taqdim etgan BTST206 sillabusidagi tegishli ma’ruza bo‘limi asosida tuzildi. Slaydda mavzuni chuqurroq o‘qish uchun rasmiy hujjatlarga havolalar ko‘rsatilgan. Xizmatlar yangilanib boradi, shuning uchun amaliy ish oldidan tanlangan versiya, region, tarif va limitlar tekshiriladi. Bu ma’ruzada maqsad o‘zgaruvchan raqamlarni yodlash emas, barqaror tamoyillarni tushunishdir.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xec-1c8f91bc-6381-4745-8533-c57166497063.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16636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594360"/>
            <a:ext cx="594360" cy="73152"/>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96112"/>
            <a:ext cx="4480560" cy="457200"/>
          </a:xfrm>
          <a:prstGeom prst="rect">
            <a:avLst/>
          </a:prstGeom>
          <a:noFill/>
        </p:spPr>
        <p:txBody>
          <a:bodyPr wrap="square" lIns="27432" rIns="27432" tIns="18288" bIns="0">
            <a:spAutoFit/>
          </a:bodyPr>
          <a:lstStyle/>
          <a:p>
            <a:pPr>
              <a:spcAft>
                <a:spcPts val="1000"/>
              </a:spcAft>
              <a:defRPr sz="1700" b="1">
                <a:solidFill>
                  <a:srgbClr val="1678D2"/>
                </a:solidFill>
                <a:latin typeface="DejaVu Sans"/>
              </a:defRPr>
            </a:pPr>
            <a:r>
              <a:t>M13  /  BTST206</a:t>
            </a:r>
          </a:p>
        </p:txBody>
      </p:sp>
      <p:sp>
        <p:nvSpPr>
          <p:cNvPr id="6" name="TextBox 5"/>
          <p:cNvSpPr txBox="1"/>
          <p:nvPr/>
        </p:nvSpPr>
        <p:spPr>
          <a:xfrm>
            <a:off x="548640" y="1737360"/>
            <a:ext cx="4480560" cy="2788920"/>
          </a:xfrm>
          <a:prstGeom prst="rect">
            <a:avLst/>
          </a:prstGeom>
          <a:noFill/>
        </p:spPr>
        <p:txBody>
          <a:bodyPr wrap="square" lIns="27432" rIns="27432" tIns="18288" bIns="0">
            <a:spAutoFit/>
          </a:bodyPr>
          <a:lstStyle/>
          <a:p>
            <a:pPr>
              <a:spcAft>
                <a:spcPts val="1000"/>
              </a:spcAft>
              <a:defRPr sz="3000" b="1">
                <a:solidFill>
                  <a:srgbClr val="15365B"/>
                </a:solidFill>
                <a:latin typeface="DejaVu Sans"/>
              </a:defRPr>
            </a:pPr>
            <a:r>
              <a:t>Microsoft Azure bulut platformasi</a:t>
            </a:r>
          </a:p>
        </p:txBody>
      </p:sp>
      <p:sp>
        <p:nvSpPr>
          <p:cNvPr id="7" name="TextBox 6"/>
          <p:cNvSpPr txBox="1"/>
          <p:nvPr/>
        </p:nvSpPr>
        <p:spPr>
          <a:xfrm>
            <a:off x="548640" y="4800600"/>
            <a:ext cx="4434840" cy="914400"/>
          </a:xfrm>
          <a:prstGeom prst="rect">
            <a:avLst/>
          </a:prstGeom>
          <a:noFill/>
        </p:spPr>
        <p:txBody>
          <a:bodyPr wrap="square" lIns="27432" rIns="27432" tIns="18288" bIns="0">
            <a:spAutoFit/>
          </a:bodyPr>
          <a:lstStyle/>
          <a:p>
            <a:pPr>
              <a:spcAft>
                <a:spcPts val="1000"/>
              </a:spcAft>
              <a:defRPr sz="1900" b="0">
                <a:solidFill>
                  <a:srgbClr val="53687D"/>
                </a:solidFill>
                <a:latin typeface="DejaVu Sans"/>
              </a:defRPr>
            </a:pPr>
            <a:r>
              <a:t>Boshqaruv iyerarxiyasi va asosiy xizmatlar</a:t>
            </a:r>
          </a:p>
        </p:txBody>
      </p:sp>
      <p:sp>
        <p:nvSpPr>
          <p:cNvPr id="8" name="TextBox 7"/>
          <p:cNvSpPr txBox="1"/>
          <p:nvPr/>
        </p:nvSpPr>
        <p:spPr>
          <a:xfrm>
            <a:off x="548640" y="6217920"/>
            <a:ext cx="4480560" cy="365760"/>
          </a:xfrm>
          <a:prstGeom prst="rect">
            <a:avLst/>
          </a:prstGeom>
          <a:noFill/>
        </p:spPr>
        <p:txBody>
          <a:bodyPr wrap="square" lIns="27432" rIns="27432" tIns="18288" bIns="0">
            <a:spAutoFit/>
          </a:bodyPr>
          <a:lstStyle/>
          <a:p>
            <a:pPr>
              <a:spcAft>
                <a:spcPts val="1000"/>
              </a:spcAft>
              <a:defRPr sz="1100" b="0">
                <a:solidFill>
                  <a:srgbClr val="1678D2"/>
                </a:solidFill>
                <a:latin typeface="DejaVu Sans"/>
              </a:defRPr>
            </a:pPr>
            <a:r>
              <a:t>2027–2028  •  VIDEOMA’RUZA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O‘RGANISH TARTIBI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Bugungi mavzuning yo‘l xaritasi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02</a:t>
            </a:r>
          </a:p>
        </p:txBody>
      </p:sp>
      <p:sp>
        <p:nvSpPr>
          <p:cNvPr id="8" name="Rounded Rectangle 7"/>
          <p:cNvSpPr/>
          <p:nvPr/>
        </p:nvSpPr>
        <p:spPr>
          <a:xfrm>
            <a:off x="59436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01</a:t>
            </a:r>
          </a:p>
        </p:txBody>
      </p:sp>
      <p:sp>
        <p:nvSpPr>
          <p:cNvPr id="10" name="TextBox 9"/>
          <p:cNvSpPr txBox="1"/>
          <p:nvPr/>
        </p:nvSpPr>
        <p:spPr>
          <a:xfrm>
            <a:off x="138074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Azure boshqaruv iyerarxiyasi</a:t>
            </a:r>
          </a:p>
        </p:txBody>
      </p:sp>
      <p:sp>
        <p:nvSpPr>
          <p:cNvPr id="11" name="Rounded Rectangle 10"/>
          <p:cNvSpPr/>
          <p:nvPr/>
        </p:nvSpPr>
        <p:spPr>
          <a:xfrm>
            <a:off x="6263640" y="1938528"/>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2084832"/>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02</a:t>
            </a:r>
          </a:p>
        </p:txBody>
      </p:sp>
      <p:sp>
        <p:nvSpPr>
          <p:cNvPr id="13" name="TextBox 12"/>
          <p:cNvSpPr txBox="1"/>
          <p:nvPr/>
        </p:nvSpPr>
        <p:spPr>
          <a:xfrm>
            <a:off x="7050024" y="2057400"/>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Azure Virtual Machines</a:t>
            </a:r>
          </a:p>
        </p:txBody>
      </p:sp>
      <p:sp>
        <p:nvSpPr>
          <p:cNvPr id="14" name="Rounded Rectangle 13"/>
          <p:cNvSpPr/>
          <p:nvPr/>
        </p:nvSpPr>
        <p:spPr>
          <a:xfrm>
            <a:off x="59436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03</a:t>
            </a:r>
          </a:p>
        </p:txBody>
      </p:sp>
      <p:sp>
        <p:nvSpPr>
          <p:cNvPr id="16" name="TextBox 15"/>
          <p:cNvSpPr txBox="1"/>
          <p:nvPr/>
        </p:nvSpPr>
        <p:spPr>
          <a:xfrm>
            <a:off x="138074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Blob Storage</a:t>
            </a:r>
          </a:p>
        </p:txBody>
      </p:sp>
      <p:sp>
        <p:nvSpPr>
          <p:cNvPr id="17" name="Rounded Rectangle 16"/>
          <p:cNvSpPr/>
          <p:nvPr/>
        </p:nvSpPr>
        <p:spPr>
          <a:xfrm>
            <a:off x="6263640" y="3246120"/>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392424"/>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04</a:t>
            </a:r>
          </a:p>
        </p:txBody>
      </p:sp>
      <p:sp>
        <p:nvSpPr>
          <p:cNvPr id="19" name="TextBox 18"/>
          <p:cNvSpPr txBox="1"/>
          <p:nvPr/>
        </p:nvSpPr>
        <p:spPr>
          <a:xfrm>
            <a:off x="7050024" y="3364991"/>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Azure SQL Database</a:t>
            </a:r>
          </a:p>
        </p:txBody>
      </p:sp>
      <p:sp>
        <p:nvSpPr>
          <p:cNvPr id="20" name="Rounded Rectangle 19"/>
          <p:cNvSpPr/>
          <p:nvPr/>
        </p:nvSpPr>
        <p:spPr>
          <a:xfrm>
            <a:off x="59436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05</a:t>
            </a:r>
          </a:p>
        </p:txBody>
      </p:sp>
      <p:sp>
        <p:nvSpPr>
          <p:cNvPr id="22" name="TextBox 21"/>
          <p:cNvSpPr txBox="1"/>
          <p:nvPr/>
        </p:nvSpPr>
        <p:spPr>
          <a:xfrm>
            <a:off x="138074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Virtual Network va identifikatsiya</a:t>
            </a:r>
          </a:p>
        </p:txBody>
      </p:sp>
      <p:sp>
        <p:nvSpPr>
          <p:cNvPr id="23" name="Rounded Rectangle 22"/>
          <p:cNvSpPr/>
          <p:nvPr/>
        </p:nvSpPr>
        <p:spPr>
          <a:xfrm>
            <a:off x="6263640" y="4553712"/>
            <a:ext cx="5413248" cy="107899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4700016"/>
            <a:ext cx="484632" cy="45720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06</a:t>
            </a:r>
          </a:p>
        </p:txBody>
      </p:sp>
      <p:sp>
        <p:nvSpPr>
          <p:cNvPr id="25" name="TextBox 24"/>
          <p:cNvSpPr txBox="1"/>
          <p:nvPr/>
        </p:nvSpPr>
        <p:spPr>
          <a:xfrm>
            <a:off x="7050024" y="4672584"/>
            <a:ext cx="4416552" cy="804672"/>
          </a:xfrm>
          <a:prstGeom prst="rect">
            <a:avLst/>
          </a:prstGeom>
          <a:noFill/>
        </p:spPr>
        <p:txBody>
          <a:bodyPr wrap="square" lIns="27432" rIns="27432" tIns="18288" bIns="0">
            <a:spAutoFit/>
          </a:bodyPr>
          <a:lstStyle/>
          <a:p>
            <a:pPr>
              <a:spcAft>
                <a:spcPts val="1000"/>
              </a:spcAft>
              <a:defRPr sz="2000" b="1">
                <a:solidFill>
                  <a:srgbClr val="15365B"/>
                </a:solidFill>
                <a:latin typeface="DejaVu Sans"/>
              </a:defRPr>
            </a:pPr>
            <a:r>
              <a:t>Functions va Azure Monitor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ASOSIY TUSHUNCHA 1/6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Azure boshqaruv iyerarxiyasi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03</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Tenant → subscription → resource group → resource.</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Portalning VM, virtual tarmoq va kuzatuv resurslari bitta loyiha guruhi bilan boshqariladi.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ASOSIY TUSHUNCHA 2/6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Azure Virtual Machines</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04</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VM virtual tarmoqqa ulanadi, kirish Network Security Group bilan cheklanadi.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Oddiy bitta VM yaratish yuqori mavjudlikni ta’minlamaydi.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Operatsion tizim ustidan nazoratga ega hisoblash.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ASOSIY TUSHUNCHA 3/6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Blob Storage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05</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Video, rasm va arxiv uchun obyekt saqlash.</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Azure Blob Storage strukturasi qat’iy bo‘lmagan ma’lumot uchun xizmat qiladi.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ASOSIY TUSHUNCHA 4/6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Azure SQL Database</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06</a:t>
            </a:r>
          </a:p>
        </p:txBody>
      </p:sp>
      <p:sp>
        <p:nvSpPr>
          <p:cNvPr id="8" name="TextBox 7"/>
          <p:cNvSpPr txBox="1"/>
          <p:nvPr/>
        </p:nvSpPr>
        <p:spPr>
          <a:xfrm>
            <a:off x="594360" y="1865376"/>
            <a:ext cx="7086600" cy="1143000"/>
          </a:xfrm>
          <a:prstGeom prst="rect">
            <a:avLst/>
          </a:prstGeom>
          <a:noFill/>
        </p:spPr>
        <p:txBody>
          <a:bodyPr wrap="square" lIns="27432" rIns="27432" tIns="18288" bIns="0">
            <a:spAutoFit/>
          </a:bodyPr>
          <a:lstStyle/>
          <a:p>
            <a:pPr>
              <a:spcAft>
                <a:spcPts val="1000"/>
              </a:spcAft>
              <a:defRPr sz="3000" b="1">
                <a:solidFill>
                  <a:srgbClr val="1678D2"/>
                </a:solidFill>
                <a:latin typeface="DejaVu Sans"/>
              </a:defRPr>
            </a:pPr>
            <a:r>
              <a:t>Relatsion baza platforma xizmati sifatida.</a:t>
            </a:r>
          </a:p>
        </p:txBody>
      </p:sp>
      <p:sp>
        <p:nvSpPr>
          <p:cNvPr id="9" name="Rounded Rectangle 8"/>
          <p:cNvSpPr/>
          <p:nvPr/>
        </p:nvSpPr>
        <p:spPr>
          <a:xfrm>
            <a:off x="594360" y="3337560"/>
            <a:ext cx="7040880" cy="203911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38728"/>
            <a:ext cx="6556248" cy="178308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Talabalar ro‘yxati va fanlar jadvali Azure SQL da saqlanadi; portal so‘rovlarni parametr bilan yuboradi.</a:t>
            </a:r>
          </a:p>
        </p:txBody>
      </p:sp>
      <p:sp>
        <p:nvSpPr>
          <p:cNvPr id="11" name="Rounded Rectangle 10"/>
          <p:cNvSpPr/>
          <p:nvPr/>
        </p:nvSpPr>
        <p:spPr>
          <a:xfrm>
            <a:off x="8183879" y="4965192"/>
            <a:ext cx="3063240" cy="14630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reeform 11"/>
          <p:cNvSpPr/>
          <p:nvPr/>
        </p:nvSpPr>
        <p:spPr>
          <a:xfrm>
            <a:off x="8321040" y="3120390"/>
            <a:ext cx="1042416" cy="217170"/>
          </a:xfrm>
          <a:custGeom>
            <a:avLst/>
            <a:gdLst/>
            <a:ahLst/>
            <a:cxnLst/>
            <a:rect l="l" t="t" r="r" b="b"/>
            <a:pathLst>
              <a:path w="1042416" h="217170">
                <a:moveTo>
                  <a:pt x="0" y="217170"/>
                </a:moveTo>
                <a:lnTo>
                  <a:pt x="825246" y="217170"/>
                </a:lnTo>
                <a:lnTo>
                  <a:pt x="1042416" y="0"/>
                </a:lnTo>
                <a:lnTo>
                  <a:pt x="21717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9146286" y="3120390"/>
            <a:ext cx="217170" cy="1780793"/>
          </a:xfrm>
          <a:custGeom>
            <a:avLst/>
            <a:gdLst/>
            <a:ahLst/>
            <a:cxnLst/>
            <a:rect l="l" t="t" r="r" b="b"/>
            <a:pathLst>
              <a:path w="217170" h="1780793">
                <a:moveTo>
                  <a:pt x="0" y="217170"/>
                </a:moveTo>
                <a:lnTo>
                  <a:pt x="217170" y="0"/>
                </a:lnTo>
                <a:lnTo>
                  <a:pt x="217170" y="1563624"/>
                </a:lnTo>
                <a:lnTo>
                  <a:pt x="0" y="178079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21040" y="3337560"/>
            <a:ext cx="825246" cy="1563624"/>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07908" y="349392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94368" y="353735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407908" y="3737152"/>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94368" y="3780586"/>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07908" y="398038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894368" y="402381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07908" y="4223613"/>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94368" y="4267047"/>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407908" y="4466844"/>
            <a:ext cx="642823" cy="156362"/>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94368" y="4510278"/>
            <a:ext cx="52120" cy="43434"/>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reeform 24"/>
          <p:cNvSpPr/>
          <p:nvPr/>
        </p:nvSpPr>
        <p:spPr>
          <a:xfrm>
            <a:off x="9628632" y="2811779"/>
            <a:ext cx="1207008" cy="251460"/>
          </a:xfrm>
          <a:custGeom>
            <a:avLst/>
            <a:gdLst/>
            <a:ahLst/>
            <a:cxnLst/>
            <a:rect l="l" t="t" r="r" b="b"/>
            <a:pathLst>
              <a:path w="1207008" h="251460">
                <a:moveTo>
                  <a:pt x="0" y="251460"/>
                </a:moveTo>
                <a:lnTo>
                  <a:pt x="955548" y="251460"/>
                </a:lnTo>
                <a:lnTo>
                  <a:pt x="1207008" y="0"/>
                </a:lnTo>
                <a:lnTo>
                  <a:pt x="251460" y="0"/>
                </a:lnTo>
                <a:close/>
              </a:path>
            </a:pathLst>
          </a:custGeom>
          <a:solidFill>
            <a:srgbClr val="DAED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Freeform 25"/>
          <p:cNvSpPr/>
          <p:nvPr/>
        </p:nvSpPr>
        <p:spPr>
          <a:xfrm>
            <a:off x="10584180" y="2811779"/>
            <a:ext cx="251460" cy="2061973"/>
          </a:xfrm>
          <a:custGeom>
            <a:avLst/>
            <a:gdLst/>
            <a:ahLst/>
            <a:cxnLst/>
            <a:rect l="l" t="t" r="r" b="b"/>
            <a:pathLst>
              <a:path w="251460" h="2061973">
                <a:moveTo>
                  <a:pt x="0" y="251460"/>
                </a:moveTo>
                <a:lnTo>
                  <a:pt x="251460" y="0"/>
                </a:lnTo>
                <a:lnTo>
                  <a:pt x="251460" y="1810513"/>
                </a:lnTo>
                <a:lnTo>
                  <a:pt x="0" y="2061973"/>
                </a:lnTo>
                <a:close/>
              </a:path>
            </a:pathLst>
          </a:custGeom>
          <a:solidFill>
            <a:srgbClr val="7EB7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628632" y="3063239"/>
            <a:ext cx="955547" cy="1810512"/>
          </a:xfrm>
          <a:prstGeom prst="rect">
            <a:avLst/>
          </a:prstGeom>
          <a:solidFill>
            <a:srgbClr val="D7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29215" y="324429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292486" y="329458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29215" y="352592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292486" y="357621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29215" y="380756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292486" y="3857853"/>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729215" y="4089196"/>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0292486" y="4139488"/>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729215" y="4370831"/>
            <a:ext cx="744321" cy="181051"/>
          </a:xfrm>
          <a:prstGeom prst="rect">
            <a:avLst/>
          </a:prstGeom>
          <a:solidFill>
            <a:srgbClr val="1536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292486" y="4421124"/>
            <a:ext cx="60350" cy="50292"/>
          </a:xfrm>
          <a:prstGeom prst="rect">
            <a:avLst/>
          </a:prstGeom>
          <a:solidFill>
            <a:srgbClr val="5CC9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Cloud 37"/>
          <p:cNvSpPr/>
          <p:nvPr/>
        </p:nvSpPr>
        <p:spPr>
          <a:xfrm>
            <a:off x="8668512" y="2103120"/>
            <a:ext cx="2286000" cy="1188720"/>
          </a:xfrm>
          <a:prstGeom prst="cloud">
            <a:avLst/>
          </a:prstGeom>
          <a:solidFill>
            <a:srgbClr val="D8F1FF"/>
          </a:solidFill>
          <a:ln>
            <a:solidFill>
              <a:srgbClr val="5CC9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ASOSIY TUSHUNCHA 5/6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Virtual Network va identifikatsiya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07</a:t>
            </a:r>
          </a:p>
        </p:txBody>
      </p:sp>
      <p:sp>
        <p:nvSpPr>
          <p:cNvPr id="8" name="Rounded Rectangle 7"/>
          <p:cNvSpPr/>
          <p:nvPr/>
        </p:nvSpPr>
        <p:spPr>
          <a:xfrm>
            <a:off x="59436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QANDAY ISHLAYDI?</a:t>
            </a:r>
          </a:p>
        </p:txBody>
      </p:sp>
      <p:sp>
        <p:nvSpPr>
          <p:cNvPr id="10" name="TextBox 9"/>
          <p:cNvSpPr txBox="1"/>
          <p:nvPr/>
        </p:nvSpPr>
        <p:spPr>
          <a:xfrm>
            <a:off x="82296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Ilova identifikatoriga Blob dagi kerakli amal roli beriladi.</a:t>
            </a:r>
          </a:p>
        </p:txBody>
      </p:sp>
      <p:sp>
        <p:nvSpPr>
          <p:cNvPr id="11" name="Rounded Rectangle 10"/>
          <p:cNvSpPr/>
          <p:nvPr/>
        </p:nvSpPr>
        <p:spPr>
          <a:xfrm>
            <a:off x="6263640" y="1965960"/>
            <a:ext cx="5321808" cy="3502152"/>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28032" cy="365760"/>
          </a:xfrm>
          <a:prstGeom prst="rect">
            <a:avLst/>
          </a:prstGeom>
          <a:noFill/>
        </p:spPr>
        <p:txBody>
          <a:bodyPr wrap="square" lIns="27432" rIns="27432" tIns="18288" bIns="0">
            <a:spAutoFit/>
          </a:bodyPr>
          <a:lstStyle/>
          <a:p>
            <a:pPr>
              <a:spcAft>
                <a:spcPts val="1000"/>
              </a:spcAft>
              <a:defRPr sz="1300" b="1">
                <a:solidFill>
                  <a:srgbClr val="1678D2"/>
                </a:solidFill>
                <a:latin typeface="DejaVu Sans"/>
              </a:defRPr>
            </a:pPr>
            <a:r>
              <a:t>ESDA SAQLANG</a:t>
            </a:r>
          </a:p>
        </p:txBody>
      </p:sp>
      <p:sp>
        <p:nvSpPr>
          <p:cNvPr id="13" name="TextBox 12"/>
          <p:cNvSpPr txBox="1"/>
          <p:nvPr/>
        </p:nvSpPr>
        <p:spPr>
          <a:xfrm>
            <a:off x="6492240" y="2852928"/>
            <a:ext cx="4818888" cy="2331720"/>
          </a:xfrm>
          <a:prstGeom prst="rect">
            <a:avLst/>
          </a:prstGeom>
          <a:noFill/>
        </p:spPr>
        <p:txBody>
          <a:bodyPr wrap="square" lIns="27432" rIns="27432" tIns="18288" bIns="0">
            <a:spAutoFit/>
          </a:bodyPr>
          <a:lstStyle/>
          <a:p>
            <a:pPr>
              <a:spcAft>
                <a:spcPts val="1000"/>
              </a:spcAft>
              <a:defRPr sz="2500" b="0">
                <a:solidFill>
                  <a:srgbClr val="15365B"/>
                </a:solidFill>
                <a:latin typeface="DejaVu Sans"/>
              </a:defRPr>
            </a:pPr>
            <a:r>
              <a:t>NSG qoidasi bilan RBAC rolini almashtirib bo‘lmaydi: ular turli qatlamni boshqaradi.</a:t>
            </a:r>
          </a:p>
        </p:txBody>
      </p:sp>
      <p:sp>
        <p:nvSpPr>
          <p:cNvPr id="14" name="TextBox 13"/>
          <p:cNvSpPr txBox="1"/>
          <p:nvPr/>
        </p:nvSpPr>
        <p:spPr>
          <a:xfrm>
            <a:off x="640080" y="5742432"/>
            <a:ext cx="10881360" cy="3657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Tarmoq ajratilishi + RBAC + managed identity.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ASOSIY TUSHUNCHA 6/6</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Functions va Azure Monitor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08</a:t>
            </a:r>
          </a:p>
        </p:txBody>
      </p:sp>
      <p:sp>
        <p:nvSpPr>
          <p:cNvPr id="8" name="Rectangle 7"/>
          <p:cNvSpPr/>
          <p:nvPr/>
        </p:nvSpPr>
        <p:spPr>
          <a:xfrm>
            <a:off x="594360" y="2011680"/>
            <a:ext cx="100584" cy="333756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075688"/>
            <a:ext cx="9966960" cy="1280160"/>
          </a:xfrm>
          <a:prstGeom prst="rect">
            <a:avLst/>
          </a:prstGeom>
          <a:noFill/>
        </p:spPr>
        <p:txBody>
          <a:bodyPr wrap="square" lIns="27432" rIns="27432" tIns="18288" bIns="0">
            <a:spAutoFit/>
          </a:bodyPr>
          <a:lstStyle/>
          <a:p>
            <a:pPr>
              <a:spcAft>
                <a:spcPts val="1000"/>
              </a:spcAft>
              <a:defRPr sz="3200" b="1">
                <a:solidFill>
                  <a:srgbClr val="1678D2"/>
                </a:solidFill>
                <a:latin typeface="DejaVu Sans"/>
              </a:defRPr>
            </a:pPr>
            <a:r>
              <a:t>Hodisa asosida bajarish va kuzatuv.</a:t>
            </a:r>
          </a:p>
        </p:txBody>
      </p:sp>
      <p:sp>
        <p:nvSpPr>
          <p:cNvPr id="10" name="TextBox 9"/>
          <p:cNvSpPr txBox="1"/>
          <p:nvPr/>
        </p:nvSpPr>
        <p:spPr>
          <a:xfrm>
            <a:off x="960120" y="3712463"/>
            <a:ext cx="6629400" cy="164592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Azure Functions serverless funksiyalarni ishga tushiradi.</a:t>
            </a:r>
          </a:p>
        </p:txBody>
      </p:sp>
      <p:sp>
        <p:nvSpPr>
          <p:cNvPr id="11" name="Rounded Rectangle 10"/>
          <p:cNvSpPr/>
          <p:nvPr/>
        </p:nvSpPr>
        <p:spPr>
          <a:xfrm>
            <a:off x="8366760" y="3822191"/>
            <a:ext cx="2971800" cy="133502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4114800"/>
            <a:ext cx="2514600" cy="822960"/>
          </a:xfrm>
          <a:prstGeom prst="rect">
            <a:avLst/>
          </a:prstGeom>
          <a:noFill/>
        </p:spPr>
        <p:txBody>
          <a:bodyPr wrap="square" lIns="27432" rIns="27432" tIns="18288" bIns="0">
            <a:spAutoFit/>
          </a:bodyPr>
          <a:lstStyle/>
          <a:p>
            <a:pPr>
              <a:spcAft>
                <a:spcPts val="1000"/>
              </a:spcAft>
              <a:defRPr sz="1800" b="1">
                <a:solidFill>
                  <a:srgbClr val="1678D2"/>
                </a:solidFill>
                <a:latin typeface="DejaVu Sans"/>
              </a:defRPr>
            </a:pPr>
            <a:r>
              <a:t>TA’RIF → MISOL</a:t>
            </a:r>
          </a:p>
          <a:p>
            <a:pPr>
              <a:spcAft>
                <a:spcPts val="1000"/>
              </a:spcAft>
              <a:defRPr sz="1800" b="1">
                <a:solidFill>
                  <a:srgbClr val="1678D2"/>
                </a:solidFill>
                <a:latin typeface="DejaVu Sans"/>
              </a:defRPr>
            </a:pPr>
            <a:r>
              <a:t>→ CHEGARA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ARXITEKTURA</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Texnik sxema: qismlar qanday bog‘lanadi?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09</a:t>
            </a:r>
          </a:p>
        </p:txBody>
      </p:sp>
      <p:cxnSp>
        <p:nvCxnSpPr>
          <p:cNvPr id="8" name="Connector 7"/>
          <p:cNvCxnSpPr/>
          <p:nvPr/>
        </p:nvCxnSpPr>
        <p:spPr>
          <a:xfrm>
            <a:off x="347472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95160" y="2761488"/>
            <a:ext cx="777240" cy="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4114800" y="3246120"/>
            <a:ext cx="15087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623560" y="3246120"/>
            <a:ext cx="242316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8046720" y="3246120"/>
            <a:ext cx="1097280" cy="1234440"/>
          </a:xfrm>
          <a:prstGeom prst="line">
            <a:avLst/>
          </a:prstGeom>
          <a:ln w="25400">
            <a:solidFill>
              <a:srgbClr val="78ACD8"/>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 y="2286000"/>
            <a:ext cx="2743200" cy="960120"/>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 y="2450592"/>
            <a:ext cx="2505456" cy="685800"/>
          </a:xfrm>
          <a:prstGeom prst="rect">
            <a:avLst/>
          </a:prstGeom>
          <a:noFill/>
        </p:spPr>
        <p:txBody>
          <a:bodyPr wrap="square" lIns="27432" rIns="27432" tIns="18288" bIns="0">
            <a:spAutoFit/>
          </a:bodyPr>
          <a:lstStyle/>
          <a:p>
            <a:pPr>
              <a:spcAft>
                <a:spcPts val="1000"/>
              </a:spcAft>
              <a:defRPr sz="1800" b="1">
                <a:solidFill>
                  <a:srgbClr val="FFFFFF"/>
                </a:solidFill>
                <a:latin typeface="DejaVu Sans"/>
              </a:defRPr>
            </a:pPr>
            <a:r>
              <a:t>Entra ID / IAM</a:t>
            </a:r>
          </a:p>
        </p:txBody>
      </p:sp>
      <p:sp>
        <p:nvSpPr>
          <p:cNvPr id="15" name="Rounded Rectangle 14"/>
          <p:cNvSpPr/>
          <p:nvPr/>
        </p:nvSpPr>
        <p:spPr>
          <a:xfrm>
            <a:off x="425196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083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VM / Functions</a:t>
            </a:r>
          </a:p>
        </p:txBody>
      </p:sp>
      <p:sp>
        <p:nvSpPr>
          <p:cNvPr id="17" name="Rounded Rectangle 16"/>
          <p:cNvSpPr/>
          <p:nvPr/>
        </p:nvSpPr>
        <p:spPr>
          <a:xfrm>
            <a:off x="7772400" y="228600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91272" y="245059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Azure SQL</a:t>
            </a:r>
          </a:p>
        </p:txBody>
      </p:sp>
      <p:sp>
        <p:nvSpPr>
          <p:cNvPr id="19" name="Rounded Rectangle 18"/>
          <p:cNvSpPr/>
          <p:nvPr/>
        </p:nvSpPr>
        <p:spPr>
          <a:xfrm>
            <a:off x="274320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6207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Blob Storage</a:t>
            </a:r>
          </a:p>
        </p:txBody>
      </p:sp>
      <p:sp>
        <p:nvSpPr>
          <p:cNvPr id="21" name="Rounded Rectangle 20"/>
          <p:cNvSpPr/>
          <p:nvPr/>
        </p:nvSpPr>
        <p:spPr>
          <a:xfrm>
            <a:off x="6675120" y="4480560"/>
            <a:ext cx="2743200" cy="960120"/>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4645152"/>
            <a:ext cx="2505456" cy="685800"/>
          </a:xfrm>
          <a:prstGeom prst="rect">
            <a:avLst/>
          </a:prstGeom>
          <a:noFill/>
        </p:spPr>
        <p:txBody>
          <a:bodyPr wrap="square" lIns="27432" rIns="27432" tIns="18288" bIns="0">
            <a:spAutoFit/>
          </a:bodyPr>
          <a:lstStyle/>
          <a:p>
            <a:pPr>
              <a:spcAft>
                <a:spcPts val="1000"/>
              </a:spcAft>
              <a:defRPr sz="1800" b="1">
                <a:solidFill>
                  <a:srgbClr val="15365B"/>
                </a:solidFill>
                <a:latin typeface="DejaVu Sans"/>
              </a:defRPr>
            </a:pPr>
            <a:r>
              <a:t>Azure Monitor</a:t>
            </a:r>
          </a:p>
        </p:txBody>
      </p:sp>
      <p:sp>
        <p:nvSpPr>
          <p:cNvPr id="23" name="TextBox 22"/>
          <p:cNvSpPr txBox="1"/>
          <p:nvPr/>
        </p:nvSpPr>
        <p:spPr>
          <a:xfrm>
            <a:off x="777240" y="5806440"/>
            <a:ext cx="10789920" cy="347472"/>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O‘qlar: asosiy bog‘lanish yoki boshqaruv yo‘nalishi. Sxema soddalashtirilgan.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O‘QITUVCHI BAYONI</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Universitet portali misolida</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10</a:t>
            </a:r>
          </a:p>
        </p:txBody>
      </p:sp>
      <p:sp>
        <p:nvSpPr>
          <p:cNvPr id="8" name="TextBox 7"/>
          <p:cNvSpPr txBox="1"/>
          <p:nvPr/>
        </p:nvSpPr>
        <p:spPr>
          <a:xfrm>
            <a:off x="658368" y="1920240"/>
            <a:ext cx="7040880" cy="1508760"/>
          </a:xfrm>
          <a:prstGeom prst="rect">
            <a:avLst/>
          </a:prstGeom>
          <a:noFill/>
        </p:spPr>
        <p:txBody>
          <a:bodyPr wrap="square" lIns="27432" rIns="27432" tIns="18288" bIns="0">
            <a:spAutoFit/>
          </a:bodyPr>
          <a:lstStyle/>
          <a:p>
            <a:pPr>
              <a:spcAft>
                <a:spcPts val="1000"/>
              </a:spcAft>
              <a:defRPr sz="2400" b="0">
                <a:solidFill>
                  <a:srgbClr val="15365B"/>
                </a:solidFill>
                <a:latin typeface="DejaVu Sans"/>
              </a:defRPr>
            </a:pPr>
            <a:r>
              <a:t>Universitet Microsoft xizmatlaridan foydalanadi va portalni Azure da joylashtirmoqchi. Identifikatsiya, loyiha resurslari va xarajatlarni bir-biriga bog‘langan holda boshqarish muhim.</a:t>
            </a:r>
          </a:p>
        </p:txBody>
      </p:sp>
      <p:sp>
        <p:nvSpPr>
          <p:cNvPr id="9" name="Rounded Rectangle 8"/>
          <p:cNvSpPr/>
          <p:nvPr/>
        </p:nvSpPr>
        <p:spPr>
          <a:xfrm>
            <a:off x="685800"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Microsoft Entra ID</a:t>
            </a:r>
          </a:p>
        </p:txBody>
      </p:sp>
      <p:sp>
        <p:nvSpPr>
          <p:cNvPr id="11" name="Rounded Rectangle 10"/>
          <p:cNvSpPr/>
          <p:nvPr/>
        </p:nvSpPr>
        <p:spPr>
          <a:xfrm>
            <a:off x="3584448"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21608"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Virtual Network</a:t>
            </a:r>
          </a:p>
        </p:txBody>
      </p:sp>
      <p:sp>
        <p:nvSpPr>
          <p:cNvPr id="13" name="Rounded Rectangle 12"/>
          <p:cNvSpPr/>
          <p:nvPr/>
        </p:nvSpPr>
        <p:spPr>
          <a:xfrm>
            <a:off x="6483096"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0256"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VM / Functions</a:t>
            </a:r>
          </a:p>
        </p:txBody>
      </p:sp>
      <p:sp>
        <p:nvSpPr>
          <p:cNvPr id="15" name="Rounded Rectangle 14"/>
          <p:cNvSpPr/>
          <p:nvPr/>
        </p:nvSpPr>
        <p:spPr>
          <a:xfrm>
            <a:off x="9381744" y="4114800"/>
            <a:ext cx="2670048" cy="1161288"/>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18904" y="4279392"/>
            <a:ext cx="2404872" cy="822960"/>
          </a:xfrm>
          <a:prstGeom prst="rect">
            <a:avLst/>
          </a:prstGeom>
          <a:noFill/>
        </p:spPr>
        <p:txBody>
          <a:bodyPr wrap="square" lIns="27432" rIns="27432" tIns="18288" bIns="0">
            <a:spAutoFit/>
          </a:bodyPr>
          <a:lstStyle/>
          <a:p>
            <a:pPr>
              <a:spcAft>
                <a:spcPts val="1000"/>
              </a:spcAft>
              <a:defRPr sz="2000" b="1">
                <a:solidFill>
                  <a:srgbClr val="1678D2"/>
                </a:solidFill>
                <a:latin typeface="DejaVu Sans"/>
              </a:defRPr>
            </a:pPr>
            <a:r>
              <a:t>Blob / Azure SQL</a:t>
            </a:r>
          </a:p>
        </p:txBody>
      </p:sp>
      <p:sp>
        <p:nvSpPr>
          <p:cNvPr id="17" name="TextBox 16"/>
          <p:cNvSpPr txBox="1"/>
          <p:nvPr/>
        </p:nvSpPr>
        <p:spPr>
          <a:xfrm>
            <a:off x="713232" y="5632704"/>
            <a:ext cx="10789920" cy="365760"/>
          </a:xfrm>
          <a:prstGeom prst="rect">
            <a:avLst/>
          </a:prstGeom>
          <a:noFill/>
        </p:spPr>
        <p:txBody>
          <a:bodyPr wrap="square" lIns="27432" rIns="27432" tIns="18288" bIns="0">
            <a:spAutoFit/>
          </a:bodyPr>
          <a:lstStyle/>
          <a:p>
            <a:pPr>
              <a:spcAft>
                <a:spcPts val="1000"/>
              </a:spcAft>
              <a:defRPr sz="1300" b="0">
                <a:solidFill>
                  <a:srgbClr val="53687D"/>
                </a:solidFill>
                <a:latin typeface="DejaVu Sans"/>
              </a:defRPr>
            </a:pPr>
            <a:r>
              <a:t>Yuqoridagi bloklar — misolning tayanch qismlari; ular har doim chiziqli trafik yo‘li emas.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ANIQLIK KIRITAMIZ</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Ko‘p uchraydigan noto‘g‘ri xulosalar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11</a:t>
            </a:r>
          </a:p>
        </p:txBody>
      </p:sp>
      <p:sp>
        <p:nvSpPr>
          <p:cNvPr id="8" name="Rounded Rectangle 7"/>
          <p:cNvSpPr/>
          <p:nvPr/>
        </p:nvSpPr>
        <p:spPr>
          <a:xfrm>
            <a:off x="640080" y="1892807"/>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1929384"/>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1</a:t>
            </a:r>
          </a:p>
        </p:txBody>
      </p:sp>
      <p:sp>
        <p:nvSpPr>
          <p:cNvPr id="10" name="TextBox 9"/>
          <p:cNvSpPr txBox="1"/>
          <p:nvPr/>
        </p:nvSpPr>
        <p:spPr>
          <a:xfrm>
            <a:off x="1353312" y="1892807"/>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Resource group xavfsizlik devori yoki alohida jismoniy ma’lumotlar markazi emas.</a:t>
            </a:r>
          </a:p>
        </p:txBody>
      </p:sp>
      <p:sp>
        <p:nvSpPr>
          <p:cNvPr id="11" name="Rounded Rectangle 10"/>
          <p:cNvSpPr/>
          <p:nvPr/>
        </p:nvSpPr>
        <p:spPr>
          <a:xfrm>
            <a:off x="640080" y="3246120"/>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3282696"/>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2</a:t>
            </a:r>
          </a:p>
        </p:txBody>
      </p:sp>
      <p:sp>
        <p:nvSpPr>
          <p:cNvPr id="13" name="TextBox 12"/>
          <p:cNvSpPr txBox="1"/>
          <p:nvPr/>
        </p:nvSpPr>
        <p:spPr>
          <a:xfrm>
            <a:off x="1353312" y="3246120"/>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SQL Database barcha server darajasidagi eski imkoniyatlarga aynan teng emas; moslik oldindan tekshiriladi.</a:t>
            </a:r>
          </a:p>
        </p:txBody>
      </p:sp>
      <p:sp>
        <p:nvSpPr>
          <p:cNvPr id="14" name="Rounded Rectangle 13"/>
          <p:cNvSpPr/>
          <p:nvPr/>
        </p:nvSpPr>
        <p:spPr>
          <a:xfrm>
            <a:off x="640080" y="4599431"/>
            <a:ext cx="475488" cy="475488"/>
          </a:xfrm>
          <a:prstGeom prst="roundRect">
            <a:avLst>
              <a:gd name="adj" fmla="val 8000"/>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636007"/>
            <a:ext cx="310896" cy="365760"/>
          </a:xfrm>
          <a:prstGeom prst="rect">
            <a:avLst/>
          </a:prstGeom>
          <a:noFill/>
        </p:spPr>
        <p:txBody>
          <a:bodyPr wrap="square" lIns="27432" rIns="27432" tIns="18288" bIns="0">
            <a:spAutoFit/>
          </a:bodyPr>
          <a:lstStyle/>
          <a:p>
            <a:pPr>
              <a:spcAft>
                <a:spcPts val="1000"/>
              </a:spcAft>
              <a:defRPr sz="1700" b="1">
                <a:solidFill>
                  <a:srgbClr val="FFFFFF"/>
                </a:solidFill>
                <a:latin typeface="DejaVu Sans"/>
              </a:defRPr>
            </a:pPr>
            <a:r>
              <a:t>3</a:t>
            </a:r>
          </a:p>
        </p:txBody>
      </p:sp>
      <p:sp>
        <p:nvSpPr>
          <p:cNvPr id="16" name="TextBox 15"/>
          <p:cNvSpPr txBox="1"/>
          <p:nvPr/>
        </p:nvSpPr>
        <p:spPr>
          <a:xfrm>
            <a:off x="1353312" y="4599431"/>
            <a:ext cx="10058400" cy="1143000"/>
          </a:xfrm>
          <a:prstGeom prst="rect">
            <a:avLst/>
          </a:prstGeom>
          <a:noFill/>
        </p:spPr>
        <p:txBody>
          <a:bodyPr wrap="square" lIns="27432" rIns="27432" tIns="18288" bIns="0">
            <a:spAutoFit/>
          </a:bodyPr>
          <a:lstStyle/>
          <a:p>
            <a:pPr>
              <a:spcAft>
                <a:spcPts val="1000"/>
              </a:spcAft>
              <a:defRPr sz="2300" b="0">
                <a:solidFill>
                  <a:srgbClr val="15365B"/>
                </a:solidFill>
                <a:latin typeface="DejaVu Sans"/>
              </a:defRPr>
            </a:pPr>
            <a:r>
              <a:t>Bajarilish muddati va masshtablash xususiyatlari hosting rejasiga bog‘liq; barcha rejalar bir xil emas.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YAKUN</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Mavzuning asosiy xulosalari</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12</a:t>
            </a:r>
          </a:p>
        </p:txBody>
      </p:sp>
      <p:sp>
        <p:nvSpPr>
          <p:cNvPr id="8" name="Rounded Rectangle 7"/>
          <p:cNvSpPr/>
          <p:nvPr/>
        </p:nvSpPr>
        <p:spPr>
          <a:xfrm>
            <a:off x="640080"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01</a:t>
            </a:r>
          </a:p>
        </p:txBody>
      </p:sp>
      <p:sp>
        <p:nvSpPr>
          <p:cNvPr id="10" name="TextBox 9"/>
          <p:cNvSpPr txBox="1"/>
          <p:nvPr/>
        </p:nvSpPr>
        <p:spPr>
          <a:xfrm>
            <a:off x="859536"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Tenant → subscription → resource group → resource.</a:t>
            </a:r>
          </a:p>
        </p:txBody>
      </p:sp>
      <p:sp>
        <p:nvSpPr>
          <p:cNvPr id="11" name="Rounded Rectangle 10"/>
          <p:cNvSpPr/>
          <p:nvPr/>
        </p:nvSpPr>
        <p:spPr>
          <a:xfrm>
            <a:off x="4498848"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18304"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02</a:t>
            </a:r>
          </a:p>
        </p:txBody>
      </p:sp>
      <p:sp>
        <p:nvSpPr>
          <p:cNvPr id="13" name="TextBox 12"/>
          <p:cNvSpPr txBox="1"/>
          <p:nvPr/>
        </p:nvSpPr>
        <p:spPr>
          <a:xfrm>
            <a:off x="4718304"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Video, rasm va arxiv uchun obyekt saqlash.</a:t>
            </a:r>
          </a:p>
        </p:txBody>
      </p:sp>
      <p:sp>
        <p:nvSpPr>
          <p:cNvPr id="14" name="Rounded Rectangle 13"/>
          <p:cNvSpPr/>
          <p:nvPr/>
        </p:nvSpPr>
        <p:spPr>
          <a:xfrm>
            <a:off x="8357615" y="2075688"/>
            <a:ext cx="3611880" cy="3438144"/>
          </a:xfrm>
          <a:prstGeom prst="roundRect">
            <a:avLst>
              <a:gd name="adj" fmla="val 8000"/>
            </a:avLst>
          </a:prstGeom>
          <a:solidFill>
            <a:srgbClr val="EA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77072" y="2286000"/>
            <a:ext cx="3136392" cy="502920"/>
          </a:xfrm>
          <a:prstGeom prst="rect">
            <a:avLst/>
          </a:prstGeom>
          <a:noFill/>
        </p:spPr>
        <p:txBody>
          <a:bodyPr wrap="square" lIns="27432" rIns="27432" tIns="18288" bIns="0">
            <a:spAutoFit/>
          </a:bodyPr>
          <a:lstStyle/>
          <a:p>
            <a:pPr>
              <a:spcAft>
                <a:spcPts val="1000"/>
              </a:spcAft>
              <a:defRPr sz="3100" b="1">
                <a:solidFill>
                  <a:srgbClr val="1678D2"/>
                </a:solidFill>
                <a:latin typeface="DejaVu Sans"/>
              </a:defRPr>
            </a:pPr>
            <a:r>
              <a:t>03</a:t>
            </a:r>
          </a:p>
        </p:txBody>
      </p:sp>
      <p:sp>
        <p:nvSpPr>
          <p:cNvPr id="16" name="TextBox 15"/>
          <p:cNvSpPr txBox="1"/>
          <p:nvPr/>
        </p:nvSpPr>
        <p:spPr>
          <a:xfrm>
            <a:off x="8577072" y="3090672"/>
            <a:ext cx="3136392" cy="2103120"/>
          </a:xfrm>
          <a:prstGeom prst="rect">
            <a:avLst/>
          </a:prstGeom>
          <a:noFill/>
        </p:spPr>
        <p:txBody>
          <a:bodyPr wrap="square" lIns="27432" rIns="27432" tIns="18288" bIns="0">
            <a:spAutoFit/>
          </a:bodyPr>
          <a:lstStyle/>
          <a:p>
            <a:pPr>
              <a:spcAft>
                <a:spcPts val="1000"/>
              </a:spcAft>
              <a:defRPr sz="2500" b="1">
                <a:solidFill>
                  <a:srgbClr val="15365B"/>
                </a:solidFill>
                <a:latin typeface="DejaVu Sans"/>
              </a:defRPr>
            </a:pPr>
            <a:r>
              <a:t>Tarmoq ajratilishi + RBAC + managed identity.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78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56032"/>
            <a:ext cx="10058400" cy="274320"/>
          </a:xfrm>
          <a:prstGeom prst="rect">
            <a:avLst/>
          </a:prstGeom>
          <a:noFill/>
        </p:spPr>
        <p:txBody>
          <a:bodyPr wrap="square" lIns="27432" rIns="27432" tIns="18288" bIns="0">
            <a:spAutoFit/>
          </a:bodyPr>
          <a:lstStyle/>
          <a:p>
            <a:pPr>
              <a:spcAft>
                <a:spcPts val="1000"/>
              </a:spcAft>
              <a:defRPr sz="1100" b="1">
                <a:solidFill>
                  <a:srgbClr val="1678D2"/>
                </a:solidFill>
                <a:latin typeface="DejaVu Sans"/>
              </a:defRPr>
            </a:pPr>
            <a:r>
              <a:t>M13 · QO‘SHIMCHA O‘QISH</a:t>
            </a:r>
          </a:p>
        </p:txBody>
      </p:sp>
      <p:sp>
        <p:nvSpPr>
          <p:cNvPr id="4" name="TextBox 3"/>
          <p:cNvSpPr txBox="1"/>
          <p:nvPr/>
        </p:nvSpPr>
        <p:spPr>
          <a:xfrm>
            <a:off x="502920" y="777240"/>
            <a:ext cx="11155680" cy="960120"/>
          </a:xfrm>
          <a:prstGeom prst="rect">
            <a:avLst/>
          </a:prstGeom>
          <a:noFill/>
        </p:spPr>
        <p:txBody>
          <a:bodyPr wrap="square" lIns="27432" rIns="27432" tIns="18288" bIns="0">
            <a:spAutoFit/>
          </a:bodyPr>
          <a:lstStyle/>
          <a:p>
            <a:pPr>
              <a:spcAft>
                <a:spcPts val="1000"/>
              </a:spcAft>
              <a:defRPr sz="2900" b="1">
                <a:solidFill>
                  <a:srgbClr val="15365B"/>
                </a:solidFill>
                <a:latin typeface="DejaVu Sans"/>
              </a:defRPr>
            </a:pPr>
            <a:r>
              <a:t>Manbalar va terminlar</a:t>
            </a:r>
          </a:p>
        </p:txBody>
      </p:sp>
      <p:sp>
        <p:nvSpPr>
          <p:cNvPr id="5" name="Rectangle 4"/>
          <p:cNvSpPr/>
          <p:nvPr/>
        </p:nvSpPr>
        <p:spPr>
          <a:xfrm>
            <a:off x="548640" y="6428232"/>
            <a:ext cx="11064240" cy="10972"/>
          </a:xfrm>
          <a:prstGeom prst="rect">
            <a:avLst/>
          </a:prstGeom>
          <a:solidFill>
            <a:srgbClr val="CEE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144000" cy="182880"/>
          </a:xfrm>
          <a:prstGeom prst="rect">
            <a:avLst/>
          </a:prstGeom>
          <a:noFill/>
        </p:spPr>
        <p:txBody>
          <a:bodyPr wrap="square" lIns="27432" rIns="27432" tIns="18288" bIns="0">
            <a:spAutoFit/>
          </a:bodyPr>
          <a:lstStyle/>
          <a:p>
            <a:pPr>
              <a:spcAft>
                <a:spcPts val="1000"/>
              </a:spcAft>
              <a:defRPr sz="900" b="0">
                <a:solidFill>
                  <a:srgbClr val="53687D"/>
                </a:solidFill>
                <a:latin typeface="DejaVu Sans"/>
              </a:defRPr>
            </a:pPr>
            <a:r>
              <a:t>BTST206  •  BULUT TEXNOLOGIYALARI VA SERVISLAR  •  2027–2028</a:t>
            </a:r>
          </a:p>
        </p:txBody>
      </p:sp>
      <p:sp>
        <p:nvSpPr>
          <p:cNvPr id="7" name="TextBox 6"/>
          <p:cNvSpPr txBox="1"/>
          <p:nvPr/>
        </p:nvSpPr>
        <p:spPr>
          <a:xfrm>
            <a:off x="10607040" y="6473952"/>
            <a:ext cx="1005840" cy="274320"/>
          </a:xfrm>
          <a:prstGeom prst="rect">
            <a:avLst/>
          </a:prstGeom>
          <a:noFill/>
        </p:spPr>
        <p:txBody>
          <a:bodyPr wrap="square" lIns="27432" rIns="27432" tIns="18288" bIns="0">
            <a:spAutoFit/>
          </a:bodyPr>
          <a:lstStyle/>
          <a:p>
            <a:pPr>
              <a:spcAft>
                <a:spcPts val="1000"/>
              </a:spcAft>
              <a:defRPr sz="1200" b="1">
                <a:solidFill>
                  <a:srgbClr val="1678D2"/>
                </a:solidFill>
                <a:latin typeface="DejaVu Sans"/>
              </a:defRPr>
            </a:pPr>
            <a:r>
              <a:t>13</a:t>
            </a:r>
          </a:p>
        </p:txBody>
      </p:sp>
      <p:sp>
        <p:nvSpPr>
          <p:cNvPr id="8" name="TextBox 7"/>
          <p:cNvSpPr txBox="1"/>
          <p:nvPr/>
        </p:nvSpPr>
        <p:spPr>
          <a:xfrm>
            <a:off x="685800" y="1920240"/>
            <a:ext cx="10789920" cy="822960"/>
          </a:xfrm>
          <a:prstGeom prst="rect">
            <a:avLst/>
          </a:prstGeom>
          <a:noFill/>
        </p:spPr>
        <p:txBody>
          <a:bodyPr wrap="square" lIns="27432" rIns="27432" tIns="18288" bIns="0">
            <a:spAutoFit/>
          </a:bodyPr>
          <a:lstStyle/>
          <a:p>
            <a:pPr>
              <a:spcAft>
                <a:spcPts val="1000"/>
              </a:spcAft>
              <a:defRPr sz="2100" b="1">
                <a:solidFill>
                  <a:srgbClr val="15365B"/>
                </a:solidFill>
                <a:latin typeface="DejaVu Sans"/>
              </a:defRPr>
            </a:pPr>
            <a:r>
              <a:t>Asos: BTST206 sillabusi, 2027–2028. M1–M18 ma’ruza bo‘limi.</a:t>
            </a:r>
          </a:p>
        </p:txBody>
      </p:sp>
      <p:sp>
        <p:nvSpPr>
          <p:cNvPr id="9" name="TextBox 8"/>
          <p:cNvSpPr txBox="1"/>
          <p:nvPr/>
        </p:nvSpPr>
        <p:spPr>
          <a:xfrm>
            <a:off x="713232" y="2926080"/>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https://learn.microsoft.com/azure/azure-resource-manager/management/overview</a:t>
            </a:r>
          </a:p>
        </p:txBody>
      </p:sp>
      <p:sp>
        <p:nvSpPr>
          <p:cNvPr id="10" name="TextBox 9"/>
          <p:cNvSpPr txBox="1"/>
          <p:nvPr/>
        </p:nvSpPr>
        <p:spPr>
          <a:xfrm>
            <a:off x="713232" y="3456432"/>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https://learn.microsoft.com/azure/azure-sql/database/</a:t>
            </a:r>
          </a:p>
        </p:txBody>
      </p:sp>
      <p:sp>
        <p:nvSpPr>
          <p:cNvPr id="11" name="TextBox 10"/>
          <p:cNvSpPr txBox="1"/>
          <p:nvPr/>
        </p:nvSpPr>
        <p:spPr>
          <a:xfrm>
            <a:off x="713232" y="3986784"/>
            <a:ext cx="10744200" cy="512064"/>
          </a:xfrm>
          <a:prstGeom prst="rect">
            <a:avLst/>
          </a:prstGeom>
          <a:noFill/>
        </p:spPr>
        <p:txBody>
          <a:bodyPr wrap="square" lIns="27432" rIns="27432" tIns="18288" bIns="0">
            <a:spAutoFit/>
          </a:bodyPr>
          <a:lstStyle/>
          <a:p>
            <a:pPr>
              <a:spcAft>
                <a:spcPts val="1000"/>
              </a:spcAft>
              <a:defRPr sz="1600" b="0">
                <a:solidFill>
                  <a:srgbClr val="1678D2"/>
                </a:solidFill>
                <a:latin typeface="DejaVu Sans"/>
              </a:defRPr>
            </a:pPr>
            <a:r>
              <a:t>https://learn.microsoft.com/azure/azure-functions/</a:t>
            </a:r>
          </a:p>
        </p:txBody>
      </p:sp>
      <p:sp>
        <p:nvSpPr>
          <p:cNvPr id="12" name="TextBox 11"/>
          <p:cNvSpPr txBox="1"/>
          <p:nvPr/>
        </p:nvSpPr>
        <p:spPr>
          <a:xfrm>
            <a:off x="713232" y="5650992"/>
            <a:ext cx="10789920" cy="502920"/>
          </a:xfrm>
          <a:prstGeom prst="rect">
            <a:avLst/>
          </a:prstGeom>
          <a:noFill/>
        </p:spPr>
        <p:txBody>
          <a:bodyPr wrap="square" lIns="27432" rIns="27432" tIns="18288" bIns="0">
            <a:spAutoFit/>
          </a:bodyPr>
          <a:lstStyle/>
          <a:p>
            <a:pPr>
              <a:spcAft>
                <a:spcPts val="1000"/>
              </a:spcAft>
              <a:defRPr sz="1600" b="0">
                <a:solidFill>
                  <a:srgbClr val="53687D"/>
                </a:solidFill>
                <a:latin typeface="DejaVu Sans"/>
              </a:defRPr>
            </a:pPr>
            <a:r>
              <a:t>Narx, limit va xizmat nomlarining amaldagi holati rasmiy hujjatlarda tekshiriladi.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