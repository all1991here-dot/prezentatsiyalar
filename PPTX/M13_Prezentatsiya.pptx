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«Microsoft Azure bulut platformasi» mavzusiga bag‘ishlanadi. Mavzuni murakkab atamalardan emas, kundalik ehtiyojdan boshlaymiz. Universitet Microsoft xizmatlaridan foydalanadi va portalni Azure da joylashtirmoqchi. Identifikatsiya, loyiha resurslari va xarajatlarni bir-biriga bog‘langan holda boshqarish muhim.</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azure boshqaruv iyerarxiyasi tushuntiriladi. 2-bo‘limda azure virtual machines tushuntiriladi. 3-bo‘limda blob storage tushuntiriladi. 4-bo‘limda azure sql database tushuntiriladi. 5-bo‘limda virtual network va identifikatsiya tushuntiriladi. 6-bo‘limda functions va azure monitor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Microsoft Entra tenant tashkilotning identifikatsiya chegarasini ifodalaydi. Subscription hisob-kitob va boshqaruv doirasidir. Resource group esa tegishli resurslarni mantiqiy guruhlaydi. Bitta guruhdagi resurslar turli hududlarda bo‘lishi mumkin.</a:t>
            </a:r>
          </a:p>
          <a:p/>
          <a:p>
            <a:r>
              <a:t>Loyiha uchun resurs guruhi yaratiladi. Unga teglar va ruxsatlar beriladi. Policy va RBAC yordamida tashkilot qoidalari mos ko‘lamda qo‘llanadi.</a:t>
            </a:r>
          </a:p>
          <a:p/>
          <a:p>
            <a:r>
              <a:t>Universitet misolida buni quyidagicha tasavvur qilamiz. Portalning VM, virtual tarmoq va kuzatuv resurslari bitta loyiha guruhi bilan boshqariladi. Bu misolda texnik atama real vazifa bilan bog‘lanadi: resursning nomini emas, nima uchun tanlanganini tushunish muhim.</a:t>
            </a:r>
          </a:p>
          <a:p/>
          <a:p>
            <a:r>
              <a:t>E’tibor beradigan chegara ham bor. Resource group xavfsizlik devori yoki alohida jismoniy ma’lumotlar markazi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Virtual Machines Windows yoki Linux asosidagi virtual serverlarni beradi. Hajm CPU va xotirani, disk turi esa saqlash xususiyatini belgilaydi. Availability Zone lar nosozlikni ajratishga yordam beradi.</a:t>
            </a:r>
          </a:p>
          <a:p/>
          <a:p>
            <a:r>
              <a:t>VM virtual tarmoqqa ulanadi, kirish Network Security Group bilan cheklanadi. Operatsion tizim yangilanishi va ilova konfiguratsiyasi boshqariladi. Masshtablash uchun VM Scale Sets ishlatilishi mumkin.</a:t>
            </a:r>
          </a:p>
          <a:p/>
          <a:p>
            <a:r>
              <a:t>Universitet misolida buni quyidagicha tasavvur qilamiz. Eski universitet dasturi maxsus Linux muhiti bilan Azure VM da ishga tushiriladi. Bu misolda texnik atama real vazifa bilan bog‘lanadi: resursning nomini emas, nima uchun tanlanganini tushunish muhim.</a:t>
            </a:r>
          </a:p>
          <a:p/>
          <a:p>
            <a:r>
              <a:t>E’tibor beradigan chegara ham bor. Oddiy bitta VM yaratish yuqori mavjudlikni ta’minlamaydi.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Blob Storage strukturasi qat’iy bo‘lmagan ma’lumot uchun xizmat qiladi. Storage account ichida container lar va blob lar joylashadi. Blob container atamasi Docker konteyneridan boshqa ma’noga ega.</a:t>
            </a:r>
          </a:p>
          <a:p/>
          <a:p>
            <a:r>
              <a:t>Ilova API orqali obyekt yozadi yoki o‘qiydi. Kirish Microsoft Entra identifikatori, boshqariladigan identifikator yoki cheklangan muddatli SAS orqali tashkil etilishi mumkin.</a:t>
            </a:r>
          </a:p>
          <a:p/>
          <a:p>
            <a:r>
              <a:t>Universitet misolida buni quyidagicha tasavvur qilamiz. Ma’ruza videolari Blob Storage da saqlanib, talabalarga cheklangan muddatli kirish bilan beriladi. Bu misolda texnik atama real vazifa bilan bog‘lanadi: resursning nomini emas, nima uchun tanlanganini tushunish muhim.</a:t>
            </a:r>
          </a:p>
          <a:p/>
          <a:p>
            <a:r>
              <a:t>E’tibor beradigan chegara ham bor. SAS havolasi uni olgan kishiga belgilangan amalni berishi mumkin; uni keraksiz keng va uzoq muddatli qilish xavfli.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SQL Database SQL Server oilasiga tayangan boshqariladigan relatsion xizmatdir. Yangilanish va infratuzilma boshqaruvining katta qismi provayderda bo‘ladi. Sxema, indeks va ma’lumot xavfsizligi esa loyiha tomonidan boshqariladi.</a:t>
            </a:r>
          </a:p>
          <a:p/>
          <a:p>
            <a:r>
              <a:t>Hisoblash darajasi va ulanish siyosati tanlanadi. Ilova xavfsiz ulanishdan foydalanadi. Zaxiralash va tiklash imkoniyatlari talablarga mos tekshiriladi.</a:t>
            </a:r>
          </a:p>
          <a:p/>
          <a:p>
            <a:r>
              <a:t>Universitet misolida buni quyidagicha tasavvur qilamiz. Talabalar ro‘yxati va fanlar jadvali Azure SQL da saqlanadi; portal so‘rovlarni parametr bilan yuboradi. Bu misolda texnik atama real vazifa bilan bog‘lanadi: resursning nomini emas, nima uchun tanlanganini tushunish muhim.</a:t>
            </a:r>
          </a:p>
          <a:p/>
          <a:p>
            <a:r>
              <a:t>E’tibor beradigan chegara ham bor. SQL Database barcha server darajasidagi eski imkoniyatlarga aynan teng emas; moslik oldindan tekshiriladi.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Virtual Network Azure resurslari uchun mantiqiy tarmoq muhitini beradi. NSG tarmoq trafikini filtrlashga, RBAC esa Azure resurslari ustidagi amallarni cheklashga xizmat qiladi. Managed identity ilovaga saqlangan parolsiz identifikator beradi.</a:t>
            </a:r>
          </a:p>
          <a:p/>
          <a:p>
            <a:r>
              <a:t>Ilova identifikatoriga Blob dagi kerakli amal roli beriladi. Baza uchun private kirish tashkil qilinadi. Administratorlar ko‘p omilli tasdiqlash va eng kam vakolat bilan ishlaydi.</a:t>
            </a:r>
          </a:p>
          <a:p/>
          <a:p>
            <a:r>
              <a:t>Universitet misolida buni quyidagicha tasavvur qilamiz. Portal faylni o‘qish uchun kod ichida umumiy hisob kalitini olib yurmaydi, balki o‘z identifikatori bilan kiradi. Bu misolda texnik atama real vazifa bilan bog‘lanadi: resursning nomini emas, nima uchun tanlanganini tushunish muhim.</a:t>
            </a:r>
          </a:p>
          <a:p/>
          <a:p>
            <a:r>
              <a:t>E’tibor beradigan chegara ham bor. NSG qoidasi bilan RBAC rolini almashtirib bo‘lmaydi: ular turli qatlamni boshqaradi.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Azure Functions serverless funksiyalarni ishga tushiradi. Trigger bajarilishni boshlaydi, binding esa ayrim xizmatlar bilan bog‘lanishni soddalashtiradi. Azure Monitor va Application Insights metrika, log va ilova kuzatuviga yordam beradi.</a:t>
            </a:r>
          </a:p>
          <a:p/>
          <a:p>
            <a:r>
              <a:t>Navbatga xabar tushganda funksiya ishga tushadi. U ishni bajarib natijani saqlaydi. Kechikish va xatolar kuzatiladi, ogohlantirish mas’ul jamoaga yetkaziladi.</a:t>
            </a:r>
          </a:p>
          <a:p/>
          <a:p>
            <a:r>
              <a:t>Universitet misolida buni quyidagicha tasavvur qilamiz. Talabaga yuboriladigan xabarnoma navbatdan olinib, asosiy portal javobini kutdirmasdan bajariladi. Bu misolda texnik atama real vazifa bilan bog‘lanadi: resursning nomini emas, nima uchun tanlanganini tushunish muhim.</a:t>
            </a:r>
          </a:p>
          <a:p/>
          <a:p>
            <a:r>
              <a:t>E’tibor beradigan chegara ham bor. Bajarilish muddati va masshtablash xususiyatlari hosting rejasiga bog‘liq; barcha rejalar bir xil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«Entra ID / IAM» bilan «VM / Functions» o‘rtasida sxemada bog‘lanish ko‘rsatilgan. «VM / Functions» bilan «Azure SQL» o‘rtasida sxemada bog‘lanish ko‘rsatilgan. «VM / Functions» bilan «Blob Storage» o‘rtasida sxemada bog‘lanish ko‘rsatilgan. «VM / Functions» bilan «Azure Monitor» o‘rtasida sxemada bog‘lanish ko‘rsatilgan. «Azure SQL» bilan «Azure Monitor» o‘rtasida sxemada bog‘lanish ko‘rsatilgan.</a:t>
            </a:r>
          </a:p>
          <a:p/>
          <a:p>
            <a:r>
              <a:t>Bu bog‘lanishlarni barcha xizmatlarda bir xil buyruq yoki bir xil fizik kabel deb tushunmaymiz. Ayrim o‘qlar bajarilish ketma-ketligini, ayrimlari resursni boshqarish yoki unga kirish aloqasini anglatadi. VM virtual tarmoqqa ulanadi, kirish Network Security Group bilan cheklanadi. Operatsion tizim yangilanishi va ilova konfiguratsiyasi boshqariladi. Masshtablash uchun VM Scale Sets ishlatilishi mumkin.</a:t>
            </a:r>
          </a:p>
          <a:p/>
          <a:p>
            <a:r>
              <a:t>Sxemaning asosiy foydasi mas’uliyatlarni ajratib ko‘rsatishdir. Portal faylni o‘qish uchun kod ichida umumiy hisob kalitini olib yurmaydi, balki o‘z identifikatori bilan kiradi.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Universitet Microsoft xizmatlaridan foydalanadi va portalni Azure da joylashtirmoqchi. Identifikatsiya, loyiha resurslari va xarajatlarni bir-biriga bog‘langan holda boshqarish muhim.</a:t>
            </a:r>
          </a:p>
          <a:p/>
          <a:p>
            <a:r>
              <a:t>Avval ehtiyoj aniqlanadi: kim tizimdan foydalanadi, qaysi ma’lumot bilan ishlanadi va qanday natija kutiladi. Portalning VM, virtual tarmoq va kuzatuv resurslari bitta loyiha guruhi bilan boshqariladi. Keyin texnik qismlar shu talabga mos tanlanadi. Ma’ruza videolari Blob Storage da saqlanib, talabalarga cheklangan muddatli kirish bilan beriladi.</a:t>
            </a:r>
          </a:p>
          <a:p/>
          <a:p>
            <a:r>
              <a:t>Ishlash jarayonida faqat muvaffaqiyatli holat emas, xato va cheklovlar ham hisobga olinadi. SQL Database barcha server darajasidagi eski imkoniyatlarga aynan teng emas; moslik oldindan tekshiriladi. Shu sababli jamoa talabni, ruxsatni va nosozlikdagi xatti-harakatni oldindan belgilaydi. Talabaga yuboriladigan xabarnoma navbatdan olinib, asosiy portal javobini kutdirmasdan bajariladi.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Resource group xavfsizlik devori yoki alohida jismoniy ma’lumotlar markazi emas. To‘g‘ri talqin quyidagicha: Microsoft Entra tenant tashkilotning identifikatsiya chegarasini ifodalaydi. Subscription hisob-kitob va boshqaruv doirasidir. Resource group esa tegishli resurslarni mantiqiy guruhlaydi. Bitta guruhdagi resurslar turli hududlarda bo‘lishi mumkin.</a:t>
            </a:r>
          </a:p>
          <a:p/>
          <a:p>
            <a:r>
              <a:t>2. SQL Database barcha server darajasidagi eski imkoniyatlarga aynan teng emas; moslik oldindan tekshiriladi. To‘g‘ri talqin quyidagicha: Azure SQL Database SQL Server oilasiga tayangan boshqariladigan relatsion xizmatdir. Yangilanish va infratuzilma boshqaruvining katta qismi provayderda bo‘ladi. Sxema, indeks va ma’lumot xavfsizligi esa loyiha tomonidan boshqariladi.</a:t>
            </a:r>
          </a:p>
          <a:p/>
          <a:p>
            <a:r>
              <a:t>3. Bajarilish muddati va masshtablash xususiyatlari hosting rejasiga bog‘liq; barcha rejalar bir xil emas. To‘g‘ri talqin quyidagicha: Azure Functions serverless funksiyalarni ishga tushiradi. Trigger bajarilishni boshlaydi, binding esa ayrim xizmatlar bilan bog‘lanishni soddalashtiradi. Azure Monitor va Application Insights metrika, log va ilova kuzatuviga yordam beradi.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Boshqaruv iyerarxiyasi va asosiy xizmatlar — mavzuning umumiy mazmunini ifodalaydi.</a:t>
            </a:r>
          </a:p>
          <a:p/>
          <a:p>
            <a:r>
              <a:t>Asosiy tayanch fikr: Tenant → subscription → resource group → resource. Loyiha uchun resurs guruhi yaratiladi. Unga teglar va ruxsatlar beriladi. Policy va RBAC yordamida tashkilot qoidalari mos ko‘lamda qo‘llanadi.</a:t>
            </a:r>
          </a:p>
          <a:p/>
          <a:p>
            <a:r>
              <a:t>Asosiy tayanch fikr: Video, rasm va arxiv uchun obyekt saqlash. Ilova API orqali obyekt yozadi yoki o‘qiydi. Kirish Microsoft Entra identifikatori, boshqariladigan identifikator yoki cheklangan muddatli SAS orqali tashkil etilishi mumkin.</a:t>
            </a:r>
          </a:p>
          <a:p/>
          <a:p>
            <a:r>
              <a:t>Asosiy tayanch fikr: Tarmoq ajratilishi + RBAC + managed identity. Ilova identifikatoriga Blob dagi kerakli amal roli beriladi. Baza uchun private kirish tashkil qilinadi. Administratorlar ko‘p omilli tasdiqlash va eng kam vakolat bilan ishlaydi.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C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595360" y="822960"/>
            <a:ext cx="2377440" cy="2377440"/>
          </a:xfrm>
          <a:prstGeom prst="roundRect">
            <a:avLst>
              <a:gd name="adj" fmla="val 8000"/>
            </a:avLst>
          </a:prstGeom>
          <a:solidFill>
            <a:srgbClr val="D9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498079" y="3108960"/>
            <a:ext cx="3566160" cy="2194560"/>
          </a:xfrm>
          <a:prstGeom prst="roundRect">
            <a:avLst>
              <a:gd name="adj" fmla="val 8000"/>
            </a:avLst>
          </a:prstGeom>
          <a:solidFill>
            <a:srgbClr val="E3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022592" y="1490472"/>
            <a:ext cx="4160520" cy="3474720"/>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949440" y="1417320"/>
            <a:ext cx="4160520" cy="3474720"/>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949440" y="1417320"/>
            <a:ext cx="4160520"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104888" y="1563624"/>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296912" y="1563624"/>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488936" y="1563624"/>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19" y="1490472"/>
            <a:ext cx="3154679"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MICROSOFT AZURE</a:t>
            </a:r>
          </a:p>
        </p:txBody>
      </p:sp>
      <p:pic>
        <p:nvPicPr>
          <p:cNvPr id="12" name="Picture 11" descr="M13_microsoft_azure.png"/>
          <p:cNvPicPr>
            <a:picLocks noChangeAspect="1"/>
          </p:cNvPicPr>
          <p:nvPr/>
        </p:nvPicPr>
        <p:blipFill>
          <a:blip r:embed="rId2"/>
          <a:stretch>
            <a:fillRect/>
          </a:stretch>
        </p:blipFill>
        <p:spPr>
          <a:xfrm>
            <a:off x="7543800" y="2640787"/>
            <a:ext cx="2926080" cy="899769"/>
          </a:xfrm>
          <a:prstGeom prst="rect">
            <a:avLst/>
          </a:prstGeom>
        </p:spPr>
      </p:pic>
      <p:sp>
        <p:nvSpPr>
          <p:cNvPr id="13" name="TextBox 12"/>
          <p:cNvSpPr txBox="1"/>
          <p:nvPr/>
        </p:nvSpPr>
        <p:spPr>
          <a:xfrm>
            <a:off x="685800" y="777240"/>
            <a:ext cx="5486400" cy="411480"/>
          </a:xfrm>
          <a:prstGeom prst="rect">
            <a:avLst/>
          </a:prstGeom>
          <a:noFill/>
        </p:spPr>
        <p:txBody>
          <a:bodyPr wrap="square" lIns="27432" rIns="27432" tIns="18288" bIns="0">
            <a:spAutoFit/>
          </a:bodyPr>
          <a:lstStyle/>
          <a:p>
            <a:pPr>
              <a:spcAft>
                <a:spcPts val="800"/>
              </a:spcAft>
              <a:defRPr sz="1500" b="1">
                <a:solidFill>
                  <a:srgbClr val="0078D4"/>
                </a:solidFill>
                <a:latin typeface="DejaVu Sans"/>
              </a:defRPr>
            </a:pPr>
            <a:r>
              <a:t>13  /  BULUT PLATFORMASI</a:t>
            </a:r>
          </a:p>
        </p:txBody>
      </p:sp>
      <p:sp>
        <p:nvSpPr>
          <p:cNvPr id="14" name="TextBox 13"/>
          <p:cNvSpPr txBox="1"/>
          <p:nvPr/>
        </p:nvSpPr>
        <p:spPr>
          <a:xfrm>
            <a:off x="685800" y="1609344"/>
            <a:ext cx="6035040" cy="2377440"/>
          </a:xfrm>
          <a:prstGeom prst="rect">
            <a:avLst/>
          </a:prstGeom>
          <a:noFill/>
        </p:spPr>
        <p:txBody>
          <a:bodyPr wrap="square" lIns="27432" rIns="27432" tIns="18288" bIns="0">
            <a:spAutoFit/>
          </a:bodyPr>
          <a:lstStyle/>
          <a:p>
            <a:pPr>
              <a:spcAft>
                <a:spcPts val="800"/>
              </a:spcAft>
              <a:defRPr sz="3800" b="1">
                <a:solidFill>
                  <a:srgbClr val="153D61"/>
                </a:solidFill>
                <a:latin typeface="DejaVu Sans"/>
              </a:defRPr>
            </a:pPr>
            <a:r>
              <a:t>Microsoft Azure</a:t>
            </a:r>
          </a:p>
          <a:p>
            <a:pPr>
              <a:spcAft>
                <a:spcPts val="800"/>
              </a:spcAft>
              <a:defRPr sz="3800" b="1">
                <a:solidFill>
                  <a:srgbClr val="153D61"/>
                </a:solidFill>
                <a:latin typeface="DejaVu Sans"/>
              </a:defRPr>
            </a:pPr>
            <a:r>
              <a:t>bulut platformasi</a:t>
            </a:r>
          </a:p>
        </p:txBody>
      </p:sp>
      <p:sp>
        <p:nvSpPr>
          <p:cNvPr id="15" name="TextBox 14"/>
          <p:cNvSpPr txBox="1"/>
          <p:nvPr/>
        </p:nvSpPr>
        <p:spPr>
          <a:xfrm>
            <a:off x="731520" y="4251960"/>
            <a:ext cx="5577840" cy="960120"/>
          </a:xfrm>
          <a:prstGeom prst="rect">
            <a:avLst/>
          </a:prstGeom>
          <a:noFill/>
        </p:spPr>
        <p:txBody>
          <a:bodyPr wrap="square" lIns="27432" rIns="27432" tIns="18288" bIns="0">
            <a:spAutoFit/>
          </a:bodyPr>
          <a:lstStyle/>
          <a:p>
            <a:pPr>
              <a:spcAft>
                <a:spcPts val="800"/>
              </a:spcAft>
              <a:defRPr sz="2400" b="0">
                <a:solidFill>
                  <a:srgbClr val="153D61"/>
                </a:solidFill>
                <a:latin typeface="DejaVu Sans"/>
              </a:defRPr>
            </a:pPr>
            <a:r>
              <a:t>Boshqaruv iyerarxiyasi va asosiy xizmatlar</a:t>
            </a:r>
          </a:p>
        </p:txBody>
      </p:sp>
      <p:sp>
        <p:nvSpPr>
          <p:cNvPr id="16" name="TextBox 15"/>
          <p:cNvSpPr txBox="1"/>
          <p:nvPr/>
        </p:nvSpPr>
        <p:spPr>
          <a:xfrm>
            <a:off x="731520" y="5715000"/>
            <a:ext cx="9144000" cy="411480"/>
          </a:xfrm>
          <a:prstGeom prst="rect">
            <a:avLst/>
          </a:prstGeom>
          <a:noFill/>
        </p:spPr>
        <p:txBody>
          <a:bodyPr wrap="square" lIns="27432" rIns="27432" tIns="18288" bIns="0">
            <a:spAutoFit/>
          </a:bodyPr>
          <a:lstStyle/>
          <a:p>
            <a:pPr>
              <a:spcAft>
                <a:spcPts val="800"/>
              </a:spcAft>
              <a:defRPr sz="1800" b="0">
                <a:solidFill>
                  <a:srgbClr val="0078D4"/>
                </a:solidFill>
                <a:latin typeface="DejaVu Sans"/>
              </a:defRPr>
            </a:pPr>
            <a:r>
              <a:t>Identifikatsiya · hisoblash · saqlash · kuzatuv</a:t>
            </a:r>
          </a:p>
        </p:txBody>
      </p:sp>
      <p:sp>
        <p:nvSpPr>
          <p:cNvPr id="17" name="TextBox 1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18" name="TextBox 1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Azure bilan ishlashning olti tayanchi</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02 / 13</a:t>
            </a:r>
          </a:p>
        </p:txBody>
      </p:sp>
      <p:sp>
        <p:nvSpPr>
          <p:cNvPr id="9" name="Rounded Rectangle 8"/>
          <p:cNvSpPr/>
          <p:nvPr/>
        </p:nvSpPr>
        <p:spPr>
          <a:xfrm>
            <a:off x="804672" y="1764792"/>
            <a:ext cx="3456432" cy="1865376"/>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691640"/>
            <a:ext cx="3456432" cy="1865376"/>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91640"/>
            <a:ext cx="3456432"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86968" y="1837944"/>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 y="1837944"/>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71016" y="1837944"/>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1764792"/>
            <a:ext cx="2450591"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01  /  AZURE</a:t>
            </a:r>
          </a:p>
        </p:txBody>
      </p:sp>
      <p:sp>
        <p:nvSpPr>
          <p:cNvPr id="16" name="TextBox 15"/>
          <p:cNvSpPr txBox="1"/>
          <p:nvPr/>
        </p:nvSpPr>
        <p:spPr>
          <a:xfrm>
            <a:off x="896112" y="2331720"/>
            <a:ext cx="3127248" cy="1033271"/>
          </a:xfrm>
          <a:prstGeom prst="rect">
            <a:avLst/>
          </a:prstGeom>
          <a:noFill/>
        </p:spPr>
        <p:txBody>
          <a:bodyPr wrap="square" lIns="27432" rIns="27432" tIns="18288" bIns="0">
            <a:spAutoFit/>
          </a:bodyPr>
          <a:lstStyle/>
          <a:p>
            <a:pPr>
              <a:spcAft>
                <a:spcPts val="800"/>
              </a:spcAft>
              <a:defRPr sz="2200" b="1">
                <a:solidFill>
                  <a:srgbClr val="153D61"/>
                </a:solidFill>
                <a:latin typeface="DejaVu Sans"/>
              </a:defRPr>
            </a:pPr>
            <a:r>
              <a:t>Azure boshqaruv iyerarxiyasi</a:t>
            </a:r>
          </a:p>
        </p:txBody>
      </p:sp>
      <p:sp>
        <p:nvSpPr>
          <p:cNvPr id="17" name="Rounded Rectangle 16"/>
          <p:cNvSpPr/>
          <p:nvPr/>
        </p:nvSpPr>
        <p:spPr>
          <a:xfrm>
            <a:off x="4535424" y="1764792"/>
            <a:ext cx="3456432" cy="1865376"/>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62272" y="1691640"/>
            <a:ext cx="3456432" cy="1865376"/>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62272" y="1691640"/>
            <a:ext cx="3456432"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617720" y="1837944"/>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9744" y="1837944"/>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001768" y="1837944"/>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30952" y="1764792"/>
            <a:ext cx="2450591"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02  /  AZURE</a:t>
            </a:r>
          </a:p>
        </p:txBody>
      </p:sp>
      <p:sp>
        <p:nvSpPr>
          <p:cNvPr id="24" name="TextBox 23"/>
          <p:cNvSpPr txBox="1"/>
          <p:nvPr/>
        </p:nvSpPr>
        <p:spPr>
          <a:xfrm>
            <a:off x="4626864" y="2331720"/>
            <a:ext cx="3127248" cy="1033271"/>
          </a:xfrm>
          <a:prstGeom prst="rect">
            <a:avLst/>
          </a:prstGeom>
          <a:noFill/>
        </p:spPr>
        <p:txBody>
          <a:bodyPr wrap="square" lIns="27432" rIns="27432" tIns="18288" bIns="0">
            <a:spAutoFit/>
          </a:bodyPr>
          <a:lstStyle/>
          <a:p>
            <a:pPr>
              <a:spcAft>
                <a:spcPts val="800"/>
              </a:spcAft>
              <a:defRPr sz="2200" b="1">
                <a:solidFill>
                  <a:srgbClr val="153D61"/>
                </a:solidFill>
                <a:latin typeface="DejaVu Sans"/>
              </a:defRPr>
            </a:pPr>
            <a:r>
              <a:t>Azure Virtual Machines</a:t>
            </a:r>
          </a:p>
        </p:txBody>
      </p:sp>
      <p:sp>
        <p:nvSpPr>
          <p:cNvPr id="25" name="Rounded Rectangle 24"/>
          <p:cNvSpPr/>
          <p:nvPr/>
        </p:nvSpPr>
        <p:spPr>
          <a:xfrm>
            <a:off x="8266176" y="1764792"/>
            <a:ext cx="3456432" cy="1865376"/>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93024" y="1691640"/>
            <a:ext cx="3456432" cy="1865376"/>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93024" y="1691640"/>
            <a:ext cx="3456432"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348472" y="1837944"/>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540496" y="1837944"/>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732520" y="1837944"/>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61704" y="1764792"/>
            <a:ext cx="2450591"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03  /  AZURE</a:t>
            </a:r>
          </a:p>
        </p:txBody>
      </p:sp>
      <p:sp>
        <p:nvSpPr>
          <p:cNvPr id="32" name="TextBox 31"/>
          <p:cNvSpPr txBox="1"/>
          <p:nvPr/>
        </p:nvSpPr>
        <p:spPr>
          <a:xfrm>
            <a:off x="8357616" y="2331720"/>
            <a:ext cx="3127248" cy="1033271"/>
          </a:xfrm>
          <a:prstGeom prst="rect">
            <a:avLst/>
          </a:prstGeom>
          <a:noFill/>
        </p:spPr>
        <p:txBody>
          <a:bodyPr wrap="square" lIns="27432" rIns="27432" tIns="18288" bIns="0">
            <a:spAutoFit/>
          </a:bodyPr>
          <a:lstStyle/>
          <a:p>
            <a:pPr>
              <a:spcAft>
                <a:spcPts val="800"/>
              </a:spcAft>
              <a:defRPr sz="2200" b="1">
                <a:solidFill>
                  <a:srgbClr val="153D61"/>
                </a:solidFill>
                <a:latin typeface="DejaVu Sans"/>
              </a:defRPr>
            </a:pPr>
            <a:r>
              <a:t>Blob Storage</a:t>
            </a:r>
          </a:p>
        </p:txBody>
      </p:sp>
      <p:sp>
        <p:nvSpPr>
          <p:cNvPr id="33" name="Rounded Rectangle 32"/>
          <p:cNvSpPr/>
          <p:nvPr/>
        </p:nvSpPr>
        <p:spPr>
          <a:xfrm>
            <a:off x="804672" y="3931920"/>
            <a:ext cx="3456432" cy="1865376"/>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731520" y="3858768"/>
            <a:ext cx="3456432" cy="1865376"/>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731520" y="3858768"/>
            <a:ext cx="3456432"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6968" y="4005072"/>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78992" y="4005072"/>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271016" y="4005072"/>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00200" y="3931920"/>
            <a:ext cx="2450591"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04  /  AZURE</a:t>
            </a:r>
          </a:p>
        </p:txBody>
      </p:sp>
      <p:sp>
        <p:nvSpPr>
          <p:cNvPr id="40" name="TextBox 39"/>
          <p:cNvSpPr txBox="1"/>
          <p:nvPr/>
        </p:nvSpPr>
        <p:spPr>
          <a:xfrm>
            <a:off x="896112" y="4498848"/>
            <a:ext cx="3127248" cy="1033271"/>
          </a:xfrm>
          <a:prstGeom prst="rect">
            <a:avLst/>
          </a:prstGeom>
          <a:noFill/>
        </p:spPr>
        <p:txBody>
          <a:bodyPr wrap="square" lIns="27432" rIns="27432" tIns="18288" bIns="0">
            <a:spAutoFit/>
          </a:bodyPr>
          <a:lstStyle/>
          <a:p>
            <a:pPr>
              <a:spcAft>
                <a:spcPts val="800"/>
              </a:spcAft>
              <a:defRPr sz="2200" b="1">
                <a:solidFill>
                  <a:srgbClr val="153D61"/>
                </a:solidFill>
                <a:latin typeface="DejaVu Sans"/>
              </a:defRPr>
            </a:pPr>
            <a:r>
              <a:t>Azure SQL Database</a:t>
            </a:r>
          </a:p>
        </p:txBody>
      </p:sp>
      <p:sp>
        <p:nvSpPr>
          <p:cNvPr id="41" name="Rounded Rectangle 40"/>
          <p:cNvSpPr/>
          <p:nvPr/>
        </p:nvSpPr>
        <p:spPr>
          <a:xfrm>
            <a:off x="4535424" y="3931920"/>
            <a:ext cx="3456432" cy="1865376"/>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4462272" y="3858768"/>
            <a:ext cx="3456432" cy="1865376"/>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462272" y="3858768"/>
            <a:ext cx="3456432"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617720" y="4005072"/>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809744" y="4005072"/>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5001768" y="4005072"/>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330952" y="3931920"/>
            <a:ext cx="2450591"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05  /  AZURE</a:t>
            </a:r>
          </a:p>
        </p:txBody>
      </p:sp>
      <p:sp>
        <p:nvSpPr>
          <p:cNvPr id="48" name="TextBox 47"/>
          <p:cNvSpPr txBox="1"/>
          <p:nvPr/>
        </p:nvSpPr>
        <p:spPr>
          <a:xfrm>
            <a:off x="4626864" y="4498848"/>
            <a:ext cx="3127248" cy="1033271"/>
          </a:xfrm>
          <a:prstGeom prst="rect">
            <a:avLst/>
          </a:prstGeom>
          <a:noFill/>
        </p:spPr>
        <p:txBody>
          <a:bodyPr wrap="square" lIns="27432" rIns="27432" tIns="18288" bIns="0">
            <a:spAutoFit/>
          </a:bodyPr>
          <a:lstStyle/>
          <a:p>
            <a:pPr>
              <a:spcAft>
                <a:spcPts val="800"/>
              </a:spcAft>
              <a:defRPr sz="2200" b="1">
                <a:solidFill>
                  <a:srgbClr val="153D61"/>
                </a:solidFill>
                <a:latin typeface="DejaVu Sans"/>
              </a:defRPr>
            </a:pPr>
            <a:r>
              <a:t>Virtual Network va identifikatsiya</a:t>
            </a:r>
          </a:p>
        </p:txBody>
      </p:sp>
      <p:sp>
        <p:nvSpPr>
          <p:cNvPr id="49" name="Rounded Rectangle 48"/>
          <p:cNvSpPr/>
          <p:nvPr/>
        </p:nvSpPr>
        <p:spPr>
          <a:xfrm>
            <a:off x="8266176" y="3931920"/>
            <a:ext cx="3456432" cy="1865376"/>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8193024" y="3858768"/>
            <a:ext cx="3456432" cy="1865376"/>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8193024" y="3858768"/>
            <a:ext cx="3456432"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348472" y="4005072"/>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540496" y="4005072"/>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732520" y="4005072"/>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61704" y="3931920"/>
            <a:ext cx="2450591"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06  /  AZURE</a:t>
            </a:r>
          </a:p>
        </p:txBody>
      </p:sp>
      <p:sp>
        <p:nvSpPr>
          <p:cNvPr id="56" name="TextBox 55"/>
          <p:cNvSpPr txBox="1"/>
          <p:nvPr/>
        </p:nvSpPr>
        <p:spPr>
          <a:xfrm>
            <a:off x="8357616" y="4498848"/>
            <a:ext cx="3127248" cy="1033271"/>
          </a:xfrm>
          <a:prstGeom prst="rect">
            <a:avLst/>
          </a:prstGeom>
          <a:noFill/>
        </p:spPr>
        <p:txBody>
          <a:bodyPr wrap="square" lIns="27432" rIns="27432" tIns="18288" bIns="0">
            <a:spAutoFit/>
          </a:bodyPr>
          <a:lstStyle/>
          <a:p>
            <a:pPr>
              <a:spcAft>
                <a:spcPts val="800"/>
              </a:spcAft>
              <a:defRPr sz="2200" b="1">
                <a:solidFill>
                  <a:srgbClr val="153D61"/>
                </a:solidFill>
                <a:latin typeface="DejaVu Sans"/>
              </a:defRPr>
            </a:pPr>
            <a:r>
              <a:t>Functions va Azure Monitor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Azure boshqaruv iyerarxiyasi</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03 / 13</a:t>
            </a:r>
          </a:p>
        </p:txBody>
      </p:sp>
      <p:sp>
        <p:nvSpPr>
          <p:cNvPr id="9" name="Rounded Rectangle 8"/>
          <p:cNvSpPr/>
          <p:nvPr/>
        </p:nvSpPr>
        <p:spPr>
          <a:xfrm>
            <a:off x="804672" y="1828800"/>
            <a:ext cx="6492240" cy="3611880"/>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755648"/>
            <a:ext cx="6492240" cy="3611880"/>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755648"/>
            <a:ext cx="6492240"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86968" y="1901952"/>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 y="1901952"/>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71016" y="1901952"/>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1828800"/>
            <a:ext cx="5486400"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BOSHQARUV KO‘LAMLARI</a:t>
            </a:r>
          </a:p>
        </p:txBody>
      </p:sp>
      <p:sp>
        <p:nvSpPr>
          <p:cNvPr id="16" name="Rounded Rectangle 15"/>
          <p:cNvSpPr/>
          <p:nvPr/>
        </p:nvSpPr>
        <p:spPr>
          <a:xfrm>
            <a:off x="1024128" y="2395728"/>
            <a:ext cx="5394960" cy="475488"/>
          </a:xfrm>
          <a:prstGeom prst="roundRect">
            <a:avLst>
              <a:gd name="adj" fmla="val 8000"/>
            </a:avLst>
          </a:prstGeom>
          <a:solidFill>
            <a:srgbClr val="D7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61288" y="2459736"/>
            <a:ext cx="4937760" cy="338328"/>
          </a:xfrm>
          <a:prstGeom prst="rect">
            <a:avLst/>
          </a:prstGeom>
          <a:noFill/>
        </p:spPr>
        <p:txBody>
          <a:bodyPr wrap="square" lIns="27432" rIns="27432" tIns="18288" bIns="0">
            <a:spAutoFit/>
          </a:bodyPr>
          <a:lstStyle/>
          <a:p>
            <a:pPr>
              <a:spcAft>
                <a:spcPts val="800"/>
              </a:spcAft>
              <a:defRPr sz="1800" b="1">
                <a:solidFill>
                  <a:srgbClr val="153D61"/>
                </a:solidFill>
                <a:latin typeface="DejaVu Sans"/>
              </a:defRPr>
            </a:pPr>
            <a:r>
              <a:t>Tenant</a:t>
            </a:r>
          </a:p>
        </p:txBody>
      </p:sp>
      <p:sp>
        <p:nvSpPr>
          <p:cNvPr id="18" name="Rounded Rectangle 17"/>
          <p:cNvSpPr/>
          <p:nvPr/>
        </p:nvSpPr>
        <p:spPr>
          <a:xfrm>
            <a:off x="1408176" y="2962656"/>
            <a:ext cx="4754880" cy="475488"/>
          </a:xfrm>
          <a:prstGeom prst="roundRect">
            <a:avLst>
              <a:gd name="adj" fmla="val 8000"/>
            </a:avLst>
          </a:prstGeom>
          <a:solidFill>
            <a:srgbClr val="C6E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545336" y="3026664"/>
            <a:ext cx="4297680" cy="338328"/>
          </a:xfrm>
          <a:prstGeom prst="rect">
            <a:avLst/>
          </a:prstGeom>
          <a:noFill/>
        </p:spPr>
        <p:txBody>
          <a:bodyPr wrap="square" lIns="27432" rIns="27432" tIns="18288" bIns="0">
            <a:spAutoFit/>
          </a:bodyPr>
          <a:lstStyle/>
          <a:p>
            <a:pPr>
              <a:spcAft>
                <a:spcPts val="800"/>
              </a:spcAft>
              <a:defRPr sz="1800" b="1">
                <a:solidFill>
                  <a:srgbClr val="153D61"/>
                </a:solidFill>
                <a:latin typeface="DejaVu Sans"/>
              </a:defRPr>
            </a:pPr>
            <a:r>
              <a:t>Subscription</a:t>
            </a:r>
          </a:p>
        </p:txBody>
      </p:sp>
      <p:sp>
        <p:nvSpPr>
          <p:cNvPr id="20" name="Rounded Rectangle 19"/>
          <p:cNvSpPr/>
          <p:nvPr/>
        </p:nvSpPr>
        <p:spPr>
          <a:xfrm>
            <a:off x="1792224" y="3529584"/>
            <a:ext cx="4114800" cy="475488"/>
          </a:xfrm>
          <a:prstGeom prst="roundRect">
            <a:avLst>
              <a:gd name="adj" fmla="val 8000"/>
            </a:avLst>
          </a:prstGeom>
          <a:solidFill>
            <a:srgbClr val="A5D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29384" y="3593591"/>
            <a:ext cx="3657600" cy="338328"/>
          </a:xfrm>
          <a:prstGeom prst="rect">
            <a:avLst/>
          </a:prstGeom>
          <a:noFill/>
        </p:spPr>
        <p:txBody>
          <a:bodyPr wrap="square" lIns="27432" rIns="27432" tIns="18288" bIns="0">
            <a:spAutoFit/>
          </a:bodyPr>
          <a:lstStyle/>
          <a:p>
            <a:pPr>
              <a:spcAft>
                <a:spcPts val="800"/>
              </a:spcAft>
              <a:defRPr sz="1800" b="1">
                <a:solidFill>
                  <a:srgbClr val="153D61"/>
                </a:solidFill>
                <a:latin typeface="DejaVu Sans"/>
              </a:defRPr>
            </a:pPr>
            <a:r>
              <a:t>Resource group</a:t>
            </a:r>
          </a:p>
        </p:txBody>
      </p:sp>
      <p:sp>
        <p:nvSpPr>
          <p:cNvPr id="22" name="Rounded Rectangle 21"/>
          <p:cNvSpPr/>
          <p:nvPr/>
        </p:nvSpPr>
        <p:spPr>
          <a:xfrm>
            <a:off x="2176272" y="4096512"/>
            <a:ext cx="3474720" cy="475488"/>
          </a:xfrm>
          <a:prstGeom prst="roundRect">
            <a:avLst>
              <a:gd name="adj" fmla="val 8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13432" y="4160520"/>
            <a:ext cx="3017520" cy="338328"/>
          </a:xfrm>
          <a:prstGeom prst="rect">
            <a:avLst/>
          </a:prstGeom>
          <a:noFill/>
        </p:spPr>
        <p:txBody>
          <a:bodyPr wrap="square" lIns="27432" rIns="27432" tIns="18288" bIns="0">
            <a:spAutoFit/>
          </a:bodyPr>
          <a:lstStyle/>
          <a:p>
            <a:pPr>
              <a:spcAft>
                <a:spcPts val="800"/>
              </a:spcAft>
              <a:defRPr sz="1800" b="1">
                <a:solidFill>
                  <a:srgbClr val="FFFFFF"/>
                </a:solidFill>
                <a:latin typeface="DejaVu Sans"/>
              </a:defRPr>
            </a:pPr>
            <a:r>
              <a:t>Resource</a:t>
            </a:r>
          </a:p>
        </p:txBody>
      </p:sp>
      <p:pic>
        <p:nvPicPr>
          <p:cNvPr id="24" name="Picture 23" descr="M13_microsoft_azure.png"/>
          <p:cNvPicPr>
            <a:picLocks noChangeAspect="1"/>
          </p:cNvPicPr>
          <p:nvPr/>
        </p:nvPicPr>
        <p:blipFill>
          <a:blip r:embed="rId2"/>
          <a:stretch>
            <a:fillRect/>
          </a:stretch>
        </p:blipFill>
        <p:spPr>
          <a:xfrm>
            <a:off x="7818120" y="2040826"/>
            <a:ext cx="3200400" cy="984123"/>
          </a:xfrm>
          <a:prstGeom prst="rect">
            <a:avLst/>
          </a:prstGeom>
        </p:spPr>
      </p:pic>
      <p:sp>
        <p:nvSpPr>
          <p:cNvPr id="25" name="TextBox 24"/>
          <p:cNvSpPr txBox="1"/>
          <p:nvPr/>
        </p:nvSpPr>
        <p:spPr>
          <a:xfrm>
            <a:off x="7818120" y="3511296"/>
            <a:ext cx="3291840" cy="1691640"/>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Microsoft Entra tenant tashkilotning identifikatsiya chegarasini ifodalaydi.</a:t>
            </a:r>
          </a:p>
        </p:txBody>
      </p:sp>
      <p:sp>
        <p:nvSpPr>
          <p:cNvPr id="26" name="Rounded Rectangle 25"/>
          <p:cNvSpPr/>
          <p:nvPr/>
        </p:nvSpPr>
        <p:spPr>
          <a:xfrm>
            <a:off x="731520" y="5641848"/>
            <a:ext cx="10698480" cy="621792"/>
          </a:xfrm>
          <a:prstGeom prst="roundRect">
            <a:avLst>
              <a:gd name="adj" fmla="val 8000"/>
            </a:avLst>
          </a:prstGeom>
          <a:solidFill>
            <a:srgbClr val="E6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53D61"/>
                </a:solidFill>
                <a:latin typeface="DejaVu Sans"/>
              </a:defRPr>
            </a:pPr>
            <a:r>
              <a:t>Resource group xavfsizlik devori yoki alohida jismoniy ma’lumotlar markazi emas.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Azure Virtual Machines</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04 / 13</a:t>
            </a:r>
          </a:p>
        </p:txBody>
      </p:sp>
      <p:sp>
        <p:nvSpPr>
          <p:cNvPr id="9" name="Rounded Rectangle 8"/>
          <p:cNvSpPr/>
          <p:nvPr/>
        </p:nvSpPr>
        <p:spPr>
          <a:xfrm>
            <a:off x="804672" y="1856231"/>
            <a:ext cx="6492240" cy="3611880"/>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783080"/>
            <a:ext cx="6492240" cy="3611880"/>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783080"/>
            <a:ext cx="6492240"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86968" y="1929384"/>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 y="1929384"/>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71016" y="1929384"/>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1856231"/>
            <a:ext cx="5486400"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XIZMATNING ISHLASHI</a:t>
            </a:r>
          </a:p>
        </p:txBody>
      </p:sp>
      <p:sp>
        <p:nvSpPr>
          <p:cNvPr id="16" name="TextBox 15"/>
          <p:cNvSpPr txBox="1"/>
          <p:nvPr/>
        </p:nvSpPr>
        <p:spPr>
          <a:xfrm>
            <a:off x="987552" y="2450592"/>
            <a:ext cx="5943600" cy="987552"/>
          </a:xfrm>
          <a:prstGeom prst="rect">
            <a:avLst/>
          </a:prstGeom>
          <a:noFill/>
        </p:spPr>
        <p:txBody>
          <a:bodyPr wrap="square" lIns="27432" rIns="27432" tIns="18288" bIns="0">
            <a:spAutoFit/>
          </a:bodyPr>
          <a:lstStyle/>
          <a:p>
            <a:pPr>
              <a:spcAft>
                <a:spcPts val="800"/>
              </a:spcAft>
              <a:defRPr sz="2600" b="1">
                <a:solidFill>
                  <a:srgbClr val="153D61"/>
                </a:solidFill>
                <a:latin typeface="DejaVu Sans"/>
              </a:defRPr>
            </a:pPr>
            <a:r>
              <a:t>Operatsion tizim ustidan nazoratga ega hisoblash.</a:t>
            </a:r>
          </a:p>
        </p:txBody>
      </p:sp>
      <p:sp>
        <p:nvSpPr>
          <p:cNvPr id="17" name="TextBox 16"/>
          <p:cNvSpPr txBox="1"/>
          <p:nvPr/>
        </p:nvSpPr>
        <p:spPr>
          <a:xfrm>
            <a:off x="987552" y="3703320"/>
            <a:ext cx="5943600" cy="1353312"/>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VM virtual tarmoqqa ulanadi, kirish Network Security Group bilan cheklanadi.</a:t>
            </a:r>
          </a:p>
        </p:txBody>
      </p:sp>
      <p:sp>
        <p:nvSpPr>
          <p:cNvPr id="18" name="Rounded Rectangle 17"/>
          <p:cNvSpPr/>
          <p:nvPr/>
        </p:nvSpPr>
        <p:spPr>
          <a:xfrm>
            <a:off x="7516368" y="1783080"/>
            <a:ext cx="3840480" cy="3611880"/>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99248" y="1929384"/>
            <a:ext cx="3474720" cy="365760"/>
          </a:xfrm>
          <a:prstGeom prst="rect">
            <a:avLst/>
          </a:prstGeom>
          <a:noFill/>
        </p:spPr>
        <p:txBody>
          <a:bodyPr wrap="square" lIns="27432" rIns="27432" tIns="18288" bIns="0">
            <a:spAutoFit/>
          </a:bodyPr>
          <a:lstStyle/>
          <a:p>
            <a:pPr>
              <a:spcAft>
                <a:spcPts val="800"/>
              </a:spcAft>
              <a:defRPr sz="1400" b="1">
                <a:solidFill>
                  <a:srgbClr val="0078D4"/>
                </a:solidFill>
                <a:latin typeface="DejaVu Sans"/>
              </a:defRPr>
            </a:pPr>
            <a:r>
              <a:t>UNIVERSITET MISOLI</a:t>
            </a:r>
          </a:p>
        </p:txBody>
      </p:sp>
      <p:sp>
        <p:nvSpPr>
          <p:cNvPr id="20" name="TextBox 19"/>
          <p:cNvSpPr txBox="1"/>
          <p:nvPr/>
        </p:nvSpPr>
        <p:spPr>
          <a:xfrm>
            <a:off x="7699248" y="2404872"/>
            <a:ext cx="3474720" cy="2880360"/>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Eski universitet dasturi maxsus Linux muhiti bilan Azure VM da ishga tushiriladi.</a:t>
            </a:r>
          </a:p>
        </p:txBody>
      </p:sp>
      <p:sp>
        <p:nvSpPr>
          <p:cNvPr id="21" name="Rounded Rectangle 20"/>
          <p:cNvSpPr/>
          <p:nvPr/>
        </p:nvSpPr>
        <p:spPr>
          <a:xfrm>
            <a:off x="731520" y="5641848"/>
            <a:ext cx="10698480" cy="621792"/>
          </a:xfrm>
          <a:prstGeom prst="roundRect">
            <a:avLst>
              <a:gd name="adj" fmla="val 8000"/>
            </a:avLst>
          </a:prstGeom>
          <a:solidFill>
            <a:srgbClr val="E6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53D61"/>
                </a:solidFill>
                <a:latin typeface="DejaVu Sans"/>
              </a:defRPr>
            </a:pPr>
            <a:r>
              <a:t>Oddiy bitta VM yaratish yuqori mavjudlikni ta’minlamaydi.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Blob Storage</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05 / 13</a:t>
            </a:r>
          </a:p>
        </p:txBody>
      </p:sp>
      <p:sp>
        <p:nvSpPr>
          <p:cNvPr id="9" name="TextBox 8"/>
          <p:cNvSpPr txBox="1"/>
          <p:nvPr/>
        </p:nvSpPr>
        <p:spPr>
          <a:xfrm>
            <a:off x="768096" y="1764792"/>
            <a:ext cx="10607040" cy="822960"/>
          </a:xfrm>
          <a:prstGeom prst="rect">
            <a:avLst/>
          </a:prstGeom>
          <a:noFill/>
        </p:spPr>
        <p:txBody>
          <a:bodyPr wrap="square" lIns="27432" rIns="27432" tIns="18288" bIns="0">
            <a:spAutoFit/>
          </a:bodyPr>
          <a:lstStyle/>
          <a:p>
            <a:pPr>
              <a:spcAft>
                <a:spcPts val="800"/>
              </a:spcAft>
              <a:defRPr sz="2800" b="1">
                <a:solidFill>
                  <a:srgbClr val="0078D4"/>
                </a:solidFill>
                <a:latin typeface="DejaVu Sans"/>
              </a:defRPr>
            </a:pPr>
            <a:r>
              <a:t>Video, rasm va arxiv uchun obyekt saqlash.</a:t>
            </a:r>
          </a:p>
        </p:txBody>
      </p:sp>
      <p:sp>
        <p:nvSpPr>
          <p:cNvPr id="10" name="Rounded Rectangle 9"/>
          <p:cNvSpPr/>
          <p:nvPr/>
        </p:nvSpPr>
        <p:spPr>
          <a:xfrm>
            <a:off x="731520" y="2862072"/>
            <a:ext cx="5175504" cy="2404872"/>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08376"/>
            <a:ext cx="4809744" cy="365760"/>
          </a:xfrm>
          <a:prstGeom prst="rect">
            <a:avLst/>
          </a:prstGeom>
          <a:noFill/>
        </p:spPr>
        <p:txBody>
          <a:bodyPr wrap="square" lIns="27432" rIns="27432" tIns="18288" bIns="0">
            <a:spAutoFit/>
          </a:bodyPr>
          <a:lstStyle/>
          <a:p>
            <a:pPr>
              <a:spcAft>
                <a:spcPts val="800"/>
              </a:spcAft>
              <a:defRPr sz="1400" b="1">
                <a:solidFill>
                  <a:srgbClr val="0078D4"/>
                </a:solidFill>
                <a:latin typeface="DejaVu Sans"/>
              </a:defRPr>
            </a:pPr>
            <a:r>
              <a:t>TUSHUNCHA</a:t>
            </a:r>
          </a:p>
        </p:txBody>
      </p:sp>
      <p:sp>
        <p:nvSpPr>
          <p:cNvPr id="12" name="TextBox 11"/>
          <p:cNvSpPr txBox="1"/>
          <p:nvPr/>
        </p:nvSpPr>
        <p:spPr>
          <a:xfrm>
            <a:off x="914400" y="3483864"/>
            <a:ext cx="4809744" cy="1673351"/>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Azure Blob Storage strukturasi qat’iy bo‘lmagan ma’lumot uchun xizmat qiladi.</a:t>
            </a:r>
          </a:p>
        </p:txBody>
      </p:sp>
      <p:sp>
        <p:nvSpPr>
          <p:cNvPr id="13" name="Rounded Rectangle 12"/>
          <p:cNvSpPr/>
          <p:nvPr/>
        </p:nvSpPr>
        <p:spPr>
          <a:xfrm>
            <a:off x="6190488" y="2862072"/>
            <a:ext cx="5175504" cy="2404872"/>
          </a:xfrm>
          <a:prstGeom prst="roundRect">
            <a:avLst>
              <a:gd name="adj" fmla="val 8000"/>
            </a:avLst>
          </a:prstGeom>
          <a:solidFill>
            <a:srgbClr val="E2F1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3008376"/>
            <a:ext cx="4809744" cy="365760"/>
          </a:xfrm>
          <a:prstGeom prst="rect">
            <a:avLst/>
          </a:prstGeom>
          <a:noFill/>
        </p:spPr>
        <p:txBody>
          <a:bodyPr wrap="square" lIns="27432" rIns="27432" tIns="18288" bIns="0">
            <a:spAutoFit/>
          </a:bodyPr>
          <a:lstStyle/>
          <a:p>
            <a:pPr>
              <a:spcAft>
                <a:spcPts val="800"/>
              </a:spcAft>
              <a:defRPr sz="1400" b="1">
                <a:solidFill>
                  <a:srgbClr val="0078D4"/>
                </a:solidFill>
                <a:latin typeface="DejaVu Sans"/>
              </a:defRPr>
            </a:pPr>
            <a:r>
              <a:t>AMALDA</a:t>
            </a:r>
          </a:p>
        </p:txBody>
      </p:sp>
      <p:sp>
        <p:nvSpPr>
          <p:cNvPr id="15" name="TextBox 14"/>
          <p:cNvSpPr txBox="1"/>
          <p:nvPr/>
        </p:nvSpPr>
        <p:spPr>
          <a:xfrm>
            <a:off x="6373368" y="3483864"/>
            <a:ext cx="4809744" cy="1673351"/>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Ma’ruza videolari Blob Storage da saqlanib, talabalarga cheklangan muddatli kirish bilan beriladi.</a:t>
            </a:r>
          </a:p>
        </p:txBody>
      </p:sp>
      <p:sp>
        <p:nvSpPr>
          <p:cNvPr id="16" name="Rounded Rectangle 15"/>
          <p:cNvSpPr/>
          <p:nvPr/>
        </p:nvSpPr>
        <p:spPr>
          <a:xfrm>
            <a:off x="731520" y="5641848"/>
            <a:ext cx="10698480" cy="621792"/>
          </a:xfrm>
          <a:prstGeom prst="roundRect">
            <a:avLst>
              <a:gd name="adj" fmla="val 8000"/>
            </a:avLst>
          </a:prstGeom>
          <a:solidFill>
            <a:srgbClr val="E6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53D61"/>
                </a:solidFill>
                <a:latin typeface="DejaVu Sans"/>
              </a:defRPr>
            </a:pPr>
            <a:r>
              <a:t>SAS havolasi uni olgan kishiga belgilangan amalni berishi mumkin; uni keraksiz keng va uzoq muddatli qilish xavfli.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Azure SQL Database</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06 / 13</a:t>
            </a:r>
          </a:p>
        </p:txBody>
      </p:sp>
      <p:sp>
        <p:nvSpPr>
          <p:cNvPr id="9" name="Rounded Rectangle 8"/>
          <p:cNvSpPr/>
          <p:nvPr/>
        </p:nvSpPr>
        <p:spPr>
          <a:xfrm>
            <a:off x="804672" y="1856231"/>
            <a:ext cx="10652760" cy="3611880"/>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783080"/>
            <a:ext cx="10652760" cy="3611880"/>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783080"/>
            <a:ext cx="10652760"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86968" y="1929384"/>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 y="1929384"/>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71016" y="1929384"/>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1856231"/>
            <a:ext cx="9646920"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BIR-BIRINI TO‘LDIRUVCHI QATLAMLAR</a:t>
            </a:r>
          </a:p>
        </p:txBody>
      </p:sp>
      <p:sp>
        <p:nvSpPr>
          <p:cNvPr id="16" name="TextBox 15"/>
          <p:cNvSpPr txBox="1"/>
          <p:nvPr/>
        </p:nvSpPr>
        <p:spPr>
          <a:xfrm>
            <a:off x="1005840" y="2496312"/>
            <a:ext cx="5486400" cy="914400"/>
          </a:xfrm>
          <a:prstGeom prst="rect">
            <a:avLst/>
          </a:prstGeom>
          <a:noFill/>
        </p:spPr>
        <p:txBody>
          <a:bodyPr wrap="square" lIns="27432" rIns="27432" tIns="18288" bIns="0">
            <a:spAutoFit/>
          </a:bodyPr>
          <a:lstStyle/>
          <a:p>
            <a:pPr>
              <a:spcAft>
                <a:spcPts val="800"/>
              </a:spcAft>
              <a:defRPr sz="2700" b="1">
                <a:solidFill>
                  <a:srgbClr val="0078D4"/>
                </a:solidFill>
                <a:latin typeface="DejaVu Sans"/>
              </a:defRPr>
            </a:pPr>
            <a:r>
              <a:t>Relatsion baza platforma xizmati sifatida.</a:t>
            </a:r>
          </a:p>
        </p:txBody>
      </p:sp>
      <p:sp>
        <p:nvSpPr>
          <p:cNvPr id="17" name="TextBox 16"/>
          <p:cNvSpPr txBox="1"/>
          <p:nvPr/>
        </p:nvSpPr>
        <p:spPr>
          <a:xfrm>
            <a:off x="1005840" y="3776472"/>
            <a:ext cx="5486400" cy="1280160"/>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Azure SQL Database SQL Server oilasiga tayangan boshqariladigan relatsion xizmatdir.</a:t>
            </a:r>
          </a:p>
        </p:txBody>
      </p:sp>
      <p:sp>
        <p:nvSpPr>
          <p:cNvPr id="18" name="Rounded Rectangle 17"/>
          <p:cNvSpPr/>
          <p:nvPr/>
        </p:nvSpPr>
        <p:spPr>
          <a:xfrm>
            <a:off x="6995160" y="2505456"/>
            <a:ext cx="4023360" cy="2532888"/>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78040" y="2651760"/>
            <a:ext cx="3657600" cy="365760"/>
          </a:xfrm>
          <a:prstGeom prst="rect">
            <a:avLst/>
          </a:prstGeom>
          <a:noFill/>
        </p:spPr>
        <p:txBody>
          <a:bodyPr wrap="square" lIns="27432" rIns="27432" tIns="18288" bIns="0">
            <a:spAutoFit/>
          </a:bodyPr>
          <a:lstStyle/>
          <a:p>
            <a:pPr>
              <a:spcAft>
                <a:spcPts val="800"/>
              </a:spcAft>
              <a:defRPr sz="1400" b="1">
                <a:solidFill>
                  <a:srgbClr val="0078D4"/>
                </a:solidFill>
                <a:latin typeface="DejaVu Sans"/>
              </a:defRPr>
            </a:pPr>
            <a:r>
              <a:t>AMALIY YONDASHUV</a:t>
            </a:r>
          </a:p>
        </p:txBody>
      </p:sp>
      <p:sp>
        <p:nvSpPr>
          <p:cNvPr id="20" name="TextBox 19"/>
          <p:cNvSpPr txBox="1"/>
          <p:nvPr/>
        </p:nvSpPr>
        <p:spPr>
          <a:xfrm>
            <a:off x="7178040" y="3127248"/>
            <a:ext cx="3657600" cy="1801368"/>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Hisoblash darajasi va ulanish siyosati tanlanadi. Ilova xavfsiz ulanishdan foydalanadi.</a:t>
            </a:r>
          </a:p>
        </p:txBody>
      </p:sp>
      <p:sp>
        <p:nvSpPr>
          <p:cNvPr id="21" name="Rounded Rectangle 20"/>
          <p:cNvSpPr/>
          <p:nvPr/>
        </p:nvSpPr>
        <p:spPr>
          <a:xfrm>
            <a:off x="731520" y="5641848"/>
            <a:ext cx="10698480" cy="621792"/>
          </a:xfrm>
          <a:prstGeom prst="roundRect">
            <a:avLst>
              <a:gd name="adj" fmla="val 8000"/>
            </a:avLst>
          </a:prstGeom>
          <a:solidFill>
            <a:srgbClr val="E6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53D61"/>
                </a:solidFill>
                <a:latin typeface="DejaVu Sans"/>
              </a:defRPr>
            </a:pPr>
            <a:r>
              <a:t>SQL Database barcha server darajasidagi eski imkoniyatlarga aynan teng emas; moslik oldindan tekshiriladi.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Virtual Network va identifikatsiya</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07 / 13</a:t>
            </a:r>
          </a:p>
        </p:txBody>
      </p:sp>
      <p:sp>
        <p:nvSpPr>
          <p:cNvPr id="9" name="Rounded Rectangle 8"/>
          <p:cNvSpPr/>
          <p:nvPr/>
        </p:nvSpPr>
        <p:spPr>
          <a:xfrm>
            <a:off x="804672" y="1856231"/>
            <a:ext cx="6492240" cy="3611880"/>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783080"/>
            <a:ext cx="6492240" cy="3611880"/>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783080"/>
            <a:ext cx="6492240"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86968" y="1929384"/>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 y="1929384"/>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71016" y="1929384"/>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1856231"/>
            <a:ext cx="5486400"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XIZMATNING ISHLASHI</a:t>
            </a:r>
          </a:p>
        </p:txBody>
      </p:sp>
      <p:sp>
        <p:nvSpPr>
          <p:cNvPr id="16" name="TextBox 15"/>
          <p:cNvSpPr txBox="1"/>
          <p:nvPr/>
        </p:nvSpPr>
        <p:spPr>
          <a:xfrm>
            <a:off x="987552" y="2450592"/>
            <a:ext cx="5943600" cy="987552"/>
          </a:xfrm>
          <a:prstGeom prst="rect">
            <a:avLst/>
          </a:prstGeom>
          <a:noFill/>
        </p:spPr>
        <p:txBody>
          <a:bodyPr wrap="square" lIns="27432" rIns="27432" tIns="18288" bIns="0">
            <a:spAutoFit/>
          </a:bodyPr>
          <a:lstStyle/>
          <a:p>
            <a:pPr>
              <a:spcAft>
                <a:spcPts val="800"/>
              </a:spcAft>
              <a:defRPr sz="2600" b="1">
                <a:solidFill>
                  <a:srgbClr val="153D61"/>
                </a:solidFill>
                <a:latin typeface="DejaVu Sans"/>
              </a:defRPr>
            </a:pPr>
            <a:r>
              <a:t>Tarmoq ajratilishi + RBAC + managed identity.</a:t>
            </a:r>
          </a:p>
        </p:txBody>
      </p:sp>
      <p:sp>
        <p:nvSpPr>
          <p:cNvPr id="17" name="TextBox 16"/>
          <p:cNvSpPr txBox="1"/>
          <p:nvPr/>
        </p:nvSpPr>
        <p:spPr>
          <a:xfrm>
            <a:off x="987552" y="3703320"/>
            <a:ext cx="5943600" cy="1353312"/>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Ilova identifikatoriga Blob dagi kerakli amal roli beriladi. Baza uchun private kirish tashkil qilinadi.</a:t>
            </a:r>
          </a:p>
        </p:txBody>
      </p:sp>
      <p:sp>
        <p:nvSpPr>
          <p:cNvPr id="18" name="Rounded Rectangle 17"/>
          <p:cNvSpPr/>
          <p:nvPr/>
        </p:nvSpPr>
        <p:spPr>
          <a:xfrm>
            <a:off x="7516368" y="1783080"/>
            <a:ext cx="3840480" cy="3611880"/>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99248" y="1929384"/>
            <a:ext cx="3474720" cy="365760"/>
          </a:xfrm>
          <a:prstGeom prst="rect">
            <a:avLst/>
          </a:prstGeom>
          <a:noFill/>
        </p:spPr>
        <p:txBody>
          <a:bodyPr wrap="square" lIns="27432" rIns="27432" tIns="18288" bIns="0">
            <a:spAutoFit/>
          </a:bodyPr>
          <a:lstStyle/>
          <a:p>
            <a:pPr>
              <a:spcAft>
                <a:spcPts val="800"/>
              </a:spcAft>
              <a:defRPr sz="1400" b="1">
                <a:solidFill>
                  <a:srgbClr val="0078D4"/>
                </a:solidFill>
                <a:latin typeface="DejaVu Sans"/>
              </a:defRPr>
            </a:pPr>
            <a:r>
              <a:t>UNIVERSITET MISOLI</a:t>
            </a:r>
          </a:p>
        </p:txBody>
      </p:sp>
      <p:sp>
        <p:nvSpPr>
          <p:cNvPr id="20" name="TextBox 19"/>
          <p:cNvSpPr txBox="1"/>
          <p:nvPr/>
        </p:nvSpPr>
        <p:spPr>
          <a:xfrm>
            <a:off x="7699248" y="2404872"/>
            <a:ext cx="3474720" cy="2880360"/>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Portal faylni o‘qish uchun kod ichida umumiy hisob kalitini olib yurmaydi, balki o‘z identifikatori bilan kiradi.</a:t>
            </a:r>
          </a:p>
        </p:txBody>
      </p:sp>
      <p:sp>
        <p:nvSpPr>
          <p:cNvPr id="21" name="Rounded Rectangle 20"/>
          <p:cNvSpPr/>
          <p:nvPr/>
        </p:nvSpPr>
        <p:spPr>
          <a:xfrm>
            <a:off x="731520" y="5641848"/>
            <a:ext cx="10698480" cy="621792"/>
          </a:xfrm>
          <a:prstGeom prst="roundRect">
            <a:avLst>
              <a:gd name="adj" fmla="val 8000"/>
            </a:avLst>
          </a:prstGeom>
          <a:solidFill>
            <a:srgbClr val="E6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53D61"/>
                </a:solidFill>
                <a:latin typeface="DejaVu Sans"/>
              </a:defRPr>
            </a:pPr>
            <a:r>
              <a:t>NSG qoidasi bilan RBAC rolini almashtirib bo‘lmaydi: ular turli qatlamni boshqaradi.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Functions va Azure Monitor</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08 / 13</a:t>
            </a:r>
          </a:p>
        </p:txBody>
      </p:sp>
      <p:sp>
        <p:nvSpPr>
          <p:cNvPr id="9" name="TextBox 8"/>
          <p:cNvSpPr txBox="1"/>
          <p:nvPr/>
        </p:nvSpPr>
        <p:spPr>
          <a:xfrm>
            <a:off x="768096" y="1764792"/>
            <a:ext cx="10607040" cy="822960"/>
          </a:xfrm>
          <a:prstGeom prst="rect">
            <a:avLst/>
          </a:prstGeom>
          <a:noFill/>
        </p:spPr>
        <p:txBody>
          <a:bodyPr wrap="square" lIns="27432" rIns="27432" tIns="18288" bIns="0">
            <a:spAutoFit/>
          </a:bodyPr>
          <a:lstStyle/>
          <a:p>
            <a:pPr>
              <a:spcAft>
                <a:spcPts val="800"/>
              </a:spcAft>
              <a:defRPr sz="2800" b="1">
                <a:solidFill>
                  <a:srgbClr val="0078D4"/>
                </a:solidFill>
                <a:latin typeface="DejaVu Sans"/>
              </a:defRPr>
            </a:pPr>
            <a:r>
              <a:t>Hodisa asosida bajarish va kuzatuv.</a:t>
            </a:r>
          </a:p>
        </p:txBody>
      </p:sp>
      <p:sp>
        <p:nvSpPr>
          <p:cNvPr id="10" name="Rounded Rectangle 9"/>
          <p:cNvSpPr/>
          <p:nvPr/>
        </p:nvSpPr>
        <p:spPr>
          <a:xfrm>
            <a:off x="731520" y="2862072"/>
            <a:ext cx="5175504" cy="2404872"/>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008376"/>
            <a:ext cx="4809744" cy="365760"/>
          </a:xfrm>
          <a:prstGeom prst="rect">
            <a:avLst/>
          </a:prstGeom>
          <a:noFill/>
        </p:spPr>
        <p:txBody>
          <a:bodyPr wrap="square" lIns="27432" rIns="27432" tIns="18288" bIns="0">
            <a:spAutoFit/>
          </a:bodyPr>
          <a:lstStyle/>
          <a:p>
            <a:pPr>
              <a:spcAft>
                <a:spcPts val="800"/>
              </a:spcAft>
              <a:defRPr sz="1400" b="1">
                <a:solidFill>
                  <a:srgbClr val="0078D4"/>
                </a:solidFill>
                <a:latin typeface="DejaVu Sans"/>
              </a:defRPr>
            </a:pPr>
            <a:r>
              <a:t>TUSHUNCHA</a:t>
            </a:r>
          </a:p>
        </p:txBody>
      </p:sp>
      <p:sp>
        <p:nvSpPr>
          <p:cNvPr id="12" name="TextBox 11"/>
          <p:cNvSpPr txBox="1"/>
          <p:nvPr/>
        </p:nvSpPr>
        <p:spPr>
          <a:xfrm>
            <a:off x="914400" y="3483864"/>
            <a:ext cx="4809744" cy="1673351"/>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Azure Functions serverless funksiyalarni ishga tushiradi. Trigger bajarilishni boshlaydi, binding esa ayrim xizmatlar bilan bog‘lanishni soddalashtiradi.</a:t>
            </a:r>
          </a:p>
        </p:txBody>
      </p:sp>
      <p:sp>
        <p:nvSpPr>
          <p:cNvPr id="13" name="Rounded Rectangle 12"/>
          <p:cNvSpPr/>
          <p:nvPr/>
        </p:nvSpPr>
        <p:spPr>
          <a:xfrm>
            <a:off x="6190488" y="2862072"/>
            <a:ext cx="5175504" cy="2404872"/>
          </a:xfrm>
          <a:prstGeom prst="roundRect">
            <a:avLst>
              <a:gd name="adj" fmla="val 8000"/>
            </a:avLst>
          </a:prstGeom>
          <a:solidFill>
            <a:srgbClr val="E2F1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3008376"/>
            <a:ext cx="4809744" cy="365760"/>
          </a:xfrm>
          <a:prstGeom prst="rect">
            <a:avLst/>
          </a:prstGeom>
          <a:noFill/>
        </p:spPr>
        <p:txBody>
          <a:bodyPr wrap="square" lIns="27432" rIns="27432" tIns="18288" bIns="0">
            <a:spAutoFit/>
          </a:bodyPr>
          <a:lstStyle/>
          <a:p>
            <a:pPr>
              <a:spcAft>
                <a:spcPts val="800"/>
              </a:spcAft>
              <a:defRPr sz="1400" b="1">
                <a:solidFill>
                  <a:srgbClr val="0078D4"/>
                </a:solidFill>
                <a:latin typeface="DejaVu Sans"/>
              </a:defRPr>
            </a:pPr>
            <a:r>
              <a:t>AMALDA</a:t>
            </a:r>
          </a:p>
        </p:txBody>
      </p:sp>
      <p:sp>
        <p:nvSpPr>
          <p:cNvPr id="15" name="TextBox 14"/>
          <p:cNvSpPr txBox="1"/>
          <p:nvPr/>
        </p:nvSpPr>
        <p:spPr>
          <a:xfrm>
            <a:off x="6373368" y="3483864"/>
            <a:ext cx="4809744" cy="1673351"/>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Talabaga yuboriladigan xabarnoma navbatdan olinib, asosiy portal javobini kutdirmasdan bajariladi.</a:t>
            </a:r>
          </a:p>
        </p:txBody>
      </p:sp>
      <p:sp>
        <p:nvSpPr>
          <p:cNvPr id="16" name="Rounded Rectangle 15"/>
          <p:cNvSpPr/>
          <p:nvPr/>
        </p:nvSpPr>
        <p:spPr>
          <a:xfrm>
            <a:off x="731520" y="5641848"/>
            <a:ext cx="10698480" cy="621792"/>
          </a:xfrm>
          <a:prstGeom prst="roundRect">
            <a:avLst>
              <a:gd name="adj" fmla="val 8000"/>
            </a:avLst>
          </a:prstGeom>
          <a:solidFill>
            <a:srgbClr val="E6F3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53D61"/>
                </a:solidFill>
                <a:latin typeface="DejaVu Sans"/>
              </a:defRPr>
            </a:pPr>
            <a:r>
              <a:t>Bajarilish muddati va masshtablash xususiyatlari hosting rejasiga bog‘liq; barcha rejalar bir xil emas.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Azure portalining soddalashtirilgan arxitekturasi</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09 / 13</a:t>
            </a:r>
          </a:p>
        </p:txBody>
      </p:sp>
      <p:cxnSp>
        <p:nvCxnSpPr>
          <p:cNvPr id="9" name="Connector 8"/>
          <p:cNvCxnSpPr/>
          <p:nvPr/>
        </p:nvCxnSpPr>
        <p:spPr>
          <a:xfrm>
            <a:off x="3474720" y="2331720"/>
            <a:ext cx="777240"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95160" y="2331720"/>
            <a:ext cx="777240" cy="0"/>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931920" y="2816352"/>
            <a:ext cx="1691640" cy="1161287"/>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623560" y="2816352"/>
            <a:ext cx="2606040" cy="1161287"/>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8229600" y="2816352"/>
            <a:ext cx="914400" cy="1161287"/>
          </a:xfrm>
          <a:prstGeom prst="line">
            <a:avLst/>
          </a:prstGeom>
          <a:ln w="25400">
            <a:solidFill>
              <a:srgbClr val="0078D4"/>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731520" y="1874519"/>
            <a:ext cx="2743200" cy="9418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2011679"/>
            <a:ext cx="2523744" cy="685800"/>
          </a:xfrm>
          <a:prstGeom prst="rect">
            <a:avLst/>
          </a:prstGeom>
          <a:noFill/>
        </p:spPr>
        <p:txBody>
          <a:bodyPr wrap="square" lIns="27432" rIns="27432" tIns="18288" bIns="0">
            <a:spAutoFit/>
          </a:bodyPr>
          <a:lstStyle/>
          <a:p>
            <a:pPr>
              <a:spcAft>
                <a:spcPts val="800"/>
              </a:spcAft>
              <a:defRPr sz="1700" b="1">
                <a:solidFill>
                  <a:srgbClr val="FFFFFF"/>
                </a:solidFill>
                <a:latin typeface="DejaVu Sans"/>
              </a:defRPr>
            </a:pPr>
            <a:r>
              <a:t>Entra ID / IAM</a:t>
            </a:r>
          </a:p>
        </p:txBody>
      </p:sp>
      <p:sp>
        <p:nvSpPr>
          <p:cNvPr id="16" name="Rectangle 15"/>
          <p:cNvSpPr/>
          <p:nvPr/>
        </p:nvSpPr>
        <p:spPr>
          <a:xfrm>
            <a:off x="4251960" y="1874519"/>
            <a:ext cx="2743200" cy="941832"/>
          </a:xfrm>
          <a:prstGeom prst="rect">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1688" y="2011679"/>
            <a:ext cx="2523744" cy="685800"/>
          </a:xfrm>
          <a:prstGeom prst="rect">
            <a:avLst/>
          </a:prstGeom>
          <a:noFill/>
        </p:spPr>
        <p:txBody>
          <a:bodyPr wrap="square" lIns="27432" rIns="27432" tIns="18288" bIns="0">
            <a:spAutoFit/>
          </a:bodyPr>
          <a:lstStyle/>
          <a:p>
            <a:pPr>
              <a:spcAft>
                <a:spcPts val="800"/>
              </a:spcAft>
              <a:defRPr sz="1700" b="1">
                <a:solidFill>
                  <a:srgbClr val="153D61"/>
                </a:solidFill>
                <a:latin typeface="DejaVu Sans"/>
              </a:defRPr>
            </a:pPr>
            <a:r>
              <a:t>VM / Functions</a:t>
            </a:r>
          </a:p>
        </p:txBody>
      </p:sp>
      <p:sp>
        <p:nvSpPr>
          <p:cNvPr id="18" name="Rectangle 17"/>
          <p:cNvSpPr/>
          <p:nvPr/>
        </p:nvSpPr>
        <p:spPr>
          <a:xfrm>
            <a:off x="7772400" y="1874519"/>
            <a:ext cx="2743200" cy="941832"/>
          </a:xfrm>
          <a:prstGeom prst="rect">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82127" y="2011679"/>
            <a:ext cx="2523744" cy="685800"/>
          </a:xfrm>
          <a:prstGeom prst="rect">
            <a:avLst/>
          </a:prstGeom>
          <a:noFill/>
        </p:spPr>
        <p:txBody>
          <a:bodyPr wrap="square" lIns="27432" rIns="27432" tIns="18288" bIns="0">
            <a:spAutoFit/>
          </a:bodyPr>
          <a:lstStyle/>
          <a:p>
            <a:pPr>
              <a:spcAft>
                <a:spcPts val="800"/>
              </a:spcAft>
              <a:defRPr sz="1700" b="1">
                <a:solidFill>
                  <a:srgbClr val="153D61"/>
                </a:solidFill>
                <a:latin typeface="DejaVu Sans"/>
              </a:defRPr>
            </a:pPr>
            <a:r>
              <a:t>Azure SQL</a:t>
            </a:r>
          </a:p>
        </p:txBody>
      </p:sp>
      <p:sp>
        <p:nvSpPr>
          <p:cNvPr id="20" name="Rectangle 19"/>
          <p:cNvSpPr/>
          <p:nvPr/>
        </p:nvSpPr>
        <p:spPr>
          <a:xfrm>
            <a:off x="2560320" y="3977639"/>
            <a:ext cx="2743200" cy="941832"/>
          </a:xfrm>
          <a:prstGeom prst="rect">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70048" y="4114800"/>
            <a:ext cx="2523744" cy="685800"/>
          </a:xfrm>
          <a:prstGeom prst="rect">
            <a:avLst/>
          </a:prstGeom>
          <a:noFill/>
        </p:spPr>
        <p:txBody>
          <a:bodyPr wrap="square" lIns="27432" rIns="27432" tIns="18288" bIns="0">
            <a:spAutoFit/>
          </a:bodyPr>
          <a:lstStyle/>
          <a:p>
            <a:pPr>
              <a:spcAft>
                <a:spcPts val="800"/>
              </a:spcAft>
              <a:defRPr sz="1700" b="1">
                <a:solidFill>
                  <a:srgbClr val="153D61"/>
                </a:solidFill>
                <a:latin typeface="DejaVu Sans"/>
              </a:defRPr>
            </a:pPr>
            <a:r>
              <a:t>Blob Storage</a:t>
            </a:r>
          </a:p>
        </p:txBody>
      </p:sp>
      <p:sp>
        <p:nvSpPr>
          <p:cNvPr id="22" name="Rectangle 21"/>
          <p:cNvSpPr/>
          <p:nvPr/>
        </p:nvSpPr>
        <p:spPr>
          <a:xfrm>
            <a:off x="6858000" y="3977639"/>
            <a:ext cx="2743200" cy="941832"/>
          </a:xfrm>
          <a:prstGeom prst="rect">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67728" y="4114800"/>
            <a:ext cx="2523744" cy="685800"/>
          </a:xfrm>
          <a:prstGeom prst="rect">
            <a:avLst/>
          </a:prstGeom>
          <a:noFill/>
        </p:spPr>
        <p:txBody>
          <a:bodyPr wrap="square" lIns="27432" rIns="27432" tIns="18288" bIns="0">
            <a:spAutoFit/>
          </a:bodyPr>
          <a:lstStyle/>
          <a:p>
            <a:pPr>
              <a:spcAft>
                <a:spcPts val="800"/>
              </a:spcAft>
              <a:defRPr sz="1700" b="1">
                <a:solidFill>
                  <a:srgbClr val="153D61"/>
                </a:solidFill>
                <a:latin typeface="DejaVu Sans"/>
              </a:defRPr>
            </a:pPr>
            <a:r>
              <a:t>Azure Monitor</a:t>
            </a:r>
          </a:p>
        </p:txBody>
      </p:sp>
      <p:sp>
        <p:nvSpPr>
          <p:cNvPr id="24" name="TextBox 23"/>
          <p:cNvSpPr txBox="1"/>
          <p:nvPr/>
        </p:nvSpPr>
        <p:spPr>
          <a:xfrm>
            <a:off x="731520" y="6080760"/>
            <a:ext cx="10698480" cy="274320"/>
          </a:xfrm>
          <a:prstGeom prst="rect">
            <a:avLst/>
          </a:prstGeom>
          <a:noFill/>
        </p:spPr>
        <p:txBody>
          <a:bodyPr wrap="square" lIns="27432" rIns="27432" tIns="18288" bIns="0">
            <a:spAutoFit/>
          </a:bodyPr>
          <a:lstStyle/>
          <a:p>
            <a:pPr>
              <a:spcAft>
                <a:spcPts val="800"/>
              </a:spcAft>
              <a:defRPr sz="1100" b="0">
                <a:solidFill>
                  <a:srgbClr val="153D61"/>
                </a:solidFill>
                <a:latin typeface="DejaVu Sans"/>
              </a:defRPr>
            </a:pPr>
            <a:r>
              <a:t>Soddalashtirilgan sxema: o‘qlar — asosiy murojaat yoki boshqaruv bog‘lanishi.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Universitet portali: xizmatlarni birlashtirish</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10 / 13</a:t>
            </a:r>
          </a:p>
        </p:txBody>
      </p:sp>
      <p:sp>
        <p:nvSpPr>
          <p:cNvPr id="9" name="Rounded Rectangle 8"/>
          <p:cNvSpPr/>
          <p:nvPr/>
        </p:nvSpPr>
        <p:spPr>
          <a:xfrm>
            <a:off x="804672" y="1856231"/>
            <a:ext cx="6263640" cy="4069080"/>
          </a:xfrm>
          <a:prstGeom prst="roundRect">
            <a:avLst>
              <a:gd name="adj" fmla="val 8000"/>
            </a:avLst>
          </a:prstGeom>
          <a:solidFill>
            <a:srgbClr val="D9EA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1783080"/>
            <a:ext cx="6263640" cy="4069080"/>
          </a:xfrm>
          <a:prstGeom prst="roundRect">
            <a:avLst>
              <a:gd name="adj" fmla="val 8000"/>
            </a:avLst>
          </a:prstGeom>
          <a:solidFill>
            <a:srgbClr val="FFFFFF"/>
          </a:solidFill>
          <a:ln>
            <a:solidFill>
              <a:srgbClr val="BED9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783080"/>
            <a:ext cx="6263640" cy="429768"/>
          </a:xfrm>
          <a:prstGeom prst="roundRect">
            <a:avLst>
              <a:gd name="adj" fmla="val 8000"/>
            </a:avLst>
          </a:prstGeom>
          <a:solidFill>
            <a:srgbClr val="E6F2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86968" y="1929384"/>
            <a:ext cx="91440" cy="91440"/>
          </a:xfrm>
          <a:prstGeom prst="ellipse">
            <a:avLst/>
          </a:prstGeom>
          <a:solidFill>
            <a:srgbClr val="6CB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 y="1929384"/>
            <a:ext cx="91440" cy="91440"/>
          </a:xfrm>
          <a:prstGeom prst="ellipse">
            <a:avLst/>
          </a:prstGeom>
          <a:solidFill>
            <a:srgbClr val="9BC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71016" y="1929384"/>
            <a:ext cx="91440" cy="91440"/>
          </a:xfrm>
          <a:prstGeom prst="ellipse">
            <a:avLst/>
          </a:prstGeom>
          <a:solidFill>
            <a:srgbClr val="BBD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1856231"/>
            <a:ext cx="5257800" cy="292608"/>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LOYIHA KONTEKSTI</a:t>
            </a:r>
          </a:p>
        </p:txBody>
      </p:sp>
      <p:sp>
        <p:nvSpPr>
          <p:cNvPr id="16" name="TextBox 15"/>
          <p:cNvSpPr txBox="1"/>
          <p:nvPr/>
        </p:nvSpPr>
        <p:spPr>
          <a:xfrm>
            <a:off x="1005840" y="2523744"/>
            <a:ext cx="5696712" cy="2514600"/>
          </a:xfrm>
          <a:prstGeom prst="rect">
            <a:avLst/>
          </a:prstGeom>
          <a:noFill/>
        </p:spPr>
        <p:txBody>
          <a:bodyPr wrap="square" lIns="27432" rIns="27432" tIns="18288" bIns="0">
            <a:spAutoFit/>
          </a:bodyPr>
          <a:lstStyle/>
          <a:p>
            <a:pPr>
              <a:spcAft>
                <a:spcPts val="800"/>
              </a:spcAft>
              <a:defRPr sz="2500" b="0">
                <a:solidFill>
                  <a:srgbClr val="153D61"/>
                </a:solidFill>
                <a:latin typeface="DejaVu Sans"/>
              </a:defRPr>
            </a:pPr>
            <a:r>
              <a:t>Universitet Microsoft xizmatlaridan foydalanadi va portalni Azure da joylashtirmoqchi. Identifikatsiya, loyiha resurslari va xarajatlarni bir-biriga bog‘langan holda boshqarish muhim.</a:t>
            </a:r>
          </a:p>
        </p:txBody>
      </p:sp>
      <p:sp>
        <p:nvSpPr>
          <p:cNvPr id="17" name="Rounded Rectangle 16"/>
          <p:cNvSpPr/>
          <p:nvPr/>
        </p:nvSpPr>
        <p:spPr>
          <a:xfrm>
            <a:off x="7342631" y="1792224"/>
            <a:ext cx="4005072" cy="1188720"/>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43800" y="1920240"/>
            <a:ext cx="3611880" cy="365760"/>
          </a:xfrm>
          <a:prstGeom prst="rect">
            <a:avLst/>
          </a:prstGeom>
          <a:noFill/>
        </p:spPr>
        <p:txBody>
          <a:bodyPr wrap="square" lIns="27432" rIns="27432" tIns="18288" bIns="0">
            <a:spAutoFit/>
          </a:bodyPr>
          <a:lstStyle/>
          <a:p>
            <a:pPr>
              <a:spcAft>
                <a:spcPts val="800"/>
              </a:spcAft>
              <a:defRPr sz="2100" b="1">
                <a:solidFill>
                  <a:srgbClr val="0078D4"/>
                </a:solidFill>
                <a:latin typeface="DejaVu Sans"/>
              </a:defRPr>
            </a:pPr>
            <a:r>
              <a:t>Entra ID</a:t>
            </a:r>
          </a:p>
        </p:txBody>
      </p:sp>
      <p:sp>
        <p:nvSpPr>
          <p:cNvPr id="19" name="TextBox 18"/>
          <p:cNvSpPr txBox="1"/>
          <p:nvPr/>
        </p:nvSpPr>
        <p:spPr>
          <a:xfrm>
            <a:off x="7543800" y="2395728"/>
            <a:ext cx="3611880" cy="457200"/>
          </a:xfrm>
          <a:prstGeom prst="rect">
            <a:avLst/>
          </a:prstGeom>
          <a:noFill/>
        </p:spPr>
        <p:txBody>
          <a:bodyPr wrap="square" lIns="27432" rIns="27432" tIns="18288" bIns="0">
            <a:spAutoFit/>
          </a:bodyPr>
          <a:lstStyle/>
          <a:p>
            <a:pPr>
              <a:spcAft>
                <a:spcPts val="800"/>
              </a:spcAft>
              <a:defRPr sz="1800" b="0">
                <a:solidFill>
                  <a:srgbClr val="153D61"/>
                </a:solidFill>
                <a:latin typeface="DejaVu Sans"/>
              </a:defRPr>
            </a:pPr>
            <a:r>
              <a:t>Foydalanuvchi va rollar</a:t>
            </a:r>
          </a:p>
        </p:txBody>
      </p:sp>
      <p:sp>
        <p:nvSpPr>
          <p:cNvPr id="20" name="Rounded Rectangle 19"/>
          <p:cNvSpPr/>
          <p:nvPr/>
        </p:nvSpPr>
        <p:spPr>
          <a:xfrm>
            <a:off x="7342631" y="3172968"/>
            <a:ext cx="4005072" cy="1188720"/>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43800" y="3300984"/>
            <a:ext cx="3611880" cy="365760"/>
          </a:xfrm>
          <a:prstGeom prst="rect">
            <a:avLst/>
          </a:prstGeom>
          <a:noFill/>
        </p:spPr>
        <p:txBody>
          <a:bodyPr wrap="square" lIns="27432" rIns="27432" tIns="18288" bIns="0">
            <a:spAutoFit/>
          </a:bodyPr>
          <a:lstStyle/>
          <a:p>
            <a:pPr>
              <a:spcAft>
                <a:spcPts val="800"/>
              </a:spcAft>
              <a:defRPr sz="2100" b="1">
                <a:solidFill>
                  <a:srgbClr val="0078D4"/>
                </a:solidFill>
                <a:latin typeface="DejaVu Sans"/>
              </a:defRPr>
            </a:pPr>
            <a:r>
              <a:t>VM + SQL</a:t>
            </a:r>
          </a:p>
        </p:txBody>
      </p:sp>
      <p:sp>
        <p:nvSpPr>
          <p:cNvPr id="22" name="TextBox 21"/>
          <p:cNvSpPr txBox="1"/>
          <p:nvPr/>
        </p:nvSpPr>
        <p:spPr>
          <a:xfrm>
            <a:off x="7543800" y="3776472"/>
            <a:ext cx="3611880" cy="457200"/>
          </a:xfrm>
          <a:prstGeom prst="rect">
            <a:avLst/>
          </a:prstGeom>
          <a:noFill/>
        </p:spPr>
        <p:txBody>
          <a:bodyPr wrap="square" lIns="27432" rIns="27432" tIns="18288" bIns="0">
            <a:spAutoFit/>
          </a:bodyPr>
          <a:lstStyle/>
          <a:p>
            <a:pPr>
              <a:spcAft>
                <a:spcPts val="800"/>
              </a:spcAft>
              <a:defRPr sz="1800" b="0">
                <a:solidFill>
                  <a:srgbClr val="153D61"/>
                </a:solidFill>
                <a:latin typeface="DejaVu Sans"/>
              </a:defRPr>
            </a:pPr>
            <a:r>
              <a:t>Portal va talaba yozuvlari</a:t>
            </a:r>
          </a:p>
        </p:txBody>
      </p:sp>
      <p:sp>
        <p:nvSpPr>
          <p:cNvPr id="23" name="Rounded Rectangle 22"/>
          <p:cNvSpPr/>
          <p:nvPr/>
        </p:nvSpPr>
        <p:spPr>
          <a:xfrm>
            <a:off x="7342631" y="4553712"/>
            <a:ext cx="4005072" cy="1188720"/>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800" y="4681728"/>
            <a:ext cx="3611880" cy="365760"/>
          </a:xfrm>
          <a:prstGeom prst="rect">
            <a:avLst/>
          </a:prstGeom>
          <a:noFill/>
        </p:spPr>
        <p:txBody>
          <a:bodyPr wrap="square" lIns="27432" rIns="27432" tIns="18288" bIns="0">
            <a:spAutoFit/>
          </a:bodyPr>
          <a:lstStyle/>
          <a:p>
            <a:pPr>
              <a:spcAft>
                <a:spcPts val="800"/>
              </a:spcAft>
              <a:defRPr sz="2100" b="1">
                <a:solidFill>
                  <a:srgbClr val="0078D4"/>
                </a:solidFill>
                <a:latin typeface="DejaVu Sans"/>
              </a:defRPr>
            </a:pPr>
            <a:r>
              <a:t>Blob + Monitor</a:t>
            </a:r>
          </a:p>
        </p:txBody>
      </p:sp>
      <p:sp>
        <p:nvSpPr>
          <p:cNvPr id="25" name="TextBox 24"/>
          <p:cNvSpPr txBox="1"/>
          <p:nvPr/>
        </p:nvSpPr>
        <p:spPr>
          <a:xfrm>
            <a:off x="7543800" y="5157216"/>
            <a:ext cx="3611880" cy="457200"/>
          </a:xfrm>
          <a:prstGeom prst="rect">
            <a:avLst/>
          </a:prstGeom>
          <a:noFill/>
        </p:spPr>
        <p:txBody>
          <a:bodyPr wrap="square" lIns="27432" rIns="27432" tIns="18288" bIns="0">
            <a:spAutoFit/>
          </a:bodyPr>
          <a:lstStyle/>
          <a:p>
            <a:pPr>
              <a:spcAft>
                <a:spcPts val="800"/>
              </a:spcAft>
              <a:defRPr sz="1800" b="0">
                <a:solidFill>
                  <a:srgbClr val="153D61"/>
                </a:solidFill>
                <a:latin typeface="DejaVu Sans"/>
              </a:defRPr>
            </a:pPr>
            <a:r>
              <a:t>Video fayllar va kuzatuv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Azure haqida noto‘g‘ri xulosalardan saqlaning</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11 / 13</a:t>
            </a:r>
          </a:p>
        </p:txBody>
      </p:sp>
      <p:sp>
        <p:nvSpPr>
          <p:cNvPr id="9" name="Rectangle 8"/>
          <p:cNvSpPr/>
          <p:nvPr/>
        </p:nvSpPr>
        <p:spPr>
          <a:xfrm>
            <a:off x="731520" y="1737360"/>
            <a:ext cx="512064" cy="115214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92024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1</a:t>
            </a:r>
          </a:p>
        </p:txBody>
      </p:sp>
      <p:sp>
        <p:nvSpPr>
          <p:cNvPr id="11" name="TextBox 10"/>
          <p:cNvSpPr txBox="1"/>
          <p:nvPr/>
        </p:nvSpPr>
        <p:spPr>
          <a:xfrm>
            <a:off x="1444752" y="1773936"/>
            <a:ext cx="3063240" cy="1124712"/>
          </a:xfrm>
          <a:prstGeom prst="rect">
            <a:avLst/>
          </a:prstGeom>
          <a:noFill/>
        </p:spPr>
        <p:txBody>
          <a:bodyPr wrap="square" lIns="27432" rIns="27432" tIns="18288" bIns="0">
            <a:spAutoFit/>
          </a:bodyPr>
          <a:lstStyle/>
          <a:p>
            <a:pPr>
              <a:spcAft>
                <a:spcPts val="800"/>
              </a:spcAft>
              <a:defRPr sz="2100" b="1">
                <a:solidFill>
                  <a:srgbClr val="153D61"/>
                </a:solidFill>
                <a:latin typeface="DejaVu Sans"/>
              </a:defRPr>
            </a:pPr>
            <a:r>
              <a:t>Azure boshqaruv iyerarxiyasi</a:t>
            </a:r>
          </a:p>
        </p:txBody>
      </p:sp>
      <p:sp>
        <p:nvSpPr>
          <p:cNvPr id="12" name="Rounded Rectangle 11"/>
          <p:cNvSpPr/>
          <p:nvPr/>
        </p:nvSpPr>
        <p:spPr>
          <a:xfrm>
            <a:off x="4599432" y="1737360"/>
            <a:ext cx="6812280" cy="1170432"/>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82312" y="1856231"/>
            <a:ext cx="6428232" cy="987552"/>
          </a:xfrm>
          <a:prstGeom prst="rect">
            <a:avLst/>
          </a:prstGeom>
          <a:noFill/>
        </p:spPr>
        <p:txBody>
          <a:bodyPr wrap="square" lIns="27432" rIns="27432" tIns="18288" bIns="0">
            <a:spAutoFit/>
          </a:bodyPr>
          <a:lstStyle/>
          <a:p>
            <a:pPr>
              <a:spcAft>
                <a:spcPts val="800"/>
              </a:spcAft>
              <a:defRPr sz="2000" b="0">
                <a:solidFill>
                  <a:srgbClr val="153D61"/>
                </a:solidFill>
                <a:latin typeface="DejaVu Sans"/>
              </a:defRPr>
            </a:pPr>
            <a:r>
              <a:t>Resource group xavfsizlik devori yoki alohida jismoniy ma’lumotlar markazi emas.</a:t>
            </a:r>
          </a:p>
        </p:txBody>
      </p:sp>
      <p:sp>
        <p:nvSpPr>
          <p:cNvPr id="14" name="Rectangle 13"/>
          <p:cNvSpPr/>
          <p:nvPr/>
        </p:nvSpPr>
        <p:spPr>
          <a:xfrm>
            <a:off x="731520" y="3154680"/>
            <a:ext cx="512064" cy="115214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 y="333756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2</a:t>
            </a:r>
          </a:p>
        </p:txBody>
      </p:sp>
      <p:sp>
        <p:nvSpPr>
          <p:cNvPr id="16" name="TextBox 15"/>
          <p:cNvSpPr txBox="1"/>
          <p:nvPr/>
        </p:nvSpPr>
        <p:spPr>
          <a:xfrm>
            <a:off x="1444752" y="3191256"/>
            <a:ext cx="3063240" cy="1124712"/>
          </a:xfrm>
          <a:prstGeom prst="rect">
            <a:avLst/>
          </a:prstGeom>
          <a:noFill/>
        </p:spPr>
        <p:txBody>
          <a:bodyPr wrap="square" lIns="27432" rIns="27432" tIns="18288" bIns="0">
            <a:spAutoFit/>
          </a:bodyPr>
          <a:lstStyle/>
          <a:p>
            <a:pPr>
              <a:spcAft>
                <a:spcPts val="800"/>
              </a:spcAft>
              <a:defRPr sz="2100" b="1">
                <a:solidFill>
                  <a:srgbClr val="153D61"/>
                </a:solidFill>
                <a:latin typeface="DejaVu Sans"/>
              </a:defRPr>
            </a:pPr>
            <a:r>
              <a:t>Blob Storage</a:t>
            </a:r>
          </a:p>
        </p:txBody>
      </p:sp>
      <p:sp>
        <p:nvSpPr>
          <p:cNvPr id="17" name="Rounded Rectangle 16"/>
          <p:cNvSpPr/>
          <p:nvPr/>
        </p:nvSpPr>
        <p:spPr>
          <a:xfrm>
            <a:off x="4599432" y="3154680"/>
            <a:ext cx="6812280" cy="1170432"/>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82312" y="3273552"/>
            <a:ext cx="6428232" cy="987552"/>
          </a:xfrm>
          <a:prstGeom prst="rect">
            <a:avLst/>
          </a:prstGeom>
          <a:noFill/>
        </p:spPr>
        <p:txBody>
          <a:bodyPr wrap="square" lIns="27432" rIns="27432" tIns="18288" bIns="0">
            <a:spAutoFit/>
          </a:bodyPr>
          <a:lstStyle/>
          <a:p>
            <a:pPr>
              <a:spcAft>
                <a:spcPts val="800"/>
              </a:spcAft>
              <a:defRPr sz="2000" b="0">
                <a:solidFill>
                  <a:srgbClr val="153D61"/>
                </a:solidFill>
                <a:latin typeface="DejaVu Sans"/>
              </a:defRPr>
            </a:pPr>
            <a:r>
              <a:t>SAS havolasi uni olgan kishiga belgilangan amalni berishi mumkin; uni keraksiz keng va uzoq muddatli qilish xavfli.</a:t>
            </a:r>
          </a:p>
        </p:txBody>
      </p:sp>
      <p:sp>
        <p:nvSpPr>
          <p:cNvPr id="19" name="Rectangle 18"/>
          <p:cNvSpPr/>
          <p:nvPr/>
        </p:nvSpPr>
        <p:spPr>
          <a:xfrm>
            <a:off x="731520" y="4572000"/>
            <a:ext cx="512064" cy="115214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475488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3</a:t>
            </a:r>
          </a:p>
        </p:txBody>
      </p:sp>
      <p:sp>
        <p:nvSpPr>
          <p:cNvPr id="21" name="TextBox 20"/>
          <p:cNvSpPr txBox="1"/>
          <p:nvPr/>
        </p:nvSpPr>
        <p:spPr>
          <a:xfrm>
            <a:off x="1444752" y="4608576"/>
            <a:ext cx="3063240" cy="1124712"/>
          </a:xfrm>
          <a:prstGeom prst="rect">
            <a:avLst/>
          </a:prstGeom>
          <a:noFill/>
        </p:spPr>
        <p:txBody>
          <a:bodyPr wrap="square" lIns="27432" rIns="27432" tIns="18288" bIns="0">
            <a:spAutoFit/>
          </a:bodyPr>
          <a:lstStyle/>
          <a:p>
            <a:pPr>
              <a:spcAft>
                <a:spcPts val="800"/>
              </a:spcAft>
              <a:defRPr sz="2100" b="1">
                <a:solidFill>
                  <a:srgbClr val="153D61"/>
                </a:solidFill>
                <a:latin typeface="DejaVu Sans"/>
              </a:defRPr>
            </a:pPr>
            <a:r>
              <a:t>Virtual Network va identifikatsiya</a:t>
            </a:r>
          </a:p>
        </p:txBody>
      </p:sp>
      <p:sp>
        <p:nvSpPr>
          <p:cNvPr id="22" name="Rounded Rectangle 21"/>
          <p:cNvSpPr/>
          <p:nvPr/>
        </p:nvSpPr>
        <p:spPr>
          <a:xfrm>
            <a:off x="4599432" y="4572000"/>
            <a:ext cx="6812280" cy="1170432"/>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82312" y="4690872"/>
            <a:ext cx="6428232" cy="987552"/>
          </a:xfrm>
          <a:prstGeom prst="rect">
            <a:avLst/>
          </a:prstGeom>
          <a:noFill/>
        </p:spPr>
        <p:txBody>
          <a:bodyPr wrap="square" lIns="27432" rIns="27432" tIns="18288" bIns="0">
            <a:spAutoFit/>
          </a:bodyPr>
          <a:lstStyle/>
          <a:p>
            <a:pPr>
              <a:spcAft>
                <a:spcPts val="800"/>
              </a:spcAft>
              <a:defRPr sz="2000" b="0">
                <a:solidFill>
                  <a:srgbClr val="153D61"/>
                </a:solidFill>
                <a:latin typeface="DejaVu Sans"/>
              </a:defRPr>
            </a:pPr>
            <a:r>
              <a:t>NSG qoidasi bilan RBAC rolini almashtirib bo‘lmaydi: ular turli qatlamni boshqaradi.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0" y="0"/>
            <a:ext cx="12191695" cy="1371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0352" y="429768"/>
            <a:ext cx="50292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781812" y="475488"/>
            <a:ext cx="0" cy="41148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76072" y="676656"/>
            <a:ext cx="411480" cy="0"/>
          </a:xfrm>
          <a:prstGeom prst="line">
            <a:avLst/>
          </a:prstGeom>
          <a:ln w="12700">
            <a:solidFill>
              <a:srgbClr val="FFFFF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234440" y="384048"/>
            <a:ext cx="10104120" cy="1042415"/>
          </a:xfrm>
          <a:prstGeom prst="rect">
            <a:avLst/>
          </a:prstGeom>
          <a:noFill/>
        </p:spPr>
        <p:txBody>
          <a:bodyPr wrap="square" lIns="27432" rIns="27432" tIns="18288" bIns="0">
            <a:spAutoFit/>
          </a:bodyPr>
          <a:lstStyle/>
          <a:p>
            <a:pPr>
              <a:spcAft>
                <a:spcPts val="800"/>
              </a:spcAft>
              <a:defRPr sz="3000" b="1">
                <a:solidFill>
                  <a:srgbClr val="153D61"/>
                </a:solidFill>
                <a:latin typeface="DejaVu Sans"/>
              </a:defRPr>
            </a:pPr>
            <a:r>
              <a:t>Azure: yakuniy tayanch fikrlar</a:t>
            </a:r>
          </a:p>
        </p:txBody>
      </p:sp>
      <p:sp>
        <p:nvSpPr>
          <p:cNvPr id="7" name="TextBox 6"/>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8" name="TextBox 7"/>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12 / 13</a:t>
            </a:r>
          </a:p>
        </p:txBody>
      </p:sp>
      <p:sp>
        <p:nvSpPr>
          <p:cNvPr id="9" name="Rounded Rectangle 8"/>
          <p:cNvSpPr/>
          <p:nvPr/>
        </p:nvSpPr>
        <p:spPr>
          <a:xfrm>
            <a:off x="731520" y="1874519"/>
            <a:ext cx="3465576" cy="3611880"/>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23544" y="2029968"/>
            <a:ext cx="3072384" cy="502920"/>
          </a:xfrm>
          <a:prstGeom prst="rect">
            <a:avLst/>
          </a:prstGeom>
          <a:noFill/>
        </p:spPr>
        <p:txBody>
          <a:bodyPr wrap="square" lIns="27432" rIns="27432" tIns="18288" bIns="0">
            <a:spAutoFit/>
          </a:bodyPr>
          <a:lstStyle/>
          <a:p>
            <a:pPr>
              <a:spcAft>
                <a:spcPts val="800"/>
              </a:spcAft>
              <a:defRPr sz="3200" b="1">
                <a:solidFill>
                  <a:srgbClr val="0078D4"/>
                </a:solidFill>
                <a:latin typeface="DejaVu Sans"/>
              </a:defRPr>
            </a:pPr>
            <a:r>
              <a:t>01</a:t>
            </a:r>
          </a:p>
        </p:txBody>
      </p:sp>
      <p:sp>
        <p:nvSpPr>
          <p:cNvPr id="11" name="TextBox 10"/>
          <p:cNvSpPr txBox="1"/>
          <p:nvPr/>
        </p:nvSpPr>
        <p:spPr>
          <a:xfrm>
            <a:off x="923544" y="2788920"/>
            <a:ext cx="3072384" cy="1042415"/>
          </a:xfrm>
          <a:prstGeom prst="rect">
            <a:avLst/>
          </a:prstGeom>
          <a:noFill/>
        </p:spPr>
        <p:txBody>
          <a:bodyPr wrap="square" lIns="27432" rIns="27432" tIns="18288" bIns="0">
            <a:spAutoFit/>
          </a:bodyPr>
          <a:lstStyle/>
          <a:p>
            <a:pPr>
              <a:spcAft>
                <a:spcPts val="800"/>
              </a:spcAft>
              <a:defRPr sz="2400" b="1">
                <a:solidFill>
                  <a:srgbClr val="153D61"/>
                </a:solidFill>
                <a:latin typeface="DejaVu Sans"/>
              </a:defRPr>
            </a:pPr>
            <a:r>
              <a:t>Azure boshqaruv iyerarxiyasi</a:t>
            </a:r>
          </a:p>
        </p:txBody>
      </p:sp>
      <p:sp>
        <p:nvSpPr>
          <p:cNvPr id="12" name="TextBox 11"/>
          <p:cNvSpPr txBox="1"/>
          <p:nvPr/>
        </p:nvSpPr>
        <p:spPr>
          <a:xfrm>
            <a:off x="923544" y="4087368"/>
            <a:ext cx="3072384" cy="1234440"/>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Tenant → subscription → resource group → resource.</a:t>
            </a:r>
          </a:p>
        </p:txBody>
      </p:sp>
      <p:sp>
        <p:nvSpPr>
          <p:cNvPr id="13" name="Rounded Rectangle 12"/>
          <p:cNvSpPr/>
          <p:nvPr/>
        </p:nvSpPr>
        <p:spPr>
          <a:xfrm>
            <a:off x="4425696" y="1874519"/>
            <a:ext cx="3465576" cy="3611880"/>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17720" y="2029968"/>
            <a:ext cx="3072384" cy="502920"/>
          </a:xfrm>
          <a:prstGeom prst="rect">
            <a:avLst/>
          </a:prstGeom>
          <a:noFill/>
        </p:spPr>
        <p:txBody>
          <a:bodyPr wrap="square" lIns="27432" rIns="27432" tIns="18288" bIns="0">
            <a:spAutoFit/>
          </a:bodyPr>
          <a:lstStyle/>
          <a:p>
            <a:pPr>
              <a:spcAft>
                <a:spcPts val="800"/>
              </a:spcAft>
              <a:defRPr sz="3200" b="1">
                <a:solidFill>
                  <a:srgbClr val="0078D4"/>
                </a:solidFill>
                <a:latin typeface="DejaVu Sans"/>
              </a:defRPr>
            </a:pPr>
            <a:r>
              <a:t>02</a:t>
            </a:r>
          </a:p>
        </p:txBody>
      </p:sp>
      <p:sp>
        <p:nvSpPr>
          <p:cNvPr id="15" name="TextBox 14"/>
          <p:cNvSpPr txBox="1"/>
          <p:nvPr/>
        </p:nvSpPr>
        <p:spPr>
          <a:xfrm>
            <a:off x="4617720" y="2788920"/>
            <a:ext cx="3072384" cy="1042415"/>
          </a:xfrm>
          <a:prstGeom prst="rect">
            <a:avLst/>
          </a:prstGeom>
          <a:noFill/>
        </p:spPr>
        <p:txBody>
          <a:bodyPr wrap="square" lIns="27432" rIns="27432" tIns="18288" bIns="0">
            <a:spAutoFit/>
          </a:bodyPr>
          <a:lstStyle/>
          <a:p>
            <a:pPr>
              <a:spcAft>
                <a:spcPts val="800"/>
              </a:spcAft>
              <a:defRPr sz="2400" b="1">
                <a:solidFill>
                  <a:srgbClr val="153D61"/>
                </a:solidFill>
                <a:latin typeface="DejaVu Sans"/>
              </a:defRPr>
            </a:pPr>
            <a:r>
              <a:t>Blob Storage</a:t>
            </a:r>
          </a:p>
        </p:txBody>
      </p:sp>
      <p:sp>
        <p:nvSpPr>
          <p:cNvPr id="16" name="TextBox 15"/>
          <p:cNvSpPr txBox="1"/>
          <p:nvPr/>
        </p:nvSpPr>
        <p:spPr>
          <a:xfrm>
            <a:off x="4617720" y="4087368"/>
            <a:ext cx="3072384" cy="1234440"/>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Video, rasm va arxiv uchun obyekt saqlash.</a:t>
            </a:r>
          </a:p>
        </p:txBody>
      </p:sp>
      <p:sp>
        <p:nvSpPr>
          <p:cNvPr id="17" name="Rounded Rectangle 16"/>
          <p:cNvSpPr/>
          <p:nvPr/>
        </p:nvSpPr>
        <p:spPr>
          <a:xfrm>
            <a:off x="8119872" y="1874519"/>
            <a:ext cx="3465576" cy="3611880"/>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2029968"/>
            <a:ext cx="3072384" cy="502920"/>
          </a:xfrm>
          <a:prstGeom prst="rect">
            <a:avLst/>
          </a:prstGeom>
          <a:noFill/>
        </p:spPr>
        <p:txBody>
          <a:bodyPr wrap="square" lIns="27432" rIns="27432" tIns="18288" bIns="0">
            <a:spAutoFit/>
          </a:bodyPr>
          <a:lstStyle/>
          <a:p>
            <a:pPr>
              <a:spcAft>
                <a:spcPts val="800"/>
              </a:spcAft>
              <a:defRPr sz="3200" b="1">
                <a:solidFill>
                  <a:srgbClr val="0078D4"/>
                </a:solidFill>
                <a:latin typeface="DejaVu Sans"/>
              </a:defRPr>
            </a:pPr>
            <a:r>
              <a:t>03</a:t>
            </a:r>
          </a:p>
        </p:txBody>
      </p:sp>
      <p:sp>
        <p:nvSpPr>
          <p:cNvPr id="19" name="TextBox 18"/>
          <p:cNvSpPr txBox="1"/>
          <p:nvPr/>
        </p:nvSpPr>
        <p:spPr>
          <a:xfrm>
            <a:off x="8311896" y="2788920"/>
            <a:ext cx="3072384" cy="1042415"/>
          </a:xfrm>
          <a:prstGeom prst="rect">
            <a:avLst/>
          </a:prstGeom>
          <a:noFill/>
        </p:spPr>
        <p:txBody>
          <a:bodyPr wrap="square" lIns="27432" rIns="27432" tIns="18288" bIns="0">
            <a:spAutoFit/>
          </a:bodyPr>
          <a:lstStyle/>
          <a:p>
            <a:pPr>
              <a:spcAft>
                <a:spcPts val="800"/>
              </a:spcAft>
              <a:defRPr sz="2400" b="1">
                <a:solidFill>
                  <a:srgbClr val="153D61"/>
                </a:solidFill>
                <a:latin typeface="DejaVu Sans"/>
              </a:defRPr>
            </a:pPr>
            <a:r>
              <a:t>Virtual Network va identifikatsiya</a:t>
            </a:r>
          </a:p>
        </p:txBody>
      </p:sp>
      <p:sp>
        <p:nvSpPr>
          <p:cNvPr id="20" name="TextBox 19"/>
          <p:cNvSpPr txBox="1"/>
          <p:nvPr/>
        </p:nvSpPr>
        <p:spPr>
          <a:xfrm>
            <a:off x="8311896" y="4087368"/>
            <a:ext cx="3072384" cy="1234440"/>
          </a:xfrm>
          <a:prstGeom prst="rect">
            <a:avLst/>
          </a:prstGeom>
          <a:noFill/>
        </p:spPr>
        <p:txBody>
          <a:bodyPr wrap="square" lIns="27432" rIns="27432" tIns="18288" bIns="0">
            <a:spAutoFit/>
          </a:bodyPr>
          <a:lstStyle/>
          <a:p>
            <a:pPr>
              <a:spcAft>
                <a:spcPts val="800"/>
              </a:spcAft>
              <a:defRPr sz="2100" b="0">
                <a:solidFill>
                  <a:srgbClr val="153D61"/>
                </a:solidFill>
                <a:latin typeface="DejaVu Sans"/>
              </a:defRPr>
            </a:pPr>
            <a:r>
              <a:t>Tarmoq ajratilishi + RBAC + managed identity.</a:t>
            </a:r>
          </a:p>
        </p:txBody>
      </p:sp>
      <p:sp>
        <p:nvSpPr>
          <p:cNvPr id="21" name="Rounded Rectangle 20"/>
          <p:cNvSpPr/>
          <p:nvPr/>
        </p:nvSpPr>
        <p:spPr>
          <a:xfrm>
            <a:off x="731520" y="5641848"/>
            <a:ext cx="10698480" cy="621792"/>
          </a:xfrm>
          <a:prstGeom prst="roundRect">
            <a:avLst>
              <a:gd name="adj" fmla="val 8000"/>
            </a:avLst>
          </a:prstGeom>
          <a:solidFill>
            <a:srgbClr val="ED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153D61"/>
                </a:solidFill>
                <a:latin typeface="DejaVu Sans"/>
              </a:defRPr>
            </a:pPr>
            <a:r>
              <a:t>Asosiy mezon: xizmatni tanlashda xavfsizlik, mavjudlik va xarajatni birga baholang.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CFF"/>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153D61"/>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153D61"/>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0078D4"/>
                </a:solidFill>
                <a:latin typeface="DejaVu Sans"/>
              </a:defRPr>
            </a:pPr>
            <a:r>
              <a:t>https://learn.microsoft.com/azure/azure-resource-manager/management/overview</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0078D4"/>
                </a:solidFill>
                <a:latin typeface="DejaVu Sans"/>
              </a:defRPr>
            </a:pPr>
            <a:r>
              <a:t>https://learn.microsoft.com/azure/azure-sql/database/</a:t>
            </a:r>
          </a:p>
        </p:txBody>
      </p:sp>
      <p:sp>
        <p:nvSpPr>
          <p:cNvPr id="7" name="TextBox 6"/>
          <p:cNvSpPr txBox="1"/>
          <p:nvPr/>
        </p:nvSpPr>
        <p:spPr>
          <a:xfrm>
            <a:off x="777240" y="3145536"/>
            <a:ext cx="10652760" cy="365760"/>
          </a:xfrm>
          <a:prstGeom prst="rect">
            <a:avLst/>
          </a:prstGeom>
          <a:noFill/>
        </p:spPr>
        <p:txBody>
          <a:bodyPr wrap="square" lIns="27432" rIns="27432" tIns="18288" bIns="0">
            <a:spAutoFit/>
          </a:bodyPr>
          <a:lstStyle/>
          <a:p>
            <a:pPr>
              <a:spcAft>
                <a:spcPts val="800"/>
              </a:spcAft>
              <a:defRPr sz="1300" b="0">
                <a:solidFill>
                  <a:srgbClr val="0078D4"/>
                </a:solidFill>
                <a:latin typeface="DejaVu Sans"/>
              </a:defRPr>
            </a:pPr>
            <a:r>
              <a:t>https://learn.microsoft.com/azure/azure-functions/</a:t>
            </a:r>
          </a:p>
        </p:txBody>
      </p:sp>
      <p:sp>
        <p:nvSpPr>
          <p:cNvPr id="8" name="TextBox 7"/>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0078D4"/>
                </a:solidFill>
                <a:latin typeface="DejaVu Sans"/>
              </a:defRPr>
            </a:pPr>
            <a:r>
              <a:t>INTERNET RASMI</a:t>
            </a:r>
          </a:p>
        </p:txBody>
      </p:sp>
      <p:sp>
        <p:nvSpPr>
          <p:cNvPr id="9" name="TextBox 8"/>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153D61"/>
                </a:solidFill>
                <a:latin typeface="DejaVu Sans"/>
              </a:defRPr>
            </a:pPr>
            <a:r>
              <a:t>Microsoft Azure; CNCF landscape</a:t>
            </a:r>
          </a:p>
        </p:txBody>
      </p:sp>
      <p:sp>
        <p:nvSpPr>
          <p:cNvPr id="10" name="TextBox 9"/>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https://raw.githubusercontent.com/cncf/landscape/master/hosted_logos/microsoft-azure.svg</a:t>
            </a:r>
          </a:p>
        </p:txBody>
      </p:sp>
      <p:sp>
        <p:nvSpPr>
          <p:cNvPr id="11" name="TextBox 10"/>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153D61"/>
                </a:solidFill>
                <a:latin typeface="DejaVu Sans"/>
              </a:defRPr>
            </a:pPr>
            <a:r>
              <a:t>Barcha rasm manbalari va foydalanish izohlari: ASSET_SOURCES.md</a:t>
            </a:r>
          </a:p>
        </p:txBody>
      </p:sp>
      <p:sp>
        <p:nvSpPr>
          <p:cNvPr id="12" name="TextBox 11"/>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153D61"/>
                </a:solidFill>
                <a:latin typeface="DejaVu Sans"/>
              </a:defRPr>
            </a:pPr>
            <a:r>
              <a:t>BTST206   /   M13   /   2027–2028</a:t>
            </a:r>
          </a:p>
        </p:txBody>
      </p:sp>
      <p:sp>
        <p:nvSpPr>
          <p:cNvPr id="13" name="TextBox 12"/>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153D61"/>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