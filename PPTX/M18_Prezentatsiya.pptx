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Assalomu alaykum, aziz talabalar. Bugungi ma’ruzamiz «Bulut texnologiyalarining zamonaviy yo‘nalishlari» mavzusiga bag‘ishlanadi. Mavzuni murakkab atamalardan emas, kundalik ehtiyojdan boshlaymiz. Universitet aqlli kampus tizimini qurmoqda. Sensorlar ma’lumot yuboradi, ayrim qarorlar qurilmaga yaqin qabul qilinadi, katta tahlil esa bulutda bajariladi. Yondashuvlar yagona maqsadga xizmat qiladi.</a:t>
            </a:r>
          </a:p>
          <a:p/>
          <a:p>
            <a:r>
              <a:t>Biz avval asosiy tushunchalarni ajratamiz, keyin ularning ishlash tartibini sxemada ko‘ramiz. Maqsad xizmat nomlarini yodlash emas, ularning qaysi vazifani bajarishini va qayerda cheklanishini tushunishdir. Inglizcha atama uchraganda uning sodda o‘zbekcha ma’nosi bilan bog‘laymiz. Slayddagi qisqa jumlalar tayanch fikrlar bo‘lib, ularning batafsil izohi ushbu ma’ruza matnida beriladi.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Ma’ruza oltita asosiy bo‘limdan iborat. 1-bo‘limda edge va fog computing tushuntiriladi. 2-bo‘limda iot cloud tushuntiriladi. 3-bo‘limda ai cloud tushuntiriladi. 4-bo‘limda green cloud computing tushuntiriladi. 5-bo‘limda cloud-native va mikroservislar tushuntiriladi. 6-bo‘limda integratsiya va istiqbollar tushuntiriladi.</a:t>
            </a:r>
          </a:p>
          <a:p/>
          <a:p>
            <a:r>
              <a:t>Har bir bo‘limda bir xil fikrlash tartibidan foydalanamiz: tushuncha nimani anglatadi, qanday ishlaydi, universitet portalida qayerda ko‘rinadi va qaysi holatda ehtiyot bo‘lish kerak. Shundan keyin umumiy sxema barcha qismlarni bir-biriga bog‘laydi. Oxirida o‘qituvchi bayon qiladigan misol, chalkash tushunchalar va yakuniy xulosalar beriladi. Bu ketma-ketlik amaliy topshiriq emas, videodarsning tushuntirish rejasidir.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Edge Computing hisoblashni qurilma yoki unga yaqin nuqtada bajaradi. Fog ko‘pincha edge bilan markaziy bulut orasidagi ko‘p bosqichli hisoblash qatlamini anglatadi. Maqsad kechikish va tarmoq yukini kamaytirishdir.</a:t>
            </a:r>
          </a:p>
          <a:p/>
          <a:p>
            <a:r>
              <a:t>Sensorning dastlabki ma’lumoti mahalliy tugunda filtrlanadi. Muhim natija tez ishlatiladi, jamlangan ma’lumot esa bulutga tahlil va saqlash uchun uzatiladi.</a:t>
            </a:r>
          </a:p>
          <a:p/>
          <a:p>
            <a:r>
              <a:t>Universitet misolida buni quyidagicha tasavvur qilamiz. Kampus kamerasi barcha videoni uzatish o‘rniga mahalliy aniqlangan hodisa va kerakli parchani yuboradi. Bu misolda texnik atama real vazifa bilan bog‘lanadi: resursning nomini emas, nima uchun tanlanganini tushunish muhim.</a:t>
            </a:r>
          </a:p>
          <a:p/>
          <a:p>
            <a:r>
              <a:t>E’tibor beradigan chegara ham bor. Atamalar chegarasi barcha manbalarda bir xil emas; amaliy arxitekturada qaysi ish qayerda bajarilishi aniq ko‘rsatiladi. Shuning uchun texnik qaror chiqarishda slayddagi asosiy fikr bilan birga shu shartni ham yodda tutamiz.</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IoT Cloud qurilmalarni ulash, identifikatsiya qilish, xabarlarni qabul qilish va tahlil qilish xizmatlarini birlashtiradi. Qurilma soni ko‘p bo‘lgani uchun har biriga alohida identifikator va yangilash siyosati zarur.</a:t>
            </a:r>
          </a:p>
          <a:p/>
          <a:p>
            <a:r>
              <a:t>Sensor ma’lumotni broker yoki shlyuzga yuboradi. Oqim qayta ishlanadi, saqlanadi va zarur hodisa yaratiladi. Uzilishdan keyin yig‘ilgan xabarlar boshqariladigan tarzda yetkaziladi.</a:t>
            </a:r>
          </a:p>
          <a:p/>
          <a:p>
            <a:r>
              <a:t>Universitet misolida buni quyidagicha tasavvur qilamiz. Auditoriya harorati sensorlari ko‘rsatkich yuboradi, tizim isitish va shamollatish bo‘yicha tavsiya yaratadi. Bu misolda texnik atama real vazifa bilan bog‘lanadi: resursning nomini emas, nima uchun tanlanganini tushunish muhim.</a:t>
            </a:r>
          </a:p>
          <a:p/>
          <a:p>
            <a:r>
              <a:t>E’tibor beradigan chegara ham bor. Qurilmalarga bir xil umumiy parol berish butun park xavfsizligini zaiflashtiradi. Shuning uchun texnik qaror chiqarishda slayddagi asosiy fikr bilan birga shu shartni ham yodda tutamiz.</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 Cloud ma’lumot tayyorlash, model o‘qitish va inference uchun resurslarni taqdim etadi. Katta modellar GPU yoki maxsus tezlatkich talab qilishi mumkin. O‘qitish va tayyor modeldan foydalanish ikki xil ish yuklamasidir.</a:t>
            </a:r>
          </a:p>
          <a:p/>
          <a:p>
            <a:r>
              <a:t>Ma’lumot tozalanadi, model tanlanadi yoki moslashtiriladi, sifat va xavfsizlik baholanadi. Keyin model endpoint sifatida xizmat qiladi va natijalar kuzatiladi.</a:t>
            </a:r>
          </a:p>
          <a:p/>
          <a:p>
            <a:r>
              <a:t>Universitet misolida buni quyidagicha tasavvur qilamiz. Universitet yordamchi tizimi o‘quv hujjatlari asosida javob tayyorlaydi; foydalanuvchiga muhim qarorlar tekshirilishi tushuntiriladi. Bu misolda texnik atama real vazifa bilan bog‘lanadi: resursning nomini emas, nima uchun tanlanganini tushunish muhim.</a:t>
            </a:r>
          </a:p>
          <a:p/>
          <a:p>
            <a:r>
              <a:t>E’tibor beradigan chegara ham bor. AI javobi xato bo‘lishi mumkin; maxfiy ma’lumot, tarafkashlik va inson nazorati oldindan baholanadi. Shuning uchun texnik qaror chiqarishda slayddagi asosiy fikr bilan birga shu shartni ham yodda tutamiz.</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Green Cloud energiya va resurslardan oqilona foydalanish orqali ekologik ta’sirni kamaytirishga intiladi. Quvvatni to‘g‘ri o‘lchash, keraksiz hisoblashni kamaytirish va ma’lumot hayot sikli muhim. Faqat bulutga ko‘chishning o‘zi yetarli emas.</a:t>
            </a:r>
          </a:p>
          <a:p/>
          <a:p>
            <a:r>
              <a:t>Yuklama o‘lchanadi, bo‘sh resurslar kamaytiriladi va vazifalar talabga mos rejalashtiriladi. Hudud tanlashda energiya omili bilan birga ma’lumot joylashuvi va xizmat talabi hisobga olinadi.</a:t>
            </a:r>
          </a:p>
          <a:p/>
          <a:p>
            <a:r>
              <a:t>Universitet misolida buni quyidagicha tasavvur qilamiz. Bir xil hisobot har daqiqada qayta hisoblanish o‘rniga mos davriylikda yangilanadi; ortiqcha nusxalar o‘chiriladi. Bu misolda texnik atama real vazifa bilan bog‘lanadi: resursning nomini emas, nima uchun tanlanganini tushunish muhim.</a:t>
            </a:r>
          </a:p>
          <a:p/>
          <a:p>
            <a:r>
              <a:t>E’tibor beradigan chegara ham bor. Karbon ta’sirini baholash uchun metodika kerak; xarajat kamayishi har doim bir xil nisbatda emissiya kamayishini anglatmaydi. Shuning uchun texnik qaror chiqarishda slayddagi asosiy fikr bilan birga shu shartni ham yodda tutamiz.</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Cloud-native bulut imkoniyatlariga mos loyihalash va ishlatish yondashuvidir. Konteynerlar, deklarativ boshqaruv, observability va avtomatlashtirish ko‘p uchraydi. Mikroservislar esa biznes vazifalarini mustaqil xizmatlarga ajratadi.</a:t>
            </a:r>
          </a:p>
          <a:p/>
          <a:p>
            <a:r>
              <a:t>Har bir xizmat aniq API va mas’uliyatga ega bo‘ladi. Mustaqil joylashtirish yordam beradi, lekin tarmoq, muvofiqlik va kuzatuv murakkabligini oshiradi.</a:t>
            </a:r>
          </a:p>
          <a:p/>
          <a:p>
            <a:r>
              <a:t>Universitet misolida buni quyidagicha tasavvur qilamiz. Portal, xabarnoma va video qayta ishlash xizmatlari turli yuklamaga qarab alohida masshtablanadi. Bu misolda texnik atama real vazifa bilan bog‘lanadi: resursning nomini emas, nima uchun tanlanganini tushunish muhim.</a:t>
            </a:r>
          </a:p>
          <a:p/>
          <a:p>
            <a:r>
              <a:t>E’tibor beradigan chegara ham bor. Kichik jamoa va oddiy tizim uchun yaxshi tuzilgan monolit ba’zan osonroq; mikroservis har doim zarur emas. Shuning uchun texnik qaror chiqarishda slayddagi asosiy fikr bilan birga shu shartni ham yodda tutamiz.</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Zamonaviy arxitektura bitta texnologiyani hamma joyda qo‘llash emas. Mahalliy talab, edge tezligi, bulut tahlili va boshqariladigan xizmatlar moslashtiriladi. Portativlik, ochiq format va barqaror API lar o‘zgarishga tayyorlikni oshiradi.</a:t>
            </a:r>
          </a:p>
          <a:p/>
          <a:p>
            <a:r>
              <a:t>Ma’lumot manbadan yig‘iladi, kerakli joyda qayta ishlanadi va nazorat qilinadigan xizmatga aylanadi. Natija sifat, xavfsizlik, xarajat va ekologik ko‘rsatkichlar bilan baholanadi.</a:t>
            </a:r>
          </a:p>
          <a:p/>
          <a:p>
            <a:r>
              <a:t>Universitet misolida buni quyidagicha tasavvur qilamiz. Aqlli kampusda tez xavfsizlik signali edge da, yillik energiya tahlili esa bulutdagi Big Data platformasida bajariladi. Bu misolda texnik atama real vazifa bilan bog‘lanadi: resursning nomini emas, nima uchun tanlanganini tushunish muhim.</a:t>
            </a:r>
          </a:p>
          <a:p/>
          <a:p>
            <a:r>
              <a:t>E’tibor beradigan chegara ham bor. Kelajak yo‘nalishlari prognozdir; aniq xizmat, narx va imkoniyatni joriy rasmiy hujjatlar bilan tekshirish kerak. Shuning uchun texnik qaror chiqarishda slayddagi asosiy fikr bilan birga shu shartni ham yodda tutamiz.</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Endi mavzuni yaxlit sxemada ko‘ramiz. To‘rtburchaklar asosiy komponentlarni, o‘qlar esa ma’lumot, murojaat yoki boshqaruv bog‘lanishini ko‘rsatadi. Bu soddalashtirilgan ta’lim sxemasi: unda barcha xavfsizlik qoidalari, ichki protokollar va zaxira komponentlari alohida chizilmagan.</a:t>
            </a:r>
          </a:p>
          <a:p/>
          <a:p>
            <a:r>
              <a:t>«IoT sensor» bilan «Edge / fog» o‘rtasida sxemada bog‘lanish ko‘rsatilgan. «Edge / fog» bilan «Bulut / Big Data» o‘rtasida sxemada bog‘lanish ko‘rsatilgan. «Bulut / Big Data» bilan «AI / tahlil» o‘rtasida sxemada bog‘lanish ko‘rsatilgan. «AI / tahlil» bilan «Qaror / boshqaruv» o‘rtasida sxemada bog‘lanish ko‘rsatilgan. «Qaror / boshqaruv» bilan «Edge / fog» o‘rtasida sxemada bog‘lanish ko‘rsatilgan.</a:t>
            </a:r>
          </a:p>
          <a:p/>
          <a:p>
            <a:r>
              <a:t>Bu bog‘lanishlarni barcha xizmatlarda bir xil buyruq yoki bir xil fizik kabel deb tushunmaymiz. Ayrim o‘qlar bajarilish ketma-ketligini, ayrimlari resursni boshqarish yoki unga kirish aloqasini anglatadi. Sensor ma’lumotni broker yoki shlyuzga yuboradi. Oqim qayta ishlanadi, saqlanadi va zarur hodisa yaratiladi. Uzilishdan keyin yig‘ilgan xabarlar boshqariladigan tarzda yetkaziladi.</a:t>
            </a:r>
          </a:p>
          <a:p/>
          <a:p>
            <a:r>
              <a:t>Sxemaning asosiy foydasi mas’uliyatlarni ajratib ko‘rsatishdir. Portal, xabarnoma va video qayta ishlash xizmatlari turli yuklamaga qarab alohida masshtablanadi. Bir qismdagi o‘zgarish boshqasiga qanday ta’sir qilishini ko‘rish orqali murakkab tizimni kichik va tushunarli qismlarga ajratamiz.</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Keling, nazariyani bitta izchil vaziyat bilan bog‘laymiz. Universitet aqlli kampus tizimini qurmoqda. Sensorlar ma’lumot yuboradi, ayrim qarorlar qurilmaga yaqin qabul qilinadi, katta tahlil esa bulutda bajariladi. Yondashuvlar yagona maqsadga xizmat qiladi.</a:t>
            </a:r>
          </a:p>
          <a:p/>
          <a:p>
            <a:r>
              <a:t>Avval ehtiyoj aniqlanadi: kim tizimdan foydalanadi, qaysi ma’lumot bilan ishlanadi va qanday natija kutiladi. Kampus kamerasi barcha videoni uzatish o‘rniga mahalliy aniqlangan hodisa va kerakli parchani yuboradi. Keyin texnik qismlar shu talabga mos tanlanadi. Universitet yordamchi tizimi o‘quv hujjatlari asosida javob tayyorlaydi; foydalanuvchiga muhim qarorlar tekshirilishi tushuntiriladi.</a:t>
            </a:r>
          </a:p>
          <a:p/>
          <a:p>
            <a:r>
              <a:t>Ishlash jarayonida faqat muvaffaqiyatli holat emas, xato va cheklovlar ham hisobga olinadi. Karbon ta’sirini baholash uchun metodika kerak; xarajat kamayishi har doim bir xil nisbatda emissiya kamayishini anglatmaydi. Shu sababli jamoa talabni, ruxsatni va nosozlikdagi xatti-harakatni oldindan belgilaydi. Aqlli kampusda tez xavfsizlik signali edge da, yillik energiya tahlili esa bulutdagi Big Data platformasida bajariladi.</a:t>
            </a:r>
          </a:p>
          <a:p/>
          <a:p>
            <a:r>
              <a:t>Misolning xulosasi shuki, texnologiya alohida maqsad emas. U talabaga kerakli xizmatni sodda, xavfsiz va barqaror yetkazishga xizmat qiladi. Slayddagi tayanch qismlar ishni rejalashga yordam beradi; haqiqiy joylashtirishda esa aniq konfiguratsiya va amaldagi hujjatlar talab qilinadi.</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Mavzuni to‘g‘ri tushunish uchun uchta chegarani qayta ajratamiz.</a:t>
            </a:r>
          </a:p>
          <a:p/>
          <a:p>
            <a:r>
              <a:t>1. Atamalar chegarasi barcha manbalarda bir xil emas; amaliy arxitekturada qaysi ish qayerda bajarilishi aniq ko‘rsatiladi. To‘g‘ri talqin quyidagicha: Edge Computing hisoblashni qurilma yoki unga yaqin nuqtada bajaradi. Fog ko‘pincha edge bilan markaziy bulut orasidagi ko‘p bosqichli hisoblash qatlamini anglatadi. Maqsad kechikish va tarmoq yukini kamaytirishdir.</a:t>
            </a:r>
          </a:p>
          <a:p/>
          <a:p>
            <a:r>
              <a:t>2. Karbon ta’sirini baholash uchun metodika kerak; xarajat kamayishi har doim bir xil nisbatda emissiya kamayishini anglatmaydi. To‘g‘ri talqin quyidagicha: Green Cloud energiya va resurslardan oqilona foydalanish orqali ekologik ta’sirni kamaytirishga intiladi. Quvvatni to‘g‘ri o‘lchash, keraksiz hisoblashni kamaytirish va ma’lumot hayot sikli muhim. Faqat bulutga ko‘chishning o‘zi yetarli emas.</a:t>
            </a:r>
          </a:p>
          <a:p/>
          <a:p>
            <a:r>
              <a:t>3. Kelajak yo‘nalishlari prognozdir; aniq xizmat, narx va imkoniyatni joriy rasmiy hujjatlar bilan tekshirish kerak. To‘g‘ri talqin quyidagicha: Zamonaviy arxitektura bitta texnologiyani hamma joyda qo‘llash emas. Mahalliy talab, edge tezligi, bulut tahlili va boshqariladigan xizmatlar moslashtiriladi. Portativlik, ochiq format va barqaror API lar o‘zgarishga tayyorlikni oshiradi.</a:t>
            </a:r>
          </a:p>
          <a:p/>
          <a:p>
            <a:r>
              <a:t>Bu izohlar texnologiyani rad etish uchun emas, undan o‘rinli foydalanish uchun kerak. Ta’rif, amaliy vazifa va shart birga o‘qilgandagina to‘g‘ri xulosa paydo bo‘ladi. Shuning uchun xizmat nomi yoki bitta imkoniyatga qarab butun tizim haqida umumiy hukm chiqarmaymiz.</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Bugungi ma’ruzani yakunlaymiz. Edge, AI, IoT, Green Cloud va cloud-native — mavzuning umumiy mazmunini ifodalaydi.</a:t>
            </a:r>
          </a:p>
          <a:p/>
          <a:p>
            <a:r>
              <a:t>Asosiy tayanch fikr: Hisoblashni ma’lumot manbasiga yaqinlashtirish. Sensorning dastlabki ma’lumoti mahalliy tugunda filtrlanadi. Muhim natija tez ishlatiladi, jamlangan ma’lumot esa bulutga tahlil va saqlash uchun uzatiladi.</a:t>
            </a:r>
          </a:p>
          <a:p/>
          <a:p>
            <a:r>
              <a:t>Asosiy tayanch fikr: Modelni tayyorlash va undan javob olish xizmatlari. Ma’lumot tozalanadi, model tanlanadi yoki moslashtiriladi, sifat va xavfsizlik baholanadi. Keyin model endpoint sifatida xizmat qiladi va natijalar kuzatiladi.</a:t>
            </a:r>
          </a:p>
          <a:p/>
          <a:p>
            <a:r>
              <a:t>Asosiy tayanch fikr: Moslashuvchanlik — ajratilgan xizmat va avtomatlashtirish bilan. Har bir xizmat aniq API va mas’uliyatga ega bo‘ladi. Mustaqil joylashtirish yordam beradi, lekin tarmoq, muvofiqlik va kuzatuv murakkabligini oshiradi.</a:t>
            </a:r>
          </a:p>
          <a:p/>
          <a:p>
            <a:r>
              <a:t>Barcha bo‘limlarni universitet portali misoli orqali bog‘ladik. Endi atamalarni alohida so‘z sifatida emas, tizimdagi aniq vazifa sifatida ko‘rish mumkin. Arxitektura tanlashda talab, cheklov, xavfsizlik va xarajat birgalikda baholanadi. Mavzuni takrorlashda avval ta’rifni, keyin sxemani, so‘ng misol va chegaralarni ko‘zdan kechirish foydali. E’tiboringiz uchun rahmat.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Ushbu mavzu foydalanuvchi taqdim etgan BTST206 sillabusidagi tegishli ma’ruza bo‘limi asosida tuzildi. Slaydda mavzuni chuqurroq o‘qish uchun rasmiy hujjatlarga havolalar ko‘rsatilgan. Xizmatlar yangilanib boradi, shuning uchun amaliy ish oldidan tanlangan versiya, region, tarif va limitlar tekshiriladi. Bu ma’ruzada maqsad o‘zgaruvchan raqamlarni yodlash emas, barqaror tamoyillarni tushunishdir.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DFEFB"/>
        </a:solidFill>
        <a:effectLst/>
      </p:bgPr>
    </p:bg>
    <p:spTree>
      <p:nvGrpSpPr>
        <p:cNvPr id="1" name=""/>
        <p:cNvGrpSpPr/>
        <p:nvPr/>
      </p:nvGrpSpPr>
      <p:grpSpPr/>
      <p:sp>
        <p:nvSpPr>
          <p:cNvPr id="2" name="Rectangle 1"/>
          <p:cNvSpPr/>
          <p:nvPr/>
        </p:nvSpPr>
        <p:spPr>
          <a:xfrm>
            <a:off x="7690104" y="0"/>
            <a:ext cx="4507992" cy="6858000"/>
          </a:xfrm>
          <a:prstGeom prst="rect">
            <a:avLst/>
          </a:prstGeom>
          <a:solidFill>
            <a:srgbClr val="EF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704088"/>
            <a:ext cx="6309360" cy="411480"/>
          </a:xfrm>
          <a:prstGeom prst="rect">
            <a:avLst/>
          </a:prstGeom>
          <a:noFill/>
        </p:spPr>
        <p:txBody>
          <a:bodyPr wrap="square" lIns="27432" rIns="27432" tIns="18288" bIns="0">
            <a:spAutoFit/>
          </a:bodyPr>
          <a:lstStyle/>
          <a:p>
            <a:pPr>
              <a:spcAft>
                <a:spcPts val="800"/>
              </a:spcAft>
              <a:defRPr sz="1400" b="1">
                <a:solidFill>
                  <a:srgbClr val="117D82"/>
                </a:solidFill>
                <a:latin typeface="DejaVu Sans"/>
              </a:defRPr>
            </a:pPr>
            <a:r>
              <a:t>18   /   TEXNOLOGIYA VA ISTIQBOL</a:t>
            </a:r>
          </a:p>
        </p:txBody>
      </p:sp>
      <p:sp>
        <p:nvSpPr>
          <p:cNvPr id="4" name="TextBox 3"/>
          <p:cNvSpPr txBox="1"/>
          <p:nvPr/>
        </p:nvSpPr>
        <p:spPr>
          <a:xfrm>
            <a:off x="777240" y="1536192"/>
            <a:ext cx="6656832" cy="2468880"/>
          </a:xfrm>
          <a:prstGeom prst="rect">
            <a:avLst/>
          </a:prstGeom>
          <a:noFill/>
        </p:spPr>
        <p:txBody>
          <a:bodyPr wrap="square" lIns="27432" rIns="27432" tIns="18288" bIns="0">
            <a:spAutoFit/>
          </a:bodyPr>
          <a:lstStyle/>
          <a:p>
            <a:pPr>
              <a:spcAft>
                <a:spcPts val="800"/>
              </a:spcAft>
              <a:defRPr sz="3800" b="1">
                <a:solidFill>
                  <a:srgbClr val="16423C"/>
                </a:solidFill>
                <a:latin typeface="DejaVu Serif"/>
              </a:defRPr>
            </a:pPr>
            <a:r>
              <a:t>Bulutning</a:t>
            </a:r>
          </a:p>
          <a:p>
            <a:pPr>
              <a:spcAft>
                <a:spcPts val="800"/>
              </a:spcAft>
              <a:defRPr sz="3800" b="1">
                <a:solidFill>
                  <a:srgbClr val="16423C"/>
                </a:solidFill>
                <a:latin typeface="DejaVu Serif"/>
              </a:defRPr>
            </a:pPr>
            <a:r>
              <a:t>zamonaviy</a:t>
            </a:r>
          </a:p>
          <a:p>
            <a:pPr>
              <a:spcAft>
                <a:spcPts val="800"/>
              </a:spcAft>
              <a:defRPr sz="3800" b="1">
                <a:solidFill>
                  <a:srgbClr val="16423C"/>
                </a:solidFill>
                <a:latin typeface="DejaVu Serif"/>
              </a:defRPr>
            </a:pPr>
            <a:r>
              <a:t>yo‘nalishlari</a:t>
            </a:r>
          </a:p>
        </p:txBody>
      </p:sp>
      <p:sp>
        <p:nvSpPr>
          <p:cNvPr id="5" name="TextBox 4"/>
          <p:cNvSpPr txBox="1"/>
          <p:nvPr/>
        </p:nvSpPr>
        <p:spPr>
          <a:xfrm>
            <a:off x="804672" y="4608576"/>
            <a:ext cx="6400800" cy="896112"/>
          </a:xfrm>
          <a:prstGeom prst="rect">
            <a:avLst/>
          </a:prstGeom>
          <a:noFill/>
        </p:spPr>
        <p:txBody>
          <a:bodyPr wrap="square" lIns="27432" rIns="27432" tIns="18288" bIns="0">
            <a:spAutoFit/>
          </a:bodyPr>
          <a:lstStyle/>
          <a:p>
            <a:pPr>
              <a:spcAft>
                <a:spcPts val="800"/>
              </a:spcAft>
              <a:defRPr sz="2400" b="0">
                <a:solidFill>
                  <a:srgbClr val="16423C"/>
                </a:solidFill>
                <a:latin typeface="DejaVu Sans"/>
              </a:defRPr>
            </a:pPr>
            <a:r>
              <a:t>Edge, AI, IoT, Green Cloud va cloud-native</a:t>
            </a:r>
          </a:p>
        </p:txBody>
      </p:sp>
      <p:pic>
        <p:nvPicPr>
          <p:cNvPr id="6" name="Picture 5" descr="M18_kubeedge.png"/>
          <p:cNvPicPr>
            <a:picLocks noChangeAspect="1"/>
          </p:cNvPicPr>
          <p:nvPr/>
        </p:nvPicPr>
        <p:blipFill>
          <a:blip r:embed="rId2"/>
          <a:stretch>
            <a:fillRect/>
          </a:stretch>
        </p:blipFill>
        <p:spPr>
          <a:xfrm>
            <a:off x="8723376" y="1728216"/>
            <a:ext cx="2377440" cy="2377440"/>
          </a:xfrm>
          <a:prstGeom prst="rect">
            <a:avLst/>
          </a:prstGeom>
        </p:spPr>
      </p:pic>
      <p:sp>
        <p:nvSpPr>
          <p:cNvPr id="7" name="TextBox 6"/>
          <p:cNvSpPr txBox="1"/>
          <p:nvPr/>
        </p:nvSpPr>
        <p:spPr>
          <a:xfrm>
            <a:off x="8229600" y="4617720"/>
            <a:ext cx="3319272" cy="594360"/>
          </a:xfrm>
          <a:prstGeom prst="rect">
            <a:avLst/>
          </a:prstGeom>
          <a:noFill/>
        </p:spPr>
        <p:txBody>
          <a:bodyPr wrap="square" lIns="27432" rIns="27432" tIns="18288" bIns="0">
            <a:spAutoFit/>
          </a:bodyPr>
          <a:lstStyle/>
          <a:p>
            <a:pPr>
              <a:spcAft>
                <a:spcPts val="800"/>
              </a:spcAft>
              <a:defRPr sz="2400" b="1">
                <a:solidFill>
                  <a:srgbClr val="117D82"/>
                </a:solidFill>
                <a:latin typeface="DejaVu Serif"/>
              </a:defRPr>
            </a:pPr>
            <a:r>
              <a:t>Yaqin. Aqlli. Tejamkor.</a:t>
            </a:r>
          </a:p>
        </p:txBody>
      </p:sp>
      <p:cxnSp>
        <p:nvCxnSpPr>
          <p:cNvPr id="8" name="Connector 7"/>
          <p:cNvCxnSpPr/>
          <p:nvPr/>
        </p:nvCxnSpPr>
        <p:spPr>
          <a:xfrm>
            <a:off x="795528" y="5934456"/>
            <a:ext cx="6190488" cy="0"/>
          </a:xfrm>
          <a:prstGeom prst="line">
            <a:avLst/>
          </a:prstGeom>
          <a:ln w="12700">
            <a:solidFill>
              <a:srgbClr val="117D82"/>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02920" y="6537960"/>
            <a:ext cx="9144000" cy="210312"/>
          </a:xfrm>
          <a:prstGeom prst="rect">
            <a:avLst/>
          </a:prstGeom>
          <a:noFill/>
        </p:spPr>
        <p:txBody>
          <a:bodyPr wrap="square" lIns="27432" rIns="27432" tIns="18288" bIns="0">
            <a:spAutoFit/>
          </a:bodyPr>
          <a:lstStyle/>
          <a:p>
            <a:pPr>
              <a:spcAft>
                <a:spcPts val="800"/>
              </a:spcAft>
              <a:defRPr sz="900" b="0">
                <a:solidFill>
                  <a:srgbClr val="16423C"/>
                </a:solidFill>
                <a:latin typeface="DejaVu Sans"/>
              </a:defRPr>
            </a:pPr>
            <a:r>
              <a:t>BTST206   /   M18   /   2027–2028</a:t>
            </a:r>
          </a:p>
        </p:txBody>
      </p:sp>
      <p:sp>
        <p:nvSpPr>
          <p:cNvPr id="10" name="TextBox 9"/>
          <p:cNvSpPr txBox="1"/>
          <p:nvPr/>
        </p:nvSpPr>
        <p:spPr>
          <a:xfrm>
            <a:off x="10789920" y="6492240"/>
            <a:ext cx="822960" cy="274320"/>
          </a:xfrm>
          <a:prstGeom prst="rect">
            <a:avLst/>
          </a:prstGeom>
          <a:noFill/>
        </p:spPr>
        <p:txBody>
          <a:bodyPr wrap="square" lIns="27432" rIns="27432" tIns="18288" bIns="0">
            <a:spAutoFit/>
          </a:bodyPr>
          <a:lstStyle/>
          <a:p>
            <a:pPr>
              <a:spcAft>
                <a:spcPts val="800"/>
              </a:spcAft>
              <a:defRPr sz="1000" b="0">
                <a:solidFill>
                  <a:srgbClr val="16423C"/>
                </a:solidFill>
                <a:latin typeface="DejaVu Sans"/>
              </a:defRPr>
            </a:pPr>
            <a:r>
              <a:t>01 / 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DFEFB"/>
        </a:solidFill>
        <a:effectLst/>
      </p:bgPr>
    </p:bg>
    <p:spTree>
      <p:nvGrpSpPr>
        <p:cNvPr id="1" name=""/>
        <p:cNvGrpSpPr/>
        <p:nvPr/>
      </p:nvGrpSpPr>
      <p:grpSpPr/>
      <p:sp>
        <p:nvSpPr>
          <p:cNvPr id="2" name="TextBox 1"/>
          <p:cNvSpPr txBox="1"/>
          <p:nvPr/>
        </p:nvSpPr>
        <p:spPr>
          <a:xfrm>
            <a:off x="758952" y="502920"/>
            <a:ext cx="10652760" cy="1024128"/>
          </a:xfrm>
          <a:prstGeom prst="rect">
            <a:avLst/>
          </a:prstGeom>
          <a:noFill/>
        </p:spPr>
        <p:txBody>
          <a:bodyPr wrap="square" lIns="27432" rIns="27432" tIns="18288" bIns="0">
            <a:spAutoFit/>
          </a:bodyPr>
          <a:lstStyle/>
          <a:p>
            <a:pPr>
              <a:spcAft>
                <a:spcPts val="800"/>
              </a:spcAft>
              <a:defRPr sz="2900" b="1">
                <a:solidFill>
                  <a:srgbClr val="16423C"/>
                </a:solidFill>
                <a:latin typeface="DejaVu Serif"/>
              </a:defRPr>
            </a:pPr>
            <a:r>
              <a:t>Olti yo‘nalish — bitta tizimning qismlari</a:t>
            </a:r>
          </a:p>
        </p:txBody>
      </p:sp>
      <p:cxnSp>
        <p:nvCxnSpPr>
          <p:cNvPr id="3" name="Connector 2"/>
          <p:cNvCxnSpPr/>
          <p:nvPr/>
        </p:nvCxnSpPr>
        <p:spPr>
          <a:xfrm>
            <a:off x="777240" y="1481328"/>
            <a:ext cx="10579608" cy="0"/>
          </a:xfrm>
          <a:prstGeom prst="line">
            <a:avLst/>
          </a:prstGeom>
          <a:ln w="12700">
            <a:solidFill>
              <a:srgbClr val="117D8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777240" y="182880"/>
            <a:ext cx="9144000" cy="228600"/>
          </a:xfrm>
          <a:prstGeom prst="rect">
            <a:avLst/>
          </a:prstGeom>
          <a:noFill/>
        </p:spPr>
        <p:txBody>
          <a:bodyPr wrap="square" lIns="27432" rIns="27432" tIns="18288" bIns="0">
            <a:spAutoFit/>
          </a:bodyPr>
          <a:lstStyle/>
          <a:p>
            <a:pPr>
              <a:spcAft>
                <a:spcPts val="800"/>
              </a:spcAft>
              <a:defRPr sz="900" b="1">
                <a:solidFill>
                  <a:srgbClr val="117D82"/>
                </a:solidFill>
                <a:latin typeface="DejaVu Sans"/>
              </a:defRPr>
            </a:pPr>
            <a:r>
              <a:t>BULUT TEXNOLOGIYALARI   /   ISTIQBOLLAR</a:t>
            </a:r>
          </a:p>
        </p:txBody>
      </p:sp>
      <p:sp>
        <p:nvSpPr>
          <p:cNvPr id="5" name="TextBox 4"/>
          <p:cNvSpPr txBox="1"/>
          <p:nvPr/>
        </p:nvSpPr>
        <p:spPr>
          <a:xfrm>
            <a:off x="502920" y="6537960"/>
            <a:ext cx="9144000" cy="210312"/>
          </a:xfrm>
          <a:prstGeom prst="rect">
            <a:avLst/>
          </a:prstGeom>
          <a:noFill/>
        </p:spPr>
        <p:txBody>
          <a:bodyPr wrap="square" lIns="27432" rIns="27432" tIns="18288" bIns="0">
            <a:spAutoFit/>
          </a:bodyPr>
          <a:lstStyle/>
          <a:p>
            <a:pPr>
              <a:spcAft>
                <a:spcPts val="800"/>
              </a:spcAft>
              <a:defRPr sz="900" b="0">
                <a:solidFill>
                  <a:srgbClr val="16423C"/>
                </a:solidFill>
                <a:latin typeface="DejaVu Sans"/>
              </a:defRPr>
            </a:pPr>
            <a:r>
              <a:t>BTST206   /   M18   /   2027–2028</a:t>
            </a:r>
          </a:p>
        </p:txBody>
      </p:sp>
      <p:sp>
        <p:nvSpPr>
          <p:cNvPr id="6" name="TextBox 5"/>
          <p:cNvSpPr txBox="1"/>
          <p:nvPr/>
        </p:nvSpPr>
        <p:spPr>
          <a:xfrm>
            <a:off x="10789920" y="6492240"/>
            <a:ext cx="822960" cy="274320"/>
          </a:xfrm>
          <a:prstGeom prst="rect">
            <a:avLst/>
          </a:prstGeom>
          <a:noFill/>
        </p:spPr>
        <p:txBody>
          <a:bodyPr wrap="square" lIns="27432" rIns="27432" tIns="18288" bIns="0">
            <a:spAutoFit/>
          </a:bodyPr>
          <a:lstStyle/>
          <a:p>
            <a:pPr>
              <a:spcAft>
                <a:spcPts val="800"/>
              </a:spcAft>
              <a:defRPr sz="1000" b="0">
                <a:solidFill>
                  <a:srgbClr val="16423C"/>
                </a:solidFill>
                <a:latin typeface="DejaVu Sans"/>
              </a:defRPr>
            </a:pPr>
            <a:r>
              <a:t>02 / 13</a:t>
            </a:r>
          </a:p>
        </p:txBody>
      </p:sp>
      <p:sp>
        <p:nvSpPr>
          <p:cNvPr id="7" name="TextBox 6"/>
          <p:cNvSpPr txBox="1"/>
          <p:nvPr/>
        </p:nvSpPr>
        <p:spPr>
          <a:xfrm>
            <a:off x="795528" y="1847088"/>
            <a:ext cx="685800" cy="530352"/>
          </a:xfrm>
          <a:prstGeom prst="rect">
            <a:avLst/>
          </a:prstGeom>
          <a:noFill/>
        </p:spPr>
        <p:txBody>
          <a:bodyPr wrap="square" lIns="27432" rIns="27432" tIns="18288" bIns="0">
            <a:spAutoFit/>
          </a:bodyPr>
          <a:lstStyle/>
          <a:p>
            <a:pPr>
              <a:spcAft>
                <a:spcPts val="800"/>
              </a:spcAft>
              <a:defRPr sz="3100" b="0">
                <a:solidFill>
                  <a:srgbClr val="117D82"/>
                </a:solidFill>
                <a:latin typeface="DejaVu Serif"/>
              </a:defRPr>
            </a:pPr>
            <a:r>
              <a:t>01</a:t>
            </a:r>
          </a:p>
        </p:txBody>
      </p:sp>
      <p:sp>
        <p:nvSpPr>
          <p:cNvPr id="8" name="TextBox 7"/>
          <p:cNvSpPr txBox="1"/>
          <p:nvPr/>
        </p:nvSpPr>
        <p:spPr>
          <a:xfrm>
            <a:off x="1728216" y="1892807"/>
            <a:ext cx="4453128" cy="877824"/>
          </a:xfrm>
          <a:prstGeom prst="rect">
            <a:avLst/>
          </a:prstGeom>
          <a:noFill/>
        </p:spPr>
        <p:txBody>
          <a:bodyPr wrap="square" lIns="27432" rIns="27432" tIns="18288" bIns="0">
            <a:spAutoFit/>
          </a:bodyPr>
          <a:lstStyle/>
          <a:p>
            <a:pPr>
              <a:spcAft>
                <a:spcPts val="800"/>
              </a:spcAft>
              <a:defRPr sz="2400" b="1">
                <a:solidFill>
                  <a:srgbClr val="16423C"/>
                </a:solidFill>
                <a:latin typeface="DejaVu Sans"/>
              </a:defRPr>
            </a:pPr>
            <a:r>
              <a:t>Edge va Fog Computing</a:t>
            </a:r>
          </a:p>
        </p:txBody>
      </p:sp>
      <p:cxnSp>
        <p:nvCxnSpPr>
          <p:cNvPr id="9" name="Connector 8"/>
          <p:cNvCxnSpPr/>
          <p:nvPr/>
        </p:nvCxnSpPr>
        <p:spPr>
          <a:xfrm>
            <a:off x="795528" y="2926080"/>
            <a:ext cx="5257800" cy="0"/>
          </a:xfrm>
          <a:prstGeom prst="line">
            <a:avLst/>
          </a:prstGeom>
          <a:ln w="12700">
            <a:solidFill>
              <a:srgbClr val="C4DCD1"/>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364224" y="1847088"/>
            <a:ext cx="685800" cy="530352"/>
          </a:xfrm>
          <a:prstGeom prst="rect">
            <a:avLst/>
          </a:prstGeom>
          <a:noFill/>
        </p:spPr>
        <p:txBody>
          <a:bodyPr wrap="square" lIns="27432" rIns="27432" tIns="18288" bIns="0">
            <a:spAutoFit/>
          </a:bodyPr>
          <a:lstStyle/>
          <a:p>
            <a:pPr>
              <a:spcAft>
                <a:spcPts val="800"/>
              </a:spcAft>
              <a:defRPr sz="3100" b="0">
                <a:solidFill>
                  <a:srgbClr val="117D82"/>
                </a:solidFill>
                <a:latin typeface="DejaVu Serif"/>
              </a:defRPr>
            </a:pPr>
            <a:r>
              <a:t>02</a:t>
            </a:r>
          </a:p>
        </p:txBody>
      </p:sp>
      <p:sp>
        <p:nvSpPr>
          <p:cNvPr id="11" name="TextBox 10"/>
          <p:cNvSpPr txBox="1"/>
          <p:nvPr/>
        </p:nvSpPr>
        <p:spPr>
          <a:xfrm>
            <a:off x="7296912" y="1892807"/>
            <a:ext cx="4453128" cy="877824"/>
          </a:xfrm>
          <a:prstGeom prst="rect">
            <a:avLst/>
          </a:prstGeom>
          <a:noFill/>
        </p:spPr>
        <p:txBody>
          <a:bodyPr wrap="square" lIns="27432" rIns="27432" tIns="18288" bIns="0">
            <a:spAutoFit/>
          </a:bodyPr>
          <a:lstStyle/>
          <a:p>
            <a:pPr>
              <a:spcAft>
                <a:spcPts val="800"/>
              </a:spcAft>
              <a:defRPr sz="2400" b="1">
                <a:solidFill>
                  <a:srgbClr val="16423C"/>
                </a:solidFill>
                <a:latin typeface="DejaVu Sans"/>
              </a:defRPr>
            </a:pPr>
            <a:r>
              <a:t>IoT Cloud</a:t>
            </a:r>
          </a:p>
        </p:txBody>
      </p:sp>
      <p:cxnSp>
        <p:nvCxnSpPr>
          <p:cNvPr id="12" name="Connector 11"/>
          <p:cNvCxnSpPr/>
          <p:nvPr/>
        </p:nvCxnSpPr>
        <p:spPr>
          <a:xfrm>
            <a:off x="6364224" y="2926080"/>
            <a:ext cx="5257800" cy="0"/>
          </a:xfrm>
          <a:prstGeom prst="line">
            <a:avLst/>
          </a:prstGeom>
          <a:ln w="12700">
            <a:solidFill>
              <a:srgbClr val="C4DCD1"/>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795528" y="3218688"/>
            <a:ext cx="685800" cy="530352"/>
          </a:xfrm>
          <a:prstGeom prst="rect">
            <a:avLst/>
          </a:prstGeom>
          <a:noFill/>
        </p:spPr>
        <p:txBody>
          <a:bodyPr wrap="square" lIns="27432" rIns="27432" tIns="18288" bIns="0">
            <a:spAutoFit/>
          </a:bodyPr>
          <a:lstStyle/>
          <a:p>
            <a:pPr>
              <a:spcAft>
                <a:spcPts val="800"/>
              </a:spcAft>
              <a:defRPr sz="3100" b="0">
                <a:solidFill>
                  <a:srgbClr val="117D82"/>
                </a:solidFill>
                <a:latin typeface="DejaVu Serif"/>
              </a:defRPr>
            </a:pPr>
            <a:r>
              <a:t>03</a:t>
            </a:r>
          </a:p>
        </p:txBody>
      </p:sp>
      <p:sp>
        <p:nvSpPr>
          <p:cNvPr id="14" name="TextBox 13"/>
          <p:cNvSpPr txBox="1"/>
          <p:nvPr/>
        </p:nvSpPr>
        <p:spPr>
          <a:xfrm>
            <a:off x="1728216" y="3264408"/>
            <a:ext cx="4453128" cy="877824"/>
          </a:xfrm>
          <a:prstGeom prst="rect">
            <a:avLst/>
          </a:prstGeom>
          <a:noFill/>
        </p:spPr>
        <p:txBody>
          <a:bodyPr wrap="square" lIns="27432" rIns="27432" tIns="18288" bIns="0">
            <a:spAutoFit/>
          </a:bodyPr>
          <a:lstStyle/>
          <a:p>
            <a:pPr>
              <a:spcAft>
                <a:spcPts val="800"/>
              </a:spcAft>
              <a:defRPr sz="2400" b="1">
                <a:solidFill>
                  <a:srgbClr val="16423C"/>
                </a:solidFill>
                <a:latin typeface="DejaVu Sans"/>
              </a:defRPr>
            </a:pPr>
            <a:r>
              <a:t>AI Cloud</a:t>
            </a:r>
          </a:p>
        </p:txBody>
      </p:sp>
      <p:cxnSp>
        <p:nvCxnSpPr>
          <p:cNvPr id="15" name="Connector 14"/>
          <p:cNvCxnSpPr/>
          <p:nvPr/>
        </p:nvCxnSpPr>
        <p:spPr>
          <a:xfrm>
            <a:off x="795528" y="4297680"/>
            <a:ext cx="5257800" cy="0"/>
          </a:xfrm>
          <a:prstGeom prst="line">
            <a:avLst/>
          </a:prstGeom>
          <a:ln w="12700">
            <a:solidFill>
              <a:srgbClr val="C4DCD1"/>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364224" y="3218688"/>
            <a:ext cx="685800" cy="530352"/>
          </a:xfrm>
          <a:prstGeom prst="rect">
            <a:avLst/>
          </a:prstGeom>
          <a:noFill/>
        </p:spPr>
        <p:txBody>
          <a:bodyPr wrap="square" lIns="27432" rIns="27432" tIns="18288" bIns="0">
            <a:spAutoFit/>
          </a:bodyPr>
          <a:lstStyle/>
          <a:p>
            <a:pPr>
              <a:spcAft>
                <a:spcPts val="800"/>
              </a:spcAft>
              <a:defRPr sz="3100" b="0">
                <a:solidFill>
                  <a:srgbClr val="117D82"/>
                </a:solidFill>
                <a:latin typeface="DejaVu Serif"/>
              </a:defRPr>
            </a:pPr>
            <a:r>
              <a:t>04</a:t>
            </a:r>
          </a:p>
        </p:txBody>
      </p:sp>
      <p:sp>
        <p:nvSpPr>
          <p:cNvPr id="17" name="TextBox 16"/>
          <p:cNvSpPr txBox="1"/>
          <p:nvPr/>
        </p:nvSpPr>
        <p:spPr>
          <a:xfrm>
            <a:off x="7296912" y="3264408"/>
            <a:ext cx="4453128" cy="877824"/>
          </a:xfrm>
          <a:prstGeom prst="rect">
            <a:avLst/>
          </a:prstGeom>
          <a:noFill/>
        </p:spPr>
        <p:txBody>
          <a:bodyPr wrap="square" lIns="27432" rIns="27432" tIns="18288" bIns="0">
            <a:spAutoFit/>
          </a:bodyPr>
          <a:lstStyle/>
          <a:p>
            <a:pPr>
              <a:spcAft>
                <a:spcPts val="800"/>
              </a:spcAft>
              <a:defRPr sz="2400" b="1">
                <a:solidFill>
                  <a:srgbClr val="16423C"/>
                </a:solidFill>
                <a:latin typeface="DejaVu Sans"/>
              </a:defRPr>
            </a:pPr>
            <a:r>
              <a:t>Green Cloud Computing</a:t>
            </a:r>
          </a:p>
        </p:txBody>
      </p:sp>
      <p:cxnSp>
        <p:nvCxnSpPr>
          <p:cNvPr id="18" name="Connector 17"/>
          <p:cNvCxnSpPr/>
          <p:nvPr/>
        </p:nvCxnSpPr>
        <p:spPr>
          <a:xfrm>
            <a:off x="6364224" y="4297680"/>
            <a:ext cx="5257800" cy="0"/>
          </a:xfrm>
          <a:prstGeom prst="line">
            <a:avLst/>
          </a:prstGeom>
          <a:ln w="12700">
            <a:solidFill>
              <a:srgbClr val="C4DCD1"/>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795528" y="4590288"/>
            <a:ext cx="685800" cy="530352"/>
          </a:xfrm>
          <a:prstGeom prst="rect">
            <a:avLst/>
          </a:prstGeom>
          <a:noFill/>
        </p:spPr>
        <p:txBody>
          <a:bodyPr wrap="square" lIns="27432" rIns="27432" tIns="18288" bIns="0">
            <a:spAutoFit/>
          </a:bodyPr>
          <a:lstStyle/>
          <a:p>
            <a:pPr>
              <a:spcAft>
                <a:spcPts val="800"/>
              </a:spcAft>
              <a:defRPr sz="3100" b="0">
                <a:solidFill>
                  <a:srgbClr val="117D82"/>
                </a:solidFill>
                <a:latin typeface="DejaVu Serif"/>
              </a:defRPr>
            </a:pPr>
            <a:r>
              <a:t>05</a:t>
            </a:r>
          </a:p>
        </p:txBody>
      </p:sp>
      <p:sp>
        <p:nvSpPr>
          <p:cNvPr id="20" name="TextBox 19"/>
          <p:cNvSpPr txBox="1"/>
          <p:nvPr/>
        </p:nvSpPr>
        <p:spPr>
          <a:xfrm>
            <a:off x="1728216" y="4636007"/>
            <a:ext cx="4453128" cy="877824"/>
          </a:xfrm>
          <a:prstGeom prst="rect">
            <a:avLst/>
          </a:prstGeom>
          <a:noFill/>
        </p:spPr>
        <p:txBody>
          <a:bodyPr wrap="square" lIns="27432" rIns="27432" tIns="18288" bIns="0">
            <a:spAutoFit/>
          </a:bodyPr>
          <a:lstStyle/>
          <a:p>
            <a:pPr>
              <a:spcAft>
                <a:spcPts val="800"/>
              </a:spcAft>
              <a:defRPr sz="2400" b="1">
                <a:solidFill>
                  <a:srgbClr val="16423C"/>
                </a:solidFill>
                <a:latin typeface="DejaVu Sans"/>
              </a:defRPr>
            </a:pPr>
            <a:r>
              <a:t>Cloud-native va mikroservislar</a:t>
            </a:r>
          </a:p>
        </p:txBody>
      </p:sp>
      <p:cxnSp>
        <p:nvCxnSpPr>
          <p:cNvPr id="21" name="Connector 20"/>
          <p:cNvCxnSpPr/>
          <p:nvPr/>
        </p:nvCxnSpPr>
        <p:spPr>
          <a:xfrm>
            <a:off x="795528" y="5669279"/>
            <a:ext cx="5257800" cy="0"/>
          </a:xfrm>
          <a:prstGeom prst="line">
            <a:avLst/>
          </a:prstGeom>
          <a:ln w="12700">
            <a:solidFill>
              <a:srgbClr val="C4DCD1"/>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364224" y="4590288"/>
            <a:ext cx="685800" cy="530352"/>
          </a:xfrm>
          <a:prstGeom prst="rect">
            <a:avLst/>
          </a:prstGeom>
          <a:noFill/>
        </p:spPr>
        <p:txBody>
          <a:bodyPr wrap="square" lIns="27432" rIns="27432" tIns="18288" bIns="0">
            <a:spAutoFit/>
          </a:bodyPr>
          <a:lstStyle/>
          <a:p>
            <a:pPr>
              <a:spcAft>
                <a:spcPts val="800"/>
              </a:spcAft>
              <a:defRPr sz="3100" b="0">
                <a:solidFill>
                  <a:srgbClr val="117D82"/>
                </a:solidFill>
                <a:latin typeface="DejaVu Serif"/>
              </a:defRPr>
            </a:pPr>
            <a:r>
              <a:t>06</a:t>
            </a:r>
          </a:p>
        </p:txBody>
      </p:sp>
      <p:sp>
        <p:nvSpPr>
          <p:cNvPr id="23" name="TextBox 22"/>
          <p:cNvSpPr txBox="1"/>
          <p:nvPr/>
        </p:nvSpPr>
        <p:spPr>
          <a:xfrm>
            <a:off x="7296912" y="4636007"/>
            <a:ext cx="4453128" cy="877824"/>
          </a:xfrm>
          <a:prstGeom prst="rect">
            <a:avLst/>
          </a:prstGeom>
          <a:noFill/>
        </p:spPr>
        <p:txBody>
          <a:bodyPr wrap="square" lIns="27432" rIns="27432" tIns="18288" bIns="0">
            <a:spAutoFit/>
          </a:bodyPr>
          <a:lstStyle/>
          <a:p>
            <a:pPr>
              <a:spcAft>
                <a:spcPts val="800"/>
              </a:spcAft>
              <a:defRPr sz="2400" b="1">
                <a:solidFill>
                  <a:srgbClr val="16423C"/>
                </a:solidFill>
                <a:latin typeface="DejaVu Sans"/>
              </a:defRPr>
            </a:pPr>
            <a:r>
              <a:t>Integratsiya va istiqbollar</a:t>
            </a:r>
          </a:p>
        </p:txBody>
      </p:sp>
      <p:cxnSp>
        <p:nvCxnSpPr>
          <p:cNvPr id="24" name="Connector 23"/>
          <p:cNvCxnSpPr/>
          <p:nvPr/>
        </p:nvCxnSpPr>
        <p:spPr>
          <a:xfrm>
            <a:off x="6364224" y="5669279"/>
            <a:ext cx="5257800" cy="0"/>
          </a:xfrm>
          <a:prstGeom prst="line">
            <a:avLst/>
          </a:prstGeom>
          <a:ln w="12700">
            <a:solidFill>
              <a:srgbClr val="C4DCD1"/>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DFEFB"/>
        </a:solidFill>
        <a:effectLst/>
      </p:bgPr>
    </p:bg>
    <p:spTree>
      <p:nvGrpSpPr>
        <p:cNvPr id="1" name=""/>
        <p:cNvGrpSpPr/>
        <p:nvPr/>
      </p:nvGrpSpPr>
      <p:grpSpPr/>
      <p:sp>
        <p:nvSpPr>
          <p:cNvPr id="2" name="TextBox 1"/>
          <p:cNvSpPr txBox="1"/>
          <p:nvPr/>
        </p:nvSpPr>
        <p:spPr>
          <a:xfrm>
            <a:off x="758952" y="502920"/>
            <a:ext cx="10652760" cy="1024128"/>
          </a:xfrm>
          <a:prstGeom prst="rect">
            <a:avLst/>
          </a:prstGeom>
          <a:noFill/>
        </p:spPr>
        <p:txBody>
          <a:bodyPr wrap="square" lIns="27432" rIns="27432" tIns="18288" bIns="0">
            <a:spAutoFit/>
          </a:bodyPr>
          <a:lstStyle/>
          <a:p>
            <a:pPr>
              <a:spcAft>
                <a:spcPts val="800"/>
              </a:spcAft>
              <a:defRPr sz="2900" b="1">
                <a:solidFill>
                  <a:srgbClr val="16423C"/>
                </a:solidFill>
                <a:latin typeface="DejaVu Serif"/>
              </a:defRPr>
            </a:pPr>
            <a:r>
              <a:t>Edge va Fog Computing</a:t>
            </a:r>
          </a:p>
        </p:txBody>
      </p:sp>
      <p:cxnSp>
        <p:nvCxnSpPr>
          <p:cNvPr id="3" name="Connector 2"/>
          <p:cNvCxnSpPr/>
          <p:nvPr/>
        </p:nvCxnSpPr>
        <p:spPr>
          <a:xfrm>
            <a:off x="777240" y="1481328"/>
            <a:ext cx="10579608" cy="0"/>
          </a:xfrm>
          <a:prstGeom prst="line">
            <a:avLst/>
          </a:prstGeom>
          <a:ln w="12700">
            <a:solidFill>
              <a:srgbClr val="117D8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777240" y="182880"/>
            <a:ext cx="9144000" cy="228600"/>
          </a:xfrm>
          <a:prstGeom prst="rect">
            <a:avLst/>
          </a:prstGeom>
          <a:noFill/>
        </p:spPr>
        <p:txBody>
          <a:bodyPr wrap="square" lIns="27432" rIns="27432" tIns="18288" bIns="0">
            <a:spAutoFit/>
          </a:bodyPr>
          <a:lstStyle/>
          <a:p>
            <a:pPr>
              <a:spcAft>
                <a:spcPts val="800"/>
              </a:spcAft>
              <a:defRPr sz="900" b="1">
                <a:solidFill>
                  <a:srgbClr val="117D82"/>
                </a:solidFill>
                <a:latin typeface="DejaVu Sans"/>
              </a:defRPr>
            </a:pPr>
            <a:r>
              <a:t>BULUT TEXNOLOGIYALARI   /   ISTIQBOLLAR</a:t>
            </a:r>
          </a:p>
        </p:txBody>
      </p:sp>
      <p:sp>
        <p:nvSpPr>
          <p:cNvPr id="5" name="TextBox 4"/>
          <p:cNvSpPr txBox="1"/>
          <p:nvPr/>
        </p:nvSpPr>
        <p:spPr>
          <a:xfrm>
            <a:off x="502920" y="6537960"/>
            <a:ext cx="9144000" cy="210312"/>
          </a:xfrm>
          <a:prstGeom prst="rect">
            <a:avLst/>
          </a:prstGeom>
          <a:noFill/>
        </p:spPr>
        <p:txBody>
          <a:bodyPr wrap="square" lIns="27432" rIns="27432" tIns="18288" bIns="0">
            <a:spAutoFit/>
          </a:bodyPr>
          <a:lstStyle/>
          <a:p>
            <a:pPr>
              <a:spcAft>
                <a:spcPts val="800"/>
              </a:spcAft>
              <a:defRPr sz="900" b="0">
                <a:solidFill>
                  <a:srgbClr val="16423C"/>
                </a:solidFill>
                <a:latin typeface="DejaVu Sans"/>
              </a:defRPr>
            </a:pPr>
            <a:r>
              <a:t>BTST206   /   M18   /   2027–2028</a:t>
            </a:r>
          </a:p>
        </p:txBody>
      </p:sp>
      <p:sp>
        <p:nvSpPr>
          <p:cNvPr id="6" name="TextBox 5"/>
          <p:cNvSpPr txBox="1"/>
          <p:nvPr/>
        </p:nvSpPr>
        <p:spPr>
          <a:xfrm>
            <a:off x="10789920" y="6492240"/>
            <a:ext cx="822960" cy="274320"/>
          </a:xfrm>
          <a:prstGeom prst="rect">
            <a:avLst/>
          </a:prstGeom>
          <a:noFill/>
        </p:spPr>
        <p:txBody>
          <a:bodyPr wrap="square" lIns="27432" rIns="27432" tIns="18288" bIns="0">
            <a:spAutoFit/>
          </a:bodyPr>
          <a:lstStyle/>
          <a:p>
            <a:pPr>
              <a:spcAft>
                <a:spcPts val="800"/>
              </a:spcAft>
              <a:defRPr sz="1000" b="0">
                <a:solidFill>
                  <a:srgbClr val="16423C"/>
                </a:solidFill>
                <a:latin typeface="DejaVu Sans"/>
              </a:defRPr>
            </a:pPr>
            <a:r>
              <a:t>03 / 13</a:t>
            </a:r>
          </a:p>
        </p:txBody>
      </p:sp>
      <p:sp>
        <p:nvSpPr>
          <p:cNvPr id="7" name="TextBox 6"/>
          <p:cNvSpPr txBox="1"/>
          <p:nvPr/>
        </p:nvSpPr>
        <p:spPr>
          <a:xfrm>
            <a:off x="822960" y="1856231"/>
            <a:ext cx="6492240" cy="1508760"/>
          </a:xfrm>
          <a:prstGeom prst="rect">
            <a:avLst/>
          </a:prstGeom>
          <a:noFill/>
        </p:spPr>
        <p:txBody>
          <a:bodyPr wrap="square" lIns="27432" rIns="27432" tIns="18288" bIns="0">
            <a:spAutoFit/>
          </a:bodyPr>
          <a:lstStyle/>
          <a:p>
            <a:pPr>
              <a:spcAft>
                <a:spcPts val="800"/>
              </a:spcAft>
              <a:defRPr sz="3100" b="1">
                <a:solidFill>
                  <a:srgbClr val="16423C"/>
                </a:solidFill>
                <a:latin typeface="DejaVu Serif"/>
              </a:defRPr>
            </a:pPr>
            <a:r>
              <a:t>Hisoblashni ma’lumot manbasiga yaqinlashtirish.</a:t>
            </a:r>
          </a:p>
        </p:txBody>
      </p:sp>
      <p:sp>
        <p:nvSpPr>
          <p:cNvPr id="8" name="TextBox 7"/>
          <p:cNvSpPr txBox="1"/>
          <p:nvPr/>
        </p:nvSpPr>
        <p:spPr>
          <a:xfrm>
            <a:off x="841248" y="3675887"/>
            <a:ext cx="6437376" cy="1618488"/>
          </a:xfrm>
          <a:prstGeom prst="rect">
            <a:avLst/>
          </a:prstGeom>
          <a:noFill/>
        </p:spPr>
        <p:txBody>
          <a:bodyPr wrap="square" lIns="27432" rIns="27432" tIns="18288" bIns="0">
            <a:spAutoFit/>
          </a:bodyPr>
          <a:lstStyle/>
          <a:p>
            <a:pPr>
              <a:spcAft>
                <a:spcPts val="800"/>
              </a:spcAft>
              <a:defRPr sz="2300" b="0">
                <a:solidFill>
                  <a:srgbClr val="16423C"/>
                </a:solidFill>
                <a:latin typeface="DejaVu Sans"/>
              </a:defRPr>
            </a:pPr>
            <a:r>
              <a:t>Sensorning dastlabki ma’lumoti mahalliy tugunda filtrlanadi. Muhim natija tez ishlatiladi, jamlangan ma’lumot esa bulutga tahlil va saqlash uchun uzatiladi.</a:t>
            </a:r>
          </a:p>
        </p:txBody>
      </p:sp>
      <p:sp>
        <p:nvSpPr>
          <p:cNvPr id="9" name="Rounded Rectangle 8"/>
          <p:cNvSpPr/>
          <p:nvPr/>
        </p:nvSpPr>
        <p:spPr>
          <a:xfrm>
            <a:off x="7818120" y="1856231"/>
            <a:ext cx="3529584" cy="3456432"/>
          </a:xfrm>
          <a:prstGeom prst="roundRect">
            <a:avLst>
              <a:gd name="adj" fmla="val 8000"/>
            </a:avLst>
          </a:prstGeom>
          <a:solidFill>
            <a:srgbClr val="EF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M18_kubeedge.png"/>
          <p:cNvPicPr>
            <a:picLocks noChangeAspect="1"/>
          </p:cNvPicPr>
          <p:nvPr/>
        </p:nvPicPr>
        <p:blipFill>
          <a:blip r:embed="rId2"/>
          <a:stretch>
            <a:fillRect/>
          </a:stretch>
        </p:blipFill>
        <p:spPr>
          <a:xfrm>
            <a:off x="8609076" y="2167128"/>
            <a:ext cx="1965960" cy="1965960"/>
          </a:xfrm>
          <a:prstGeom prst="rect">
            <a:avLst/>
          </a:prstGeom>
        </p:spPr>
      </p:pic>
      <p:sp>
        <p:nvSpPr>
          <p:cNvPr id="11" name="TextBox 10"/>
          <p:cNvSpPr txBox="1"/>
          <p:nvPr/>
        </p:nvSpPr>
        <p:spPr>
          <a:xfrm>
            <a:off x="8065008" y="4507992"/>
            <a:ext cx="3017520" cy="548640"/>
          </a:xfrm>
          <a:prstGeom prst="rect">
            <a:avLst/>
          </a:prstGeom>
          <a:noFill/>
        </p:spPr>
        <p:txBody>
          <a:bodyPr wrap="square" lIns="27432" rIns="27432" tIns="18288" bIns="0">
            <a:spAutoFit/>
          </a:bodyPr>
          <a:lstStyle/>
          <a:p>
            <a:pPr>
              <a:spcAft>
                <a:spcPts val="800"/>
              </a:spcAft>
              <a:defRPr sz="1900" b="0">
                <a:solidFill>
                  <a:srgbClr val="117D82"/>
                </a:solidFill>
                <a:latin typeface="DejaVu Sans"/>
              </a:defRPr>
            </a:pPr>
            <a:r>
              <a:t>KubeEdge — edge ekotizimi.</a:t>
            </a:r>
          </a:p>
        </p:txBody>
      </p:sp>
      <p:sp>
        <p:nvSpPr>
          <p:cNvPr id="12" name="Rounded Rectangle 11"/>
          <p:cNvSpPr/>
          <p:nvPr/>
        </p:nvSpPr>
        <p:spPr>
          <a:xfrm>
            <a:off x="731520" y="5641848"/>
            <a:ext cx="10698480" cy="621792"/>
          </a:xfrm>
          <a:prstGeom prst="roundRect">
            <a:avLst>
              <a:gd name="adj" fmla="val 8000"/>
            </a:avLst>
          </a:prstGeom>
          <a:solidFill>
            <a:srgbClr val="EF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77824" y="5733288"/>
            <a:ext cx="10405872" cy="466344"/>
          </a:xfrm>
          <a:prstGeom prst="rect">
            <a:avLst/>
          </a:prstGeom>
          <a:noFill/>
        </p:spPr>
        <p:txBody>
          <a:bodyPr wrap="square" lIns="27432" rIns="27432" tIns="18288" bIns="0">
            <a:spAutoFit/>
          </a:bodyPr>
          <a:lstStyle/>
          <a:p>
            <a:pPr>
              <a:spcAft>
                <a:spcPts val="800"/>
              </a:spcAft>
              <a:defRPr sz="1700" b="0">
                <a:solidFill>
                  <a:srgbClr val="16423C"/>
                </a:solidFill>
                <a:latin typeface="DejaVu Sans"/>
              </a:defRPr>
            </a:pPr>
            <a:r>
              <a:t>Atamalar chegarasi barcha manbalarda bir xil emas; amaliy arxitekturada qaysi ish qayerda bajarilishi aniq ko‘rsatiladi.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DFEFB"/>
        </a:solidFill>
        <a:effectLst/>
      </p:bgPr>
    </p:bg>
    <p:spTree>
      <p:nvGrpSpPr>
        <p:cNvPr id="1" name=""/>
        <p:cNvGrpSpPr/>
        <p:nvPr/>
      </p:nvGrpSpPr>
      <p:grpSpPr/>
      <p:sp>
        <p:nvSpPr>
          <p:cNvPr id="2" name="TextBox 1"/>
          <p:cNvSpPr txBox="1"/>
          <p:nvPr/>
        </p:nvSpPr>
        <p:spPr>
          <a:xfrm>
            <a:off x="758952" y="502920"/>
            <a:ext cx="10652760" cy="1024128"/>
          </a:xfrm>
          <a:prstGeom prst="rect">
            <a:avLst/>
          </a:prstGeom>
          <a:noFill/>
        </p:spPr>
        <p:txBody>
          <a:bodyPr wrap="square" lIns="27432" rIns="27432" tIns="18288" bIns="0">
            <a:spAutoFit/>
          </a:bodyPr>
          <a:lstStyle/>
          <a:p>
            <a:pPr>
              <a:spcAft>
                <a:spcPts val="800"/>
              </a:spcAft>
              <a:defRPr sz="2900" b="1">
                <a:solidFill>
                  <a:srgbClr val="16423C"/>
                </a:solidFill>
                <a:latin typeface="DejaVu Serif"/>
              </a:defRPr>
            </a:pPr>
            <a:r>
              <a:t>IoT Cloud</a:t>
            </a:r>
          </a:p>
        </p:txBody>
      </p:sp>
      <p:cxnSp>
        <p:nvCxnSpPr>
          <p:cNvPr id="3" name="Connector 2"/>
          <p:cNvCxnSpPr/>
          <p:nvPr/>
        </p:nvCxnSpPr>
        <p:spPr>
          <a:xfrm>
            <a:off x="777240" y="1481328"/>
            <a:ext cx="10579608" cy="0"/>
          </a:xfrm>
          <a:prstGeom prst="line">
            <a:avLst/>
          </a:prstGeom>
          <a:ln w="12700">
            <a:solidFill>
              <a:srgbClr val="117D8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777240" y="182880"/>
            <a:ext cx="9144000" cy="228600"/>
          </a:xfrm>
          <a:prstGeom prst="rect">
            <a:avLst/>
          </a:prstGeom>
          <a:noFill/>
        </p:spPr>
        <p:txBody>
          <a:bodyPr wrap="square" lIns="27432" rIns="27432" tIns="18288" bIns="0">
            <a:spAutoFit/>
          </a:bodyPr>
          <a:lstStyle/>
          <a:p>
            <a:pPr>
              <a:spcAft>
                <a:spcPts val="800"/>
              </a:spcAft>
              <a:defRPr sz="900" b="1">
                <a:solidFill>
                  <a:srgbClr val="117D82"/>
                </a:solidFill>
                <a:latin typeface="DejaVu Sans"/>
              </a:defRPr>
            </a:pPr>
            <a:r>
              <a:t>BULUT TEXNOLOGIYALARI   /   ISTIQBOLLAR</a:t>
            </a:r>
          </a:p>
        </p:txBody>
      </p:sp>
      <p:sp>
        <p:nvSpPr>
          <p:cNvPr id="5" name="TextBox 4"/>
          <p:cNvSpPr txBox="1"/>
          <p:nvPr/>
        </p:nvSpPr>
        <p:spPr>
          <a:xfrm>
            <a:off x="502920" y="6537960"/>
            <a:ext cx="9144000" cy="210312"/>
          </a:xfrm>
          <a:prstGeom prst="rect">
            <a:avLst/>
          </a:prstGeom>
          <a:noFill/>
        </p:spPr>
        <p:txBody>
          <a:bodyPr wrap="square" lIns="27432" rIns="27432" tIns="18288" bIns="0">
            <a:spAutoFit/>
          </a:bodyPr>
          <a:lstStyle/>
          <a:p>
            <a:pPr>
              <a:spcAft>
                <a:spcPts val="800"/>
              </a:spcAft>
              <a:defRPr sz="900" b="0">
                <a:solidFill>
                  <a:srgbClr val="16423C"/>
                </a:solidFill>
                <a:latin typeface="DejaVu Sans"/>
              </a:defRPr>
            </a:pPr>
            <a:r>
              <a:t>BTST206   /   M18   /   2027–2028</a:t>
            </a:r>
          </a:p>
        </p:txBody>
      </p:sp>
      <p:sp>
        <p:nvSpPr>
          <p:cNvPr id="6" name="TextBox 5"/>
          <p:cNvSpPr txBox="1"/>
          <p:nvPr/>
        </p:nvSpPr>
        <p:spPr>
          <a:xfrm>
            <a:off x="10789920" y="6492240"/>
            <a:ext cx="822960" cy="274320"/>
          </a:xfrm>
          <a:prstGeom prst="rect">
            <a:avLst/>
          </a:prstGeom>
          <a:noFill/>
        </p:spPr>
        <p:txBody>
          <a:bodyPr wrap="square" lIns="27432" rIns="27432" tIns="18288" bIns="0">
            <a:spAutoFit/>
          </a:bodyPr>
          <a:lstStyle/>
          <a:p>
            <a:pPr>
              <a:spcAft>
                <a:spcPts val="800"/>
              </a:spcAft>
              <a:defRPr sz="1000" b="0">
                <a:solidFill>
                  <a:srgbClr val="16423C"/>
                </a:solidFill>
                <a:latin typeface="DejaVu Sans"/>
              </a:defRPr>
            </a:pPr>
            <a:r>
              <a:t>04 / 13</a:t>
            </a:r>
          </a:p>
        </p:txBody>
      </p:sp>
      <p:sp>
        <p:nvSpPr>
          <p:cNvPr id="7" name="TextBox 6"/>
          <p:cNvSpPr txBox="1"/>
          <p:nvPr/>
        </p:nvSpPr>
        <p:spPr>
          <a:xfrm>
            <a:off x="822960" y="1837943"/>
            <a:ext cx="10479024" cy="932688"/>
          </a:xfrm>
          <a:prstGeom prst="rect">
            <a:avLst/>
          </a:prstGeom>
          <a:noFill/>
        </p:spPr>
        <p:txBody>
          <a:bodyPr wrap="square" lIns="27432" rIns="27432" tIns="18288" bIns="0">
            <a:spAutoFit/>
          </a:bodyPr>
          <a:lstStyle/>
          <a:p>
            <a:pPr>
              <a:spcAft>
                <a:spcPts val="800"/>
              </a:spcAft>
              <a:defRPr sz="2900" b="1">
                <a:solidFill>
                  <a:srgbClr val="16423C"/>
                </a:solidFill>
                <a:latin typeface="DejaVu Sans"/>
              </a:defRPr>
            </a:pPr>
            <a:r>
              <a:t>Qurilma, xabar, saqlash va boshqaruv zanjiri.</a:t>
            </a:r>
          </a:p>
        </p:txBody>
      </p:sp>
      <p:sp>
        <p:nvSpPr>
          <p:cNvPr id="8" name="TextBox 7"/>
          <p:cNvSpPr txBox="1"/>
          <p:nvPr/>
        </p:nvSpPr>
        <p:spPr>
          <a:xfrm>
            <a:off x="822960" y="3163824"/>
            <a:ext cx="3328416" cy="822960"/>
          </a:xfrm>
          <a:prstGeom prst="rect">
            <a:avLst/>
          </a:prstGeom>
          <a:noFill/>
        </p:spPr>
        <p:txBody>
          <a:bodyPr wrap="square" lIns="27432" rIns="27432" tIns="18288" bIns="0">
            <a:spAutoFit/>
          </a:bodyPr>
          <a:lstStyle/>
          <a:p>
            <a:pPr>
              <a:spcAft>
                <a:spcPts val="800"/>
              </a:spcAft>
              <a:defRPr sz="4400" b="0">
                <a:solidFill>
                  <a:srgbClr val="117D82"/>
                </a:solidFill>
                <a:latin typeface="DejaVu Serif"/>
              </a:defRPr>
            </a:pPr>
            <a:r>
              <a:t>01</a:t>
            </a:r>
          </a:p>
        </p:txBody>
      </p:sp>
      <p:sp>
        <p:nvSpPr>
          <p:cNvPr id="9" name="TextBox 8"/>
          <p:cNvSpPr txBox="1"/>
          <p:nvPr/>
        </p:nvSpPr>
        <p:spPr>
          <a:xfrm>
            <a:off x="822960" y="4096512"/>
            <a:ext cx="3328416" cy="557784"/>
          </a:xfrm>
          <a:prstGeom prst="rect">
            <a:avLst/>
          </a:prstGeom>
          <a:noFill/>
        </p:spPr>
        <p:txBody>
          <a:bodyPr wrap="square" lIns="27432" rIns="27432" tIns="18288" bIns="0">
            <a:spAutoFit/>
          </a:bodyPr>
          <a:lstStyle/>
          <a:p>
            <a:pPr>
              <a:spcAft>
                <a:spcPts val="800"/>
              </a:spcAft>
              <a:defRPr sz="2600" b="1">
                <a:solidFill>
                  <a:srgbClr val="16423C"/>
                </a:solidFill>
                <a:latin typeface="DejaVu Sans"/>
              </a:defRPr>
            </a:pPr>
            <a:r>
              <a:t>Qurilma</a:t>
            </a:r>
          </a:p>
        </p:txBody>
      </p:sp>
      <p:sp>
        <p:nvSpPr>
          <p:cNvPr id="10" name="TextBox 9"/>
          <p:cNvSpPr txBox="1"/>
          <p:nvPr/>
        </p:nvSpPr>
        <p:spPr>
          <a:xfrm>
            <a:off x="822960" y="4791456"/>
            <a:ext cx="3328416" cy="640080"/>
          </a:xfrm>
          <a:prstGeom prst="rect">
            <a:avLst/>
          </a:prstGeom>
          <a:noFill/>
        </p:spPr>
        <p:txBody>
          <a:bodyPr wrap="square" lIns="27432" rIns="27432" tIns="18288" bIns="0">
            <a:spAutoFit/>
          </a:bodyPr>
          <a:lstStyle/>
          <a:p>
            <a:pPr>
              <a:spcAft>
                <a:spcPts val="800"/>
              </a:spcAft>
              <a:defRPr sz="2100" b="0">
                <a:solidFill>
                  <a:srgbClr val="16423C"/>
                </a:solidFill>
                <a:latin typeface="DejaVu Sans"/>
              </a:defRPr>
            </a:pPr>
            <a:r>
              <a:t>Alohida identifikator</a:t>
            </a:r>
          </a:p>
        </p:txBody>
      </p:sp>
      <p:sp>
        <p:nvSpPr>
          <p:cNvPr id="11" name="TextBox 10"/>
          <p:cNvSpPr txBox="1"/>
          <p:nvPr/>
        </p:nvSpPr>
        <p:spPr>
          <a:xfrm>
            <a:off x="4462272" y="3163824"/>
            <a:ext cx="3328416" cy="822960"/>
          </a:xfrm>
          <a:prstGeom prst="rect">
            <a:avLst/>
          </a:prstGeom>
          <a:noFill/>
        </p:spPr>
        <p:txBody>
          <a:bodyPr wrap="square" lIns="27432" rIns="27432" tIns="18288" bIns="0">
            <a:spAutoFit/>
          </a:bodyPr>
          <a:lstStyle/>
          <a:p>
            <a:pPr>
              <a:spcAft>
                <a:spcPts val="800"/>
              </a:spcAft>
              <a:defRPr sz="4400" b="0">
                <a:solidFill>
                  <a:srgbClr val="117D82"/>
                </a:solidFill>
                <a:latin typeface="DejaVu Serif"/>
              </a:defRPr>
            </a:pPr>
            <a:r>
              <a:t>02</a:t>
            </a:r>
          </a:p>
        </p:txBody>
      </p:sp>
      <p:sp>
        <p:nvSpPr>
          <p:cNvPr id="12" name="TextBox 11"/>
          <p:cNvSpPr txBox="1"/>
          <p:nvPr/>
        </p:nvSpPr>
        <p:spPr>
          <a:xfrm>
            <a:off x="4462272" y="4096512"/>
            <a:ext cx="3328416" cy="557784"/>
          </a:xfrm>
          <a:prstGeom prst="rect">
            <a:avLst/>
          </a:prstGeom>
          <a:noFill/>
        </p:spPr>
        <p:txBody>
          <a:bodyPr wrap="square" lIns="27432" rIns="27432" tIns="18288" bIns="0">
            <a:spAutoFit/>
          </a:bodyPr>
          <a:lstStyle/>
          <a:p>
            <a:pPr>
              <a:spcAft>
                <a:spcPts val="800"/>
              </a:spcAft>
              <a:defRPr sz="2600" b="1">
                <a:solidFill>
                  <a:srgbClr val="16423C"/>
                </a:solidFill>
                <a:latin typeface="DejaVu Sans"/>
              </a:defRPr>
            </a:pPr>
            <a:r>
              <a:t>Xabar</a:t>
            </a:r>
          </a:p>
        </p:txBody>
      </p:sp>
      <p:sp>
        <p:nvSpPr>
          <p:cNvPr id="13" name="TextBox 12"/>
          <p:cNvSpPr txBox="1"/>
          <p:nvPr/>
        </p:nvSpPr>
        <p:spPr>
          <a:xfrm>
            <a:off x="4462272" y="4791456"/>
            <a:ext cx="3328416" cy="640080"/>
          </a:xfrm>
          <a:prstGeom prst="rect">
            <a:avLst/>
          </a:prstGeom>
          <a:noFill/>
        </p:spPr>
        <p:txBody>
          <a:bodyPr wrap="square" lIns="27432" rIns="27432" tIns="18288" bIns="0">
            <a:spAutoFit/>
          </a:bodyPr>
          <a:lstStyle/>
          <a:p>
            <a:pPr>
              <a:spcAft>
                <a:spcPts val="800"/>
              </a:spcAft>
              <a:defRPr sz="2100" b="0">
                <a:solidFill>
                  <a:srgbClr val="16423C"/>
                </a:solidFill>
                <a:latin typeface="DejaVu Sans"/>
              </a:defRPr>
            </a:pPr>
            <a:r>
              <a:t>Broker va shlyuz</a:t>
            </a:r>
          </a:p>
        </p:txBody>
      </p:sp>
      <p:sp>
        <p:nvSpPr>
          <p:cNvPr id="14" name="TextBox 13"/>
          <p:cNvSpPr txBox="1"/>
          <p:nvPr/>
        </p:nvSpPr>
        <p:spPr>
          <a:xfrm>
            <a:off x="8101583" y="3163824"/>
            <a:ext cx="3328416" cy="822960"/>
          </a:xfrm>
          <a:prstGeom prst="rect">
            <a:avLst/>
          </a:prstGeom>
          <a:noFill/>
        </p:spPr>
        <p:txBody>
          <a:bodyPr wrap="square" lIns="27432" rIns="27432" tIns="18288" bIns="0">
            <a:spAutoFit/>
          </a:bodyPr>
          <a:lstStyle/>
          <a:p>
            <a:pPr>
              <a:spcAft>
                <a:spcPts val="800"/>
              </a:spcAft>
              <a:defRPr sz="4400" b="0">
                <a:solidFill>
                  <a:srgbClr val="117D82"/>
                </a:solidFill>
                <a:latin typeface="DejaVu Serif"/>
              </a:defRPr>
            </a:pPr>
            <a:r>
              <a:t>03</a:t>
            </a:r>
          </a:p>
        </p:txBody>
      </p:sp>
      <p:sp>
        <p:nvSpPr>
          <p:cNvPr id="15" name="TextBox 14"/>
          <p:cNvSpPr txBox="1"/>
          <p:nvPr/>
        </p:nvSpPr>
        <p:spPr>
          <a:xfrm>
            <a:off x="8101583" y="4096512"/>
            <a:ext cx="3328416" cy="557784"/>
          </a:xfrm>
          <a:prstGeom prst="rect">
            <a:avLst/>
          </a:prstGeom>
          <a:noFill/>
        </p:spPr>
        <p:txBody>
          <a:bodyPr wrap="square" lIns="27432" rIns="27432" tIns="18288" bIns="0">
            <a:spAutoFit/>
          </a:bodyPr>
          <a:lstStyle/>
          <a:p>
            <a:pPr>
              <a:spcAft>
                <a:spcPts val="800"/>
              </a:spcAft>
              <a:defRPr sz="2600" b="1">
                <a:solidFill>
                  <a:srgbClr val="16423C"/>
                </a:solidFill>
                <a:latin typeface="DejaVu Sans"/>
              </a:defRPr>
            </a:pPr>
            <a:r>
              <a:t>Bulut</a:t>
            </a:r>
          </a:p>
        </p:txBody>
      </p:sp>
      <p:sp>
        <p:nvSpPr>
          <p:cNvPr id="16" name="TextBox 15"/>
          <p:cNvSpPr txBox="1"/>
          <p:nvPr/>
        </p:nvSpPr>
        <p:spPr>
          <a:xfrm>
            <a:off x="8101583" y="4791456"/>
            <a:ext cx="3328416" cy="640080"/>
          </a:xfrm>
          <a:prstGeom prst="rect">
            <a:avLst/>
          </a:prstGeom>
          <a:noFill/>
        </p:spPr>
        <p:txBody>
          <a:bodyPr wrap="square" lIns="27432" rIns="27432" tIns="18288" bIns="0">
            <a:spAutoFit/>
          </a:bodyPr>
          <a:lstStyle/>
          <a:p>
            <a:pPr>
              <a:spcAft>
                <a:spcPts val="800"/>
              </a:spcAft>
              <a:defRPr sz="2100" b="0">
                <a:solidFill>
                  <a:srgbClr val="16423C"/>
                </a:solidFill>
                <a:latin typeface="DejaVu Sans"/>
              </a:defRPr>
            </a:pPr>
            <a:r>
              <a:t>Tahlil va boshqaruv</a:t>
            </a:r>
          </a:p>
        </p:txBody>
      </p:sp>
      <p:sp>
        <p:nvSpPr>
          <p:cNvPr id="17" name="Rounded Rectangle 16"/>
          <p:cNvSpPr/>
          <p:nvPr/>
        </p:nvSpPr>
        <p:spPr>
          <a:xfrm>
            <a:off x="731520" y="5641848"/>
            <a:ext cx="10698480" cy="621792"/>
          </a:xfrm>
          <a:prstGeom prst="roundRect">
            <a:avLst>
              <a:gd name="adj" fmla="val 8000"/>
            </a:avLst>
          </a:prstGeom>
          <a:solidFill>
            <a:srgbClr val="EF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77824" y="5733288"/>
            <a:ext cx="10405872" cy="466344"/>
          </a:xfrm>
          <a:prstGeom prst="rect">
            <a:avLst/>
          </a:prstGeom>
          <a:noFill/>
        </p:spPr>
        <p:txBody>
          <a:bodyPr wrap="square" lIns="27432" rIns="27432" tIns="18288" bIns="0">
            <a:spAutoFit/>
          </a:bodyPr>
          <a:lstStyle/>
          <a:p>
            <a:pPr>
              <a:spcAft>
                <a:spcPts val="800"/>
              </a:spcAft>
              <a:defRPr sz="1700" b="0">
                <a:solidFill>
                  <a:srgbClr val="16423C"/>
                </a:solidFill>
                <a:latin typeface="DejaVu Sans"/>
              </a:defRPr>
            </a:pPr>
            <a:r>
              <a:t>Qurilmalarga bir xil umumiy parol berish butun park xavfsizligini zaiflashtiradi.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DFEFB"/>
        </a:solidFill>
        <a:effectLst/>
      </p:bgPr>
    </p:bg>
    <p:spTree>
      <p:nvGrpSpPr>
        <p:cNvPr id="1" name=""/>
        <p:cNvGrpSpPr/>
        <p:nvPr/>
      </p:nvGrpSpPr>
      <p:grpSpPr/>
      <p:sp>
        <p:nvSpPr>
          <p:cNvPr id="2" name="TextBox 1"/>
          <p:cNvSpPr txBox="1"/>
          <p:nvPr/>
        </p:nvSpPr>
        <p:spPr>
          <a:xfrm>
            <a:off x="758952" y="502920"/>
            <a:ext cx="10652760" cy="1024128"/>
          </a:xfrm>
          <a:prstGeom prst="rect">
            <a:avLst/>
          </a:prstGeom>
          <a:noFill/>
        </p:spPr>
        <p:txBody>
          <a:bodyPr wrap="square" lIns="27432" rIns="27432" tIns="18288" bIns="0">
            <a:spAutoFit/>
          </a:bodyPr>
          <a:lstStyle/>
          <a:p>
            <a:pPr>
              <a:spcAft>
                <a:spcPts val="800"/>
              </a:spcAft>
              <a:defRPr sz="2900" b="1">
                <a:solidFill>
                  <a:srgbClr val="16423C"/>
                </a:solidFill>
                <a:latin typeface="DejaVu Serif"/>
              </a:defRPr>
            </a:pPr>
            <a:r>
              <a:t>AI Cloud</a:t>
            </a:r>
          </a:p>
        </p:txBody>
      </p:sp>
      <p:cxnSp>
        <p:nvCxnSpPr>
          <p:cNvPr id="3" name="Connector 2"/>
          <p:cNvCxnSpPr/>
          <p:nvPr/>
        </p:nvCxnSpPr>
        <p:spPr>
          <a:xfrm>
            <a:off x="777240" y="1481328"/>
            <a:ext cx="10579608" cy="0"/>
          </a:xfrm>
          <a:prstGeom prst="line">
            <a:avLst/>
          </a:prstGeom>
          <a:ln w="12700">
            <a:solidFill>
              <a:srgbClr val="117D8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777240" y="182880"/>
            <a:ext cx="9144000" cy="228600"/>
          </a:xfrm>
          <a:prstGeom prst="rect">
            <a:avLst/>
          </a:prstGeom>
          <a:noFill/>
        </p:spPr>
        <p:txBody>
          <a:bodyPr wrap="square" lIns="27432" rIns="27432" tIns="18288" bIns="0">
            <a:spAutoFit/>
          </a:bodyPr>
          <a:lstStyle/>
          <a:p>
            <a:pPr>
              <a:spcAft>
                <a:spcPts val="800"/>
              </a:spcAft>
              <a:defRPr sz="900" b="1">
                <a:solidFill>
                  <a:srgbClr val="117D82"/>
                </a:solidFill>
                <a:latin typeface="DejaVu Sans"/>
              </a:defRPr>
            </a:pPr>
            <a:r>
              <a:t>BULUT TEXNOLOGIYALARI   /   ISTIQBOLLAR</a:t>
            </a:r>
          </a:p>
        </p:txBody>
      </p:sp>
      <p:sp>
        <p:nvSpPr>
          <p:cNvPr id="5" name="TextBox 4"/>
          <p:cNvSpPr txBox="1"/>
          <p:nvPr/>
        </p:nvSpPr>
        <p:spPr>
          <a:xfrm>
            <a:off x="502920" y="6537960"/>
            <a:ext cx="9144000" cy="210312"/>
          </a:xfrm>
          <a:prstGeom prst="rect">
            <a:avLst/>
          </a:prstGeom>
          <a:noFill/>
        </p:spPr>
        <p:txBody>
          <a:bodyPr wrap="square" lIns="27432" rIns="27432" tIns="18288" bIns="0">
            <a:spAutoFit/>
          </a:bodyPr>
          <a:lstStyle/>
          <a:p>
            <a:pPr>
              <a:spcAft>
                <a:spcPts val="800"/>
              </a:spcAft>
              <a:defRPr sz="900" b="0">
                <a:solidFill>
                  <a:srgbClr val="16423C"/>
                </a:solidFill>
                <a:latin typeface="DejaVu Sans"/>
              </a:defRPr>
            </a:pPr>
            <a:r>
              <a:t>BTST206   /   M18   /   2027–2028</a:t>
            </a:r>
          </a:p>
        </p:txBody>
      </p:sp>
      <p:sp>
        <p:nvSpPr>
          <p:cNvPr id="6" name="TextBox 5"/>
          <p:cNvSpPr txBox="1"/>
          <p:nvPr/>
        </p:nvSpPr>
        <p:spPr>
          <a:xfrm>
            <a:off x="10789920" y="6492240"/>
            <a:ext cx="822960" cy="274320"/>
          </a:xfrm>
          <a:prstGeom prst="rect">
            <a:avLst/>
          </a:prstGeom>
          <a:noFill/>
        </p:spPr>
        <p:txBody>
          <a:bodyPr wrap="square" lIns="27432" rIns="27432" tIns="18288" bIns="0">
            <a:spAutoFit/>
          </a:bodyPr>
          <a:lstStyle/>
          <a:p>
            <a:pPr>
              <a:spcAft>
                <a:spcPts val="800"/>
              </a:spcAft>
              <a:defRPr sz="1000" b="0">
                <a:solidFill>
                  <a:srgbClr val="16423C"/>
                </a:solidFill>
                <a:latin typeface="DejaVu Sans"/>
              </a:defRPr>
            </a:pPr>
            <a:r>
              <a:t>05 / 13</a:t>
            </a:r>
          </a:p>
        </p:txBody>
      </p:sp>
      <p:sp>
        <p:nvSpPr>
          <p:cNvPr id="7" name="Rounded Rectangle 6"/>
          <p:cNvSpPr/>
          <p:nvPr/>
        </p:nvSpPr>
        <p:spPr>
          <a:xfrm>
            <a:off x="804672" y="1837943"/>
            <a:ext cx="3822191" cy="3520440"/>
          </a:xfrm>
          <a:prstGeom prst="roundRect">
            <a:avLst>
              <a:gd name="adj" fmla="val 8000"/>
            </a:avLst>
          </a:prstGeom>
          <a:solidFill>
            <a:srgbClr val="D9ED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33271" y="2139696"/>
            <a:ext cx="3364992" cy="2514600"/>
          </a:xfrm>
          <a:prstGeom prst="rect">
            <a:avLst/>
          </a:prstGeom>
          <a:noFill/>
        </p:spPr>
        <p:txBody>
          <a:bodyPr wrap="square" lIns="27432" rIns="27432" tIns="18288" bIns="0">
            <a:spAutoFit/>
          </a:bodyPr>
          <a:lstStyle/>
          <a:p>
            <a:pPr>
              <a:spcAft>
                <a:spcPts val="800"/>
              </a:spcAft>
              <a:defRPr sz="2900" b="1">
                <a:solidFill>
                  <a:srgbClr val="16423C"/>
                </a:solidFill>
                <a:latin typeface="DejaVu Serif"/>
              </a:defRPr>
            </a:pPr>
            <a:r>
              <a:t>Modelni tayyorlash va undan javob olish xizmatlari.</a:t>
            </a:r>
          </a:p>
        </p:txBody>
      </p:sp>
      <p:sp>
        <p:nvSpPr>
          <p:cNvPr id="9" name="TextBox 8"/>
          <p:cNvSpPr txBox="1"/>
          <p:nvPr/>
        </p:nvSpPr>
        <p:spPr>
          <a:xfrm>
            <a:off x="5129784" y="1901952"/>
            <a:ext cx="6062472" cy="1389888"/>
          </a:xfrm>
          <a:prstGeom prst="rect">
            <a:avLst/>
          </a:prstGeom>
          <a:noFill/>
        </p:spPr>
        <p:txBody>
          <a:bodyPr wrap="square" lIns="27432" rIns="27432" tIns="18288" bIns="0">
            <a:spAutoFit/>
          </a:bodyPr>
          <a:lstStyle/>
          <a:p>
            <a:pPr>
              <a:spcAft>
                <a:spcPts val="800"/>
              </a:spcAft>
              <a:defRPr sz="2300" b="0">
                <a:solidFill>
                  <a:srgbClr val="16423C"/>
                </a:solidFill>
                <a:latin typeface="DejaVu Sans"/>
              </a:defRPr>
            </a:pPr>
            <a:r>
              <a:t>AI Cloud ma’lumot tayyorlash, model o‘qitish va inference uchun resurslarni taqdim etadi.</a:t>
            </a:r>
          </a:p>
        </p:txBody>
      </p:sp>
      <p:cxnSp>
        <p:nvCxnSpPr>
          <p:cNvPr id="10" name="Connector 9"/>
          <p:cNvCxnSpPr/>
          <p:nvPr/>
        </p:nvCxnSpPr>
        <p:spPr>
          <a:xfrm>
            <a:off x="5138928" y="3602736"/>
            <a:ext cx="6071616" cy="0"/>
          </a:xfrm>
          <a:prstGeom prst="line">
            <a:avLst/>
          </a:prstGeom>
          <a:ln w="12700">
            <a:solidFill>
              <a:srgbClr val="117D82"/>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5129784" y="3950208"/>
            <a:ext cx="6062472" cy="1280160"/>
          </a:xfrm>
          <a:prstGeom prst="rect">
            <a:avLst/>
          </a:prstGeom>
          <a:noFill/>
        </p:spPr>
        <p:txBody>
          <a:bodyPr wrap="square" lIns="27432" rIns="27432" tIns="18288" bIns="0">
            <a:spAutoFit/>
          </a:bodyPr>
          <a:lstStyle/>
          <a:p>
            <a:pPr>
              <a:spcAft>
                <a:spcPts val="800"/>
              </a:spcAft>
              <a:defRPr sz="2200" b="0">
                <a:solidFill>
                  <a:srgbClr val="16423C"/>
                </a:solidFill>
                <a:latin typeface="DejaVu Sans"/>
              </a:defRPr>
            </a:pPr>
            <a:r>
              <a:t>Universitet yordamchi tizimi o‘quv hujjatlari asosida javob tayyorlaydi; foydalanuvchiga muhim qarorlar tekshirilishi tushuntiriladi.</a:t>
            </a:r>
          </a:p>
        </p:txBody>
      </p:sp>
      <p:sp>
        <p:nvSpPr>
          <p:cNvPr id="12" name="Rounded Rectangle 11"/>
          <p:cNvSpPr/>
          <p:nvPr/>
        </p:nvSpPr>
        <p:spPr>
          <a:xfrm>
            <a:off x="731520" y="5641848"/>
            <a:ext cx="10698480" cy="621792"/>
          </a:xfrm>
          <a:prstGeom prst="roundRect">
            <a:avLst>
              <a:gd name="adj" fmla="val 8000"/>
            </a:avLst>
          </a:prstGeom>
          <a:solidFill>
            <a:srgbClr val="EF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77824" y="5733288"/>
            <a:ext cx="10405872" cy="466344"/>
          </a:xfrm>
          <a:prstGeom prst="rect">
            <a:avLst/>
          </a:prstGeom>
          <a:noFill/>
        </p:spPr>
        <p:txBody>
          <a:bodyPr wrap="square" lIns="27432" rIns="27432" tIns="18288" bIns="0">
            <a:spAutoFit/>
          </a:bodyPr>
          <a:lstStyle/>
          <a:p>
            <a:pPr>
              <a:spcAft>
                <a:spcPts val="800"/>
              </a:spcAft>
              <a:defRPr sz="1700" b="0">
                <a:solidFill>
                  <a:srgbClr val="16423C"/>
                </a:solidFill>
                <a:latin typeface="DejaVu Sans"/>
              </a:defRPr>
            </a:pPr>
            <a:r>
              <a:t>AI javobi xato bo‘lishi mumkin; maxfiy ma’lumot, tarafkashlik va inson nazorati oldindan baholanadi.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DFEFB"/>
        </a:solidFill>
        <a:effectLst/>
      </p:bgPr>
    </p:bg>
    <p:spTree>
      <p:nvGrpSpPr>
        <p:cNvPr id="1" name=""/>
        <p:cNvGrpSpPr/>
        <p:nvPr/>
      </p:nvGrpSpPr>
      <p:grpSpPr/>
      <p:sp>
        <p:nvSpPr>
          <p:cNvPr id="2" name="TextBox 1"/>
          <p:cNvSpPr txBox="1"/>
          <p:nvPr/>
        </p:nvSpPr>
        <p:spPr>
          <a:xfrm>
            <a:off x="758952" y="502920"/>
            <a:ext cx="10652760" cy="1024128"/>
          </a:xfrm>
          <a:prstGeom prst="rect">
            <a:avLst/>
          </a:prstGeom>
          <a:noFill/>
        </p:spPr>
        <p:txBody>
          <a:bodyPr wrap="square" lIns="27432" rIns="27432" tIns="18288" bIns="0">
            <a:spAutoFit/>
          </a:bodyPr>
          <a:lstStyle/>
          <a:p>
            <a:pPr>
              <a:spcAft>
                <a:spcPts val="800"/>
              </a:spcAft>
              <a:defRPr sz="2900" b="1">
                <a:solidFill>
                  <a:srgbClr val="16423C"/>
                </a:solidFill>
                <a:latin typeface="DejaVu Serif"/>
              </a:defRPr>
            </a:pPr>
            <a:r>
              <a:t>Green Cloud Computing</a:t>
            </a:r>
          </a:p>
        </p:txBody>
      </p:sp>
      <p:cxnSp>
        <p:nvCxnSpPr>
          <p:cNvPr id="3" name="Connector 2"/>
          <p:cNvCxnSpPr/>
          <p:nvPr/>
        </p:nvCxnSpPr>
        <p:spPr>
          <a:xfrm>
            <a:off x="777240" y="1481328"/>
            <a:ext cx="10579608" cy="0"/>
          </a:xfrm>
          <a:prstGeom prst="line">
            <a:avLst/>
          </a:prstGeom>
          <a:ln w="12700">
            <a:solidFill>
              <a:srgbClr val="117D8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777240" y="182880"/>
            <a:ext cx="9144000" cy="228600"/>
          </a:xfrm>
          <a:prstGeom prst="rect">
            <a:avLst/>
          </a:prstGeom>
          <a:noFill/>
        </p:spPr>
        <p:txBody>
          <a:bodyPr wrap="square" lIns="27432" rIns="27432" tIns="18288" bIns="0">
            <a:spAutoFit/>
          </a:bodyPr>
          <a:lstStyle/>
          <a:p>
            <a:pPr>
              <a:spcAft>
                <a:spcPts val="800"/>
              </a:spcAft>
              <a:defRPr sz="900" b="1">
                <a:solidFill>
                  <a:srgbClr val="117D82"/>
                </a:solidFill>
                <a:latin typeface="DejaVu Sans"/>
              </a:defRPr>
            </a:pPr>
            <a:r>
              <a:t>BULUT TEXNOLOGIYALARI   /   ISTIQBOLLAR</a:t>
            </a:r>
          </a:p>
        </p:txBody>
      </p:sp>
      <p:sp>
        <p:nvSpPr>
          <p:cNvPr id="5" name="TextBox 4"/>
          <p:cNvSpPr txBox="1"/>
          <p:nvPr/>
        </p:nvSpPr>
        <p:spPr>
          <a:xfrm>
            <a:off x="502920" y="6537960"/>
            <a:ext cx="9144000" cy="210312"/>
          </a:xfrm>
          <a:prstGeom prst="rect">
            <a:avLst/>
          </a:prstGeom>
          <a:noFill/>
        </p:spPr>
        <p:txBody>
          <a:bodyPr wrap="square" lIns="27432" rIns="27432" tIns="18288" bIns="0">
            <a:spAutoFit/>
          </a:bodyPr>
          <a:lstStyle/>
          <a:p>
            <a:pPr>
              <a:spcAft>
                <a:spcPts val="800"/>
              </a:spcAft>
              <a:defRPr sz="900" b="0">
                <a:solidFill>
                  <a:srgbClr val="16423C"/>
                </a:solidFill>
                <a:latin typeface="DejaVu Sans"/>
              </a:defRPr>
            </a:pPr>
            <a:r>
              <a:t>BTST206   /   M18   /   2027–2028</a:t>
            </a:r>
          </a:p>
        </p:txBody>
      </p:sp>
      <p:sp>
        <p:nvSpPr>
          <p:cNvPr id="6" name="TextBox 5"/>
          <p:cNvSpPr txBox="1"/>
          <p:nvPr/>
        </p:nvSpPr>
        <p:spPr>
          <a:xfrm>
            <a:off x="10789920" y="6492240"/>
            <a:ext cx="822960" cy="274320"/>
          </a:xfrm>
          <a:prstGeom prst="rect">
            <a:avLst/>
          </a:prstGeom>
          <a:noFill/>
        </p:spPr>
        <p:txBody>
          <a:bodyPr wrap="square" lIns="27432" rIns="27432" tIns="18288" bIns="0">
            <a:spAutoFit/>
          </a:bodyPr>
          <a:lstStyle/>
          <a:p>
            <a:pPr>
              <a:spcAft>
                <a:spcPts val="800"/>
              </a:spcAft>
              <a:defRPr sz="1000" b="0">
                <a:solidFill>
                  <a:srgbClr val="16423C"/>
                </a:solidFill>
                <a:latin typeface="DejaVu Sans"/>
              </a:defRPr>
            </a:pPr>
            <a:r>
              <a:t>06 / 13</a:t>
            </a:r>
          </a:p>
        </p:txBody>
      </p:sp>
      <p:sp>
        <p:nvSpPr>
          <p:cNvPr id="7" name="TextBox 6"/>
          <p:cNvSpPr txBox="1"/>
          <p:nvPr/>
        </p:nvSpPr>
        <p:spPr>
          <a:xfrm>
            <a:off x="832104" y="1847088"/>
            <a:ext cx="10451592" cy="960120"/>
          </a:xfrm>
          <a:prstGeom prst="rect">
            <a:avLst/>
          </a:prstGeom>
          <a:noFill/>
        </p:spPr>
        <p:txBody>
          <a:bodyPr wrap="square" lIns="27432" rIns="27432" tIns="18288" bIns="0">
            <a:spAutoFit/>
          </a:bodyPr>
          <a:lstStyle/>
          <a:p>
            <a:pPr>
              <a:spcAft>
                <a:spcPts val="800"/>
              </a:spcAft>
              <a:defRPr sz="3100" b="1">
                <a:solidFill>
                  <a:srgbClr val="117D82"/>
                </a:solidFill>
                <a:latin typeface="DejaVu Serif"/>
              </a:defRPr>
            </a:pPr>
            <a:r>
              <a:t>Samaradorlik va ekologik ta’sirni birga ko‘rish.</a:t>
            </a:r>
          </a:p>
        </p:txBody>
      </p:sp>
      <p:cxnSp>
        <p:nvCxnSpPr>
          <p:cNvPr id="8" name="Connector 7"/>
          <p:cNvCxnSpPr/>
          <p:nvPr/>
        </p:nvCxnSpPr>
        <p:spPr>
          <a:xfrm>
            <a:off x="822960" y="3136392"/>
            <a:ext cx="3273552" cy="0"/>
          </a:xfrm>
          <a:prstGeom prst="line">
            <a:avLst/>
          </a:prstGeom>
          <a:ln w="25400">
            <a:solidFill>
              <a:srgbClr val="117D82"/>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822960" y="3465576"/>
            <a:ext cx="3273552" cy="594360"/>
          </a:xfrm>
          <a:prstGeom prst="rect">
            <a:avLst/>
          </a:prstGeom>
          <a:noFill/>
        </p:spPr>
        <p:txBody>
          <a:bodyPr wrap="square" lIns="27432" rIns="27432" tIns="18288" bIns="0">
            <a:spAutoFit/>
          </a:bodyPr>
          <a:lstStyle/>
          <a:p>
            <a:pPr>
              <a:spcAft>
                <a:spcPts val="800"/>
              </a:spcAft>
              <a:defRPr sz="2600" b="1">
                <a:solidFill>
                  <a:srgbClr val="16423C"/>
                </a:solidFill>
                <a:latin typeface="DejaVu Sans"/>
              </a:defRPr>
            </a:pPr>
            <a:r>
              <a:t>O‘lchash</a:t>
            </a:r>
          </a:p>
        </p:txBody>
      </p:sp>
      <p:sp>
        <p:nvSpPr>
          <p:cNvPr id="10" name="TextBox 9"/>
          <p:cNvSpPr txBox="1"/>
          <p:nvPr/>
        </p:nvSpPr>
        <p:spPr>
          <a:xfrm>
            <a:off x="822960" y="4379976"/>
            <a:ext cx="3273552" cy="941832"/>
          </a:xfrm>
          <a:prstGeom prst="rect">
            <a:avLst/>
          </a:prstGeom>
          <a:noFill/>
        </p:spPr>
        <p:txBody>
          <a:bodyPr wrap="square" lIns="27432" rIns="27432" tIns="18288" bIns="0">
            <a:spAutoFit/>
          </a:bodyPr>
          <a:lstStyle/>
          <a:p>
            <a:pPr>
              <a:spcAft>
                <a:spcPts val="800"/>
              </a:spcAft>
              <a:defRPr sz="2200" b="0">
                <a:solidFill>
                  <a:srgbClr val="16423C"/>
                </a:solidFill>
                <a:latin typeface="DejaVu Sans"/>
              </a:defRPr>
            </a:pPr>
            <a:r>
              <a:t>Yuklama va resurs sarfi</a:t>
            </a:r>
          </a:p>
        </p:txBody>
      </p:sp>
      <p:cxnSp>
        <p:nvCxnSpPr>
          <p:cNvPr id="11" name="Connector 10"/>
          <p:cNvCxnSpPr/>
          <p:nvPr/>
        </p:nvCxnSpPr>
        <p:spPr>
          <a:xfrm>
            <a:off x="4462272" y="3136392"/>
            <a:ext cx="3273552" cy="0"/>
          </a:xfrm>
          <a:prstGeom prst="line">
            <a:avLst/>
          </a:prstGeom>
          <a:ln w="25400">
            <a:solidFill>
              <a:srgbClr val="117D82"/>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462272" y="3465576"/>
            <a:ext cx="3273552" cy="594360"/>
          </a:xfrm>
          <a:prstGeom prst="rect">
            <a:avLst/>
          </a:prstGeom>
          <a:noFill/>
        </p:spPr>
        <p:txBody>
          <a:bodyPr wrap="square" lIns="27432" rIns="27432" tIns="18288" bIns="0">
            <a:spAutoFit/>
          </a:bodyPr>
          <a:lstStyle/>
          <a:p>
            <a:pPr>
              <a:spcAft>
                <a:spcPts val="800"/>
              </a:spcAft>
              <a:defRPr sz="2600" b="1">
                <a:solidFill>
                  <a:srgbClr val="16423C"/>
                </a:solidFill>
                <a:latin typeface="DejaVu Sans"/>
              </a:defRPr>
            </a:pPr>
            <a:r>
              <a:t>Kamaytirish</a:t>
            </a:r>
          </a:p>
        </p:txBody>
      </p:sp>
      <p:sp>
        <p:nvSpPr>
          <p:cNvPr id="13" name="TextBox 12"/>
          <p:cNvSpPr txBox="1"/>
          <p:nvPr/>
        </p:nvSpPr>
        <p:spPr>
          <a:xfrm>
            <a:off x="4462272" y="4379976"/>
            <a:ext cx="3273552" cy="941832"/>
          </a:xfrm>
          <a:prstGeom prst="rect">
            <a:avLst/>
          </a:prstGeom>
          <a:noFill/>
        </p:spPr>
        <p:txBody>
          <a:bodyPr wrap="square" lIns="27432" rIns="27432" tIns="18288" bIns="0">
            <a:spAutoFit/>
          </a:bodyPr>
          <a:lstStyle/>
          <a:p>
            <a:pPr>
              <a:spcAft>
                <a:spcPts val="800"/>
              </a:spcAft>
              <a:defRPr sz="2200" b="0">
                <a:solidFill>
                  <a:srgbClr val="16423C"/>
                </a:solidFill>
                <a:latin typeface="DejaVu Sans"/>
              </a:defRPr>
            </a:pPr>
            <a:r>
              <a:t>Keraksiz hisoblash</a:t>
            </a:r>
          </a:p>
        </p:txBody>
      </p:sp>
      <p:cxnSp>
        <p:nvCxnSpPr>
          <p:cNvPr id="14" name="Connector 13"/>
          <p:cNvCxnSpPr/>
          <p:nvPr/>
        </p:nvCxnSpPr>
        <p:spPr>
          <a:xfrm>
            <a:off x="8101583" y="3136392"/>
            <a:ext cx="3273553" cy="0"/>
          </a:xfrm>
          <a:prstGeom prst="line">
            <a:avLst/>
          </a:prstGeom>
          <a:ln w="25400">
            <a:solidFill>
              <a:srgbClr val="117D82"/>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8101583" y="3465576"/>
            <a:ext cx="3273552" cy="594360"/>
          </a:xfrm>
          <a:prstGeom prst="rect">
            <a:avLst/>
          </a:prstGeom>
          <a:noFill/>
        </p:spPr>
        <p:txBody>
          <a:bodyPr wrap="square" lIns="27432" rIns="27432" tIns="18288" bIns="0">
            <a:spAutoFit/>
          </a:bodyPr>
          <a:lstStyle/>
          <a:p>
            <a:pPr>
              <a:spcAft>
                <a:spcPts val="800"/>
              </a:spcAft>
              <a:defRPr sz="2600" b="1">
                <a:solidFill>
                  <a:srgbClr val="16423C"/>
                </a:solidFill>
                <a:latin typeface="DejaVu Sans"/>
              </a:defRPr>
            </a:pPr>
            <a:r>
              <a:t>Baholash</a:t>
            </a:r>
          </a:p>
        </p:txBody>
      </p:sp>
      <p:sp>
        <p:nvSpPr>
          <p:cNvPr id="16" name="TextBox 15"/>
          <p:cNvSpPr txBox="1"/>
          <p:nvPr/>
        </p:nvSpPr>
        <p:spPr>
          <a:xfrm>
            <a:off x="8101583" y="4379976"/>
            <a:ext cx="3273552" cy="941832"/>
          </a:xfrm>
          <a:prstGeom prst="rect">
            <a:avLst/>
          </a:prstGeom>
          <a:noFill/>
        </p:spPr>
        <p:txBody>
          <a:bodyPr wrap="square" lIns="27432" rIns="27432" tIns="18288" bIns="0">
            <a:spAutoFit/>
          </a:bodyPr>
          <a:lstStyle/>
          <a:p>
            <a:pPr>
              <a:spcAft>
                <a:spcPts val="800"/>
              </a:spcAft>
              <a:defRPr sz="2200" b="0">
                <a:solidFill>
                  <a:srgbClr val="16423C"/>
                </a:solidFill>
                <a:latin typeface="DejaVu Sans"/>
              </a:defRPr>
            </a:pPr>
            <a:r>
              <a:t>Xizmat va ekologik ta’sir</a:t>
            </a:r>
          </a:p>
        </p:txBody>
      </p:sp>
      <p:sp>
        <p:nvSpPr>
          <p:cNvPr id="17" name="Rounded Rectangle 16"/>
          <p:cNvSpPr/>
          <p:nvPr/>
        </p:nvSpPr>
        <p:spPr>
          <a:xfrm>
            <a:off x="731520" y="5641848"/>
            <a:ext cx="10698480" cy="621792"/>
          </a:xfrm>
          <a:prstGeom prst="roundRect">
            <a:avLst>
              <a:gd name="adj" fmla="val 8000"/>
            </a:avLst>
          </a:prstGeom>
          <a:solidFill>
            <a:srgbClr val="EF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77824" y="5733288"/>
            <a:ext cx="10405872" cy="466344"/>
          </a:xfrm>
          <a:prstGeom prst="rect">
            <a:avLst/>
          </a:prstGeom>
          <a:noFill/>
        </p:spPr>
        <p:txBody>
          <a:bodyPr wrap="square" lIns="27432" rIns="27432" tIns="18288" bIns="0">
            <a:spAutoFit/>
          </a:bodyPr>
          <a:lstStyle/>
          <a:p>
            <a:pPr>
              <a:spcAft>
                <a:spcPts val="800"/>
              </a:spcAft>
              <a:defRPr sz="1700" b="0">
                <a:solidFill>
                  <a:srgbClr val="16423C"/>
                </a:solidFill>
                <a:latin typeface="DejaVu Sans"/>
              </a:defRPr>
            </a:pPr>
            <a:r>
              <a:t>Karbon ta’sirini baholash uchun metodika kerak; xarajat kamayishi har doim bir xil nisbatda emissiya kamayishini anglatmaydi.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DFEFB"/>
        </a:solidFill>
        <a:effectLst/>
      </p:bgPr>
    </p:bg>
    <p:spTree>
      <p:nvGrpSpPr>
        <p:cNvPr id="1" name=""/>
        <p:cNvGrpSpPr/>
        <p:nvPr/>
      </p:nvGrpSpPr>
      <p:grpSpPr/>
      <p:sp>
        <p:nvSpPr>
          <p:cNvPr id="2" name="TextBox 1"/>
          <p:cNvSpPr txBox="1"/>
          <p:nvPr/>
        </p:nvSpPr>
        <p:spPr>
          <a:xfrm>
            <a:off x="758952" y="502920"/>
            <a:ext cx="10652760" cy="1024128"/>
          </a:xfrm>
          <a:prstGeom prst="rect">
            <a:avLst/>
          </a:prstGeom>
          <a:noFill/>
        </p:spPr>
        <p:txBody>
          <a:bodyPr wrap="square" lIns="27432" rIns="27432" tIns="18288" bIns="0">
            <a:spAutoFit/>
          </a:bodyPr>
          <a:lstStyle/>
          <a:p>
            <a:pPr>
              <a:spcAft>
                <a:spcPts val="800"/>
              </a:spcAft>
              <a:defRPr sz="2900" b="1">
                <a:solidFill>
                  <a:srgbClr val="16423C"/>
                </a:solidFill>
                <a:latin typeface="DejaVu Serif"/>
              </a:defRPr>
            </a:pPr>
            <a:r>
              <a:t>Cloud-native va mikroservislar</a:t>
            </a:r>
          </a:p>
        </p:txBody>
      </p:sp>
      <p:cxnSp>
        <p:nvCxnSpPr>
          <p:cNvPr id="3" name="Connector 2"/>
          <p:cNvCxnSpPr/>
          <p:nvPr/>
        </p:nvCxnSpPr>
        <p:spPr>
          <a:xfrm>
            <a:off x="777240" y="1481328"/>
            <a:ext cx="10579608" cy="0"/>
          </a:xfrm>
          <a:prstGeom prst="line">
            <a:avLst/>
          </a:prstGeom>
          <a:ln w="12700">
            <a:solidFill>
              <a:srgbClr val="117D8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777240" y="182880"/>
            <a:ext cx="9144000" cy="228600"/>
          </a:xfrm>
          <a:prstGeom prst="rect">
            <a:avLst/>
          </a:prstGeom>
          <a:noFill/>
        </p:spPr>
        <p:txBody>
          <a:bodyPr wrap="square" lIns="27432" rIns="27432" tIns="18288" bIns="0">
            <a:spAutoFit/>
          </a:bodyPr>
          <a:lstStyle/>
          <a:p>
            <a:pPr>
              <a:spcAft>
                <a:spcPts val="800"/>
              </a:spcAft>
              <a:defRPr sz="900" b="1">
                <a:solidFill>
                  <a:srgbClr val="117D82"/>
                </a:solidFill>
                <a:latin typeface="DejaVu Sans"/>
              </a:defRPr>
            </a:pPr>
            <a:r>
              <a:t>BULUT TEXNOLOGIYALARI   /   ISTIQBOLLAR</a:t>
            </a:r>
          </a:p>
        </p:txBody>
      </p:sp>
      <p:sp>
        <p:nvSpPr>
          <p:cNvPr id="5" name="TextBox 4"/>
          <p:cNvSpPr txBox="1"/>
          <p:nvPr/>
        </p:nvSpPr>
        <p:spPr>
          <a:xfrm>
            <a:off x="502920" y="6537960"/>
            <a:ext cx="9144000" cy="210312"/>
          </a:xfrm>
          <a:prstGeom prst="rect">
            <a:avLst/>
          </a:prstGeom>
          <a:noFill/>
        </p:spPr>
        <p:txBody>
          <a:bodyPr wrap="square" lIns="27432" rIns="27432" tIns="18288" bIns="0">
            <a:spAutoFit/>
          </a:bodyPr>
          <a:lstStyle/>
          <a:p>
            <a:pPr>
              <a:spcAft>
                <a:spcPts val="800"/>
              </a:spcAft>
              <a:defRPr sz="900" b="0">
                <a:solidFill>
                  <a:srgbClr val="16423C"/>
                </a:solidFill>
                <a:latin typeface="DejaVu Sans"/>
              </a:defRPr>
            </a:pPr>
            <a:r>
              <a:t>BTST206   /   M18   /   2027–2028</a:t>
            </a:r>
          </a:p>
        </p:txBody>
      </p:sp>
      <p:sp>
        <p:nvSpPr>
          <p:cNvPr id="6" name="TextBox 5"/>
          <p:cNvSpPr txBox="1"/>
          <p:nvPr/>
        </p:nvSpPr>
        <p:spPr>
          <a:xfrm>
            <a:off x="10789920" y="6492240"/>
            <a:ext cx="822960" cy="274320"/>
          </a:xfrm>
          <a:prstGeom prst="rect">
            <a:avLst/>
          </a:prstGeom>
          <a:noFill/>
        </p:spPr>
        <p:txBody>
          <a:bodyPr wrap="square" lIns="27432" rIns="27432" tIns="18288" bIns="0">
            <a:spAutoFit/>
          </a:bodyPr>
          <a:lstStyle/>
          <a:p>
            <a:pPr>
              <a:spcAft>
                <a:spcPts val="800"/>
              </a:spcAft>
              <a:defRPr sz="1000" b="0">
                <a:solidFill>
                  <a:srgbClr val="16423C"/>
                </a:solidFill>
                <a:latin typeface="DejaVu Sans"/>
              </a:defRPr>
            </a:pPr>
            <a:r>
              <a:t>07 / 13</a:t>
            </a:r>
          </a:p>
        </p:txBody>
      </p:sp>
      <p:sp>
        <p:nvSpPr>
          <p:cNvPr id="7" name="TextBox 6"/>
          <p:cNvSpPr txBox="1"/>
          <p:nvPr/>
        </p:nvSpPr>
        <p:spPr>
          <a:xfrm>
            <a:off x="832104" y="1837943"/>
            <a:ext cx="3749039" cy="2103120"/>
          </a:xfrm>
          <a:prstGeom prst="rect">
            <a:avLst/>
          </a:prstGeom>
          <a:noFill/>
        </p:spPr>
        <p:txBody>
          <a:bodyPr wrap="square" lIns="27432" rIns="27432" tIns="18288" bIns="0">
            <a:spAutoFit/>
          </a:bodyPr>
          <a:lstStyle/>
          <a:p>
            <a:pPr>
              <a:spcAft>
                <a:spcPts val="800"/>
              </a:spcAft>
              <a:defRPr sz="2900" b="1">
                <a:solidFill>
                  <a:srgbClr val="16423C"/>
                </a:solidFill>
                <a:latin typeface="DejaVu Serif"/>
              </a:defRPr>
            </a:pPr>
            <a:r>
              <a:t>Moslashuvchanlik — ajratilgan xizmat va avtomatlashtirish bilan.</a:t>
            </a:r>
          </a:p>
        </p:txBody>
      </p:sp>
      <p:cxnSp>
        <p:nvCxnSpPr>
          <p:cNvPr id="8" name="Connector 7"/>
          <p:cNvCxnSpPr/>
          <p:nvPr/>
        </p:nvCxnSpPr>
        <p:spPr>
          <a:xfrm>
            <a:off x="4974336" y="1837943"/>
            <a:ext cx="0" cy="3483865"/>
          </a:xfrm>
          <a:prstGeom prst="line">
            <a:avLst/>
          </a:prstGeom>
          <a:ln w="12700">
            <a:solidFill>
              <a:srgbClr val="117D82"/>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394960" y="1892807"/>
            <a:ext cx="5879592" cy="1453896"/>
          </a:xfrm>
          <a:prstGeom prst="rect">
            <a:avLst/>
          </a:prstGeom>
          <a:noFill/>
        </p:spPr>
        <p:txBody>
          <a:bodyPr wrap="square" lIns="27432" rIns="27432" tIns="18288" bIns="0">
            <a:spAutoFit/>
          </a:bodyPr>
          <a:lstStyle/>
          <a:p>
            <a:pPr>
              <a:spcAft>
                <a:spcPts val="800"/>
              </a:spcAft>
              <a:defRPr sz="2300" b="0">
                <a:solidFill>
                  <a:srgbClr val="16423C"/>
                </a:solidFill>
                <a:latin typeface="DejaVu Sans"/>
              </a:defRPr>
            </a:pPr>
            <a:r>
              <a:t>Cloud-native bulut imkoniyatlariga mos loyihalash va ishlatish yondashuvidir.</a:t>
            </a:r>
          </a:p>
        </p:txBody>
      </p:sp>
      <p:sp>
        <p:nvSpPr>
          <p:cNvPr id="10" name="TextBox 9"/>
          <p:cNvSpPr txBox="1"/>
          <p:nvPr/>
        </p:nvSpPr>
        <p:spPr>
          <a:xfrm>
            <a:off x="5394960" y="3831336"/>
            <a:ext cx="5879592" cy="1453896"/>
          </a:xfrm>
          <a:prstGeom prst="rect">
            <a:avLst/>
          </a:prstGeom>
          <a:noFill/>
        </p:spPr>
        <p:txBody>
          <a:bodyPr wrap="square" lIns="27432" rIns="27432" tIns="18288" bIns="0">
            <a:spAutoFit/>
          </a:bodyPr>
          <a:lstStyle/>
          <a:p>
            <a:pPr>
              <a:spcAft>
                <a:spcPts val="800"/>
              </a:spcAft>
              <a:defRPr sz="2300" b="0">
                <a:solidFill>
                  <a:srgbClr val="16423C"/>
                </a:solidFill>
                <a:latin typeface="DejaVu Sans"/>
              </a:defRPr>
            </a:pPr>
            <a:r>
              <a:t>Portal, xabarnoma va video qayta ishlash xizmatlari turli yuklamaga qarab alohida masshtablanadi.</a:t>
            </a:r>
          </a:p>
        </p:txBody>
      </p:sp>
      <p:sp>
        <p:nvSpPr>
          <p:cNvPr id="11" name="Rounded Rectangle 10"/>
          <p:cNvSpPr/>
          <p:nvPr/>
        </p:nvSpPr>
        <p:spPr>
          <a:xfrm>
            <a:off x="731520" y="5641848"/>
            <a:ext cx="10698480" cy="621792"/>
          </a:xfrm>
          <a:prstGeom prst="roundRect">
            <a:avLst>
              <a:gd name="adj" fmla="val 8000"/>
            </a:avLst>
          </a:prstGeom>
          <a:solidFill>
            <a:srgbClr val="EF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77824" y="5733288"/>
            <a:ext cx="10405872" cy="466344"/>
          </a:xfrm>
          <a:prstGeom prst="rect">
            <a:avLst/>
          </a:prstGeom>
          <a:noFill/>
        </p:spPr>
        <p:txBody>
          <a:bodyPr wrap="square" lIns="27432" rIns="27432" tIns="18288" bIns="0">
            <a:spAutoFit/>
          </a:bodyPr>
          <a:lstStyle/>
          <a:p>
            <a:pPr>
              <a:spcAft>
                <a:spcPts val="800"/>
              </a:spcAft>
              <a:defRPr sz="1700" b="0">
                <a:solidFill>
                  <a:srgbClr val="16423C"/>
                </a:solidFill>
                <a:latin typeface="DejaVu Sans"/>
              </a:defRPr>
            </a:pPr>
            <a:r>
              <a:t>Kichik jamoa va oddiy tizim uchun yaxshi tuzilgan monolit ba’zan osonroq; mikroservis har doim zarur emas.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DFEFB"/>
        </a:solidFill>
        <a:effectLst/>
      </p:bgPr>
    </p:bg>
    <p:spTree>
      <p:nvGrpSpPr>
        <p:cNvPr id="1" name=""/>
        <p:cNvGrpSpPr/>
        <p:nvPr/>
      </p:nvGrpSpPr>
      <p:grpSpPr/>
      <p:sp>
        <p:nvSpPr>
          <p:cNvPr id="2" name="TextBox 1"/>
          <p:cNvSpPr txBox="1"/>
          <p:nvPr/>
        </p:nvSpPr>
        <p:spPr>
          <a:xfrm>
            <a:off x="758952" y="502920"/>
            <a:ext cx="10652760" cy="1024128"/>
          </a:xfrm>
          <a:prstGeom prst="rect">
            <a:avLst/>
          </a:prstGeom>
          <a:noFill/>
        </p:spPr>
        <p:txBody>
          <a:bodyPr wrap="square" lIns="27432" rIns="27432" tIns="18288" bIns="0">
            <a:spAutoFit/>
          </a:bodyPr>
          <a:lstStyle/>
          <a:p>
            <a:pPr>
              <a:spcAft>
                <a:spcPts val="800"/>
              </a:spcAft>
              <a:defRPr sz="2900" b="1">
                <a:solidFill>
                  <a:srgbClr val="16423C"/>
                </a:solidFill>
                <a:latin typeface="DejaVu Serif"/>
              </a:defRPr>
            </a:pPr>
            <a:r>
              <a:t>Integratsiya va istiqbollar</a:t>
            </a:r>
          </a:p>
        </p:txBody>
      </p:sp>
      <p:cxnSp>
        <p:nvCxnSpPr>
          <p:cNvPr id="3" name="Connector 2"/>
          <p:cNvCxnSpPr/>
          <p:nvPr/>
        </p:nvCxnSpPr>
        <p:spPr>
          <a:xfrm>
            <a:off x="777240" y="1481328"/>
            <a:ext cx="10579608" cy="0"/>
          </a:xfrm>
          <a:prstGeom prst="line">
            <a:avLst/>
          </a:prstGeom>
          <a:ln w="12700">
            <a:solidFill>
              <a:srgbClr val="117D8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777240" y="182880"/>
            <a:ext cx="9144000" cy="228600"/>
          </a:xfrm>
          <a:prstGeom prst="rect">
            <a:avLst/>
          </a:prstGeom>
          <a:noFill/>
        </p:spPr>
        <p:txBody>
          <a:bodyPr wrap="square" lIns="27432" rIns="27432" tIns="18288" bIns="0">
            <a:spAutoFit/>
          </a:bodyPr>
          <a:lstStyle/>
          <a:p>
            <a:pPr>
              <a:spcAft>
                <a:spcPts val="800"/>
              </a:spcAft>
              <a:defRPr sz="900" b="1">
                <a:solidFill>
                  <a:srgbClr val="117D82"/>
                </a:solidFill>
                <a:latin typeface="DejaVu Sans"/>
              </a:defRPr>
            </a:pPr>
            <a:r>
              <a:t>BULUT TEXNOLOGIYALARI   /   ISTIQBOLLAR</a:t>
            </a:r>
          </a:p>
        </p:txBody>
      </p:sp>
      <p:sp>
        <p:nvSpPr>
          <p:cNvPr id="5" name="TextBox 4"/>
          <p:cNvSpPr txBox="1"/>
          <p:nvPr/>
        </p:nvSpPr>
        <p:spPr>
          <a:xfrm>
            <a:off x="502920" y="6537960"/>
            <a:ext cx="9144000" cy="210312"/>
          </a:xfrm>
          <a:prstGeom prst="rect">
            <a:avLst/>
          </a:prstGeom>
          <a:noFill/>
        </p:spPr>
        <p:txBody>
          <a:bodyPr wrap="square" lIns="27432" rIns="27432" tIns="18288" bIns="0">
            <a:spAutoFit/>
          </a:bodyPr>
          <a:lstStyle/>
          <a:p>
            <a:pPr>
              <a:spcAft>
                <a:spcPts val="800"/>
              </a:spcAft>
              <a:defRPr sz="900" b="0">
                <a:solidFill>
                  <a:srgbClr val="16423C"/>
                </a:solidFill>
                <a:latin typeface="DejaVu Sans"/>
              </a:defRPr>
            </a:pPr>
            <a:r>
              <a:t>BTST206   /   M18   /   2027–2028</a:t>
            </a:r>
          </a:p>
        </p:txBody>
      </p:sp>
      <p:sp>
        <p:nvSpPr>
          <p:cNvPr id="6" name="TextBox 5"/>
          <p:cNvSpPr txBox="1"/>
          <p:nvPr/>
        </p:nvSpPr>
        <p:spPr>
          <a:xfrm>
            <a:off x="10789920" y="6492240"/>
            <a:ext cx="822960" cy="274320"/>
          </a:xfrm>
          <a:prstGeom prst="rect">
            <a:avLst/>
          </a:prstGeom>
          <a:noFill/>
        </p:spPr>
        <p:txBody>
          <a:bodyPr wrap="square" lIns="27432" rIns="27432" tIns="18288" bIns="0">
            <a:spAutoFit/>
          </a:bodyPr>
          <a:lstStyle/>
          <a:p>
            <a:pPr>
              <a:spcAft>
                <a:spcPts val="800"/>
              </a:spcAft>
              <a:defRPr sz="1000" b="0">
                <a:solidFill>
                  <a:srgbClr val="16423C"/>
                </a:solidFill>
                <a:latin typeface="DejaVu Sans"/>
              </a:defRPr>
            </a:pPr>
            <a:r>
              <a:t>08 / 13</a:t>
            </a:r>
          </a:p>
        </p:txBody>
      </p:sp>
      <p:sp>
        <p:nvSpPr>
          <p:cNvPr id="7" name="TextBox 6"/>
          <p:cNvSpPr txBox="1"/>
          <p:nvPr/>
        </p:nvSpPr>
        <p:spPr>
          <a:xfrm>
            <a:off x="832104" y="1837943"/>
            <a:ext cx="3749039" cy="2103120"/>
          </a:xfrm>
          <a:prstGeom prst="rect">
            <a:avLst/>
          </a:prstGeom>
          <a:noFill/>
        </p:spPr>
        <p:txBody>
          <a:bodyPr wrap="square" lIns="27432" rIns="27432" tIns="18288" bIns="0">
            <a:spAutoFit/>
          </a:bodyPr>
          <a:lstStyle/>
          <a:p>
            <a:pPr>
              <a:spcAft>
                <a:spcPts val="800"/>
              </a:spcAft>
              <a:defRPr sz="2900" b="1">
                <a:solidFill>
                  <a:srgbClr val="16423C"/>
                </a:solidFill>
                <a:latin typeface="DejaVu Serif"/>
              </a:defRPr>
            </a:pPr>
            <a:r>
              <a:t>Hybrid, multi-cloud va Big Data bir maqsadga xizmat qiladi.</a:t>
            </a:r>
          </a:p>
        </p:txBody>
      </p:sp>
      <p:cxnSp>
        <p:nvCxnSpPr>
          <p:cNvPr id="8" name="Connector 7"/>
          <p:cNvCxnSpPr/>
          <p:nvPr/>
        </p:nvCxnSpPr>
        <p:spPr>
          <a:xfrm>
            <a:off x="4974336" y="1837943"/>
            <a:ext cx="0" cy="3483865"/>
          </a:xfrm>
          <a:prstGeom prst="line">
            <a:avLst/>
          </a:prstGeom>
          <a:ln w="12700">
            <a:solidFill>
              <a:srgbClr val="117D82"/>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394960" y="1892807"/>
            <a:ext cx="5879592" cy="1453896"/>
          </a:xfrm>
          <a:prstGeom prst="rect">
            <a:avLst/>
          </a:prstGeom>
          <a:noFill/>
        </p:spPr>
        <p:txBody>
          <a:bodyPr wrap="square" lIns="27432" rIns="27432" tIns="18288" bIns="0">
            <a:spAutoFit/>
          </a:bodyPr>
          <a:lstStyle/>
          <a:p>
            <a:pPr>
              <a:spcAft>
                <a:spcPts val="800"/>
              </a:spcAft>
              <a:defRPr sz="2300" b="0">
                <a:solidFill>
                  <a:srgbClr val="16423C"/>
                </a:solidFill>
                <a:latin typeface="DejaVu Sans"/>
              </a:defRPr>
            </a:pPr>
            <a:r>
              <a:t>Zamonaviy arxitektura bitta texnologiyani hamma joyda qo‘llash emas.</a:t>
            </a:r>
          </a:p>
        </p:txBody>
      </p:sp>
      <p:sp>
        <p:nvSpPr>
          <p:cNvPr id="10" name="TextBox 9"/>
          <p:cNvSpPr txBox="1"/>
          <p:nvPr/>
        </p:nvSpPr>
        <p:spPr>
          <a:xfrm>
            <a:off x="5394960" y="3831336"/>
            <a:ext cx="5879592" cy="1453896"/>
          </a:xfrm>
          <a:prstGeom prst="rect">
            <a:avLst/>
          </a:prstGeom>
          <a:noFill/>
        </p:spPr>
        <p:txBody>
          <a:bodyPr wrap="square" lIns="27432" rIns="27432" tIns="18288" bIns="0">
            <a:spAutoFit/>
          </a:bodyPr>
          <a:lstStyle/>
          <a:p>
            <a:pPr>
              <a:spcAft>
                <a:spcPts val="800"/>
              </a:spcAft>
              <a:defRPr sz="2300" b="0">
                <a:solidFill>
                  <a:srgbClr val="16423C"/>
                </a:solidFill>
                <a:latin typeface="DejaVu Sans"/>
              </a:defRPr>
            </a:pPr>
            <a:r>
              <a:t>Aqlli kampusda tez xavfsizlik signali edge da, yillik energiya tahlili esa bulutdagi Big Data platformasida bajariladi.</a:t>
            </a:r>
          </a:p>
        </p:txBody>
      </p:sp>
      <p:sp>
        <p:nvSpPr>
          <p:cNvPr id="11" name="Rounded Rectangle 10"/>
          <p:cNvSpPr/>
          <p:nvPr/>
        </p:nvSpPr>
        <p:spPr>
          <a:xfrm>
            <a:off x="731520" y="5641848"/>
            <a:ext cx="10698480" cy="621792"/>
          </a:xfrm>
          <a:prstGeom prst="roundRect">
            <a:avLst>
              <a:gd name="adj" fmla="val 8000"/>
            </a:avLst>
          </a:prstGeom>
          <a:solidFill>
            <a:srgbClr val="EF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77824" y="5733288"/>
            <a:ext cx="10405872" cy="466344"/>
          </a:xfrm>
          <a:prstGeom prst="rect">
            <a:avLst/>
          </a:prstGeom>
          <a:noFill/>
        </p:spPr>
        <p:txBody>
          <a:bodyPr wrap="square" lIns="27432" rIns="27432" tIns="18288" bIns="0">
            <a:spAutoFit/>
          </a:bodyPr>
          <a:lstStyle/>
          <a:p>
            <a:pPr>
              <a:spcAft>
                <a:spcPts val="800"/>
              </a:spcAft>
              <a:defRPr sz="1700" b="0">
                <a:solidFill>
                  <a:srgbClr val="16423C"/>
                </a:solidFill>
                <a:latin typeface="DejaVu Sans"/>
              </a:defRPr>
            </a:pPr>
            <a:r>
              <a:t>Kelajak yo‘nalishlari prognozdir; aniq xizmat, narx va imkoniyatni joriy rasmiy hujjatlar bilan tekshirish kerak.</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DFEFB"/>
        </a:solidFill>
        <a:effectLst/>
      </p:bgPr>
    </p:bg>
    <p:spTree>
      <p:nvGrpSpPr>
        <p:cNvPr id="1" name=""/>
        <p:cNvGrpSpPr/>
        <p:nvPr/>
      </p:nvGrpSpPr>
      <p:grpSpPr/>
      <p:sp>
        <p:nvSpPr>
          <p:cNvPr id="2" name="TextBox 1"/>
          <p:cNvSpPr txBox="1"/>
          <p:nvPr/>
        </p:nvSpPr>
        <p:spPr>
          <a:xfrm>
            <a:off x="758952" y="502920"/>
            <a:ext cx="10652760" cy="1024128"/>
          </a:xfrm>
          <a:prstGeom prst="rect">
            <a:avLst/>
          </a:prstGeom>
          <a:noFill/>
        </p:spPr>
        <p:txBody>
          <a:bodyPr wrap="square" lIns="27432" rIns="27432" tIns="18288" bIns="0">
            <a:spAutoFit/>
          </a:bodyPr>
          <a:lstStyle/>
          <a:p>
            <a:pPr>
              <a:spcAft>
                <a:spcPts val="800"/>
              </a:spcAft>
              <a:defRPr sz="2900" b="1">
                <a:solidFill>
                  <a:srgbClr val="16423C"/>
                </a:solidFill>
                <a:latin typeface="DejaVu Serif"/>
              </a:defRPr>
            </a:pPr>
            <a:r>
              <a:t>Aqlli kampusning texnologik oqimi</a:t>
            </a:r>
          </a:p>
        </p:txBody>
      </p:sp>
      <p:cxnSp>
        <p:nvCxnSpPr>
          <p:cNvPr id="3" name="Connector 2"/>
          <p:cNvCxnSpPr/>
          <p:nvPr/>
        </p:nvCxnSpPr>
        <p:spPr>
          <a:xfrm>
            <a:off x="777240" y="1481328"/>
            <a:ext cx="10579608" cy="0"/>
          </a:xfrm>
          <a:prstGeom prst="line">
            <a:avLst/>
          </a:prstGeom>
          <a:ln w="12700">
            <a:solidFill>
              <a:srgbClr val="117D8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777240" y="182880"/>
            <a:ext cx="9144000" cy="228600"/>
          </a:xfrm>
          <a:prstGeom prst="rect">
            <a:avLst/>
          </a:prstGeom>
          <a:noFill/>
        </p:spPr>
        <p:txBody>
          <a:bodyPr wrap="square" lIns="27432" rIns="27432" tIns="18288" bIns="0">
            <a:spAutoFit/>
          </a:bodyPr>
          <a:lstStyle/>
          <a:p>
            <a:pPr>
              <a:spcAft>
                <a:spcPts val="800"/>
              </a:spcAft>
              <a:defRPr sz="900" b="1">
                <a:solidFill>
                  <a:srgbClr val="117D82"/>
                </a:solidFill>
                <a:latin typeface="DejaVu Sans"/>
              </a:defRPr>
            </a:pPr>
            <a:r>
              <a:t>BULUT TEXNOLOGIYALARI   /   ISTIQBOLLAR</a:t>
            </a:r>
          </a:p>
        </p:txBody>
      </p:sp>
      <p:sp>
        <p:nvSpPr>
          <p:cNvPr id="5" name="TextBox 4"/>
          <p:cNvSpPr txBox="1"/>
          <p:nvPr/>
        </p:nvSpPr>
        <p:spPr>
          <a:xfrm>
            <a:off x="502920" y="6537960"/>
            <a:ext cx="9144000" cy="210312"/>
          </a:xfrm>
          <a:prstGeom prst="rect">
            <a:avLst/>
          </a:prstGeom>
          <a:noFill/>
        </p:spPr>
        <p:txBody>
          <a:bodyPr wrap="square" lIns="27432" rIns="27432" tIns="18288" bIns="0">
            <a:spAutoFit/>
          </a:bodyPr>
          <a:lstStyle/>
          <a:p>
            <a:pPr>
              <a:spcAft>
                <a:spcPts val="800"/>
              </a:spcAft>
              <a:defRPr sz="900" b="0">
                <a:solidFill>
                  <a:srgbClr val="16423C"/>
                </a:solidFill>
                <a:latin typeface="DejaVu Sans"/>
              </a:defRPr>
            </a:pPr>
            <a:r>
              <a:t>BTST206   /   M18   /   2027–2028</a:t>
            </a:r>
          </a:p>
        </p:txBody>
      </p:sp>
      <p:sp>
        <p:nvSpPr>
          <p:cNvPr id="6" name="TextBox 5"/>
          <p:cNvSpPr txBox="1"/>
          <p:nvPr/>
        </p:nvSpPr>
        <p:spPr>
          <a:xfrm>
            <a:off x="10789920" y="6492240"/>
            <a:ext cx="822960" cy="274320"/>
          </a:xfrm>
          <a:prstGeom prst="rect">
            <a:avLst/>
          </a:prstGeom>
          <a:noFill/>
        </p:spPr>
        <p:txBody>
          <a:bodyPr wrap="square" lIns="27432" rIns="27432" tIns="18288" bIns="0">
            <a:spAutoFit/>
          </a:bodyPr>
          <a:lstStyle/>
          <a:p>
            <a:pPr>
              <a:spcAft>
                <a:spcPts val="800"/>
              </a:spcAft>
              <a:defRPr sz="1000" b="0">
                <a:solidFill>
                  <a:srgbClr val="16423C"/>
                </a:solidFill>
                <a:latin typeface="DejaVu Sans"/>
              </a:defRPr>
            </a:pPr>
            <a:r>
              <a:t>09 / 13</a:t>
            </a:r>
          </a:p>
        </p:txBody>
      </p:sp>
      <p:cxnSp>
        <p:nvCxnSpPr>
          <p:cNvPr id="7" name="Connector 6"/>
          <p:cNvCxnSpPr/>
          <p:nvPr/>
        </p:nvCxnSpPr>
        <p:spPr>
          <a:xfrm>
            <a:off x="3474720" y="2331720"/>
            <a:ext cx="777240" cy="0"/>
          </a:xfrm>
          <a:prstGeom prst="line">
            <a:avLst/>
          </a:prstGeom>
          <a:ln w="25400">
            <a:solidFill>
              <a:srgbClr val="117D82"/>
            </a:solidFill>
            <a:tailEnd type="triangle"/>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6995160" y="2331720"/>
            <a:ext cx="777240" cy="0"/>
          </a:xfrm>
          <a:prstGeom prst="line">
            <a:avLst/>
          </a:prstGeom>
          <a:ln w="25400">
            <a:solidFill>
              <a:srgbClr val="117D82"/>
            </a:solidFill>
            <a:tailEnd type="triangle"/>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a:off x="3749039" y="2816352"/>
            <a:ext cx="5394961" cy="1115568"/>
          </a:xfrm>
          <a:prstGeom prst="line">
            <a:avLst/>
          </a:prstGeom>
          <a:ln w="25400">
            <a:solidFill>
              <a:srgbClr val="117D82"/>
            </a:solidFill>
            <a:tailEnd type="triangle"/>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5120640" y="4389120"/>
            <a:ext cx="1874520" cy="0"/>
          </a:xfrm>
          <a:prstGeom prst="line">
            <a:avLst/>
          </a:prstGeom>
          <a:ln w="25400">
            <a:solidFill>
              <a:srgbClr val="117D82"/>
            </a:solidFill>
            <a:tailEnd type="triangle"/>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flipV="1">
            <a:off x="5623560" y="2816352"/>
            <a:ext cx="2743200" cy="1115568"/>
          </a:xfrm>
          <a:prstGeom prst="line">
            <a:avLst/>
          </a:prstGeom>
          <a:ln w="25400">
            <a:solidFill>
              <a:srgbClr val="117D82"/>
            </a:solidFill>
            <a:tailEnd type="triangle"/>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731520" y="1874519"/>
            <a:ext cx="2743200" cy="941832"/>
          </a:xfrm>
          <a:prstGeom prst="roundRect">
            <a:avLst>
              <a:gd name="adj" fmla="val 8000"/>
            </a:avLst>
          </a:prstGeom>
          <a:solidFill>
            <a:srgbClr val="117D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1248" y="2011679"/>
            <a:ext cx="2523744" cy="685800"/>
          </a:xfrm>
          <a:prstGeom prst="rect">
            <a:avLst/>
          </a:prstGeom>
          <a:noFill/>
        </p:spPr>
        <p:txBody>
          <a:bodyPr wrap="square" lIns="27432" rIns="27432" tIns="18288" bIns="0">
            <a:spAutoFit/>
          </a:bodyPr>
          <a:lstStyle/>
          <a:p>
            <a:pPr>
              <a:spcAft>
                <a:spcPts val="800"/>
              </a:spcAft>
              <a:defRPr sz="1700" b="1">
                <a:solidFill>
                  <a:srgbClr val="FFFFFF"/>
                </a:solidFill>
                <a:latin typeface="DejaVu Sans"/>
              </a:defRPr>
            </a:pPr>
            <a:r>
              <a:t>IoT sensor</a:t>
            </a:r>
          </a:p>
        </p:txBody>
      </p:sp>
      <p:sp>
        <p:nvSpPr>
          <p:cNvPr id="14" name="Rounded Rectangle 13"/>
          <p:cNvSpPr/>
          <p:nvPr/>
        </p:nvSpPr>
        <p:spPr>
          <a:xfrm>
            <a:off x="4251960" y="1874519"/>
            <a:ext cx="2743200" cy="941832"/>
          </a:xfrm>
          <a:prstGeom prst="roundRect">
            <a:avLst>
              <a:gd name="adj" fmla="val 8000"/>
            </a:avLst>
          </a:prstGeom>
          <a:solidFill>
            <a:srgbClr val="EF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61688" y="2011679"/>
            <a:ext cx="2523744" cy="685800"/>
          </a:xfrm>
          <a:prstGeom prst="rect">
            <a:avLst/>
          </a:prstGeom>
          <a:noFill/>
        </p:spPr>
        <p:txBody>
          <a:bodyPr wrap="square" lIns="27432" rIns="27432" tIns="18288" bIns="0">
            <a:spAutoFit/>
          </a:bodyPr>
          <a:lstStyle/>
          <a:p>
            <a:pPr>
              <a:spcAft>
                <a:spcPts val="800"/>
              </a:spcAft>
              <a:defRPr sz="1700" b="1">
                <a:solidFill>
                  <a:srgbClr val="16423C"/>
                </a:solidFill>
                <a:latin typeface="DejaVu Sans"/>
              </a:defRPr>
            </a:pPr>
            <a:r>
              <a:t>Edge / fog</a:t>
            </a:r>
          </a:p>
        </p:txBody>
      </p:sp>
      <p:sp>
        <p:nvSpPr>
          <p:cNvPr id="16" name="Rounded Rectangle 15"/>
          <p:cNvSpPr/>
          <p:nvPr/>
        </p:nvSpPr>
        <p:spPr>
          <a:xfrm>
            <a:off x="7772400" y="1874519"/>
            <a:ext cx="2743200" cy="941832"/>
          </a:xfrm>
          <a:prstGeom prst="roundRect">
            <a:avLst>
              <a:gd name="adj" fmla="val 8000"/>
            </a:avLst>
          </a:prstGeom>
          <a:solidFill>
            <a:srgbClr val="EF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82127" y="2011679"/>
            <a:ext cx="2523744" cy="685800"/>
          </a:xfrm>
          <a:prstGeom prst="rect">
            <a:avLst/>
          </a:prstGeom>
          <a:noFill/>
        </p:spPr>
        <p:txBody>
          <a:bodyPr wrap="square" lIns="27432" rIns="27432" tIns="18288" bIns="0">
            <a:spAutoFit/>
          </a:bodyPr>
          <a:lstStyle/>
          <a:p>
            <a:pPr>
              <a:spcAft>
                <a:spcPts val="800"/>
              </a:spcAft>
              <a:defRPr sz="1700" b="1">
                <a:solidFill>
                  <a:srgbClr val="16423C"/>
                </a:solidFill>
                <a:latin typeface="DejaVu Sans"/>
              </a:defRPr>
            </a:pPr>
            <a:r>
              <a:t>Bulut / Big Data</a:t>
            </a:r>
          </a:p>
        </p:txBody>
      </p:sp>
      <p:sp>
        <p:nvSpPr>
          <p:cNvPr id="18" name="Rounded Rectangle 17"/>
          <p:cNvSpPr/>
          <p:nvPr/>
        </p:nvSpPr>
        <p:spPr>
          <a:xfrm>
            <a:off x="2377440" y="3931920"/>
            <a:ext cx="2743200" cy="941832"/>
          </a:xfrm>
          <a:prstGeom prst="roundRect">
            <a:avLst>
              <a:gd name="adj" fmla="val 8000"/>
            </a:avLst>
          </a:prstGeom>
          <a:solidFill>
            <a:srgbClr val="EF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487168" y="4069080"/>
            <a:ext cx="2523744" cy="685800"/>
          </a:xfrm>
          <a:prstGeom prst="rect">
            <a:avLst/>
          </a:prstGeom>
          <a:noFill/>
        </p:spPr>
        <p:txBody>
          <a:bodyPr wrap="square" lIns="27432" rIns="27432" tIns="18288" bIns="0">
            <a:spAutoFit/>
          </a:bodyPr>
          <a:lstStyle/>
          <a:p>
            <a:pPr>
              <a:spcAft>
                <a:spcPts val="800"/>
              </a:spcAft>
              <a:defRPr sz="1700" b="1">
                <a:solidFill>
                  <a:srgbClr val="16423C"/>
                </a:solidFill>
                <a:latin typeface="DejaVu Sans"/>
              </a:defRPr>
            </a:pPr>
            <a:r>
              <a:t>AI / tahlil</a:t>
            </a:r>
          </a:p>
        </p:txBody>
      </p:sp>
      <p:sp>
        <p:nvSpPr>
          <p:cNvPr id="20" name="Rounded Rectangle 19"/>
          <p:cNvSpPr/>
          <p:nvPr/>
        </p:nvSpPr>
        <p:spPr>
          <a:xfrm>
            <a:off x="6995160" y="3931920"/>
            <a:ext cx="2743200" cy="941832"/>
          </a:xfrm>
          <a:prstGeom prst="roundRect">
            <a:avLst>
              <a:gd name="adj" fmla="val 8000"/>
            </a:avLst>
          </a:prstGeom>
          <a:solidFill>
            <a:srgbClr val="EF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104888" y="4069080"/>
            <a:ext cx="2523744" cy="685800"/>
          </a:xfrm>
          <a:prstGeom prst="rect">
            <a:avLst/>
          </a:prstGeom>
          <a:noFill/>
        </p:spPr>
        <p:txBody>
          <a:bodyPr wrap="square" lIns="27432" rIns="27432" tIns="18288" bIns="0">
            <a:spAutoFit/>
          </a:bodyPr>
          <a:lstStyle/>
          <a:p>
            <a:pPr>
              <a:spcAft>
                <a:spcPts val="800"/>
              </a:spcAft>
              <a:defRPr sz="1700" b="1">
                <a:solidFill>
                  <a:srgbClr val="16423C"/>
                </a:solidFill>
                <a:latin typeface="DejaVu Sans"/>
              </a:defRPr>
            </a:pPr>
            <a:r>
              <a:t>Qaror / boshqaruv</a:t>
            </a:r>
          </a:p>
        </p:txBody>
      </p:sp>
      <p:sp>
        <p:nvSpPr>
          <p:cNvPr id="22" name="TextBox 21"/>
          <p:cNvSpPr txBox="1"/>
          <p:nvPr/>
        </p:nvSpPr>
        <p:spPr>
          <a:xfrm>
            <a:off x="731520" y="6080760"/>
            <a:ext cx="10698480" cy="274320"/>
          </a:xfrm>
          <a:prstGeom prst="rect">
            <a:avLst/>
          </a:prstGeom>
          <a:noFill/>
        </p:spPr>
        <p:txBody>
          <a:bodyPr wrap="square" lIns="27432" rIns="27432" tIns="18288" bIns="0">
            <a:spAutoFit/>
          </a:bodyPr>
          <a:lstStyle/>
          <a:p>
            <a:pPr>
              <a:spcAft>
                <a:spcPts val="800"/>
              </a:spcAft>
              <a:defRPr sz="1100" b="0">
                <a:solidFill>
                  <a:srgbClr val="16423C"/>
                </a:solidFill>
                <a:latin typeface="DejaVu Sans"/>
              </a:defRPr>
            </a:pPr>
            <a:r>
              <a:t>Soddalashtirilgan sxema: o‘qlar — asosiy murojaat yoki boshqaruv bog‘lanishi.</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DFEFB"/>
        </a:solidFill>
        <a:effectLst/>
      </p:bgPr>
    </p:bg>
    <p:spTree>
      <p:nvGrpSpPr>
        <p:cNvPr id="1" name=""/>
        <p:cNvGrpSpPr/>
        <p:nvPr/>
      </p:nvGrpSpPr>
      <p:grpSpPr/>
      <p:sp>
        <p:nvSpPr>
          <p:cNvPr id="2" name="TextBox 1"/>
          <p:cNvSpPr txBox="1"/>
          <p:nvPr/>
        </p:nvSpPr>
        <p:spPr>
          <a:xfrm>
            <a:off x="758952" y="502920"/>
            <a:ext cx="10652760" cy="1024128"/>
          </a:xfrm>
          <a:prstGeom prst="rect">
            <a:avLst/>
          </a:prstGeom>
          <a:noFill/>
        </p:spPr>
        <p:txBody>
          <a:bodyPr wrap="square" lIns="27432" rIns="27432" tIns="18288" bIns="0">
            <a:spAutoFit/>
          </a:bodyPr>
          <a:lstStyle/>
          <a:p>
            <a:pPr>
              <a:spcAft>
                <a:spcPts val="800"/>
              </a:spcAft>
              <a:defRPr sz="2900" b="1">
                <a:solidFill>
                  <a:srgbClr val="16423C"/>
                </a:solidFill>
                <a:latin typeface="DejaVu Serif"/>
              </a:defRPr>
            </a:pPr>
            <a:r>
              <a:t>Universitet misoli: aqlli kampus</a:t>
            </a:r>
          </a:p>
        </p:txBody>
      </p:sp>
      <p:cxnSp>
        <p:nvCxnSpPr>
          <p:cNvPr id="3" name="Connector 2"/>
          <p:cNvCxnSpPr/>
          <p:nvPr/>
        </p:nvCxnSpPr>
        <p:spPr>
          <a:xfrm>
            <a:off x="777240" y="1481328"/>
            <a:ext cx="10579608" cy="0"/>
          </a:xfrm>
          <a:prstGeom prst="line">
            <a:avLst/>
          </a:prstGeom>
          <a:ln w="12700">
            <a:solidFill>
              <a:srgbClr val="117D8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777240" y="182880"/>
            <a:ext cx="9144000" cy="228600"/>
          </a:xfrm>
          <a:prstGeom prst="rect">
            <a:avLst/>
          </a:prstGeom>
          <a:noFill/>
        </p:spPr>
        <p:txBody>
          <a:bodyPr wrap="square" lIns="27432" rIns="27432" tIns="18288" bIns="0">
            <a:spAutoFit/>
          </a:bodyPr>
          <a:lstStyle/>
          <a:p>
            <a:pPr>
              <a:spcAft>
                <a:spcPts val="800"/>
              </a:spcAft>
              <a:defRPr sz="900" b="1">
                <a:solidFill>
                  <a:srgbClr val="117D82"/>
                </a:solidFill>
                <a:latin typeface="DejaVu Sans"/>
              </a:defRPr>
            </a:pPr>
            <a:r>
              <a:t>BULUT TEXNOLOGIYALARI   /   ISTIQBOLLAR</a:t>
            </a:r>
          </a:p>
        </p:txBody>
      </p:sp>
      <p:sp>
        <p:nvSpPr>
          <p:cNvPr id="5" name="TextBox 4"/>
          <p:cNvSpPr txBox="1"/>
          <p:nvPr/>
        </p:nvSpPr>
        <p:spPr>
          <a:xfrm>
            <a:off x="502920" y="6537960"/>
            <a:ext cx="9144000" cy="210312"/>
          </a:xfrm>
          <a:prstGeom prst="rect">
            <a:avLst/>
          </a:prstGeom>
          <a:noFill/>
        </p:spPr>
        <p:txBody>
          <a:bodyPr wrap="square" lIns="27432" rIns="27432" tIns="18288" bIns="0">
            <a:spAutoFit/>
          </a:bodyPr>
          <a:lstStyle/>
          <a:p>
            <a:pPr>
              <a:spcAft>
                <a:spcPts val="800"/>
              </a:spcAft>
              <a:defRPr sz="900" b="0">
                <a:solidFill>
                  <a:srgbClr val="16423C"/>
                </a:solidFill>
                <a:latin typeface="DejaVu Sans"/>
              </a:defRPr>
            </a:pPr>
            <a:r>
              <a:t>BTST206   /   M18   /   2027–2028</a:t>
            </a:r>
          </a:p>
        </p:txBody>
      </p:sp>
      <p:sp>
        <p:nvSpPr>
          <p:cNvPr id="6" name="TextBox 5"/>
          <p:cNvSpPr txBox="1"/>
          <p:nvPr/>
        </p:nvSpPr>
        <p:spPr>
          <a:xfrm>
            <a:off x="10789920" y="6492240"/>
            <a:ext cx="822960" cy="274320"/>
          </a:xfrm>
          <a:prstGeom prst="rect">
            <a:avLst/>
          </a:prstGeom>
          <a:noFill/>
        </p:spPr>
        <p:txBody>
          <a:bodyPr wrap="square" lIns="27432" rIns="27432" tIns="18288" bIns="0">
            <a:spAutoFit/>
          </a:bodyPr>
          <a:lstStyle/>
          <a:p>
            <a:pPr>
              <a:spcAft>
                <a:spcPts val="800"/>
              </a:spcAft>
              <a:defRPr sz="1000" b="0">
                <a:solidFill>
                  <a:srgbClr val="16423C"/>
                </a:solidFill>
                <a:latin typeface="DejaVu Sans"/>
              </a:defRPr>
            </a:pPr>
            <a:r>
              <a:t>10 / 13</a:t>
            </a:r>
          </a:p>
        </p:txBody>
      </p:sp>
      <p:sp>
        <p:nvSpPr>
          <p:cNvPr id="7" name="TextBox 6"/>
          <p:cNvSpPr txBox="1"/>
          <p:nvPr/>
        </p:nvSpPr>
        <p:spPr>
          <a:xfrm>
            <a:off x="841248" y="1847088"/>
            <a:ext cx="5971032" cy="3273552"/>
          </a:xfrm>
          <a:prstGeom prst="rect">
            <a:avLst/>
          </a:prstGeom>
          <a:noFill/>
        </p:spPr>
        <p:txBody>
          <a:bodyPr wrap="square" lIns="27432" rIns="27432" tIns="18288" bIns="0">
            <a:spAutoFit/>
          </a:bodyPr>
          <a:lstStyle/>
          <a:p>
            <a:pPr>
              <a:spcAft>
                <a:spcPts val="800"/>
              </a:spcAft>
              <a:defRPr sz="2800" b="0">
                <a:solidFill>
                  <a:srgbClr val="16423C"/>
                </a:solidFill>
                <a:latin typeface="DejaVu Serif"/>
              </a:defRPr>
            </a:pPr>
            <a:r>
              <a:t>Universitet aqlli kampus tizimini qurmoqda. Sensorlar ma’lumot yuboradi, ayrim qarorlar qurilmaga yaqin qabul qilinadi, katta tahlil esa bulutda bajariladi. Yondashuvlar yagona maqsadga xizmat qiladi.</a:t>
            </a:r>
          </a:p>
        </p:txBody>
      </p:sp>
      <p:sp>
        <p:nvSpPr>
          <p:cNvPr id="8" name="TextBox 7"/>
          <p:cNvSpPr txBox="1"/>
          <p:nvPr/>
        </p:nvSpPr>
        <p:spPr>
          <a:xfrm>
            <a:off x="7498079" y="1883664"/>
            <a:ext cx="3657600" cy="384048"/>
          </a:xfrm>
          <a:prstGeom prst="rect">
            <a:avLst/>
          </a:prstGeom>
          <a:noFill/>
        </p:spPr>
        <p:txBody>
          <a:bodyPr wrap="square" lIns="27432" rIns="27432" tIns="18288" bIns="0">
            <a:spAutoFit/>
          </a:bodyPr>
          <a:lstStyle/>
          <a:p>
            <a:pPr>
              <a:spcAft>
                <a:spcPts val="800"/>
              </a:spcAft>
              <a:defRPr sz="1500" b="1">
                <a:solidFill>
                  <a:srgbClr val="117D82"/>
                </a:solidFill>
                <a:latin typeface="DejaVu Sans"/>
              </a:defRPr>
            </a:pPr>
            <a:r>
              <a:t>EDGE</a:t>
            </a:r>
          </a:p>
        </p:txBody>
      </p:sp>
      <p:sp>
        <p:nvSpPr>
          <p:cNvPr id="9" name="TextBox 8"/>
          <p:cNvSpPr txBox="1"/>
          <p:nvPr/>
        </p:nvSpPr>
        <p:spPr>
          <a:xfrm>
            <a:off x="7498079" y="2404872"/>
            <a:ext cx="3657600" cy="676656"/>
          </a:xfrm>
          <a:prstGeom prst="rect">
            <a:avLst/>
          </a:prstGeom>
          <a:noFill/>
        </p:spPr>
        <p:txBody>
          <a:bodyPr wrap="square" lIns="27432" rIns="27432" tIns="18288" bIns="0">
            <a:spAutoFit/>
          </a:bodyPr>
          <a:lstStyle/>
          <a:p>
            <a:pPr>
              <a:spcAft>
                <a:spcPts val="800"/>
              </a:spcAft>
              <a:defRPr sz="2300" b="0">
                <a:solidFill>
                  <a:srgbClr val="16423C"/>
                </a:solidFill>
                <a:latin typeface="DejaVu Sans"/>
              </a:defRPr>
            </a:pPr>
            <a:r>
              <a:t>Tezkor mahalliy qaror</a:t>
            </a:r>
          </a:p>
        </p:txBody>
      </p:sp>
      <p:sp>
        <p:nvSpPr>
          <p:cNvPr id="10" name="TextBox 9"/>
          <p:cNvSpPr txBox="1"/>
          <p:nvPr/>
        </p:nvSpPr>
        <p:spPr>
          <a:xfrm>
            <a:off x="7498079" y="3218688"/>
            <a:ext cx="3657600" cy="384048"/>
          </a:xfrm>
          <a:prstGeom prst="rect">
            <a:avLst/>
          </a:prstGeom>
          <a:noFill/>
        </p:spPr>
        <p:txBody>
          <a:bodyPr wrap="square" lIns="27432" rIns="27432" tIns="18288" bIns="0">
            <a:spAutoFit/>
          </a:bodyPr>
          <a:lstStyle/>
          <a:p>
            <a:pPr>
              <a:spcAft>
                <a:spcPts val="800"/>
              </a:spcAft>
              <a:defRPr sz="1500" b="1">
                <a:solidFill>
                  <a:srgbClr val="117D82"/>
                </a:solidFill>
                <a:latin typeface="DejaVu Sans"/>
              </a:defRPr>
            </a:pPr>
            <a:r>
              <a:t>BULUT</a:t>
            </a:r>
          </a:p>
        </p:txBody>
      </p:sp>
      <p:sp>
        <p:nvSpPr>
          <p:cNvPr id="11" name="TextBox 10"/>
          <p:cNvSpPr txBox="1"/>
          <p:nvPr/>
        </p:nvSpPr>
        <p:spPr>
          <a:xfrm>
            <a:off x="7498079" y="3739896"/>
            <a:ext cx="3657600" cy="676656"/>
          </a:xfrm>
          <a:prstGeom prst="rect">
            <a:avLst/>
          </a:prstGeom>
          <a:noFill/>
        </p:spPr>
        <p:txBody>
          <a:bodyPr wrap="square" lIns="27432" rIns="27432" tIns="18288" bIns="0">
            <a:spAutoFit/>
          </a:bodyPr>
          <a:lstStyle/>
          <a:p>
            <a:pPr>
              <a:spcAft>
                <a:spcPts val="800"/>
              </a:spcAft>
              <a:defRPr sz="2300" b="0">
                <a:solidFill>
                  <a:srgbClr val="16423C"/>
                </a:solidFill>
                <a:latin typeface="DejaVu Sans"/>
              </a:defRPr>
            </a:pPr>
            <a:r>
              <a:t>Katta hajmdagi tahlil</a:t>
            </a:r>
          </a:p>
        </p:txBody>
      </p:sp>
      <p:sp>
        <p:nvSpPr>
          <p:cNvPr id="12" name="TextBox 11"/>
          <p:cNvSpPr txBox="1"/>
          <p:nvPr/>
        </p:nvSpPr>
        <p:spPr>
          <a:xfrm>
            <a:off x="7498079" y="4553712"/>
            <a:ext cx="3657600" cy="384048"/>
          </a:xfrm>
          <a:prstGeom prst="rect">
            <a:avLst/>
          </a:prstGeom>
          <a:noFill/>
        </p:spPr>
        <p:txBody>
          <a:bodyPr wrap="square" lIns="27432" rIns="27432" tIns="18288" bIns="0">
            <a:spAutoFit/>
          </a:bodyPr>
          <a:lstStyle/>
          <a:p>
            <a:pPr>
              <a:spcAft>
                <a:spcPts val="800"/>
              </a:spcAft>
              <a:defRPr sz="1500" b="1">
                <a:solidFill>
                  <a:srgbClr val="117D82"/>
                </a:solidFill>
                <a:latin typeface="DejaVu Sans"/>
              </a:defRPr>
            </a:pPr>
            <a:r>
              <a:t>BOSHQARUV</a:t>
            </a:r>
          </a:p>
        </p:txBody>
      </p:sp>
      <p:sp>
        <p:nvSpPr>
          <p:cNvPr id="13" name="TextBox 12"/>
          <p:cNvSpPr txBox="1"/>
          <p:nvPr/>
        </p:nvSpPr>
        <p:spPr>
          <a:xfrm>
            <a:off x="7498079" y="5074920"/>
            <a:ext cx="3657600" cy="676656"/>
          </a:xfrm>
          <a:prstGeom prst="rect">
            <a:avLst/>
          </a:prstGeom>
          <a:noFill/>
        </p:spPr>
        <p:txBody>
          <a:bodyPr wrap="square" lIns="27432" rIns="27432" tIns="18288" bIns="0">
            <a:spAutoFit/>
          </a:bodyPr>
          <a:lstStyle/>
          <a:p>
            <a:pPr>
              <a:spcAft>
                <a:spcPts val="800"/>
              </a:spcAft>
              <a:defRPr sz="2300" b="0">
                <a:solidFill>
                  <a:srgbClr val="16423C"/>
                </a:solidFill>
                <a:latin typeface="DejaVu Sans"/>
              </a:defRPr>
            </a:pPr>
            <a:r>
              <a:t>Xavfsizlik va samaradorlik</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DFEFB"/>
        </a:solidFill>
        <a:effectLst/>
      </p:bgPr>
    </p:bg>
    <p:spTree>
      <p:nvGrpSpPr>
        <p:cNvPr id="1" name=""/>
        <p:cNvGrpSpPr/>
        <p:nvPr/>
      </p:nvGrpSpPr>
      <p:grpSpPr/>
      <p:sp>
        <p:nvSpPr>
          <p:cNvPr id="2" name="TextBox 1"/>
          <p:cNvSpPr txBox="1"/>
          <p:nvPr/>
        </p:nvSpPr>
        <p:spPr>
          <a:xfrm>
            <a:off x="758952" y="502920"/>
            <a:ext cx="10652760" cy="1024128"/>
          </a:xfrm>
          <a:prstGeom prst="rect">
            <a:avLst/>
          </a:prstGeom>
          <a:noFill/>
        </p:spPr>
        <p:txBody>
          <a:bodyPr wrap="square" lIns="27432" rIns="27432" tIns="18288" bIns="0">
            <a:spAutoFit/>
          </a:bodyPr>
          <a:lstStyle/>
          <a:p>
            <a:pPr>
              <a:spcAft>
                <a:spcPts val="800"/>
              </a:spcAft>
              <a:defRPr sz="2900" b="1">
                <a:solidFill>
                  <a:srgbClr val="16423C"/>
                </a:solidFill>
                <a:latin typeface="DejaVu Serif"/>
              </a:defRPr>
            </a:pPr>
            <a:r>
              <a:t>Yangi texnologiya haqidagi ehtiyotkor xulosalar</a:t>
            </a:r>
          </a:p>
        </p:txBody>
      </p:sp>
      <p:cxnSp>
        <p:nvCxnSpPr>
          <p:cNvPr id="3" name="Connector 2"/>
          <p:cNvCxnSpPr/>
          <p:nvPr/>
        </p:nvCxnSpPr>
        <p:spPr>
          <a:xfrm>
            <a:off x="777240" y="1481328"/>
            <a:ext cx="10579608" cy="0"/>
          </a:xfrm>
          <a:prstGeom prst="line">
            <a:avLst/>
          </a:prstGeom>
          <a:ln w="12700">
            <a:solidFill>
              <a:srgbClr val="117D8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777240" y="182880"/>
            <a:ext cx="9144000" cy="228600"/>
          </a:xfrm>
          <a:prstGeom prst="rect">
            <a:avLst/>
          </a:prstGeom>
          <a:noFill/>
        </p:spPr>
        <p:txBody>
          <a:bodyPr wrap="square" lIns="27432" rIns="27432" tIns="18288" bIns="0">
            <a:spAutoFit/>
          </a:bodyPr>
          <a:lstStyle/>
          <a:p>
            <a:pPr>
              <a:spcAft>
                <a:spcPts val="800"/>
              </a:spcAft>
              <a:defRPr sz="900" b="1">
                <a:solidFill>
                  <a:srgbClr val="117D82"/>
                </a:solidFill>
                <a:latin typeface="DejaVu Sans"/>
              </a:defRPr>
            </a:pPr>
            <a:r>
              <a:t>BULUT TEXNOLOGIYALARI   /   ISTIQBOLLAR</a:t>
            </a:r>
          </a:p>
        </p:txBody>
      </p:sp>
      <p:sp>
        <p:nvSpPr>
          <p:cNvPr id="5" name="TextBox 4"/>
          <p:cNvSpPr txBox="1"/>
          <p:nvPr/>
        </p:nvSpPr>
        <p:spPr>
          <a:xfrm>
            <a:off x="502920" y="6537960"/>
            <a:ext cx="9144000" cy="210312"/>
          </a:xfrm>
          <a:prstGeom prst="rect">
            <a:avLst/>
          </a:prstGeom>
          <a:noFill/>
        </p:spPr>
        <p:txBody>
          <a:bodyPr wrap="square" lIns="27432" rIns="27432" tIns="18288" bIns="0">
            <a:spAutoFit/>
          </a:bodyPr>
          <a:lstStyle/>
          <a:p>
            <a:pPr>
              <a:spcAft>
                <a:spcPts val="800"/>
              </a:spcAft>
              <a:defRPr sz="900" b="0">
                <a:solidFill>
                  <a:srgbClr val="16423C"/>
                </a:solidFill>
                <a:latin typeface="DejaVu Sans"/>
              </a:defRPr>
            </a:pPr>
            <a:r>
              <a:t>BTST206   /   M18   /   2027–2028</a:t>
            </a:r>
          </a:p>
        </p:txBody>
      </p:sp>
      <p:sp>
        <p:nvSpPr>
          <p:cNvPr id="6" name="TextBox 5"/>
          <p:cNvSpPr txBox="1"/>
          <p:nvPr/>
        </p:nvSpPr>
        <p:spPr>
          <a:xfrm>
            <a:off x="10789920" y="6492240"/>
            <a:ext cx="822960" cy="274320"/>
          </a:xfrm>
          <a:prstGeom prst="rect">
            <a:avLst/>
          </a:prstGeom>
          <a:noFill/>
        </p:spPr>
        <p:txBody>
          <a:bodyPr wrap="square" lIns="27432" rIns="27432" tIns="18288" bIns="0">
            <a:spAutoFit/>
          </a:bodyPr>
          <a:lstStyle/>
          <a:p>
            <a:pPr>
              <a:spcAft>
                <a:spcPts val="800"/>
              </a:spcAft>
              <a:defRPr sz="1000" b="0">
                <a:solidFill>
                  <a:srgbClr val="16423C"/>
                </a:solidFill>
                <a:latin typeface="DejaVu Sans"/>
              </a:defRPr>
            </a:pPr>
            <a:r>
              <a:t>11 / 13</a:t>
            </a:r>
          </a:p>
        </p:txBody>
      </p:sp>
      <p:sp>
        <p:nvSpPr>
          <p:cNvPr id="7" name="Rectangle 6"/>
          <p:cNvSpPr/>
          <p:nvPr/>
        </p:nvSpPr>
        <p:spPr>
          <a:xfrm>
            <a:off x="731520" y="1737360"/>
            <a:ext cx="512064" cy="1152144"/>
          </a:xfrm>
          <a:prstGeom prst="rect">
            <a:avLst/>
          </a:prstGeom>
          <a:solidFill>
            <a:srgbClr val="117D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6384" y="1920240"/>
            <a:ext cx="384048" cy="457200"/>
          </a:xfrm>
          <a:prstGeom prst="rect">
            <a:avLst/>
          </a:prstGeom>
          <a:noFill/>
        </p:spPr>
        <p:txBody>
          <a:bodyPr wrap="square" lIns="27432" rIns="27432" tIns="18288" bIns="0">
            <a:spAutoFit/>
          </a:bodyPr>
          <a:lstStyle/>
          <a:p>
            <a:pPr>
              <a:spcAft>
                <a:spcPts val="800"/>
              </a:spcAft>
              <a:defRPr sz="2400" b="1">
                <a:solidFill>
                  <a:srgbClr val="FFFFFF"/>
                </a:solidFill>
                <a:latin typeface="DejaVu Sans"/>
              </a:defRPr>
            </a:pPr>
            <a:r>
              <a:t>1</a:t>
            </a:r>
          </a:p>
        </p:txBody>
      </p:sp>
      <p:sp>
        <p:nvSpPr>
          <p:cNvPr id="9" name="TextBox 8"/>
          <p:cNvSpPr txBox="1"/>
          <p:nvPr/>
        </p:nvSpPr>
        <p:spPr>
          <a:xfrm>
            <a:off x="1444752" y="1773936"/>
            <a:ext cx="3063240" cy="1124712"/>
          </a:xfrm>
          <a:prstGeom prst="rect">
            <a:avLst/>
          </a:prstGeom>
          <a:noFill/>
        </p:spPr>
        <p:txBody>
          <a:bodyPr wrap="square" lIns="27432" rIns="27432" tIns="18288" bIns="0">
            <a:spAutoFit/>
          </a:bodyPr>
          <a:lstStyle/>
          <a:p>
            <a:pPr>
              <a:spcAft>
                <a:spcPts val="800"/>
              </a:spcAft>
              <a:defRPr sz="2100" b="1">
                <a:solidFill>
                  <a:srgbClr val="16423C"/>
                </a:solidFill>
                <a:latin typeface="DejaVu Sans"/>
              </a:defRPr>
            </a:pPr>
            <a:r>
              <a:t>Edge va Fog Computing</a:t>
            </a:r>
          </a:p>
        </p:txBody>
      </p:sp>
      <p:sp>
        <p:nvSpPr>
          <p:cNvPr id="10" name="Rounded Rectangle 9"/>
          <p:cNvSpPr/>
          <p:nvPr/>
        </p:nvSpPr>
        <p:spPr>
          <a:xfrm>
            <a:off x="4599432" y="1737360"/>
            <a:ext cx="6812280" cy="1170432"/>
          </a:xfrm>
          <a:prstGeom prst="roundRect">
            <a:avLst>
              <a:gd name="adj" fmla="val 8000"/>
            </a:avLst>
          </a:prstGeom>
          <a:solidFill>
            <a:srgbClr val="EF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782312" y="1856231"/>
            <a:ext cx="6428232" cy="987552"/>
          </a:xfrm>
          <a:prstGeom prst="rect">
            <a:avLst/>
          </a:prstGeom>
          <a:noFill/>
        </p:spPr>
        <p:txBody>
          <a:bodyPr wrap="square" lIns="27432" rIns="27432" tIns="18288" bIns="0">
            <a:spAutoFit/>
          </a:bodyPr>
          <a:lstStyle/>
          <a:p>
            <a:pPr>
              <a:spcAft>
                <a:spcPts val="800"/>
              </a:spcAft>
              <a:defRPr sz="2000" b="0">
                <a:solidFill>
                  <a:srgbClr val="16423C"/>
                </a:solidFill>
                <a:latin typeface="DejaVu Sans"/>
              </a:defRPr>
            </a:pPr>
            <a:r>
              <a:t>Atamalar chegarasi barcha manbalarda bir xil emas; amaliy arxitekturada qaysi ish qayerda bajarilishi aniq ko‘rsatiladi.</a:t>
            </a:r>
          </a:p>
        </p:txBody>
      </p:sp>
      <p:sp>
        <p:nvSpPr>
          <p:cNvPr id="12" name="Rectangle 11"/>
          <p:cNvSpPr/>
          <p:nvPr/>
        </p:nvSpPr>
        <p:spPr>
          <a:xfrm>
            <a:off x="731520" y="3154680"/>
            <a:ext cx="512064" cy="1152144"/>
          </a:xfrm>
          <a:prstGeom prst="rect">
            <a:avLst/>
          </a:prstGeom>
          <a:solidFill>
            <a:srgbClr val="117D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 y="3337560"/>
            <a:ext cx="384048" cy="457200"/>
          </a:xfrm>
          <a:prstGeom prst="rect">
            <a:avLst/>
          </a:prstGeom>
          <a:noFill/>
        </p:spPr>
        <p:txBody>
          <a:bodyPr wrap="square" lIns="27432" rIns="27432" tIns="18288" bIns="0">
            <a:spAutoFit/>
          </a:bodyPr>
          <a:lstStyle/>
          <a:p>
            <a:pPr>
              <a:spcAft>
                <a:spcPts val="800"/>
              </a:spcAft>
              <a:defRPr sz="2400" b="1">
                <a:solidFill>
                  <a:srgbClr val="FFFFFF"/>
                </a:solidFill>
                <a:latin typeface="DejaVu Sans"/>
              </a:defRPr>
            </a:pPr>
            <a:r>
              <a:t>2</a:t>
            </a:r>
          </a:p>
        </p:txBody>
      </p:sp>
      <p:sp>
        <p:nvSpPr>
          <p:cNvPr id="14" name="TextBox 13"/>
          <p:cNvSpPr txBox="1"/>
          <p:nvPr/>
        </p:nvSpPr>
        <p:spPr>
          <a:xfrm>
            <a:off x="1444752" y="3191256"/>
            <a:ext cx="3063240" cy="1124712"/>
          </a:xfrm>
          <a:prstGeom prst="rect">
            <a:avLst/>
          </a:prstGeom>
          <a:noFill/>
        </p:spPr>
        <p:txBody>
          <a:bodyPr wrap="square" lIns="27432" rIns="27432" tIns="18288" bIns="0">
            <a:spAutoFit/>
          </a:bodyPr>
          <a:lstStyle/>
          <a:p>
            <a:pPr>
              <a:spcAft>
                <a:spcPts val="800"/>
              </a:spcAft>
              <a:defRPr sz="2100" b="1">
                <a:solidFill>
                  <a:srgbClr val="16423C"/>
                </a:solidFill>
                <a:latin typeface="DejaVu Sans"/>
              </a:defRPr>
            </a:pPr>
            <a:r>
              <a:t>AI Cloud</a:t>
            </a:r>
          </a:p>
        </p:txBody>
      </p:sp>
      <p:sp>
        <p:nvSpPr>
          <p:cNvPr id="15" name="Rounded Rectangle 14"/>
          <p:cNvSpPr/>
          <p:nvPr/>
        </p:nvSpPr>
        <p:spPr>
          <a:xfrm>
            <a:off x="4599432" y="3154680"/>
            <a:ext cx="6812280" cy="1170432"/>
          </a:xfrm>
          <a:prstGeom prst="roundRect">
            <a:avLst>
              <a:gd name="adj" fmla="val 8000"/>
            </a:avLst>
          </a:prstGeom>
          <a:solidFill>
            <a:srgbClr val="EF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782312" y="3273552"/>
            <a:ext cx="6428232" cy="987552"/>
          </a:xfrm>
          <a:prstGeom prst="rect">
            <a:avLst/>
          </a:prstGeom>
          <a:noFill/>
        </p:spPr>
        <p:txBody>
          <a:bodyPr wrap="square" lIns="27432" rIns="27432" tIns="18288" bIns="0">
            <a:spAutoFit/>
          </a:bodyPr>
          <a:lstStyle/>
          <a:p>
            <a:pPr>
              <a:spcAft>
                <a:spcPts val="800"/>
              </a:spcAft>
              <a:defRPr sz="2000" b="0">
                <a:solidFill>
                  <a:srgbClr val="16423C"/>
                </a:solidFill>
                <a:latin typeface="DejaVu Sans"/>
              </a:defRPr>
            </a:pPr>
            <a:r>
              <a:t>AI javobi xato bo‘lishi mumkin; maxfiy ma’lumot, tarafkashlik va inson nazorati oldindan baholanadi.</a:t>
            </a:r>
          </a:p>
        </p:txBody>
      </p:sp>
      <p:sp>
        <p:nvSpPr>
          <p:cNvPr id="17" name="Rectangle 16"/>
          <p:cNvSpPr/>
          <p:nvPr/>
        </p:nvSpPr>
        <p:spPr>
          <a:xfrm>
            <a:off x="731520" y="4572000"/>
            <a:ext cx="512064" cy="1152144"/>
          </a:xfrm>
          <a:prstGeom prst="rect">
            <a:avLst/>
          </a:prstGeom>
          <a:solidFill>
            <a:srgbClr val="117D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6384" y="4754880"/>
            <a:ext cx="384048" cy="457200"/>
          </a:xfrm>
          <a:prstGeom prst="rect">
            <a:avLst/>
          </a:prstGeom>
          <a:noFill/>
        </p:spPr>
        <p:txBody>
          <a:bodyPr wrap="square" lIns="27432" rIns="27432" tIns="18288" bIns="0">
            <a:spAutoFit/>
          </a:bodyPr>
          <a:lstStyle/>
          <a:p>
            <a:pPr>
              <a:spcAft>
                <a:spcPts val="800"/>
              </a:spcAft>
              <a:defRPr sz="2400" b="1">
                <a:solidFill>
                  <a:srgbClr val="FFFFFF"/>
                </a:solidFill>
                <a:latin typeface="DejaVu Sans"/>
              </a:defRPr>
            </a:pPr>
            <a:r>
              <a:t>3</a:t>
            </a:r>
          </a:p>
        </p:txBody>
      </p:sp>
      <p:sp>
        <p:nvSpPr>
          <p:cNvPr id="19" name="TextBox 18"/>
          <p:cNvSpPr txBox="1"/>
          <p:nvPr/>
        </p:nvSpPr>
        <p:spPr>
          <a:xfrm>
            <a:off x="1444752" y="4608576"/>
            <a:ext cx="3063240" cy="1124712"/>
          </a:xfrm>
          <a:prstGeom prst="rect">
            <a:avLst/>
          </a:prstGeom>
          <a:noFill/>
        </p:spPr>
        <p:txBody>
          <a:bodyPr wrap="square" lIns="27432" rIns="27432" tIns="18288" bIns="0">
            <a:spAutoFit/>
          </a:bodyPr>
          <a:lstStyle/>
          <a:p>
            <a:pPr>
              <a:spcAft>
                <a:spcPts val="800"/>
              </a:spcAft>
              <a:defRPr sz="2100" b="1">
                <a:solidFill>
                  <a:srgbClr val="16423C"/>
                </a:solidFill>
                <a:latin typeface="DejaVu Sans"/>
              </a:defRPr>
            </a:pPr>
            <a:r>
              <a:t>Cloud-native va mikroservislar</a:t>
            </a:r>
          </a:p>
        </p:txBody>
      </p:sp>
      <p:sp>
        <p:nvSpPr>
          <p:cNvPr id="20" name="Rounded Rectangle 19"/>
          <p:cNvSpPr/>
          <p:nvPr/>
        </p:nvSpPr>
        <p:spPr>
          <a:xfrm>
            <a:off x="4599432" y="4572000"/>
            <a:ext cx="6812280" cy="1170432"/>
          </a:xfrm>
          <a:prstGeom prst="roundRect">
            <a:avLst>
              <a:gd name="adj" fmla="val 8000"/>
            </a:avLst>
          </a:prstGeom>
          <a:solidFill>
            <a:srgbClr val="EF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82312" y="4690872"/>
            <a:ext cx="6428232" cy="987552"/>
          </a:xfrm>
          <a:prstGeom prst="rect">
            <a:avLst/>
          </a:prstGeom>
          <a:noFill/>
        </p:spPr>
        <p:txBody>
          <a:bodyPr wrap="square" lIns="27432" rIns="27432" tIns="18288" bIns="0">
            <a:spAutoFit/>
          </a:bodyPr>
          <a:lstStyle/>
          <a:p>
            <a:pPr>
              <a:spcAft>
                <a:spcPts val="800"/>
              </a:spcAft>
              <a:defRPr sz="2000" b="0">
                <a:solidFill>
                  <a:srgbClr val="16423C"/>
                </a:solidFill>
                <a:latin typeface="DejaVu Sans"/>
              </a:defRPr>
            </a:pPr>
            <a:r>
              <a:t>Kichik jamoa va oddiy tizim uchun yaxshi tuzilgan monolit ba’zan osonroq; mikroservis har doim zarur emas.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DFEFB"/>
        </a:solidFill>
        <a:effectLst/>
      </p:bgPr>
    </p:bg>
    <p:spTree>
      <p:nvGrpSpPr>
        <p:cNvPr id="1" name=""/>
        <p:cNvGrpSpPr/>
        <p:nvPr/>
      </p:nvGrpSpPr>
      <p:grpSpPr/>
      <p:sp>
        <p:nvSpPr>
          <p:cNvPr id="2" name="TextBox 1"/>
          <p:cNvSpPr txBox="1"/>
          <p:nvPr/>
        </p:nvSpPr>
        <p:spPr>
          <a:xfrm>
            <a:off x="758952" y="502920"/>
            <a:ext cx="10652760" cy="1024128"/>
          </a:xfrm>
          <a:prstGeom prst="rect">
            <a:avLst/>
          </a:prstGeom>
          <a:noFill/>
        </p:spPr>
        <p:txBody>
          <a:bodyPr wrap="square" lIns="27432" rIns="27432" tIns="18288" bIns="0">
            <a:spAutoFit/>
          </a:bodyPr>
          <a:lstStyle/>
          <a:p>
            <a:pPr>
              <a:spcAft>
                <a:spcPts val="800"/>
              </a:spcAft>
              <a:defRPr sz="2900" b="1">
                <a:solidFill>
                  <a:srgbClr val="16423C"/>
                </a:solidFill>
                <a:latin typeface="DejaVu Serif"/>
              </a:defRPr>
            </a:pPr>
            <a:r>
              <a:t>Kelajak uchun asosli tanlov</a:t>
            </a:r>
          </a:p>
        </p:txBody>
      </p:sp>
      <p:cxnSp>
        <p:nvCxnSpPr>
          <p:cNvPr id="3" name="Connector 2"/>
          <p:cNvCxnSpPr/>
          <p:nvPr/>
        </p:nvCxnSpPr>
        <p:spPr>
          <a:xfrm>
            <a:off x="777240" y="1481328"/>
            <a:ext cx="10579608" cy="0"/>
          </a:xfrm>
          <a:prstGeom prst="line">
            <a:avLst/>
          </a:prstGeom>
          <a:ln w="12700">
            <a:solidFill>
              <a:srgbClr val="117D8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777240" y="182880"/>
            <a:ext cx="9144000" cy="228600"/>
          </a:xfrm>
          <a:prstGeom prst="rect">
            <a:avLst/>
          </a:prstGeom>
          <a:noFill/>
        </p:spPr>
        <p:txBody>
          <a:bodyPr wrap="square" lIns="27432" rIns="27432" tIns="18288" bIns="0">
            <a:spAutoFit/>
          </a:bodyPr>
          <a:lstStyle/>
          <a:p>
            <a:pPr>
              <a:spcAft>
                <a:spcPts val="800"/>
              </a:spcAft>
              <a:defRPr sz="900" b="1">
                <a:solidFill>
                  <a:srgbClr val="117D82"/>
                </a:solidFill>
                <a:latin typeface="DejaVu Sans"/>
              </a:defRPr>
            </a:pPr>
            <a:r>
              <a:t>BULUT TEXNOLOGIYALARI   /   ISTIQBOLLAR</a:t>
            </a:r>
          </a:p>
        </p:txBody>
      </p:sp>
      <p:sp>
        <p:nvSpPr>
          <p:cNvPr id="5" name="TextBox 4"/>
          <p:cNvSpPr txBox="1"/>
          <p:nvPr/>
        </p:nvSpPr>
        <p:spPr>
          <a:xfrm>
            <a:off x="502920" y="6537960"/>
            <a:ext cx="9144000" cy="210312"/>
          </a:xfrm>
          <a:prstGeom prst="rect">
            <a:avLst/>
          </a:prstGeom>
          <a:noFill/>
        </p:spPr>
        <p:txBody>
          <a:bodyPr wrap="square" lIns="27432" rIns="27432" tIns="18288" bIns="0">
            <a:spAutoFit/>
          </a:bodyPr>
          <a:lstStyle/>
          <a:p>
            <a:pPr>
              <a:spcAft>
                <a:spcPts val="800"/>
              </a:spcAft>
              <a:defRPr sz="900" b="0">
                <a:solidFill>
                  <a:srgbClr val="16423C"/>
                </a:solidFill>
                <a:latin typeface="DejaVu Sans"/>
              </a:defRPr>
            </a:pPr>
            <a:r>
              <a:t>BTST206   /   M18   /   2027–2028</a:t>
            </a:r>
          </a:p>
        </p:txBody>
      </p:sp>
      <p:sp>
        <p:nvSpPr>
          <p:cNvPr id="6" name="TextBox 5"/>
          <p:cNvSpPr txBox="1"/>
          <p:nvPr/>
        </p:nvSpPr>
        <p:spPr>
          <a:xfrm>
            <a:off x="10789920" y="6492240"/>
            <a:ext cx="822960" cy="274320"/>
          </a:xfrm>
          <a:prstGeom prst="rect">
            <a:avLst/>
          </a:prstGeom>
          <a:noFill/>
        </p:spPr>
        <p:txBody>
          <a:bodyPr wrap="square" lIns="27432" rIns="27432" tIns="18288" bIns="0">
            <a:spAutoFit/>
          </a:bodyPr>
          <a:lstStyle/>
          <a:p>
            <a:pPr>
              <a:spcAft>
                <a:spcPts val="800"/>
              </a:spcAft>
              <a:defRPr sz="1000" b="0">
                <a:solidFill>
                  <a:srgbClr val="16423C"/>
                </a:solidFill>
                <a:latin typeface="DejaVu Sans"/>
              </a:defRPr>
            </a:pPr>
            <a:r>
              <a:t>12 / 13</a:t>
            </a:r>
          </a:p>
        </p:txBody>
      </p:sp>
      <p:sp>
        <p:nvSpPr>
          <p:cNvPr id="7" name="Rounded Rectangle 6"/>
          <p:cNvSpPr/>
          <p:nvPr/>
        </p:nvSpPr>
        <p:spPr>
          <a:xfrm>
            <a:off x="731520" y="1874519"/>
            <a:ext cx="3465576" cy="3611880"/>
          </a:xfrm>
          <a:prstGeom prst="roundRect">
            <a:avLst>
              <a:gd name="adj" fmla="val 8000"/>
            </a:avLst>
          </a:prstGeom>
          <a:solidFill>
            <a:srgbClr val="EF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23544" y="2029968"/>
            <a:ext cx="3072384" cy="502920"/>
          </a:xfrm>
          <a:prstGeom prst="rect">
            <a:avLst/>
          </a:prstGeom>
          <a:noFill/>
        </p:spPr>
        <p:txBody>
          <a:bodyPr wrap="square" lIns="27432" rIns="27432" tIns="18288" bIns="0">
            <a:spAutoFit/>
          </a:bodyPr>
          <a:lstStyle/>
          <a:p>
            <a:pPr>
              <a:spcAft>
                <a:spcPts val="800"/>
              </a:spcAft>
              <a:defRPr sz="3200" b="1">
                <a:solidFill>
                  <a:srgbClr val="117D82"/>
                </a:solidFill>
                <a:latin typeface="DejaVu Sans"/>
              </a:defRPr>
            </a:pPr>
            <a:r>
              <a:t>01</a:t>
            </a:r>
          </a:p>
        </p:txBody>
      </p:sp>
      <p:sp>
        <p:nvSpPr>
          <p:cNvPr id="9" name="TextBox 8"/>
          <p:cNvSpPr txBox="1"/>
          <p:nvPr/>
        </p:nvSpPr>
        <p:spPr>
          <a:xfrm>
            <a:off x="923544" y="2788920"/>
            <a:ext cx="3072384" cy="1042415"/>
          </a:xfrm>
          <a:prstGeom prst="rect">
            <a:avLst/>
          </a:prstGeom>
          <a:noFill/>
        </p:spPr>
        <p:txBody>
          <a:bodyPr wrap="square" lIns="27432" rIns="27432" tIns="18288" bIns="0">
            <a:spAutoFit/>
          </a:bodyPr>
          <a:lstStyle/>
          <a:p>
            <a:pPr>
              <a:spcAft>
                <a:spcPts val="800"/>
              </a:spcAft>
              <a:defRPr sz="2400" b="1">
                <a:solidFill>
                  <a:srgbClr val="16423C"/>
                </a:solidFill>
                <a:latin typeface="DejaVu Sans"/>
              </a:defRPr>
            </a:pPr>
            <a:r>
              <a:t>Edge va Fog Computing</a:t>
            </a:r>
          </a:p>
        </p:txBody>
      </p:sp>
      <p:sp>
        <p:nvSpPr>
          <p:cNvPr id="10" name="TextBox 9"/>
          <p:cNvSpPr txBox="1"/>
          <p:nvPr/>
        </p:nvSpPr>
        <p:spPr>
          <a:xfrm>
            <a:off x="923544" y="4087368"/>
            <a:ext cx="3072384" cy="1234440"/>
          </a:xfrm>
          <a:prstGeom prst="rect">
            <a:avLst/>
          </a:prstGeom>
          <a:noFill/>
        </p:spPr>
        <p:txBody>
          <a:bodyPr wrap="square" lIns="27432" rIns="27432" tIns="18288" bIns="0">
            <a:spAutoFit/>
          </a:bodyPr>
          <a:lstStyle/>
          <a:p>
            <a:pPr>
              <a:spcAft>
                <a:spcPts val="800"/>
              </a:spcAft>
              <a:defRPr sz="2100" b="0">
                <a:solidFill>
                  <a:srgbClr val="16423C"/>
                </a:solidFill>
                <a:latin typeface="DejaVu Sans"/>
              </a:defRPr>
            </a:pPr>
            <a:r>
              <a:t>Hisoblashni ma’lumot manbasiga yaqinlashtirish.</a:t>
            </a:r>
          </a:p>
        </p:txBody>
      </p:sp>
      <p:sp>
        <p:nvSpPr>
          <p:cNvPr id="11" name="Rounded Rectangle 10"/>
          <p:cNvSpPr/>
          <p:nvPr/>
        </p:nvSpPr>
        <p:spPr>
          <a:xfrm>
            <a:off x="4425696" y="1874519"/>
            <a:ext cx="3465576" cy="3611880"/>
          </a:xfrm>
          <a:prstGeom prst="roundRect">
            <a:avLst>
              <a:gd name="adj" fmla="val 8000"/>
            </a:avLst>
          </a:prstGeom>
          <a:solidFill>
            <a:srgbClr val="EF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17720" y="2029968"/>
            <a:ext cx="3072384" cy="502920"/>
          </a:xfrm>
          <a:prstGeom prst="rect">
            <a:avLst/>
          </a:prstGeom>
          <a:noFill/>
        </p:spPr>
        <p:txBody>
          <a:bodyPr wrap="square" lIns="27432" rIns="27432" tIns="18288" bIns="0">
            <a:spAutoFit/>
          </a:bodyPr>
          <a:lstStyle/>
          <a:p>
            <a:pPr>
              <a:spcAft>
                <a:spcPts val="800"/>
              </a:spcAft>
              <a:defRPr sz="3200" b="1">
                <a:solidFill>
                  <a:srgbClr val="117D82"/>
                </a:solidFill>
                <a:latin typeface="DejaVu Sans"/>
              </a:defRPr>
            </a:pPr>
            <a:r>
              <a:t>02</a:t>
            </a:r>
          </a:p>
        </p:txBody>
      </p:sp>
      <p:sp>
        <p:nvSpPr>
          <p:cNvPr id="13" name="TextBox 12"/>
          <p:cNvSpPr txBox="1"/>
          <p:nvPr/>
        </p:nvSpPr>
        <p:spPr>
          <a:xfrm>
            <a:off x="4617720" y="2788920"/>
            <a:ext cx="3072384" cy="1042415"/>
          </a:xfrm>
          <a:prstGeom prst="rect">
            <a:avLst/>
          </a:prstGeom>
          <a:noFill/>
        </p:spPr>
        <p:txBody>
          <a:bodyPr wrap="square" lIns="27432" rIns="27432" tIns="18288" bIns="0">
            <a:spAutoFit/>
          </a:bodyPr>
          <a:lstStyle/>
          <a:p>
            <a:pPr>
              <a:spcAft>
                <a:spcPts val="800"/>
              </a:spcAft>
              <a:defRPr sz="2400" b="1">
                <a:solidFill>
                  <a:srgbClr val="16423C"/>
                </a:solidFill>
                <a:latin typeface="DejaVu Sans"/>
              </a:defRPr>
            </a:pPr>
            <a:r>
              <a:t>AI Cloud</a:t>
            </a:r>
          </a:p>
        </p:txBody>
      </p:sp>
      <p:sp>
        <p:nvSpPr>
          <p:cNvPr id="14" name="TextBox 13"/>
          <p:cNvSpPr txBox="1"/>
          <p:nvPr/>
        </p:nvSpPr>
        <p:spPr>
          <a:xfrm>
            <a:off x="4617720" y="4087368"/>
            <a:ext cx="3072384" cy="1234440"/>
          </a:xfrm>
          <a:prstGeom prst="rect">
            <a:avLst/>
          </a:prstGeom>
          <a:noFill/>
        </p:spPr>
        <p:txBody>
          <a:bodyPr wrap="square" lIns="27432" rIns="27432" tIns="18288" bIns="0">
            <a:spAutoFit/>
          </a:bodyPr>
          <a:lstStyle/>
          <a:p>
            <a:pPr>
              <a:spcAft>
                <a:spcPts val="800"/>
              </a:spcAft>
              <a:defRPr sz="2100" b="0">
                <a:solidFill>
                  <a:srgbClr val="16423C"/>
                </a:solidFill>
                <a:latin typeface="DejaVu Sans"/>
              </a:defRPr>
            </a:pPr>
            <a:r>
              <a:t>Modelni tayyorlash va undan javob olish xizmatlari.</a:t>
            </a:r>
          </a:p>
        </p:txBody>
      </p:sp>
      <p:sp>
        <p:nvSpPr>
          <p:cNvPr id="15" name="Rounded Rectangle 14"/>
          <p:cNvSpPr/>
          <p:nvPr/>
        </p:nvSpPr>
        <p:spPr>
          <a:xfrm>
            <a:off x="8119872" y="1874519"/>
            <a:ext cx="3465576" cy="3611880"/>
          </a:xfrm>
          <a:prstGeom prst="roundRect">
            <a:avLst>
              <a:gd name="adj" fmla="val 8000"/>
            </a:avLst>
          </a:prstGeom>
          <a:solidFill>
            <a:srgbClr val="EF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11896" y="2029968"/>
            <a:ext cx="3072384" cy="502920"/>
          </a:xfrm>
          <a:prstGeom prst="rect">
            <a:avLst/>
          </a:prstGeom>
          <a:noFill/>
        </p:spPr>
        <p:txBody>
          <a:bodyPr wrap="square" lIns="27432" rIns="27432" tIns="18288" bIns="0">
            <a:spAutoFit/>
          </a:bodyPr>
          <a:lstStyle/>
          <a:p>
            <a:pPr>
              <a:spcAft>
                <a:spcPts val="800"/>
              </a:spcAft>
              <a:defRPr sz="3200" b="1">
                <a:solidFill>
                  <a:srgbClr val="117D82"/>
                </a:solidFill>
                <a:latin typeface="DejaVu Sans"/>
              </a:defRPr>
            </a:pPr>
            <a:r>
              <a:t>03</a:t>
            </a:r>
          </a:p>
        </p:txBody>
      </p:sp>
      <p:sp>
        <p:nvSpPr>
          <p:cNvPr id="17" name="TextBox 16"/>
          <p:cNvSpPr txBox="1"/>
          <p:nvPr/>
        </p:nvSpPr>
        <p:spPr>
          <a:xfrm>
            <a:off x="8311896" y="2788920"/>
            <a:ext cx="3072384" cy="1042415"/>
          </a:xfrm>
          <a:prstGeom prst="rect">
            <a:avLst/>
          </a:prstGeom>
          <a:noFill/>
        </p:spPr>
        <p:txBody>
          <a:bodyPr wrap="square" lIns="27432" rIns="27432" tIns="18288" bIns="0">
            <a:spAutoFit/>
          </a:bodyPr>
          <a:lstStyle/>
          <a:p>
            <a:pPr>
              <a:spcAft>
                <a:spcPts val="800"/>
              </a:spcAft>
              <a:defRPr sz="2400" b="1">
                <a:solidFill>
                  <a:srgbClr val="16423C"/>
                </a:solidFill>
                <a:latin typeface="DejaVu Sans"/>
              </a:defRPr>
            </a:pPr>
            <a:r>
              <a:t>Cloud-native va mikroservislar</a:t>
            </a:r>
          </a:p>
        </p:txBody>
      </p:sp>
      <p:sp>
        <p:nvSpPr>
          <p:cNvPr id="18" name="TextBox 17"/>
          <p:cNvSpPr txBox="1"/>
          <p:nvPr/>
        </p:nvSpPr>
        <p:spPr>
          <a:xfrm>
            <a:off x="8311896" y="4087368"/>
            <a:ext cx="3072384" cy="1234440"/>
          </a:xfrm>
          <a:prstGeom prst="rect">
            <a:avLst/>
          </a:prstGeom>
          <a:noFill/>
        </p:spPr>
        <p:txBody>
          <a:bodyPr wrap="square" lIns="27432" rIns="27432" tIns="18288" bIns="0">
            <a:spAutoFit/>
          </a:bodyPr>
          <a:lstStyle/>
          <a:p>
            <a:pPr>
              <a:spcAft>
                <a:spcPts val="800"/>
              </a:spcAft>
              <a:defRPr sz="2100" b="0">
                <a:solidFill>
                  <a:srgbClr val="16423C"/>
                </a:solidFill>
                <a:latin typeface="DejaVu Sans"/>
              </a:defRPr>
            </a:pPr>
            <a:r>
              <a:t>Moslashuvchanlik — ajratilgan xizmat va avtomatlashtirish bilan.</a:t>
            </a:r>
          </a:p>
        </p:txBody>
      </p:sp>
      <p:sp>
        <p:nvSpPr>
          <p:cNvPr id="19" name="Rounded Rectangle 18"/>
          <p:cNvSpPr/>
          <p:nvPr/>
        </p:nvSpPr>
        <p:spPr>
          <a:xfrm>
            <a:off x="731520" y="5641848"/>
            <a:ext cx="10698480" cy="621792"/>
          </a:xfrm>
          <a:prstGeom prst="roundRect">
            <a:avLst>
              <a:gd name="adj" fmla="val 8000"/>
            </a:avLst>
          </a:prstGeom>
          <a:solidFill>
            <a:srgbClr val="EF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77824" y="5733288"/>
            <a:ext cx="10405872" cy="466344"/>
          </a:xfrm>
          <a:prstGeom prst="rect">
            <a:avLst/>
          </a:prstGeom>
          <a:noFill/>
        </p:spPr>
        <p:txBody>
          <a:bodyPr wrap="square" lIns="27432" rIns="27432" tIns="18288" bIns="0">
            <a:spAutoFit/>
          </a:bodyPr>
          <a:lstStyle/>
          <a:p>
            <a:pPr>
              <a:spcAft>
                <a:spcPts val="800"/>
              </a:spcAft>
              <a:defRPr sz="1700" b="0">
                <a:solidFill>
                  <a:srgbClr val="16423C"/>
                </a:solidFill>
                <a:latin typeface="DejaVu Sans"/>
              </a:defRPr>
            </a:pPr>
            <a:r>
              <a:t>Asosiy mezon: xizmatni tanlashda xavfsizlik, mavjudlik va xarajatni birga baholang.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DFEFB"/>
        </a:solidFill>
        <a:effectLst/>
      </p:bgPr>
    </p:bg>
    <p:spTree>
      <p:nvGrpSpPr>
        <p:cNvPr id="1" name=""/>
        <p:cNvGrpSpPr/>
        <p:nvPr/>
      </p:nvGrpSpPr>
      <p:grpSpPr/>
      <p:sp>
        <p:nvSpPr>
          <p:cNvPr id="2" name="Rectangle 1"/>
          <p:cNvSpPr/>
          <p:nvPr/>
        </p:nvSpPr>
        <p:spPr>
          <a:xfrm>
            <a:off x="502920" y="548640"/>
            <a:ext cx="109728" cy="640080"/>
          </a:xfrm>
          <a:prstGeom prst="rect">
            <a:avLst/>
          </a:prstGeom>
          <a:solidFill>
            <a:srgbClr val="117D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94360"/>
            <a:ext cx="10789920" cy="777240"/>
          </a:xfrm>
          <a:prstGeom prst="rect">
            <a:avLst/>
          </a:prstGeom>
          <a:noFill/>
        </p:spPr>
        <p:txBody>
          <a:bodyPr wrap="square" lIns="27432" rIns="27432" tIns="18288" bIns="0">
            <a:spAutoFit/>
          </a:bodyPr>
          <a:lstStyle/>
          <a:p>
            <a:pPr>
              <a:spcAft>
                <a:spcPts val="800"/>
              </a:spcAft>
              <a:defRPr sz="2900" b="1">
                <a:solidFill>
                  <a:srgbClr val="16423C"/>
                </a:solidFill>
                <a:latin typeface="DejaVu Sans"/>
              </a:defRPr>
            </a:pPr>
            <a:r>
              <a:t>Manbalar va rasm manbasi</a:t>
            </a:r>
          </a:p>
        </p:txBody>
      </p:sp>
      <p:sp>
        <p:nvSpPr>
          <p:cNvPr id="4" name="TextBox 3"/>
          <p:cNvSpPr txBox="1"/>
          <p:nvPr/>
        </p:nvSpPr>
        <p:spPr>
          <a:xfrm>
            <a:off x="731520" y="1600200"/>
            <a:ext cx="10789920" cy="594360"/>
          </a:xfrm>
          <a:prstGeom prst="rect">
            <a:avLst/>
          </a:prstGeom>
          <a:noFill/>
        </p:spPr>
        <p:txBody>
          <a:bodyPr wrap="square" lIns="27432" rIns="27432" tIns="18288" bIns="0">
            <a:spAutoFit/>
          </a:bodyPr>
          <a:lstStyle/>
          <a:p>
            <a:pPr>
              <a:spcAft>
                <a:spcPts val="800"/>
              </a:spcAft>
              <a:defRPr sz="1700" b="0">
                <a:solidFill>
                  <a:srgbClr val="16423C"/>
                </a:solidFill>
                <a:latin typeface="DejaVu Sans"/>
              </a:defRPr>
            </a:pPr>
            <a:r>
              <a:t>Asos: BTST206, 2027–2028 sillabusi. Rasmiy texnik hujjatlar:</a:t>
            </a:r>
          </a:p>
        </p:txBody>
      </p:sp>
      <p:sp>
        <p:nvSpPr>
          <p:cNvPr id="5" name="TextBox 4"/>
          <p:cNvSpPr txBox="1"/>
          <p:nvPr/>
        </p:nvSpPr>
        <p:spPr>
          <a:xfrm>
            <a:off x="777240" y="2286000"/>
            <a:ext cx="10652760" cy="365760"/>
          </a:xfrm>
          <a:prstGeom prst="rect">
            <a:avLst/>
          </a:prstGeom>
          <a:noFill/>
        </p:spPr>
        <p:txBody>
          <a:bodyPr wrap="square" lIns="27432" rIns="27432" tIns="18288" bIns="0">
            <a:spAutoFit/>
          </a:bodyPr>
          <a:lstStyle/>
          <a:p>
            <a:pPr>
              <a:spcAft>
                <a:spcPts val="800"/>
              </a:spcAft>
              <a:defRPr sz="1300" b="0">
                <a:solidFill>
                  <a:srgbClr val="117D82"/>
                </a:solidFill>
                <a:latin typeface="DejaVu Sans"/>
              </a:defRPr>
            </a:pPr>
            <a:r>
              <a:t>https://www.cncf.io/about/who-we-are/</a:t>
            </a:r>
          </a:p>
        </p:txBody>
      </p:sp>
      <p:sp>
        <p:nvSpPr>
          <p:cNvPr id="6" name="TextBox 5"/>
          <p:cNvSpPr txBox="1"/>
          <p:nvPr/>
        </p:nvSpPr>
        <p:spPr>
          <a:xfrm>
            <a:off x="777240" y="2715768"/>
            <a:ext cx="10652760" cy="365760"/>
          </a:xfrm>
          <a:prstGeom prst="rect">
            <a:avLst/>
          </a:prstGeom>
          <a:noFill/>
        </p:spPr>
        <p:txBody>
          <a:bodyPr wrap="square" lIns="27432" rIns="27432" tIns="18288" bIns="0">
            <a:spAutoFit/>
          </a:bodyPr>
          <a:lstStyle/>
          <a:p>
            <a:pPr>
              <a:spcAft>
                <a:spcPts val="800"/>
              </a:spcAft>
              <a:defRPr sz="1300" b="0">
                <a:solidFill>
                  <a:srgbClr val="117D82"/>
                </a:solidFill>
                <a:latin typeface="DejaVu Sans"/>
              </a:defRPr>
            </a:pPr>
            <a:r>
              <a:t>https://csrc.nist.gov/pubs/sp/500/325/final</a:t>
            </a:r>
          </a:p>
        </p:txBody>
      </p:sp>
      <p:sp>
        <p:nvSpPr>
          <p:cNvPr id="7" name="TextBox 6"/>
          <p:cNvSpPr txBox="1"/>
          <p:nvPr/>
        </p:nvSpPr>
        <p:spPr>
          <a:xfrm>
            <a:off x="777240" y="3145536"/>
            <a:ext cx="10652760" cy="365760"/>
          </a:xfrm>
          <a:prstGeom prst="rect">
            <a:avLst/>
          </a:prstGeom>
          <a:noFill/>
        </p:spPr>
        <p:txBody>
          <a:bodyPr wrap="square" lIns="27432" rIns="27432" tIns="18288" bIns="0">
            <a:spAutoFit/>
          </a:bodyPr>
          <a:lstStyle/>
          <a:p>
            <a:pPr>
              <a:spcAft>
                <a:spcPts val="800"/>
              </a:spcAft>
              <a:defRPr sz="1300" b="0">
                <a:solidFill>
                  <a:srgbClr val="117D82"/>
                </a:solidFill>
                <a:latin typeface="DejaVu Sans"/>
              </a:defRPr>
            </a:pPr>
            <a:r>
              <a:t>https://learn.microsoft.com/azure/architecture/guide/iot/</a:t>
            </a:r>
          </a:p>
        </p:txBody>
      </p:sp>
      <p:sp>
        <p:nvSpPr>
          <p:cNvPr id="8" name="TextBox 7"/>
          <p:cNvSpPr txBox="1"/>
          <p:nvPr/>
        </p:nvSpPr>
        <p:spPr>
          <a:xfrm>
            <a:off x="777240" y="3575304"/>
            <a:ext cx="10652760" cy="365760"/>
          </a:xfrm>
          <a:prstGeom prst="rect">
            <a:avLst/>
          </a:prstGeom>
          <a:noFill/>
        </p:spPr>
        <p:txBody>
          <a:bodyPr wrap="square" lIns="27432" rIns="27432" tIns="18288" bIns="0">
            <a:spAutoFit/>
          </a:bodyPr>
          <a:lstStyle/>
          <a:p>
            <a:pPr>
              <a:spcAft>
                <a:spcPts val="800"/>
              </a:spcAft>
              <a:defRPr sz="1300" b="0">
                <a:solidFill>
                  <a:srgbClr val="117D82"/>
                </a:solidFill>
                <a:latin typeface="DejaVu Sans"/>
              </a:defRPr>
            </a:pPr>
            <a:r>
              <a:t>https://sustainability.google/</a:t>
            </a:r>
          </a:p>
        </p:txBody>
      </p:sp>
      <p:sp>
        <p:nvSpPr>
          <p:cNvPr id="9" name="TextBox 8"/>
          <p:cNvSpPr txBox="1"/>
          <p:nvPr/>
        </p:nvSpPr>
        <p:spPr>
          <a:xfrm>
            <a:off x="777240" y="4251960"/>
            <a:ext cx="10652760" cy="365760"/>
          </a:xfrm>
          <a:prstGeom prst="rect">
            <a:avLst/>
          </a:prstGeom>
          <a:noFill/>
        </p:spPr>
        <p:txBody>
          <a:bodyPr wrap="square" lIns="27432" rIns="27432" tIns="18288" bIns="0">
            <a:spAutoFit/>
          </a:bodyPr>
          <a:lstStyle/>
          <a:p>
            <a:pPr>
              <a:spcAft>
                <a:spcPts val="800"/>
              </a:spcAft>
              <a:defRPr sz="1200" b="1">
                <a:solidFill>
                  <a:srgbClr val="117D82"/>
                </a:solidFill>
                <a:latin typeface="DejaVu Sans"/>
              </a:defRPr>
            </a:pPr>
            <a:r>
              <a:t>INTERNET RASMI</a:t>
            </a:r>
          </a:p>
        </p:txBody>
      </p:sp>
      <p:sp>
        <p:nvSpPr>
          <p:cNvPr id="10" name="TextBox 9"/>
          <p:cNvSpPr txBox="1"/>
          <p:nvPr/>
        </p:nvSpPr>
        <p:spPr>
          <a:xfrm>
            <a:off x="777240" y="4663440"/>
            <a:ext cx="10652760" cy="576072"/>
          </a:xfrm>
          <a:prstGeom prst="rect">
            <a:avLst/>
          </a:prstGeom>
          <a:noFill/>
        </p:spPr>
        <p:txBody>
          <a:bodyPr wrap="square" lIns="27432" rIns="27432" tIns="18288" bIns="0">
            <a:spAutoFit/>
          </a:bodyPr>
          <a:lstStyle/>
          <a:p>
            <a:pPr>
              <a:spcAft>
                <a:spcPts val="800"/>
              </a:spcAft>
              <a:defRPr sz="1400" b="0">
                <a:solidFill>
                  <a:srgbClr val="16423C"/>
                </a:solidFill>
                <a:latin typeface="DejaVu Sans"/>
              </a:defRPr>
            </a:pPr>
            <a:r>
              <a:t>KubeEdge / CNCF official artwork</a:t>
            </a:r>
          </a:p>
        </p:txBody>
      </p:sp>
      <p:sp>
        <p:nvSpPr>
          <p:cNvPr id="11" name="TextBox 10"/>
          <p:cNvSpPr txBox="1"/>
          <p:nvPr/>
        </p:nvSpPr>
        <p:spPr>
          <a:xfrm>
            <a:off x="777240" y="5285232"/>
            <a:ext cx="10652760" cy="640080"/>
          </a:xfrm>
          <a:prstGeom prst="rect">
            <a:avLst/>
          </a:prstGeom>
          <a:noFill/>
        </p:spPr>
        <p:txBody>
          <a:bodyPr wrap="square" lIns="27432" rIns="27432" tIns="18288" bIns="0">
            <a:spAutoFit/>
          </a:bodyPr>
          <a:lstStyle/>
          <a:p>
            <a:pPr>
              <a:spcAft>
                <a:spcPts val="800"/>
              </a:spcAft>
              <a:defRPr sz="1000" b="0">
                <a:solidFill>
                  <a:srgbClr val="16423C"/>
                </a:solidFill>
                <a:latin typeface="DejaVu Sans"/>
              </a:defRPr>
            </a:pPr>
            <a:r>
              <a:t>https://raw.githubusercontent.com/cncf/artwork/main/projects/kubeedge/icon/color/kubeedge-icon-color.png</a:t>
            </a:r>
          </a:p>
        </p:txBody>
      </p:sp>
      <p:sp>
        <p:nvSpPr>
          <p:cNvPr id="12" name="TextBox 11"/>
          <p:cNvSpPr txBox="1"/>
          <p:nvPr/>
        </p:nvSpPr>
        <p:spPr>
          <a:xfrm>
            <a:off x="777240" y="6035040"/>
            <a:ext cx="10652760" cy="320040"/>
          </a:xfrm>
          <a:prstGeom prst="rect">
            <a:avLst/>
          </a:prstGeom>
          <a:noFill/>
        </p:spPr>
        <p:txBody>
          <a:bodyPr wrap="square" lIns="27432" rIns="27432" tIns="18288" bIns="0">
            <a:spAutoFit/>
          </a:bodyPr>
          <a:lstStyle/>
          <a:p>
            <a:pPr>
              <a:spcAft>
                <a:spcPts val="800"/>
              </a:spcAft>
              <a:defRPr sz="1100" b="0">
                <a:solidFill>
                  <a:srgbClr val="16423C"/>
                </a:solidFill>
                <a:latin typeface="DejaVu Sans"/>
              </a:defRPr>
            </a:pPr>
            <a:r>
              <a:t>Barcha rasm manbalari va foydalanish izohlari: ASSET_SOURCES.md</a:t>
            </a:r>
          </a:p>
        </p:txBody>
      </p:sp>
      <p:sp>
        <p:nvSpPr>
          <p:cNvPr id="13" name="TextBox 12"/>
          <p:cNvSpPr txBox="1"/>
          <p:nvPr/>
        </p:nvSpPr>
        <p:spPr>
          <a:xfrm>
            <a:off x="502920" y="6537960"/>
            <a:ext cx="9144000" cy="210312"/>
          </a:xfrm>
          <a:prstGeom prst="rect">
            <a:avLst/>
          </a:prstGeom>
          <a:noFill/>
        </p:spPr>
        <p:txBody>
          <a:bodyPr wrap="square" lIns="27432" rIns="27432" tIns="18288" bIns="0">
            <a:spAutoFit/>
          </a:bodyPr>
          <a:lstStyle/>
          <a:p>
            <a:pPr>
              <a:spcAft>
                <a:spcPts val="800"/>
              </a:spcAft>
              <a:defRPr sz="900" b="0">
                <a:solidFill>
                  <a:srgbClr val="16423C"/>
                </a:solidFill>
                <a:latin typeface="DejaVu Sans"/>
              </a:defRPr>
            </a:pPr>
            <a:r>
              <a:t>BTST206   /   M18   /   2027–2028</a:t>
            </a:r>
          </a:p>
        </p:txBody>
      </p:sp>
      <p:sp>
        <p:nvSpPr>
          <p:cNvPr id="14" name="TextBox 13"/>
          <p:cNvSpPr txBox="1"/>
          <p:nvPr/>
        </p:nvSpPr>
        <p:spPr>
          <a:xfrm>
            <a:off x="10789920" y="6492240"/>
            <a:ext cx="822960" cy="274320"/>
          </a:xfrm>
          <a:prstGeom prst="rect">
            <a:avLst/>
          </a:prstGeom>
          <a:noFill/>
        </p:spPr>
        <p:txBody>
          <a:bodyPr wrap="square" lIns="27432" rIns="27432" tIns="18288" bIns="0">
            <a:spAutoFit/>
          </a:bodyPr>
          <a:lstStyle/>
          <a:p>
            <a:pPr>
              <a:spcAft>
                <a:spcPts val="800"/>
              </a:spcAft>
              <a:defRPr sz="1000" b="0">
                <a:solidFill>
                  <a:srgbClr val="16423C"/>
                </a:solidFill>
                <a:latin typeface="DejaVu Sans"/>
              </a:defRPr>
            </a:pPr>
            <a:r>
              <a:t>13 / 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