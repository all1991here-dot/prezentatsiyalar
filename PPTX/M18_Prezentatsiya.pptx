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«Bulut texnologiyalarining zamonaviy yo‘nalishlari» mavzusiga bag‘ishlanadi. Mavzuni murakkab atamalardan emas, kundalik ehtiyojdan boshlaymiz. Universitet aqlli kampus tizimini qurmoqda. Sensorlar ma’lumot yuboradi, ayrim qarorlar qurilmaga yaqin qabul qilinadi, katta tahlil esa bulutda bajariladi. Yondashuvlar yagona maqsadga xizmat qiladi.</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edge va fog computing tushuntiriladi. 2-bo‘limda iot cloud tushuntiriladi. 3-bo‘limda ai cloud tushuntiriladi. 4-bo‘limda green cloud computing tushuntiriladi. 5-bo‘limda cloud-native va mikroservislar tushuntiriladi. 6-bo‘limda integratsiya va istiqbollar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Computing hisoblashni qurilma yoki unga yaqin nuqtada bajaradi. Fog ko‘pincha edge bilan markaziy bulut orasidagi ko‘p bosqichli hisoblash qatlamini anglatadi. Maqsad kechikish va tarmoq yukini kamaytirishdir.</a:t>
            </a:r>
          </a:p>
          <a:p/>
          <a:p>
            <a:r>
              <a:t>Sensorning dastlabki ma’lumoti mahalliy tugunda filtrlanadi. Muhim natija tez ishlatiladi, jamlangan ma’lumot esa bulutga tahlil va saqlash uchun uzatiladi.</a:t>
            </a:r>
          </a:p>
          <a:p/>
          <a:p>
            <a:r>
              <a:t>Universitet misolida buni quyidagicha tasavvur qilamiz. Kampus kamerasi barcha videoni uzatish o‘rniga mahalliy aniqlangan hodisa va kerakli parchani yuboradi. Bu misolda texnik atama real vazifa bilan bog‘lanadi: resursning nomini emas, nima uchun tanlanganini tushunish muhim.</a:t>
            </a:r>
          </a:p>
          <a:p/>
          <a:p>
            <a:r>
              <a:t>E’tibor beradigan chegara ham bor. Atamalar chegarasi barcha manbalarda bir xil emas; amaliy arxitekturada qaysi ish qayerda bajarilishi aniq ko‘rsatiladi.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IoT Cloud qurilmalarni ulash, identifikatsiya qilish, xabarlarni qabul qilish va tahlil qilish xizmatlarini birlashtiradi. Qurilma soni ko‘p bo‘lgani uchun har biriga alohida identifikator va yangilash siyosati zarur.</a:t>
            </a:r>
          </a:p>
          <a:p/>
          <a:p>
            <a:r>
              <a:t>Sensor ma’lumotni broker yoki shlyuzga yuboradi. Oqim qayta ishlanadi, saqlanadi va zarur hodisa yaratiladi. Uzilishdan keyin yig‘ilgan xabarlar boshqariladigan tarzda yetkaziladi.</a:t>
            </a:r>
          </a:p>
          <a:p/>
          <a:p>
            <a:r>
              <a:t>Universitet misolida buni quyidagicha tasavvur qilamiz. Auditoriya harorati sensorlari ko‘rsatkich yuboradi, tizim isitish va shamollatish bo‘yicha tavsiya yaratadi. Bu misolda texnik atama real vazifa bilan bog‘lanadi: resursning nomini emas, nima uchun tanlanganini tushunish muhim.</a:t>
            </a:r>
          </a:p>
          <a:p/>
          <a:p>
            <a:r>
              <a:t>E’tibor beradigan chegara ham bor. Qurilmalarga bir xil umumiy parol berish butun park xavfsizligini zaiflashtiradi.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Cloud ma’lumot tayyorlash, model o‘qitish va inference uchun resurslarni taqdim etadi. Katta modellar GPU yoki maxsus tezlatkich talab qilishi mumkin. O‘qitish va tayyor modeldan foydalanish ikki xil ish yuklamasidir.</a:t>
            </a:r>
          </a:p>
          <a:p/>
          <a:p>
            <a:r>
              <a:t>Ma’lumot tozalanadi, model tanlanadi yoki moslashtiriladi, sifat va xavfsizlik baholanadi. Keyin model endpoint sifatida xizmat qiladi va natijalar kuzatiladi.</a:t>
            </a:r>
          </a:p>
          <a:p/>
          <a:p>
            <a:r>
              <a:t>Universitet misolida buni quyidagicha tasavvur qilamiz. Universitet yordamchi tizimi o‘quv hujjatlari asosida javob tayyorlaydi; foydalanuvchiga muhim qarorlar tekshirilishi tushuntiriladi. Bu misolda texnik atama real vazifa bilan bog‘lanadi: resursning nomini emas, nima uchun tanlanganini tushunish muhim.</a:t>
            </a:r>
          </a:p>
          <a:p/>
          <a:p>
            <a:r>
              <a:t>E’tibor beradigan chegara ham bor. AI javobi xato bo‘lishi mumkin; maxfiy ma’lumot, tarafkashlik va inson nazorati oldindan baholanadi.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 Cloud energiya va resurslardan oqilona foydalanish orqali ekologik ta’sirni kamaytirishga intiladi. Quvvatni to‘g‘ri o‘lchash, keraksiz hisoblashni kamaytirish va ma’lumot hayot sikli muhim. Faqat bulutga ko‘chishning o‘zi yetarli emas.</a:t>
            </a:r>
          </a:p>
          <a:p/>
          <a:p>
            <a:r>
              <a:t>Yuklama o‘lchanadi, bo‘sh resurslar kamaytiriladi va vazifalar talabga mos rejalashtiriladi. Hudud tanlashda energiya omili bilan birga ma’lumot joylashuvi va xizmat talabi hisobga olinadi.</a:t>
            </a:r>
          </a:p>
          <a:p/>
          <a:p>
            <a:r>
              <a:t>Universitet misolida buni quyidagicha tasavvur qilamiz. Bir xil hisobot har daqiqada qayta hisoblanish o‘rniga mos davriylikda yangilanadi; ortiqcha nusxalar o‘chiriladi. Bu misolda texnik atama real vazifa bilan bog‘lanadi: resursning nomini emas, nima uchun tanlanganini tushunish muhim.</a:t>
            </a:r>
          </a:p>
          <a:p/>
          <a:p>
            <a:r>
              <a:t>E’tibor beradigan chegara ham bor. Karbon ta’sirini baholash uchun metodika kerak; xarajat kamayishi har doim bir xil nisbatda emissiya kamayishini anglatmaydi.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Cloud-native bulut imkoniyatlariga mos loyihalash va ishlatish yondashuvidir. Konteynerlar, deklarativ boshqaruv, observability va avtomatlashtirish ko‘p uchraydi. Mikroservislar esa biznes vazifalarini mustaqil xizmatlarga ajratadi.</a:t>
            </a:r>
          </a:p>
          <a:p/>
          <a:p>
            <a:r>
              <a:t>Har bir xizmat aniq API va mas’uliyatga ega bo‘ladi. Mustaqil joylashtirish yordam beradi, lekin tarmoq, muvofiqlik va kuzatuv murakkabligini oshiradi.</a:t>
            </a:r>
          </a:p>
          <a:p/>
          <a:p>
            <a:r>
              <a:t>Universitet misolida buni quyidagicha tasavvur qilamiz. Portal, xabarnoma va video qayta ishlash xizmatlari turli yuklamaga qarab alohida masshtablanadi. Bu misolda texnik atama real vazifa bilan bog‘lanadi: resursning nomini emas, nima uchun tanlanganini tushunish muhim.</a:t>
            </a:r>
          </a:p>
          <a:p/>
          <a:p>
            <a:r>
              <a:t>E’tibor beradigan chegara ham bor. Kichik jamoa va oddiy tizim uchun yaxshi tuzilgan monolit ba’zan osonroq; mikroservis har doim zarur emas.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arxitektura bitta texnologiyani hamma joyda qo‘llash emas. Mahalliy talab, edge tezligi, bulut tahlili va boshqariladigan xizmatlar moslashtiriladi. Portativlik, ochiq format va barqaror API lar o‘zgarishga tayyorlikni oshiradi.</a:t>
            </a:r>
          </a:p>
          <a:p/>
          <a:p>
            <a:r>
              <a:t>Ma’lumot manbadan yig‘iladi, kerakli joyda qayta ishlanadi va nazorat qilinadigan xizmatga aylanadi. Natija sifat, xavfsizlik, xarajat va ekologik ko‘rsatkichlar bilan baholanadi.</a:t>
            </a:r>
          </a:p>
          <a:p/>
          <a:p>
            <a:r>
              <a:t>Universitet misolida buni quyidagicha tasavvur qilamiz. Aqlli kampusda tez xavfsizlik signali edge da, yillik energiya tahlili esa bulutdagi Big Data platformasida bajariladi. Bu misolda texnik atama real vazifa bilan bog‘lanadi: resursning nomini emas, nima uchun tanlanganini tushunish muhim.</a:t>
            </a:r>
          </a:p>
          <a:p/>
          <a:p>
            <a:r>
              <a:t>E’tibor beradigan chegara ham bor. Kelajak yo‘nalishlari prognozdir; aniq xizmat, narx va imkoniyatni joriy rasmiy hujjatlar bilan tekshirish kerak.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«IoT sensor» bilan «Edge / fog» o‘rtasida sxemada bog‘lanish ko‘rsatilgan. «Edge / fog» bilan «Bulut / Big Data» o‘rtasida sxemada bog‘lanish ko‘rsatilgan. «Bulut / Big Data» bilan «AI / tahlil» o‘rtasida sxemada bog‘lanish ko‘rsatilgan. «AI / tahlil» bilan «Qaror / boshqaruv» o‘rtasida sxemada bog‘lanish ko‘rsatilgan. «Qaror / boshqaruv» bilan «Edge / fog» o‘rtasida sxemada bog‘lanish ko‘rsatilgan.</a:t>
            </a:r>
          </a:p>
          <a:p/>
          <a:p>
            <a:r>
              <a:t>Bu bog‘lanishlarni barcha xizmatlarda bir xil buyruq yoki bir xil fizik kabel deb tushunmaymiz. Ayrim o‘qlar bajarilish ketma-ketligini, ayrimlari resursni boshqarish yoki unga kirish aloqasini anglatadi. Sensor ma’lumotni broker yoki shlyuzga yuboradi. Oqim qayta ishlanadi, saqlanadi va zarur hodisa yaratiladi. Uzilishdan keyin yig‘ilgan xabarlar boshqariladigan tarzda yetkaziladi.</a:t>
            </a:r>
          </a:p>
          <a:p/>
          <a:p>
            <a:r>
              <a:t>Sxemaning asosiy foydasi mas’uliyatlarni ajratib ko‘rsatishdir. Portal, xabarnoma va video qayta ishlash xizmatlari turli yuklamaga qarab alohida masshtablanadi.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Universitet aqlli kampus tizimini qurmoqda. Sensorlar ma’lumot yuboradi, ayrim qarorlar qurilmaga yaqin qabul qilinadi, katta tahlil esa bulutda bajariladi. Yondashuvlar yagona maqsadga xizmat qiladi.</a:t>
            </a:r>
          </a:p>
          <a:p/>
          <a:p>
            <a:r>
              <a:t>Avval ehtiyoj aniqlanadi: kim tizimdan foydalanadi, qaysi ma’lumot bilan ishlanadi va qanday natija kutiladi. Kampus kamerasi barcha videoni uzatish o‘rniga mahalliy aniqlangan hodisa va kerakli parchani yuboradi. Keyin texnik qismlar shu talabga mos tanlanadi. Universitet yordamchi tizimi o‘quv hujjatlari asosida javob tayyorlaydi; foydalanuvchiga muhim qarorlar tekshirilishi tushuntiriladi.</a:t>
            </a:r>
          </a:p>
          <a:p/>
          <a:p>
            <a:r>
              <a:t>Ishlash jarayonida faqat muvaffaqiyatli holat emas, xato va cheklovlar ham hisobga olinadi. Karbon ta’sirini baholash uchun metodika kerak; xarajat kamayishi har doim bir xil nisbatda emissiya kamayishini anglatmaydi. Shu sababli jamoa talabni, ruxsatni va nosozlikdagi xatti-harakatni oldindan belgilaydi. Aqlli kampusda tez xavfsizlik signali edge da, yillik energiya tahlili esa bulutdagi Big Data platformasida bajariladi.</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Atamalar chegarasi barcha manbalarda bir xil emas; amaliy arxitekturada qaysi ish qayerda bajarilishi aniq ko‘rsatiladi. To‘g‘ri talqin quyidagicha: Edge Computing hisoblashni qurilma yoki unga yaqin nuqtada bajaradi. Fog ko‘pincha edge bilan markaziy bulut orasidagi ko‘p bosqichli hisoblash qatlamini anglatadi. Maqsad kechikish va tarmoq yukini kamaytirishdir.</a:t>
            </a:r>
          </a:p>
          <a:p/>
          <a:p>
            <a:r>
              <a:t>2. Karbon ta’sirini baholash uchun metodika kerak; xarajat kamayishi har doim bir xil nisbatda emissiya kamayishini anglatmaydi. To‘g‘ri talqin quyidagicha: Green Cloud energiya va resurslardan oqilona foydalanish orqali ekologik ta’sirni kamaytirishga intiladi. Quvvatni to‘g‘ri o‘lchash, keraksiz hisoblashni kamaytirish va ma’lumot hayot sikli muhim. Faqat bulutga ko‘chishning o‘zi yetarli emas.</a:t>
            </a:r>
          </a:p>
          <a:p/>
          <a:p>
            <a:r>
              <a:t>3. Kelajak yo‘nalishlari prognozdir; aniq xizmat, narx va imkoniyatni joriy rasmiy hujjatlar bilan tekshirish kerak. To‘g‘ri talqin quyidagicha: Zamonaviy arxitektura bitta texnologiyani hamma joyda qo‘llash emas. Mahalliy talab, edge tezligi, bulut tahlili va boshqariladigan xizmatlar moslashtiriladi. Portativlik, ochiq format va barqaror API lar o‘zgarishga tayyorlikni oshiradi.</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Edge, AI, IoT, Green Cloud va cloud-native — mavzuning umumiy mazmunini ifodalaydi.</a:t>
            </a:r>
          </a:p>
          <a:p/>
          <a:p>
            <a:r>
              <a:t>Asosiy tayanch fikr: Hisoblashni ma’lumot manbasiga yaqinlashtirish. Sensorning dastlabki ma’lumoti mahalliy tugunda filtrlanadi. Muhim natija tez ishlatiladi, jamlangan ma’lumot esa bulutga tahlil va saqlash uchun uzatiladi.</a:t>
            </a:r>
          </a:p>
          <a:p/>
          <a:p>
            <a:r>
              <a:t>Asosiy tayanch fikr: Modelni tayyorlash va undan javob olish xizmatlari. Ma’lumot tozalanadi, model tanlanadi yoki moslashtiriladi, sifat va xavfsizlik baholanadi. Keyin model endpoint sifatida xizmat qiladi va natijalar kuzatiladi.</a:t>
            </a:r>
          </a:p>
          <a:p/>
          <a:p>
            <a:r>
              <a:t>Asosiy tayanch fikr: Moslashuvchanlik — ajratilgan xizmat va avtomatlashtirish bilan. Har bir xizmat aniq API va mas’uliyatga ega bo‘ladi. Mustaqil joylashtirish yordam beradi, lekin tarmoq, muvofiqlik va kuzatuv murakkabligini oshiradi.</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xec-1c8f91bc-6381-4745-8533-c57166497063.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16636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594360"/>
            <a:ext cx="594360" cy="73152"/>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896112"/>
            <a:ext cx="4480560" cy="457200"/>
          </a:xfrm>
          <a:prstGeom prst="rect">
            <a:avLst/>
          </a:prstGeom>
          <a:noFill/>
        </p:spPr>
        <p:txBody>
          <a:bodyPr wrap="square" lIns="27432" rIns="27432" tIns="18288" bIns="0">
            <a:spAutoFit/>
          </a:bodyPr>
          <a:lstStyle/>
          <a:p>
            <a:pPr>
              <a:spcAft>
                <a:spcPts val="1000"/>
              </a:spcAft>
              <a:defRPr sz="1700" b="1">
                <a:solidFill>
                  <a:srgbClr val="1678D2"/>
                </a:solidFill>
                <a:latin typeface="DejaVu Sans"/>
              </a:defRPr>
            </a:pPr>
            <a:r>
              <a:t>M18  /  BTST206</a:t>
            </a:r>
          </a:p>
        </p:txBody>
      </p:sp>
      <p:sp>
        <p:nvSpPr>
          <p:cNvPr id="6" name="TextBox 5"/>
          <p:cNvSpPr txBox="1"/>
          <p:nvPr/>
        </p:nvSpPr>
        <p:spPr>
          <a:xfrm>
            <a:off x="548640" y="1737360"/>
            <a:ext cx="4480560" cy="2788920"/>
          </a:xfrm>
          <a:prstGeom prst="rect">
            <a:avLst/>
          </a:prstGeom>
          <a:noFill/>
        </p:spPr>
        <p:txBody>
          <a:bodyPr wrap="square" lIns="27432" rIns="27432" tIns="18288" bIns="0">
            <a:spAutoFit/>
          </a:bodyPr>
          <a:lstStyle/>
          <a:p>
            <a:pPr>
              <a:spcAft>
                <a:spcPts val="1000"/>
              </a:spcAft>
              <a:defRPr sz="3000" b="1">
                <a:solidFill>
                  <a:srgbClr val="15365B"/>
                </a:solidFill>
                <a:latin typeface="DejaVu Sans"/>
              </a:defRPr>
            </a:pPr>
            <a:r>
              <a:t>Bulut texnologiyalarining zamonaviy yo‘nalishlari</a:t>
            </a:r>
          </a:p>
        </p:txBody>
      </p:sp>
      <p:sp>
        <p:nvSpPr>
          <p:cNvPr id="7" name="TextBox 6"/>
          <p:cNvSpPr txBox="1"/>
          <p:nvPr/>
        </p:nvSpPr>
        <p:spPr>
          <a:xfrm>
            <a:off x="548640" y="4800600"/>
            <a:ext cx="4434840" cy="914400"/>
          </a:xfrm>
          <a:prstGeom prst="rect">
            <a:avLst/>
          </a:prstGeom>
          <a:noFill/>
        </p:spPr>
        <p:txBody>
          <a:bodyPr wrap="square" lIns="27432" rIns="27432" tIns="18288" bIns="0">
            <a:spAutoFit/>
          </a:bodyPr>
          <a:lstStyle/>
          <a:p>
            <a:pPr>
              <a:spcAft>
                <a:spcPts val="1000"/>
              </a:spcAft>
              <a:defRPr sz="1900" b="0">
                <a:solidFill>
                  <a:srgbClr val="53687D"/>
                </a:solidFill>
                <a:latin typeface="DejaVu Sans"/>
              </a:defRPr>
            </a:pPr>
            <a:r>
              <a:t>Edge, AI, IoT, Green Cloud va cloud-native</a:t>
            </a:r>
          </a:p>
        </p:txBody>
      </p:sp>
      <p:sp>
        <p:nvSpPr>
          <p:cNvPr id="8" name="TextBox 7"/>
          <p:cNvSpPr txBox="1"/>
          <p:nvPr/>
        </p:nvSpPr>
        <p:spPr>
          <a:xfrm>
            <a:off x="548640" y="6217920"/>
            <a:ext cx="4480560" cy="365760"/>
          </a:xfrm>
          <a:prstGeom prst="rect">
            <a:avLst/>
          </a:prstGeom>
          <a:noFill/>
        </p:spPr>
        <p:txBody>
          <a:bodyPr wrap="square" lIns="27432" rIns="27432" tIns="18288" bIns="0">
            <a:spAutoFit/>
          </a:bodyPr>
          <a:lstStyle/>
          <a:p>
            <a:pPr>
              <a:spcAft>
                <a:spcPts val="1000"/>
              </a:spcAft>
              <a:defRPr sz="1100" b="0">
                <a:solidFill>
                  <a:srgbClr val="1678D2"/>
                </a:solidFill>
                <a:latin typeface="DejaVu Sans"/>
              </a:defRPr>
            </a:pPr>
            <a:r>
              <a:t>2027–2028  •  VIDEOMA’RUZA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M18 · O‘RGANISH TARTIBI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Bugungi mavzuning yo‘l xaritasi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02</a:t>
            </a:r>
          </a:p>
        </p:txBody>
      </p:sp>
      <p:sp>
        <p:nvSpPr>
          <p:cNvPr id="8" name="Rounded Rectangle 7"/>
          <p:cNvSpPr/>
          <p:nvPr/>
        </p:nvSpPr>
        <p:spPr>
          <a:xfrm>
            <a:off x="59436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01</a:t>
            </a:r>
          </a:p>
        </p:txBody>
      </p:sp>
      <p:sp>
        <p:nvSpPr>
          <p:cNvPr id="10" name="TextBox 9"/>
          <p:cNvSpPr txBox="1"/>
          <p:nvPr/>
        </p:nvSpPr>
        <p:spPr>
          <a:xfrm>
            <a:off x="138074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Edge va Fog Computing</a:t>
            </a:r>
          </a:p>
        </p:txBody>
      </p:sp>
      <p:sp>
        <p:nvSpPr>
          <p:cNvPr id="11" name="Rounded Rectangle 10"/>
          <p:cNvSpPr/>
          <p:nvPr/>
        </p:nvSpPr>
        <p:spPr>
          <a:xfrm>
            <a:off x="626364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02</a:t>
            </a:r>
          </a:p>
        </p:txBody>
      </p:sp>
      <p:sp>
        <p:nvSpPr>
          <p:cNvPr id="13" name="TextBox 12"/>
          <p:cNvSpPr txBox="1"/>
          <p:nvPr/>
        </p:nvSpPr>
        <p:spPr>
          <a:xfrm>
            <a:off x="705002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IoT Cloud</a:t>
            </a:r>
          </a:p>
        </p:txBody>
      </p:sp>
      <p:sp>
        <p:nvSpPr>
          <p:cNvPr id="14" name="Rounded Rectangle 13"/>
          <p:cNvSpPr/>
          <p:nvPr/>
        </p:nvSpPr>
        <p:spPr>
          <a:xfrm>
            <a:off x="59436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03</a:t>
            </a:r>
          </a:p>
        </p:txBody>
      </p:sp>
      <p:sp>
        <p:nvSpPr>
          <p:cNvPr id="16" name="TextBox 15"/>
          <p:cNvSpPr txBox="1"/>
          <p:nvPr/>
        </p:nvSpPr>
        <p:spPr>
          <a:xfrm>
            <a:off x="138074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AI Cloud</a:t>
            </a:r>
          </a:p>
        </p:txBody>
      </p:sp>
      <p:sp>
        <p:nvSpPr>
          <p:cNvPr id="17" name="Rounded Rectangle 16"/>
          <p:cNvSpPr/>
          <p:nvPr/>
        </p:nvSpPr>
        <p:spPr>
          <a:xfrm>
            <a:off x="626364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04</a:t>
            </a:r>
          </a:p>
        </p:txBody>
      </p:sp>
      <p:sp>
        <p:nvSpPr>
          <p:cNvPr id="19" name="TextBox 18"/>
          <p:cNvSpPr txBox="1"/>
          <p:nvPr/>
        </p:nvSpPr>
        <p:spPr>
          <a:xfrm>
            <a:off x="705002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Green Cloud Computing</a:t>
            </a:r>
          </a:p>
        </p:txBody>
      </p:sp>
      <p:sp>
        <p:nvSpPr>
          <p:cNvPr id="20" name="Rounded Rectangle 19"/>
          <p:cNvSpPr/>
          <p:nvPr/>
        </p:nvSpPr>
        <p:spPr>
          <a:xfrm>
            <a:off x="59436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05</a:t>
            </a:r>
          </a:p>
        </p:txBody>
      </p:sp>
      <p:sp>
        <p:nvSpPr>
          <p:cNvPr id="22" name="TextBox 21"/>
          <p:cNvSpPr txBox="1"/>
          <p:nvPr/>
        </p:nvSpPr>
        <p:spPr>
          <a:xfrm>
            <a:off x="138074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Cloud-native va mikroservislar</a:t>
            </a:r>
          </a:p>
        </p:txBody>
      </p:sp>
      <p:sp>
        <p:nvSpPr>
          <p:cNvPr id="23" name="Rounded Rectangle 22"/>
          <p:cNvSpPr/>
          <p:nvPr/>
        </p:nvSpPr>
        <p:spPr>
          <a:xfrm>
            <a:off x="626364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06</a:t>
            </a:r>
          </a:p>
        </p:txBody>
      </p:sp>
      <p:sp>
        <p:nvSpPr>
          <p:cNvPr id="25" name="TextBox 24"/>
          <p:cNvSpPr txBox="1"/>
          <p:nvPr/>
        </p:nvSpPr>
        <p:spPr>
          <a:xfrm>
            <a:off x="705002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Integratsiya va istiqbollar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M18 · ASOSIY TUSHUNCHA 1/6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Edge va Fog Computing</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03</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Hisoblashni ma’lumot manbasiga yaqinlashtirish.</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Kampus kamerasi barcha videoni uzatish o‘rniga mahalliy aniqlangan hodisa va kerakli parchani yuboradi.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M18 · ASOSIY TUSHUNCHA 2/6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IoT Cloud</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04</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Sensor ma’lumotni broker yoki shlyuzga yuboradi.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Qurilmalarga bir xil umumiy parol berish butun park xavfsizligini zaiflashtiradi.</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Qurilma, xabar, saqlash va boshqaruv zanjiri.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M18 · ASOSIY TUSHUNCHA 3/6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AI Cloud</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05</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Modelni tayyorlash va undan javob olish xizmatlari.</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AI Cloud ma’lumot tayyorlash, model o‘qitish va inference uchun resurslarni taqdim etadi.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M18 · ASOSIY TUSHUNCHA 4/6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Green Cloud Computing</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06</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Samaradorlik va ekologik ta’sirni birga ko‘rish.</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Bir xil hisobot har daqiqada qayta hisoblanish o‘rniga mos davriylikda yangilanadi; ortiqcha nusxalar o‘chiriladi.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M18 · ASOSIY TUSHUNCHA 5/6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Cloud-native va mikroservislar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07</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Har bir xizmat aniq API va mas’uliyatga ega bo‘ladi.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Kichik jamoa va oddiy tizim uchun yaxshi tuzilgan monolit ba’zan osonroq; mikroservis har doim zarur emas.</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Moslashuvchanlik — ajratilgan xizmat va avtomatlashtirish bilan.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M18 · ASOSIY TUSHUNCHA 6/6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Integratsiya va istiqbollar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08</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Hybrid, multi-cloud va Big Data bir maqsadga xizmat qiladi.</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Zamonaviy arxitektura bitta texnologiyani hamma joyda qo‘llash emas.</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M18 · ARXITEKTURA</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Texnik sxema: qismlar qanday bog‘lanadi?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09</a:t>
            </a:r>
          </a:p>
        </p:txBody>
      </p:sp>
      <p:cxnSp>
        <p:nvCxnSpPr>
          <p:cNvPr id="8" name="Connector 7"/>
          <p:cNvCxnSpPr/>
          <p:nvPr/>
        </p:nvCxnSpPr>
        <p:spPr>
          <a:xfrm>
            <a:off x="347472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9516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114800" y="3246120"/>
            <a:ext cx="502920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486400" y="4956048"/>
            <a:ext cx="118872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5623560" y="3246120"/>
            <a:ext cx="242316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31520" y="2286000"/>
            <a:ext cx="2743200" cy="960120"/>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392" y="2450592"/>
            <a:ext cx="2505456" cy="685800"/>
          </a:xfrm>
          <a:prstGeom prst="rect">
            <a:avLst/>
          </a:prstGeom>
          <a:noFill/>
        </p:spPr>
        <p:txBody>
          <a:bodyPr wrap="square" lIns="27432" rIns="27432" tIns="18288" bIns="0">
            <a:spAutoFit/>
          </a:bodyPr>
          <a:lstStyle/>
          <a:p>
            <a:pPr>
              <a:spcAft>
                <a:spcPts val="1000"/>
              </a:spcAft>
              <a:defRPr sz="1800" b="1">
                <a:solidFill>
                  <a:srgbClr val="FFFFFF"/>
                </a:solidFill>
                <a:latin typeface="DejaVu Sans"/>
              </a:defRPr>
            </a:pPr>
            <a:r>
              <a:t>IoT sensor</a:t>
            </a:r>
          </a:p>
        </p:txBody>
      </p:sp>
      <p:sp>
        <p:nvSpPr>
          <p:cNvPr id="15" name="Rounded Rectangle 14"/>
          <p:cNvSpPr/>
          <p:nvPr/>
        </p:nvSpPr>
        <p:spPr>
          <a:xfrm>
            <a:off x="425196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083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Edge / fog</a:t>
            </a:r>
          </a:p>
        </p:txBody>
      </p:sp>
      <p:sp>
        <p:nvSpPr>
          <p:cNvPr id="17" name="Rounded Rectangle 16"/>
          <p:cNvSpPr/>
          <p:nvPr/>
        </p:nvSpPr>
        <p:spPr>
          <a:xfrm>
            <a:off x="777240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9127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Bulut / Big Data</a:t>
            </a:r>
          </a:p>
        </p:txBody>
      </p:sp>
      <p:sp>
        <p:nvSpPr>
          <p:cNvPr id="19" name="Rounded Rectangle 18"/>
          <p:cNvSpPr/>
          <p:nvPr/>
        </p:nvSpPr>
        <p:spPr>
          <a:xfrm>
            <a:off x="274320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6207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AI / tahlil</a:t>
            </a:r>
          </a:p>
        </p:txBody>
      </p:sp>
      <p:sp>
        <p:nvSpPr>
          <p:cNvPr id="21" name="Rounded Rectangle 20"/>
          <p:cNvSpPr/>
          <p:nvPr/>
        </p:nvSpPr>
        <p:spPr>
          <a:xfrm>
            <a:off x="667512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9399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Qaror / boshqaruv</a:t>
            </a:r>
          </a:p>
        </p:txBody>
      </p:sp>
      <p:sp>
        <p:nvSpPr>
          <p:cNvPr id="23" name="TextBox 22"/>
          <p:cNvSpPr txBox="1"/>
          <p:nvPr/>
        </p:nvSpPr>
        <p:spPr>
          <a:xfrm>
            <a:off x="777240" y="5806440"/>
            <a:ext cx="10789920" cy="347472"/>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O‘qlar: asosiy bog‘lanish yoki boshqaruv yo‘nalishi. Sxema soddalashtirilgan.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M18 · O‘QITUVCHI BAYONI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Universitet portali misolida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10</a:t>
            </a:r>
          </a:p>
        </p:txBody>
      </p:sp>
      <p:sp>
        <p:nvSpPr>
          <p:cNvPr id="8" name="TextBox 7"/>
          <p:cNvSpPr txBox="1"/>
          <p:nvPr/>
        </p:nvSpPr>
        <p:spPr>
          <a:xfrm>
            <a:off x="658368" y="1920240"/>
            <a:ext cx="7040880" cy="150876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Universitet aqlli kampus tizimini qurmoqda. Sensorlar ma’lumot yuboradi, ayrim qarorlar qurilmaga yaqin qabul qilinadi, katta tahlil esa bulutda bajariladi. Yondashuvlar yagona maqsadga xizmat qiladi.</a:t>
            </a:r>
          </a:p>
        </p:txBody>
      </p:sp>
      <p:sp>
        <p:nvSpPr>
          <p:cNvPr id="9" name="Rounded Rectangle 8"/>
          <p:cNvSpPr/>
          <p:nvPr/>
        </p:nvSpPr>
        <p:spPr>
          <a:xfrm>
            <a:off x="685800"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IoT qurilma</a:t>
            </a:r>
          </a:p>
        </p:txBody>
      </p:sp>
      <p:sp>
        <p:nvSpPr>
          <p:cNvPr id="11" name="Rounded Rectangle 10"/>
          <p:cNvSpPr/>
          <p:nvPr/>
        </p:nvSpPr>
        <p:spPr>
          <a:xfrm>
            <a:off x="3584448"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21608"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Edge / fog</a:t>
            </a:r>
          </a:p>
        </p:txBody>
      </p:sp>
      <p:sp>
        <p:nvSpPr>
          <p:cNvPr id="13" name="Rounded Rectangle 12"/>
          <p:cNvSpPr/>
          <p:nvPr/>
        </p:nvSpPr>
        <p:spPr>
          <a:xfrm>
            <a:off x="6483096"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0256"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Bulut tahlili</a:t>
            </a:r>
          </a:p>
        </p:txBody>
      </p:sp>
      <p:sp>
        <p:nvSpPr>
          <p:cNvPr id="15" name="Rounded Rectangle 14"/>
          <p:cNvSpPr/>
          <p:nvPr/>
        </p:nvSpPr>
        <p:spPr>
          <a:xfrm>
            <a:off x="9381744"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18904"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Qaror va xizmat</a:t>
            </a:r>
          </a:p>
        </p:txBody>
      </p:sp>
      <p:sp>
        <p:nvSpPr>
          <p:cNvPr id="17" name="TextBox 16"/>
          <p:cNvSpPr txBox="1"/>
          <p:nvPr/>
        </p:nvSpPr>
        <p:spPr>
          <a:xfrm>
            <a:off x="713232" y="5632704"/>
            <a:ext cx="10789920" cy="365760"/>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Yuqoridagi bloklar — misolning tayanch qismlari; ular har doim chiziqli trafik yo‘li emas.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M18 · ANIQLIK KIRITAMIZ</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Ko‘p uchraydigan noto‘g‘ri xulosalar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11</a:t>
            </a:r>
          </a:p>
        </p:txBody>
      </p:sp>
      <p:sp>
        <p:nvSpPr>
          <p:cNvPr id="8" name="Rounded Rectangle 7"/>
          <p:cNvSpPr/>
          <p:nvPr/>
        </p:nvSpPr>
        <p:spPr>
          <a:xfrm>
            <a:off x="640080" y="1892807"/>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1929384"/>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1</a:t>
            </a:r>
          </a:p>
        </p:txBody>
      </p:sp>
      <p:sp>
        <p:nvSpPr>
          <p:cNvPr id="10" name="TextBox 9"/>
          <p:cNvSpPr txBox="1"/>
          <p:nvPr/>
        </p:nvSpPr>
        <p:spPr>
          <a:xfrm>
            <a:off x="1353312" y="1892807"/>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Atamalar chegarasi barcha manbalarda bir xil emas; amaliy arxitekturada qaysi ish qayerda bajarilishi aniq ko‘rsatiladi.</a:t>
            </a:r>
          </a:p>
        </p:txBody>
      </p:sp>
      <p:sp>
        <p:nvSpPr>
          <p:cNvPr id="11" name="Rounded Rectangle 10"/>
          <p:cNvSpPr/>
          <p:nvPr/>
        </p:nvSpPr>
        <p:spPr>
          <a:xfrm>
            <a:off x="640080" y="3246120"/>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3282696"/>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2</a:t>
            </a:r>
          </a:p>
        </p:txBody>
      </p:sp>
      <p:sp>
        <p:nvSpPr>
          <p:cNvPr id="13" name="TextBox 12"/>
          <p:cNvSpPr txBox="1"/>
          <p:nvPr/>
        </p:nvSpPr>
        <p:spPr>
          <a:xfrm>
            <a:off x="1353312" y="3246120"/>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Karbon ta’sirini baholash uchun metodika kerak; xarajat kamayishi har doim bir xil nisbatda emissiya kamayishini anglatmaydi.</a:t>
            </a:r>
          </a:p>
        </p:txBody>
      </p:sp>
      <p:sp>
        <p:nvSpPr>
          <p:cNvPr id="14" name="Rounded Rectangle 13"/>
          <p:cNvSpPr/>
          <p:nvPr/>
        </p:nvSpPr>
        <p:spPr>
          <a:xfrm>
            <a:off x="640080" y="4599431"/>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636007"/>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3</a:t>
            </a:r>
          </a:p>
        </p:txBody>
      </p:sp>
      <p:sp>
        <p:nvSpPr>
          <p:cNvPr id="16" name="TextBox 15"/>
          <p:cNvSpPr txBox="1"/>
          <p:nvPr/>
        </p:nvSpPr>
        <p:spPr>
          <a:xfrm>
            <a:off x="1353312" y="4599431"/>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Kelajak yo‘nalishlari prognozdir; aniq xizmat, narx va imkoniyatni joriy rasmiy hujjatlar bilan tekshirish kerak.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M18 · YAKUN</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Mavzuning asosiy xulosalari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12</a:t>
            </a:r>
          </a:p>
        </p:txBody>
      </p:sp>
      <p:sp>
        <p:nvSpPr>
          <p:cNvPr id="8" name="Rounded Rectangle 7"/>
          <p:cNvSpPr/>
          <p:nvPr/>
        </p:nvSpPr>
        <p:spPr>
          <a:xfrm>
            <a:off x="640080"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01</a:t>
            </a:r>
          </a:p>
        </p:txBody>
      </p:sp>
      <p:sp>
        <p:nvSpPr>
          <p:cNvPr id="10" name="TextBox 9"/>
          <p:cNvSpPr txBox="1"/>
          <p:nvPr/>
        </p:nvSpPr>
        <p:spPr>
          <a:xfrm>
            <a:off x="859536"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Hisoblashni ma’lumot manbasiga yaqinlashtirish.</a:t>
            </a:r>
          </a:p>
        </p:txBody>
      </p:sp>
      <p:sp>
        <p:nvSpPr>
          <p:cNvPr id="11" name="Rounded Rectangle 10"/>
          <p:cNvSpPr/>
          <p:nvPr/>
        </p:nvSpPr>
        <p:spPr>
          <a:xfrm>
            <a:off x="4498848"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4"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02</a:t>
            </a:r>
          </a:p>
        </p:txBody>
      </p:sp>
      <p:sp>
        <p:nvSpPr>
          <p:cNvPr id="13" name="TextBox 12"/>
          <p:cNvSpPr txBox="1"/>
          <p:nvPr/>
        </p:nvSpPr>
        <p:spPr>
          <a:xfrm>
            <a:off x="4718304"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Modelni tayyorlash va undan javob olish xizmatlari.</a:t>
            </a:r>
          </a:p>
        </p:txBody>
      </p:sp>
      <p:sp>
        <p:nvSpPr>
          <p:cNvPr id="14" name="Rounded Rectangle 13"/>
          <p:cNvSpPr/>
          <p:nvPr/>
        </p:nvSpPr>
        <p:spPr>
          <a:xfrm>
            <a:off x="8357615"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77072"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03</a:t>
            </a:r>
          </a:p>
        </p:txBody>
      </p:sp>
      <p:sp>
        <p:nvSpPr>
          <p:cNvPr id="16" name="TextBox 15"/>
          <p:cNvSpPr txBox="1"/>
          <p:nvPr/>
        </p:nvSpPr>
        <p:spPr>
          <a:xfrm>
            <a:off x="8577072"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Moslashuvchanlik — ajratilgan xizmat va avtomatlashtirish bilan.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M18 · QO‘SHIMCHA O‘QISH</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Manbalar va terminlar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13</a:t>
            </a:r>
          </a:p>
        </p:txBody>
      </p:sp>
      <p:sp>
        <p:nvSpPr>
          <p:cNvPr id="8" name="TextBox 7"/>
          <p:cNvSpPr txBox="1"/>
          <p:nvPr/>
        </p:nvSpPr>
        <p:spPr>
          <a:xfrm>
            <a:off x="685800" y="1920240"/>
            <a:ext cx="10789920" cy="822960"/>
          </a:xfrm>
          <a:prstGeom prst="rect">
            <a:avLst/>
          </a:prstGeom>
          <a:noFill/>
        </p:spPr>
        <p:txBody>
          <a:bodyPr wrap="square" lIns="27432" rIns="27432" tIns="18288" bIns="0">
            <a:spAutoFit/>
          </a:bodyPr>
          <a:lstStyle/>
          <a:p>
            <a:pPr>
              <a:spcAft>
                <a:spcPts val="1000"/>
              </a:spcAft>
              <a:defRPr sz="2100" b="1">
                <a:solidFill>
                  <a:srgbClr val="15365B"/>
                </a:solidFill>
                <a:latin typeface="DejaVu Sans"/>
              </a:defRPr>
            </a:pPr>
            <a:r>
              <a:t>Asos: BTST206 sillabusi, 2027–2028. M1–M18 ma’ruza bo‘limi.</a:t>
            </a:r>
          </a:p>
        </p:txBody>
      </p:sp>
      <p:sp>
        <p:nvSpPr>
          <p:cNvPr id="9" name="TextBox 8"/>
          <p:cNvSpPr txBox="1"/>
          <p:nvPr/>
        </p:nvSpPr>
        <p:spPr>
          <a:xfrm>
            <a:off x="713232" y="2926080"/>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https://www.cncf.io/about/who-we-are/</a:t>
            </a:r>
          </a:p>
        </p:txBody>
      </p:sp>
      <p:sp>
        <p:nvSpPr>
          <p:cNvPr id="10" name="TextBox 9"/>
          <p:cNvSpPr txBox="1"/>
          <p:nvPr/>
        </p:nvSpPr>
        <p:spPr>
          <a:xfrm>
            <a:off x="713232" y="3456432"/>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https://csrc.nist.gov/pubs/sp/500/325/final</a:t>
            </a:r>
          </a:p>
        </p:txBody>
      </p:sp>
      <p:sp>
        <p:nvSpPr>
          <p:cNvPr id="11" name="TextBox 10"/>
          <p:cNvSpPr txBox="1"/>
          <p:nvPr/>
        </p:nvSpPr>
        <p:spPr>
          <a:xfrm>
            <a:off x="713232" y="3986784"/>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https://learn.microsoft.com/azure/architecture/guide/iot/</a:t>
            </a:r>
          </a:p>
        </p:txBody>
      </p:sp>
      <p:sp>
        <p:nvSpPr>
          <p:cNvPr id="12" name="TextBox 11"/>
          <p:cNvSpPr txBox="1"/>
          <p:nvPr/>
        </p:nvSpPr>
        <p:spPr>
          <a:xfrm>
            <a:off x="713232" y="4517136"/>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https://sustainability.google/</a:t>
            </a:r>
          </a:p>
        </p:txBody>
      </p:sp>
      <p:sp>
        <p:nvSpPr>
          <p:cNvPr id="13" name="TextBox 12"/>
          <p:cNvSpPr txBox="1"/>
          <p:nvPr/>
        </p:nvSpPr>
        <p:spPr>
          <a:xfrm>
            <a:off x="713232" y="5650992"/>
            <a:ext cx="10789920" cy="502920"/>
          </a:xfrm>
          <a:prstGeom prst="rect">
            <a:avLst/>
          </a:prstGeom>
          <a:noFill/>
        </p:spPr>
        <p:txBody>
          <a:bodyPr wrap="square" lIns="27432" rIns="27432" tIns="18288" bIns="0">
            <a:spAutoFit/>
          </a:bodyPr>
          <a:lstStyle/>
          <a:p>
            <a:pPr>
              <a:spcAft>
                <a:spcPts val="1000"/>
              </a:spcAft>
              <a:defRPr sz="1600" b="0">
                <a:solidFill>
                  <a:srgbClr val="53687D"/>
                </a:solidFill>
                <a:latin typeface="DejaVu Sans"/>
              </a:defRPr>
            </a:pPr>
            <a:r>
              <a:t>Narx, limit va xizmat nomlarining amaldagi holati rasmiy hujjatlarda tekshiriladi.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