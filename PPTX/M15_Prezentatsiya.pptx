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«Serverless Computing va FaaS» mavzusiga bag‘ishlanadi. Mavzuni murakkab atamalardan emas, kundalik ehtiyojdan boshlaymiz. Talaba rasm yuklaydi. Portal faylni saqlab tez javob qaytaradi, rasmni kichraytirish esa alohida funksiya orqali keyin bajariladi. Bu hodisaga asoslangan arxitekturaning sodda misolidir.</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serverless ning mohiyati tushuntiriladi. 2-bo‘limda faas hayot sikli tushuntiriladi. 3-bo‘limda event-driven arxitektura tushuntiriladi. 4-bo‘limda idempotentlik va qayta urinish tushuntiriladi. 5-bo‘limda afzalliklar va texnik cheklovlar tushuntiriladi. 6-bo‘limda platformalar va xarajat modeli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yondashuvda provayder server ajratish va bajarilish muhitini boshqaradi. Dasturchi biznes vazifasi va ma’lumot oqimiga e’tibor beradi. Resurslar ehtiyojga qarab o‘zgarishi mumkin, lekin xatti-harakat tanlangan xizmatga bog‘liq.</a:t>
            </a:r>
          </a:p>
          <a:p/>
          <a:p>
            <a:r>
              <a:t>So‘rov kelganda xizmat mavjud muhitni ishlatadi yoki yangisini tayyorlaydi. Foydalanish va bajarilish xususiyatlari asosida hisob-kitob yuritiladi.</a:t>
            </a:r>
          </a:p>
          <a:p/>
          <a:p>
            <a:r>
              <a:t>Universitet misolida buni quyidagicha tasavvur qilamiz. Kam chaqiriladigan hisobot funksiyasi uchun doim ishlab turadigan alohida virtual mashina shart bo‘lmasligi mumkin. Bu misolda texnik atama real vazifa bilan bog‘lanadi: resursning nomini emas, nima uchun tanlanganini tushunish muhim.</a:t>
            </a:r>
          </a:p>
          <a:p/>
          <a:p>
            <a:r>
              <a:t>E’tibor beradigan chegara ham bor. Serverless nol xarajat yoki mutlaqo sozlashsiz ishlash degani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FaaS kichik kod birligini hodisa asosida bajarish modelidir. Funksiya kirish ma’lumotini oladi, ishni bajaradi va natija qaytaradi yoki boshqa xizmatga yozadi. Muhim holat tashqi saqlashda turishi kerak.</a:t>
            </a:r>
          </a:p>
          <a:p/>
          <a:p>
            <a:r>
              <a:t>Trigger HTTP, navbat, jadval yoki fayl hodisasi bo‘lishi mumkin. Bajarilish muhiti takror ishlatilishi mumkin, lekin keyingi chaqiruv aynan shu muhitga tushishi kafolatlanmaydi.</a:t>
            </a:r>
          </a:p>
          <a:p/>
          <a:p>
            <a:r>
              <a:t>Universitet misolida buni quyidagicha tasavvur qilamiz. Rasmni qayta ishlovchi funksiya obyekt kalitini oladi, faylni o‘qiydi va kichik nusxani saqlaydi. Bu misolda texnik atama real vazifa bilan bog‘lanadi: resursning nomini emas, nima uchun tanlanganini tushunish muhim.</a:t>
            </a:r>
          </a:p>
          <a:p/>
          <a:p>
            <a:r>
              <a:t>E’tibor beradigan chegara ham bor. Mahalliy xotira yoki vaqtinchalik diskni doimiy ma’lumotlar bazasi deb qabul qilish mumkin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Hodisa tizimda yuz bergan o‘zgarish haqida xabardir. Ishlab chiqaruvchi hodisani yuboradi, iste’molchi esa unga javob beradi. Bu komponentlarni bo‘shroq bog‘lashga va sekin ishni asosiy so‘rovdan ajratishga yordam beradi.</a:t>
            </a:r>
          </a:p>
          <a:p/>
          <a:p>
            <a:r>
              <a:t>Navbat yuklamani yumshatadi va iste’molchi tezligiga mos chiqaradi. Hodisa identifikatori va sxema versiyasi uni xavfsiz qayta ishlashga yordam beradi.</a:t>
            </a:r>
          </a:p>
          <a:p/>
          <a:p>
            <a:r>
              <a:t>Universitet misolida buni quyidagicha tasavvur qilamiz. Talaba ro‘yxatdan o‘tganda xabarnoma yuborish va statistika yangilash alohida iste’molchilar tomonidan bajariladi. Bu misolda texnik atama real vazifa bilan bog‘lanadi: resursning nomini emas, nima uchun tanlanganini tushunish muhim.</a:t>
            </a:r>
          </a:p>
          <a:p/>
          <a:p>
            <a:r>
              <a:t>E’tibor beradigan chegara ham bor. Hodisalar tartibi va yetkazilish kafolati xizmatga bog‘liq; hamma xabar bir marta keladi deb taxmin qilinmaydi.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Idempotent amal bir xil kirish bilan qayta bajarilganda mantiqan ortiqcha natija yaratmaydi. Serverless va navbat tizimlarida takroriy yetkazilish odatiy xavfdir. Shu sababli qayta ishlash identifikatori va atomar tekshiruv muhim.</a:t>
            </a:r>
          </a:p>
          <a:p/>
          <a:p>
            <a:r>
              <a:t>Funksiya hodisa ID sini tekshiradi. Bajarilgan ishni qayta hisoblamaydi yoki yozuvni xavfsiz yangilaydi. Muvaffaqiyatsiz xabarlar cheklangan takrorlashdan keyin alohida xato navbatiga yuboriladi.</a:t>
            </a:r>
          </a:p>
          <a:p/>
          <a:p>
            <a:r>
              <a:t>Universitet misolida buni quyidagicha tasavvur qilamiz. Bir rasm hodisasi ikki marta kelsa ham, bitta mantiqiy thumbnail natijasi hosil qilinadi. Bu misolda texnik atama real vazifa bilan bog‘lanadi: resursning nomini emas, nima uchun tanlanganini tushunish muhim.</a:t>
            </a:r>
          </a:p>
          <a:p/>
          <a:p>
            <a:r>
              <a:t>E’tibor beradigan chegara ham bor. Oddiy tekshir-keyin-yoz usuli parallel bajarilishda poyga holatini keltirishi mumkin; atomar mexanizm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kichik mustaqil vazifalar, o‘zgaruvchan yuklama va tez ishga tushirish uchun foydali. Sovuq start yangi muhitni tayyorlash kechikishidir. Vaqt, xotira, paket hajmi va parallel bajarilish limitlari mavjud.</a:t>
            </a:r>
          </a:p>
          <a:p/>
          <a:p>
            <a:r>
              <a:t>Bog‘liqliklar ixchamlanadi, ulanishlar boshqariladi va zarur joyda tayyor quvvat imkoniyatlari baholanadi. Uzoq ishlar navbat yoki workflow orqali bo‘linadi.</a:t>
            </a:r>
          </a:p>
          <a:p/>
          <a:p>
            <a:r>
              <a:t>Universitet misolida buni quyidagicha tasavvur qilamiz. Rasm tekshiruvi funksiya uchun mos, juda uzoq ishlaydigan maxsus hisoblash esa boshqa platformani talab qilishi mumkin. Bu misolda texnik atama real vazifa bilan bog‘lanadi: resursning nomini emas, nima uchun tanlanganini tushunish muhim.</a:t>
            </a:r>
          </a:p>
          <a:p/>
          <a:p>
            <a:r>
              <a:t>E’tibor beradigan chegara ham bor. Har qanday monolitni o‘zgartirmasdan bitta funksiyaga joylash yaxshi natija bermaydi.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Turli platformalar hodisa, bajarilish muhiti va boshqaruv imkoniyatlari bilan farqlanadi. Kod o‘xshash bo‘lsa ham IAM, trigger va kuzatuv integratsiyasi boshqacha. Umumiy xarajat faqat funksiya chaqiruvidan iborat emas.</a:t>
            </a:r>
          </a:p>
          <a:p/>
          <a:p>
            <a:r>
              <a:t>Chaqiruvlar soni, bajarilish muddati va ajratilgan resurs hisoblanadi. API shlyuzi, navbat, loglar, baza va trafik ham umumiy smetaga qo‘shiladi.</a:t>
            </a:r>
          </a:p>
          <a:p/>
          <a:p>
            <a:r>
              <a:t>Universitet misolida buni quyidagicha tasavvur qilamiz. Minglab juda qisqa hodisa uchun qulay model, tinimsiz katta yuklama uchun esa boshqa hisoblash bilan solishtiriladi. Bu misolda texnik atama real vazifa bilan bog‘lanadi: resursning nomini emas, nima uchun tanlanganini tushunish muhim.</a:t>
            </a:r>
          </a:p>
          <a:p/>
          <a:p>
            <a:r>
              <a:t>E’tibor beradigan chegara ham bor. Bepul kvota va tariflarni doimiy raqam sifatida yodlash o‘rniga amaldagi rasmiy narx tekshiriladi.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«Hodisa manbasi» bilan «Navbat / trigger» o‘rtasida sxemada bog‘lanish ko‘rsatilgan. «Navbat / trigger» bilan «Funksiya» o‘rtasida sxemada bog‘lanish ko‘rsatilgan. «Funksiya» bilan «Natija saqlash» o‘rtasida sxemada bog‘lanish ko‘rsatilgan. «Funksiya» bilan «Xato navbati» o‘rtasida sxemada bog‘lanish ko‘rsatilgan.</a:t>
            </a:r>
          </a:p>
          <a:p/>
          <a:p>
            <a:r>
              <a:t>Bu bog‘lanishlarni barcha xizmatlarda bir xil buyruq yoki bir xil fizik kabel deb tushunmaymiz. Ayrim o‘qlar bajarilish ketma-ketligini, ayrimlari resursni boshqarish yoki unga kirish aloqasini anglatadi. Trigger HTTP, navbat, jadval yoki fayl hodisasi bo‘lishi mumkin. Bajarilish muhiti takror ishlatilishi mumkin, lekin keyingi chaqiruv aynan shu muhitga tushishi kafolatlanmaydi.</a:t>
            </a:r>
          </a:p>
          <a:p/>
          <a:p>
            <a:r>
              <a:t>Sxemaning asosiy foydasi mas’uliyatlarni ajratib ko‘rsatishdir. Rasm tekshiruvi funksiya uchun mos, juda uzoq ishlaydigan maxsus hisoblash esa boshqa platformani talab qilishi mumkin.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Talaba rasm yuklaydi. Portal faylni saqlab tez javob qaytaradi, rasmni kichraytirish esa alohida funksiya orqali keyin bajariladi. Bu hodisaga asoslangan arxitekturaning sodda misolidir.</a:t>
            </a:r>
          </a:p>
          <a:p/>
          <a:p>
            <a:r>
              <a:t>Avval ehtiyoj aniqlanadi: kim tizimdan foydalanadi, qaysi ma’lumot bilan ishlanadi va qanday natija kutiladi. Kam chaqiriladigan hisobot funksiyasi uchun doim ishlab turadigan alohida virtual mashina shart bo‘lmasligi mumkin. Keyin texnik qismlar shu talabga mos tanlanadi. Talaba ro‘yxatdan o‘tganda xabarnoma yuborish va statistika yangilash alohida iste’molchilar tomonidan bajariladi.</a:t>
            </a:r>
          </a:p>
          <a:p/>
          <a:p>
            <a:r>
              <a:t>Ishlash jarayonida faqat muvaffaqiyatli holat emas, xato va cheklovlar ham hisobga olinadi. Oddiy tekshir-keyin-yoz usuli parallel bajarilishda poyga holatini keltirishi mumkin; atomar mexanizm kerak. Shu sababli jamoa talabni, ruxsatni va nosozlikdagi xatti-harakatni oldindan belgilaydi. Minglab juda qisqa hodisa uchun qulay model, tinimsiz katta yuklama uchun esa boshqa hisoblash bilan solishtiriladi.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Serverless nol xarajat yoki mutlaqo sozlashsiz ishlash degani emas. To‘g‘ri talqin quyidagicha: Serverless yondashuvda provayder server ajratish va bajarilish muhitini boshqaradi. Dasturchi biznes vazifasi va ma’lumot oqimiga e’tibor beradi. Resurslar ehtiyojga qarab o‘zgarishi mumkin, lekin xatti-harakat tanlangan xizmatga bog‘liq.</a:t>
            </a:r>
          </a:p>
          <a:p/>
          <a:p>
            <a:r>
              <a:t>2. Oddiy tekshir-keyin-yoz usuli parallel bajarilishda poyga holatini keltirishi mumkin; atomar mexanizm kerak. To‘g‘ri talqin quyidagicha: Idempotent amal bir xil kirish bilan qayta bajarilganda mantiqan ortiqcha natija yaratmaydi. Serverless va navbat tizimlarida takroriy yetkazilish odatiy xavfdir. Shu sababli qayta ishlash identifikatori va atomar tekshiruv muhim.</a:t>
            </a:r>
          </a:p>
          <a:p/>
          <a:p>
            <a:r>
              <a:t>3. Bepul kvota va tariflarni doimiy raqam sifatida yodlash o‘rniga amaldagi rasmiy narx tekshiriladi. To‘g‘ri talqin quyidagicha: Turli platformalar hodisa, bajarilish muhiti va boshqaruv imkoniyatlari bilan farqlanadi. Kod o‘xshash bo‘lsa ham IAM, trigger va kuzatuv integratsiyasi boshqacha. Umumiy xarajat faqat funksiya chaqiruvidan iborat emas.</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Hodisa keladi — funksiya ishga tushadi — mavzuning umumiy mazmunini ifodalaydi.</a:t>
            </a:r>
          </a:p>
          <a:p/>
          <a:p>
            <a:r>
              <a:t>Asosiy tayanch fikr: Server boshqaruvi yashiriladi, kod va hodisa markazga chiqadi. So‘rov kelganda xizmat mavjud muhitni ishlatadi yoki yangisini tayyorlaydi. Foydalanish va bajarilish xususiyatlari asosida hisob-kitob yuritiladi.</a:t>
            </a:r>
          </a:p>
          <a:p/>
          <a:p>
            <a:r>
              <a:t>Asosiy tayanch fikr: Komponentlar hodisalar orqali bog‘lanadi. Navbat yuklamani yumshatadi va iste’molchi tezligiga mos chiqaradi. Hodisa identifikatori va sxema versiyasi uni xavfsiz qayta ishlashga yordam beradi.</a:t>
            </a:r>
          </a:p>
          <a:p/>
          <a:p>
            <a:r>
              <a:t>Asosiy tayanch fikr: Tez rivojlantirish ↔ limit va sovuq start. Bog‘liqliklar ixchamlanadi, ulanishlar boshqariladi va zarur joyda tayyor quvvat imkoniyatlari baholanadi. Uzoq ishlar navbat yoki workflow orqali bo‘linadi.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7909560" y="0"/>
            <a:ext cx="4288536" cy="6858000"/>
          </a:xfrm>
          <a:prstGeom prst="rect">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ightning Bolt 2"/>
          <p:cNvSpPr/>
          <p:nvPr/>
        </p:nvSpPr>
        <p:spPr>
          <a:xfrm>
            <a:off x="8796528" y="621792"/>
            <a:ext cx="2130552" cy="3017520"/>
          </a:xfrm>
          <a:prstGeom prst="lightningBol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5_knative.png"/>
          <p:cNvPicPr>
            <a:picLocks noChangeAspect="1"/>
          </p:cNvPicPr>
          <p:nvPr/>
        </p:nvPicPr>
        <p:blipFill>
          <a:blip r:embed="rId2"/>
          <a:stretch>
            <a:fillRect/>
          </a:stretch>
        </p:blipFill>
        <p:spPr>
          <a:xfrm>
            <a:off x="8927199" y="4133087"/>
            <a:ext cx="1640609" cy="1325880"/>
          </a:xfrm>
          <a:prstGeom prst="rect">
            <a:avLst/>
          </a:prstGeom>
        </p:spPr>
      </p:pic>
      <p:sp>
        <p:nvSpPr>
          <p:cNvPr id="5" name="TextBox 4"/>
          <p:cNvSpPr txBox="1"/>
          <p:nvPr/>
        </p:nvSpPr>
        <p:spPr>
          <a:xfrm>
            <a:off x="777240" y="731520"/>
            <a:ext cx="6400800" cy="457200"/>
          </a:xfrm>
          <a:prstGeom prst="rect">
            <a:avLst/>
          </a:prstGeom>
          <a:noFill/>
        </p:spPr>
        <p:txBody>
          <a:bodyPr wrap="square" lIns="27432" rIns="27432" tIns="18288" bIns="0">
            <a:spAutoFit/>
          </a:bodyPr>
          <a:lstStyle/>
          <a:p>
            <a:pPr>
              <a:spcAft>
                <a:spcPts val="800"/>
              </a:spcAft>
              <a:defRPr sz="1500" b="1">
                <a:solidFill>
                  <a:srgbClr val="1555A3"/>
                </a:solidFill>
                <a:latin typeface="DejaVu Sans"/>
              </a:defRPr>
            </a:pPr>
            <a:r>
              <a:t>15  /  HODISAGA ASOSLANGAN HISOBLASH</a:t>
            </a:r>
          </a:p>
        </p:txBody>
      </p:sp>
      <p:sp>
        <p:nvSpPr>
          <p:cNvPr id="6" name="TextBox 5"/>
          <p:cNvSpPr txBox="1"/>
          <p:nvPr/>
        </p:nvSpPr>
        <p:spPr>
          <a:xfrm>
            <a:off x="777240" y="1645920"/>
            <a:ext cx="6583680" cy="2194560"/>
          </a:xfrm>
          <a:prstGeom prst="rect">
            <a:avLst/>
          </a:prstGeom>
          <a:noFill/>
        </p:spPr>
        <p:txBody>
          <a:bodyPr wrap="square" lIns="27432" rIns="27432" tIns="18288" bIns="0">
            <a:spAutoFit/>
          </a:bodyPr>
          <a:lstStyle/>
          <a:p>
            <a:pPr>
              <a:spcAft>
                <a:spcPts val="800"/>
              </a:spcAft>
              <a:defRPr sz="4000" b="1">
                <a:solidFill>
                  <a:srgbClr val="18324F"/>
                </a:solidFill>
                <a:latin typeface="DejaVu Sans"/>
              </a:defRPr>
            </a:pPr>
            <a:r>
              <a:t>Serverless</a:t>
            </a:r>
          </a:p>
          <a:p>
            <a:pPr>
              <a:spcAft>
                <a:spcPts val="800"/>
              </a:spcAft>
              <a:defRPr sz="4000" b="1">
                <a:solidFill>
                  <a:srgbClr val="18324F"/>
                </a:solidFill>
                <a:latin typeface="DejaVu Sans"/>
              </a:defRPr>
            </a:pPr>
            <a:r>
              <a:t>Computing va FaaS</a:t>
            </a:r>
          </a:p>
        </p:txBody>
      </p:sp>
      <p:sp>
        <p:nvSpPr>
          <p:cNvPr id="7" name="TextBox 6"/>
          <p:cNvSpPr txBox="1"/>
          <p:nvPr/>
        </p:nvSpPr>
        <p:spPr>
          <a:xfrm>
            <a:off x="795528" y="4297680"/>
            <a:ext cx="6446520" cy="822960"/>
          </a:xfrm>
          <a:prstGeom prst="rect">
            <a:avLst/>
          </a:prstGeom>
          <a:noFill/>
        </p:spPr>
        <p:txBody>
          <a:bodyPr wrap="square" lIns="27432" rIns="27432" tIns="18288" bIns="0">
            <a:spAutoFit/>
          </a:bodyPr>
          <a:lstStyle/>
          <a:p>
            <a:pPr>
              <a:spcAft>
                <a:spcPts val="800"/>
              </a:spcAft>
              <a:defRPr sz="2600" b="1">
                <a:solidFill>
                  <a:srgbClr val="1555A3"/>
                </a:solidFill>
                <a:latin typeface="DejaVu Sans"/>
              </a:defRPr>
            </a:pPr>
            <a:r>
              <a:t>Hodisa keladi — funksiya ishga tushadi</a:t>
            </a:r>
          </a:p>
        </p:txBody>
      </p:sp>
      <p:sp>
        <p:nvSpPr>
          <p:cNvPr id="8" name="TextBox 7"/>
          <p:cNvSpPr txBox="1"/>
          <p:nvPr/>
        </p:nvSpPr>
        <p:spPr>
          <a:xfrm>
            <a:off x="795528" y="5559552"/>
            <a:ext cx="6400800" cy="502920"/>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Trigger → kod → natija</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Ma’ruza yo‘li: hodisadan natijagacha</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02 / 13</a:t>
            </a:r>
          </a:p>
        </p:txBody>
      </p:sp>
      <p:cxnSp>
        <p:nvCxnSpPr>
          <p:cNvPr id="11" name="Connector 10"/>
          <p:cNvCxnSpPr/>
          <p:nvPr/>
        </p:nvCxnSpPr>
        <p:spPr>
          <a:xfrm>
            <a:off x="3657600" y="2212848"/>
            <a:ext cx="731520"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2960" y="1920240"/>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020824"/>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1</a:t>
            </a:r>
          </a:p>
        </p:txBody>
      </p:sp>
      <p:sp>
        <p:nvSpPr>
          <p:cNvPr id="14" name="TextBox 13"/>
          <p:cNvSpPr txBox="1"/>
          <p:nvPr/>
        </p:nvSpPr>
        <p:spPr>
          <a:xfrm>
            <a:off x="822960" y="2706624"/>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Serverless ning mohiyati</a:t>
            </a:r>
          </a:p>
        </p:txBody>
      </p:sp>
      <p:cxnSp>
        <p:nvCxnSpPr>
          <p:cNvPr id="15" name="Connector 14"/>
          <p:cNvCxnSpPr/>
          <p:nvPr/>
        </p:nvCxnSpPr>
        <p:spPr>
          <a:xfrm>
            <a:off x="7370064" y="2212848"/>
            <a:ext cx="731519"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35424" y="1920240"/>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2020824"/>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2</a:t>
            </a:r>
          </a:p>
        </p:txBody>
      </p:sp>
      <p:sp>
        <p:nvSpPr>
          <p:cNvPr id="18" name="TextBox 17"/>
          <p:cNvSpPr txBox="1"/>
          <p:nvPr/>
        </p:nvSpPr>
        <p:spPr>
          <a:xfrm>
            <a:off x="4535424" y="2706624"/>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FaaS hayot sikli</a:t>
            </a:r>
          </a:p>
        </p:txBody>
      </p:sp>
      <p:sp>
        <p:nvSpPr>
          <p:cNvPr id="19" name="Oval 18"/>
          <p:cNvSpPr/>
          <p:nvPr/>
        </p:nvSpPr>
        <p:spPr>
          <a:xfrm>
            <a:off x="8247888" y="1920240"/>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020824"/>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3</a:t>
            </a:r>
          </a:p>
        </p:txBody>
      </p:sp>
      <p:sp>
        <p:nvSpPr>
          <p:cNvPr id="21" name="TextBox 20"/>
          <p:cNvSpPr txBox="1"/>
          <p:nvPr/>
        </p:nvSpPr>
        <p:spPr>
          <a:xfrm>
            <a:off x="8247888" y="2706624"/>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Event-driven arxitektura</a:t>
            </a:r>
          </a:p>
        </p:txBody>
      </p:sp>
      <p:cxnSp>
        <p:nvCxnSpPr>
          <p:cNvPr id="22" name="Connector 21"/>
          <p:cNvCxnSpPr/>
          <p:nvPr/>
        </p:nvCxnSpPr>
        <p:spPr>
          <a:xfrm>
            <a:off x="3657600" y="4160520"/>
            <a:ext cx="731520"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22960" y="3867912"/>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3968496"/>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4</a:t>
            </a:r>
          </a:p>
        </p:txBody>
      </p:sp>
      <p:sp>
        <p:nvSpPr>
          <p:cNvPr id="25" name="TextBox 24"/>
          <p:cNvSpPr txBox="1"/>
          <p:nvPr/>
        </p:nvSpPr>
        <p:spPr>
          <a:xfrm>
            <a:off x="822960" y="4654296"/>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Idempotentlik va qayta urinish</a:t>
            </a:r>
          </a:p>
        </p:txBody>
      </p:sp>
      <p:cxnSp>
        <p:nvCxnSpPr>
          <p:cNvPr id="26" name="Connector 25"/>
          <p:cNvCxnSpPr/>
          <p:nvPr/>
        </p:nvCxnSpPr>
        <p:spPr>
          <a:xfrm>
            <a:off x="7370064" y="4160520"/>
            <a:ext cx="731519"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535424" y="3867912"/>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0288" y="3968496"/>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5</a:t>
            </a:r>
          </a:p>
        </p:txBody>
      </p:sp>
      <p:sp>
        <p:nvSpPr>
          <p:cNvPr id="29" name="TextBox 28"/>
          <p:cNvSpPr txBox="1"/>
          <p:nvPr/>
        </p:nvSpPr>
        <p:spPr>
          <a:xfrm>
            <a:off x="4535424" y="4654296"/>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Afzalliklar va texnik cheklovlar</a:t>
            </a:r>
          </a:p>
        </p:txBody>
      </p:sp>
      <p:sp>
        <p:nvSpPr>
          <p:cNvPr id="30" name="Oval 29"/>
          <p:cNvSpPr/>
          <p:nvPr/>
        </p:nvSpPr>
        <p:spPr>
          <a:xfrm>
            <a:off x="8247888" y="3867912"/>
            <a:ext cx="557784" cy="557784"/>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02752" y="3968496"/>
            <a:ext cx="457200" cy="365760"/>
          </a:xfrm>
          <a:prstGeom prst="rect">
            <a:avLst/>
          </a:prstGeom>
          <a:noFill/>
        </p:spPr>
        <p:txBody>
          <a:bodyPr wrap="square" lIns="27432" rIns="27432" tIns="18288" bIns="0">
            <a:spAutoFit/>
          </a:bodyPr>
          <a:lstStyle/>
          <a:p>
            <a:pPr algn="ctr">
              <a:spcAft>
                <a:spcPts val="800"/>
              </a:spcAft>
              <a:defRPr sz="2300" b="1">
                <a:solidFill>
                  <a:srgbClr val="18324F"/>
                </a:solidFill>
                <a:latin typeface="DejaVu Sans"/>
              </a:defRPr>
            </a:pPr>
            <a:r>
              <a:t>6</a:t>
            </a:r>
          </a:p>
        </p:txBody>
      </p:sp>
      <p:sp>
        <p:nvSpPr>
          <p:cNvPr id="32" name="TextBox 31"/>
          <p:cNvSpPr txBox="1"/>
          <p:nvPr/>
        </p:nvSpPr>
        <p:spPr>
          <a:xfrm>
            <a:off x="8247888" y="4654296"/>
            <a:ext cx="3401568" cy="960120"/>
          </a:xfrm>
          <a:prstGeom prst="rect">
            <a:avLst/>
          </a:prstGeom>
          <a:noFill/>
        </p:spPr>
        <p:txBody>
          <a:bodyPr wrap="square" lIns="27432" rIns="27432" tIns="18288" bIns="0">
            <a:spAutoFit/>
          </a:bodyPr>
          <a:lstStyle/>
          <a:p>
            <a:pPr>
              <a:spcAft>
                <a:spcPts val="800"/>
              </a:spcAft>
              <a:defRPr sz="2300" b="1">
                <a:solidFill>
                  <a:srgbClr val="18324F"/>
                </a:solidFill>
                <a:latin typeface="DejaVu Sans"/>
              </a:defRPr>
            </a:pPr>
            <a:r>
              <a:t>Platformalar va xarajat modeli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Serverless ning mohiyati</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03 / 13</a:t>
            </a:r>
          </a:p>
        </p:txBody>
      </p:sp>
      <p:sp>
        <p:nvSpPr>
          <p:cNvPr id="11" name="Lightning Bolt 10"/>
          <p:cNvSpPr/>
          <p:nvPr/>
        </p:nvSpPr>
        <p:spPr>
          <a:xfrm>
            <a:off x="868680" y="1993392"/>
            <a:ext cx="960120" cy="1554480"/>
          </a:xfrm>
          <a:prstGeom prst="lightningBol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20" y="1947672"/>
            <a:ext cx="5852160" cy="1078992"/>
          </a:xfrm>
          <a:prstGeom prst="rect">
            <a:avLst/>
          </a:prstGeom>
          <a:noFill/>
        </p:spPr>
        <p:txBody>
          <a:bodyPr wrap="square" lIns="27432" rIns="27432" tIns="18288" bIns="0">
            <a:spAutoFit/>
          </a:bodyPr>
          <a:lstStyle/>
          <a:p>
            <a:pPr>
              <a:spcAft>
                <a:spcPts val="800"/>
              </a:spcAft>
              <a:defRPr sz="2900" b="1">
                <a:solidFill>
                  <a:srgbClr val="18324F"/>
                </a:solidFill>
                <a:latin typeface="DejaVu Sans"/>
              </a:defRPr>
            </a:pPr>
            <a:r>
              <a:t>Server boshqaruvi yashiriladi, kod va hodisa markazga chiqadi.</a:t>
            </a:r>
          </a:p>
        </p:txBody>
      </p:sp>
      <p:sp>
        <p:nvSpPr>
          <p:cNvPr id="13" name="TextBox 12"/>
          <p:cNvSpPr txBox="1"/>
          <p:nvPr/>
        </p:nvSpPr>
        <p:spPr>
          <a:xfrm>
            <a:off x="868680" y="3831336"/>
            <a:ext cx="6675120" cy="1463040"/>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Serverless yondashuvda provayder server ajratish va bajarilish muhitini boshqaradi.</a:t>
            </a:r>
          </a:p>
        </p:txBody>
      </p:sp>
      <p:pic>
        <p:nvPicPr>
          <p:cNvPr id="14" name="Picture 13" descr="M15_knative.png"/>
          <p:cNvPicPr>
            <a:picLocks noChangeAspect="1"/>
          </p:cNvPicPr>
          <p:nvPr/>
        </p:nvPicPr>
        <p:blipFill>
          <a:blip r:embed="rId2"/>
          <a:stretch>
            <a:fillRect/>
          </a:stretch>
        </p:blipFill>
        <p:spPr>
          <a:xfrm>
            <a:off x="8229600" y="1959148"/>
            <a:ext cx="2788920" cy="2253902"/>
          </a:xfrm>
          <a:prstGeom prst="rect">
            <a:avLst/>
          </a:prstGeom>
        </p:spPr>
      </p:pic>
      <p:sp>
        <p:nvSpPr>
          <p:cNvPr id="15" name="TextBox 14"/>
          <p:cNvSpPr txBox="1"/>
          <p:nvPr/>
        </p:nvSpPr>
        <p:spPr>
          <a:xfrm>
            <a:off x="8092440" y="4553712"/>
            <a:ext cx="3291840" cy="621792"/>
          </a:xfrm>
          <a:prstGeom prst="rect">
            <a:avLst/>
          </a:prstGeom>
          <a:noFill/>
        </p:spPr>
        <p:txBody>
          <a:bodyPr wrap="square" lIns="27432" rIns="27432" tIns="18288" bIns="0">
            <a:spAutoFit/>
          </a:bodyPr>
          <a:lstStyle/>
          <a:p>
            <a:pPr>
              <a:spcAft>
                <a:spcPts val="800"/>
              </a:spcAft>
              <a:defRPr sz="1900" b="0">
                <a:solidFill>
                  <a:srgbClr val="1555A3"/>
                </a:solidFill>
                <a:latin typeface="DejaVu Sans"/>
              </a:defRPr>
            </a:pPr>
            <a:r>
              <a:t>Knative — ochiq serverless loyiha.</a:t>
            </a:r>
          </a:p>
        </p:txBody>
      </p:sp>
      <p:sp>
        <p:nvSpPr>
          <p:cNvPr id="16" name="Rounded Rectangle 15"/>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Serverless nol xarajat yoki mutlaqo sozlashsiz ishlash degani 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FaaS hayot sikli</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04 / 13</a:t>
            </a:r>
          </a:p>
        </p:txBody>
      </p:sp>
      <p:sp>
        <p:nvSpPr>
          <p:cNvPr id="11" name="TextBox 10"/>
          <p:cNvSpPr txBox="1"/>
          <p:nvPr/>
        </p:nvSpPr>
        <p:spPr>
          <a:xfrm>
            <a:off x="868680" y="1856231"/>
            <a:ext cx="10442448" cy="804672"/>
          </a:xfrm>
          <a:prstGeom prst="rect">
            <a:avLst/>
          </a:prstGeom>
          <a:noFill/>
        </p:spPr>
        <p:txBody>
          <a:bodyPr wrap="square" lIns="27432" rIns="27432" tIns="18288" bIns="0">
            <a:spAutoFit/>
          </a:bodyPr>
          <a:lstStyle/>
          <a:p>
            <a:pPr>
              <a:spcAft>
                <a:spcPts val="800"/>
              </a:spcAft>
              <a:defRPr sz="2900" b="1">
                <a:solidFill>
                  <a:srgbClr val="18324F"/>
                </a:solidFill>
                <a:latin typeface="DejaVu Sans"/>
              </a:defRPr>
            </a:pPr>
            <a:r>
              <a:t>Trigger → kod → natija → tugash.</a:t>
            </a:r>
          </a:p>
        </p:txBody>
      </p:sp>
      <p:sp>
        <p:nvSpPr>
          <p:cNvPr id="12" name="TextBox 11"/>
          <p:cNvSpPr txBox="1"/>
          <p:nvPr/>
        </p:nvSpPr>
        <p:spPr>
          <a:xfrm>
            <a:off x="868680" y="2889504"/>
            <a:ext cx="10378440" cy="905256"/>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FaaS kichik kod birligini hodisa asosida bajarish modelidir. Funksiya kirish ma’lumotini oladi, ishni bajaradi va natija qaytaradi yoki boshqa xizmatga yozadi.</a:t>
            </a:r>
          </a:p>
        </p:txBody>
      </p:sp>
      <p:cxnSp>
        <p:nvCxnSpPr>
          <p:cNvPr id="13" name="Connector 12"/>
          <p:cNvCxnSpPr/>
          <p:nvPr/>
        </p:nvCxnSpPr>
        <p:spPr>
          <a:xfrm>
            <a:off x="312724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Trigger</a:t>
            </a:r>
          </a:p>
        </p:txBody>
      </p:sp>
      <p:cxnSp>
        <p:nvCxnSpPr>
          <p:cNvPr id="16" name="Connector 15"/>
          <p:cNvCxnSpPr/>
          <p:nvPr/>
        </p:nvCxnSpPr>
        <p:spPr>
          <a:xfrm>
            <a:off x="596188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1188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3075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Kod</a:t>
            </a:r>
          </a:p>
        </p:txBody>
      </p:sp>
      <p:cxnSp>
        <p:nvCxnSpPr>
          <p:cNvPr id="19" name="Connector 18"/>
          <p:cNvCxnSpPr/>
          <p:nvPr/>
        </p:nvCxnSpPr>
        <p:spPr>
          <a:xfrm>
            <a:off x="879652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44652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Tashqi saqlash</a:t>
            </a:r>
          </a:p>
        </p:txBody>
      </p:sp>
      <p:sp>
        <p:nvSpPr>
          <p:cNvPr id="22" name="Rounded Rectangle 21"/>
          <p:cNvSpPr/>
          <p:nvPr/>
        </p:nvSpPr>
        <p:spPr>
          <a:xfrm>
            <a:off x="928116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Kuzatuv</a:t>
            </a:r>
          </a:p>
        </p:txBody>
      </p:sp>
      <p:sp>
        <p:nvSpPr>
          <p:cNvPr id="24" name="Rounded Rectangle 23"/>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Mahalliy xotira yoki vaqtinchalik diskni doimiy ma’lumotlar bazasi deb qabul qilish mumkin emas.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Event-driven arxitektura</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05 / 13</a:t>
            </a:r>
          </a:p>
        </p:txBody>
      </p:sp>
      <p:sp>
        <p:nvSpPr>
          <p:cNvPr id="11" name="TextBox 10"/>
          <p:cNvSpPr txBox="1"/>
          <p:nvPr/>
        </p:nvSpPr>
        <p:spPr>
          <a:xfrm>
            <a:off x="868680" y="1856231"/>
            <a:ext cx="10442448" cy="804672"/>
          </a:xfrm>
          <a:prstGeom prst="rect">
            <a:avLst/>
          </a:prstGeom>
          <a:noFill/>
        </p:spPr>
        <p:txBody>
          <a:bodyPr wrap="square" lIns="27432" rIns="27432" tIns="18288" bIns="0">
            <a:spAutoFit/>
          </a:bodyPr>
          <a:lstStyle/>
          <a:p>
            <a:pPr>
              <a:spcAft>
                <a:spcPts val="800"/>
              </a:spcAft>
              <a:defRPr sz="2900" b="1">
                <a:solidFill>
                  <a:srgbClr val="18324F"/>
                </a:solidFill>
                <a:latin typeface="DejaVu Sans"/>
              </a:defRPr>
            </a:pPr>
            <a:r>
              <a:t>Komponentlar hodisalar orqali bog‘lanadi.</a:t>
            </a:r>
          </a:p>
        </p:txBody>
      </p:sp>
      <p:sp>
        <p:nvSpPr>
          <p:cNvPr id="12" name="TextBox 11"/>
          <p:cNvSpPr txBox="1"/>
          <p:nvPr/>
        </p:nvSpPr>
        <p:spPr>
          <a:xfrm>
            <a:off x="868680" y="2889504"/>
            <a:ext cx="10378440" cy="905256"/>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Hodisa tizimda yuz bergan o‘zgarish haqida xabardir. Ishlab chiqaruvchi hodisani yuboradi, iste’molchi esa unga javob beradi.</a:t>
            </a:r>
          </a:p>
        </p:txBody>
      </p:sp>
      <p:cxnSp>
        <p:nvCxnSpPr>
          <p:cNvPr id="13" name="Connector 12"/>
          <p:cNvCxnSpPr/>
          <p:nvPr/>
        </p:nvCxnSpPr>
        <p:spPr>
          <a:xfrm>
            <a:off x="312724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Ishlab chiqaruvchi</a:t>
            </a:r>
          </a:p>
        </p:txBody>
      </p:sp>
      <p:cxnSp>
        <p:nvCxnSpPr>
          <p:cNvPr id="16" name="Connector 15"/>
          <p:cNvCxnSpPr/>
          <p:nvPr/>
        </p:nvCxnSpPr>
        <p:spPr>
          <a:xfrm>
            <a:off x="596188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1188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3075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Hodisa / navbat</a:t>
            </a:r>
          </a:p>
        </p:txBody>
      </p:sp>
      <p:cxnSp>
        <p:nvCxnSpPr>
          <p:cNvPr id="19" name="Connector 18"/>
          <p:cNvCxnSpPr/>
          <p:nvPr/>
        </p:nvCxnSpPr>
        <p:spPr>
          <a:xfrm>
            <a:off x="8796528" y="4727448"/>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44652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Iste’molchi</a:t>
            </a:r>
          </a:p>
        </p:txBody>
      </p:sp>
      <p:sp>
        <p:nvSpPr>
          <p:cNvPr id="22" name="Rounded Rectangle 21"/>
          <p:cNvSpPr/>
          <p:nvPr/>
        </p:nvSpPr>
        <p:spPr>
          <a:xfrm>
            <a:off x="9281160" y="4279392"/>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4462272"/>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Natija</a:t>
            </a:r>
          </a:p>
        </p:txBody>
      </p:sp>
      <p:sp>
        <p:nvSpPr>
          <p:cNvPr id="24" name="Rounded Rectangle 23"/>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Hodisalar tartibi va yetkazilish kafolati xizmatga bog‘liq; hamma xabar bir marta keladi deb taxmin qilinmaydi.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Idempotentlik va qayta urinish</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06 / 13</a:t>
            </a:r>
          </a:p>
        </p:txBody>
      </p:sp>
      <p:sp>
        <p:nvSpPr>
          <p:cNvPr id="11" name="Rounded Rectangle 10"/>
          <p:cNvSpPr/>
          <p:nvPr/>
        </p:nvSpPr>
        <p:spPr>
          <a:xfrm>
            <a:off x="822960" y="1856231"/>
            <a:ext cx="3749039" cy="3429000"/>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02536"/>
            <a:ext cx="3383279" cy="365760"/>
          </a:xfrm>
          <a:prstGeom prst="rect">
            <a:avLst/>
          </a:prstGeom>
          <a:noFill/>
        </p:spPr>
        <p:txBody>
          <a:bodyPr wrap="square" lIns="27432" rIns="27432" tIns="18288" bIns="0">
            <a:spAutoFit/>
          </a:bodyPr>
          <a:lstStyle/>
          <a:p>
            <a:pPr>
              <a:spcAft>
                <a:spcPts val="800"/>
              </a:spcAft>
              <a:defRPr sz="1400" b="1">
                <a:solidFill>
                  <a:srgbClr val="1555A3"/>
                </a:solidFill>
                <a:latin typeface="DejaVu Sans"/>
              </a:defRPr>
            </a:pPr>
            <a:r>
              <a:t>ASOSIY QOIDA</a:t>
            </a:r>
          </a:p>
        </p:txBody>
      </p:sp>
      <p:sp>
        <p:nvSpPr>
          <p:cNvPr id="13" name="TextBox 12"/>
          <p:cNvSpPr txBox="1"/>
          <p:nvPr/>
        </p:nvSpPr>
        <p:spPr>
          <a:xfrm>
            <a:off x="1005840" y="2478024"/>
            <a:ext cx="3383279" cy="2697480"/>
          </a:xfrm>
          <a:prstGeom prst="rect">
            <a:avLst/>
          </a:prstGeom>
          <a:noFill/>
        </p:spPr>
        <p:txBody>
          <a:bodyPr wrap="square" lIns="27432" rIns="27432" tIns="18288" bIns="0">
            <a:spAutoFit/>
          </a:bodyPr>
          <a:lstStyle/>
          <a:p>
            <a:pPr>
              <a:spcAft>
                <a:spcPts val="800"/>
              </a:spcAft>
              <a:defRPr sz="2100" b="0">
                <a:solidFill>
                  <a:srgbClr val="18324F"/>
                </a:solidFill>
                <a:latin typeface="DejaVu Sans"/>
              </a:defRPr>
            </a:pPr>
            <a:r>
              <a:t>Bir hodisa takror kelsa, natija buzilmasin.</a:t>
            </a:r>
          </a:p>
        </p:txBody>
      </p:sp>
      <p:sp>
        <p:nvSpPr>
          <p:cNvPr id="14" name="Oval 13"/>
          <p:cNvSpPr/>
          <p:nvPr/>
        </p:nvSpPr>
        <p:spPr>
          <a:xfrm>
            <a:off x="5029200" y="1874519"/>
            <a:ext cx="530352" cy="530352"/>
          </a:xfrm>
          <a:prstGeom prst="ellipse">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65776" y="1943100"/>
            <a:ext cx="457200" cy="36576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1</a:t>
            </a:r>
          </a:p>
        </p:txBody>
      </p:sp>
      <p:sp>
        <p:nvSpPr>
          <p:cNvPr id="16" name="TextBox 15"/>
          <p:cNvSpPr txBox="1"/>
          <p:nvPr/>
        </p:nvSpPr>
        <p:spPr>
          <a:xfrm>
            <a:off x="5788152" y="1874519"/>
            <a:ext cx="5303520" cy="393192"/>
          </a:xfrm>
          <a:prstGeom prst="rect">
            <a:avLst/>
          </a:prstGeom>
          <a:noFill/>
        </p:spPr>
        <p:txBody>
          <a:bodyPr wrap="square" lIns="27432" rIns="27432" tIns="18288" bIns="0">
            <a:spAutoFit/>
          </a:bodyPr>
          <a:lstStyle/>
          <a:p>
            <a:pPr>
              <a:spcAft>
                <a:spcPts val="800"/>
              </a:spcAft>
              <a:defRPr sz="2200" b="1">
                <a:solidFill>
                  <a:srgbClr val="1555A3"/>
                </a:solidFill>
                <a:latin typeface="DejaVu Sans"/>
              </a:defRPr>
            </a:pPr>
            <a:r>
              <a:t>1. Hodisa ID</a:t>
            </a:r>
          </a:p>
        </p:txBody>
      </p:sp>
      <p:sp>
        <p:nvSpPr>
          <p:cNvPr id="17" name="TextBox 16"/>
          <p:cNvSpPr txBox="1"/>
          <p:nvPr/>
        </p:nvSpPr>
        <p:spPr>
          <a:xfrm>
            <a:off x="5788152" y="2395727"/>
            <a:ext cx="5303520" cy="57607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Takrorni ajratish</a:t>
            </a:r>
          </a:p>
        </p:txBody>
      </p:sp>
      <p:sp>
        <p:nvSpPr>
          <p:cNvPr id="18" name="Oval 17"/>
          <p:cNvSpPr/>
          <p:nvPr/>
        </p:nvSpPr>
        <p:spPr>
          <a:xfrm>
            <a:off x="5029200" y="3017520"/>
            <a:ext cx="530352" cy="530352"/>
          </a:xfrm>
          <a:prstGeom prst="ellipse">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65776" y="3086100"/>
            <a:ext cx="457200" cy="36576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2</a:t>
            </a:r>
          </a:p>
        </p:txBody>
      </p:sp>
      <p:sp>
        <p:nvSpPr>
          <p:cNvPr id="20" name="TextBox 19"/>
          <p:cNvSpPr txBox="1"/>
          <p:nvPr/>
        </p:nvSpPr>
        <p:spPr>
          <a:xfrm>
            <a:off x="5788152" y="3017520"/>
            <a:ext cx="5303520" cy="393192"/>
          </a:xfrm>
          <a:prstGeom prst="rect">
            <a:avLst/>
          </a:prstGeom>
          <a:noFill/>
        </p:spPr>
        <p:txBody>
          <a:bodyPr wrap="square" lIns="27432" rIns="27432" tIns="18288" bIns="0">
            <a:spAutoFit/>
          </a:bodyPr>
          <a:lstStyle/>
          <a:p>
            <a:pPr>
              <a:spcAft>
                <a:spcPts val="800"/>
              </a:spcAft>
              <a:defRPr sz="2200" b="1">
                <a:solidFill>
                  <a:srgbClr val="1555A3"/>
                </a:solidFill>
                <a:latin typeface="DejaVu Sans"/>
              </a:defRPr>
            </a:pPr>
            <a:r>
              <a:t>2. Atomar amal</a:t>
            </a:r>
          </a:p>
        </p:txBody>
      </p:sp>
      <p:sp>
        <p:nvSpPr>
          <p:cNvPr id="21" name="TextBox 20"/>
          <p:cNvSpPr txBox="1"/>
          <p:nvPr/>
        </p:nvSpPr>
        <p:spPr>
          <a:xfrm>
            <a:off x="5788152" y="3538727"/>
            <a:ext cx="5303520" cy="57607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Poyga holatini cheklash</a:t>
            </a:r>
          </a:p>
        </p:txBody>
      </p:sp>
      <p:sp>
        <p:nvSpPr>
          <p:cNvPr id="22" name="Oval 21"/>
          <p:cNvSpPr/>
          <p:nvPr/>
        </p:nvSpPr>
        <p:spPr>
          <a:xfrm>
            <a:off x="5029200" y="4160520"/>
            <a:ext cx="530352" cy="530352"/>
          </a:xfrm>
          <a:prstGeom prst="ellipse">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5776" y="4229100"/>
            <a:ext cx="457200" cy="36576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3</a:t>
            </a:r>
          </a:p>
        </p:txBody>
      </p:sp>
      <p:sp>
        <p:nvSpPr>
          <p:cNvPr id="24" name="TextBox 23"/>
          <p:cNvSpPr txBox="1"/>
          <p:nvPr/>
        </p:nvSpPr>
        <p:spPr>
          <a:xfrm>
            <a:off x="5788152" y="4160520"/>
            <a:ext cx="5303520" cy="393192"/>
          </a:xfrm>
          <a:prstGeom prst="rect">
            <a:avLst/>
          </a:prstGeom>
          <a:noFill/>
        </p:spPr>
        <p:txBody>
          <a:bodyPr wrap="square" lIns="27432" rIns="27432" tIns="18288" bIns="0">
            <a:spAutoFit/>
          </a:bodyPr>
          <a:lstStyle/>
          <a:p>
            <a:pPr>
              <a:spcAft>
                <a:spcPts val="800"/>
              </a:spcAft>
              <a:defRPr sz="2200" b="1">
                <a:solidFill>
                  <a:srgbClr val="1555A3"/>
                </a:solidFill>
                <a:latin typeface="DejaVu Sans"/>
              </a:defRPr>
            </a:pPr>
            <a:r>
              <a:t>3. Xato navbati</a:t>
            </a:r>
          </a:p>
        </p:txBody>
      </p:sp>
      <p:sp>
        <p:nvSpPr>
          <p:cNvPr id="25" name="TextBox 24"/>
          <p:cNvSpPr txBox="1"/>
          <p:nvPr/>
        </p:nvSpPr>
        <p:spPr>
          <a:xfrm>
            <a:off x="5788152" y="4681728"/>
            <a:ext cx="5303520" cy="57607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Muvaffaqiyatsiz ishni saqlash</a:t>
            </a:r>
          </a:p>
        </p:txBody>
      </p:sp>
      <p:sp>
        <p:nvSpPr>
          <p:cNvPr id="26" name="Rounded Rectangle 25"/>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Oddiy tekshir-keyin-yoz usuli parallel bajarilishda poyga holatini keltirishi mumkin; atomar mexanizm kerak.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Afzalliklar va texnik cheklovlar</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07 / 13</a:t>
            </a:r>
          </a:p>
        </p:txBody>
      </p:sp>
      <p:sp>
        <p:nvSpPr>
          <p:cNvPr id="11" name="Rounded Rectangle 10"/>
          <p:cNvSpPr/>
          <p:nvPr/>
        </p:nvSpPr>
        <p:spPr>
          <a:xfrm>
            <a:off x="822960" y="1865376"/>
            <a:ext cx="10515600" cy="98755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039112"/>
            <a:ext cx="10104120" cy="685800"/>
          </a:xfrm>
          <a:prstGeom prst="rect">
            <a:avLst/>
          </a:prstGeom>
          <a:noFill/>
        </p:spPr>
        <p:txBody>
          <a:bodyPr wrap="square" lIns="27432" rIns="27432" tIns="18288" bIns="0">
            <a:spAutoFit/>
          </a:bodyPr>
          <a:lstStyle/>
          <a:p>
            <a:pPr>
              <a:spcAft>
                <a:spcPts val="800"/>
              </a:spcAft>
              <a:defRPr sz="2700" b="1">
                <a:solidFill>
                  <a:srgbClr val="18324F"/>
                </a:solidFill>
                <a:latin typeface="DejaVu Sans"/>
              </a:defRPr>
            </a:pPr>
            <a:r>
              <a:t>Tez rivojlantirish ↔ limit va sovuq start.</a:t>
            </a:r>
          </a:p>
        </p:txBody>
      </p:sp>
      <p:sp>
        <p:nvSpPr>
          <p:cNvPr id="13" name="TextBox 12"/>
          <p:cNvSpPr txBox="1"/>
          <p:nvPr/>
        </p:nvSpPr>
        <p:spPr>
          <a:xfrm>
            <a:off x="868680" y="3246120"/>
            <a:ext cx="4937760" cy="1874519"/>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Bog‘liqliklar ixchamlanadi, ulanishlar boshqariladi va zarur joyda tayyor quvvat imkoniyatlari baholanadi.</a:t>
            </a:r>
          </a:p>
        </p:txBody>
      </p:sp>
      <p:cxnSp>
        <p:nvCxnSpPr>
          <p:cNvPr id="14" name="Connector 13"/>
          <p:cNvCxnSpPr/>
          <p:nvPr/>
        </p:nvCxnSpPr>
        <p:spPr>
          <a:xfrm>
            <a:off x="6089904" y="3291840"/>
            <a:ext cx="0" cy="1874520"/>
          </a:xfrm>
          <a:prstGeom prst="line">
            <a:avLst/>
          </a:prstGeom>
          <a:ln w="38100">
            <a:solidFill>
              <a:srgbClr val="1555A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73952" y="3246120"/>
            <a:ext cx="4718304" cy="1874519"/>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Rasm tekshiruvi funksiya uchun mos, juda uzoq ishlaydigan maxsus hisoblash esa boshqa platformani talab qilishi mumkin.</a:t>
            </a:r>
          </a:p>
        </p:txBody>
      </p:sp>
      <p:sp>
        <p:nvSpPr>
          <p:cNvPr id="16" name="Rounded Rectangle 15"/>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Har qanday monolitni o‘zgartirmasdan bitta funksiyaga joylash yaxshi natija bermaydi.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Platformalar va xarajat modeli</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08 / 13</a:t>
            </a:r>
          </a:p>
        </p:txBody>
      </p:sp>
      <p:sp>
        <p:nvSpPr>
          <p:cNvPr id="11" name="Rounded Rectangle 10"/>
          <p:cNvSpPr/>
          <p:nvPr/>
        </p:nvSpPr>
        <p:spPr>
          <a:xfrm>
            <a:off x="822960" y="1865376"/>
            <a:ext cx="10515600" cy="98755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039112"/>
            <a:ext cx="10104120" cy="685800"/>
          </a:xfrm>
          <a:prstGeom prst="rect">
            <a:avLst/>
          </a:prstGeom>
          <a:noFill/>
        </p:spPr>
        <p:txBody>
          <a:bodyPr wrap="square" lIns="27432" rIns="27432" tIns="18288" bIns="0">
            <a:spAutoFit/>
          </a:bodyPr>
          <a:lstStyle/>
          <a:p>
            <a:pPr>
              <a:spcAft>
                <a:spcPts val="800"/>
              </a:spcAft>
              <a:defRPr sz="2700" b="1">
                <a:solidFill>
                  <a:srgbClr val="18324F"/>
                </a:solidFill>
                <a:latin typeface="DejaVu Sans"/>
              </a:defRPr>
            </a:pPr>
            <a:r>
              <a:t>AWS Lambda • Azure Functions • Google funksiyalari.</a:t>
            </a:r>
          </a:p>
        </p:txBody>
      </p:sp>
      <p:sp>
        <p:nvSpPr>
          <p:cNvPr id="13" name="TextBox 12"/>
          <p:cNvSpPr txBox="1"/>
          <p:nvPr/>
        </p:nvSpPr>
        <p:spPr>
          <a:xfrm>
            <a:off x="868680" y="3246120"/>
            <a:ext cx="4937760" cy="1874519"/>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Chaqiruvlar soni, bajarilish muddati va ajratilgan resurs hisoblanadi.</a:t>
            </a:r>
          </a:p>
        </p:txBody>
      </p:sp>
      <p:cxnSp>
        <p:nvCxnSpPr>
          <p:cNvPr id="14" name="Connector 13"/>
          <p:cNvCxnSpPr/>
          <p:nvPr/>
        </p:nvCxnSpPr>
        <p:spPr>
          <a:xfrm>
            <a:off x="6089904" y="3291840"/>
            <a:ext cx="0" cy="1874520"/>
          </a:xfrm>
          <a:prstGeom prst="line">
            <a:avLst/>
          </a:prstGeom>
          <a:ln w="38100">
            <a:solidFill>
              <a:srgbClr val="1555A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73952" y="3246120"/>
            <a:ext cx="4718304" cy="1874519"/>
          </a:xfrm>
          <a:prstGeom prst="rect">
            <a:avLst/>
          </a:prstGeom>
          <a:noFill/>
        </p:spPr>
        <p:txBody>
          <a:bodyPr wrap="square" lIns="27432" rIns="27432" tIns="18288" bIns="0">
            <a:spAutoFit/>
          </a:bodyPr>
          <a:lstStyle/>
          <a:p>
            <a:pPr>
              <a:spcAft>
                <a:spcPts val="800"/>
              </a:spcAft>
              <a:defRPr sz="2300" b="0">
                <a:solidFill>
                  <a:srgbClr val="18324F"/>
                </a:solidFill>
                <a:latin typeface="DejaVu Sans"/>
              </a:defRPr>
            </a:pPr>
            <a:r>
              <a:t>Minglab juda qisqa hodisa uchun qulay model, tinimsiz katta yuklama uchun esa boshqa hisoblash bilan solishtiriladi.</a:t>
            </a:r>
          </a:p>
        </p:txBody>
      </p:sp>
      <p:sp>
        <p:nvSpPr>
          <p:cNvPr id="16" name="Rounded Rectangle 15"/>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Bepul kvota va tariflarni doimiy raqam sifatida yodlash o‘rniga amaldagi rasmiy narx tekshiriladi.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Hodisa oqimi va xato yo‘li</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09 / 13</a:t>
            </a:r>
          </a:p>
        </p:txBody>
      </p:sp>
      <p:cxnSp>
        <p:nvCxnSpPr>
          <p:cNvPr id="11" name="Connector 10"/>
          <p:cNvCxnSpPr/>
          <p:nvPr/>
        </p:nvCxnSpPr>
        <p:spPr>
          <a:xfrm>
            <a:off x="3474720" y="2331720"/>
            <a:ext cx="777240"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995160" y="2331720"/>
            <a:ext cx="777240" cy="0"/>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749039" y="2816352"/>
            <a:ext cx="5394961" cy="1115568"/>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366760" y="2816352"/>
            <a:ext cx="777240" cy="1115568"/>
          </a:xfrm>
          <a:prstGeom prst="line">
            <a:avLst/>
          </a:prstGeom>
          <a:ln w="254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1520" y="1874519"/>
            <a:ext cx="2743200" cy="941832"/>
          </a:xfrm>
          <a:prstGeom prst="rect">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011679"/>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Hodisa manbasi</a:t>
            </a:r>
          </a:p>
        </p:txBody>
      </p:sp>
      <p:sp>
        <p:nvSpPr>
          <p:cNvPr id="17" name="Rectangle 16"/>
          <p:cNvSpPr/>
          <p:nvPr/>
        </p:nvSpPr>
        <p:spPr>
          <a:xfrm>
            <a:off x="4251960" y="1874519"/>
            <a:ext cx="2743200" cy="941832"/>
          </a:xfrm>
          <a:prstGeom prst="rect">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1688" y="2011679"/>
            <a:ext cx="2523744" cy="685800"/>
          </a:xfrm>
          <a:prstGeom prst="rect">
            <a:avLst/>
          </a:prstGeom>
          <a:noFill/>
        </p:spPr>
        <p:txBody>
          <a:bodyPr wrap="square" lIns="27432" rIns="27432" tIns="18288" bIns="0">
            <a:spAutoFit/>
          </a:bodyPr>
          <a:lstStyle/>
          <a:p>
            <a:pPr>
              <a:spcAft>
                <a:spcPts val="800"/>
              </a:spcAft>
              <a:defRPr sz="1700" b="1">
                <a:solidFill>
                  <a:srgbClr val="18324F"/>
                </a:solidFill>
                <a:latin typeface="DejaVu Sans"/>
              </a:defRPr>
            </a:pPr>
            <a:r>
              <a:t>Navbat / trigger</a:t>
            </a:r>
          </a:p>
        </p:txBody>
      </p:sp>
      <p:sp>
        <p:nvSpPr>
          <p:cNvPr id="19" name="Rectangle 18"/>
          <p:cNvSpPr/>
          <p:nvPr/>
        </p:nvSpPr>
        <p:spPr>
          <a:xfrm>
            <a:off x="7772400" y="1874519"/>
            <a:ext cx="2743200" cy="941832"/>
          </a:xfrm>
          <a:prstGeom prst="rect">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2127" y="2011679"/>
            <a:ext cx="2523744" cy="685800"/>
          </a:xfrm>
          <a:prstGeom prst="rect">
            <a:avLst/>
          </a:prstGeom>
          <a:noFill/>
        </p:spPr>
        <p:txBody>
          <a:bodyPr wrap="square" lIns="27432" rIns="27432" tIns="18288" bIns="0">
            <a:spAutoFit/>
          </a:bodyPr>
          <a:lstStyle/>
          <a:p>
            <a:pPr>
              <a:spcAft>
                <a:spcPts val="800"/>
              </a:spcAft>
              <a:defRPr sz="1700" b="1">
                <a:solidFill>
                  <a:srgbClr val="18324F"/>
                </a:solidFill>
                <a:latin typeface="DejaVu Sans"/>
              </a:defRPr>
            </a:pPr>
            <a:r>
              <a:t>Funksiya</a:t>
            </a:r>
          </a:p>
        </p:txBody>
      </p:sp>
      <p:sp>
        <p:nvSpPr>
          <p:cNvPr id="21" name="Rectangle 20"/>
          <p:cNvSpPr/>
          <p:nvPr/>
        </p:nvSpPr>
        <p:spPr>
          <a:xfrm>
            <a:off x="2377440" y="3931920"/>
            <a:ext cx="2743200" cy="941832"/>
          </a:xfrm>
          <a:prstGeom prst="rect">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87168" y="4069080"/>
            <a:ext cx="2523744" cy="685800"/>
          </a:xfrm>
          <a:prstGeom prst="rect">
            <a:avLst/>
          </a:prstGeom>
          <a:noFill/>
        </p:spPr>
        <p:txBody>
          <a:bodyPr wrap="square" lIns="27432" rIns="27432" tIns="18288" bIns="0">
            <a:spAutoFit/>
          </a:bodyPr>
          <a:lstStyle/>
          <a:p>
            <a:pPr>
              <a:spcAft>
                <a:spcPts val="800"/>
              </a:spcAft>
              <a:defRPr sz="1700" b="1">
                <a:solidFill>
                  <a:srgbClr val="18324F"/>
                </a:solidFill>
                <a:latin typeface="DejaVu Sans"/>
              </a:defRPr>
            </a:pPr>
            <a:r>
              <a:t>Natija saqlash</a:t>
            </a:r>
          </a:p>
        </p:txBody>
      </p:sp>
      <p:sp>
        <p:nvSpPr>
          <p:cNvPr id="23" name="Rectangle 22"/>
          <p:cNvSpPr/>
          <p:nvPr/>
        </p:nvSpPr>
        <p:spPr>
          <a:xfrm>
            <a:off x="6995160" y="3931920"/>
            <a:ext cx="2743200" cy="941832"/>
          </a:xfrm>
          <a:prstGeom prst="rect">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04888" y="4069080"/>
            <a:ext cx="2523744" cy="685800"/>
          </a:xfrm>
          <a:prstGeom prst="rect">
            <a:avLst/>
          </a:prstGeom>
          <a:noFill/>
        </p:spPr>
        <p:txBody>
          <a:bodyPr wrap="square" lIns="27432" rIns="27432" tIns="18288" bIns="0">
            <a:spAutoFit/>
          </a:bodyPr>
          <a:lstStyle/>
          <a:p>
            <a:pPr>
              <a:spcAft>
                <a:spcPts val="800"/>
              </a:spcAft>
              <a:defRPr sz="1700" b="1">
                <a:solidFill>
                  <a:srgbClr val="18324F"/>
                </a:solidFill>
                <a:latin typeface="DejaVu Sans"/>
              </a:defRPr>
            </a:pPr>
            <a:r>
              <a:t>Xato navbati</a:t>
            </a:r>
          </a:p>
        </p:txBody>
      </p:sp>
      <p:sp>
        <p:nvSpPr>
          <p:cNvPr id="25" name="TextBox 24"/>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18324F"/>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Universitet misoli: rasmni keyin qayta ishlash</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10 / 13</a:t>
            </a:r>
          </a:p>
        </p:txBody>
      </p:sp>
      <p:sp>
        <p:nvSpPr>
          <p:cNvPr id="11" name="TextBox 10"/>
          <p:cNvSpPr txBox="1"/>
          <p:nvPr/>
        </p:nvSpPr>
        <p:spPr>
          <a:xfrm>
            <a:off x="868680" y="1865376"/>
            <a:ext cx="10332720" cy="1645920"/>
          </a:xfrm>
          <a:prstGeom prst="rect">
            <a:avLst/>
          </a:prstGeom>
          <a:noFill/>
        </p:spPr>
        <p:txBody>
          <a:bodyPr wrap="square" lIns="27432" rIns="27432" tIns="18288" bIns="0">
            <a:spAutoFit/>
          </a:bodyPr>
          <a:lstStyle/>
          <a:p>
            <a:pPr>
              <a:spcAft>
                <a:spcPts val="800"/>
              </a:spcAft>
              <a:defRPr sz="2700" b="0">
                <a:solidFill>
                  <a:srgbClr val="18324F"/>
                </a:solidFill>
                <a:latin typeface="DejaVu Sans"/>
              </a:defRPr>
            </a:pPr>
            <a:r>
              <a:t>Talaba rasm yuklaydi. Portal faylni saqlab tez javob qaytaradi, rasmni kichraytirish esa alohida funksiya orqali keyin bajariladi. Bu hodisaga asoslangan arxitekturaning sodda misolidir.</a:t>
            </a:r>
          </a:p>
        </p:txBody>
      </p:sp>
      <p:cxnSp>
        <p:nvCxnSpPr>
          <p:cNvPr id="12" name="Connector 11"/>
          <p:cNvCxnSpPr/>
          <p:nvPr/>
        </p:nvCxnSpPr>
        <p:spPr>
          <a:xfrm>
            <a:off x="3127248" y="4517136"/>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4069080"/>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251960"/>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Rasm yuklash</a:t>
            </a:r>
          </a:p>
        </p:txBody>
      </p:sp>
      <p:cxnSp>
        <p:nvCxnSpPr>
          <p:cNvPr id="15" name="Connector 14"/>
          <p:cNvCxnSpPr/>
          <p:nvPr/>
        </p:nvCxnSpPr>
        <p:spPr>
          <a:xfrm>
            <a:off x="5961888" y="4517136"/>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11880" y="4069080"/>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30752" y="4251960"/>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Tez javob</a:t>
            </a:r>
          </a:p>
        </p:txBody>
      </p:sp>
      <p:cxnSp>
        <p:nvCxnSpPr>
          <p:cNvPr id="18" name="Connector 17"/>
          <p:cNvCxnSpPr/>
          <p:nvPr/>
        </p:nvCxnSpPr>
        <p:spPr>
          <a:xfrm>
            <a:off x="8796528" y="4517136"/>
            <a:ext cx="420624" cy="0"/>
          </a:xfrm>
          <a:prstGeom prst="line">
            <a:avLst/>
          </a:prstGeom>
          <a:ln w="38100">
            <a:solidFill>
              <a:srgbClr val="1555A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46520" y="4069080"/>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4251960"/>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Kichraytirish</a:t>
            </a:r>
          </a:p>
        </p:txBody>
      </p:sp>
      <p:sp>
        <p:nvSpPr>
          <p:cNvPr id="21" name="Rounded Rectangle 20"/>
          <p:cNvSpPr/>
          <p:nvPr/>
        </p:nvSpPr>
        <p:spPr>
          <a:xfrm>
            <a:off x="9281160" y="4069080"/>
            <a:ext cx="2368296" cy="932688"/>
          </a:xfrm>
          <a:prstGeom prst="roundRect">
            <a:avLst>
              <a:gd name="adj" fmla="val 8000"/>
            </a:avLst>
          </a:prstGeom>
          <a:solidFill>
            <a:srgbClr val="FFFFFF"/>
          </a:solidFill>
          <a:ln>
            <a:solidFill>
              <a:srgbClr val="1555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0032" y="4251960"/>
            <a:ext cx="2130552" cy="640080"/>
          </a:xfrm>
          <a:prstGeom prst="rect">
            <a:avLst/>
          </a:prstGeom>
          <a:noFill/>
        </p:spPr>
        <p:txBody>
          <a:bodyPr wrap="square" lIns="27432" rIns="27432" tIns="18288" bIns="0">
            <a:spAutoFit/>
          </a:bodyPr>
          <a:lstStyle/>
          <a:p>
            <a:pPr algn="ctr">
              <a:spcAft>
                <a:spcPts val="800"/>
              </a:spcAft>
              <a:defRPr sz="2000" b="1">
                <a:solidFill>
                  <a:srgbClr val="18324F"/>
                </a:solidFill>
                <a:latin typeface="DejaVu Sans"/>
              </a:defRPr>
            </a:pPr>
            <a:r>
              <a:t>Natijani saqlash</a:t>
            </a:r>
          </a:p>
        </p:txBody>
      </p:sp>
      <p:sp>
        <p:nvSpPr>
          <p:cNvPr id="23" name="Rounded Rectangle 22"/>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Asosiy so‘rov tez tugaydi; fon vazifasining natijasi va xatolari alohida kuzatiladi.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Serverless haqidagi muhim cheklovlar</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11 / 13</a:t>
            </a:r>
          </a:p>
        </p:txBody>
      </p:sp>
      <p:sp>
        <p:nvSpPr>
          <p:cNvPr id="11" name="Rectangle 10"/>
          <p:cNvSpPr/>
          <p:nvPr/>
        </p:nvSpPr>
        <p:spPr>
          <a:xfrm>
            <a:off x="731520" y="1737360"/>
            <a:ext cx="512064" cy="1152144"/>
          </a:xfrm>
          <a:prstGeom prst="rect">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92024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1</a:t>
            </a:r>
          </a:p>
        </p:txBody>
      </p:sp>
      <p:sp>
        <p:nvSpPr>
          <p:cNvPr id="13" name="TextBox 12"/>
          <p:cNvSpPr txBox="1"/>
          <p:nvPr/>
        </p:nvSpPr>
        <p:spPr>
          <a:xfrm>
            <a:off x="1444752" y="1773936"/>
            <a:ext cx="3063240" cy="1124712"/>
          </a:xfrm>
          <a:prstGeom prst="rect">
            <a:avLst/>
          </a:prstGeom>
          <a:noFill/>
        </p:spPr>
        <p:txBody>
          <a:bodyPr wrap="square" lIns="27432" rIns="27432" tIns="18288" bIns="0">
            <a:spAutoFit/>
          </a:bodyPr>
          <a:lstStyle/>
          <a:p>
            <a:pPr>
              <a:spcAft>
                <a:spcPts val="800"/>
              </a:spcAft>
              <a:defRPr sz="2100" b="1">
                <a:solidFill>
                  <a:srgbClr val="18324F"/>
                </a:solidFill>
                <a:latin typeface="DejaVu Sans"/>
              </a:defRPr>
            </a:pPr>
            <a:r>
              <a:t>Serverless ning mohiyati</a:t>
            </a:r>
          </a:p>
        </p:txBody>
      </p:sp>
      <p:sp>
        <p:nvSpPr>
          <p:cNvPr id="14" name="Rounded Rectangle 13"/>
          <p:cNvSpPr/>
          <p:nvPr/>
        </p:nvSpPr>
        <p:spPr>
          <a:xfrm>
            <a:off x="4599432" y="1737360"/>
            <a:ext cx="6812280" cy="117043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1856231"/>
            <a:ext cx="6428232" cy="98755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Serverless nol xarajat yoki mutlaqo sozlashsiz ishlash degani emas.</a:t>
            </a:r>
          </a:p>
        </p:txBody>
      </p:sp>
      <p:sp>
        <p:nvSpPr>
          <p:cNvPr id="16" name="Rectangle 15"/>
          <p:cNvSpPr/>
          <p:nvPr/>
        </p:nvSpPr>
        <p:spPr>
          <a:xfrm>
            <a:off x="731520" y="3154680"/>
            <a:ext cx="512064" cy="1152144"/>
          </a:xfrm>
          <a:prstGeom prst="rect">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333756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2</a:t>
            </a:r>
          </a:p>
        </p:txBody>
      </p:sp>
      <p:sp>
        <p:nvSpPr>
          <p:cNvPr id="18" name="TextBox 17"/>
          <p:cNvSpPr txBox="1"/>
          <p:nvPr/>
        </p:nvSpPr>
        <p:spPr>
          <a:xfrm>
            <a:off x="1444752" y="3191256"/>
            <a:ext cx="3063240" cy="1124712"/>
          </a:xfrm>
          <a:prstGeom prst="rect">
            <a:avLst/>
          </a:prstGeom>
          <a:noFill/>
        </p:spPr>
        <p:txBody>
          <a:bodyPr wrap="square" lIns="27432" rIns="27432" tIns="18288" bIns="0">
            <a:spAutoFit/>
          </a:bodyPr>
          <a:lstStyle/>
          <a:p>
            <a:pPr>
              <a:spcAft>
                <a:spcPts val="800"/>
              </a:spcAft>
              <a:defRPr sz="2100" b="1">
                <a:solidFill>
                  <a:srgbClr val="18324F"/>
                </a:solidFill>
                <a:latin typeface="DejaVu Sans"/>
              </a:defRPr>
            </a:pPr>
            <a:r>
              <a:t>Event-driven arxitektura</a:t>
            </a:r>
          </a:p>
        </p:txBody>
      </p:sp>
      <p:sp>
        <p:nvSpPr>
          <p:cNvPr id="19" name="Rounded Rectangle 18"/>
          <p:cNvSpPr/>
          <p:nvPr/>
        </p:nvSpPr>
        <p:spPr>
          <a:xfrm>
            <a:off x="4599432" y="3154680"/>
            <a:ext cx="6812280" cy="117043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82312" y="3273552"/>
            <a:ext cx="6428232" cy="98755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Hodisalar tartibi va yetkazilish kafolati xizmatga bog‘liq; hamma xabar bir marta keladi deb taxmin qilinmaydi.</a:t>
            </a:r>
          </a:p>
        </p:txBody>
      </p:sp>
      <p:sp>
        <p:nvSpPr>
          <p:cNvPr id="21" name="Rectangle 20"/>
          <p:cNvSpPr/>
          <p:nvPr/>
        </p:nvSpPr>
        <p:spPr>
          <a:xfrm>
            <a:off x="731520" y="4572000"/>
            <a:ext cx="512064" cy="1152144"/>
          </a:xfrm>
          <a:prstGeom prst="rect">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75488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3</a:t>
            </a:r>
          </a:p>
        </p:txBody>
      </p:sp>
      <p:sp>
        <p:nvSpPr>
          <p:cNvPr id="23" name="TextBox 22"/>
          <p:cNvSpPr txBox="1"/>
          <p:nvPr/>
        </p:nvSpPr>
        <p:spPr>
          <a:xfrm>
            <a:off x="1444752" y="4608576"/>
            <a:ext cx="3063240" cy="1124712"/>
          </a:xfrm>
          <a:prstGeom prst="rect">
            <a:avLst/>
          </a:prstGeom>
          <a:noFill/>
        </p:spPr>
        <p:txBody>
          <a:bodyPr wrap="square" lIns="27432" rIns="27432" tIns="18288" bIns="0">
            <a:spAutoFit/>
          </a:bodyPr>
          <a:lstStyle/>
          <a:p>
            <a:pPr>
              <a:spcAft>
                <a:spcPts val="800"/>
              </a:spcAft>
              <a:defRPr sz="2100" b="1">
                <a:solidFill>
                  <a:srgbClr val="18324F"/>
                </a:solidFill>
                <a:latin typeface="DejaVu Sans"/>
              </a:defRPr>
            </a:pPr>
            <a:r>
              <a:t>Afzalliklar va texnik cheklovlar</a:t>
            </a:r>
          </a:p>
        </p:txBody>
      </p:sp>
      <p:sp>
        <p:nvSpPr>
          <p:cNvPr id="24" name="Rounded Rectangle 23"/>
          <p:cNvSpPr/>
          <p:nvPr/>
        </p:nvSpPr>
        <p:spPr>
          <a:xfrm>
            <a:off x="4599432" y="4572000"/>
            <a:ext cx="6812280" cy="117043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82312" y="4690872"/>
            <a:ext cx="6428232" cy="987552"/>
          </a:xfrm>
          <a:prstGeom prst="rect">
            <a:avLst/>
          </a:prstGeom>
          <a:noFill/>
        </p:spPr>
        <p:txBody>
          <a:bodyPr wrap="square" lIns="27432" rIns="27432" tIns="18288" bIns="0">
            <a:spAutoFit/>
          </a:bodyPr>
          <a:lstStyle/>
          <a:p>
            <a:pPr>
              <a:spcAft>
                <a:spcPts val="800"/>
              </a:spcAft>
              <a:defRPr sz="2000" b="0">
                <a:solidFill>
                  <a:srgbClr val="18324F"/>
                </a:solidFill>
                <a:latin typeface="DejaVu Sans"/>
              </a:defRPr>
            </a:pPr>
            <a:r>
              <a:t>Har qanday monolitni o‘zgartirmasdan bitta funksiyaga joylash yaxshi natija bermaydi.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0" y="0"/>
            <a:ext cx="219456" cy="6858000"/>
          </a:xfrm>
          <a:prstGeom prst="rect">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93776"/>
            <a:ext cx="10561320" cy="1051560"/>
          </a:xfrm>
          <a:prstGeom prst="rect">
            <a:avLst/>
          </a:prstGeom>
          <a:noFill/>
        </p:spPr>
        <p:txBody>
          <a:bodyPr wrap="square" lIns="27432" rIns="27432" tIns="18288" bIns="0">
            <a:spAutoFit/>
          </a:bodyPr>
          <a:lstStyle/>
          <a:p>
            <a:pPr>
              <a:spcAft>
                <a:spcPts val="800"/>
              </a:spcAft>
              <a:defRPr sz="3000" b="1">
                <a:solidFill>
                  <a:srgbClr val="18324F"/>
                </a:solidFill>
                <a:latin typeface="DejaVu Sans"/>
              </a:defRPr>
            </a:pPr>
            <a:r>
              <a:t>Funksiyani to‘g‘ri loyihalash</a:t>
            </a:r>
          </a:p>
        </p:txBody>
      </p:sp>
      <p:cxnSp>
        <p:nvCxnSpPr>
          <p:cNvPr id="4" name="Connector 3"/>
          <p:cNvCxnSpPr/>
          <p:nvPr/>
        </p:nvCxnSpPr>
        <p:spPr>
          <a:xfrm>
            <a:off x="822960" y="1481328"/>
            <a:ext cx="10469880" cy="0"/>
          </a:xfrm>
          <a:prstGeom prst="line">
            <a:avLst/>
          </a:prstGeom>
          <a:ln w="25400">
            <a:solidFill>
              <a:srgbClr val="1555A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9768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0" y="1399032"/>
            <a:ext cx="164592" cy="164592"/>
          </a:xfrm>
          <a:prstGeom prst="ellipse">
            <a:avLst/>
          </a:prstGeom>
          <a:solidFill>
            <a:srgbClr val="F3C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12 / 13</a:t>
            </a:r>
          </a:p>
        </p:txBody>
      </p:sp>
      <p:sp>
        <p:nvSpPr>
          <p:cNvPr id="11" name="Rounded Rectangle 10"/>
          <p:cNvSpPr/>
          <p:nvPr/>
        </p:nvSpPr>
        <p:spPr>
          <a:xfrm>
            <a:off x="731520" y="1874519"/>
            <a:ext cx="3465576" cy="3611880"/>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029968"/>
            <a:ext cx="3072384" cy="502920"/>
          </a:xfrm>
          <a:prstGeom prst="rect">
            <a:avLst/>
          </a:prstGeom>
          <a:noFill/>
        </p:spPr>
        <p:txBody>
          <a:bodyPr wrap="square" lIns="27432" rIns="27432" tIns="18288" bIns="0">
            <a:spAutoFit/>
          </a:bodyPr>
          <a:lstStyle/>
          <a:p>
            <a:pPr>
              <a:spcAft>
                <a:spcPts val="800"/>
              </a:spcAft>
              <a:defRPr sz="3200" b="1">
                <a:solidFill>
                  <a:srgbClr val="1555A3"/>
                </a:solidFill>
                <a:latin typeface="DejaVu Sans"/>
              </a:defRPr>
            </a:pPr>
            <a:r>
              <a:t>01</a:t>
            </a:r>
          </a:p>
        </p:txBody>
      </p:sp>
      <p:sp>
        <p:nvSpPr>
          <p:cNvPr id="13" name="TextBox 12"/>
          <p:cNvSpPr txBox="1"/>
          <p:nvPr/>
        </p:nvSpPr>
        <p:spPr>
          <a:xfrm>
            <a:off x="923544" y="2788920"/>
            <a:ext cx="3072384" cy="1042415"/>
          </a:xfrm>
          <a:prstGeom prst="rect">
            <a:avLst/>
          </a:prstGeom>
          <a:noFill/>
        </p:spPr>
        <p:txBody>
          <a:bodyPr wrap="square" lIns="27432" rIns="27432" tIns="18288" bIns="0">
            <a:spAutoFit/>
          </a:bodyPr>
          <a:lstStyle/>
          <a:p>
            <a:pPr>
              <a:spcAft>
                <a:spcPts val="800"/>
              </a:spcAft>
              <a:defRPr sz="2400" b="1">
                <a:solidFill>
                  <a:srgbClr val="18324F"/>
                </a:solidFill>
                <a:latin typeface="DejaVu Sans"/>
              </a:defRPr>
            </a:pPr>
            <a:r>
              <a:t>Serverless ning mohiyati</a:t>
            </a:r>
          </a:p>
        </p:txBody>
      </p:sp>
      <p:sp>
        <p:nvSpPr>
          <p:cNvPr id="14" name="TextBox 13"/>
          <p:cNvSpPr txBox="1"/>
          <p:nvPr/>
        </p:nvSpPr>
        <p:spPr>
          <a:xfrm>
            <a:off x="923544" y="4087368"/>
            <a:ext cx="3072384" cy="1234440"/>
          </a:xfrm>
          <a:prstGeom prst="rect">
            <a:avLst/>
          </a:prstGeom>
          <a:noFill/>
        </p:spPr>
        <p:txBody>
          <a:bodyPr wrap="square" lIns="27432" rIns="27432" tIns="18288" bIns="0">
            <a:spAutoFit/>
          </a:bodyPr>
          <a:lstStyle/>
          <a:p>
            <a:pPr>
              <a:spcAft>
                <a:spcPts val="800"/>
              </a:spcAft>
              <a:defRPr sz="2100" b="0">
                <a:solidFill>
                  <a:srgbClr val="18324F"/>
                </a:solidFill>
                <a:latin typeface="DejaVu Sans"/>
              </a:defRPr>
            </a:pPr>
            <a:r>
              <a:t>Server boshqaruvi yashiriladi, kod va hodisa markazga chiqadi.</a:t>
            </a:r>
          </a:p>
        </p:txBody>
      </p:sp>
      <p:sp>
        <p:nvSpPr>
          <p:cNvPr id="15" name="Rounded Rectangle 14"/>
          <p:cNvSpPr/>
          <p:nvPr/>
        </p:nvSpPr>
        <p:spPr>
          <a:xfrm>
            <a:off x="4425696" y="1874519"/>
            <a:ext cx="3465576" cy="3611880"/>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029968"/>
            <a:ext cx="3072384" cy="502920"/>
          </a:xfrm>
          <a:prstGeom prst="rect">
            <a:avLst/>
          </a:prstGeom>
          <a:noFill/>
        </p:spPr>
        <p:txBody>
          <a:bodyPr wrap="square" lIns="27432" rIns="27432" tIns="18288" bIns="0">
            <a:spAutoFit/>
          </a:bodyPr>
          <a:lstStyle/>
          <a:p>
            <a:pPr>
              <a:spcAft>
                <a:spcPts val="800"/>
              </a:spcAft>
              <a:defRPr sz="3200" b="1">
                <a:solidFill>
                  <a:srgbClr val="1555A3"/>
                </a:solidFill>
                <a:latin typeface="DejaVu Sans"/>
              </a:defRPr>
            </a:pPr>
            <a:r>
              <a:t>02</a:t>
            </a:r>
          </a:p>
        </p:txBody>
      </p:sp>
      <p:sp>
        <p:nvSpPr>
          <p:cNvPr id="17" name="TextBox 16"/>
          <p:cNvSpPr txBox="1"/>
          <p:nvPr/>
        </p:nvSpPr>
        <p:spPr>
          <a:xfrm>
            <a:off x="4617720" y="2788920"/>
            <a:ext cx="3072384" cy="1042415"/>
          </a:xfrm>
          <a:prstGeom prst="rect">
            <a:avLst/>
          </a:prstGeom>
          <a:noFill/>
        </p:spPr>
        <p:txBody>
          <a:bodyPr wrap="square" lIns="27432" rIns="27432" tIns="18288" bIns="0">
            <a:spAutoFit/>
          </a:bodyPr>
          <a:lstStyle/>
          <a:p>
            <a:pPr>
              <a:spcAft>
                <a:spcPts val="800"/>
              </a:spcAft>
              <a:defRPr sz="2400" b="1">
                <a:solidFill>
                  <a:srgbClr val="18324F"/>
                </a:solidFill>
                <a:latin typeface="DejaVu Sans"/>
              </a:defRPr>
            </a:pPr>
            <a:r>
              <a:t>Event-driven arxitektura</a:t>
            </a:r>
          </a:p>
        </p:txBody>
      </p:sp>
      <p:sp>
        <p:nvSpPr>
          <p:cNvPr id="18" name="TextBox 17"/>
          <p:cNvSpPr txBox="1"/>
          <p:nvPr/>
        </p:nvSpPr>
        <p:spPr>
          <a:xfrm>
            <a:off x="4617720" y="4087368"/>
            <a:ext cx="3072384" cy="1234440"/>
          </a:xfrm>
          <a:prstGeom prst="rect">
            <a:avLst/>
          </a:prstGeom>
          <a:noFill/>
        </p:spPr>
        <p:txBody>
          <a:bodyPr wrap="square" lIns="27432" rIns="27432" tIns="18288" bIns="0">
            <a:spAutoFit/>
          </a:bodyPr>
          <a:lstStyle/>
          <a:p>
            <a:pPr>
              <a:spcAft>
                <a:spcPts val="800"/>
              </a:spcAft>
              <a:defRPr sz="2100" b="0">
                <a:solidFill>
                  <a:srgbClr val="18324F"/>
                </a:solidFill>
                <a:latin typeface="DejaVu Sans"/>
              </a:defRPr>
            </a:pPr>
            <a:r>
              <a:t>Komponentlar hodisalar orqali bog‘lanadi.</a:t>
            </a:r>
          </a:p>
        </p:txBody>
      </p:sp>
      <p:sp>
        <p:nvSpPr>
          <p:cNvPr id="19" name="Rounded Rectangle 18"/>
          <p:cNvSpPr/>
          <p:nvPr/>
        </p:nvSpPr>
        <p:spPr>
          <a:xfrm>
            <a:off x="8119872" y="1874519"/>
            <a:ext cx="3465576" cy="3611880"/>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2029968"/>
            <a:ext cx="3072384" cy="502920"/>
          </a:xfrm>
          <a:prstGeom prst="rect">
            <a:avLst/>
          </a:prstGeom>
          <a:noFill/>
        </p:spPr>
        <p:txBody>
          <a:bodyPr wrap="square" lIns="27432" rIns="27432" tIns="18288" bIns="0">
            <a:spAutoFit/>
          </a:bodyPr>
          <a:lstStyle/>
          <a:p>
            <a:pPr>
              <a:spcAft>
                <a:spcPts val="800"/>
              </a:spcAft>
              <a:defRPr sz="3200" b="1">
                <a:solidFill>
                  <a:srgbClr val="1555A3"/>
                </a:solidFill>
                <a:latin typeface="DejaVu Sans"/>
              </a:defRPr>
            </a:pPr>
            <a:r>
              <a:t>03</a:t>
            </a:r>
          </a:p>
        </p:txBody>
      </p:sp>
      <p:sp>
        <p:nvSpPr>
          <p:cNvPr id="21" name="TextBox 20"/>
          <p:cNvSpPr txBox="1"/>
          <p:nvPr/>
        </p:nvSpPr>
        <p:spPr>
          <a:xfrm>
            <a:off x="8311896" y="2788920"/>
            <a:ext cx="3072384" cy="1042415"/>
          </a:xfrm>
          <a:prstGeom prst="rect">
            <a:avLst/>
          </a:prstGeom>
          <a:noFill/>
        </p:spPr>
        <p:txBody>
          <a:bodyPr wrap="square" lIns="27432" rIns="27432" tIns="18288" bIns="0">
            <a:spAutoFit/>
          </a:bodyPr>
          <a:lstStyle/>
          <a:p>
            <a:pPr>
              <a:spcAft>
                <a:spcPts val="800"/>
              </a:spcAft>
              <a:defRPr sz="2400" b="1">
                <a:solidFill>
                  <a:srgbClr val="18324F"/>
                </a:solidFill>
                <a:latin typeface="DejaVu Sans"/>
              </a:defRPr>
            </a:pPr>
            <a:r>
              <a:t>Afzalliklar va texnik cheklovlar</a:t>
            </a:r>
          </a:p>
        </p:txBody>
      </p:sp>
      <p:sp>
        <p:nvSpPr>
          <p:cNvPr id="22" name="TextBox 21"/>
          <p:cNvSpPr txBox="1"/>
          <p:nvPr/>
        </p:nvSpPr>
        <p:spPr>
          <a:xfrm>
            <a:off x="8311896" y="4087368"/>
            <a:ext cx="3072384" cy="1234440"/>
          </a:xfrm>
          <a:prstGeom prst="rect">
            <a:avLst/>
          </a:prstGeom>
          <a:noFill/>
        </p:spPr>
        <p:txBody>
          <a:bodyPr wrap="square" lIns="27432" rIns="27432" tIns="18288" bIns="0">
            <a:spAutoFit/>
          </a:bodyPr>
          <a:lstStyle/>
          <a:p>
            <a:pPr>
              <a:spcAft>
                <a:spcPts val="800"/>
              </a:spcAft>
              <a:defRPr sz="2100" b="0">
                <a:solidFill>
                  <a:srgbClr val="18324F"/>
                </a:solidFill>
                <a:latin typeface="DejaVu Sans"/>
              </a:defRPr>
            </a:pPr>
            <a:r>
              <a:t>Tez rivojlantirish ↔ limit va sovuq start.</a:t>
            </a:r>
          </a:p>
        </p:txBody>
      </p:sp>
      <p:sp>
        <p:nvSpPr>
          <p:cNvPr id="23" name="Rounded Rectangle 22"/>
          <p:cNvSpPr/>
          <p:nvPr/>
        </p:nvSpPr>
        <p:spPr>
          <a:xfrm>
            <a:off x="731520" y="5641848"/>
            <a:ext cx="10698480" cy="621792"/>
          </a:xfrm>
          <a:prstGeom prst="roundRect">
            <a:avLst>
              <a:gd name="adj" fmla="val 8000"/>
            </a:avLst>
          </a:prstGeom>
          <a:solidFill>
            <a:srgbClr val="FFF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Asosiy mezon: xizmatni tanlashda xavfsizlik, mavjudlik va xarajatni birga baholang.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EFA"/>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155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8324F"/>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8324F"/>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1555A3"/>
                </a:solidFill>
                <a:latin typeface="DejaVu Sans"/>
              </a:defRPr>
            </a:pPr>
            <a:r>
              <a:t>https://docs.aws.amazon.com/lambda/latest/dg/</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1555A3"/>
                </a:solidFill>
                <a:latin typeface="DejaVu Sans"/>
              </a:defRPr>
            </a:pPr>
            <a:r>
              <a:t>https://learn.microsoft.com/azure/azure-functions/</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1555A3"/>
                </a:solidFill>
                <a:latin typeface="DejaVu Sans"/>
              </a:defRPr>
            </a:pPr>
            <a:r>
              <a:t>https://cloud.google.com/run/docs/functions/overview</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1555A3"/>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8324F"/>
                </a:solidFill>
                <a:latin typeface="DejaVu Sans"/>
              </a:defRPr>
            </a:pPr>
            <a:r>
              <a:t>Knative / CNCF official artwork</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https://raw.githubusercontent.com/cncf/artwork/main/projects/knative/icon/color/knative-icon-color.png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8324F"/>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24F"/>
                </a:solidFill>
                <a:latin typeface="DejaVu Sans"/>
              </a:defRPr>
            </a:pPr>
            <a:r>
              <a:t>BTST206   /   M15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24F"/>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