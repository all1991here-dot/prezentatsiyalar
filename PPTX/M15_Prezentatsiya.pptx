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Assalomu alaykum, aziz talabalar. Bugungi ma’ruzamiz «Serverless Computing va FaaS» mavzusiga bag‘ishlanadi. Mavzuni murakkab atamalardan emas, kundalik ehtiyojdan boshlaymiz. Talaba rasm yuklaydi. Portal faylni saqlab tez javob qaytaradi, rasmni kichraytirish esa alohida funksiya orqali keyin bajariladi. Bu hodisaga asoslangan arxitekturaning sodda misolidir.</a:t>
            </a:r>
          </a:p>
          <a:p/>
          <a:p>
            <a:r>
              <a:t>Biz avval asosiy tushunchalarni ajratamiz, keyin ularning ishlash tartibini sxemada ko‘ramiz. Maqsad xizmat nomlarini yodlash emas, ularning qaysi vazifani bajarishini va qayerda cheklanishini tushunishdir. Inglizcha atama uchraganda uning sodda o‘zbekcha ma’nosi bilan bog‘laymiz. Slayddagi qisqa jumlalar tayanch fikrlar bo‘lib, ularning batafsil izohi ushbu ma’ruza matnida beriladi.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Ma’ruza oltita asosiy bo‘limdan iborat. 1-bo‘limda serverless ning mohiyati tushuntiriladi. 2-bo‘limda faas hayot sikli tushuntiriladi. 3-bo‘limda event-driven arxitektura tushuntiriladi. 4-bo‘limda idempotentlik va qayta urinish tushuntiriladi. 5-bo‘limda afzalliklar va texnik cheklovlar tushuntiriladi. 6-bo‘limda platformalar va xarajat modeli tushuntiriladi.</a:t>
            </a:r>
          </a:p>
          <a:p/>
          <a:p>
            <a:r>
              <a:t>Har bir bo‘limda bir xil fikrlash tartibidan foydalanamiz: tushuncha nimani anglatadi, qanday ishlaydi, universitet portalida qayerda ko‘rinadi va qaysi holatda ehtiyot bo‘lish kerak. Shundan keyin umumiy sxema barcha qismlarni bir-biriga bog‘laydi. Oxirida o‘qituvchi bayon qiladigan misol, chalkash tushunchalar va yakuniy xulosalar beriladi. Bu ketma-ketlik amaliy topshiriq emas, videodarsning tushuntirish rejasidir.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Serverless yondashuvda provayder server ajratish va bajarilish muhitini boshqaradi. Dasturchi biznes vazifasi va ma’lumot oqimiga e’tibor beradi. Resurslar ehtiyojga qarab o‘zgarishi mumkin, lekin xatti-harakat tanlangan xizmatga bog‘liq.</a:t>
            </a:r>
          </a:p>
          <a:p/>
          <a:p>
            <a:r>
              <a:t>So‘rov kelganda xizmat mavjud muhitni ishlatadi yoki yangisini tayyorlaydi. Foydalanish va bajarilish xususiyatlari asosida hisob-kitob yuritiladi.</a:t>
            </a:r>
          </a:p>
          <a:p/>
          <a:p>
            <a:r>
              <a:t>Universitet misolida buni quyidagicha tasavvur qilamiz. Kam chaqiriladigan hisobot funksiyasi uchun doim ishlab turadigan alohida virtual mashina shart bo‘lmasligi mumkin. Bu misolda texnik atama real vazifa bilan bog‘lanadi: resursning nomini emas, nima uchun tanlanganini tushunish muhim.</a:t>
            </a:r>
          </a:p>
          <a:p/>
          <a:p>
            <a:r>
              <a:t>E’tibor beradigan chegara ham bor. Serverless nol xarajat yoki mutlaqo sozlashsiz ishlash degani emas. Shuning uchun texnik qaror chiqarishda slayddagi asosiy fikr bilan birga shu shartni ham yodda tutamiz.</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FaaS kichik kod birligini hodisa asosida bajarish modelidir. Funksiya kirish ma’lumotini oladi, ishni bajaradi va natija qaytaradi yoki boshqa xizmatga yozadi. Muhim holat tashqi saqlashda turishi kerak.</a:t>
            </a:r>
          </a:p>
          <a:p/>
          <a:p>
            <a:r>
              <a:t>Trigger HTTP, navbat, jadval yoki fayl hodisasi bo‘lishi mumkin. Bajarilish muhiti takror ishlatilishi mumkin, lekin keyingi chaqiruv aynan shu muhitga tushishi kafolatlanmaydi.</a:t>
            </a:r>
          </a:p>
          <a:p/>
          <a:p>
            <a:r>
              <a:t>Universitet misolida buni quyidagicha tasavvur qilamiz. Rasmni qayta ishlovchi funksiya obyekt kalitini oladi, faylni o‘qiydi va kichik nusxani saqlaydi. Bu misolda texnik atama real vazifa bilan bog‘lanadi: resursning nomini emas, nima uchun tanlanganini tushunish muhim.</a:t>
            </a:r>
          </a:p>
          <a:p/>
          <a:p>
            <a:r>
              <a:t>E’tibor beradigan chegara ham bor. Mahalliy xotira yoki vaqtinchalik diskni doimiy ma’lumotlar bazasi deb qabul qilish mumkin emas. Shuning uchun texnik qaror chiqarishda slayddagi asosiy fikr bilan birga shu shartni ham yodda tutamiz.</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Hodisa tizimda yuz bergan o‘zgarish haqida xabardir. Ishlab chiqaruvchi hodisani yuboradi, iste’molchi esa unga javob beradi. Bu komponentlarni bo‘shroq bog‘lashga va sekin ishni asosiy so‘rovdan ajratishga yordam beradi.</a:t>
            </a:r>
          </a:p>
          <a:p/>
          <a:p>
            <a:r>
              <a:t>Navbat yuklamani yumshatadi va iste’molchi tezligiga mos chiqaradi. Hodisa identifikatori va sxema versiyasi uni xavfsiz qayta ishlashga yordam beradi.</a:t>
            </a:r>
          </a:p>
          <a:p/>
          <a:p>
            <a:r>
              <a:t>Universitet misolida buni quyidagicha tasavvur qilamiz. Talaba ro‘yxatdan o‘tganda xabarnoma yuborish va statistika yangilash alohida iste’molchilar tomonidan bajariladi. Bu misolda texnik atama real vazifa bilan bog‘lanadi: resursning nomini emas, nima uchun tanlanganini tushunish muhim.</a:t>
            </a:r>
          </a:p>
          <a:p/>
          <a:p>
            <a:r>
              <a:t>E’tibor beradigan chegara ham bor. Hodisalar tartibi va yetkazilish kafolati xizmatga bog‘liq; hamma xabar bir marta keladi deb taxmin qilinmaydi. Shuning uchun texnik qaror chiqarishda slayddagi asosiy fikr bilan birga shu shartni ham yodda tutamiz.</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Idempotent amal bir xil kirish bilan qayta bajarilganda mantiqan ortiqcha natija yaratmaydi. Serverless va navbat tizimlarida takroriy yetkazilish odatiy xavfdir. Shu sababli qayta ishlash identifikatori va atomar tekshiruv muhim.</a:t>
            </a:r>
          </a:p>
          <a:p/>
          <a:p>
            <a:r>
              <a:t>Funksiya hodisa ID sini tekshiradi. Bajarilgan ishni qayta hisoblamaydi yoki yozuvni xavfsiz yangilaydi. Muvaffaqiyatsiz xabarlar cheklangan takrorlashdan keyin alohida xato navbatiga yuboriladi.</a:t>
            </a:r>
          </a:p>
          <a:p/>
          <a:p>
            <a:r>
              <a:t>Universitet misolida buni quyidagicha tasavvur qilamiz. Bir rasm hodisasi ikki marta kelsa ham, bitta mantiqiy thumbnail natijasi hosil qilinadi. Bu misolda texnik atama real vazifa bilan bog‘lanadi: resursning nomini emas, nima uchun tanlanganini tushunish muhim.</a:t>
            </a:r>
          </a:p>
          <a:p/>
          <a:p>
            <a:r>
              <a:t>E’tibor beradigan chegara ham bor. Oddiy tekshir-keyin-yoz usuli parallel bajarilishda poyga holatini keltirishi mumkin; atomar mexanizm kerak. Shuning uchun texnik qaror chiqarishda slayddagi asosiy fikr bilan birga shu shartni ham yodda tutamiz.</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Serverless kichik mustaqil vazifalar, o‘zgaruvchan yuklama va tez ishga tushirish uchun foydali. Sovuq start yangi muhitni tayyorlash kechikishidir. Vaqt, xotira, paket hajmi va parallel bajarilish limitlari mavjud.</a:t>
            </a:r>
          </a:p>
          <a:p/>
          <a:p>
            <a:r>
              <a:t>Bog‘liqliklar ixchamlanadi, ulanishlar boshqariladi va zarur joyda tayyor quvvat imkoniyatlari baholanadi. Uzoq ishlar navbat yoki workflow orqali bo‘linadi.</a:t>
            </a:r>
          </a:p>
          <a:p/>
          <a:p>
            <a:r>
              <a:t>Universitet misolida buni quyidagicha tasavvur qilamiz. Rasm tekshiruvi funksiya uchun mos, juda uzoq ishlaydigan maxsus hisoblash esa boshqa platformani talab qilishi mumkin. Bu misolda texnik atama real vazifa bilan bog‘lanadi: resursning nomini emas, nima uchun tanlanganini tushunish muhim.</a:t>
            </a:r>
          </a:p>
          <a:p/>
          <a:p>
            <a:r>
              <a:t>E’tibor beradigan chegara ham bor. Har qanday monolitni o‘zgartirmasdan bitta funksiyaga joylash yaxshi natija bermaydi. Shuning uchun texnik qaror chiqarishda slayddagi asosiy fikr bilan birga shu shartni ham yodda tutamiz.</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Turli platformalar hodisa, bajarilish muhiti va boshqaruv imkoniyatlari bilan farqlanadi. Kod o‘xshash bo‘lsa ham IAM, trigger va kuzatuv integratsiyasi boshqacha. Umumiy xarajat faqat funksiya chaqiruvidan iborat emas.</a:t>
            </a:r>
          </a:p>
          <a:p/>
          <a:p>
            <a:r>
              <a:t>Chaqiruvlar soni, bajarilish muddati va ajratilgan resurs hisoblanadi. API shlyuzi, navbat, loglar, baza va trafik ham umumiy smetaga qo‘shiladi.</a:t>
            </a:r>
          </a:p>
          <a:p/>
          <a:p>
            <a:r>
              <a:t>Universitet misolida buni quyidagicha tasavvur qilamiz. Minglab juda qisqa hodisa uchun qulay model, tinimsiz katta yuklama uchun esa boshqa hisoblash bilan solishtiriladi. Bu misolda texnik atama real vazifa bilan bog‘lanadi: resursning nomini emas, nima uchun tanlanganini tushunish muhim.</a:t>
            </a:r>
          </a:p>
          <a:p/>
          <a:p>
            <a:r>
              <a:t>E’tibor beradigan chegara ham bor. Bepul kvota va tariflarni doimiy raqam sifatida yodlash o‘rniga amaldagi rasmiy narx tekshiriladi. Shuning uchun texnik qaror chiqarishda slayddagi asosiy fikr bilan birga shu shartni ham yodda tutamiz.</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Endi mavzuni yaxlit sxemada ko‘ramiz. To‘rtburchaklar asosiy komponentlarni, o‘qlar esa ma’lumot, murojaat yoki boshqaruv bog‘lanishini ko‘rsatadi. Bu soddalashtirilgan ta’lim sxemasi: unda barcha xavfsizlik qoidalari, ichki protokollar va zaxira komponentlari alohida chizilmagan.</a:t>
            </a:r>
          </a:p>
          <a:p/>
          <a:p>
            <a:r>
              <a:t>«Hodisa manbasi» bilan «Navbat / trigger» o‘rtasida sxemada bog‘lanish ko‘rsatilgan. «Navbat / trigger» bilan «Funksiya» o‘rtasida sxemada bog‘lanish ko‘rsatilgan. «Funksiya» bilan «Natija saqlash» o‘rtasida sxemada bog‘lanish ko‘rsatilgan. «Funksiya» bilan «Xato navbati» o‘rtasida sxemada bog‘lanish ko‘rsatilgan.</a:t>
            </a:r>
          </a:p>
          <a:p/>
          <a:p>
            <a:r>
              <a:t>Bu bog‘lanishlarni barcha xizmatlarda bir xil buyruq yoki bir xil fizik kabel deb tushunmaymiz. Ayrim o‘qlar bajarilish ketma-ketligini, ayrimlari resursni boshqarish yoki unga kirish aloqasini anglatadi. Trigger HTTP, navbat, jadval yoki fayl hodisasi bo‘lishi mumkin. Bajarilish muhiti takror ishlatilishi mumkin, lekin keyingi chaqiruv aynan shu muhitga tushishi kafolatlanmaydi.</a:t>
            </a:r>
          </a:p>
          <a:p/>
          <a:p>
            <a:r>
              <a:t>Sxemaning asosiy foydasi mas’uliyatlarni ajratib ko‘rsatishdir. Rasm tekshiruvi funksiya uchun mos, juda uzoq ishlaydigan maxsus hisoblash esa boshqa platformani talab qilishi mumkin. Bir qismdagi o‘zgarish boshqasiga qanday ta’sir qilishini ko‘rish orqali murakkab tizimni kichik va tushunarli qismlarga ajratamiz.</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Keling, nazariyani bitta izchil vaziyat bilan bog‘laymiz. Talaba rasm yuklaydi. Portal faylni saqlab tez javob qaytaradi, rasmni kichraytirish esa alohida funksiya orqali keyin bajariladi. Bu hodisaga asoslangan arxitekturaning sodda misolidir.</a:t>
            </a:r>
          </a:p>
          <a:p/>
          <a:p>
            <a:r>
              <a:t>Avval ehtiyoj aniqlanadi: kim tizimdan foydalanadi, qaysi ma’lumot bilan ishlanadi va qanday natija kutiladi. Kam chaqiriladigan hisobot funksiyasi uchun doim ishlab turadigan alohida virtual mashina shart bo‘lmasligi mumkin. Keyin texnik qismlar shu talabga mos tanlanadi. Talaba ro‘yxatdan o‘tganda xabarnoma yuborish va statistika yangilash alohida iste’molchilar tomonidan bajariladi.</a:t>
            </a:r>
          </a:p>
          <a:p/>
          <a:p>
            <a:r>
              <a:t>Ishlash jarayonida faqat muvaffaqiyatli holat emas, xato va cheklovlar ham hisobga olinadi. Oddiy tekshir-keyin-yoz usuli parallel bajarilishda poyga holatini keltirishi mumkin; atomar mexanizm kerak. Shu sababli jamoa talabni, ruxsatni va nosozlikdagi xatti-harakatni oldindan belgilaydi. Minglab juda qisqa hodisa uchun qulay model, tinimsiz katta yuklama uchun esa boshqa hisoblash bilan solishtiriladi.</a:t>
            </a:r>
          </a:p>
          <a:p/>
          <a:p>
            <a:r>
              <a:t>Misolning xulosasi shuki, texnologiya alohida maqsad emas. U talabaga kerakli xizmatni sodda, xavfsiz va barqaror yetkazishga xizmat qiladi. Slayddagi tayanch qismlar ishni rejalashga yordam beradi; haqiqiy joylashtirishda esa aniq konfiguratsiya va amaldagi hujjatlar talab qilinadi.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Mavzuni to‘g‘ri tushunish uchun uchta chegarani qayta ajratamiz.</a:t>
            </a:r>
          </a:p>
          <a:p/>
          <a:p>
            <a:r>
              <a:t>1. Serverless nol xarajat yoki mutlaqo sozlashsiz ishlash degani emas. To‘g‘ri talqin quyidagicha: Serverless yondashuvda provayder server ajratish va bajarilish muhitini boshqaradi. Dasturchi biznes vazifasi va ma’lumot oqimiga e’tibor beradi. Resurslar ehtiyojga qarab o‘zgarishi mumkin, lekin xatti-harakat tanlangan xizmatga bog‘liq.</a:t>
            </a:r>
          </a:p>
          <a:p/>
          <a:p>
            <a:r>
              <a:t>2. Oddiy tekshir-keyin-yoz usuli parallel bajarilishda poyga holatini keltirishi mumkin; atomar mexanizm kerak. To‘g‘ri talqin quyidagicha: Idempotent amal bir xil kirish bilan qayta bajarilganda mantiqan ortiqcha natija yaratmaydi. Serverless va navbat tizimlarida takroriy yetkazilish odatiy xavfdir. Shu sababli qayta ishlash identifikatori va atomar tekshiruv muhim.</a:t>
            </a:r>
          </a:p>
          <a:p/>
          <a:p>
            <a:r>
              <a:t>3. Bepul kvota va tariflarni doimiy raqam sifatida yodlash o‘rniga amaldagi rasmiy narx tekshiriladi. To‘g‘ri talqin quyidagicha: Turli platformalar hodisa, bajarilish muhiti va boshqaruv imkoniyatlari bilan farqlanadi. Kod o‘xshash bo‘lsa ham IAM, trigger va kuzatuv integratsiyasi boshqacha. Umumiy xarajat faqat funksiya chaqiruvidan iborat emas.</a:t>
            </a:r>
          </a:p>
          <a:p/>
          <a:p>
            <a:r>
              <a:t>Bu izohlar texnologiyani rad etish uchun emas, undan o‘rinli foydalanish uchun kerak. Ta’rif, amaliy vazifa va shart birga o‘qilgandagina to‘g‘ri xulosa paydo bo‘ladi. Shuning uchun xizmat nomi yoki bitta imkoniyatga qarab butun tizim haqida umumiy hukm chiqarmaymiz.</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Bugungi ma’ruzani yakunlaymiz. Hodisa keladi — funksiya ishga tushadi — mavzuning umumiy mazmunini ifodalaydi.</a:t>
            </a:r>
          </a:p>
          <a:p/>
          <a:p>
            <a:r>
              <a:t>Asosiy tayanch fikr: Server boshqaruvi yashiriladi, kod va hodisa markazga chiqadi. So‘rov kelganda xizmat mavjud muhitni ishlatadi yoki yangisini tayyorlaydi. Foydalanish va bajarilish xususiyatlari asosida hisob-kitob yuritiladi.</a:t>
            </a:r>
          </a:p>
          <a:p/>
          <a:p>
            <a:r>
              <a:t>Asosiy tayanch fikr: Komponentlar hodisalar orqali bog‘lanadi. Navbat yuklamani yumshatadi va iste’molchi tezligiga mos chiqaradi. Hodisa identifikatori va sxema versiyasi uni xavfsiz qayta ishlashga yordam beradi.</a:t>
            </a:r>
          </a:p>
          <a:p/>
          <a:p>
            <a:r>
              <a:t>Asosiy tayanch fikr: Tez rivojlantirish ↔ limit va sovuq start. Bog‘liqliklar ixchamlanadi, ulanishlar boshqariladi va zarur joyda tayyor quvvat imkoniyatlari baholanadi. Uzoq ishlar navbat yoki workflow orqali bo‘linadi.</a:t>
            </a:r>
          </a:p>
          <a:p/>
          <a:p>
            <a:r>
              <a:t>Barcha bo‘limlarni universitet portali misoli orqali bog‘ladik. Endi atamalarni alohida so‘z sifatida emas, tizimdagi aniq vazifa sifatida ko‘rish mumkin. Arxitektura tanlashda talab, cheklov, xavfsizlik va xarajat birgalikda baholanadi. Mavzuni takrorlashda avval ta’rifni, keyin sxemani, so‘ng misol va chegaralarni ko‘zdan kechirish foydali. E’tiboringiz uchun rahmat.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Ushbu mavzu foydalanuvchi taqdim etgan BTST206 sillabusidagi tegishli ma’ruza bo‘limi asosida tuzildi. Slaydda mavzuni chuqurroq o‘qish uchun rasmiy hujjatlarga havolalar ko‘rsatilgan. Xizmatlar yangilanib boradi, shuning uchun amaliy ish oldidan tanlangan versiya, region, tarif va limitlar tekshiriladi. Bu ma’ruzada maqsad o‘zgaruvchan raqamlarni yodlash emas, barqaror tamoyillarni tushunishdir.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exec-1c8f91bc-6381-4745-8533-c57166497063.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5166360"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0" y="594360"/>
            <a:ext cx="594360" cy="73152"/>
          </a:xfrm>
          <a:prstGeom prst="rect">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896112"/>
            <a:ext cx="4480560" cy="457200"/>
          </a:xfrm>
          <a:prstGeom prst="rect">
            <a:avLst/>
          </a:prstGeom>
          <a:noFill/>
        </p:spPr>
        <p:txBody>
          <a:bodyPr wrap="square" lIns="27432" rIns="27432" tIns="18288" bIns="0">
            <a:spAutoFit/>
          </a:bodyPr>
          <a:lstStyle/>
          <a:p>
            <a:pPr>
              <a:spcAft>
                <a:spcPts val="1000"/>
              </a:spcAft>
              <a:defRPr sz="1700" b="1">
                <a:solidFill>
                  <a:srgbClr val="1678D2"/>
                </a:solidFill>
                <a:latin typeface="DejaVu Sans"/>
              </a:defRPr>
            </a:pPr>
            <a:r>
              <a:t>M15  /  BTST206</a:t>
            </a:r>
          </a:p>
        </p:txBody>
      </p:sp>
      <p:sp>
        <p:nvSpPr>
          <p:cNvPr id="6" name="TextBox 5"/>
          <p:cNvSpPr txBox="1"/>
          <p:nvPr/>
        </p:nvSpPr>
        <p:spPr>
          <a:xfrm>
            <a:off x="548640" y="1737360"/>
            <a:ext cx="4480560" cy="2788920"/>
          </a:xfrm>
          <a:prstGeom prst="rect">
            <a:avLst/>
          </a:prstGeom>
          <a:noFill/>
        </p:spPr>
        <p:txBody>
          <a:bodyPr wrap="square" lIns="27432" rIns="27432" tIns="18288" bIns="0">
            <a:spAutoFit/>
          </a:bodyPr>
          <a:lstStyle/>
          <a:p>
            <a:pPr>
              <a:spcAft>
                <a:spcPts val="1000"/>
              </a:spcAft>
              <a:defRPr sz="3000" b="1">
                <a:solidFill>
                  <a:srgbClr val="15365B"/>
                </a:solidFill>
                <a:latin typeface="DejaVu Sans"/>
              </a:defRPr>
            </a:pPr>
            <a:r>
              <a:t>Serverless Computing va FaaS</a:t>
            </a:r>
          </a:p>
        </p:txBody>
      </p:sp>
      <p:sp>
        <p:nvSpPr>
          <p:cNvPr id="7" name="TextBox 6"/>
          <p:cNvSpPr txBox="1"/>
          <p:nvPr/>
        </p:nvSpPr>
        <p:spPr>
          <a:xfrm>
            <a:off x="548640" y="4800600"/>
            <a:ext cx="4434840" cy="914400"/>
          </a:xfrm>
          <a:prstGeom prst="rect">
            <a:avLst/>
          </a:prstGeom>
          <a:noFill/>
        </p:spPr>
        <p:txBody>
          <a:bodyPr wrap="square" lIns="27432" rIns="27432" tIns="18288" bIns="0">
            <a:spAutoFit/>
          </a:bodyPr>
          <a:lstStyle/>
          <a:p>
            <a:pPr>
              <a:spcAft>
                <a:spcPts val="1000"/>
              </a:spcAft>
              <a:defRPr sz="1900" b="0">
                <a:solidFill>
                  <a:srgbClr val="53687D"/>
                </a:solidFill>
                <a:latin typeface="DejaVu Sans"/>
              </a:defRPr>
            </a:pPr>
            <a:r>
              <a:t>Hodisa keladi — funksiya ishga tushadi</a:t>
            </a:r>
          </a:p>
        </p:txBody>
      </p:sp>
      <p:sp>
        <p:nvSpPr>
          <p:cNvPr id="8" name="TextBox 7"/>
          <p:cNvSpPr txBox="1"/>
          <p:nvPr/>
        </p:nvSpPr>
        <p:spPr>
          <a:xfrm>
            <a:off x="548640" y="6217920"/>
            <a:ext cx="4480560" cy="365760"/>
          </a:xfrm>
          <a:prstGeom prst="rect">
            <a:avLst/>
          </a:prstGeom>
          <a:noFill/>
        </p:spPr>
        <p:txBody>
          <a:bodyPr wrap="square" lIns="27432" rIns="27432" tIns="18288" bIns="0">
            <a:spAutoFit/>
          </a:bodyPr>
          <a:lstStyle/>
          <a:p>
            <a:pPr>
              <a:spcAft>
                <a:spcPts val="1000"/>
              </a:spcAft>
              <a:defRPr sz="1100" b="0">
                <a:solidFill>
                  <a:srgbClr val="1678D2"/>
                </a:solidFill>
                <a:latin typeface="DejaVu Sans"/>
              </a:defRPr>
            </a:pPr>
            <a:r>
              <a:t>2027–2028  •  VIDEOMA’RUZA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058400" cy="274320"/>
          </a:xfrm>
          <a:prstGeom prst="rect">
            <a:avLst/>
          </a:prstGeom>
          <a:noFill/>
        </p:spPr>
        <p:txBody>
          <a:bodyPr wrap="square" lIns="27432" rIns="27432" tIns="18288" bIns="0">
            <a:spAutoFit/>
          </a:bodyPr>
          <a:lstStyle/>
          <a:p>
            <a:pPr>
              <a:spcAft>
                <a:spcPts val="1000"/>
              </a:spcAft>
              <a:defRPr sz="1100" b="1">
                <a:solidFill>
                  <a:srgbClr val="1678D2"/>
                </a:solidFill>
                <a:latin typeface="DejaVu Sans"/>
              </a:defRPr>
            </a:pPr>
            <a:r>
              <a:t>M15 · O‘RGANISH TARTIBI</a:t>
            </a:r>
          </a:p>
        </p:txBody>
      </p:sp>
      <p:sp>
        <p:nvSpPr>
          <p:cNvPr id="4" name="TextBox 3"/>
          <p:cNvSpPr txBox="1"/>
          <p:nvPr/>
        </p:nvSpPr>
        <p:spPr>
          <a:xfrm>
            <a:off x="502920" y="777240"/>
            <a:ext cx="11155680" cy="960120"/>
          </a:xfrm>
          <a:prstGeom prst="rect">
            <a:avLst/>
          </a:prstGeom>
          <a:noFill/>
        </p:spPr>
        <p:txBody>
          <a:bodyPr wrap="square" lIns="27432" rIns="27432" tIns="18288" bIns="0">
            <a:spAutoFit/>
          </a:bodyPr>
          <a:lstStyle/>
          <a:p>
            <a:pPr>
              <a:spcAft>
                <a:spcPts val="1000"/>
              </a:spcAft>
              <a:defRPr sz="2900" b="1">
                <a:solidFill>
                  <a:srgbClr val="15365B"/>
                </a:solidFill>
                <a:latin typeface="DejaVu Sans"/>
              </a:defRPr>
            </a:pPr>
            <a:r>
              <a:t>Bugungi mavzuning yo‘l xaritasi</a:t>
            </a:r>
          </a:p>
        </p:txBody>
      </p:sp>
      <p:sp>
        <p:nvSpPr>
          <p:cNvPr id="5" name="Rectangle 4"/>
          <p:cNvSpPr/>
          <p:nvPr/>
        </p:nvSpPr>
        <p:spPr>
          <a:xfrm>
            <a:off x="548640" y="6428232"/>
            <a:ext cx="11064240" cy="10972"/>
          </a:xfrm>
          <a:prstGeom prst="rect">
            <a:avLst/>
          </a:prstGeom>
          <a:solidFill>
            <a:srgbClr val="CEE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9144000" cy="182880"/>
          </a:xfrm>
          <a:prstGeom prst="rect">
            <a:avLst/>
          </a:prstGeom>
          <a:noFill/>
        </p:spPr>
        <p:txBody>
          <a:bodyPr wrap="square" lIns="27432" rIns="27432" tIns="18288" bIns="0">
            <a:spAutoFit/>
          </a:bodyPr>
          <a:lstStyle/>
          <a:p>
            <a:pPr>
              <a:spcAft>
                <a:spcPts val="1000"/>
              </a:spcAft>
              <a:defRPr sz="900" b="0">
                <a:solidFill>
                  <a:srgbClr val="53687D"/>
                </a:solidFill>
                <a:latin typeface="DejaVu Sans"/>
              </a:defRPr>
            </a:pPr>
            <a:r>
              <a:t>BTST206  •  BULUT TEXNOLOGIYALARI VA SERVISLAR  •  2027–2028</a:t>
            </a:r>
          </a:p>
        </p:txBody>
      </p:sp>
      <p:sp>
        <p:nvSpPr>
          <p:cNvPr id="7" name="TextBox 6"/>
          <p:cNvSpPr txBox="1"/>
          <p:nvPr/>
        </p:nvSpPr>
        <p:spPr>
          <a:xfrm>
            <a:off x="10607040" y="6473952"/>
            <a:ext cx="1005840" cy="274320"/>
          </a:xfrm>
          <a:prstGeom prst="rect">
            <a:avLst/>
          </a:prstGeom>
          <a:noFill/>
        </p:spPr>
        <p:txBody>
          <a:bodyPr wrap="square" lIns="27432" rIns="27432" tIns="18288" bIns="0">
            <a:spAutoFit/>
          </a:bodyPr>
          <a:lstStyle/>
          <a:p>
            <a:pPr>
              <a:spcAft>
                <a:spcPts val="1000"/>
              </a:spcAft>
              <a:defRPr sz="1200" b="1">
                <a:solidFill>
                  <a:srgbClr val="1678D2"/>
                </a:solidFill>
                <a:latin typeface="DejaVu Sans"/>
              </a:defRPr>
            </a:pPr>
            <a:r>
              <a:t>02</a:t>
            </a:r>
          </a:p>
        </p:txBody>
      </p:sp>
      <p:sp>
        <p:nvSpPr>
          <p:cNvPr id="8" name="Rounded Rectangle 7"/>
          <p:cNvSpPr/>
          <p:nvPr/>
        </p:nvSpPr>
        <p:spPr>
          <a:xfrm>
            <a:off x="594360" y="1938528"/>
            <a:ext cx="5413248" cy="1078992"/>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2084832"/>
            <a:ext cx="484632" cy="457200"/>
          </a:xfrm>
          <a:prstGeom prst="rect">
            <a:avLst/>
          </a:prstGeom>
          <a:noFill/>
        </p:spPr>
        <p:txBody>
          <a:bodyPr wrap="square" lIns="27432" rIns="27432" tIns="18288" bIns="0">
            <a:spAutoFit/>
          </a:bodyPr>
          <a:lstStyle/>
          <a:p>
            <a:pPr>
              <a:spcAft>
                <a:spcPts val="1000"/>
              </a:spcAft>
              <a:defRPr sz="2000" b="1">
                <a:solidFill>
                  <a:srgbClr val="1678D2"/>
                </a:solidFill>
                <a:latin typeface="DejaVu Sans"/>
              </a:defRPr>
            </a:pPr>
            <a:r>
              <a:t>01</a:t>
            </a:r>
          </a:p>
        </p:txBody>
      </p:sp>
      <p:sp>
        <p:nvSpPr>
          <p:cNvPr id="10" name="TextBox 9"/>
          <p:cNvSpPr txBox="1"/>
          <p:nvPr/>
        </p:nvSpPr>
        <p:spPr>
          <a:xfrm>
            <a:off x="1380744" y="2057400"/>
            <a:ext cx="4416552" cy="804672"/>
          </a:xfrm>
          <a:prstGeom prst="rect">
            <a:avLst/>
          </a:prstGeom>
          <a:noFill/>
        </p:spPr>
        <p:txBody>
          <a:bodyPr wrap="square" lIns="27432" rIns="27432" tIns="18288" bIns="0">
            <a:spAutoFit/>
          </a:bodyPr>
          <a:lstStyle/>
          <a:p>
            <a:pPr>
              <a:spcAft>
                <a:spcPts val="1000"/>
              </a:spcAft>
              <a:defRPr sz="2000" b="1">
                <a:solidFill>
                  <a:srgbClr val="15365B"/>
                </a:solidFill>
                <a:latin typeface="DejaVu Sans"/>
              </a:defRPr>
            </a:pPr>
            <a:r>
              <a:t>Serverless ning mohiyati</a:t>
            </a:r>
          </a:p>
        </p:txBody>
      </p:sp>
      <p:sp>
        <p:nvSpPr>
          <p:cNvPr id="11" name="Rounded Rectangle 10"/>
          <p:cNvSpPr/>
          <p:nvPr/>
        </p:nvSpPr>
        <p:spPr>
          <a:xfrm>
            <a:off x="6263640" y="1938528"/>
            <a:ext cx="5413248" cy="1078992"/>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0" y="2084832"/>
            <a:ext cx="484632" cy="457200"/>
          </a:xfrm>
          <a:prstGeom prst="rect">
            <a:avLst/>
          </a:prstGeom>
          <a:noFill/>
        </p:spPr>
        <p:txBody>
          <a:bodyPr wrap="square" lIns="27432" rIns="27432" tIns="18288" bIns="0">
            <a:spAutoFit/>
          </a:bodyPr>
          <a:lstStyle/>
          <a:p>
            <a:pPr>
              <a:spcAft>
                <a:spcPts val="1000"/>
              </a:spcAft>
              <a:defRPr sz="2000" b="1">
                <a:solidFill>
                  <a:srgbClr val="1678D2"/>
                </a:solidFill>
                <a:latin typeface="DejaVu Sans"/>
              </a:defRPr>
            </a:pPr>
            <a:r>
              <a:t>02</a:t>
            </a:r>
          </a:p>
        </p:txBody>
      </p:sp>
      <p:sp>
        <p:nvSpPr>
          <p:cNvPr id="13" name="TextBox 12"/>
          <p:cNvSpPr txBox="1"/>
          <p:nvPr/>
        </p:nvSpPr>
        <p:spPr>
          <a:xfrm>
            <a:off x="7050024" y="2057400"/>
            <a:ext cx="4416552" cy="804672"/>
          </a:xfrm>
          <a:prstGeom prst="rect">
            <a:avLst/>
          </a:prstGeom>
          <a:noFill/>
        </p:spPr>
        <p:txBody>
          <a:bodyPr wrap="square" lIns="27432" rIns="27432" tIns="18288" bIns="0">
            <a:spAutoFit/>
          </a:bodyPr>
          <a:lstStyle/>
          <a:p>
            <a:pPr>
              <a:spcAft>
                <a:spcPts val="1000"/>
              </a:spcAft>
              <a:defRPr sz="2000" b="1">
                <a:solidFill>
                  <a:srgbClr val="15365B"/>
                </a:solidFill>
                <a:latin typeface="DejaVu Sans"/>
              </a:defRPr>
            </a:pPr>
            <a:r>
              <a:t>FaaS hayot sikli</a:t>
            </a:r>
          </a:p>
        </p:txBody>
      </p:sp>
      <p:sp>
        <p:nvSpPr>
          <p:cNvPr id="14" name="Rounded Rectangle 13"/>
          <p:cNvSpPr/>
          <p:nvPr/>
        </p:nvSpPr>
        <p:spPr>
          <a:xfrm>
            <a:off x="594360" y="3246120"/>
            <a:ext cx="5413248" cy="1078992"/>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3392424"/>
            <a:ext cx="484632" cy="457200"/>
          </a:xfrm>
          <a:prstGeom prst="rect">
            <a:avLst/>
          </a:prstGeom>
          <a:noFill/>
        </p:spPr>
        <p:txBody>
          <a:bodyPr wrap="square" lIns="27432" rIns="27432" tIns="18288" bIns="0">
            <a:spAutoFit/>
          </a:bodyPr>
          <a:lstStyle/>
          <a:p>
            <a:pPr>
              <a:spcAft>
                <a:spcPts val="1000"/>
              </a:spcAft>
              <a:defRPr sz="2000" b="1">
                <a:solidFill>
                  <a:srgbClr val="1678D2"/>
                </a:solidFill>
                <a:latin typeface="DejaVu Sans"/>
              </a:defRPr>
            </a:pPr>
            <a:r>
              <a:t>03</a:t>
            </a:r>
          </a:p>
        </p:txBody>
      </p:sp>
      <p:sp>
        <p:nvSpPr>
          <p:cNvPr id="16" name="TextBox 15"/>
          <p:cNvSpPr txBox="1"/>
          <p:nvPr/>
        </p:nvSpPr>
        <p:spPr>
          <a:xfrm>
            <a:off x="1380744" y="3364991"/>
            <a:ext cx="4416552" cy="804672"/>
          </a:xfrm>
          <a:prstGeom prst="rect">
            <a:avLst/>
          </a:prstGeom>
          <a:noFill/>
        </p:spPr>
        <p:txBody>
          <a:bodyPr wrap="square" lIns="27432" rIns="27432" tIns="18288" bIns="0">
            <a:spAutoFit/>
          </a:bodyPr>
          <a:lstStyle/>
          <a:p>
            <a:pPr>
              <a:spcAft>
                <a:spcPts val="1000"/>
              </a:spcAft>
              <a:defRPr sz="2000" b="1">
                <a:solidFill>
                  <a:srgbClr val="15365B"/>
                </a:solidFill>
                <a:latin typeface="DejaVu Sans"/>
              </a:defRPr>
            </a:pPr>
            <a:r>
              <a:t>Event-driven arxitektura</a:t>
            </a:r>
          </a:p>
        </p:txBody>
      </p:sp>
      <p:sp>
        <p:nvSpPr>
          <p:cNvPr id="17" name="Rounded Rectangle 16"/>
          <p:cNvSpPr/>
          <p:nvPr/>
        </p:nvSpPr>
        <p:spPr>
          <a:xfrm>
            <a:off x="6263640" y="3246120"/>
            <a:ext cx="5413248" cy="1078992"/>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0" y="3392424"/>
            <a:ext cx="484632" cy="457200"/>
          </a:xfrm>
          <a:prstGeom prst="rect">
            <a:avLst/>
          </a:prstGeom>
          <a:noFill/>
        </p:spPr>
        <p:txBody>
          <a:bodyPr wrap="square" lIns="27432" rIns="27432" tIns="18288" bIns="0">
            <a:spAutoFit/>
          </a:bodyPr>
          <a:lstStyle/>
          <a:p>
            <a:pPr>
              <a:spcAft>
                <a:spcPts val="1000"/>
              </a:spcAft>
              <a:defRPr sz="2000" b="1">
                <a:solidFill>
                  <a:srgbClr val="1678D2"/>
                </a:solidFill>
                <a:latin typeface="DejaVu Sans"/>
              </a:defRPr>
            </a:pPr>
            <a:r>
              <a:t>04</a:t>
            </a:r>
          </a:p>
        </p:txBody>
      </p:sp>
      <p:sp>
        <p:nvSpPr>
          <p:cNvPr id="19" name="TextBox 18"/>
          <p:cNvSpPr txBox="1"/>
          <p:nvPr/>
        </p:nvSpPr>
        <p:spPr>
          <a:xfrm>
            <a:off x="7050024" y="3364991"/>
            <a:ext cx="4416552" cy="804672"/>
          </a:xfrm>
          <a:prstGeom prst="rect">
            <a:avLst/>
          </a:prstGeom>
          <a:noFill/>
        </p:spPr>
        <p:txBody>
          <a:bodyPr wrap="square" lIns="27432" rIns="27432" tIns="18288" bIns="0">
            <a:spAutoFit/>
          </a:bodyPr>
          <a:lstStyle/>
          <a:p>
            <a:pPr>
              <a:spcAft>
                <a:spcPts val="1000"/>
              </a:spcAft>
              <a:defRPr sz="2000" b="1">
                <a:solidFill>
                  <a:srgbClr val="15365B"/>
                </a:solidFill>
                <a:latin typeface="DejaVu Sans"/>
              </a:defRPr>
            </a:pPr>
            <a:r>
              <a:t>Idempotentlik va qayta urinish</a:t>
            </a:r>
          </a:p>
        </p:txBody>
      </p:sp>
      <p:sp>
        <p:nvSpPr>
          <p:cNvPr id="20" name="Rounded Rectangle 19"/>
          <p:cNvSpPr/>
          <p:nvPr/>
        </p:nvSpPr>
        <p:spPr>
          <a:xfrm>
            <a:off x="594360" y="4553712"/>
            <a:ext cx="5413248" cy="1078992"/>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 y="4700016"/>
            <a:ext cx="484632" cy="457200"/>
          </a:xfrm>
          <a:prstGeom prst="rect">
            <a:avLst/>
          </a:prstGeom>
          <a:noFill/>
        </p:spPr>
        <p:txBody>
          <a:bodyPr wrap="square" lIns="27432" rIns="27432" tIns="18288" bIns="0">
            <a:spAutoFit/>
          </a:bodyPr>
          <a:lstStyle/>
          <a:p>
            <a:pPr>
              <a:spcAft>
                <a:spcPts val="1000"/>
              </a:spcAft>
              <a:defRPr sz="2000" b="1">
                <a:solidFill>
                  <a:srgbClr val="1678D2"/>
                </a:solidFill>
                <a:latin typeface="DejaVu Sans"/>
              </a:defRPr>
            </a:pPr>
            <a:r>
              <a:t>05</a:t>
            </a:r>
          </a:p>
        </p:txBody>
      </p:sp>
      <p:sp>
        <p:nvSpPr>
          <p:cNvPr id="22" name="TextBox 21"/>
          <p:cNvSpPr txBox="1"/>
          <p:nvPr/>
        </p:nvSpPr>
        <p:spPr>
          <a:xfrm>
            <a:off x="1380744" y="4672584"/>
            <a:ext cx="4416552" cy="804672"/>
          </a:xfrm>
          <a:prstGeom prst="rect">
            <a:avLst/>
          </a:prstGeom>
          <a:noFill/>
        </p:spPr>
        <p:txBody>
          <a:bodyPr wrap="square" lIns="27432" rIns="27432" tIns="18288" bIns="0">
            <a:spAutoFit/>
          </a:bodyPr>
          <a:lstStyle/>
          <a:p>
            <a:pPr>
              <a:spcAft>
                <a:spcPts val="1000"/>
              </a:spcAft>
              <a:defRPr sz="2000" b="1">
                <a:solidFill>
                  <a:srgbClr val="15365B"/>
                </a:solidFill>
                <a:latin typeface="DejaVu Sans"/>
              </a:defRPr>
            </a:pPr>
            <a:r>
              <a:t>Afzalliklar va texnik cheklovlar</a:t>
            </a:r>
          </a:p>
        </p:txBody>
      </p:sp>
      <p:sp>
        <p:nvSpPr>
          <p:cNvPr id="23" name="Rounded Rectangle 22"/>
          <p:cNvSpPr/>
          <p:nvPr/>
        </p:nvSpPr>
        <p:spPr>
          <a:xfrm>
            <a:off x="6263640" y="4553712"/>
            <a:ext cx="5413248" cy="1078992"/>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0" y="4700016"/>
            <a:ext cx="484632" cy="457200"/>
          </a:xfrm>
          <a:prstGeom prst="rect">
            <a:avLst/>
          </a:prstGeom>
          <a:noFill/>
        </p:spPr>
        <p:txBody>
          <a:bodyPr wrap="square" lIns="27432" rIns="27432" tIns="18288" bIns="0">
            <a:spAutoFit/>
          </a:bodyPr>
          <a:lstStyle/>
          <a:p>
            <a:pPr>
              <a:spcAft>
                <a:spcPts val="1000"/>
              </a:spcAft>
              <a:defRPr sz="2000" b="1">
                <a:solidFill>
                  <a:srgbClr val="1678D2"/>
                </a:solidFill>
                <a:latin typeface="DejaVu Sans"/>
              </a:defRPr>
            </a:pPr>
            <a:r>
              <a:t>06</a:t>
            </a:r>
          </a:p>
        </p:txBody>
      </p:sp>
      <p:sp>
        <p:nvSpPr>
          <p:cNvPr id="25" name="TextBox 24"/>
          <p:cNvSpPr txBox="1"/>
          <p:nvPr/>
        </p:nvSpPr>
        <p:spPr>
          <a:xfrm>
            <a:off x="7050024" y="4672584"/>
            <a:ext cx="4416552" cy="804672"/>
          </a:xfrm>
          <a:prstGeom prst="rect">
            <a:avLst/>
          </a:prstGeom>
          <a:noFill/>
        </p:spPr>
        <p:txBody>
          <a:bodyPr wrap="square" lIns="27432" rIns="27432" tIns="18288" bIns="0">
            <a:spAutoFit/>
          </a:bodyPr>
          <a:lstStyle/>
          <a:p>
            <a:pPr>
              <a:spcAft>
                <a:spcPts val="1000"/>
              </a:spcAft>
              <a:defRPr sz="2000" b="1">
                <a:solidFill>
                  <a:srgbClr val="15365B"/>
                </a:solidFill>
                <a:latin typeface="DejaVu Sans"/>
              </a:defRPr>
            </a:pPr>
            <a:r>
              <a:t>Platformalar va xarajat modeli</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058400" cy="274320"/>
          </a:xfrm>
          <a:prstGeom prst="rect">
            <a:avLst/>
          </a:prstGeom>
          <a:noFill/>
        </p:spPr>
        <p:txBody>
          <a:bodyPr wrap="square" lIns="27432" rIns="27432" tIns="18288" bIns="0">
            <a:spAutoFit/>
          </a:bodyPr>
          <a:lstStyle/>
          <a:p>
            <a:pPr>
              <a:spcAft>
                <a:spcPts val="1000"/>
              </a:spcAft>
              <a:defRPr sz="1100" b="1">
                <a:solidFill>
                  <a:srgbClr val="1678D2"/>
                </a:solidFill>
                <a:latin typeface="DejaVu Sans"/>
              </a:defRPr>
            </a:pPr>
            <a:r>
              <a:t>M15 · ASOSIY TUSHUNCHA 1/6</a:t>
            </a:r>
          </a:p>
        </p:txBody>
      </p:sp>
      <p:sp>
        <p:nvSpPr>
          <p:cNvPr id="4" name="TextBox 3"/>
          <p:cNvSpPr txBox="1"/>
          <p:nvPr/>
        </p:nvSpPr>
        <p:spPr>
          <a:xfrm>
            <a:off x="502920" y="777240"/>
            <a:ext cx="11155680" cy="960120"/>
          </a:xfrm>
          <a:prstGeom prst="rect">
            <a:avLst/>
          </a:prstGeom>
          <a:noFill/>
        </p:spPr>
        <p:txBody>
          <a:bodyPr wrap="square" lIns="27432" rIns="27432" tIns="18288" bIns="0">
            <a:spAutoFit/>
          </a:bodyPr>
          <a:lstStyle/>
          <a:p>
            <a:pPr>
              <a:spcAft>
                <a:spcPts val="1000"/>
              </a:spcAft>
              <a:defRPr sz="2900" b="1">
                <a:solidFill>
                  <a:srgbClr val="15365B"/>
                </a:solidFill>
                <a:latin typeface="DejaVu Sans"/>
              </a:defRPr>
            </a:pPr>
            <a:r>
              <a:t>Serverless ning mohiyati</a:t>
            </a:r>
          </a:p>
        </p:txBody>
      </p:sp>
      <p:sp>
        <p:nvSpPr>
          <p:cNvPr id="5" name="Rectangle 4"/>
          <p:cNvSpPr/>
          <p:nvPr/>
        </p:nvSpPr>
        <p:spPr>
          <a:xfrm>
            <a:off x="548640" y="6428232"/>
            <a:ext cx="11064240" cy="10972"/>
          </a:xfrm>
          <a:prstGeom prst="rect">
            <a:avLst/>
          </a:prstGeom>
          <a:solidFill>
            <a:srgbClr val="CEE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9144000" cy="182880"/>
          </a:xfrm>
          <a:prstGeom prst="rect">
            <a:avLst/>
          </a:prstGeom>
          <a:noFill/>
        </p:spPr>
        <p:txBody>
          <a:bodyPr wrap="square" lIns="27432" rIns="27432" tIns="18288" bIns="0">
            <a:spAutoFit/>
          </a:bodyPr>
          <a:lstStyle/>
          <a:p>
            <a:pPr>
              <a:spcAft>
                <a:spcPts val="1000"/>
              </a:spcAft>
              <a:defRPr sz="900" b="0">
                <a:solidFill>
                  <a:srgbClr val="53687D"/>
                </a:solidFill>
                <a:latin typeface="DejaVu Sans"/>
              </a:defRPr>
            </a:pPr>
            <a:r>
              <a:t>BTST206  •  BULUT TEXNOLOGIYALARI VA SERVISLAR  •  2027–2028</a:t>
            </a:r>
          </a:p>
        </p:txBody>
      </p:sp>
      <p:sp>
        <p:nvSpPr>
          <p:cNvPr id="7" name="TextBox 6"/>
          <p:cNvSpPr txBox="1"/>
          <p:nvPr/>
        </p:nvSpPr>
        <p:spPr>
          <a:xfrm>
            <a:off x="10607040" y="6473952"/>
            <a:ext cx="1005840" cy="274320"/>
          </a:xfrm>
          <a:prstGeom prst="rect">
            <a:avLst/>
          </a:prstGeom>
          <a:noFill/>
        </p:spPr>
        <p:txBody>
          <a:bodyPr wrap="square" lIns="27432" rIns="27432" tIns="18288" bIns="0">
            <a:spAutoFit/>
          </a:bodyPr>
          <a:lstStyle/>
          <a:p>
            <a:pPr>
              <a:spcAft>
                <a:spcPts val="1000"/>
              </a:spcAft>
              <a:defRPr sz="1200" b="1">
                <a:solidFill>
                  <a:srgbClr val="1678D2"/>
                </a:solidFill>
                <a:latin typeface="DejaVu Sans"/>
              </a:defRPr>
            </a:pPr>
            <a:r>
              <a:t>03</a:t>
            </a:r>
          </a:p>
        </p:txBody>
      </p:sp>
      <p:sp>
        <p:nvSpPr>
          <p:cNvPr id="8" name="TextBox 7"/>
          <p:cNvSpPr txBox="1"/>
          <p:nvPr/>
        </p:nvSpPr>
        <p:spPr>
          <a:xfrm>
            <a:off x="594360" y="1865376"/>
            <a:ext cx="7086600" cy="1143000"/>
          </a:xfrm>
          <a:prstGeom prst="rect">
            <a:avLst/>
          </a:prstGeom>
          <a:noFill/>
        </p:spPr>
        <p:txBody>
          <a:bodyPr wrap="square" lIns="27432" rIns="27432" tIns="18288" bIns="0">
            <a:spAutoFit/>
          </a:bodyPr>
          <a:lstStyle/>
          <a:p>
            <a:pPr>
              <a:spcAft>
                <a:spcPts val="1000"/>
              </a:spcAft>
              <a:defRPr sz="3000" b="1">
                <a:solidFill>
                  <a:srgbClr val="1678D2"/>
                </a:solidFill>
                <a:latin typeface="DejaVu Sans"/>
              </a:defRPr>
            </a:pPr>
            <a:r>
              <a:t>Server boshqaruvi yashiriladi, kod va hodisa markazga chiqadi.</a:t>
            </a:r>
          </a:p>
        </p:txBody>
      </p:sp>
      <p:sp>
        <p:nvSpPr>
          <p:cNvPr id="9" name="Rounded Rectangle 8"/>
          <p:cNvSpPr/>
          <p:nvPr/>
        </p:nvSpPr>
        <p:spPr>
          <a:xfrm>
            <a:off x="594360" y="3337560"/>
            <a:ext cx="7040880" cy="2039112"/>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538728"/>
            <a:ext cx="6556248" cy="1783080"/>
          </a:xfrm>
          <a:prstGeom prst="rect">
            <a:avLst/>
          </a:prstGeom>
          <a:noFill/>
        </p:spPr>
        <p:txBody>
          <a:bodyPr wrap="square" lIns="27432" rIns="27432" tIns="18288" bIns="0">
            <a:spAutoFit/>
          </a:bodyPr>
          <a:lstStyle/>
          <a:p>
            <a:pPr>
              <a:spcAft>
                <a:spcPts val="1000"/>
              </a:spcAft>
              <a:defRPr sz="2300" b="0">
                <a:solidFill>
                  <a:srgbClr val="15365B"/>
                </a:solidFill>
                <a:latin typeface="DejaVu Sans"/>
              </a:defRPr>
            </a:pPr>
            <a:r>
              <a:t>Kam chaqiriladigan hisobot funksiyasi uchun doim ishlab turadigan alohida virtual mashina shart bo‘lmasligi mumkin.</a:t>
            </a:r>
          </a:p>
        </p:txBody>
      </p:sp>
      <p:sp>
        <p:nvSpPr>
          <p:cNvPr id="11" name="Rounded Rectangle 10"/>
          <p:cNvSpPr/>
          <p:nvPr/>
        </p:nvSpPr>
        <p:spPr>
          <a:xfrm>
            <a:off x="8183879" y="4965192"/>
            <a:ext cx="3063240" cy="146304"/>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Freeform 11"/>
          <p:cNvSpPr/>
          <p:nvPr/>
        </p:nvSpPr>
        <p:spPr>
          <a:xfrm>
            <a:off x="8321040" y="3120390"/>
            <a:ext cx="1042416" cy="217170"/>
          </a:xfrm>
          <a:custGeom>
            <a:avLst/>
            <a:gdLst/>
            <a:ahLst/>
            <a:cxnLst/>
            <a:rect l="l" t="t" r="r" b="b"/>
            <a:pathLst>
              <a:path w="1042416" h="217170">
                <a:moveTo>
                  <a:pt x="0" y="217170"/>
                </a:moveTo>
                <a:lnTo>
                  <a:pt x="825246" y="217170"/>
                </a:lnTo>
                <a:lnTo>
                  <a:pt x="1042416" y="0"/>
                </a:lnTo>
                <a:lnTo>
                  <a:pt x="217170" y="0"/>
                </a:lnTo>
                <a:close/>
              </a:path>
            </a:pathLst>
          </a:custGeom>
          <a:solidFill>
            <a:srgbClr val="DAED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Freeform 12"/>
          <p:cNvSpPr/>
          <p:nvPr/>
        </p:nvSpPr>
        <p:spPr>
          <a:xfrm>
            <a:off x="9146286" y="3120390"/>
            <a:ext cx="217170" cy="1780793"/>
          </a:xfrm>
          <a:custGeom>
            <a:avLst/>
            <a:gdLst/>
            <a:ahLst/>
            <a:cxnLst/>
            <a:rect l="l" t="t" r="r" b="b"/>
            <a:pathLst>
              <a:path w="217170" h="1780793">
                <a:moveTo>
                  <a:pt x="0" y="217170"/>
                </a:moveTo>
                <a:lnTo>
                  <a:pt x="217170" y="0"/>
                </a:lnTo>
                <a:lnTo>
                  <a:pt x="217170" y="1563624"/>
                </a:lnTo>
                <a:lnTo>
                  <a:pt x="0" y="1780793"/>
                </a:lnTo>
                <a:close/>
              </a:path>
            </a:pathLst>
          </a:custGeom>
          <a:solidFill>
            <a:srgbClr val="7EB7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21040" y="3337560"/>
            <a:ext cx="825246" cy="1563624"/>
          </a:xfrm>
          <a:prstGeom prst="rect">
            <a:avLst/>
          </a:prstGeom>
          <a:solidFill>
            <a:srgbClr val="D7EA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407908" y="3493922"/>
            <a:ext cx="642823" cy="156362"/>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894368" y="3537356"/>
            <a:ext cx="52120" cy="43434"/>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407908" y="3737152"/>
            <a:ext cx="642823" cy="156362"/>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894368" y="3780586"/>
            <a:ext cx="52120" cy="43434"/>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407908" y="3980383"/>
            <a:ext cx="642823" cy="156362"/>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894368" y="4023817"/>
            <a:ext cx="52120" cy="43434"/>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407908" y="4223613"/>
            <a:ext cx="642823" cy="156362"/>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894368" y="4267047"/>
            <a:ext cx="52120" cy="43434"/>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407908" y="4466844"/>
            <a:ext cx="642823" cy="156362"/>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894368" y="4510278"/>
            <a:ext cx="52120" cy="43434"/>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Freeform 24"/>
          <p:cNvSpPr/>
          <p:nvPr/>
        </p:nvSpPr>
        <p:spPr>
          <a:xfrm>
            <a:off x="9628632" y="2811779"/>
            <a:ext cx="1207008" cy="251460"/>
          </a:xfrm>
          <a:custGeom>
            <a:avLst/>
            <a:gdLst/>
            <a:ahLst/>
            <a:cxnLst/>
            <a:rect l="l" t="t" r="r" b="b"/>
            <a:pathLst>
              <a:path w="1207008" h="251460">
                <a:moveTo>
                  <a:pt x="0" y="251460"/>
                </a:moveTo>
                <a:lnTo>
                  <a:pt x="955548" y="251460"/>
                </a:lnTo>
                <a:lnTo>
                  <a:pt x="1207008" y="0"/>
                </a:lnTo>
                <a:lnTo>
                  <a:pt x="251460" y="0"/>
                </a:lnTo>
                <a:close/>
              </a:path>
            </a:pathLst>
          </a:custGeom>
          <a:solidFill>
            <a:srgbClr val="DAED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Freeform 25"/>
          <p:cNvSpPr/>
          <p:nvPr/>
        </p:nvSpPr>
        <p:spPr>
          <a:xfrm>
            <a:off x="10584180" y="2811779"/>
            <a:ext cx="251460" cy="2061973"/>
          </a:xfrm>
          <a:custGeom>
            <a:avLst/>
            <a:gdLst/>
            <a:ahLst/>
            <a:cxnLst/>
            <a:rect l="l" t="t" r="r" b="b"/>
            <a:pathLst>
              <a:path w="251460" h="2061973">
                <a:moveTo>
                  <a:pt x="0" y="251460"/>
                </a:moveTo>
                <a:lnTo>
                  <a:pt x="251460" y="0"/>
                </a:lnTo>
                <a:lnTo>
                  <a:pt x="251460" y="1810513"/>
                </a:lnTo>
                <a:lnTo>
                  <a:pt x="0" y="2061973"/>
                </a:lnTo>
                <a:close/>
              </a:path>
            </a:pathLst>
          </a:custGeom>
          <a:solidFill>
            <a:srgbClr val="7EB7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9628632" y="3063239"/>
            <a:ext cx="955547" cy="1810512"/>
          </a:xfrm>
          <a:prstGeom prst="rect">
            <a:avLst/>
          </a:prstGeom>
          <a:solidFill>
            <a:srgbClr val="D7EA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729215" y="3244291"/>
            <a:ext cx="744321" cy="181051"/>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0292486" y="3294583"/>
            <a:ext cx="60350" cy="50292"/>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729215" y="3525926"/>
            <a:ext cx="744321" cy="181051"/>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10292486" y="3576218"/>
            <a:ext cx="60350" cy="50292"/>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729215" y="3807561"/>
            <a:ext cx="744321" cy="181051"/>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10292486" y="3857853"/>
            <a:ext cx="60350" cy="50292"/>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729215" y="4089196"/>
            <a:ext cx="744321" cy="181051"/>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10292486" y="4139488"/>
            <a:ext cx="60350" cy="50292"/>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729215" y="4370831"/>
            <a:ext cx="744321" cy="181051"/>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0292486" y="4421124"/>
            <a:ext cx="60350" cy="50292"/>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Cloud 37"/>
          <p:cNvSpPr/>
          <p:nvPr/>
        </p:nvSpPr>
        <p:spPr>
          <a:xfrm>
            <a:off x="8668512" y="2103120"/>
            <a:ext cx="2286000" cy="1188720"/>
          </a:xfrm>
          <a:prstGeom prst="cloud">
            <a:avLst/>
          </a:prstGeom>
          <a:solidFill>
            <a:srgbClr val="D8F1FF"/>
          </a:solidFill>
          <a:ln>
            <a:solidFill>
              <a:srgbClr val="5CC9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058400" cy="274320"/>
          </a:xfrm>
          <a:prstGeom prst="rect">
            <a:avLst/>
          </a:prstGeom>
          <a:noFill/>
        </p:spPr>
        <p:txBody>
          <a:bodyPr wrap="square" lIns="27432" rIns="27432" tIns="18288" bIns="0">
            <a:spAutoFit/>
          </a:bodyPr>
          <a:lstStyle/>
          <a:p>
            <a:pPr>
              <a:spcAft>
                <a:spcPts val="1000"/>
              </a:spcAft>
              <a:defRPr sz="1100" b="1">
                <a:solidFill>
                  <a:srgbClr val="1678D2"/>
                </a:solidFill>
                <a:latin typeface="DejaVu Sans"/>
              </a:defRPr>
            </a:pPr>
            <a:r>
              <a:t>M15 · ASOSIY TUSHUNCHA 2/6</a:t>
            </a:r>
          </a:p>
        </p:txBody>
      </p:sp>
      <p:sp>
        <p:nvSpPr>
          <p:cNvPr id="4" name="TextBox 3"/>
          <p:cNvSpPr txBox="1"/>
          <p:nvPr/>
        </p:nvSpPr>
        <p:spPr>
          <a:xfrm>
            <a:off x="502920" y="777240"/>
            <a:ext cx="11155680" cy="960120"/>
          </a:xfrm>
          <a:prstGeom prst="rect">
            <a:avLst/>
          </a:prstGeom>
          <a:noFill/>
        </p:spPr>
        <p:txBody>
          <a:bodyPr wrap="square" lIns="27432" rIns="27432" tIns="18288" bIns="0">
            <a:spAutoFit/>
          </a:bodyPr>
          <a:lstStyle/>
          <a:p>
            <a:pPr>
              <a:spcAft>
                <a:spcPts val="1000"/>
              </a:spcAft>
              <a:defRPr sz="2900" b="1">
                <a:solidFill>
                  <a:srgbClr val="15365B"/>
                </a:solidFill>
                <a:latin typeface="DejaVu Sans"/>
              </a:defRPr>
            </a:pPr>
            <a:r>
              <a:t>FaaS hayot sikli</a:t>
            </a:r>
          </a:p>
        </p:txBody>
      </p:sp>
      <p:sp>
        <p:nvSpPr>
          <p:cNvPr id="5" name="Rectangle 4"/>
          <p:cNvSpPr/>
          <p:nvPr/>
        </p:nvSpPr>
        <p:spPr>
          <a:xfrm>
            <a:off x="548640" y="6428232"/>
            <a:ext cx="11064240" cy="10972"/>
          </a:xfrm>
          <a:prstGeom prst="rect">
            <a:avLst/>
          </a:prstGeom>
          <a:solidFill>
            <a:srgbClr val="CEE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9144000" cy="182880"/>
          </a:xfrm>
          <a:prstGeom prst="rect">
            <a:avLst/>
          </a:prstGeom>
          <a:noFill/>
        </p:spPr>
        <p:txBody>
          <a:bodyPr wrap="square" lIns="27432" rIns="27432" tIns="18288" bIns="0">
            <a:spAutoFit/>
          </a:bodyPr>
          <a:lstStyle/>
          <a:p>
            <a:pPr>
              <a:spcAft>
                <a:spcPts val="1000"/>
              </a:spcAft>
              <a:defRPr sz="900" b="0">
                <a:solidFill>
                  <a:srgbClr val="53687D"/>
                </a:solidFill>
                <a:latin typeface="DejaVu Sans"/>
              </a:defRPr>
            </a:pPr>
            <a:r>
              <a:t>BTST206  •  BULUT TEXNOLOGIYALARI VA SERVISLAR  •  2027–2028</a:t>
            </a:r>
          </a:p>
        </p:txBody>
      </p:sp>
      <p:sp>
        <p:nvSpPr>
          <p:cNvPr id="7" name="TextBox 6"/>
          <p:cNvSpPr txBox="1"/>
          <p:nvPr/>
        </p:nvSpPr>
        <p:spPr>
          <a:xfrm>
            <a:off x="10607040" y="6473952"/>
            <a:ext cx="1005840" cy="274320"/>
          </a:xfrm>
          <a:prstGeom prst="rect">
            <a:avLst/>
          </a:prstGeom>
          <a:noFill/>
        </p:spPr>
        <p:txBody>
          <a:bodyPr wrap="square" lIns="27432" rIns="27432" tIns="18288" bIns="0">
            <a:spAutoFit/>
          </a:bodyPr>
          <a:lstStyle/>
          <a:p>
            <a:pPr>
              <a:spcAft>
                <a:spcPts val="1000"/>
              </a:spcAft>
              <a:defRPr sz="1200" b="1">
                <a:solidFill>
                  <a:srgbClr val="1678D2"/>
                </a:solidFill>
                <a:latin typeface="DejaVu Sans"/>
              </a:defRPr>
            </a:pPr>
            <a:r>
              <a:t>04</a:t>
            </a:r>
          </a:p>
        </p:txBody>
      </p:sp>
      <p:sp>
        <p:nvSpPr>
          <p:cNvPr id="8" name="Rounded Rectangle 7"/>
          <p:cNvSpPr/>
          <p:nvPr/>
        </p:nvSpPr>
        <p:spPr>
          <a:xfrm>
            <a:off x="594360" y="1965960"/>
            <a:ext cx="5321808" cy="3502152"/>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240280"/>
            <a:ext cx="4828032" cy="365760"/>
          </a:xfrm>
          <a:prstGeom prst="rect">
            <a:avLst/>
          </a:prstGeom>
          <a:noFill/>
        </p:spPr>
        <p:txBody>
          <a:bodyPr wrap="square" lIns="27432" rIns="27432" tIns="18288" bIns="0">
            <a:spAutoFit/>
          </a:bodyPr>
          <a:lstStyle/>
          <a:p>
            <a:pPr>
              <a:spcAft>
                <a:spcPts val="1000"/>
              </a:spcAft>
              <a:defRPr sz="1300" b="1">
                <a:solidFill>
                  <a:srgbClr val="1678D2"/>
                </a:solidFill>
                <a:latin typeface="DejaVu Sans"/>
              </a:defRPr>
            </a:pPr>
            <a:r>
              <a:t>QANDAY ISHLAYDI?</a:t>
            </a:r>
          </a:p>
        </p:txBody>
      </p:sp>
      <p:sp>
        <p:nvSpPr>
          <p:cNvPr id="10" name="TextBox 9"/>
          <p:cNvSpPr txBox="1"/>
          <p:nvPr/>
        </p:nvSpPr>
        <p:spPr>
          <a:xfrm>
            <a:off x="822960" y="2852928"/>
            <a:ext cx="4818888" cy="2331720"/>
          </a:xfrm>
          <a:prstGeom prst="rect">
            <a:avLst/>
          </a:prstGeom>
          <a:noFill/>
        </p:spPr>
        <p:txBody>
          <a:bodyPr wrap="square" lIns="27432" rIns="27432" tIns="18288" bIns="0">
            <a:spAutoFit/>
          </a:bodyPr>
          <a:lstStyle/>
          <a:p>
            <a:pPr>
              <a:spcAft>
                <a:spcPts val="1000"/>
              </a:spcAft>
              <a:defRPr sz="2500" b="0">
                <a:solidFill>
                  <a:srgbClr val="15365B"/>
                </a:solidFill>
                <a:latin typeface="DejaVu Sans"/>
              </a:defRPr>
            </a:pPr>
            <a:r>
              <a:t>Trigger HTTP, navbat, jadval yoki fayl hodisasi bo‘lishi mumkin.</a:t>
            </a:r>
          </a:p>
        </p:txBody>
      </p:sp>
      <p:sp>
        <p:nvSpPr>
          <p:cNvPr id="11" name="Rounded Rectangle 10"/>
          <p:cNvSpPr/>
          <p:nvPr/>
        </p:nvSpPr>
        <p:spPr>
          <a:xfrm>
            <a:off x="6263640" y="1965960"/>
            <a:ext cx="5321808" cy="3502152"/>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2240280"/>
            <a:ext cx="4828032" cy="365760"/>
          </a:xfrm>
          <a:prstGeom prst="rect">
            <a:avLst/>
          </a:prstGeom>
          <a:noFill/>
        </p:spPr>
        <p:txBody>
          <a:bodyPr wrap="square" lIns="27432" rIns="27432" tIns="18288" bIns="0">
            <a:spAutoFit/>
          </a:bodyPr>
          <a:lstStyle/>
          <a:p>
            <a:pPr>
              <a:spcAft>
                <a:spcPts val="1000"/>
              </a:spcAft>
              <a:defRPr sz="1300" b="1">
                <a:solidFill>
                  <a:srgbClr val="1678D2"/>
                </a:solidFill>
                <a:latin typeface="DejaVu Sans"/>
              </a:defRPr>
            </a:pPr>
            <a:r>
              <a:t>ESDA SAQLANG</a:t>
            </a:r>
          </a:p>
        </p:txBody>
      </p:sp>
      <p:sp>
        <p:nvSpPr>
          <p:cNvPr id="13" name="TextBox 12"/>
          <p:cNvSpPr txBox="1"/>
          <p:nvPr/>
        </p:nvSpPr>
        <p:spPr>
          <a:xfrm>
            <a:off x="6492240" y="2852928"/>
            <a:ext cx="4818888" cy="2331720"/>
          </a:xfrm>
          <a:prstGeom prst="rect">
            <a:avLst/>
          </a:prstGeom>
          <a:noFill/>
        </p:spPr>
        <p:txBody>
          <a:bodyPr wrap="square" lIns="27432" rIns="27432" tIns="18288" bIns="0">
            <a:spAutoFit/>
          </a:bodyPr>
          <a:lstStyle/>
          <a:p>
            <a:pPr>
              <a:spcAft>
                <a:spcPts val="1000"/>
              </a:spcAft>
              <a:defRPr sz="2500" b="0">
                <a:solidFill>
                  <a:srgbClr val="15365B"/>
                </a:solidFill>
                <a:latin typeface="DejaVu Sans"/>
              </a:defRPr>
            </a:pPr>
            <a:r>
              <a:t>Mahalliy xotira yoki vaqtinchalik diskni doimiy ma’lumotlar bazasi deb qabul qilish mumkin emas.</a:t>
            </a:r>
          </a:p>
        </p:txBody>
      </p:sp>
      <p:sp>
        <p:nvSpPr>
          <p:cNvPr id="14" name="TextBox 13"/>
          <p:cNvSpPr txBox="1"/>
          <p:nvPr/>
        </p:nvSpPr>
        <p:spPr>
          <a:xfrm>
            <a:off x="640080" y="5742432"/>
            <a:ext cx="10881360" cy="365760"/>
          </a:xfrm>
          <a:prstGeom prst="rect">
            <a:avLst/>
          </a:prstGeom>
          <a:noFill/>
        </p:spPr>
        <p:txBody>
          <a:bodyPr wrap="square" lIns="27432" rIns="27432" tIns="18288" bIns="0">
            <a:spAutoFit/>
          </a:bodyPr>
          <a:lstStyle/>
          <a:p>
            <a:pPr>
              <a:spcAft>
                <a:spcPts val="1000"/>
              </a:spcAft>
              <a:defRPr sz="1800" b="1">
                <a:solidFill>
                  <a:srgbClr val="1678D2"/>
                </a:solidFill>
                <a:latin typeface="DejaVu Sans"/>
              </a:defRPr>
            </a:pPr>
            <a:r>
              <a:t>Trigger → kod → natija → tugash.</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058400" cy="274320"/>
          </a:xfrm>
          <a:prstGeom prst="rect">
            <a:avLst/>
          </a:prstGeom>
          <a:noFill/>
        </p:spPr>
        <p:txBody>
          <a:bodyPr wrap="square" lIns="27432" rIns="27432" tIns="18288" bIns="0">
            <a:spAutoFit/>
          </a:bodyPr>
          <a:lstStyle/>
          <a:p>
            <a:pPr>
              <a:spcAft>
                <a:spcPts val="1000"/>
              </a:spcAft>
              <a:defRPr sz="1100" b="1">
                <a:solidFill>
                  <a:srgbClr val="1678D2"/>
                </a:solidFill>
                <a:latin typeface="DejaVu Sans"/>
              </a:defRPr>
            </a:pPr>
            <a:r>
              <a:t>M15 · ASOSIY TUSHUNCHA 3/6</a:t>
            </a:r>
          </a:p>
        </p:txBody>
      </p:sp>
      <p:sp>
        <p:nvSpPr>
          <p:cNvPr id="4" name="TextBox 3"/>
          <p:cNvSpPr txBox="1"/>
          <p:nvPr/>
        </p:nvSpPr>
        <p:spPr>
          <a:xfrm>
            <a:off x="502920" y="777240"/>
            <a:ext cx="11155680" cy="960120"/>
          </a:xfrm>
          <a:prstGeom prst="rect">
            <a:avLst/>
          </a:prstGeom>
          <a:noFill/>
        </p:spPr>
        <p:txBody>
          <a:bodyPr wrap="square" lIns="27432" rIns="27432" tIns="18288" bIns="0">
            <a:spAutoFit/>
          </a:bodyPr>
          <a:lstStyle/>
          <a:p>
            <a:pPr>
              <a:spcAft>
                <a:spcPts val="1000"/>
              </a:spcAft>
              <a:defRPr sz="2900" b="1">
                <a:solidFill>
                  <a:srgbClr val="15365B"/>
                </a:solidFill>
                <a:latin typeface="DejaVu Sans"/>
              </a:defRPr>
            </a:pPr>
            <a:r>
              <a:t>Event-driven arxitektura</a:t>
            </a:r>
          </a:p>
        </p:txBody>
      </p:sp>
      <p:sp>
        <p:nvSpPr>
          <p:cNvPr id="5" name="Rectangle 4"/>
          <p:cNvSpPr/>
          <p:nvPr/>
        </p:nvSpPr>
        <p:spPr>
          <a:xfrm>
            <a:off x="548640" y="6428232"/>
            <a:ext cx="11064240" cy="10972"/>
          </a:xfrm>
          <a:prstGeom prst="rect">
            <a:avLst/>
          </a:prstGeom>
          <a:solidFill>
            <a:srgbClr val="CEE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9144000" cy="182880"/>
          </a:xfrm>
          <a:prstGeom prst="rect">
            <a:avLst/>
          </a:prstGeom>
          <a:noFill/>
        </p:spPr>
        <p:txBody>
          <a:bodyPr wrap="square" lIns="27432" rIns="27432" tIns="18288" bIns="0">
            <a:spAutoFit/>
          </a:bodyPr>
          <a:lstStyle/>
          <a:p>
            <a:pPr>
              <a:spcAft>
                <a:spcPts val="1000"/>
              </a:spcAft>
              <a:defRPr sz="900" b="0">
                <a:solidFill>
                  <a:srgbClr val="53687D"/>
                </a:solidFill>
                <a:latin typeface="DejaVu Sans"/>
              </a:defRPr>
            </a:pPr>
            <a:r>
              <a:t>BTST206  •  BULUT TEXNOLOGIYALARI VA SERVISLAR  •  2027–2028</a:t>
            </a:r>
          </a:p>
        </p:txBody>
      </p:sp>
      <p:sp>
        <p:nvSpPr>
          <p:cNvPr id="7" name="TextBox 6"/>
          <p:cNvSpPr txBox="1"/>
          <p:nvPr/>
        </p:nvSpPr>
        <p:spPr>
          <a:xfrm>
            <a:off x="10607040" y="6473952"/>
            <a:ext cx="1005840" cy="274320"/>
          </a:xfrm>
          <a:prstGeom prst="rect">
            <a:avLst/>
          </a:prstGeom>
          <a:noFill/>
        </p:spPr>
        <p:txBody>
          <a:bodyPr wrap="square" lIns="27432" rIns="27432" tIns="18288" bIns="0">
            <a:spAutoFit/>
          </a:bodyPr>
          <a:lstStyle/>
          <a:p>
            <a:pPr>
              <a:spcAft>
                <a:spcPts val="1000"/>
              </a:spcAft>
              <a:defRPr sz="1200" b="1">
                <a:solidFill>
                  <a:srgbClr val="1678D2"/>
                </a:solidFill>
                <a:latin typeface="DejaVu Sans"/>
              </a:defRPr>
            </a:pPr>
            <a:r>
              <a:t>05</a:t>
            </a:r>
          </a:p>
        </p:txBody>
      </p:sp>
      <p:sp>
        <p:nvSpPr>
          <p:cNvPr id="8" name="Rectangle 7"/>
          <p:cNvSpPr/>
          <p:nvPr/>
        </p:nvSpPr>
        <p:spPr>
          <a:xfrm>
            <a:off x="594360" y="2011680"/>
            <a:ext cx="100584" cy="3337560"/>
          </a:xfrm>
          <a:prstGeom prst="rect">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32688" y="2075688"/>
            <a:ext cx="9966960" cy="1280160"/>
          </a:xfrm>
          <a:prstGeom prst="rect">
            <a:avLst/>
          </a:prstGeom>
          <a:noFill/>
        </p:spPr>
        <p:txBody>
          <a:bodyPr wrap="square" lIns="27432" rIns="27432" tIns="18288" bIns="0">
            <a:spAutoFit/>
          </a:bodyPr>
          <a:lstStyle/>
          <a:p>
            <a:pPr>
              <a:spcAft>
                <a:spcPts val="1000"/>
              </a:spcAft>
              <a:defRPr sz="3200" b="1">
                <a:solidFill>
                  <a:srgbClr val="1678D2"/>
                </a:solidFill>
                <a:latin typeface="DejaVu Sans"/>
              </a:defRPr>
            </a:pPr>
            <a:r>
              <a:t>Komponentlar hodisalar orqali bog‘lanadi.</a:t>
            </a:r>
          </a:p>
        </p:txBody>
      </p:sp>
      <p:sp>
        <p:nvSpPr>
          <p:cNvPr id="10" name="TextBox 9"/>
          <p:cNvSpPr txBox="1"/>
          <p:nvPr/>
        </p:nvSpPr>
        <p:spPr>
          <a:xfrm>
            <a:off x="960120" y="3712463"/>
            <a:ext cx="6629400" cy="1645920"/>
          </a:xfrm>
          <a:prstGeom prst="rect">
            <a:avLst/>
          </a:prstGeom>
          <a:noFill/>
        </p:spPr>
        <p:txBody>
          <a:bodyPr wrap="square" lIns="27432" rIns="27432" tIns="18288" bIns="0">
            <a:spAutoFit/>
          </a:bodyPr>
          <a:lstStyle/>
          <a:p>
            <a:pPr>
              <a:spcAft>
                <a:spcPts val="1000"/>
              </a:spcAft>
              <a:defRPr sz="2400" b="0">
                <a:solidFill>
                  <a:srgbClr val="15365B"/>
                </a:solidFill>
                <a:latin typeface="DejaVu Sans"/>
              </a:defRPr>
            </a:pPr>
            <a:r>
              <a:t>Hodisa tizimda yuz bergan o‘zgarish haqida xabardir.</a:t>
            </a:r>
          </a:p>
        </p:txBody>
      </p:sp>
      <p:sp>
        <p:nvSpPr>
          <p:cNvPr id="11" name="Rounded Rectangle 10"/>
          <p:cNvSpPr/>
          <p:nvPr/>
        </p:nvSpPr>
        <p:spPr>
          <a:xfrm>
            <a:off x="8366760" y="3822191"/>
            <a:ext cx="2971800" cy="1335024"/>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95360" y="4114800"/>
            <a:ext cx="2514600" cy="822960"/>
          </a:xfrm>
          <a:prstGeom prst="rect">
            <a:avLst/>
          </a:prstGeom>
          <a:noFill/>
        </p:spPr>
        <p:txBody>
          <a:bodyPr wrap="square" lIns="27432" rIns="27432" tIns="18288" bIns="0">
            <a:spAutoFit/>
          </a:bodyPr>
          <a:lstStyle/>
          <a:p>
            <a:pPr>
              <a:spcAft>
                <a:spcPts val="1000"/>
              </a:spcAft>
              <a:defRPr sz="1800" b="1">
                <a:solidFill>
                  <a:srgbClr val="1678D2"/>
                </a:solidFill>
                <a:latin typeface="DejaVu Sans"/>
              </a:defRPr>
            </a:pPr>
            <a:r>
              <a:t>TA’RIF → MISOL</a:t>
            </a:r>
          </a:p>
          <a:p>
            <a:pPr>
              <a:spcAft>
                <a:spcPts val="1000"/>
              </a:spcAft>
              <a:defRPr sz="1800" b="1">
                <a:solidFill>
                  <a:srgbClr val="1678D2"/>
                </a:solidFill>
                <a:latin typeface="DejaVu Sans"/>
              </a:defRPr>
            </a:pPr>
            <a:r>
              <a:t>→ CHEGARA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058400" cy="274320"/>
          </a:xfrm>
          <a:prstGeom prst="rect">
            <a:avLst/>
          </a:prstGeom>
          <a:noFill/>
        </p:spPr>
        <p:txBody>
          <a:bodyPr wrap="square" lIns="27432" rIns="27432" tIns="18288" bIns="0">
            <a:spAutoFit/>
          </a:bodyPr>
          <a:lstStyle/>
          <a:p>
            <a:pPr>
              <a:spcAft>
                <a:spcPts val="1000"/>
              </a:spcAft>
              <a:defRPr sz="1100" b="1">
                <a:solidFill>
                  <a:srgbClr val="1678D2"/>
                </a:solidFill>
                <a:latin typeface="DejaVu Sans"/>
              </a:defRPr>
            </a:pPr>
            <a:r>
              <a:t>M15 · ASOSIY TUSHUNCHA 4/6</a:t>
            </a:r>
          </a:p>
        </p:txBody>
      </p:sp>
      <p:sp>
        <p:nvSpPr>
          <p:cNvPr id="4" name="TextBox 3"/>
          <p:cNvSpPr txBox="1"/>
          <p:nvPr/>
        </p:nvSpPr>
        <p:spPr>
          <a:xfrm>
            <a:off x="502920" y="777240"/>
            <a:ext cx="11155680" cy="960120"/>
          </a:xfrm>
          <a:prstGeom prst="rect">
            <a:avLst/>
          </a:prstGeom>
          <a:noFill/>
        </p:spPr>
        <p:txBody>
          <a:bodyPr wrap="square" lIns="27432" rIns="27432" tIns="18288" bIns="0">
            <a:spAutoFit/>
          </a:bodyPr>
          <a:lstStyle/>
          <a:p>
            <a:pPr>
              <a:spcAft>
                <a:spcPts val="1000"/>
              </a:spcAft>
              <a:defRPr sz="2900" b="1">
                <a:solidFill>
                  <a:srgbClr val="15365B"/>
                </a:solidFill>
                <a:latin typeface="DejaVu Sans"/>
              </a:defRPr>
            </a:pPr>
            <a:r>
              <a:t>Idempotentlik va qayta urinish</a:t>
            </a:r>
          </a:p>
        </p:txBody>
      </p:sp>
      <p:sp>
        <p:nvSpPr>
          <p:cNvPr id="5" name="Rectangle 4"/>
          <p:cNvSpPr/>
          <p:nvPr/>
        </p:nvSpPr>
        <p:spPr>
          <a:xfrm>
            <a:off x="548640" y="6428232"/>
            <a:ext cx="11064240" cy="10972"/>
          </a:xfrm>
          <a:prstGeom prst="rect">
            <a:avLst/>
          </a:prstGeom>
          <a:solidFill>
            <a:srgbClr val="CEE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9144000" cy="182880"/>
          </a:xfrm>
          <a:prstGeom prst="rect">
            <a:avLst/>
          </a:prstGeom>
          <a:noFill/>
        </p:spPr>
        <p:txBody>
          <a:bodyPr wrap="square" lIns="27432" rIns="27432" tIns="18288" bIns="0">
            <a:spAutoFit/>
          </a:bodyPr>
          <a:lstStyle/>
          <a:p>
            <a:pPr>
              <a:spcAft>
                <a:spcPts val="1000"/>
              </a:spcAft>
              <a:defRPr sz="900" b="0">
                <a:solidFill>
                  <a:srgbClr val="53687D"/>
                </a:solidFill>
                <a:latin typeface="DejaVu Sans"/>
              </a:defRPr>
            </a:pPr>
            <a:r>
              <a:t>BTST206  •  BULUT TEXNOLOGIYALARI VA SERVISLAR  •  2027–2028</a:t>
            </a:r>
          </a:p>
        </p:txBody>
      </p:sp>
      <p:sp>
        <p:nvSpPr>
          <p:cNvPr id="7" name="TextBox 6"/>
          <p:cNvSpPr txBox="1"/>
          <p:nvPr/>
        </p:nvSpPr>
        <p:spPr>
          <a:xfrm>
            <a:off x="10607040" y="6473952"/>
            <a:ext cx="1005840" cy="274320"/>
          </a:xfrm>
          <a:prstGeom prst="rect">
            <a:avLst/>
          </a:prstGeom>
          <a:noFill/>
        </p:spPr>
        <p:txBody>
          <a:bodyPr wrap="square" lIns="27432" rIns="27432" tIns="18288" bIns="0">
            <a:spAutoFit/>
          </a:bodyPr>
          <a:lstStyle/>
          <a:p>
            <a:pPr>
              <a:spcAft>
                <a:spcPts val="1000"/>
              </a:spcAft>
              <a:defRPr sz="1200" b="1">
                <a:solidFill>
                  <a:srgbClr val="1678D2"/>
                </a:solidFill>
                <a:latin typeface="DejaVu Sans"/>
              </a:defRPr>
            </a:pPr>
            <a:r>
              <a:t>06</a:t>
            </a:r>
          </a:p>
        </p:txBody>
      </p:sp>
      <p:sp>
        <p:nvSpPr>
          <p:cNvPr id="8" name="TextBox 7"/>
          <p:cNvSpPr txBox="1"/>
          <p:nvPr/>
        </p:nvSpPr>
        <p:spPr>
          <a:xfrm>
            <a:off x="594360" y="1865376"/>
            <a:ext cx="7086600" cy="1143000"/>
          </a:xfrm>
          <a:prstGeom prst="rect">
            <a:avLst/>
          </a:prstGeom>
          <a:noFill/>
        </p:spPr>
        <p:txBody>
          <a:bodyPr wrap="square" lIns="27432" rIns="27432" tIns="18288" bIns="0">
            <a:spAutoFit/>
          </a:bodyPr>
          <a:lstStyle/>
          <a:p>
            <a:pPr>
              <a:spcAft>
                <a:spcPts val="1000"/>
              </a:spcAft>
              <a:defRPr sz="3000" b="1">
                <a:solidFill>
                  <a:srgbClr val="1678D2"/>
                </a:solidFill>
                <a:latin typeface="DejaVu Sans"/>
              </a:defRPr>
            </a:pPr>
            <a:r>
              <a:t>Bir hodisa takror kelsa, natija buzilmasin.</a:t>
            </a:r>
          </a:p>
        </p:txBody>
      </p:sp>
      <p:sp>
        <p:nvSpPr>
          <p:cNvPr id="9" name="Rounded Rectangle 8"/>
          <p:cNvSpPr/>
          <p:nvPr/>
        </p:nvSpPr>
        <p:spPr>
          <a:xfrm>
            <a:off x="594360" y="3337560"/>
            <a:ext cx="7040880" cy="2039112"/>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538728"/>
            <a:ext cx="6556248" cy="1783080"/>
          </a:xfrm>
          <a:prstGeom prst="rect">
            <a:avLst/>
          </a:prstGeom>
          <a:noFill/>
        </p:spPr>
        <p:txBody>
          <a:bodyPr wrap="square" lIns="27432" rIns="27432" tIns="18288" bIns="0">
            <a:spAutoFit/>
          </a:bodyPr>
          <a:lstStyle/>
          <a:p>
            <a:pPr>
              <a:spcAft>
                <a:spcPts val="1000"/>
              </a:spcAft>
              <a:defRPr sz="2300" b="0">
                <a:solidFill>
                  <a:srgbClr val="15365B"/>
                </a:solidFill>
                <a:latin typeface="DejaVu Sans"/>
              </a:defRPr>
            </a:pPr>
            <a:r>
              <a:t>Bir rasm hodisasi ikki marta kelsa ham, bitta mantiqiy thumbnail natijasi hosil qilinadi.</a:t>
            </a:r>
          </a:p>
        </p:txBody>
      </p:sp>
      <p:sp>
        <p:nvSpPr>
          <p:cNvPr id="11" name="Rounded Rectangle 10"/>
          <p:cNvSpPr/>
          <p:nvPr/>
        </p:nvSpPr>
        <p:spPr>
          <a:xfrm>
            <a:off x="8183879" y="4965192"/>
            <a:ext cx="3063240" cy="146304"/>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Freeform 11"/>
          <p:cNvSpPr/>
          <p:nvPr/>
        </p:nvSpPr>
        <p:spPr>
          <a:xfrm>
            <a:off x="8321040" y="3120390"/>
            <a:ext cx="1042416" cy="217170"/>
          </a:xfrm>
          <a:custGeom>
            <a:avLst/>
            <a:gdLst/>
            <a:ahLst/>
            <a:cxnLst/>
            <a:rect l="l" t="t" r="r" b="b"/>
            <a:pathLst>
              <a:path w="1042416" h="217170">
                <a:moveTo>
                  <a:pt x="0" y="217170"/>
                </a:moveTo>
                <a:lnTo>
                  <a:pt x="825246" y="217170"/>
                </a:lnTo>
                <a:lnTo>
                  <a:pt x="1042416" y="0"/>
                </a:lnTo>
                <a:lnTo>
                  <a:pt x="217170" y="0"/>
                </a:lnTo>
                <a:close/>
              </a:path>
            </a:pathLst>
          </a:custGeom>
          <a:solidFill>
            <a:srgbClr val="DAED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Freeform 12"/>
          <p:cNvSpPr/>
          <p:nvPr/>
        </p:nvSpPr>
        <p:spPr>
          <a:xfrm>
            <a:off x="9146286" y="3120390"/>
            <a:ext cx="217170" cy="1780793"/>
          </a:xfrm>
          <a:custGeom>
            <a:avLst/>
            <a:gdLst/>
            <a:ahLst/>
            <a:cxnLst/>
            <a:rect l="l" t="t" r="r" b="b"/>
            <a:pathLst>
              <a:path w="217170" h="1780793">
                <a:moveTo>
                  <a:pt x="0" y="217170"/>
                </a:moveTo>
                <a:lnTo>
                  <a:pt x="217170" y="0"/>
                </a:lnTo>
                <a:lnTo>
                  <a:pt x="217170" y="1563624"/>
                </a:lnTo>
                <a:lnTo>
                  <a:pt x="0" y="1780793"/>
                </a:lnTo>
                <a:close/>
              </a:path>
            </a:pathLst>
          </a:custGeom>
          <a:solidFill>
            <a:srgbClr val="7EB7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21040" y="3337560"/>
            <a:ext cx="825246" cy="1563624"/>
          </a:xfrm>
          <a:prstGeom prst="rect">
            <a:avLst/>
          </a:prstGeom>
          <a:solidFill>
            <a:srgbClr val="D7EA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407908" y="3493922"/>
            <a:ext cx="642823" cy="156362"/>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894368" y="3537356"/>
            <a:ext cx="52120" cy="43434"/>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407908" y="3737152"/>
            <a:ext cx="642823" cy="156362"/>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894368" y="3780586"/>
            <a:ext cx="52120" cy="43434"/>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407908" y="3980383"/>
            <a:ext cx="642823" cy="156362"/>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894368" y="4023817"/>
            <a:ext cx="52120" cy="43434"/>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407908" y="4223613"/>
            <a:ext cx="642823" cy="156362"/>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894368" y="4267047"/>
            <a:ext cx="52120" cy="43434"/>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407908" y="4466844"/>
            <a:ext cx="642823" cy="156362"/>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894368" y="4510278"/>
            <a:ext cx="52120" cy="43434"/>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Freeform 24"/>
          <p:cNvSpPr/>
          <p:nvPr/>
        </p:nvSpPr>
        <p:spPr>
          <a:xfrm>
            <a:off x="9628632" y="2811779"/>
            <a:ext cx="1207008" cy="251460"/>
          </a:xfrm>
          <a:custGeom>
            <a:avLst/>
            <a:gdLst/>
            <a:ahLst/>
            <a:cxnLst/>
            <a:rect l="l" t="t" r="r" b="b"/>
            <a:pathLst>
              <a:path w="1207008" h="251460">
                <a:moveTo>
                  <a:pt x="0" y="251460"/>
                </a:moveTo>
                <a:lnTo>
                  <a:pt x="955548" y="251460"/>
                </a:lnTo>
                <a:lnTo>
                  <a:pt x="1207008" y="0"/>
                </a:lnTo>
                <a:lnTo>
                  <a:pt x="251460" y="0"/>
                </a:lnTo>
                <a:close/>
              </a:path>
            </a:pathLst>
          </a:custGeom>
          <a:solidFill>
            <a:srgbClr val="DAED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Freeform 25"/>
          <p:cNvSpPr/>
          <p:nvPr/>
        </p:nvSpPr>
        <p:spPr>
          <a:xfrm>
            <a:off x="10584180" y="2811779"/>
            <a:ext cx="251460" cy="2061973"/>
          </a:xfrm>
          <a:custGeom>
            <a:avLst/>
            <a:gdLst/>
            <a:ahLst/>
            <a:cxnLst/>
            <a:rect l="l" t="t" r="r" b="b"/>
            <a:pathLst>
              <a:path w="251460" h="2061973">
                <a:moveTo>
                  <a:pt x="0" y="251460"/>
                </a:moveTo>
                <a:lnTo>
                  <a:pt x="251460" y="0"/>
                </a:lnTo>
                <a:lnTo>
                  <a:pt x="251460" y="1810513"/>
                </a:lnTo>
                <a:lnTo>
                  <a:pt x="0" y="2061973"/>
                </a:lnTo>
                <a:close/>
              </a:path>
            </a:pathLst>
          </a:custGeom>
          <a:solidFill>
            <a:srgbClr val="7EB7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9628632" y="3063239"/>
            <a:ext cx="955547" cy="1810512"/>
          </a:xfrm>
          <a:prstGeom prst="rect">
            <a:avLst/>
          </a:prstGeom>
          <a:solidFill>
            <a:srgbClr val="D7EA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729215" y="3244291"/>
            <a:ext cx="744321" cy="181051"/>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0292486" y="3294583"/>
            <a:ext cx="60350" cy="50292"/>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729215" y="3525926"/>
            <a:ext cx="744321" cy="181051"/>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10292486" y="3576218"/>
            <a:ext cx="60350" cy="50292"/>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729215" y="3807561"/>
            <a:ext cx="744321" cy="181051"/>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10292486" y="3857853"/>
            <a:ext cx="60350" cy="50292"/>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729215" y="4089196"/>
            <a:ext cx="744321" cy="181051"/>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10292486" y="4139488"/>
            <a:ext cx="60350" cy="50292"/>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729215" y="4370831"/>
            <a:ext cx="744321" cy="181051"/>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0292486" y="4421124"/>
            <a:ext cx="60350" cy="50292"/>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Cloud 37"/>
          <p:cNvSpPr/>
          <p:nvPr/>
        </p:nvSpPr>
        <p:spPr>
          <a:xfrm>
            <a:off x="8668512" y="2103120"/>
            <a:ext cx="2286000" cy="1188720"/>
          </a:xfrm>
          <a:prstGeom prst="cloud">
            <a:avLst/>
          </a:prstGeom>
          <a:solidFill>
            <a:srgbClr val="D8F1FF"/>
          </a:solidFill>
          <a:ln>
            <a:solidFill>
              <a:srgbClr val="5CC9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058400" cy="274320"/>
          </a:xfrm>
          <a:prstGeom prst="rect">
            <a:avLst/>
          </a:prstGeom>
          <a:noFill/>
        </p:spPr>
        <p:txBody>
          <a:bodyPr wrap="square" lIns="27432" rIns="27432" tIns="18288" bIns="0">
            <a:spAutoFit/>
          </a:bodyPr>
          <a:lstStyle/>
          <a:p>
            <a:pPr>
              <a:spcAft>
                <a:spcPts val="1000"/>
              </a:spcAft>
              <a:defRPr sz="1100" b="1">
                <a:solidFill>
                  <a:srgbClr val="1678D2"/>
                </a:solidFill>
                <a:latin typeface="DejaVu Sans"/>
              </a:defRPr>
            </a:pPr>
            <a:r>
              <a:t>M15 · ASOSIY TUSHUNCHA 5/6</a:t>
            </a:r>
          </a:p>
        </p:txBody>
      </p:sp>
      <p:sp>
        <p:nvSpPr>
          <p:cNvPr id="4" name="TextBox 3"/>
          <p:cNvSpPr txBox="1"/>
          <p:nvPr/>
        </p:nvSpPr>
        <p:spPr>
          <a:xfrm>
            <a:off x="502920" y="777240"/>
            <a:ext cx="11155680" cy="960120"/>
          </a:xfrm>
          <a:prstGeom prst="rect">
            <a:avLst/>
          </a:prstGeom>
          <a:noFill/>
        </p:spPr>
        <p:txBody>
          <a:bodyPr wrap="square" lIns="27432" rIns="27432" tIns="18288" bIns="0">
            <a:spAutoFit/>
          </a:bodyPr>
          <a:lstStyle/>
          <a:p>
            <a:pPr>
              <a:spcAft>
                <a:spcPts val="1000"/>
              </a:spcAft>
              <a:defRPr sz="2900" b="1">
                <a:solidFill>
                  <a:srgbClr val="15365B"/>
                </a:solidFill>
                <a:latin typeface="DejaVu Sans"/>
              </a:defRPr>
            </a:pPr>
            <a:r>
              <a:t>Afzalliklar va texnik cheklovlar</a:t>
            </a:r>
          </a:p>
        </p:txBody>
      </p:sp>
      <p:sp>
        <p:nvSpPr>
          <p:cNvPr id="5" name="Rectangle 4"/>
          <p:cNvSpPr/>
          <p:nvPr/>
        </p:nvSpPr>
        <p:spPr>
          <a:xfrm>
            <a:off x="548640" y="6428232"/>
            <a:ext cx="11064240" cy="10972"/>
          </a:xfrm>
          <a:prstGeom prst="rect">
            <a:avLst/>
          </a:prstGeom>
          <a:solidFill>
            <a:srgbClr val="CEE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9144000" cy="182880"/>
          </a:xfrm>
          <a:prstGeom prst="rect">
            <a:avLst/>
          </a:prstGeom>
          <a:noFill/>
        </p:spPr>
        <p:txBody>
          <a:bodyPr wrap="square" lIns="27432" rIns="27432" tIns="18288" bIns="0">
            <a:spAutoFit/>
          </a:bodyPr>
          <a:lstStyle/>
          <a:p>
            <a:pPr>
              <a:spcAft>
                <a:spcPts val="1000"/>
              </a:spcAft>
              <a:defRPr sz="900" b="0">
                <a:solidFill>
                  <a:srgbClr val="53687D"/>
                </a:solidFill>
                <a:latin typeface="DejaVu Sans"/>
              </a:defRPr>
            </a:pPr>
            <a:r>
              <a:t>BTST206  •  BULUT TEXNOLOGIYALARI VA SERVISLAR  •  2027–2028</a:t>
            </a:r>
          </a:p>
        </p:txBody>
      </p:sp>
      <p:sp>
        <p:nvSpPr>
          <p:cNvPr id="7" name="TextBox 6"/>
          <p:cNvSpPr txBox="1"/>
          <p:nvPr/>
        </p:nvSpPr>
        <p:spPr>
          <a:xfrm>
            <a:off x="10607040" y="6473952"/>
            <a:ext cx="1005840" cy="274320"/>
          </a:xfrm>
          <a:prstGeom prst="rect">
            <a:avLst/>
          </a:prstGeom>
          <a:noFill/>
        </p:spPr>
        <p:txBody>
          <a:bodyPr wrap="square" lIns="27432" rIns="27432" tIns="18288" bIns="0">
            <a:spAutoFit/>
          </a:bodyPr>
          <a:lstStyle/>
          <a:p>
            <a:pPr>
              <a:spcAft>
                <a:spcPts val="1000"/>
              </a:spcAft>
              <a:defRPr sz="1200" b="1">
                <a:solidFill>
                  <a:srgbClr val="1678D2"/>
                </a:solidFill>
                <a:latin typeface="DejaVu Sans"/>
              </a:defRPr>
            </a:pPr>
            <a:r>
              <a:t>07</a:t>
            </a:r>
          </a:p>
        </p:txBody>
      </p:sp>
      <p:sp>
        <p:nvSpPr>
          <p:cNvPr id="8" name="Rounded Rectangle 7"/>
          <p:cNvSpPr/>
          <p:nvPr/>
        </p:nvSpPr>
        <p:spPr>
          <a:xfrm>
            <a:off x="594360" y="1965960"/>
            <a:ext cx="5321808" cy="3502152"/>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240280"/>
            <a:ext cx="4828032" cy="365760"/>
          </a:xfrm>
          <a:prstGeom prst="rect">
            <a:avLst/>
          </a:prstGeom>
          <a:noFill/>
        </p:spPr>
        <p:txBody>
          <a:bodyPr wrap="square" lIns="27432" rIns="27432" tIns="18288" bIns="0">
            <a:spAutoFit/>
          </a:bodyPr>
          <a:lstStyle/>
          <a:p>
            <a:pPr>
              <a:spcAft>
                <a:spcPts val="1000"/>
              </a:spcAft>
              <a:defRPr sz="1300" b="1">
                <a:solidFill>
                  <a:srgbClr val="1678D2"/>
                </a:solidFill>
                <a:latin typeface="DejaVu Sans"/>
              </a:defRPr>
            </a:pPr>
            <a:r>
              <a:t>QANDAY ISHLAYDI?</a:t>
            </a:r>
          </a:p>
        </p:txBody>
      </p:sp>
      <p:sp>
        <p:nvSpPr>
          <p:cNvPr id="10" name="TextBox 9"/>
          <p:cNvSpPr txBox="1"/>
          <p:nvPr/>
        </p:nvSpPr>
        <p:spPr>
          <a:xfrm>
            <a:off x="822960" y="2852928"/>
            <a:ext cx="4818888" cy="2331720"/>
          </a:xfrm>
          <a:prstGeom prst="rect">
            <a:avLst/>
          </a:prstGeom>
          <a:noFill/>
        </p:spPr>
        <p:txBody>
          <a:bodyPr wrap="square" lIns="27432" rIns="27432" tIns="18288" bIns="0">
            <a:spAutoFit/>
          </a:bodyPr>
          <a:lstStyle/>
          <a:p>
            <a:pPr>
              <a:spcAft>
                <a:spcPts val="1000"/>
              </a:spcAft>
              <a:defRPr sz="2500" b="0">
                <a:solidFill>
                  <a:srgbClr val="15365B"/>
                </a:solidFill>
                <a:latin typeface="DejaVu Sans"/>
              </a:defRPr>
            </a:pPr>
            <a:r>
              <a:t>Bog‘liqliklar ixchamlanadi, ulanishlar boshqariladi va zarur joyda tayyor quvvat imkoniyatlari baholanadi.</a:t>
            </a:r>
          </a:p>
        </p:txBody>
      </p:sp>
      <p:sp>
        <p:nvSpPr>
          <p:cNvPr id="11" name="Rounded Rectangle 10"/>
          <p:cNvSpPr/>
          <p:nvPr/>
        </p:nvSpPr>
        <p:spPr>
          <a:xfrm>
            <a:off x="6263640" y="1965960"/>
            <a:ext cx="5321808" cy="3502152"/>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2240280"/>
            <a:ext cx="4828032" cy="365760"/>
          </a:xfrm>
          <a:prstGeom prst="rect">
            <a:avLst/>
          </a:prstGeom>
          <a:noFill/>
        </p:spPr>
        <p:txBody>
          <a:bodyPr wrap="square" lIns="27432" rIns="27432" tIns="18288" bIns="0">
            <a:spAutoFit/>
          </a:bodyPr>
          <a:lstStyle/>
          <a:p>
            <a:pPr>
              <a:spcAft>
                <a:spcPts val="1000"/>
              </a:spcAft>
              <a:defRPr sz="1300" b="1">
                <a:solidFill>
                  <a:srgbClr val="1678D2"/>
                </a:solidFill>
                <a:latin typeface="DejaVu Sans"/>
              </a:defRPr>
            </a:pPr>
            <a:r>
              <a:t>ESDA SAQLANG</a:t>
            </a:r>
          </a:p>
        </p:txBody>
      </p:sp>
      <p:sp>
        <p:nvSpPr>
          <p:cNvPr id="13" name="TextBox 12"/>
          <p:cNvSpPr txBox="1"/>
          <p:nvPr/>
        </p:nvSpPr>
        <p:spPr>
          <a:xfrm>
            <a:off x="6492240" y="2852928"/>
            <a:ext cx="4818888" cy="2331720"/>
          </a:xfrm>
          <a:prstGeom prst="rect">
            <a:avLst/>
          </a:prstGeom>
          <a:noFill/>
        </p:spPr>
        <p:txBody>
          <a:bodyPr wrap="square" lIns="27432" rIns="27432" tIns="18288" bIns="0">
            <a:spAutoFit/>
          </a:bodyPr>
          <a:lstStyle/>
          <a:p>
            <a:pPr>
              <a:spcAft>
                <a:spcPts val="1000"/>
              </a:spcAft>
              <a:defRPr sz="2500" b="0">
                <a:solidFill>
                  <a:srgbClr val="15365B"/>
                </a:solidFill>
                <a:latin typeface="DejaVu Sans"/>
              </a:defRPr>
            </a:pPr>
            <a:r>
              <a:t>Har qanday monolitni o‘zgartirmasdan bitta funksiyaga joylash yaxshi natija bermaydi.</a:t>
            </a:r>
          </a:p>
        </p:txBody>
      </p:sp>
      <p:sp>
        <p:nvSpPr>
          <p:cNvPr id="14" name="TextBox 13"/>
          <p:cNvSpPr txBox="1"/>
          <p:nvPr/>
        </p:nvSpPr>
        <p:spPr>
          <a:xfrm>
            <a:off x="640080" y="5742432"/>
            <a:ext cx="10881360" cy="365760"/>
          </a:xfrm>
          <a:prstGeom prst="rect">
            <a:avLst/>
          </a:prstGeom>
          <a:noFill/>
        </p:spPr>
        <p:txBody>
          <a:bodyPr wrap="square" lIns="27432" rIns="27432" tIns="18288" bIns="0">
            <a:spAutoFit/>
          </a:bodyPr>
          <a:lstStyle/>
          <a:p>
            <a:pPr>
              <a:spcAft>
                <a:spcPts val="1000"/>
              </a:spcAft>
              <a:defRPr sz="1800" b="1">
                <a:solidFill>
                  <a:srgbClr val="1678D2"/>
                </a:solidFill>
                <a:latin typeface="DejaVu Sans"/>
              </a:defRPr>
            </a:pPr>
            <a:r>
              <a:t>Tez rivojlantirish ↔ limit va sovuq start.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058400" cy="274320"/>
          </a:xfrm>
          <a:prstGeom prst="rect">
            <a:avLst/>
          </a:prstGeom>
          <a:noFill/>
        </p:spPr>
        <p:txBody>
          <a:bodyPr wrap="square" lIns="27432" rIns="27432" tIns="18288" bIns="0">
            <a:spAutoFit/>
          </a:bodyPr>
          <a:lstStyle/>
          <a:p>
            <a:pPr>
              <a:spcAft>
                <a:spcPts val="1000"/>
              </a:spcAft>
              <a:defRPr sz="1100" b="1">
                <a:solidFill>
                  <a:srgbClr val="1678D2"/>
                </a:solidFill>
                <a:latin typeface="DejaVu Sans"/>
              </a:defRPr>
            </a:pPr>
            <a:r>
              <a:t>M15 · ASOSIY TUSHUNCHA 6/6</a:t>
            </a:r>
          </a:p>
        </p:txBody>
      </p:sp>
      <p:sp>
        <p:nvSpPr>
          <p:cNvPr id="4" name="TextBox 3"/>
          <p:cNvSpPr txBox="1"/>
          <p:nvPr/>
        </p:nvSpPr>
        <p:spPr>
          <a:xfrm>
            <a:off x="502920" y="777240"/>
            <a:ext cx="11155680" cy="960120"/>
          </a:xfrm>
          <a:prstGeom prst="rect">
            <a:avLst/>
          </a:prstGeom>
          <a:noFill/>
        </p:spPr>
        <p:txBody>
          <a:bodyPr wrap="square" lIns="27432" rIns="27432" tIns="18288" bIns="0">
            <a:spAutoFit/>
          </a:bodyPr>
          <a:lstStyle/>
          <a:p>
            <a:pPr>
              <a:spcAft>
                <a:spcPts val="1000"/>
              </a:spcAft>
              <a:defRPr sz="2900" b="1">
                <a:solidFill>
                  <a:srgbClr val="15365B"/>
                </a:solidFill>
                <a:latin typeface="DejaVu Sans"/>
              </a:defRPr>
            </a:pPr>
            <a:r>
              <a:t>Platformalar va xarajat modeli</a:t>
            </a:r>
          </a:p>
        </p:txBody>
      </p:sp>
      <p:sp>
        <p:nvSpPr>
          <p:cNvPr id="5" name="Rectangle 4"/>
          <p:cNvSpPr/>
          <p:nvPr/>
        </p:nvSpPr>
        <p:spPr>
          <a:xfrm>
            <a:off x="548640" y="6428232"/>
            <a:ext cx="11064240" cy="10972"/>
          </a:xfrm>
          <a:prstGeom prst="rect">
            <a:avLst/>
          </a:prstGeom>
          <a:solidFill>
            <a:srgbClr val="CEE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9144000" cy="182880"/>
          </a:xfrm>
          <a:prstGeom prst="rect">
            <a:avLst/>
          </a:prstGeom>
          <a:noFill/>
        </p:spPr>
        <p:txBody>
          <a:bodyPr wrap="square" lIns="27432" rIns="27432" tIns="18288" bIns="0">
            <a:spAutoFit/>
          </a:bodyPr>
          <a:lstStyle/>
          <a:p>
            <a:pPr>
              <a:spcAft>
                <a:spcPts val="1000"/>
              </a:spcAft>
              <a:defRPr sz="900" b="0">
                <a:solidFill>
                  <a:srgbClr val="53687D"/>
                </a:solidFill>
                <a:latin typeface="DejaVu Sans"/>
              </a:defRPr>
            </a:pPr>
            <a:r>
              <a:t>BTST206  •  BULUT TEXNOLOGIYALARI VA SERVISLAR  •  2027–2028</a:t>
            </a:r>
          </a:p>
        </p:txBody>
      </p:sp>
      <p:sp>
        <p:nvSpPr>
          <p:cNvPr id="7" name="TextBox 6"/>
          <p:cNvSpPr txBox="1"/>
          <p:nvPr/>
        </p:nvSpPr>
        <p:spPr>
          <a:xfrm>
            <a:off x="10607040" y="6473952"/>
            <a:ext cx="1005840" cy="274320"/>
          </a:xfrm>
          <a:prstGeom prst="rect">
            <a:avLst/>
          </a:prstGeom>
          <a:noFill/>
        </p:spPr>
        <p:txBody>
          <a:bodyPr wrap="square" lIns="27432" rIns="27432" tIns="18288" bIns="0">
            <a:spAutoFit/>
          </a:bodyPr>
          <a:lstStyle/>
          <a:p>
            <a:pPr>
              <a:spcAft>
                <a:spcPts val="1000"/>
              </a:spcAft>
              <a:defRPr sz="1200" b="1">
                <a:solidFill>
                  <a:srgbClr val="1678D2"/>
                </a:solidFill>
                <a:latin typeface="DejaVu Sans"/>
              </a:defRPr>
            </a:pPr>
            <a:r>
              <a:t>08</a:t>
            </a:r>
          </a:p>
        </p:txBody>
      </p:sp>
      <p:sp>
        <p:nvSpPr>
          <p:cNvPr id="8" name="Rectangle 7"/>
          <p:cNvSpPr/>
          <p:nvPr/>
        </p:nvSpPr>
        <p:spPr>
          <a:xfrm>
            <a:off x="594360" y="2011680"/>
            <a:ext cx="100584" cy="3337560"/>
          </a:xfrm>
          <a:prstGeom prst="rect">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32688" y="2075688"/>
            <a:ext cx="9966960" cy="1280160"/>
          </a:xfrm>
          <a:prstGeom prst="rect">
            <a:avLst/>
          </a:prstGeom>
          <a:noFill/>
        </p:spPr>
        <p:txBody>
          <a:bodyPr wrap="square" lIns="27432" rIns="27432" tIns="18288" bIns="0">
            <a:spAutoFit/>
          </a:bodyPr>
          <a:lstStyle/>
          <a:p>
            <a:pPr>
              <a:spcAft>
                <a:spcPts val="1000"/>
              </a:spcAft>
              <a:defRPr sz="3200" b="1">
                <a:solidFill>
                  <a:srgbClr val="1678D2"/>
                </a:solidFill>
                <a:latin typeface="DejaVu Sans"/>
              </a:defRPr>
            </a:pPr>
            <a:r>
              <a:t>AWS Lambda • Azure Functions • Google funksiyalari.</a:t>
            </a:r>
          </a:p>
        </p:txBody>
      </p:sp>
      <p:sp>
        <p:nvSpPr>
          <p:cNvPr id="10" name="TextBox 9"/>
          <p:cNvSpPr txBox="1"/>
          <p:nvPr/>
        </p:nvSpPr>
        <p:spPr>
          <a:xfrm>
            <a:off x="960120" y="3712463"/>
            <a:ext cx="6629400" cy="1645920"/>
          </a:xfrm>
          <a:prstGeom prst="rect">
            <a:avLst/>
          </a:prstGeom>
          <a:noFill/>
        </p:spPr>
        <p:txBody>
          <a:bodyPr wrap="square" lIns="27432" rIns="27432" tIns="18288" bIns="0">
            <a:spAutoFit/>
          </a:bodyPr>
          <a:lstStyle/>
          <a:p>
            <a:pPr>
              <a:spcAft>
                <a:spcPts val="1000"/>
              </a:spcAft>
              <a:defRPr sz="2400" b="0">
                <a:solidFill>
                  <a:srgbClr val="15365B"/>
                </a:solidFill>
                <a:latin typeface="DejaVu Sans"/>
              </a:defRPr>
            </a:pPr>
            <a:r>
              <a:t>Turli platformalar hodisa, bajarilish muhiti va boshqaruv imkoniyatlari bilan farqlanadi.</a:t>
            </a:r>
          </a:p>
        </p:txBody>
      </p:sp>
      <p:sp>
        <p:nvSpPr>
          <p:cNvPr id="11" name="Rounded Rectangle 10"/>
          <p:cNvSpPr/>
          <p:nvPr/>
        </p:nvSpPr>
        <p:spPr>
          <a:xfrm>
            <a:off x="8366760" y="3822191"/>
            <a:ext cx="2971800" cy="1335024"/>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95360" y="4114800"/>
            <a:ext cx="2514600" cy="822960"/>
          </a:xfrm>
          <a:prstGeom prst="rect">
            <a:avLst/>
          </a:prstGeom>
          <a:noFill/>
        </p:spPr>
        <p:txBody>
          <a:bodyPr wrap="square" lIns="27432" rIns="27432" tIns="18288" bIns="0">
            <a:spAutoFit/>
          </a:bodyPr>
          <a:lstStyle/>
          <a:p>
            <a:pPr>
              <a:spcAft>
                <a:spcPts val="1000"/>
              </a:spcAft>
              <a:defRPr sz="1800" b="1">
                <a:solidFill>
                  <a:srgbClr val="1678D2"/>
                </a:solidFill>
                <a:latin typeface="DejaVu Sans"/>
              </a:defRPr>
            </a:pPr>
            <a:r>
              <a:t>TA’RIF → MISOL</a:t>
            </a:r>
          </a:p>
          <a:p>
            <a:pPr>
              <a:spcAft>
                <a:spcPts val="1000"/>
              </a:spcAft>
              <a:defRPr sz="1800" b="1">
                <a:solidFill>
                  <a:srgbClr val="1678D2"/>
                </a:solidFill>
                <a:latin typeface="DejaVu Sans"/>
              </a:defRPr>
            </a:pPr>
            <a:r>
              <a:t>→ CHEGARA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058400" cy="274320"/>
          </a:xfrm>
          <a:prstGeom prst="rect">
            <a:avLst/>
          </a:prstGeom>
          <a:noFill/>
        </p:spPr>
        <p:txBody>
          <a:bodyPr wrap="square" lIns="27432" rIns="27432" tIns="18288" bIns="0">
            <a:spAutoFit/>
          </a:bodyPr>
          <a:lstStyle/>
          <a:p>
            <a:pPr>
              <a:spcAft>
                <a:spcPts val="1000"/>
              </a:spcAft>
              <a:defRPr sz="1100" b="1">
                <a:solidFill>
                  <a:srgbClr val="1678D2"/>
                </a:solidFill>
                <a:latin typeface="DejaVu Sans"/>
              </a:defRPr>
            </a:pPr>
            <a:r>
              <a:t>M15 · ARXITEKTURA</a:t>
            </a:r>
          </a:p>
        </p:txBody>
      </p:sp>
      <p:sp>
        <p:nvSpPr>
          <p:cNvPr id="4" name="TextBox 3"/>
          <p:cNvSpPr txBox="1"/>
          <p:nvPr/>
        </p:nvSpPr>
        <p:spPr>
          <a:xfrm>
            <a:off x="502920" y="777240"/>
            <a:ext cx="11155680" cy="960120"/>
          </a:xfrm>
          <a:prstGeom prst="rect">
            <a:avLst/>
          </a:prstGeom>
          <a:noFill/>
        </p:spPr>
        <p:txBody>
          <a:bodyPr wrap="square" lIns="27432" rIns="27432" tIns="18288" bIns="0">
            <a:spAutoFit/>
          </a:bodyPr>
          <a:lstStyle/>
          <a:p>
            <a:pPr>
              <a:spcAft>
                <a:spcPts val="1000"/>
              </a:spcAft>
              <a:defRPr sz="2900" b="1">
                <a:solidFill>
                  <a:srgbClr val="15365B"/>
                </a:solidFill>
                <a:latin typeface="DejaVu Sans"/>
              </a:defRPr>
            </a:pPr>
            <a:r>
              <a:t>Texnik sxema: qismlar qanday bog‘lanadi?</a:t>
            </a:r>
          </a:p>
        </p:txBody>
      </p:sp>
      <p:sp>
        <p:nvSpPr>
          <p:cNvPr id="5" name="Rectangle 4"/>
          <p:cNvSpPr/>
          <p:nvPr/>
        </p:nvSpPr>
        <p:spPr>
          <a:xfrm>
            <a:off x="548640" y="6428232"/>
            <a:ext cx="11064240" cy="10972"/>
          </a:xfrm>
          <a:prstGeom prst="rect">
            <a:avLst/>
          </a:prstGeom>
          <a:solidFill>
            <a:srgbClr val="CEE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9144000" cy="182880"/>
          </a:xfrm>
          <a:prstGeom prst="rect">
            <a:avLst/>
          </a:prstGeom>
          <a:noFill/>
        </p:spPr>
        <p:txBody>
          <a:bodyPr wrap="square" lIns="27432" rIns="27432" tIns="18288" bIns="0">
            <a:spAutoFit/>
          </a:bodyPr>
          <a:lstStyle/>
          <a:p>
            <a:pPr>
              <a:spcAft>
                <a:spcPts val="1000"/>
              </a:spcAft>
              <a:defRPr sz="900" b="0">
                <a:solidFill>
                  <a:srgbClr val="53687D"/>
                </a:solidFill>
                <a:latin typeface="DejaVu Sans"/>
              </a:defRPr>
            </a:pPr>
            <a:r>
              <a:t>BTST206  •  BULUT TEXNOLOGIYALARI VA SERVISLAR  •  2027–2028</a:t>
            </a:r>
          </a:p>
        </p:txBody>
      </p:sp>
      <p:sp>
        <p:nvSpPr>
          <p:cNvPr id="7" name="TextBox 6"/>
          <p:cNvSpPr txBox="1"/>
          <p:nvPr/>
        </p:nvSpPr>
        <p:spPr>
          <a:xfrm>
            <a:off x="10607040" y="6473952"/>
            <a:ext cx="1005840" cy="274320"/>
          </a:xfrm>
          <a:prstGeom prst="rect">
            <a:avLst/>
          </a:prstGeom>
          <a:noFill/>
        </p:spPr>
        <p:txBody>
          <a:bodyPr wrap="square" lIns="27432" rIns="27432" tIns="18288" bIns="0">
            <a:spAutoFit/>
          </a:bodyPr>
          <a:lstStyle/>
          <a:p>
            <a:pPr>
              <a:spcAft>
                <a:spcPts val="1000"/>
              </a:spcAft>
              <a:defRPr sz="1200" b="1">
                <a:solidFill>
                  <a:srgbClr val="1678D2"/>
                </a:solidFill>
                <a:latin typeface="DejaVu Sans"/>
              </a:defRPr>
            </a:pPr>
            <a:r>
              <a:t>09</a:t>
            </a:r>
          </a:p>
        </p:txBody>
      </p:sp>
      <p:cxnSp>
        <p:nvCxnSpPr>
          <p:cNvPr id="8" name="Connector 7"/>
          <p:cNvCxnSpPr/>
          <p:nvPr/>
        </p:nvCxnSpPr>
        <p:spPr>
          <a:xfrm>
            <a:off x="3474720" y="2761488"/>
            <a:ext cx="777240" cy="0"/>
          </a:xfrm>
          <a:prstGeom prst="line">
            <a:avLst/>
          </a:prstGeom>
          <a:ln w="25400">
            <a:solidFill>
              <a:srgbClr val="78ACD8"/>
            </a:solidFill>
            <a:tailEnd type="triangle"/>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995160" y="2761488"/>
            <a:ext cx="777240" cy="0"/>
          </a:xfrm>
          <a:prstGeom prst="line">
            <a:avLst/>
          </a:prstGeom>
          <a:ln w="25400">
            <a:solidFill>
              <a:srgbClr val="78ACD8"/>
            </a:solidFill>
            <a:tailEnd type="triangle"/>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H="1">
            <a:off x="4114800" y="3246120"/>
            <a:ext cx="5029200" cy="1234440"/>
          </a:xfrm>
          <a:prstGeom prst="line">
            <a:avLst/>
          </a:prstGeom>
          <a:ln w="25400">
            <a:solidFill>
              <a:srgbClr val="78ACD8"/>
            </a:solidFill>
            <a:tailEnd type="triangle"/>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H="1">
            <a:off x="8046720" y="3246120"/>
            <a:ext cx="1097280" cy="1234440"/>
          </a:xfrm>
          <a:prstGeom prst="line">
            <a:avLst/>
          </a:prstGeom>
          <a:ln w="25400">
            <a:solidFill>
              <a:srgbClr val="78ACD8"/>
            </a:solidFill>
            <a:tailEnd type="triangle"/>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731520" y="2286000"/>
            <a:ext cx="2743200" cy="960120"/>
          </a:xfrm>
          <a:prstGeom prst="roundRect">
            <a:avLst>
              <a:gd name="adj" fmla="val 8000"/>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0392" y="2450592"/>
            <a:ext cx="2505456" cy="685800"/>
          </a:xfrm>
          <a:prstGeom prst="rect">
            <a:avLst/>
          </a:prstGeom>
          <a:noFill/>
        </p:spPr>
        <p:txBody>
          <a:bodyPr wrap="square" lIns="27432" rIns="27432" tIns="18288" bIns="0">
            <a:spAutoFit/>
          </a:bodyPr>
          <a:lstStyle/>
          <a:p>
            <a:pPr>
              <a:spcAft>
                <a:spcPts val="1000"/>
              </a:spcAft>
              <a:defRPr sz="1800" b="1">
                <a:solidFill>
                  <a:srgbClr val="FFFFFF"/>
                </a:solidFill>
                <a:latin typeface="DejaVu Sans"/>
              </a:defRPr>
            </a:pPr>
            <a:r>
              <a:t>Hodisa manbasi</a:t>
            </a:r>
          </a:p>
        </p:txBody>
      </p:sp>
      <p:sp>
        <p:nvSpPr>
          <p:cNvPr id="14" name="Rounded Rectangle 13"/>
          <p:cNvSpPr/>
          <p:nvPr/>
        </p:nvSpPr>
        <p:spPr>
          <a:xfrm>
            <a:off x="4251960" y="2286000"/>
            <a:ext cx="2743200" cy="960120"/>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370832" y="2450592"/>
            <a:ext cx="2505456" cy="685800"/>
          </a:xfrm>
          <a:prstGeom prst="rect">
            <a:avLst/>
          </a:prstGeom>
          <a:noFill/>
        </p:spPr>
        <p:txBody>
          <a:bodyPr wrap="square" lIns="27432" rIns="27432" tIns="18288" bIns="0">
            <a:spAutoFit/>
          </a:bodyPr>
          <a:lstStyle/>
          <a:p>
            <a:pPr>
              <a:spcAft>
                <a:spcPts val="1000"/>
              </a:spcAft>
              <a:defRPr sz="1800" b="1">
                <a:solidFill>
                  <a:srgbClr val="15365B"/>
                </a:solidFill>
                <a:latin typeface="DejaVu Sans"/>
              </a:defRPr>
            </a:pPr>
            <a:r>
              <a:t>Navbat / trigger</a:t>
            </a:r>
          </a:p>
        </p:txBody>
      </p:sp>
      <p:sp>
        <p:nvSpPr>
          <p:cNvPr id="16" name="Rounded Rectangle 15"/>
          <p:cNvSpPr/>
          <p:nvPr/>
        </p:nvSpPr>
        <p:spPr>
          <a:xfrm>
            <a:off x="7772400" y="2286000"/>
            <a:ext cx="2743200" cy="960120"/>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891272" y="2450592"/>
            <a:ext cx="2505456" cy="685800"/>
          </a:xfrm>
          <a:prstGeom prst="rect">
            <a:avLst/>
          </a:prstGeom>
          <a:noFill/>
        </p:spPr>
        <p:txBody>
          <a:bodyPr wrap="square" lIns="27432" rIns="27432" tIns="18288" bIns="0">
            <a:spAutoFit/>
          </a:bodyPr>
          <a:lstStyle/>
          <a:p>
            <a:pPr>
              <a:spcAft>
                <a:spcPts val="1000"/>
              </a:spcAft>
              <a:defRPr sz="1800" b="1">
                <a:solidFill>
                  <a:srgbClr val="15365B"/>
                </a:solidFill>
                <a:latin typeface="DejaVu Sans"/>
              </a:defRPr>
            </a:pPr>
            <a:r>
              <a:t>Funksiya</a:t>
            </a:r>
          </a:p>
        </p:txBody>
      </p:sp>
      <p:sp>
        <p:nvSpPr>
          <p:cNvPr id="18" name="Rounded Rectangle 17"/>
          <p:cNvSpPr/>
          <p:nvPr/>
        </p:nvSpPr>
        <p:spPr>
          <a:xfrm>
            <a:off x="2743200" y="4480560"/>
            <a:ext cx="2743200" cy="960120"/>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862072" y="4645152"/>
            <a:ext cx="2505456" cy="685800"/>
          </a:xfrm>
          <a:prstGeom prst="rect">
            <a:avLst/>
          </a:prstGeom>
          <a:noFill/>
        </p:spPr>
        <p:txBody>
          <a:bodyPr wrap="square" lIns="27432" rIns="27432" tIns="18288" bIns="0">
            <a:spAutoFit/>
          </a:bodyPr>
          <a:lstStyle/>
          <a:p>
            <a:pPr>
              <a:spcAft>
                <a:spcPts val="1000"/>
              </a:spcAft>
              <a:defRPr sz="1800" b="1">
                <a:solidFill>
                  <a:srgbClr val="15365B"/>
                </a:solidFill>
                <a:latin typeface="DejaVu Sans"/>
              </a:defRPr>
            </a:pPr>
            <a:r>
              <a:t>Natija saqlash</a:t>
            </a:r>
          </a:p>
        </p:txBody>
      </p:sp>
      <p:sp>
        <p:nvSpPr>
          <p:cNvPr id="20" name="Rounded Rectangle 19"/>
          <p:cNvSpPr/>
          <p:nvPr/>
        </p:nvSpPr>
        <p:spPr>
          <a:xfrm>
            <a:off x="6675120" y="4480560"/>
            <a:ext cx="2743200" cy="960120"/>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793992" y="4645152"/>
            <a:ext cx="2505456" cy="685800"/>
          </a:xfrm>
          <a:prstGeom prst="rect">
            <a:avLst/>
          </a:prstGeom>
          <a:noFill/>
        </p:spPr>
        <p:txBody>
          <a:bodyPr wrap="square" lIns="27432" rIns="27432" tIns="18288" bIns="0">
            <a:spAutoFit/>
          </a:bodyPr>
          <a:lstStyle/>
          <a:p>
            <a:pPr>
              <a:spcAft>
                <a:spcPts val="1000"/>
              </a:spcAft>
              <a:defRPr sz="1800" b="1">
                <a:solidFill>
                  <a:srgbClr val="15365B"/>
                </a:solidFill>
                <a:latin typeface="DejaVu Sans"/>
              </a:defRPr>
            </a:pPr>
            <a:r>
              <a:t>Xato navbati</a:t>
            </a:r>
          </a:p>
        </p:txBody>
      </p:sp>
      <p:sp>
        <p:nvSpPr>
          <p:cNvPr id="22" name="TextBox 21"/>
          <p:cNvSpPr txBox="1"/>
          <p:nvPr/>
        </p:nvSpPr>
        <p:spPr>
          <a:xfrm>
            <a:off x="777240" y="5806440"/>
            <a:ext cx="10789920" cy="347472"/>
          </a:xfrm>
          <a:prstGeom prst="rect">
            <a:avLst/>
          </a:prstGeom>
          <a:noFill/>
        </p:spPr>
        <p:txBody>
          <a:bodyPr wrap="square" lIns="27432" rIns="27432" tIns="18288" bIns="0">
            <a:spAutoFit/>
          </a:bodyPr>
          <a:lstStyle/>
          <a:p>
            <a:pPr>
              <a:spcAft>
                <a:spcPts val="1000"/>
              </a:spcAft>
              <a:defRPr sz="1300" b="0">
                <a:solidFill>
                  <a:srgbClr val="53687D"/>
                </a:solidFill>
                <a:latin typeface="DejaVu Sans"/>
              </a:defRPr>
            </a:pPr>
            <a:r>
              <a:t>O‘qlar: asosiy bog‘lanish yoki boshqaruv yo‘nalishi. Sxema soddalashtirilgan.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058400" cy="274320"/>
          </a:xfrm>
          <a:prstGeom prst="rect">
            <a:avLst/>
          </a:prstGeom>
          <a:noFill/>
        </p:spPr>
        <p:txBody>
          <a:bodyPr wrap="square" lIns="27432" rIns="27432" tIns="18288" bIns="0">
            <a:spAutoFit/>
          </a:bodyPr>
          <a:lstStyle/>
          <a:p>
            <a:pPr>
              <a:spcAft>
                <a:spcPts val="1000"/>
              </a:spcAft>
              <a:defRPr sz="1100" b="1">
                <a:solidFill>
                  <a:srgbClr val="1678D2"/>
                </a:solidFill>
                <a:latin typeface="DejaVu Sans"/>
              </a:defRPr>
            </a:pPr>
            <a:r>
              <a:t>M15 · O‘QITUVCHI BAYONI</a:t>
            </a:r>
          </a:p>
        </p:txBody>
      </p:sp>
      <p:sp>
        <p:nvSpPr>
          <p:cNvPr id="4" name="TextBox 3"/>
          <p:cNvSpPr txBox="1"/>
          <p:nvPr/>
        </p:nvSpPr>
        <p:spPr>
          <a:xfrm>
            <a:off x="502920" y="777240"/>
            <a:ext cx="11155680" cy="960120"/>
          </a:xfrm>
          <a:prstGeom prst="rect">
            <a:avLst/>
          </a:prstGeom>
          <a:noFill/>
        </p:spPr>
        <p:txBody>
          <a:bodyPr wrap="square" lIns="27432" rIns="27432" tIns="18288" bIns="0">
            <a:spAutoFit/>
          </a:bodyPr>
          <a:lstStyle/>
          <a:p>
            <a:pPr>
              <a:spcAft>
                <a:spcPts val="1000"/>
              </a:spcAft>
              <a:defRPr sz="2900" b="1">
                <a:solidFill>
                  <a:srgbClr val="15365B"/>
                </a:solidFill>
                <a:latin typeface="DejaVu Sans"/>
              </a:defRPr>
            </a:pPr>
            <a:r>
              <a:t>Universitet portali misolida</a:t>
            </a:r>
          </a:p>
        </p:txBody>
      </p:sp>
      <p:sp>
        <p:nvSpPr>
          <p:cNvPr id="5" name="Rectangle 4"/>
          <p:cNvSpPr/>
          <p:nvPr/>
        </p:nvSpPr>
        <p:spPr>
          <a:xfrm>
            <a:off x="548640" y="6428232"/>
            <a:ext cx="11064240" cy="10972"/>
          </a:xfrm>
          <a:prstGeom prst="rect">
            <a:avLst/>
          </a:prstGeom>
          <a:solidFill>
            <a:srgbClr val="CEE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9144000" cy="182880"/>
          </a:xfrm>
          <a:prstGeom prst="rect">
            <a:avLst/>
          </a:prstGeom>
          <a:noFill/>
        </p:spPr>
        <p:txBody>
          <a:bodyPr wrap="square" lIns="27432" rIns="27432" tIns="18288" bIns="0">
            <a:spAutoFit/>
          </a:bodyPr>
          <a:lstStyle/>
          <a:p>
            <a:pPr>
              <a:spcAft>
                <a:spcPts val="1000"/>
              </a:spcAft>
              <a:defRPr sz="900" b="0">
                <a:solidFill>
                  <a:srgbClr val="53687D"/>
                </a:solidFill>
                <a:latin typeface="DejaVu Sans"/>
              </a:defRPr>
            </a:pPr>
            <a:r>
              <a:t>BTST206  •  BULUT TEXNOLOGIYALARI VA SERVISLAR  •  2027–2028</a:t>
            </a:r>
          </a:p>
        </p:txBody>
      </p:sp>
      <p:sp>
        <p:nvSpPr>
          <p:cNvPr id="7" name="TextBox 6"/>
          <p:cNvSpPr txBox="1"/>
          <p:nvPr/>
        </p:nvSpPr>
        <p:spPr>
          <a:xfrm>
            <a:off x="10607040" y="6473952"/>
            <a:ext cx="1005840" cy="274320"/>
          </a:xfrm>
          <a:prstGeom prst="rect">
            <a:avLst/>
          </a:prstGeom>
          <a:noFill/>
        </p:spPr>
        <p:txBody>
          <a:bodyPr wrap="square" lIns="27432" rIns="27432" tIns="18288" bIns="0">
            <a:spAutoFit/>
          </a:bodyPr>
          <a:lstStyle/>
          <a:p>
            <a:pPr>
              <a:spcAft>
                <a:spcPts val="1000"/>
              </a:spcAft>
              <a:defRPr sz="1200" b="1">
                <a:solidFill>
                  <a:srgbClr val="1678D2"/>
                </a:solidFill>
                <a:latin typeface="DejaVu Sans"/>
              </a:defRPr>
            </a:pPr>
            <a:r>
              <a:t>10</a:t>
            </a:r>
          </a:p>
        </p:txBody>
      </p:sp>
      <p:sp>
        <p:nvSpPr>
          <p:cNvPr id="8" name="TextBox 7"/>
          <p:cNvSpPr txBox="1"/>
          <p:nvPr/>
        </p:nvSpPr>
        <p:spPr>
          <a:xfrm>
            <a:off x="658368" y="1920240"/>
            <a:ext cx="7040880" cy="1508760"/>
          </a:xfrm>
          <a:prstGeom prst="rect">
            <a:avLst/>
          </a:prstGeom>
          <a:noFill/>
        </p:spPr>
        <p:txBody>
          <a:bodyPr wrap="square" lIns="27432" rIns="27432" tIns="18288" bIns="0">
            <a:spAutoFit/>
          </a:bodyPr>
          <a:lstStyle/>
          <a:p>
            <a:pPr>
              <a:spcAft>
                <a:spcPts val="1000"/>
              </a:spcAft>
              <a:defRPr sz="2400" b="0">
                <a:solidFill>
                  <a:srgbClr val="15365B"/>
                </a:solidFill>
                <a:latin typeface="DejaVu Sans"/>
              </a:defRPr>
            </a:pPr>
            <a:r>
              <a:t>Talaba rasm yuklaydi. Portal faylni saqlab tez javob qaytaradi, rasmni kichraytirish esa alohida funksiya orqali keyin bajariladi. Bu hodisaga asoslangan arxitekturaning sodda misolidir.</a:t>
            </a:r>
          </a:p>
        </p:txBody>
      </p:sp>
      <p:sp>
        <p:nvSpPr>
          <p:cNvPr id="9" name="Rounded Rectangle 8"/>
          <p:cNvSpPr/>
          <p:nvPr/>
        </p:nvSpPr>
        <p:spPr>
          <a:xfrm>
            <a:off x="685800" y="4114800"/>
            <a:ext cx="2670048" cy="1161288"/>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4279392"/>
            <a:ext cx="2404872" cy="822960"/>
          </a:xfrm>
          <a:prstGeom prst="rect">
            <a:avLst/>
          </a:prstGeom>
          <a:noFill/>
        </p:spPr>
        <p:txBody>
          <a:bodyPr wrap="square" lIns="27432" rIns="27432" tIns="18288" bIns="0">
            <a:spAutoFit/>
          </a:bodyPr>
          <a:lstStyle/>
          <a:p>
            <a:pPr>
              <a:spcAft>
                <a:spcPts val="1000"/>
              </a:spcAft>
              <a:defRPr sz="2000" b="1">
                <a:solidFill>
                  <a:srgbClr val="1678D2"/>
                </a:solidFill>
                <a:latin typeface="DejaVu Sans"/>
              </a:defRPr>
            </a:pPr>
            <a:r>
              <a:t>Hodisa manbasi</a:t>
            </a:r>
          </a:p>
        </p:txBody>
      </p:sp>
      <p:sp>
        <p:nvSpPr>
          <p:cNvPr id="11" name="Rounded Rectangle 10"/>
          <p:cNvSpPr/>
          <p:nvPr/>
        </p:nvSpPr>
        <p:spPr>
          <a:xfrm>
            <a:off x="3584448" y="4114800"/>
            <a:ext cx="2670048" cy="1161288"/>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721608" y="4279392"/>
            <a:ext cx="2404872" cy="822960"/>
          </a:xfrm>
          <a:prstGeom prst="rect">
            <a:avLst/>
          </a:prstGeom>
          <a:noFill/>
        </p:spPr>
        <p:txBody>
          <a:bodyPr wrap="square" lIns="27432" rIns="27432" tIns="18288" bIns="0">
            <a:spAutoFit/>
          </a:bodyPr>
          <a:lstStyle/>
          <a:p>
            <a:pPr>
              <a:spcAft>
                <a:spcPts val="1000"/>
              </a:spcAft>
              <a:defRPr sz="2000" b="1">
                <a:solidFill>
                  <a:srgbClr val="1678D2"/>
                </a:solidFill>
                <a:latin typeface="DejaVu Sans"/>
              </a:defRPr>
            </a:pPr>
            <a:r>
              <a:t>Navbat / trigger</a:t>
            </a:r>
          </a:p>
        </p:txBody>
      </p:sp>
      <p:sp>
        <p:nvSpPr>
          <p:cNvPr id="13" name="Rounded Rectangle 12"/>
          <p:cNvSpPr/>
          <p:nvPr/>
        </p:nvSpPr>
        <p:spPr>
          <a:xfrm>
            <a:off x="6483096" y="4114800"/>
            <a:ext cx="2670048" cy="1161288"/>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20256" y="4279392"/>
            <a:ext cx="2404872" cy="822960"/>
          </a:xfrm>
          <a:prstGeom prst="rect">
            <a:avLst/>
          </a:prstGeom>
          <a:noFill/>
        </p:spPr>
        <p:txBody>
          <a:bodyPr wrap="square" lIns="27432" rIns="27432" tIns="18288" bIns="0">
            <a:spAutoFit/>
          </a:bodyPr>
          <a:lstStyle/>
          <a:p>
            <a:pPr>
              <a:spcAft>
                <a:spcPts val="1000"/>
              </a:spcAft>
              <a:defRPr sz="2000" b="1">
                <a:solidFill>
                  <a:srgbClr val="1678D2"/>
                </a:solidFill>
                <a:latin typeface="DejaVu Sans"/>
              </a:defRPr>
            </a:pPr>
            <a:r>
              <a:t>Funksiya</a:t>
            </a:r>
          </a:p>
        </p:txBody>
      </p:sp>
      <p:sp>
        <p:nvSpPr>
          <p:cNvPr id="15" name="Rounded Rectangle 14"/>
          <p:cNvSpPr/>
          <p:nvPr/>
        </p:nvSpPr>
        <p:spPr>
          <a:xfrm>
            <a:off x="9381744" y="4114800"/>
            <a:ext cx="2670048" cy="1161288"/>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518904" y="4279392"/>
            <a:ext cx="2404872" cy="822960"/>
          </a:xfrm>
          <a:prstGeom prst="rect">
            <a:avLst/>
          </a:prstGeom>
          <a:noFill/>
        </p:spPr>
        <p:txBody>
          <a:bodyPr wrap="square" lIns="27432" rIns="27432" tIns="18288" bIns="0">
            <a:spAutoFit/>
          </a:bodyPr>
          <a:lstStyle/>
          <a:p>
            <a:pPr>
              <a:spcAft>
                <a:spcPts val="1000"/>
              </a:spcAft>
              <a:defRPr sz="2000" b="1">
                <a:solidFill>
                  <a:srgbClr val="1678D2"/>
                </a:solidFill>
                <a:latin typeface="DejaVu Sans"/>
              </a:defRPr>
            </a:pPr>
            <a:r>
              <a:t>Natija va kuzatuv</a:t>
            </a:r>
          </a:p>
        </p:txBody>
      </p:sp>
      <p:sp>
        <p:nvSpPr>
          <p:cNvPr id="17" name="TextBox 16"/>
          <p:cNvSpPr txBox="1"/>
          <p:nvPr/>
        </p:nvSpPr>
        <p:spPr>
          <a:xfrm>
            <a:off x="713232" y="5632704"/>
            <a:ext cx="10789920" cy="365760"/>
          </a:xfrm>
          <a:prstGeom prst="rect">
            <a:avLst/>
          </a:prstGeom>
          <a:noFill/>
        </p:spPr>
        <p:txBody>
          <a:bodyPr wrap="square" lIns="27432" rIns="27432" tIns="18288" bIns="0">
            <a:spAutoFit/>
          </a:bodyPr>
          <a:lstStyle/>
          <a:p>
            <a:pPr>
              <a:spcAft>
                <a:spcPts val="1000"/>
              </a:spcAft>
              <a:defRPr sz="1300" b="0">
                <a:solidFill>
                  <a:srgbClr val="53687D"/>
                </a:solidFill>
                <a:latin typeface="DejaVu Sans"/>
              </a:defRPr>
            </a:pPr>
            <a:r>
              <a:t>Yuqoridagi bloklar — misolning tayanch qismlari; ular har doim chiziqli trafik yo‘li emas.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058400" cy="274320"/>
          </a:xfrm>
          <a:prstGeom prst="rect">
            <a:avLst/>
          </a:prstGeom>
          <a:noFill/>
        </p:spPr>
        <p:txBody>
          <a:bodyPr wrap="square" lIns="27432" rIns="27432" tIns="18288" bIns="0">
            <a:spAutoFit/>
          </a:bodyPr>
          <a:lstStyle/>
          <a:p>
            <a:pPr>
              <a:spcAft>
                <a:spcPts val="1000"/>
              </a:spcAft>
              <a:defRPr sz="1100" b="1">
                <a:solidFill>
                  <a:srgbClr val="1678D2"/>
                </a:solidFill>
                <a:latin typeface="DejaVu Sans"/>
              </a:defRPr>
            </a:pPr>
            <a:r>
              <a:t>M15 · ANIQLIK KIRITAMIZ</a:t>
            </a:r>
          </a:p>
        </p:txBody>
      </p:sp>
      <p:sp>
        <p:nvSpPr>
          <p:cNvPr id="4" name="TextBox 3"/>
          <p:cNvSpPr txBox="1"/>
          <p:nvPr/>
        </p:nvSpPr>
        <p:spPr>
          <a:xfrm>
            <a:off x="502920" y="777240"/>
            <a:ext cx="11155680" cy="960120"/>
          </a:xfrm>
          <a:prstGeom prst="rect">
            <a:avLst/>
          </a:prstGeom>
          <a:noFill/>
        </p:spPr>
        <p:txBody>
          <a:bodyPr wrap="square" lIns="27432" rIns="27432" tIns="18288" bIns="0">
            <a:spAutoFit/>
          </a:bodyPr>
          <a:lstStyle/>
          <a:p>
            <a:pPr>
              <a:spcAft>
                <a:spcPts val="1000"/>
              </a:spcAft>
              <a:defRPr sz="2900" b="1">
                <a:solidFill>
                  <a:srgbClr val="15365B"/>
                </a:solidFill>
                <a:latin typeface="DejaVu Sans"/>
              </a:defRPr>
            </a:pPr>
            <a:r>
              <a:t>Ko‘p uchraydigan noto‘g‘ri xulosalar</a:t>
            </a:r>
          </a:p>
        </p:txBody>
      </p:sp>
      <p:sp>
        <p:nvSpPr>
          <p:cNvPr id="5" name="Rectangle 4"/>
          <p:cNvSpPr/>
          <p:nvPr/>
        </p:nvSpPr>
        <p:spPr>
          <a:xfrm>
            <a:off x="548640" y="6428232"/>
            <a:ext cx="11064240" cy="10972"/>
          </a:xfrm>
          <a:prstGeom prst="rect">
            <a:avLst/>
          </a:prstGeom>
          <a:solidFill>
            <a:srgbClr val="CEE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9144000" cy="182880"/>
          </a:xfrm>
          <a:prstGeom prst="rect">
            <a:avLst/>
          </a:prstGeom>
          <a:noFill/>
        </p:spPr>
        <p:txBody>
          <a:bodyPr wrap="square" lIns="27432" rIns="27432" tIns="18288" bIns="0">
            <a:spAutoFit/>
          </a:bodyPr>
          <a:lstStyle/>
          <a:p>
            <a:pPr>
              <a:spcAft>
                <a:spcPts val="1000"/>
              </a:spcAft>
              <a:defRPr sz="900" b="0">
                <a:solidFill>
                  <a:srgbClr val="53687D"/>
                </a:solidFill>
                <a:latin typeface="DejaVu Sans"/>
              </a:defRPr>
            </a:pPr>
            <a:r>
              <a:t>BTST206  •  BULUT TEXNOLOGIYALARI VA SERVISLAR  •  2027–2028</a:t>
            </a:r>
          </a:p>
        </p:txBody>
      </p:sp>
      <p:sp>
        <p:nvSpPr>
          <p:cNvPr id="7" name="TextBox 6"/>
          <p:cNvSpPr txBox="1"/>
          <p:nvPr/>
        </p:nvSpPr>
        <p:spPr>
          <a:xfrm>
            <a:off x="10607040" y="6473952"/>
            <a:ext cx="1005840" cy="274320"/>
          </a:xfrm>
          <a:prstGeom prst="rect">
            <a:avLst/>
          </a:prstGeom>
          <a:noFill/>
        </p:spPr>
        <p:txBody>
          <a:bodyPr wrap="square" lIns="27432" rIns="27432" tIns="18288" bIns="0">
            <a:spAutoFit/>
          </a:bodyPr>
          <a:lstStyle/>
          <a:p>
            <a:pPr>
              <a:spcAft>
                <a:spcPts val="1000"/>
              </a:spcAft>
              <a:defRPr sz="1200" b="1">
                <a:solidFill>
                  <a:srgbClr val="1678D2"/>
                </a:solidFill>
                <a:latin typeface="DejaVu Sans"/>
              </a:defRPr>
            </a:pPr>
            <a:r>
              <a:t>11</a:t>
            </a:r>
          </a:p>
        </p:txBody>
      </p:sp>
      <p:sp>
        <p:nvSpPr>
          <p:cNvPr id="8" name="Rounded Rectangle 7"/>
          <p:cNvSpPr/>
          <p:nvPr/>
        </p:nvSpPr>
        <p:spPr>
          <a:xfrm>
            <a:off x="640080" y="1892807"/>
            <a:ext cx="475488" cy="475488"/>
          </a:xfrm>
          <a:prstGeom prst="roundRect">
            <a:avLst>
              <a:gd name="adj" fmla="val 8000"/>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22376" y="1929384"/>
            <a:ext cx="310896" cy="365760"/>
          </a:xfrm>
          <a:prstGeom prst="rect">
            <a:avLst/>
          </a:prstGeom>
          <a:noFill/>
        </p:spPr>
        <p:txBody>
          <a:bodyPr wrap="square" lIns="27432" rIns="27432" tIns="18288" bIns="0">
            <a:spAutoFit/>
          </a:bodyPr>
          <a:lstStyle/>
          <a:p>
            <a:pPr>
              <a:spcAft>
                <a:spcPts val="1000"/>
              </a:spcAft>
              <a:defRPr sz="1700" b="1">
                <a:solidFill>
                  <a:srgbClr val="FFFFFF"/>
                </a:solidFill>
                <a:latin typeface="DejaVu Sans"/>
              </a:defRPr>
            </a:pPr>
            <a:r>
              <a:t>1</a:t>
            </a:r>
          </a:p>
        </p:txBody>
      </p:sp>
      <p:sp>
        <p:nvSpPr>
          <p:cNvPr id="10" name="TextBox 9"/>
          <p:cNvSpPr txBox="1"/>
          <p:nvPr/>
        </p:nvSpPr>
        <p:spPr>
          <a:xfrm>
            <a:off x="1353312" y="1892807"/>
            <a:ext cx="10058400" cy="1143000"/>
          </a:xfrm>
          <a:prstGeom prst="rect">
            <a:avLst/>
          </a:prstGeom>
          <a:noFill/>
        </p:spPr>
        <p:txBody>
          <a:bodyPr wrap="square" lIns="27432" rIns="27432" tIns="18288" bIns="0">
            <a:spAutoFit/>
          </a:bodyPr>
          <a:lstStyle/>
          <a:p>
            <a:pPr>
              <a:spcAft>
                <a:spcPts val="1000"/>
              </a:spcAft>
              <a:defRPr sz="2300" b="0">
                <a:solidFill>
                  <a:srgbClr val="15365B"/>
                </a:solidFill>
                <a:latin typeface="DejaVu Sans"/>
              </a:defRPr>
            </a:pPr>
            <a:r>
              <a:t>Serverless nol xarajat yoki mutlaqo sozlashsiz ishlash degani emas.</a:t>
            </a:r>
          </a:p>
        </p:txBody>
      </p:sp>
      <p:sp>
        <p:nvSpPr>
          <p:cNvPr id="11" name="Rounded Rectangle 10"/>
          <p:cNvSpPr/>
          <p:nvPr/>
        </p:nvSpPr>
        <p:spPr>
          <a:xfrm>
            <a:off x="640080" y="3246120"/>
            <a:ext cx="475488" cy="475488"/>
          </a:xfrm>
          <a:prstGeom prst="roundRect">
            <a:avLst>
              <a:gd name="adj" fmla="val 8000"/>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2376" y="3282696"/>
            <a:ext cx="310896" cy="365760"/>
          </a:xfrm>
          <a:prstGeom prst="rect">
            <a:avLst/>
          </a:prstGeom>
          <a:noFill/>
        </p:spPr>
        <p:txBody>
          <a:bodyPr wrap="square" lIns="27432" rIns="27432" tIns="18288" bIns="0">
            <a:spAutoFit/>
          </a:bodyPr>
          <a:lstStyle/>
          <a:p>
            <a:pPr>
              <a:spcAft>
                <a:spcPts val="1000"/>
              </a:spcAft>
              <a:defRPr sz="1700" b="1">
                <a:solidFill>
                  <a:srgbClr val="FFFFFF"/>
                </a:solidFill>
                <a:latin typeface="DejaVu Sans"/>
              </a:defRPr>
            </a:pPr>
            <a:r>
              <a:t>2</a:t>
            </a:r>
          </a:p>
        </p:txBody>
      </p:sp>
      <p:sp>
        <p:nvSpPr>
          <p:cNvPr id="13" name="TextBox 12"/>
          <p:cNvSpPr txBox="1"/>
          <p:nvPr/>
        </p:nvSpPr>
        <p:spPr>
          <a:xfrm>
            <a:off x="1353312" y="3246120"/>
            <a:ext cx="10058400" cy="1143000"/>
          </a:xfrm>
          <a:prstGeom prst="rect">
            <a:avLst/>
          </a:prstGeom>
          <a:noFill/>
        </p:spPr>
        <p:txBody>
          <a:bodyPr wrap="square" lIns="27432" rIns="27432" tIns="18288" bIns="0">
            <a:spAutoFit/>
          </a:bodyPr>
          <a:lstStyle/>
          <a:p>
            <a:pPr>
              <a:spcAft>
                <a:spcPts val="1000"/>
              </a:spcAft>
              <a:defRPr sz="2300" b="0">
                <a:solidFill>
                  <a:srgbClr val="15365B"/>
                </a:solidFill>
                <a:latin typeface="DejaVu Sans"/>
              </a:defRPr>
            </a:pPr>
            <a:r>
              <a:t>Oddiy tekshir-keyin-yoz usuli parallel bajarilishda poyga holatini keltirishi mumkin; atomar mexanizm kerak.</a:t>
            </a:r>
          </a:p>
        </p:txBody>
      </p:sp>
      <p:sp>
        <p:nvSpPr>
          <p:cNvPr id="14" name="Rounded Rectangle 13"/>
          <p:cNvSpPr/>
          <p:nvPr/>
        </p:nvSpPr>
        <p:spPr>
          <a:xfrm>
            <a:off x="640080" y="4599431"/>
            <a:ext cx="475488" cy="475488"/>
          </a:xfrm>
          <a:prstGeom prst="roundRect">
            <a:avLst>
              <a:gd name="adj" fmla="val 8000"/>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2376" y="4636007"/>
            <a:ext cx="310896" cy="365760"/>
          </a:xfrm>
          <a:prstGeom prst="rect">
            <a:avLst/>
          </a:prstGeom>
          <a:noFill/>
        </p:spPr>
        <p:txBody>
          <a:bodyPr wrap="square" lIns="27432" rIns="27432" tIns="18288" bIns="0">
            <a:spAutoFit/>
          </a:bodyPr>
          <a:lstStyle/>
          <a:p>
            <a:pPr>
              <a:spcAft>
                <a:spcPts val="1000"/>
              </a:spcAft>
              <a:defRPr sz="1700" b="1">
                <a:solidFill>
                  <a:srgbClr val="FFFFFF"/>
                </a:solidFill>
                <a:latin typeface="DejaVu Sans"/>
              </a:defRPr>
            </a:pPr>
            <a:r>
              <a:t>3</a:t>
            </a:r>
          </a:p>
        </p:txBody>
      </p:sp>
      <p:sp>
        <p:nvSpPr>
          <p:cNvPr id="16" name="TextBox 15"/>
          <p:cNvSpPr txBox="1"/>
          <p:nvPr/>
        </p:nvSpPr>
        <p:spPr>
          <a:xfrm>
            <a:off x="1353312" y="4599431"/>
            <a:ext cx="10058400" cy="1143000"/>
          </a:xfrm>
          <a:prstGeom prst="rect">
            <a:avLst/>
          </a:prstGeom>
          <a:noFill/>
        </p:spPr>
        <p:txBody>
          <a:bodyPr wrap="square" lIns="27432" rIns="27432" tIns="18288" bIns="0">
            <a:spAutoFit/>
          </a:bodyPr>
          <a:lstStyle/>
          <a:p>
            <a:pPr>
              <a:spcAft>
                <a:spcPts val="1000"/>
              </a:spcAft>
              <a:defRPr sz="2300" b="0">
                <a:solidFill>
                  <a:srgbClr val="15365B"/>
                </a:solidFill>
                <a:latin typeface="DejaVu Sans"/>
              </a:defRPr>
            </a:pPr>
            <a:r>
              <a:t>Bepul kvota va tariflarni doimiy raqam sifatida yodlash o‘rniga amaldagi rasmiy narx tekshiriladi.</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058400" cy="274320"/>
          </a:xfrm>
          <a:prstGeom prst="rect">
            <a:avLst/>
          </a:prstGeom>
          <a:noFill/>
        </p:spPr>
        <p:txBody>
          <a:bodyPr wrap="square" lIns="27432" rIns="27432" tIns="18288" bIns="0">
            <a:spAutoFit/>
          </a:bodyPr>
          <a:lstStyle/>
          <a:p>
            <a:pPr>
              <a:spcAft>
                <a:spcPts val="1000"/>
              </a:spcAft>
              <a:defRPr sz="1100" b="1">
                <a:solidFill>
                  <a:srgbClr val="1678D2"/>
                </a:solidFill>
                <a:latin typeface="DejaVu Sans"/>
              </a:defRPr>
            </a:pPr>
            <a:r>
              <a:t>M15 · YAKUN</a:t>
            </a:r>
          </a:p>
        </p:txBody>
      </p:sp>
      <p:sp>
        <p:nvSpPr>
          <p:cNvPr id="4" name="TextBox 3"/>
          <p:cNvSpPr txBox="1"/>
          <p:nvPr/>
        </p:nvSpPr>
        <p:spPr>
          <a:xfrm>
            <a:off x="502920" y="777240"/>
            <a:ext cx="11155680" cy="960120"/>
          </a:xfrm>
          <a:prstGeom prst="rect">
            <a:avLst/>
          </a:prstGeom>
          <a:noFill/>
        </p:spPr>
        <p:txBody>
          <a:bodyPr wrap="square" lIns="27432" rIns="27432" tIns="18288" bIns="0">
            <a:spAutoFit/>
          </a:bodyPr>
          <a:lstStyle/>
          <a:p>
            <a:pPr>
              <a:spcAft>
                <a:spcPts val="1000"/>
              </a:spcAft>
              <a:defRPr sz="2900" b="1">
                <a:solidFill>
                  <a:srgbClr val="15365B"/>
                </a:solidFill>
                <a:latin typeface="DejaVu Sans"/>
              </a:defRPr>
            </a:pPr>
            <a:r>
              <a:t>Mavzuning asosiy xulosalari</a:t>
            </a:r>
          </a:p>
        </p:txBody>
      </p:sp>
      <p:sp>
        <p:nvSpPr>
          <p:cNvPr id="5" name="Rectangle 4"/>
          <p:cNvSpPr/>
          <p:nvPr/>
        </p:nvSpPr>
        <p:spPr>
          <a:xfrm>
            <a:off x="548640" y="6428232"/>
            <a:ext cx="11064240" cy="10972"/>
          </a:xfrm>
          <a:prstGeom prst="rect">
            <a:avLst/>
          </a:prstGeom>
          <a:solidFill>
            <a:srgbClr val="CEE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9144000" cy="182880"/>
          </a:xfrm>
          <a:prstGeom prst="rect">
            <a:avLst/>
          </a:prstGeom>
          <a:noFill/>
        </p:spPr>
        <p:txBody>
          <a:bodyPr wrap="square" lIns="27432" rIns="27432" tIns="18288" bIns="0">
            <a:spAutoFit/>
          </a:bodyPr>
          <a:lstStyle/>
          <a:p>
            <a:pPr>
              <a:spcAft>
                <a:spcPts val="1000"/>
              </a:spcAft>
              <a:defRPr sz="900" b="0">
                <a:solidFill>
                  <a:srgbClr val="53687D"/>
                </a:solidFill>
                <a:latin typeface="DejaVu Sans"/>
              </a:defRPr>
            </a:pPr>
            <a:r>
              <a:t>BTST206  •  BULUT TEXNOLOGIYALARI VA SERVISLAR  •  2027–2028</a:t>
            </a:r>
          </a:p>
        </p:txBody>
      </p:sp>
      <p:sp>
        <p:nvSpPr>
          <p:cNvPr id="7" name="TextBox 6"/>
          <p:cNvSpPr txBox="1"/>
          <p:nvPr/>
        </p:nvSpPr>
        <p:spPr>
          <a:xfrm>
            <a:off x="10607040" y="6473952"/>
            <a:ext cx="1005840" cy="274320"/>
          </a:xfrm>
          <a:prstGeom prst="rect">
            <a:avLst/>
          </a:prstGeom>
          <a:noFill/>
        </p:spPr>
        <p:txBody>
          <a:bodyPr wrap="square" lIns="27432" rIns="27432" tIns="18288" bIns="0">
            <a:spAutoFit/>
          </a:bodyPr>
          <a:lstStyle/>
          <a:p>
            <a:pPr>
              <a:spcAft>
                <a:spcPts val="1000"/>
              </a:spcAft>
              <a:defRPr sz="1200" b="1">
                <a:solidFill>
                  <a:srgbClr val="1678D2"/>
                </a:solidFill>
                <a:latin typeface="DejaVu Sans"/>
              </a:defRPr>
            </a:pPr>
            <a:r>
              <a:t>12</a:t>
            </a:r>
          </a:p>
        </p:txBody>
      </p:sp>
      <p:sp>
        <p:nvSpPr>
          <p:cNvPr id="8" name="Rounded Rectangle 7"/>
          <p:cNvSpPr/>
          <p:nvPr/>
        </p:nvSpPr>
        <p:spPr>
          <a:xfrm>
            <a:off x="640080" y="2075688"/>
            <a:ext cx="3611880" cy="3438144"/>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2286000"/>
            <a:ext cx="3136392" cy="502920"/>
          </a:xfrm>
          <a:prstGeom prst="rect">
            <a:avLst/>
          </a:prstGeom>
          <a:noFill/>
        </p:spPr>
        <p:txBody>
          <a:bodyPr wrap="square" lIns="27432" rIns="27432" tIns="18288" bIns="0">
            <a:spAutoFit/>
          </a:bodyPr>
          <a:lstStyle/>
          <a:p>
            <a:pPr>
              <a:spcAft>
                <a:spcPts val="1000"/>
              </a:spcAft>
              <a:defRPr sz="3100" b="1">
                <a:solidFill>
                  <a:srgbClr val="1678D2"/>
                </a:solidFill>
                <a:latin typeface="DejaVu Sans"/>
              </a:defRPr>
            </a:pPr>
            <a:r>
              <a:t>01</a:t>
            </a:r>
          </a:p>
        </p:txBody>
      </p:sp>
      <p:sp>
        <p:nvSpPr>
          <p:cNvPr id="10" name="TextBox 9"/>
          <p:cNvSpPr txBox="1"/>
          <p:nvPr/>
        </p:nvSpPr>
        <p:spPr>
          <a:xfrm>
            <a:off x="859536" y="3090672"/>
            <a:ext cx="3136392" cy="2103120"/>
          </a:xfrm>
          <a:prstGeom prst="rect">
            <a:avLst/>
          </a:prstGeom>
          <a:noFill/>
        </p:spPr>
        <p:txBody>
          <a:bodyPr wrap="square" lIns="27432" rIns="27432" tIns="18288" bIns="0">
            <a:spAutoFit/>
          </a:bodyPr>
          <a:lstStyle/>
          <a:p>
            <a:pPr>
              <a:spcAft>
                <a:spcPts val="1000"/>
              </a:spcAft>
              <a:defRPr sz="2500" b="1">
                <a:solidFill>
                  <a:srgbClr val="15365B"/>
                </a:solidFill>
                <a:latin typeface="DejaVu Sans"/>
              </a:defRPr>
            </a:pPr>
            <a:r>
              <a:t>Server boshqaruvi yashiriladi, kod va hodisa markazga chiqadi.</a:t>
            </a:r>
          </a:p>
        </p:txBody>
      </p:sp>
      <p:sp>
        <p:nvSpPr>
          <p:cNvPr id="11" name="Rounded Rectangle 10"/>
          <p:cNvSpPr/>
          <p:nvPr/>
        </p:nvSpPr>
        <p:spPr>
          <a:xfrm>
            <a:off x="4498848" y="2075688"/>
            <a:ext cx="3611880" cy="3438144"/>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18304" y="2286000"/>
            <a:ext cx="3136392" cy="502920"/>
          </a:xfrm>
          <a:prstGeom prst="rect">
            <a:avLst/>
          </a:prstGeom>
          <a:noFill/>
        </p:spPr>
        <p:txBody>
          <a:bodyPr wrap="square" lIns="27432" rIns="27432" tIns="18288" bIns="0">
            <a:spAutoFit/>
          </a:bodyPr>
          <a:lstStyle/>
          <a:p>
            <a:pPr>
              <a:spcAft>
                <a:spcPts val="1000"/>
              </a:spcAft>
              <a:defRPr sz="3100" b="1">
                <a:solidFill>
                  <a:srgbClr val="1678D2"/>
                </a:solidFill>
                <a:latin typeface="DejaVu Sans"/>
              </a:defRPr>
            </a:pPr>
            <a:r>
              <a:t>02</a:t>
            </a:r>
          </a:p>
        </p:txBody>
      </p:sp>
      <p:sp>
        <p:nvSpPr>
          <p:cNvPr id="13" name="TextBox 12"/>
          <p:cNvSpPr txBox="1"/>
          <p:nvPr/>
        </p:nvSpPr>
        <p:spPr>
          <a:xfrm>
            <a:off x="4718304" y="3090672"/>
            <a:ext cx="3136392" cy="2103120"/>
          </a:xfrm>
          <a:prstGeom prst="rect">
            <a:avLst/>
          </a:prstGeom>
          <a:noFill/>
        </p:spPr>
        <p:txBody>
          <a:bodyPr wrap="square" lIns="27432" rIns="27432" tIns="18288" bIns="0">
            <a:spAutoFit/>
          </a:bodyPr>
          <a:lstStyle/>
          <a:p>
            <a:pPr>
              <a:spcAft>
                <a:spcPts val="1000"/>
              </a:spcAft>
              <a:defRPr sz="2500" b="1">
                <a:solidFill>
                  <a:srgbClr val="15365B"/>
                </a:solidFill>
                <a:latin typeface="DejaVu Sans"/>
              </a:defRPr>
            </a:pPr>
            <a:r>
              <a:t>Komponentlar hodisalar orqali bog‘lanadi.</a:t>
            </a:r>
          </a:p>
        </p:txBody>
      </p:sp>
      <p:sp>
        <p:nvSpPr>
          <p:cNvPr id="14" name="Rounded Rectangle 13"/>
          <p:cNvSpPr/>
          <p:nvPr/>
        </p:nvSpPr>
        <p:spPr>
          <a:xfrm>
            <a:off x="8357615" y="2075688"/>
            <a:ext cx="3611880" cy="3438144"/>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77072" y="2286000"/>
            <a:ext cx="3136392" cy="502920"/>
          </a:xfrm>
          <a:prstGeom prst="rect">
            <a:avLst/>
          </a:prstGeom>
          <a:noFill/>
        </p:spPr>
        <p:txBody>
          <a:bodyPr wrap="square" lIns="27432" rIns="27432" tIns="18288" bIns="0">
            <a:spAutoFit/>
          </a:bodyPr>
          <a:lstStyle/>
          <a:p>
            <a:pPr>
              <a:spcAft>
                <a:spcPts val="1000"/>
              </a:spcAft>
              <a:defRPr sz="3100" b="1">
                <a:solidFill>
                  <a:srgbClr val="1678D2"/>
                </a:solidFill>
                <a:latin typeface="DejaVu Sans"/>
              </a:defRPr>
            </a:pPr>
            <a:r>
              <a:t>03</a:t>
            </a:r>
          </a:p>
        </p:txBody>
      </p:sp>
      <p:sp>
        <p:nvSpPr>
          <p:cNvPr id="16" name="TextBox 15"/>
          <p:cNvSpPr txBox="1"/>
          <p:nvPr/>
        </p:nvSpPr>
        <p:spPr>
          <a:xfrm>
            <a:off x="8577072" y="3090672"/>
            <a:ext cx="3136392" cy="2103120"/>
          </a:xfrm>
          <a:prstGeom prst="rect">
            <a:avLst/>
          </a:prstGeom>
          <a:noFill/>
        </p:spPr>
        <p:txBody>
          <a:bodyPr wrap="square" lIns="27432" rIns="27432" tIns="18288" bIns="0">
            <a:spAutoFit/>
          </a:bodyPr>
          <a:lstStyle/>
          <a:p>
            <a:pPr>
              <a:spcAft>
                <a:spcPts val="1000"/>
              </a:spcAft>
              <a:defRPr sz="2500" b="1">
                <a:solidFill>
                  <a:srgbClr val="15365B"/>
                </a:solidFill>
                <a:latin typeface="DejaVu Sans"/>
              </a:defRPr>
            </a:pPr>
            <a:r>
              <a:t>Tez rivojlantirish ↔ limit va sovuq start.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058400" cy="274320"/>
          </a:xfrm>
          <a:prstGeom prst="rect">
            <a:avLst/>
          </a:prstGeom>
          <a:noFill/>
        </p:spPr>
        <p:txBody>
          <a:bodyPr wrap="square" lIns="27432" rIns="27432" tIns="18288" bIns="0">
            <a:spAutoFit/>
          </a:bodyPr>
          <a:lstStyle/>
          <a:p>
            <a:pPr>
              <a:spcAft>
                <a:spcPts val="1000"/>
              </a:spcAft>
              <a:defRPr sz="1100" b="1">
                <a:solidFill>
                  <a:srgbClr val="1678D2"/>
                </a:solidFill>
                <a:latin typeface="DejaVu Sans"/>
              </a:defRPr>
            </a:pPr>
            <a:r>
              <a:t>M15 · QO‘SHIMCHA O‘QISH</a:t>
            </a:r>
          </a:p>
        </p:txBody>
      </p:sp>
      <p:sp>
        <p:nvSpPr>
          <p:cNvPr id="4" name="TextBox 3"/>
          <p:cNvSpPr txBox="1"/>
          <p:nvPr/>
        </p:nvSpPr>
        <p:spPr>
          <a:xfrm>
            <a:off x="502920" y="777240"/>
            <a:ext cx="11155680" cy="960120"/>
          </a:xfrm>
          <a:prstGeom prst="rect">
            <a:avLst/>
          </a:prstGeom>
          <a:noFill/>
        </p:spPr>
        <p:txBody>
          <a:bodyPr wrap="square" lIns="27432" rIns="27432" tIns="18288" bIns="0">
            <a:spAutoFit/>
          </a:bodyPr>
          <a:lstStyle/>
          <a:p>
            <a:pPr>
              <a:spcAft>
                <a:spcPts val="1000"/>
              </a:spcAft>
              <a:defRPr sz="2900" b="1">
                <a:solidFill>
                  <a:srgbClr val="15365B"/>
                </a:solidFill>
                <a:latin typeface="DejaVu Sans"/>
              </a:defRPr>
            </a:pPr>
            <a:r>
              <a:t>Manbalar va terminlar</a:t>
            </a:r>
          </a:p>
        </p:txBody>
      </p:sp>
      <p:sp>
        <p:nvSpPr>
          <p:cNvPr id="5" name="Rectangle 4"/>
          <p:cNvSpPr/>
          <p:nvPr/>
        </p:nvSpPr>
        <p:spPr>
          <a:xfrm>
            <a:off x="548640" y="6428232"/>
            <a:ext cx="11064240" cy="10972"/>
          </a:xfrm>
          <a:prstGeom prst="rect">
            <a:avLst/>
          </a:prstGeom>
          <a:solidFill>
            <a:srgbClr val="CEE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9144000" cy="182880"/>
          </a:xfrm>
          <a:prstGeom prst="rect">
            <a:avLst/>
          </a:prstGeom>
          <a:noFill/>
        </p:spPr>
        <p:txBody>
          <a:bodyPr wrap="square" lIns="27432" rIns="27432" tIns="18288" bIns="0">
            <a:spAutoFit/>
          </a:bodyPr>
          <a:lstStyle/>
          <a:p>
            <a:pPr>
              <a:spcAft>
                <a:spcPts val="1000"/>
              </a:spcAft>
              <a:defRPr sz="900" b="0">
                <a:solidFill>
                  <a:srgbClr val="53687D"/>
                </a:solidFill>
                <a:latin typeface="DejaVu Sans"/>
              </a:defRPr>
            </a:pPr>
            <a:r>
              <a:t>BTST206  •  BULUT TEXNOLOGIYALARI VA SERVISLAR  •  2027–2028</a:t>
            </a:r>
          </a:p>
        </p:txBody>
      </p:sp>
      <p:sp>
        <p:nvSpPr>
          <p:cNvPr id="7" name="TextBox 6"/>
          <p:cNvSpPr txBox="1"/>
          <p:nvPr/>
        </p:nvSpPr>
        <p:spPr>
          <a:xfrm>
            <a:off x="10607040" y="6473952"/>
            <a:ext cx="1005840" cy="274320"/>
          </a:xfrm>
          <a:prstGeom prst="rect">
            <a:avLst/>
          </a:prstGeom>
          <a:noFill/>
        </p:spPr>
        <p:txBody>
          <a:bodyPr wrap="square" lIns="27432" rIns="27432" tIns="18288" bIns="0">
            <a:spAutoFit/>
          </a:bodyPr>
          <a:lstStyle/>
          <a:p>
            <a:pPr>
              <a:spcAft>
                <a:spcPts val="1000"/>
              </a:spcAft>
              <a:defRPr sz="1200" b="1">
                <a:solidFill>
                  <a:srgbClr val="1678D2"/>
                </a:solidFill>
                <a:latin typeface="DejaVu Sans"/>
              </a:defRPr>
            </a:pPr>
            <a:r>
              <a:t>13</a:t>
            </a:r>
          </a:p>
        </p:txBody>
      </p:sp>
      <p:sp>
        <p:nvSpPr>
          <p:cNvPr id="8" name="TextBox 7"/>
          <p:cNvSpPr txBox="1"/>
          <p:nvPr/>
        </p:nvSpPr>
        <p:spPr>
          <a:xfrm>
            <a:off x="685800" y="1920240"/>
            <a:ext cx="10789920" cy="822960"/>
          </a:xfrm>
          <a:prstGeom prst="rect">
            <a:avLst/>
          </a:prstGeom>
          <a:noFill/>
        </p:spPr>
        <p:txBody>
          <a:bodyPr wrap="square" lIns="27432" rIns="27432" tIns="18288" bIns="0">
            <a:spAutoFit/>
          </a:bodyPr>
          <a:lstStyle/>
          <a:p>
            <a:pPr>
              <a:spcAft>
                <a:spcPts val="1000"/>
              </a:spcAft>
              <a:defRPr sz="2100" b="1">
                <a:solidFill>
                  <a:srgbClr val="15365B"/>
                </a:solidFill>
                <a:latin typeface="DejaVu Sans"/>
              </a:defRPr>
            </a:pPr>
            <a:r>
              <a:t>Asos: BTST206 sillabusi, 2027–2028. M1–M18 ma’ruza bo‘limi.</a:t>
            </a:r>
          </a:p>
        </p:txBody>
      </p:sp>
      <p:sp>
        <p:nvSpPr>
          <p:cNvPr id="9" name="TextBox 8"/>
          <p:cNvSpPr txBox="1"/>
          <p:nvPr/>
        </p:nvSpPr>
        <p:spPr>
          <a:xfrm>
            <a:off x="713232" y="2926080"/>
            <a:ext cx="10744200" cy="512064"/>
          </a:xfrm>
          <a:prstGeom prst="rect">
            <a:avLst/>
          </a:prstGeom>
          <a:noFill/>
        </p:spPr>
        <p:txBody>
          <a:bodyPr wrap="square" lIns="27432" rIns="27432" tIns="18288" bIns="0">
            <a:spAutoFit/>
          </a:bodyPr>
          <a:lstStyle/>
          <a:p>
            <a:pPr>
              <a:spcAft>
                <a:spcPts val="1000"/>
              </a:spcAft>
              <a:defRPr sz="1600" b="0">
                <a:solidFill>
                  <a:srgbClr val="1678D2"/>
                </a:solidFill>
                <a:latin typeface="DejaVu Sans"/>
              </a:defRPr>
            </a:pPr>
            <a:r>
              <a:t>https://docs.aws.amazon.com/lambda/latest/dg/</a:t>
            </a:r>
          </a:p>
        </p:txBody>
      </p:sp>
      <p:sp>
        <p:nvSpPr>
          <p:cNvPr id="10" name="TextBox 9"/>
          <p:cNvSpPr txBox="1"/>
          <p:nvPr/>
        </p:nvSpPr>
        <p:spPr>
          <a:xfrm>
            <a:off x="713232" y="3456432"/>
            <a:ext cx="10744200" cy="512064"/>
          </a:xfrm>
          <a:prstGeom prst="rect">
            <a:avLst/>
          </a:prstGeom>
          <a:noFill/>
        </p:spPr>
        <p:txBody>
          <a:bodyPr wrap="square" lIns="27432" rIns="27432" tIns="18288" bIns="0">
            <a:spAutoFit/>
          </a:bodyPr>
          <a:lstStyle/>
          <a:p>
            <a:pPr>
              <a:spcAft>
                <a:spcPts val="1000"/>
              </a:spcAft>
              <a:defRPr sz="1600" b="0">
                <a:solidFill>
                  <a:srgbClr val="1678D2"/>
                </a:solidFill>
                <a:latin typeface="DejaVu Sans"/>
              </a:defRPr>
            </a:pPr>
            <a:r>
              <a:t>https://learn.microsoft.com/azure/azure-functions/</a:t>
            </a:r>
          </a:p>
        </p:txBody>
      </p:sp>
      <p:sp>
        <p:nvSpPr>
          <p:cNvPr id="11" name="TextBox 10"/>
          <p:cNvSpPr txBox="1"/>
          <p:nvPr/>
        </p:nvSpPr>
        <p:spPr>
          <a:xfrm>
            <a:off x="713232" y="3986784"/>
            <a:ext cx="10744200" cy="512064"/>
          </a:xfrm>
          <a:prstGeom prst="rect">
            <a:avLst/>
          </a:prstGeom>
          <a:noFill/>
        </p:spPr>
        <p:txBody>
          <a:bodyPr wrap="square" lIns="27432" rIns="27432" tIns="18288" bIns="0">
            <a:spAutoFit/>
          </a:bodyPr>
          <a:lstStyle/>
          <a:p>
            <a:pPr>
              <a:spcAft>
                <a:spcPts val="1000"/>
              </a:spcAft>
              <a:defRPr sz="1600" b="0">
                <a:solidFill>
                  <a:srgbClr val="1678D2"/>
                </a:solidFill>
                <a:latin typeface="DejaVu Sans"/>
              </a:defRPr>
            </a:pPr>
            <a:r>
              <a:t>https://cloud.google.com/run/docs/functions/overview</a:t>
            </a:r>
          </a:p>
        </p:txBody>
      </p:sp>
      <p:sp>
        <p:nvSpPr>
          <p:cNvPr id="12" name="TextBox 11"/>
          <p:cNvSpPr txBox="1"/>
          <p:nvPr/>
        </p:nvSpPr>
        <p:spPr>
          <a:xfrm>
            <a:off x="713232" y="5650992"/>
            <a:ext cx="10789920" cy="502920"/>
          </a:xfrm>
          <a:prstGeom prst="rect">
            <a:avLst/>
          </a:prstGeom>
          <a:noFill/>
        </p:spPr>
        <p:txBody>
          <a:bodyPr wrap="square" lIns="27432" rIns="27432" tIns="18288" bIns="0">
            <a:spAutoFit/>
          </a:bodyPr>
          <a:lstStyle/>
          <a:p>
            <a:pPr>
              <a:spcAft>
                <a:spcPts val="1000"/>
              </a:spcAft>
              <a:defRPr sz="1600" b="0">
                <a:solidFill>
                  <a:srgbClr val="53687D"/>
                </a:solidFill>
                <a:latin typeface="DejaVu Sans"/>
              </a:defRPr>
            </a:pPr>
            <a:r>
              <a:t>Narx, limit va xizmat nomlarining amaldagi holati rasmiy hujjatlarda tekshiriladi.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