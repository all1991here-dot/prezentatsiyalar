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«Bulutli ma’lumotlarni saqlash texnologiyalari» mavzusiga bag‘ishlanadi. Mavzuni murakkab atamalardan emas, kundalik ehtiyojdan boshlaymiz. Universitet ma’ruza videolari, virtual server diski va umumiy ishchi hujjatlarni saqlaydi. Ularning kirish usuli va talabi turlicha bo‘lgani uchun bir xil saqlash xizmati har biriga mos kelmaydi.</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object storage tushuntiriladi. 2-bo‘limda block storage tushuntiriladi. 3-bo‘limda file storage tushuntiriladi. 4-bo‘limda replikatsiya va durability tushuntiriladi. 5-bo‘limda zaxiralash, rpo va rto tushuntiriladi. 6-bo‘limda hayot sikli va narx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 Storage ma’lumotni obyekt sifatida saqlaydi. Obyekt mazmun, kalit va metadata dan iborat bo‘lishi mumkin. Odatda HTTP API orqali o‘qiladi va yoziladi. Video, rasm, arxiv va zaxiralar uchun juda qulay.</a:t>
            </a:r>
          </a:p>
          <a:p/>
          <a:p>
            <a:r>
              <a:t>Ilova bucket ichidagi kalit orqali obyektga murojaat qiladi. Ko‘rinishda papka bo‘lishi mumkin, lekin odatiy fayl tizimidagi blokni joyida tahrirlash bilan bir xil model emas.</a:t>
            </a:r>
          </a:p>
          <a:p/>
          <a:p>
            <a:r>
              <a:t>Universitet misolida buni quyidagicha tasavvur qilamiz. Ma’ruza videosi videos/m01.mp4 kaliti bilan saqlanadi va ruxsat asosida talabalarga uzatiladi. Bu misolda texnik atama real vazifa bilan bog‘lanadi: resursning nomini emas, nima uchun tanlanganini tushunish muhim.</a:t>
            </a:r>
          </a:p>
          <a:p/>
          <a:p>
            <a:r>
              <a:t>E’tibor beradigan chegara ham bor. Bucket ni ommaviy ochish shart emas; maxfiy obyektlar cheklangan ruxsat bilan tarqatiladi.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 Storage xom bloklar ko‘rinishidagi saqlashni beradi. Operatsion tizim uning ustida fayl tizimi yaratishi mumkin. Past kechikish va diskka to‘g‘ridan-to‘g‘ri kirish kerak bo‘ladigan ish yuklamalarida keng qo‘llanadi.</a:t>
            </a:r>
          </a:p>
          <a:p/>
          <a:p>
            <a:r>
              <a:t>Virtual disk serverga ulanadi. Ilova fayl tizimi yoki ma’lumotlar bazasi orqali bloklarga yozadi. IOPS, throughput va kechikish ish faoliyatini belgilaydi.</a:t>
            </a:r>
          </a:p>
          <a:p/>
          <a:p>
            <a:r>
              <a:t>Universitet misolida buni quyidagicha tasavvur qilamiz. Virtual serverning operatsion tizimi va ayrim baza yuklamalari blokli diskda joylashadi. Bu misolda texnik atama real vazifa bilan bog‘lanadi: resursning nomini emas, nima uchun tanlanganini tushunish muhim.</a:t>
            </a:r>
          </a:p>
          <a:p/>
          <a:p>
            <a:r>
              <a:t>E’tibor beradigan chegara ham bor. Disk hajmi katta bo‘lishi uning barcha turdagi yuklama uchun tez ekanini anglatmaydi.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Storage papka va fayllar iyerarxiyasini taqdim etadi. NFS yoki SMB kabi protokollar orqali bir nechta tizim birgalikda foydalanishi mumkin. Eski ilovalar va umumiy ish papkalari uchun mos bo‘lishi mumkin.</a:t>
            </a:r>
          </a:p>
          <a:p/>
          <a:p>
            <a:r>
              <a:t>Mijoz fayl ulashuvini mount qiladi va odatdagi fayl yo‘li bilan ishlaydi. Parallel yozish, qulf va ruxsat xatti-harakati xizmatga qarab tekshiriladi.</a:t>
            </a:r>
          </a:p>
          <a:p/>
          <a:p>
            <a:r>
              <a:t>Universitet misolida buni quyidagicha tasavvur qilamiz. Bir nechta server hisobot shablonlarini umumiy tarmoq papkasidan o‘qiydi. Bu misolda texnik atama real vazifa bilan bog‘lanadi: resursning nomini emas, nima uchun tanlanganini tushunish muhim.</a:t>
            </a:r>
          </a:p>
          <a:p/>
          <a:p>
            <a:r>
              <a:t>E’tibor beradigan chegara ham bor. Har qanday ilovani umumiy papkaga ko‘chirish uni avtomatik taqsimlangan va barqaror qilmaydi.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Replikatsiya ma’lumotning bir nechta nusxasini ushlab turadi. Nusxalar disk, tugun, zona yoki hudud darajasida joylashtirilishi mumkin. Durability ma’lumotni yo‘qotmasdan saqlash, availability esa uni kerakli vaqtda olish imkoniyatidir.</a:t>
            </a:r>
          </a:p>
          <a:p/>
          <a:p>
            <a:r>
              <a:t>Yozuv belgilangan siyosat asosida ko‘chiriladi. Ba’zi modellar sinxron, boshqalari asinxron bo‘ladi. Asinxron modelda eng so‘nggi o‘zgarish boshqa nusxaga hali yetmagan bo‘lishi mumkin.</a:t>
            </a:r>
          </a:p>
          <a:p/>
          <a:p>
            <a:r>
              <a:t>Universitet misolida buni quyidagicha tasavvur qilamiz. Videolar bir zonadagi uskuna buzilganda ham boshqa nusxadan saqlanib qoladi. Bu misolda texnik atama real vazifa bilan bog‘lanadi: resursning nomini emas, nima uchun tanlanganini tushunish muhim.</a:t>
            </a:r>
          </a:p>
          <a:p/>
          <a:p>
            <a:r>
              <a:t>E’tibor beradigan chegara ham bor. Replikatsiya xato o‘chirishni ham tarqatishi mumkin; mavjudlik va durability bir xil ko‘rsatkich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tarixiy tiklash nusxasini beradi. RPO tiklashda qancha vaqt oralig‘idagi ma’lumot yo‘qolishi mumkinligini, RTO esa xizmatni qancha vaqtda qayta tiklash maqsadini bildiradi. Bu biznes talablari asosida belgilanadi.</a:t>
            </a:r>
          </a:p>
          <a:p/>
          <a:p>
            <a:r>
              <a:t>Zaxira jadvali RPO ga, tiklash jarayoni esa RTO ga mos tanlanadi. Zaxiralar ajratilgan joyda saqlanadi va tiklash sinovi orqali tekshiriladi.</a:t>
            </a:r>
          </a:p>
          <a:p/>
          <a:p>
            <a:r>
              <a:t>Universitet misolida buni quyidagicha tasavvur qilamiz. Har soat zaxira olish nazariy jihatdan bir soatgacha o‘zgarishni yo‘qotish xavfini qoldiradi; haqiqiy natija muvaffaqiyatli nusxaga bog‘liq. Bu misolda texnik atama real vazifa bilan bog‘lanadi: resursning nomini emas, nima uchun tanlanganini tushunish muhim.</a:t>
            </a:r>
          </a:p>
          <a:p/>
          <a:p>
            <a:r>
              <a:t>E’tibor beradigan chegara ham bor. Zaxira fayli borligi uning ishlashini isbotlamaydi: undan tiklab ko‘rish zarur.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Tez-tez o‘qiladigan ma’lumot va uzoq muddatli arxiv turli sinflarda saqlanishi mumkin. Sovuq sinflar arzonroq saqlashni, lekin tiklash vaqti yoki olish to‘lovini talab qilishi mumkin. Kirish talabiga qarab siyosat tuziladi.</a:t>
            </a:r>
          </a:p>
          <a:p/>
          <a:p>
            <a:r>
              <a:t>Lifecycle qoidasi eski obyektlarni boshqa sinfga o‘tkazadi yoki muddat tugaganda o‘chiradi. Versioning va saqlash muddati qoidalari bilan bu jarayon muvofiqlashtiriladi.</a:t>
            </a:r>
          </a:p>
          <a:p/>
          <a:p>
            <a:r>
              <a:t>Universitet misolida buni quyidagicha tasavvur qilamiz. Joriy semestr videosi tezkor sinfda, eski yozuvlar esa arxiv sinfida saqlanadi. Bu misolda texnik atama real vazifa bilan bog‘lanadi: resursning nomini emas, nima uchun tanlanganini tushunish muhim.</a:t>
            </a:r>
          </a:p>
          <a:p/>
          <a:p>
            <a:r>
              <a:t>E’tibor beradigan chegara ham bor. Eng arzon GB narxi umumiy xarajat eng pastligini bildirmaydi; olish, so‘rov va tashqi trafik ham hisoblanadi.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«Ilova» bilan «Object · video» o‘rtasida sxemada bog‘lanish ko‘rsatilgan. «Ilova» bilan «Block · VM diski» o‘rtasida sxemada bog‘lanish ko‘rsatilgan. «Ilova» bilan «File · umumiy papka» o‘rtasida sxemada bog‘lanish ko‘rsatilgan. «Object · video» bilan «Alohida backup» o‘rtasida sxemada bog‘lanish ko‘rsatilgan. «Block · VM diski» bilan «Alohida backup» o‘rtasida sxemada bog‘lanish ko‘rsatilgan. «File · umumiy papka» bilan «Alohida backup» o‘rtasida sxemada bog‘lanish ko‘rsatilgan.</a:t>
            </a:r>
          </a:p>
          <a:p/>
          <a:p>
            <a:r>
              <a:t>Bu bog‘lanishlarni barcha xizmatlarda bir xil buyruq yoki bir xil fizik kabel deb tushunmaymiz. Ayrim o‘qlar bajarilish ketma-ketligini, ayrimlari resursni boshqarish yoki unga kirish aloqasini anglatadi. Virtual disk serverga ulanadi. Ilova fayl tizimi yoki ma’lumotlar bazasi orqali bloklarga yozadi. IOPS, throughput va kechikish ish faoliyatini belgilaydi.</a:t>
            </a:r>
          </a:p>
          <a:p/>
          <a:p>
            <a:r>
              <a:t>Sxemaning asosiy foydasi mas’uliyatlarni ajratib ko‘rsatishdir. Har soat zaxira olish nazariy jihatdan bir soatgacha o‘zgarishni yo‘qotish xavfini qoldiradi; haqiqiy natija muvaffaqiyatli nusxaga bog‘liq.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Universitet ma’ruza videolari, virtual server diski va umumiy ishchi hujjatlarni saqlaydi. Ularning kirish usuli va talabi turlicha bo‘lgani uchun bir xil saqlash xizmati har biriga mos kelmaydi.</a:t>
            </a:r>
          </a:p>
          <a:p/>
          <a:p>
            <a:r>
              <a:t>Avval ehtiyoj aniqlanadi: kim tizimdan foydalanadi, qaysi ma’lumot bilan ishlanadi va qanday natija kutiladi. Ma’ruza videosi videos/m01.mp4 kaliti bilan saqlanadi va ruxsat asosida talabalarga uzatiladi. Keyin texnik qismlar shu talabga mos tanlanadi. Bir nechta server hisobot shablonlarini umumiy tarmoq papkasidan o‘qiydi.</a:t>
            </a:r>
          </a:p>
          <a:p/>
          <a:p>
            <a:r>
              <a:t>Ishlash jarayonida faqat muvaffaqiyatli holat emas, xato va cheklovlar ham hisobga olinadi. Replikatsiya xato o‘chirishni ham tarqatishi mumkin; mavjudlik va durability bir xil ko‘rsatkich emas. Shu sababli jamoa talabni, ruxsatni va nosozlikdagi xatti-harakatni oldindan belgilaydi. Joriy semestr videosi tezkor sinfda, eski yozuvlar esa arxiv sinfida saqlanadi.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Bucket ni ommaviy ochish shart emas; maxfiy obyektlar cheklangan ruxsat bilan tarqatiladi. To‘g‘ri talqin quyidagicha: Object Storage ma’lumotni obyekt sifatida saqlaydi. Obyekt mazmun, kalit va metadata dan iborat bo‘lishi mumkin. Odatda HTTP API orqali o‘qiladi va yoziladi. Video, rasm, arxiv va zaxiralar uchun juda qulay.</a:t>
            </a:r>
          </a:p>
          <a:p/>
          <a:p>
            <a:r>
              <a:t>2. Replikatsiya xato o‘chirishni ham tarqatishi mumkin; mavjudlik va durability bir xil ko‘rsatkich emas. To‘g‘ri talqin quyidagicha: Replikatsiya ma’lumotning bir nechta nusxasini ushlab turadi. Nusxalar disk, tugun, zona yoki hudud darajasida joylashtirilishi mumkin. Durability ma’lumotni yo‘qotmasdan saqlash, availability esa uni kerakli vaqtda olish imkoniyatidir.</a:t>
            </a:r>
          </a:p>
          <a:p/>
          <a:p>
            <a:r>
              <a:t>3. Eng arzon GB narxi umumiy xarajat eng pastligini bildirmaydi; olish, so‘rov va tashqi trafik ham hisoblanadi. To‘g‘ri talqin quyidagicha: Tez-tez o‘qiladigan ma’lumot va uzoq muddatli arxiv turli sinflarda saqlanishi mumkin. Sovuq sinflar arzonroq saqlashni, lekin tiklash vaqti yoki olish to‘lovini talab qilishi mumkin. Kirish talabiga qarab siyosat tuziladi.</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Object, block va file storage ni to‘g‘ri tanlash — mavzuning umumiy mazmunini ifodalaydi.</a:t>
            </a:r>
          </a:p>
          <a:p/>
          <a:p>
            <a:r>
              <a:t>Asosiy tayanch fikr: Obyekt + identifikator + metadata. Ilova bucket ichidagi kalit orqali obyektga murojaat qiladi. Ko‘rinishda papka bo‘lishi mumkin, lekin odatiy fayl tizimidagi blokni joyida tahrirlash bilan bir xil model emas.</a:t>
            </a:r>
          </a:p>
          <a:p/>
          <a:p>
            <a:r>
              <a:t>Asosiy tayanch fikr: Bir nechta mijozga umumiy fayl tizimi. Mijoz fayl ulashuvini mount qiladi va odatdagi fayl yo‘li bilan ishlaydi. Parallel yozish, qulf va ruxsat xatti-harakati xizmatga qarab tekshiriladi.</a:t>
            </a:r>
          </a:p>
          <a:p/>
          <a:p>
            <a:r>
              <a:t>Asosiy tayanch fikr: Qancha ma’lumot va qancha vaqt yo‘qotish mumkin? Zaxira jadvali RPO ga, tiklash jarayoni esa RTO ga mos tanlanadi. Zaxiralar ajratilgan joyda saqlanadi va tiklash sinovi orqali tekshiriladi.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008B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5486400" cy="320040"/>
          </a:xfrm>
          <a:prstGeom prst="rect">
            <a:avLst/>
          </a:prstGeom>
          <a:noFill/>
        </p:spPr>
        <p:txBody>
          <a:bodyPr wrap="square" lIns="27432" rIns="27432" tIns="18288" bIns="0">
            <a:spAutoFit/>
          </a:bodyPr>
          <a:lstStyle/>
          <a:p>
            <a:pPr>
              <a:spcAft>
                <a:spcPts val="800"/>
              </a:spcAft>
              <a:defRPr sz="1400" b="1">
                <a:solidFill>
                  <a:srgbClr val="008BB6"/>
                </a:solidFill>
                <a:latin typeface="DejaVu Sans"/>
              </a:defRPr>
            </a:pPr>
            <a:r>
              <a:t>BULUT KUTUBXONASI  /  08</a:t>
            </a:r>
          </a:p>
        </p:txBody>
      </p:sp>
      <p:sp>
        <p:nvSpPr>
          <p:cNvPr id="4" name="TextBox 3"/>
          <p:cNvSpPr txBox="1"/>
          <p:nvPr/>
        </p:nvSpPr>
        <p:spPr>
          <a:xfrm>
            <a:off x="731520" y="1115568"/>
            <a:ext cx="5486400" cy="1920240"/>
          </a:xfrm>
          <a:prstGeom prst="rect">
            <a:avLst/>
          </a:prstGeom>
          <a:noFill/>
        </p:spPr>
        <p:txBody>
          <a:bodyPr wrap="square" lIns="27432" rIns="27432" tIns="18288" bIns="0">
            <a:spAutoFit/>
          </a:bodyPr>
          <a:lstStyle/>
          <a:p>
            <a:pPr>
              <a:spcAft>
                <a:spcPts val="800"/>
              </a:spcAft>
              <a:defRPr sz="3500" b="1">
                <a:solidFill>
                  <a:srgbClr val="183949"/>
                </a:solidFill>
                <a:latin typeface="DejaVu Serif"/>
              </a:defRPr>
            </a:pPr>
            <a:r>
              <a:t>Ma’lumotlarni</a:t>
            </a:r>
          </a:p>
          <a:p>
            <a:pPr>
              <a:spcAft>
                <a:spcPts val="800"/>
              </a:spcAft>
              <a:defRPr sz="3500" b="1">
                <a:solidFill>
                  <a:srgbClr val="183949"/>
                </a:solidFill>
                <a:latin typeface="DejaVu Serif"/>
              </a:defRPr>
            </a:pPr>
            <a:r>
              <a:t>qayerda</a:t>
            </a:r>
          </a:p>
          <a:p>
            <a:pPr>
              <a:spcAft>
                <a:spcPts val="800"/>
              </a:spcAft>
              <a:defRPr sz="3500" b="1">
                <a:solidFill>
                  <a:srgbClr val="183949"/>
                </a:solidFill>
                <a:latin typeface="DejaVu Serif"/>
              </a:defRPr>
            </a:pPr>
            <a:r>
              <a:t>saqlaymiz?</a:t>
            </a:r>
          </a:p>
        </p:txBody>
      </p:sp>
      <p:sp>
        <p:nvSpPr>
          <p:cNvPr id="5" name="TextBox 4"/>
          <p:cNvSpPr txBox="1"/>
          <p:nvPr/>
        </p:nvSpPr>
        <p:spPr>
          <a:xfrm>
            <a:off x="749808" y="3337560"/>
            <a:ext cx="5166360" cy="1097280"/>
          </a:xfrm>
          <a:prstGeom prst="rect">
            <a:avLst/>
          </a:prstGeom>
          <a:noFill/>
        </p:spPr>
        <p:txBody>
          <a:bodyPr wrap="square" lIns="27432" rIns="27432" tIns="18288" bIns="0">
            <a:spAutoFit/>
          </a:bodyPr>
          <a:lstStyle/>
          <a:p>
            <a:pPr>
              <a:spcAft>
                <a:spcPts val="800"/>
              </a:spcAft>
              <a:defRPr sz="2300" b="0">
                <a:solidFill>
                  <a:srgbClr val="183949"/>
                </a:solidFill>
                <a:latin typeface="DejaVu Sans"/>
              </a:defRPr>
            </a:pPr>
            <a:r>
              <a:t>Bulutli ma’lumotlarni saqlash texnologiyalari</a:t>
            </a:r>
          </a:p>
        </p:txBody>
      </p:sp>
      <p:cxnSp>
        <p:nvCxnSpPr>
          <p:cNvPr id="6" name="Connector 5"/>
          <p:cNvCxnSpPr/>
          <p:nvPr/>
        </p:nvCxnSpPr>
        <p:spPr>
          <a:xfrm>
            <a:off x="749808" y="4709160"/>
            <a:ext cx="4599432" cy="0"/>
          </a:xfrm>
          <a:prstGeom prst="line">
            <a:avLst/>
          </a:prstGeom>
          <a:ln w="25400">
            <a:solidFill>
              <a:srgbClr val="008BB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49808" y="4983480"/>
            <a:ext cx="5120640" cy="731520"/>
          </a:xfrm>
          <a:prstGeom prst="rect">
            <a:avLst/>
          </a:prstGeom>
          <a:noFill/>
        </p:spPr>
        <p:txBody>
          <a:bodyPr wrap="square" lIns="27432" rIns="27432" tIns="18288" bIns="0">
            <a:spAutoFit/>
          </a:bodyPr>
          <a:lstStyle/>
          <a:p>
            <a:pPr>
              <a:spcAft>
                <a:spcPts val="800"/>
              </a:spcAft>
              <a:defRPr sz="2400" b="1">
                <a:solidFill>
                  <a:srgbClr val="008BB6"/>
                </a:solidFill>
                <a:latin typeface="DejaVu Sans"/>
              </a:defRPr>
            </a:pPr>
            <a:r>
              <a:t>Object  /  Block  /  File</a:t>
            </a:r>
          </a:p>
        </p:txBody>
      </p:sp>
      <p:sp>
        <p:nvSpPr>
          <p:cNvPr id="8" name="Rectangle 7"/>
          <p:cNvSpPr/>
          <p:nvPr/>
        </p:nvSpPr>
        <p:spPr>
          <a:xfrm>
            <a:off x="6492240" y="777240"/>
            <a:ext cx="4937760" cy="5276088"/>
          </a:xfrm>
          <a:prstGeom prst="rect">
            <a:avLst/>
          </a:prstGeom>
          <a:solidFill>
            <a:srgbClr val="E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08_rook.png"/>
          <p:cNvPicPr>
            <a:picLocks noChangeAspect="1"/>
          </p:cNvPicPr>
          <p:nvPr/>
        </p:nvPicPr>
        <p:blipFill>
          <a:blip r:embed="rId2"/>
          <a:stretch>
            <a:fillRect/>
          </a:stretch>
        </p:blipFill>
        <p:spPr>
          <a:xfrm>
            <a:off x="6880860" y="1005840"/>
            <a:ext cx="4160520" cy="4160520"/>
          </a:xfrm>
          <a:prstGeom prst="rect">
            <a:avLst/>
          </a:prstGeom>
        </p:spPr>
      </p:pic>
      <p:sp>
        <p:nvSpPr>
          <p:cNvPr id="10" name="TextBox 9"/>
          <p:cNvSpPr txBox="1"/>
          <p:nvPr/>
        </p:nvSpPr>
        <p:spPr>
          <a:xfrm>
            <a:off x="6903720" y="5394960"/>
            <a:ext cx="4114800" cy="548640"/>
          </a:xfrm>
          <a:prstGeom prst="rect">
            <a:avLst/>
          </a:prstGeom>
          <a:noFill/>
        </p:spPr>
        <p:txBody>
          <a:bodyPr wrap="square" lIns="27432" rIns="27432" tIns="18288" bIns="0">
            <a:spAutoFit/>
          </a:bodyPr>
          <a:lstStyle/>
          <a:p>
            <a:pPr>
              <a:spcAft>
                <a:spcPts val="800"/>
              </a:spcAft>
              <a:defRPr sz="1600" b="0">
                <a:solidFill>
                  <a:srgbClr val="183949"/>
                </a:solidFill>
                <a:latin typeface="DejaVu Sans"/>
              </a:defRPr>
            </a:pPr>
            <a:r>
              <a:t>Bir xil ma’lumot — turli kirish usuli.</a:t>
            </a: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949"/>
                </a:solidFill>
                <a:latin typeface="DejaVu Sans"/>
              </a:defRPr>
            </a:pPr>
            <a:r>
              <a:t>BTST206   /   M08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88720" cy="731520"/>
          </a:xfrm>
          <a:prstGeom prst="rect">
            <a:avLst/>
          </a:prstGeom>
          <a:noFill/>
        </p:spPr>
        <p:txBody>
          <a:bodyPr wrap="square" lIns="27432" rIns="27432" tIns="18288" bIns="0">
            <a:spAutoFit/>
          </a:bodyPr>
          <a:lstStyle/>
          <a:p>
            <a:pPr>
              <a:spcAft>
                <a:spcPts val="800"/>
              </a:spcAft>
              <a:defRPr sz="3600" b="1">
                <a:solidFill>
                  <a:srgbClr val="008BB6"/>
                </a:solidFill>
                <a:latin typeface="DejaVu Sans"/>
              </a:defRPr>
            </a:pPr>
            <a:r>
              <a:t>02</a:t>
            </a:r>
          </a:p>
        </p:txBody>
      </p:sp>
      <p:cxnSp>
        <p:nvCxnSpPr>
          <p:cNvPr id="3" name="Connector 2"/>
          <p:cNvCxnSpPr/>
          <p:nvPr/>
        </p:nvCxnSpPr>
        <p:spPr>
          <a:xfrm>
            <a:off x="1828800" y="475488"/>
            <a:ext cx="9784080" cy="0"/>
          </a:xfrm>
          <a:prstGeom prst="line">
            <a:avLst/>
          </a:prstGeom>
          <a:ln w="12700">
            <a:solidFill>
              <a:srgbClr val="008B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874519" y="621792"/>
            <a:ext cx="9646920" cy="960120"/>
          </a:xfrm>
          <a:prstGeom prst="rect">
            <a:avLst/>
          </a:prstGeom>
          <a:noFill/>
        </p:spPr>
        <p:txBody>
          <a:bodyPr wrap="square" lIns="27432" rIns="27432" tIns="18288" bIns="0">
            <a:spAutoFit/>
          </a:bodyPr>
          <a:lstStyle/>
          <a:p>
            <a:pPr>
              <a:spcAft>
                <a:spcPts val="800"/>
              </a:spcAft>
              <a:defRPr sz="2800" b="1">
                <a:solidFill>
                  <a:srgbClr val="183949"/>
                </a:solidFill>
                <a:latin typeface="DejaVu Sans"/>
              </a:defRPr>
            </a:pPr>
            <a:r>
              <a:t>Ma’ruza yo‘l xaritasi</a:t>
            </a:r>
          </a:p>
        </p:txBody>
      </p:sp>
      <p:sp>
        <p:nvSpPr>
          <p:cNvPr id="5" name="TextBox 4"/>
          <p:cNvSpPr txBox="1"/>
          <p:nvPr/>
        </p:nvSpPr>
        <p:spPr>
          <a:xfrm>
            <a:off x="594360" y="1737360"/>
            <a:ext cx="10789920" cy="384048"/>
          </a:xfrm>
          <a:prstGeom prst="rect">
            <a:avLst/>
          </a:prstGeom>
          <a:noFill/>
        </p:spPr>
        <p:txBody>
          <a:bodyPr wrap="square" lIns="27432" rIns="27432" tIns="18288" bIns="0">
            <a:spAutoFit/>
          </a:bodyPr>
          <a:lstStyle/>
          <a:p>
            <a:pPr>
              <a:spcAft>
                <a:spcPts val="800"/>
              </a:spcAft>
              <a:defRPr sz="1500" b="0">
                <a:solidFill>
                  <a:srgbClr val="008BB6"/>
                </a:solidFill>
                <a:latin typeface="DejaVu Sans"/>
              </a:defRPr>
            </a:pPr>
            <a:r>
              <a:t>Olti tushuncha — bitta yaxlit tizim</a:t>
            </a:r>
          </a:p>
        </p:txBody>
      </p:sp>
      <p:sp>
        <p:nvSpPr>
          <p:cNvPr id="6" name="TextBox 5"/>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949"/>
                </a:solidFill>
                <a:latin typeface="DejaVu Sans"/>
              </a:defRPr>
            </a:pPr>
            <a:r>
              <a:t>BTST206   /   M08   /   2027–2028</a:t>
            </a:r>
          </a:p>
        </p:txBody>
      </p:sp>
      <p:sp>
        <p:nvSpPr>
          <p:cNvPr id="7" name="TextBox 6"/>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02 / 13</a:t>
            </a:r>
          </a:p>
        </p:txBody>
      </p:sp>
      <p:sp>
        <p:nvSpPr>
          <p:cNvPr id="8" name="TextBox 7"/>
          <p:cNvSpPr txBox="1"/>
          <p:nvPr/>
        </p:nvSpPr>
        <p:spPr>
          <a:xfrm>
            <a:off x="731520" y="2404872"/>
            <a:ext cx="594360" cy="548640"/>
          </a:xfrm>
          <a:prstGeom prst="rect">
            <a:avLst/>
          </a:prstGeom>
          <a:noFill/>
        </p:spPr>
        <p:txBody>
          <a:bodyPr wrap="square" lIns="27432" rIns="27432" tIns="18288" bIns="0">
            <a:spAutoFit/>
          </a:bodyPr>
          <a:lstStyle/>
          <a:p>
            <a:pPr>
              <a:spcAft>
                <a:spcPts val="800"/>
              </a:spcAft>
              <a:defRPr sz="2800" b="1">
                <a:solidFill>
                  <a:srgbClr val="008BB6"/>
                </a:solidFill>
                <a:latin typeface="DejaVu Sans"/>
              </a:defRPr>
            </a:pPr>
            <a:r>
              <a:t>1</a:t>
            </a:r>
          </a:p>
        </p:txBody>
      </p:sp>
      <p:sp>
        <p:nvSpPr>
          <p:cNvPr id="9" name="TextBox 8"/>
          <p:cNvSpPr txBox="1"/>
          <p:nvPr/>
        </p:nvSpPr>
        <p:spPr>
          <a:xfrm>
            <a:off x="1508760" y="2450591"/>
            <a:ext cx="4343400" cy="822960"/>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Object Storage</a:t>
            </a:r>
          </a:p>
        </p:txBody>
      </p:sp>
      <p:cxnSp>
        <p:nvCxnSpPr>
          <p:cNvPr id="10" name="Connector 9"/>
          <p:cNvCxnSpPr/>
          <p:nvPr/>
        </p:nvCxnSpPr>
        <p:spPr>
          <a:xfrm>
            <a:off x="731520" y="3364991"/>
            <a:ext cx="5120639" cy="0"/>
          </a:xfrm>
          <a:prstGeom prst="line">
            <a:avLst/>
          </a:prstGeom>
          <a:ln w="12700">
            <a:solidFill>
              <a:srgbClr val="D4E6E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3502152"/>
            <a:ext cx="594360" cy="548640"/>
          </a:xfrm>
          <a:prstGeom prst="rect">
            <a:avLst/>
          </a:prstGeom>
          <a:noFill/>
        </p:spPr>
        <p:txBody>
          <a:bodyPr wrap="square" lIns="27432" rIns="27432" tIns="18288" bIns="0">
            <a:spAutoFit/>
          </a:bodyPr>
          <a:lstStyle/>
          <a:p>
            <a:pPr>
              <a:spcAft>
                <a:spcPts val="800"/>
              </a:spcAft>
              <a:defRPr sz="2800" b="1">
                <a:solidFill>
                  <a:srgbClr val="008BB6"/>
                </a:solidFill>
                <a:latin typeface="DejaVu Sans"/>
              </a:defRPr>
            </a:pPr>
            <a:r>
              <a:t>2</a:t>
            </a:r>
          </a:p>
        </p:txBody>
      </p:sp>
      <p:sp>
        <p:nvSpPr>
          <p:cNvPr id="12" name="TextBox 11"/>
          <p:cNvSpPr txBox="1"/>
          <p:nvPr/>
        </p:nvSpPr>
        <p:spPr>
          <a:xfrm>
            <a:off x="1508760" y="3547872"/>
            <a:ext cx="4343400" cy="822960"/>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Block Storage</a:t>
            </a:r>
          </a:p>
        </p:txBody>
      </p:sp>
      <p:cxnSp>
        <p:nvCxnSpPr>
          <p:cNvPr id="13" name="Connector 12"/>
          <p:cNvCxnSpPr/>
          <p:nvPr/>
        </p:nvCxnSpPr>
        <p:spPr>
          <a:xfrm>
            <a:off x="731520" y="4462272"/>
            <a:ext cx="5120639" cy="0"/>
          </a:xfrm>
          <a:prstGeom prst="line">
            <a:avLst/>
          </a:prstGeom>
          <a:ln w="12700">
            <a:solidFill>
              <a:srgbClr val="D4E6E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4599431"/>
            <a:ext cx="594360" cy="548640"/>
          </a:xfrm>
          <a:prstGeom prst="rect">
            <a:avLst/>
          </a:prstGeom>
          <a:noFill/>
        </p:spPr>
        <p:txBody>
          <a:bodyPr wrap="square" lIns="27432" rIns="27432" tIns="18288" bIns="0">
            <a:spAutoFit/>
          </a:bodyPr>
          <a:lstStyle/>
          <a:p>
            <a:pPr>
              <a:spcAft>
                <a:spcPts val="800"/>
              </a:spcAft>
              <a:defRPr sz="2800" b="1">
                <a:solidFill>
                  <a:srgbClr val="008BB6"/>
                </a:solidFill>
                <a:latin typeface="DejaVu Sans"/>
              </a:defRPr>
            </a:pPr>
            <a:r>
              <a:t>3</a:t>
            </a:r>
          </a:p>
        </p:txBody>
      </p:sp>
      <p:sp>
        <p:nvSpPr>
          <p:cNvPr id="15" name="TextBox 14"/>
          <p:cNvSpPr txBox="1"/>
          <p:nvPr/>
        </p:nvSpPr>
        <p:spPr>
          <a:xfrm>
            <a:off x="1508760" y="4645151"/>
            <a:ext cx="4343400" cy="822960"/>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File Storage</a:t>
            </a:r>
          </a:p>
        </p:txBody>
      </p:sp>
      <p:cxnSp>
        <p:nvCxnSpPr>
          <p:cNvPr id="16" name="Connector 15"/>
          <p:cNvCxnSpPr/>
          <p:nvPr/>
        </p:nvCxnSpPr>
        <p:spPr>
          <a:xfrm>
            <a:off x="731520" y="5559551"/>
            <a:ext cx="5120639" cy="0"/>
          </a:xfrm>
          <a:prstGeom prst="line">
            <a:avLst/>
          </a:prstGeom>
          <a:ln w="12700">
            <a:solidFill>
              <a:srgbClr val="D4E6E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82512" y="2404872"/>
            <a:ext cx="594360" cy="548640"/>
          </a:xfrm>
          <a:prstGeom prst="rect">
            <a:avLst/>
          </a:prstGeom>
          <a:noFill/>
        </p:spPr>
        <p:txBody>
          <a:bodyPr wrap="square" lIns="27432" rIns="27432" tIns="18288" bIns="0">
            <a:spAutoFit/>
          </a:bodyPr>
          <a:lstStyle/>
          <a:p>
            <a:pPr>
              <a:spcAft>
                <a:spcPts val="800"/>
              </a:spcAft>
              <a:defRPr sz="2800" b="1">
                <a:solidFill>
                  <a:srgbClr val="008BB6"/>
                </a:solidFill>
                <a:latin typeface="DejaVu Sans"/>
              </a:defRPr>
            </a:pPr>
            <a:r>
              <a:t>4</a:t>
            </a:r>
          </a:p>
        </p:txBody>
      </p:sp>
      <p:sp>
        <p:nvSpPr>
          <p:cNvPr id="18" name="TextBox 17"/>
          <p:cNvSpPr txBox="1"/>
          <p:nvPr/>
        </p:nvSpPr>
        <p:spPr>
          <a:xfrm>
            <a:off x="7159751" y="2450591"/>
            <a:ext cx="4343400" cy="822960"/>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Replikatsiya va durability</a:t>
            </a:r>
          </a:p>
        </p:txBody>
      </p:sp>
      <p:cxnSp>
        <p:nvCxnSpPr>
          <p:cNvPr id="19" name="Connector 18"/>
          <p:cNvCxnSpPr/>
          <p:nvPr/>
        </p:nvCxnSpPr>
        <p:spPr>
          <a:xfrm>
            <a:off x="6382512" y="3364991"/>
            <a:ext cx="5120639" cy="0"/>
          </a:xfrm>
          <a:prstGeom prst="line">
            <a:avLst/>
          </a:prstGeom>
          <a:ln w="12700">
            <a:solidFill>
              <a:srgbClr val="D4E6E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82512" y="3502152"/>
            <a:ext cx="594360" cy="548640"/>
          </a:xfrm>
          <a:prstGeom prst="rect">
            <a:avLst/>
          </a:prstGeom>
          <a:noFill/>
        </p:spPr>
        <p:txBody>
          <a:bodyPr wrap="square" lIns="27432" rIns="27432" tIns="18288" bIns="0">
            <a:spAutoFit/>
          </a:bodyPr>
          <a:lstStyle/>
          <a:p>
            <a:pPr>
              <a:spcAft>
                <a:spcPts val="800"/>
              </a:spcAft>
              <a:defRPr sz="2800" b="1">
                <a:solidFill>
                  <a:srgbClr val="008BB6"/>
                </a:solidFill>
                <a:latin typeface="DejaVu Sans"/>
              </a:defRPr>
            </a:pPr>
            <a:r>
              <a:t>5</a:t>
            </a:r>
          </a:p>
        </p:txBody>
      </p:sp>
      <p:sp>
        <p:nvSpPr>
          <p:cNvPr id="21" name="TextBox 20"/>
          <p:cNvSpPr txBox="1"/>
          <p:nvPr/>
        </p:nvSpPr>
        <p:spPr>
          <a:xfrm>
            <a:off x="7159751" y="3547872"/>
            <a:ext cx="4343400" cy="822960"/>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Zaxiralash, RPO va RTO</a:t>
            </a:r>
          </a:p>
        </p:txBody>
      </p:sp>
      <p:cxnSp>
        <p:nvCxnSpPr>
          <p:cNvPr id="22" name="Connector 21"/>
          <p:cNvCxnSpPr/>
          <p:nvPr/>
        </p:nvCxnSpPr>
        <p:spPr>
          <a:xfrm>
            <a:off x="6382512" y="4462272"/>
            <a:ext cx="5120639" cy="0"/>
          </a:xfrm>
          <a:prstGeom prst="line">
            <a:avLst/>
          </a:prstGeom>
          <a:ln w="12700">
            <a:solidFill>
              <a:srgbClr val="D4E6E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82512" y="4599431"/>
            <a:ext cx="594360" cy="548640"/>
          </a:xfrm>
          <a:prstGeom prst="rect">
            <a:avLst/>
          </a:prstGeom>
          <a:noFill/>
        </p:spPr>
        <p:txBody>
          <a:bodyPr wrap="square" lIns="27432" rIns="27432" tIns="18288" bIns="0">
            <a:spAutoFit/>
          </a:bodyPr>
          <a:lstStyle/>
          <a:p>
            <a:pPr>
              <a:spcAft>
                <a:spcPts val="800"/>
              </a:spcAft>
              <a:defRPr sz="2800" b="1">
                <a:solidFill>
                  <a:srgbClr val="008BB6"/>
                </a:solidFill>
                <a:latin typeface="DejaVu Sans"/>
              </a:defRPr>
            </a:pPr>
            <a:r>
              <a:t>6</a:t>
            </a:r>
          </a:p>
        </p:txBody>
      </p:sp>
      <p:sp>
        <p:nvSpPr>
          <p:cNvPr id="24" name="TextBox 23"/>
          <p:cNvSpPr txBox="1"/>
          <p:nvPr/>
        </p:nvSpPr>
        <p:spPr>
          <a:xfrm>
            <a:off x="7159751" y="4645151"/>
            <a:ext cx="4343400" cy="822960"/>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Hayot sikli va narx</a:t>
            </a:r>
          </a:p>
        </p:txBody>
      </p:sp>
      <p:cxnSp>
        <p:nvCxnSpPr>
          <p:cNvPr id="25" name="Connector 24"/>
          <p:cNvCxnSpPr/>
          <p:nvPr/>
        </p:nvCxnSpPr>
        <p:spPr>
          <a:xfrm>
            <a:off x="6382512" y="5559551"/>
            <a:ext cx="5120639" cy="0"/>
          </a:xfrm>
          <a:prstGeom prst="line">
            <a:avLst/>
          </a:prstGeom>
          <a:ln w="12700">
            <a:solidFill>
              <a:srgbClr val="D4E6E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88720" cy="731520"/>
          </a:xfrm>
          <a:prstGeom prst="rect">
            <a:avLst/>
          </a:prstGeom>
          <a:noFill/>
        </p:spPr>
        <p:txBody>
          <a:bodyPr wrap="square" lIns="27432" rIns="27432" tIns="18288" bIns="0">
            <a:spAutoFit/>
          </a:bodyPr>
          <a:lstStyle/>
          <a:p>
            <a:pPr>
              <a:spcAft>
                <a:spcPts val="800"/>
              </a:spcAft>
              <a:defRPr sz="3600" b="1">
                <a:solidFill>
                  <a:srgbClr val="008BB6"/>
                </a:solidFill>
                <a:latin typeface="DejaVu Sans"/>
              </a:defRPr>
            </a:pPr>
            <a:r>
              <a:t>03</a:t>
            </a:r>
          </a:p>
        </p:txBody>
      </p:sp>
      <p:cxnSp>
        <p:nvCxnSpPr>
          <p:cNvPr id="3" name="Connector 2"/>
          <p:cNvCxnSpPr/>
          <p:nvPr/>
        </p:nvCxnSpPr>
        <p:spPr>
          <a:xfrm>
            <a:off x="1828800" y="475488"/>
            <a:ext cx="9784080" cy="0"/>
          </a:xfrm>
          <a:prstGeom prst="line">
            <a:avLst/>
          </a:prstGeom>
          <a:ln w="12700">
            <a:solidFill>
              <a:srgbClr val="008B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874519" y="621792"/>
            <a:ext cx="9646920" cy="960120"/>
          </a:xfrm>
          <a:prstGeom prst="rect">
            <a:avLst/>
          </a:prstGeom>
          <a:noFill/>
        </p:spPr>
        <p:txBody>
          <a:bodyPr wrap="square" lIns="27432" rIns="27432" tIns="18288" bIns="0">
            <a:spAutoFit/>
          </a:bodyPr>
          <a:lstStyle/>
          <a:p>
            <a:pPr>
              <a:spcAft>
                <a:spcPts val="800"/>
              </a:spcAft>
              <a:defRPr sz="2800" b="1">
                <a:solidFill>
                  <a:srgbClr val="183949"/>
                </a:solidFill>
                <a:latin typeface="DejaVu Sans"/>
              </a:defRPr>
            </a:pPr>
            <a:r>
              <a:t>Object Storage</a:t>
            </a:r>
          </a:p>
        </p:txBody>
      </p:sp>
      <p:sp>
        <p:nvSpPr>
          <p:cNvPr id="5" name="TextBox 4"/>
          <p:cNvSpPr txBox="1"/>
          <p:nvPr/>
        </p:nvSpPr>
        <p:spPr>
          <a:xfrm>
            <a:off x="594360" y="1737360"/>
            <a:ext cx="10789920" cy="384048"/>
          </a:xfrm>
          <a:prstGeom prst="rect">
            <a:avLst/>
          </a:prstGeom>
          <a:noFill/>
        </p:spPr>
        <p:txBody>
          <a:bodyPr wrap="square" lIns="27432" rIns="27432" tIns="18288" bIns="0">
            <a:spAutoFit/>
          </a:bodyPr>
          <a:lstStyle/>
          <a:p>
            <a:pPr>
              <a:spcAft>
                <a:spcPts val="800"/>
              </a:spcAft>
              <a:defRPr sz="1500" b="0">
                <a:solidFill>
                  <a:srgbClr val="008BB6"/>
                </a:solidFill>
                <a:latin typeface="DejaVu Sans"/>
              </a:defRPr>
            </a:pPr>
            <a:r>
              <a:t>Obyekt + identifikator + metadata.</a:t>
            </a:r>
          </a:p>
        </p:txBody>
      </p:sp>
      <p:sp>
        <p:nvSpPr>
          <p:cNvPr id="6" name="TextBox 5"/>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949"/>
                </a:solidFill>
                <a:latin typeface="DejaVu Sans"/>
              </a:defRPr>
            </a:pPr>
            <a:r>
              <a:t>BTST206   /   M08   /   2027–2028</a:t>
            </a:r>
          </a:p>
        </p:txBody>
      </p:sp>
      <p:sp>
        <p:nvSpPr>
          <p:cNvPr id="7" name="TextBox 6"/>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03 / 13</a:t>
            </a:r>
          </a:p>
        </p:txBody>
      </p:sp>
      <p:sp>
        <p:nvSpPr>
          <p:cNvPr id="8" name="TextBox 7"/>
          <p:cNvSpPr txBox="1"/>
          <p:nvPr/>
        </p:nvSpPr>
        <p:spPr>
          <a:xfrm>
            <a:off x="749808" y="2487168"/>
            <a:ext cx="3108960" cy="914400"/>
          </a:xfrm>
          <a:prstGeom prst="rect">
            <a:avLst/>
          </a:prstGeom>
          <a:noFill/>
        </p:spPr>
        <p:txBody>
          <a:bodyPr wrap="square" lIns="27432" rIns="27432" tIns="18288" bIns="0">
            <a:spAutoFit/>
          </a:bodyPr>
          <a:lstStyle/>
          <a:p>
            <a:pPr>
              <a:spcAft>
                <a:spcPts val="800"/>
              </a:spcAft>
              <a:defRPr sz="3300" b="1">
                <a:solidFill>
                  <a:srgbClr val="008BB6"/>
                </a:solidFill>
                <a:latin typeface="DejaVu Serif"/>
              </a:defRPr>
            </a:pPr>
            <a:r>
              <a:t>Object</a:t>
            </a:r>
          </a:p>
        </p:txBody>
      </p:sp>
      <p:sp>
        <p:nvSpPr>
          <p:cNvPr id="9" name="TextBox 8"/>
          <p:cNvSpPr txBox="1"/>
          <p:nvPr/>
        </p:nvSpPr>
        <p:spPr>
          <a:xfrm>
            <a:off x="749808" y="3611880"/>
            <a:ext cx="3337560" cy="1993392"/>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Ma’lumot kalit va metadata bilan obyekt sifatida saqlanadi. Odatda HTTP API orqali olinadi.</a:t>
            </a:r>
          </a:p>
        </p:txBody>
      </p:sp>
      <p:sp>
        <p:nvSpPr>
          <p:cNvPr id="10" name="Rectangle 9"/>
          <p:cNvSpPr/>
          <p:nvPr/>
        </p:nvSpPr>
        <p:spPr>
          <a:xfrm>
            <a:off x="4535424" y="2532888"/>
            <a:ext cx="2651760" cy="658368"/>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2642616"/>
            <a:ext cx="2414015" cy="493776"/>
          </a:xfrm>
          <a:prstGeom prst="rect">
            <a:avLst/>
          </a:prstGeom>
          <a:noFill/>
        </p:spPr>
        <p:txBody>
          <a:bodyPr wrap="square" lIns="27432" rIns="27432" tIns="18288" bIns="0">
            <a:spAutoFit/>
          </a:bodyPr>
          <a:lstStyle/>
          <a:p>
            <a:pPr>
              <a:spcAft>
                <a:spcPts val="800"/>
              </a:spcAft>
              <a:defRPr sz="2000" b="1">
                <a:solidFill>
                  <a:srgbClr val="183949"/>
                </a:solidFill>
                <a:latin typeface="DejaVu Sans"/>
              </a:defRPr>
            </a:pPr>
            <a:r>
              <a:t>Bucket</a:t>
            </a:r>
          </a:p>
        </p:txBody>
      </p:sp>
      <p:cxnSp>
        <p:nvCxnSpPr>
          <p:cNvPr id="12" name="Connector 11"/>
          <p:cNvCxnSpPr/>
          <p:nvPr/>
        </p:nvCxnSpPr>
        <p:spPr>
          <a:xfrm>
            <a:off x="5861304" y="3191256"/>
            <a:ext cx="0" cy="192024"/>
          </a:xfrm>
          <a:prstGeom prst="line">
            <a:avLst/>
          </a:prstGeom>
          <a:ln w="25400">
            <a:solidFill>
              <a:srgbClr val="008BB6"/>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35424" y="3383280"/>
            <a:ext cx="2651760" cy="658368"/>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4296" y="3493008"/>
            <a:ext cx="2414015" cy="493776"/>
          </a:xfrm>
          <a:prstGeom prst="rect">
            <a:avLst/>
          </a:prstGeom>
          <a:noFill/>
        </p:spPr>
        <p:txBody>
          <a:bodyPr wrap="square" lIns="27432" rIns="27432" tIns="18288" bIns="0">
            <a:spAutoFit/>
          </a:bodyPr>
          <a:lstStyle/>
          <a:p>
            <a:pPr>
              <a:spcAft>
                <a:spcPts val="800"/>
              </a:spcAft>
              <a:defRPr sz="2000" b="1">
                <a:solidFill>
                  <a:srgbClr val="183949"/>
                </a:solidFill>
                <a:latin typeface="DejaVu Sans"/>
              </a:defRPr>
            </a:pPr>
            <a:r>
              <a:t>Key</a:t>
            </a:r>
          </a:p>
        </p:txBody>
      </p:sp>
      <p:cxnSp>
        <p:nvCxnSpPr>
          <p:cNvPr id="15" name="Connector 14"/>
          <p:cNvCxnSpPr/>
          <p:nvPr/>
        </p:nvCxnSpPr>
        <p:spPr>
          <a:xfrm>
            <a:off x="5861304" y="4041648"/>
            <a:ext cx="0" cy="192024"/>
          </a:xfrm>
          <a:prstGeom prst="line">
            <a:avLst/>
          </a:prstGeom>
          <a:ln w="25400">
            <a:solidFill>
              <a:srgbClr val="008BB6"/>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535424" y="4233672"/>
            <a:ext cx="2651760" cy="658368"/>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54296" y="4343400"/>
            <a:ext cx="2414015" cy="493776"/>
          </a:xfrm>
          <a:prstGeom prst="rect">
            <a:avLst/>
          </a:prstGeom>
          <a:noFill/>
        </p:spPr>
        <p:txBody>
          <a:bodyPr wrap="square" lIns="27432" rIns="27432" tIns="18288" bIns="0">
            <a:spAutoFit/>
          </a:bodyPr>
          <a:lstStyle/>
          <a:p>
            <a:pPr>
              <a:spcAft>
                <a:spcPts val="800"/>
              </a:spcAft>
              <a:defRPr sz="2000" b="1">
                <a:solidFill>
                  <a:srgbClr val="183949"/>
                </a:solidFill>
                <a:latin typeface="DejaVu Sans"/>
              </a:defRPr>
            </a:pPr>
            <a:r>
              <a:t>Obyekt</a:t>
            </a:r>
          </a:p>
        </p:txBody>
      </p:sp>
      <p:sp>
        <p:nvSpPr>
          <p:cNvPr id="18" name="TextBox 17"/>
          <p:cNvSpPr txBox="1"/>
          <p:nvPr/>
        </p:nvSpPr>
        <p:spPr>
          <a:xfrm>
            <a:off x="7818120" y="2578608"/>
            <a:ext cx="3611880" cy="3200400"/>
          </a:xfrm>
          <a:prstGeom prst="rect">
            <a:avLst/>
          </a:prstGeom>
          <a:noFill/>
        </p:spPr>
        <p:txBody>
          <a:bodyPr wrap="square" lIns="27432" rIns="27432" tIns="18288" bIns="0">
            <a:spAutoFit/>
          </a:bodyPr>
          <a:lstStyle/>
          <a:p>
            <a:pPr>
              <a:spcAft>
                <a:spcPts val="800"/>
              </a:spcAft>
              <a:defRPr sz="2000" b="0">
                <a:solidFill>
                  <a:srgbClr val="183949"/>
                </a:solidFill>
                <a:latin typeface="DejaVu Sans"/>
              </a:defRPr>
            </a:pPr>
            <a:r>
              <a:t>Bucket + videos/m01.mp4 → kerakli ma’ruza videosi.</a:t>
            </a:r>
          </a:p>
          <a:p>
            <a:pPr>
              <a:spcAft>
                <a:spcPts val="800"/>
              </a:spcAft>
              <a:defRPr sz="2000" b="0">
                <a:solidFill>
                  <a:srgbClr val="183949"/>
                </a:solidFill>
                <a:latin typeface="DejaVu Sans"/>
              </a:defRPr>
            </a:pPr>
          </a:p>
          <a:p>
            <a:pPr>
              <a:spcAft>
                <a:spcPts val="800"/>
              </a:spcAft>
              <a:defRPr sz="2000" b="0">
                <a:solidFill>
                  <a:srgbClr val="183949"/>
                </a:solidFill>
                <a:latin typeface="DejaVu Sans"/>
              </a:defRPr>
            </a:pPr>
            <a:r>
              <a:t>Video, rasm, arxiv va zaxiralar uchun qulay. Maxfiy obyektga ruxsat alohida beriladi.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88720" cy="731520"/>
          </a:xfrm>
          <a:prstGeom prst="rect">
            <a:avLst/>
          </a:prstGeom>
          <a:noFill/>
        </p:spPr>
        <p:txBody>
          <a:bodyPr wrap="square" lIns="27432" rIns="27432" tIns="18288" bIns="0">
            <a:spAutoFit/>
          </a:bodyPr>
          <a:lstStyle/>
          <a:p>
            <a:pPr>
              <a:spcAft>
                <a:spcPts val="800"/>
              </a:spcAft>
              <a:defRPr sz="3600" b="1">
                <a:solidFill>
                  <a:srgbClr val="008BB6"/>
                </a:solidFill>
                <a:latin typeface="DejaVu Sans"/>
              </a:defRPr>
            </a:pPr>
            <a:r>
              <a:t>04</a:t>
            </a:r>
          </a:p>
        </p:txBody>
      </p:sp>
      <p:cxnSp>
        <p:nvCxnSpPr>
          <p:cNvPr id="3" name="Connector 2"/>
          <p:cNvCxnSpPr/>
          <p:nvPr/>
        </p:nvCxnSpPr>
        <p:spPr>
          <a:xfrm>
            <a:off x="1828800" y="475488"/>
            <a:ext cx="9784080" cy="0"/>
          </a:xfrm>
          <a:prstGeom prst="line">
            <a:avLst/>
          </a:prstGeom>
          <a:ln w="12700">
            <a:solidFill>
              <a:srgbClr val="008B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874519" y="621792"/>
            <a:ext cx="9646920" cy="960120"/>
          </a:xfrm>
          <a:prstGeom prst="rect">
            <a:avLst/>
          </a:prstGeom>
          <a:noFill/>
        </p:spPr>
        <p:txBody>
          <a:bodyPr wrap="square" lIns="27432" rIns="27432" tIns="18288" bIns="0">
            <a:spAutoFit/>
          </a:bodyPr>
          <a:lstStyle/>
          <a:p>
            <a:pPr>
              <a:spcAft>
                <a:spcPts val="800"/>
              </a:spcAft>
              <a:defRPr sz="2800" b="1">
                <a:solidFill>
                  <a:srgbClr val="183949"/>
                </a:solidFill>
                <a:latin typeface="DejaVu Sans"/>
              </a:defRPr>
            </a:pPr>
            <a:r>
              <a:t>Block Storage</a:t>
            </a:r>
          </a:p>
        </p:txBody>
      </p:sp>
      <p:sp>
        <p:nvSpPr>
          <p:cNvPr id="5" name="TextBox 4"/>
          <p:cNvSpPr txBox="1"/>
          <p:nvPr/>
        </p:nvSpPr>
        <p:spPr>
          <a:xfrm>
            <a:off x="594360" y="1737360"/>
            <a:ext cx="10789920" cy="384048"/>
          </a:xfrm>
          <a:prstGeom prst="rect">
            <a:avLst/>
          </a:prstGeom>
          <a:noFill/>
        </p:spPr>
        <p:txBody>
          <a:bodyPr wrap="square" lIns="27432" rIns="27432" tIns="18288" bIns="0">
            <a:spAutoFit/>
          </a:bodyPr>
          <a:lstStyle/>
          <a:p>
            <a:pPr>
              <a:spcAft>
                <a:spcPts val="800"/>
              </a:spcAft>
              <a:defRPr sz="1500" b="0">
                <a:solidFill>
                  <a:srgbClr val="008BB6"/>
                </a:solidFill>
                <a:latin typeface="DejaVu Sans"/>
              </a:defRPr>
            </a:pPr>
            <a:r>
              <a:t>Virtual mashinaga ulanadigan blokli disk.</a:t>
            </a:r>
          </a:p>
        </p:txBody>
      </p:sp>
      <p:sp>
        <p:nvSpPr>
          <p:cNvPr id="6" name="TextBox 5"/>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949"/>
                </a:solidFill>
                <a:latin typeface="DejaVu Sans"/>
              </a:defRPr>
            </a:pPr>
            <a:r>
              <a:t>BTST206   /   M08   /   2027–2028</a:t>
            </a:r>
          </a:p>
        </p:txBody>
      </p:sp>
      <p:sp>
        <p:nvSpPr>
          <p:cNvPr id="7" name="TextBox 6"/>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04 / 13</a:t>
            </a:r>
          </a:p>
        </p:txBody>
      </p:sp>
      <p:sp>
        <p:nvSpPr>
          <p:cNvPr id="8" name="Rectangle 7"/>
          <p:cNvSpPr/>
          <p:nvPr/>
        </p:nvSpPr>
        <p:spPr>
          <a:xfrm>
            <a:off x="731520" y="2423160"/>
            <a:ext cx="5532120" cy="3566160"/>
          </a:xfrm>
          <a:prstGeom prst="rect">
            <a:avLst/>
          </a:prstGeom>
          <a:solidFill>
            <a:srgbClr val="E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33472"/>
            <a:ext cx="5166360" cy="1508760"/>
          </a:xfrm>
          <a:prstGeom prst="rect">
            <a:avLst/>
          </a:prstGeom>
          <a:noFill/>
        </p:spPr>
        <p:txBody>
          <a:bodyPr wrap="square" lIns="27432" rIns="27432" tIns="18288" bIns="0">
            <a:spAutoFit/>
          </a:bodyPr>
          <a:lstStyle/>
          <a:p>
            <a:pPr>
              <a:spcAft>
                <a:spcPts val="800"/>
              </a:spcAft>
              <a:defRPr sz="2100" b="1">
                <a:solidFill>
                  <a:srgbClr val="183949"/>
                </a:solidFill>
                <a:latin typeface="DejaVu Sans"/>
              </a:defRPr>
            </a:pPr>
            <a:r>
              <a:t>Virtual serverga xom bloklardan iborat disk ulanadi. Tizim uning ustida fayl tizimi yaratadi.</a:t>
            </a:r>
          </a:p>
        </p:txBody>
      </p:sp>
      <p:sp>
        <p:nvSpPr>
          <p:cNvPr id="10" name="TextBox 9"/>
          <p:cNvSpPr txBox="1"/>
          <p:nvPr/>
        </p:nvSpPr>
        <p:spPr>
          <a:xfrm>
            <a:off x="914400" y="4343400"/>
            <a:ext cx="5166360" cy="1371600"/>
          </a:xfrm>
          <a:prstGeom prst="rect">
            <a:avLst/>
          </a:prstGeom>
          <a:noFill/>
        </p:spPr>
        <p:txBody>
          <a:bodyPr wrap="square" lIns="27432" rIns="27432" tIns="18288" bIns="0">
            <a:spAutoFit/>
          </a:bodyPr>
          <a:lstStyle/>
          <a:p>
            <a:pPr>
              <a:spcAft>
                <a:spcPts val="800"/>
              </a:spcAft>
              <a:defRPr sz="2000" b="0">
                <a:solidFill>
                  <a:srgbClr val="183949"/>
                </a:solidFill>
                <a:latin typeface="DejaVu Sans"/>
              </a:defRPr>
            </a:pPr>
            <a:r>
              <a:t>Tezlikni IOPS, throughput va kechikish birgalikda belgilaydi.</a:t>
            </a:r>
          </a:p>
        </p:txBody>
      </p:sp>
      <p:sp>
        <p:nvSpPr>
          <p:cNvPr id="11" name="Rectangle 10"/>
          <p:cNvSpPr/>
          <p:nvPr/>
        </p:nvSpPr>
        <p:spPr>
          <a:xfrm>
            <a:off x="7269480" y="2450592"/>
            <a:ext cx="4224528" cy="3584448"/>
          </a:xfrm>
          <a:prstGeom prst="rect">
            <a:avLst/>
          </a:prstGeom>
          <a:solidFill>
            <a:srgbClr val="E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08_rook.png"/>
          <p:cNvPicPr>
            <a:picLocks noChangeAspect="1"/>
          </p:cNvPicPr>
          <p:nvPr/>
        </p:nvPicPr>
        <p:blipFill>
          <a:blip r:embed="rId2"/>
          <a:stretch>
            <a:fillRect/>
          </a:stretch>
        </p:blipFill>
        <p:spPr>
          <a:xfrm>
            <a:off x="8078724" y="2651760"/>
            <a:ext cx="2606040" cy="2606040"/>
          </a:xfrm>
          <a:prstGeom prst="rect">
            <a:avLst/>
          </a:prstGeom>
        </p:spPr>
      </p:pic>
      <p:sp>
        <p:nvSpPr>
          <p:cNvPr id="13" name="TextBox 12"/>
          <p:cNvSpPr txBox="1"/>
          <p:nvPr/>
        </p:nvSpPr>
        <p:spPr>
          <a:xfrm>
            <a:off x="7443216" y="5413248"/>
            <a:ext cx="3840480" cy="493776"/>
          </a:xfrm>
          <a:prstGeom prst="rect">
            <a:avLst/>
          </a:prstGeom>
          <a:noFill/>
        </p:spPr>
        <p:txBody>
          <a:bodyPr wrap="square" lIns="27432" rIns="27432" tIns="18288" bIns="0">
            <a:spAutoFit/>
          </a:bodyPr>
          <a:lstStyle/>
          <a:p>
            <a:pPr>
              <a:spcAft>
                <a:spcPts val="800"/>
              </a:spcAft>
              <a:defRPr sz="1300" b="1">
                <a:solidFill>
                  <a:srgbClr val="008BB6"/>
                </a:solidFill>
                <a:latin typeface="DejaVu Sans"/>
              </a:defRPr>
            </a:pPr>
            <a:r>
              <a:t>Rook — saqlashni boshqarish loyihasi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88720" cy="731520"/>
          </a:xfrm>
          <a:prstGeom prst="rect">
            <a:avLst/>
          </a:prstGeom>
          <a:noFill/>
        </p:spPr>
        <p:txBody>
          <a:bodyPr wrap="square" lIns="27432" rIns="27432" tIns="18288" bIns="0">
            <a:spAutoFit/>
          </a:bodyPr>
          <a:lstStyle/>
          <a:p>
            <a:pPr>
              <a:spcAft>
                <a:spcPts val="800"/>
              </a:spcAft>
              <a:defRPr sz="3600" b="1">
                <a:solidFill>
                  <a:srgbClr val="008BB6"/>
                </a:solidFill>
                <a:latin typeface="DejaVu Sans"/>
              </a:defRPr>
            </a:pPr>
            <a:r>
              <a:t>05</a:t>
            </a:r>
          </a:p>
        </p:txBody>
      </p:sp>
      <p:cxnSp>
        <p:nvCxnSpPr>
          <p:cNvPr id="3" name="Connector 2"/>
          <p:cNvCxnSpPr/>
          <p:nvPr/>
        </p:nvCxnSpPr>
        <p:spPr>
          <a:xfrm>
            <a:off x="1828800" y="475488"/>
            <a:ext cx="9784080" cy="0"/>
          </a:xfrm>
          <a:prstGeom prst="line">
            <a:avLst/>
          </a:prstGeom>
          <a:ln w="12700">
            <a:solidFill>
              <a:srgbClr val="008B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874519" y="621792"/>
            <a:ext cx="9646920" cy="960120"/>
          </a:xfrm>
          <a:prstGeom prst="rect">
            <a:avLst/>
          </a:prstGeom>
          <a:noFill/>
        </p:spPr>
        <p:txBody>
          <a:bodyPr wrap="square" lIns="27432" rIns="27432" tIns="18288" bIns="0">
            <a:spAutoFit/>
          </a:bodyPr>
          <a:lstStyle/>
          <a:p>
            <a:pPr>
              <a:spcAft>
                <a:spcPts val="800"/>
              </a:spcAft>
              <a:defRPr sz="2800" b="1">
                <a:solidFill>
                  <a:srgbClr val="183949"/>
                </a:solidFill>
                <a:latin typeface="DejaVu Sans"/>
              </a:defRPr>
            </a:pPr>
            <a:r>
              <a:t>File Storage</a:t>
            </a:r>
          </a:p>
        </p:txBody>
      </p:sp>
      <p:sp>
        <p:nvSpPr>
          <p:cNvPr id="5" name="TextBox 4"/>
          <p:cNvSpPr txBox="1"/>
          <p:nvPr/>
        </p:nvSpPr>
        <p:spPr>
          <a:xfrm>
            <a:off x="594360" y="1737360"/>
            <a:ext cx="10789920" cy="384048"/>
          </a:xfrm>
          <a:prstGeom prst="rect">
            <a:avLst/>
          </a:prstGeom>
          <a:noFill/>
        </p:spPr>
        <p:txBody>
          <a:bodyPr wrap="square" lIns="27432" rIns="27432" tIns="18288" bIns="0">
            <a:spAutoFit/>
          </a:bodyPr>
          <a:lstStyle/>
          <a:p>
            <a:pPr>
              <a:spcAft>
                <a:spcPts val="800"/>
              </a:spcAft>
              <a:defRPr sz="1500" b="0">
                <a:solidFill>
                  <a:srgbClr val="008BB6"/>
                </a:solidFill>
                <a:latin typeface="DejaVu Sans"/>
              </a:defRPr>
            </a:pPr>
            <a:r>
              <a:t>Bir nechta mijozga umumiy fayl tizimi.</a:t>
            </a:r>
          </a:p>
        </p:txBody>
      </p:sp>
      <p:sp>
        <p:nvSpPr>
          <p:cNvPr id="6" name="TextBox 5"/>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949"/>
                </a:solidFill>
                <a:latin typeface="DejaVu Sans"/>
              </a:defRPr>
            </a:pPr>
            <a:r>
              <a:t>BTST206   /   M08   /   2027–2028</a:t>
            </a:r>
          </a:p>
        </p:txBody>
      </p:sp>
      <p:sp>
        <p:nvSpPr>
          <p:cNvPr id="7" name="TextBox 6"/>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05 / 13</a:t>
            </a:r>
          </a:p>
        </p:txBody>
      </p:sp>
      <p:sp>
        <p:nvSpPr>
          <p:cNvPr id="8" name="TextBox 7"/>
          <p:cNvSpPr txBox="1"/>
          <p:nvPr/>
        </p:nvSpPr>
        <p:spPr>
          <a:xfrm>
            <a:off x="749808" y="2487168"/>
            <a:ext cx="3108960" cy="914400"/>
          </a:xfrm>
          <a:prstGeom prst="rect">
            <a:avLst/>
          </a:prstGeom>
          <a:noFill/>
        </p:spPr>
        <p:txBody>
          <a:bodyPr wrap="square" lIns="27432" rIns="27432" tIns="18288" bIns="0">
            <a:spAutoFit/>
          </a:bodyPr>
          <a:lstStyle/>
          <a:p>
            <a:pPr>
              <a:spcAft>
                <a:spcPts val="800"/>
              </a:spcAft>
              <a:defRPr sz="3300" b="1">
                <a:solidFill>
                  <a:srgbClr val="008BB6"/>
                </a:solidFill>
                <a:latin typeface="DejaVu Serif"/>
              </a:defRPr>
            </a:pPr>
            <a:r>
              <a:t>File</a:t>
            </a:r>
          </a:p>
        </p:txBody>
      </p:sp>
      <p:sp>
        <p:nvSpPr>
          <p:cNvPr id="9" name="TextBox 8"/>
          <p:cNvSpPr txBox="1"/>
          <p:nvPr/>
        </p:nvSpPr>
        <p:spPr>
          <a:xfrm>
            <a:off x="749808" y="3611880"/>
            <a:ext cx="3337560" cy="1993392"/>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Bir nechta mijoz uchun umumiy papka va fayllar iyerarxiyasi taqdim etiladi.</a:t>
            </a:r>
          </a:p>
        </p:txBody>
      </p:sp>
      <p:sp>
        <p:nvSpPr>
          <p:cNvPr id="10" name="Rectangle 9"/>
          <p:cNvSpPr/>
          <p:nvPr/>
        </p:nvSpPr>
        <p:spPr>
          <a:xfrm>
            <a:off x="4535424" y="2532888"/>
            <a:ext cx="2651760" cy="658368"/>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2642616"/>
            <a:ext cx="2414015" cy="493776"/>
          </a:xfrm>
          <a:prstGeom prst="rect">
            <a:avLst/>
          </a:prstGeom>
          <a:noFill/>
        </p:spPr>
        <p:txBody>
          <a:bodyPr wrap="square" lIns="27432" rIns="27432" tIns="18288" bIns="0">
            <a:spAutoFit/>
          </a:bodyPr>
          <a:lstStyle/>
          <a:p>
            <a:pPr>
              <a:spcAft>
                <a:spcPts val="800"/>
              </a:spcAft>
              <a:defRPr sz="2000" b="1">
                <a:solidFill>
                  <a:srgbClr val="183949"/>
                </a:solidFill>
                <a:latin typeface="DejaVu Sans"/>
              </a:defRPr>
            </a:pPr>
            <a:r>
              <a:t>Server A</a:t>
            </a:r>
          </a:p>
        </p:txBody>
      </p:sp>
      <p:cxnSp>
        <p:nvCxnSpPr>
          <p:cNvPr id="12" name="Connector 11"/>
          <p:cNvCxnSpPr/>
          <p:nvPr/>
        </p:nvCxnSpPr>
        <p:spPr>
          <a:xfrm>
            <a:off x="5861304" y="3191256"/>
            <a:ext cx="0" cy="192024"/>
          </a:xfrm>
          <a:prstGeom prst="line">
            <a:avLst/>
          </a:prstGeom>
          <a:ln w="25400">
            <a:solidFill>
              <a:srgbClr val="008BB6"/>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35424" y="3383280"/>
            <a:ext cx="2651760" cy="658368"/>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4296" y="3493008"/>
            <a:ext cx="2414015" cy="493776"/>
          </a:xfrm>
          <a:prstGeom prst="rect">
            <a:avLst/>
          </a:prstGeom>
          <a:noFill/>
        </p:spPr>
        <p:txBody>
          <a:bodyPr wrap="square" lIns="27432" rIns="27432" tIns="18288" bIns="0">
            <a:spAutoFit/>
          </a:bodyPr>
          <a:lstStyle/>
          <a:p>
            <a:pPr>
              <a:spcAft>
                <a:spcPts val="800"/>
              </a:spcAft>
              <a:defRPr sz="2000" b="1">
                <a:solidFill>
                  <a:srgbClr val="183949"/>
                </a:solidFill>
                <a:latin typeface="DejaVu Sans"/>
              </a:defRPr>
            </a:pPr>
            <a:r>
              <a:t>Umumiy papka</a:t>
            </a:r>
          </a:p>
        </p:txBody>
      </p:sp>
      <p:cxnSp>
        <p:nvCxnSpPr>
          <p:cNvPr id="15" name="Connector 14"/>
          <p:cNvCxnSpPr/>
          <p:nvPr/>
        </p:nvCxnSpPr>
        <p:spPr>
          <a:xfrm>
            <a:off x="5861304" y="4041648"/>
            <a:ext cx="0" cy="192024"/>
          </a:xfrm>
          <a:prstGeom prst="line">
            <a:avLst/>
          </a:prstGeom>
          <a:ln w="25400">
            <a:solidFill>
              <a:srgbClr val="008BB6"/>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535424" y="4233672"/>
            <a:ext cx="2651760" cy="658368"/>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54296" y="4343400"/>
            <a:ext cx="2414015" cy="493776"/>
          </a:xfrm>
          <a:prstGeom prst="rect">
            <a:avLst/>
          </a:prstGeom>
          <a:noFill/>
        </p:spPr>
        <p:txBody>
          <a:bodyPr wrap="square" lIns="27432" rIns="27432" tIns="18288" bIns="0">
            <a:spAutoFit/>
          </a:bodyPr>
          <a:lstStyle/>
          <a:p>
            <a:pPr>
              <a:spcAft>
                <a:spcPts val="800"/>
              </a:spcAft>
              <a:defRPr sz="2000" b="1">
                <a:solidFill>
                  <a:srgbClr val="183949"/>
                </a:solidFill>
                <a:latin typeface="DejaVu Sans"/>
              </a:defRPr>
            </a:pPr>
            <a:r>
              <a:t>Server B</a:t>
            </a:r>
          </a:p>
        </p:txBody>
      </p:sp>
      <p:sp>
        <p:nvSpPr>
          <p:cNvPr id="18" name="TextBox 17"/>
          <p:cNvSpPr txBox="1"/>
          <p:nvPr/>
        </p:nvSpPr>
        <p:spPr>
          <a:xfrm>
            <a:off x="7818120" y="2578608"/>
            <a:ext cx="3611880" cy="3200400"/>
          </a:xfrm>
          <a:prstGeom prst="rect">
            <a:avLst/>
          </a:prstGeom>
          <a:noFill/>
        </p:spPr>
        <p:txBody>
          <a:bodyPr wrap="square" lIns="27432" rIns="27432" tIns="18288" bIns="0">
            <a:spAutoFit/>
          </a:bodyPr>
          <a:lstStyle/>
          <a:p>
            <a:pPr>
              <a:spcAft>
                <a:spcPts val="800"/>
              </a:spcAft>
              <a:defRPr sz="2000" b="0">
                <a:solidFill>
                  <a:srgbClr val="183949"/>
                </a:solidFill>
                <a:latin typeface="DejaVu Sans"/>
              </a:defRPr>
            </a:pPr>
            <a:r>
              <a:t>NFS yoki SMB orqali ulashuv mount qilinadi; fayl yo‘llari bilan ishlanadi.</a:t>
            </a:r>
          </a:p>
          <a:p>
            <a:pPr>
              <a:spcAft>
                <a:spcPts val="800"/>
              </a:spcAft>
              <a:defRPr sz="2000" b="0">
                <a:solidFill>
                  <a:srgbClr val="183949"/>
                </a:solidFill>
                <a:latin typeface="DejaVu Sans"/>
              </a:defRPr>
            </a:pPr>
          </a:p>
          <a:p>
            <a:pPr>
              <a:spcAft>
                <a:spcPts val="800"/>
              </a:spcAft>
              <a:defRPr sz="2000" b="0">
                <a:solidFill>
                  <a:srgbClr val="183949"/>
                </a:solidFill>
                <a:latin typeface="DejaVu Sans"/>
              </a:defRPr>
            </a:pPr>
            <a:r>
              <a:t>Hisobot shablonlarini serverlar bitta umumiy papkadan o‘qishi mumkin.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88720" cy="731520"/>
          </a:xfrm>
          <a:prstGeom prst="rect">
            <a:avLst/>
          </a:prstGeom>
          <a:noFill/>
        </p:spPr>
        <p:txBody>
          <a:bodyPr wrap="square" lIns="27432" rIns="27432" tIns="18288" bIns="0">
            <a:spAutoFit/>
          </a:bodyPr>
          <a:lstStyle/>
          <a:p>
            <a:pPr>
              <a:spcAft>
                <a:spcPts val="800"/>
              </a:spcAft>
              <a:defRPr sz="3600" b="1">
                <a:solidFill>
                  <a:srgbClr val="008BB6"/>
                </a:solidFill>
                <a:latin typeface="DejaVu Sans"/>
              </a:defRPr>
            </a:pPr>
            <a:r>
              <a:t>06</a:t>
            </a:r>
          </a:p>
        </p:txBody>
      </p:sp>
      <p:cxnSp>
        <p:nvCxnSpPr>
          <p:cNvPr id="3" name="Connector 2"/>
          <p:cNvCxnSpPr/>
          <p:nvPr/>
        </p:nvCxnSpPr>
        <p:spPr>
          <a:xfrm>
            <a:off x="1828800" y="475488"/>
            <a:ext cx="9784080" cy="0"/>
          </a:xfrm>
          <a:prstGeom prst="line">
            <a:avLst/>
          </a:prstGeom>
          <a:ln w="12700">
            <a:solidFill>
              <a:srgbClr val="008B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874519" y="621792"/>
            <a:ext cx="9646920" cy="960120"/>
          </a:xfrm>
          <a:prstGeom prst="rect">
            <a:avLst/>
          </a:prstGeom>
          <a:noFill/>
        </p:spPr>
        <p:txBody>
          <a:bodyPr wrap="square" lIns="27432" rIns="27432" tIns="18288" bIns="0">
            <a:spAutoFit/>
          </a:bodyPr>
          <a:lstStyle/>
          <a:p>
            <a:pPr>
              <a:spcAft>
                <a:spcPts val="800"/>
              </a:spcAft>
              <a:defRPr sz="2800" b="1">
                <a:solidFill>
                  <a:srgbClr val="183949"/>
                </a:solidFill>
                <a:latin typeface="DejaVu Sans"/>
              </a:defRPr>
            </a:pPr>
            <a:r>
              <a:t>Replikatsiya va durability</a:t>
            </a:r>
          </a:p>
        </p:txBody>
      </p:sp>
      <p:sp>
        <p:nvSpPr>
          <p:cNvPr id="5" name="TextBox 4"/>
          <p:cNvSpPr txBox="1"/>
          <p:nvPr/>
        </p:nvSpPr>
        <p:spPr>
          <a:xfrm>
            <a:off x="594360" y="1737360"/>
            <a:ext cx="10789920" cy="384048"/>
          </a:xfrm>
          <a:prstGeom prst="rect">
            <a:avLst/>
          </a:prstGeom>
          <a:noFill/>
        </p:spPr>
        <p:txBody>
          <a:bodyPr wrap="square" lIns="27432" rIns="27432" tIns="18288" bIns="0">
            <a:spAutoFit/>
          </a:bodyPr>
          <a:lstStyle/>
          <a:p>
            <a:pPr>
              <a:spcAft>
                <a:spcPts val="800"/>
              </a:spcAft>
              <a:defRPr sz="1500" b="0">
                <a:solidFill>
                  <a:srgbClr val="008BB6"/>
                </a:solidFill>
                <a:latin typeface="DejaVu Sans"/>
              </a:defRPr>
            </a:pPr>
            <a:r>
              <a:t>Bir nechta nusxa saqlanish xavfini kamaytiradi.</a:t>
            </a:r>
          </a:p>
        </p:txBody>
      </p:sp>
      <p:sp>
        <p:nvSpPr>
          <p:cNvPr id="6" name="TextBox 5"/>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949"/>
                </a:solidFill>
                <a:latin typeface="DejaVu Sans"/>
              </a:defRPr>
            </a:pPr>
            <a:r>
              <a:t>BTST206   /   M08   /   2027–2028</a:t>
            </a:r>
          </a:p>
        </p:txBody>
      </p:sp>
      <p:sp>
        <p:nvSpPr>
          <p:cNvPr id="7" name="TextBox 6"/>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06 / 13</a:t>
            </a:r>
          </a:p>
        </p:txBody>
      </p:sp>
      <p:sp>
        <p:nvSpPr>
          <p:cNvPr id="8" name="Rectangle 7"/>
          <p:cNvSpPr/>
          <p:nvPr/>
        </p:nvSpPr>
        <p:spPr>
          <a:xfrm>
            <a:off x="758952" y="2423160"/>
            <a:ext cx="10698480" cy="1115568"/>
          </a:xfrm>
          <a:prstGeom prst="rect">
            <a:avLst/>
          </a:prstGeom>
          <a:solidFill>
            <a:srgbClr val="E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633472"/>
            <a:ext cx="10268712" cy="822960"/>
          </a:xfrm>
          <a:prstGeom prst="rect">
            <a:avLst/>
          </a:prstGeom>
          <a:noFill/>
        </p:spPr>
        <p:txBody>
          <a:bodyPr wrap="square" lIns="27432" rIns="27432" tIns="18288" bIns="0">
            <a:spAutoFit/>
          </a:bodyPr>
          <a:lstStyle/>
          <a:p>
            <a:pPr>
              <a:spcAft>
                <a:spcPts val="800"/>
              </a:spcAft>
              <a:defRPr sz="2300" b="1">
                <a:solidFill>
                  <a:srgbClr val="183949"/>
                </a:solidFill>
                <a:latin typeface="DejaVu Sans"/>
              </a:defRPr>
            </a:pPr>
            <a:r>
              <a:t>Replikatsiya ma’lumot nusxalarini boshqa disk, tugun, zona yoki hududda saqlaydi.</a:t>
            </a:r>
          </a:p>
        </p:txBody>
      </p:sp>
      <p:sp>
        <p:nvSpPr>
          <p:cNvPr id="10" name="TextBox 9"/>
          <p:cNvSpPr txBox="1"/>
          <p:nvPr/>
        </p:nvSpPr>
        <p:spPr>
          <a:xfrm>
            <a:off x="777240" y="3886200"/>
            <a:ext cx="5074920" cy="1920240"/>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Durability — yo‘qotmasdan saqlash. Availability — kerakli vaqtda foydalana olish.</a:t>
            </a:r>
          </a:p>
        </p:txBody>
      </p:sp>
      <p:sp>
        <p:nvSpPr>
          <p:cNvPr id="11" name="TextBox 10"/>
          <p:cNvSpPr txBox="1"/>
          <p:nvPr/>
        </p:nvSpPr>
        <p:spPr>
          <a:xfrm>
            <a:off x="6336792" y="3886200"/>
            <a:ext cx="5029200" cy="1920240"/>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Asinxron replikada oxirgi o‘zgarish hali yetmagan bo‘lishi mumkin.</a:t>
            </a:r>
          </a:p>
        </p:txBody>
      </p:sp>
      <p:cxnSp>
        <p:nvCxnSpPr>
          <p:cNvPr id="12" name="Connector 11"/>
          <p:cNvCxnSpPr/>
          <p:nvPr/>
        </p:nvCxnSpPr>
        <p:spPr>
          <a:xfrm>
            <a:off x="6035040" y="3858768"/>
            <a:ext cx="0" cy="2039112"/>
          </a:xfrm>
          <a:prstGeom prst="line">
            <a:avLst/>
          </a:prstGeom>
          <a:ln w="12700">
            <a:solidFill>
              <a:srgbClr val="008BB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88720" cy="731520"/>
          </a:xfrm>
          <a:prstGeom prst="rect">
            <a:avLst/>
          </a:prstGeom>
          <a:noFill/>
        </p:spPr>
        <p:txBody>
          <a:bodyPr wrap="square" lIns="27432" rIns="27432" tIns="18288" bIns="0">
            <a:spAutoFit/>
          </a:bodyPr>
          <a:lstStyle/>
          <a:p>
            <a:pPr>
              <a:spcAft>
                <a:spcPts val="800"/>
              </a:spcAft>
              <a:defRPr sz="3600" b="1">
                <a:solidFill>
                  <a:srgbClr val="008BB6"/>
                </a:solidFill>
                <a:latin typeface="DejaVu Sans"/>
              </a:defRPr>
            </a:pPr>
            <a:r>
              <a:t>07</a:t>
            </a:r>
          </a:p>
        </p:txBody>
      </p:sp>
      <p:cxnSp>
        <p:nvCxnSpPr>
          <p:cNvPr id="3" name="Connector 2"/>
          <p:cNvCxnSpPr/>
          <p:nvPr/>
        </p:nvCxnSpPr>
        <p:spPr>
          <a:xfrm>
            <a:off x="1828800" y="475488"/>
            <a:ext cx="9784080" cy="0"/>
          </a:xfrm>
          <a:prstGeom prst="line">
            <a:avLst/>
          </a:prstGeom>
          <a:ln w="12700">
            <a:solidFill>
              <a:srgbClr val="008B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874519" y="621792"/>
            <a:ext cx="9646920" cy="960120"/>
          </a:xfrm>
          <a:prstGeom prst="rect">
            <a:avLst/>
          </a:prstGeom>
          <a:noFill/>
        </p:spPr>
        <p:txBody>
          <a:bodyPr wrap="square" lIns="27432" rIns="27432" tIns="18288" bIns="0">
            <a:spAutoFit/>
          </a:bodyPr>
          <a:lstStyle/>
          <a:p>
            <a:pPr>
              <a:spcAft>
                <a:spcPts val="800"/>
              </a:spcAft>
              <a:defRPr sz="2800" b="1">
                <a:solidFill>
                  <a:srgbClr val="183949"/>
                </a:solidFill>
                <a:latin typeface="DejaVu Sans"/>
              </a:defRPr>
            </a:pPr>
            <a:r>
              <a:t>Zaxiralash, RPO va RTO</a:t>
            </a:r>
          </a:p>
        </p:txBody>
      </p:sp>
      <p:sp>
        <p:nvSpPr>
          <p:cNvPr id="5" name="TextBox 4"/>
          <p:cNvSpPr txBox="1"/>
          <p:nvPr/>
        </p:nvSpPr>
        <p:spPr>
          <a:xfrm>
            <a:off x="594360" y="1737360"/>
            <a:ext cx="10789920" cy="384048"/>
          </a:xfrm>
          <a:prstGeom prst="rect">
            <a:avLst/>
          </a:prstGeom>
          <a:noFill/>
        </p:spPr>
        <p:txBody>
          <a:bodyPr wrap="square" lIns="27432" rIns="27432" tIns="18288" bIns="0">
            <a:spAutoFit/>
          </a:bodyPr>
          <a:lstStyle/>
          <a:p>
            <a:pPr>
              <a:spcAft>
                <a:spcPts val="800"/>
              </a:spcAft>
              <a:defRPr sz="1500" b="0">
                <a:solidFill>
                  <a:srgbClr val="008BB6"/>
                </a:solidFill>
                <a:latin typeface="DejaVu Sans"/>
              </a:defRPr>
            </a:pPr>
            <a:r>
              <a:t>Qancha ma’lumot va qancha vaqt yo‘qotish mumkin?</a:t>
            </a:r>
          </a:p>
        </p:txBody>
      </p:sp>
      <p:sp>
        <p:nvSpPr>
          <p:cNvPr id="6" name="TextBox 5"/>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949"/>
                </a:solidFill>
                <a:latin typeface="DejaVu Sans"/>
              </a:defRPr>
            </a:pPr>
            <a:r>
              <a:t>BTST206   /   M08   /   2027–2028</a:t>
            </a:r>
          </a:p>
        </p:txBody>
      </p:sp>
      <p:sp>
        <p:nvSpPr>
          <p:cNvPr id="7" name="TextBox 6"/>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07 / 13</a:t>
            </a:r>
          </a:p>
        </p:txBody>
      </p:sp>
      <p:sp>
        <p:nvSpPr>
          <p:cNvPr id="8" name="TextBox 7"/>
          <p:cNvSpPr txBox="1"/>
          <p:nvPr/>
        </p:nvSpPr>
        <p:spPr>
          <a:xfrm>
            <a:off x="749808" y="2487168"/>
            <a:ext cx="3108960" cy="914400"/>
          </a:xfrm>
          <a:prstGeom prst="rect">
            <a:avLst/>
          </a:prstGeom>
          <a:noFill/>
        </p:spPr>
        <p:txBody>
          <a:bodyPr wrap="square" lIns="27432" rIns="27432" tIns="18288" bIns="0">
            <a:spAutoFit/>
          </a:bodyPr>
          <a:lstStyle/>
          <a:p>
            <a:pPr>
              <a:spcAft>
                <a:spcPts val="800"/>
              </a:spcAft>
              <a:defRPr sz="3300" b="1">
                <a:solidFill>
                  <a:srgbClr val="008BB6"/>
                </a:solidFill>
                <a:latin typeface="DejaVu Serif"/>
              </a:defRPr>
            </a:pPr>
            <a:r>
              <a:t>Tiklash maqsadi</a:t>
            </a:r>
          </a:p>
        </p:txBody>
      </p:sp>
      <p:sp>
        <p:nvSpPr>
          <p:cNvPr id="9" name="TextBox 8"/>
          <p:cNvSpPr txBox="1"/>
          <p:nvPr/>
        </p:nvSpPr>
        <p:spPr>
          <a:xfrm>
            <a:off x="749808" y="3611880"/>
            <a:ext cx="3337560" cy="1993392"/>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Backup — tarixiy tiklash nusxasi. Uning ishlashini tiklab ko‘rish orqali tekshiriladi.</a:t>
            </a:r>
          </a:p>
        </p:txBody>
      </p:sp>
      <p:sp>
        <p:nvSpPr>
          <p:cNvPr id="10" name="Rectangle 9"/>
          <p:cNvSpPr/>
          <p:nvPr/>
        </p:nvSpPr>
        <p:spPr>
          <a:xfrm>
            <a:off x="4535424" y="2532888"/>
            <a:ext cx="2651760" cy="658368"/>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2642616"/>
            <a:ext cx="2414015" cy="493776"/>
          </a:xfrm>
          <a:prstGeom prst="rect">
            <a:avLst/>
          </a:prstGeom>
          <a:noFill/>
        </p:spPr>
        <p:txBody>
          <a:bodyPr wrap="square" lIns="27432" rIns="27432" tIns="18288" bIns="0">
            <a:spAutoFit/>
          </a:bodyPr>
          <a:lstStyle/>
          <a:p>
            <a:pPr>
              <a:spcAft>
                <a:spcPts val="800"/>
              </a:spcAft>
              <a:defRPr sz="2000" b="1">
                <a:solidFill>
                  <a:srgbClr val="183949"/>
                </a:solidFill>
                <a:latin typeface="DejaVu Sans"/>
              </a:defRPr>
            </a:pPr>
            <a:r>
              <a:t>Backup</a:t>
            </a:r>
          </a:p>
        </p:txBody>
      </p:sp>
      <p:cxnSp>
        <p:nvCxnSpPr>
          <p:cNvPr id="12" name="Connector 11"/>
          <p:cNvCxnSpPr/>
          <p:nvPr/>
        </p:nvCxnSpPr>
        <p:spPr>
          <a:xfrm>
            <a:off x="5861304" y="3191256"/>
            <a:ext cx="0" cy="192024"/>
          </a:xfrm>
          <a:prstGeom prst="line">
            <a:avLst/>
          </a:prstGeom>
          <a:ln w="25400">
            <a:solidFill>
              <a:srgbClr val="008BB6"/>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535424" y="3383280"/>
            <a:ext cx="2651760" cy="658368"/>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4296" y="3493008"/>
            <a:ext cx="2414015" cy="493776"/>
          </a:xfrm>
          <a:prstGeom prst="rect">
            <a:avLst/>
          </a:prstGeom>
          <a:noFill/>
        </p:spPr>
        <p:txBody>
          <a:bodyPr wrap="square" lIns="27432" rIns="27432" tIns="18288" bIns="0">
            <a:spAutoFit/>
          </a:bodyPr>
          <a:lstStyle/>
          <a:p>
            <a:pPr>
              <a:spcAft>
                <a:spcPts val="800"/>
              </a:spcAft>
              <a:defRPr sz="2000" b="1">
                <a:solidFill>
                  <a:srgbClr val="183949"/>
                </a:solidFill>
                <a:latin typeface="DejaVu Sans"/>
              </a:defRPr>
            </a:pPr>
            <a:r>
              <a:t>Tiklash</a:t>
            </a:r>
          </a:p>
        </p:txBody>
      </p:sp>
      <p:sp>
        <p:nvSpPr>
          <p:cNvPr id="15" name="TextBox 14"/>
          <p:cNvSpPr txBox="1"/>
          <p:nvPr/>
        </p:nvSpPr>
        <p:spPr>
          <a:xfrm>
            <a:off x="7818120" y="2578608"/>
            <a:ext cx="3611880" cy="3200400"/>
          </a:xfrm>
          <a:prstGeom prst="rect">
            <a:avLst/>
          </a:prstGeom>
          <a:noFill/>
        </p:spPr>
        <p:txBody>
          <a:bodyPr wrap="square" lIns="27432" rIns="27432" tIns="18288" bIns="0">
            <a:spAutoFit/>
          </a:bodyPr>
          <a:lstStyle/>
          <a:p>
            <a:pPr>
              <a:spcAft>
                <a:spcPts val="800"/>
              </a:spcAft>
              <a:defRPr sz="2000" b="0">
                <a:solidFill>
                  <a:srgbClr val="183949"/>
                </a:solidFill>
                <a:latin typeface="DejaVu Sans"/>
              </a:defRPr>
            </a:pPr>
            <a:r>
              <a:t>RPO — yo‘qotilishi mumkin bo‘lgan vaqt oralig‘i. RTO — qayta tiklash uchun maqsadli vaqt.</a:t>
            </a:r>
          </a:p>
          <a:p>
            <a:pPr>
              <a:spcAft>
                <a:spcPts val="800"/>
              </a:spcAft>
              <a:defRPr sz="2000" b="0">
                <a:solidFill>
                  <a:srgbClr val="183949"/>
                </a:solidFill>
                <a:latin typeface="DejaVu Sans"/>
              </a:defRPr>
            </a:pPr>
          </a:p>
          <a:p>
            <a:pPr>
              <a:spcAft>
                <a:spcPts val="800"/>
              </a:spcAft>
              <a:defRPr sz="2000" b="0">
                <a:solidFill>
                  <a:srgbClr val="183949"/>
                </a:solidFill>
                <a:latin typeface="DejaVu Sans"/>
              </a:defRPr>
            </a:pPr>
            <a:r>
              <a:t>Har soat zaxira olish, muvaffaqiyatli nusxaga qarab, bir soatgacha o‘zgarish xatarini qoldiradi.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88720" cy="731520"/>
          </a:xfrm>
          <a:prstGeom prst="rect">
            <a:avLst/>
          </a:prstGeom>
          <a:noFill/>
        </p:spPr>
        <p:txBody>
          <a:bodyPr wrap="square" lIns="27432" rIns="27432" tIns="18288" bIns="0">
            <a:spAutoFit/>
          </a:bodyPr>
          <a:lstStyle/>
          <a:p>
            <a:pPr>
              <a:spcAft>
                <a:spcPts val="800"/>
              </a:spcAft>
              <a:defRPr sz="3600" b="1">
                <a:solidFill>
                  <a:srgbClr val="008BB6"/>
                </a:solidFill>
                <a:latin typeface="DejaVu Sans"/>
              </a:defRPr>
            </a:pPr>
            <a:r>
              <a:t>08</a:t>
            </a:r>
          </a:p>
        </p:txBody>
      </p:sp>
      <p:cxnSp>
        <p:nvCxnSpPr>
          <p:cNvPr id="3" name="Connector 2"/>
          <p:cNvCxnSpPr/>
          <p:nvPr/>
        </p:nvCxnSpPr>
        <p:spPr>
          <a:xfrm>
            <a:off x="1828800" y="475488"/>
            <a:ext cx="9784080" cy="0"/>
          </a:xfrm>
          <a:prstGeom prst="line">
            <a:avLst/>
          </a:prstGeom>
          <a:ln w="12700">
            <a:solidFill>
              <a:srgbClr val="008B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874519" y="621792"/>
            <a:ext cx="9646920" cy="960120"/>
          </a:xfrm>
          <a:prstGeom prst="rect">
            <a:avLst/>
          </a:prstGeom>
          <a:noFill/>
        </p:spPr>
        <p:txBody>
          <a:bodyPr wrap="square" lIns="27432" rIns="27432" tIns="18288" bIns="0">
            <a:spAutoFit/>
          </a:bodyPr>
          <a:lstStyle/>
          <a:p>
            <a:pPr>
              <a:spcAft>
                <a:spcPts val="800"/>
              </a:spcAft>
              <a:defRPr sz="2800" b="1">
                <a:solidFill>
                  <a:srgbClr val="183949"/>
                </a:solidFill>
                <a:latin typeface="DejaVu Sans"/>
              </a:defRPr>
            </a:pPr>
            <a:r>
              <a:t>Hayot sikli va narx</a:t>
            </a:r>
          </a:p>
        </p:txBody>
      </p:sp>
      <p:sp>
        <p:nvSpPr>
          <p:cNvPr id="5" name="TextBox 4"/>
          <p:cNvSpPr txBox="1"/>
          <p:nvPr/>
        </p:nvSpPr>
        <p:spPr>
          <a:xfrm>
            <a:off x="594360" y="1737360"/>
            <a:ext cx="10789920" cy="384048"/>
          </a:xfrm>
          <a:prstGeom prst="rect">
            <a:avLst/>
          </a:prstGeom>
          <a:noFill/>
        </p:spPr>
        <p:txBody>
          <a:bodyPr wrap="square" lIns="27432" rIns="27432" tIns="18288" bIns="0">
            <a:spAutoFit/>
          </a:bodyPr>
          <a:lstStyle/>
          <a:p>
            <a:pPr>
              <a:spcAft>
                <a:spcPts val="800"/>
              </a:spcAft>
              <a:defRPr sz="1500" b="0">
                <a:solidFill>
                  <a:srgbClr val="008BB6"/>
                </a:solidFill>
                <a:latin typeface="DejaVu Sans"/>
              </a:defRPr>
            </a:pPr>
            <a:r>
              <a:t>Saqlash narxiga kirish va trafik ham kiradi.</a:t>
            </a:r>
          </a:p>
        </p:txBody>
      </p:sp>
      <p:sp>
        <p:nvSpPr>
          <p:cNvPr id="6" name="TextBox 5"/>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949"/>
                </a:solidFill>
                <a:latin typeface="DejaVu Sans"/>
              </a:defRPr>
            </a:pPr>
            <a:r>
              <a:t>BTST206   /   M08   /   2027–2028</a:t>
            </a:r>
          </a:p>
        </p:txBody>
      </p:sp>
      <p:sp>
        <p:nvSpPr>
          <p:cNvPr id="7" name="TextBox 6"/>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08 / 13</a:t>
            </a:r>
          </a:p>
        </p:txBody>
      </p:sp>
      <p:sp>
        <p:nvSpPr>
          <p:cNvPr id="8" name="Rectangle 7"/>
          <p:cNvSpPr/>
          <p:nvPr/>
        </p:nvSpPr>
        <p:spPr>
          <a:xfrm>
            <a:off x="758952" y="2423160"/>
            <a:ext cx="10698480" cy="1115568"/>
          </a:xfrm>
          <a:prstGeom prst="rect">
            <a:avLst/>
          </a:prstGeom>
          <a:solidFill>
            <a:srgbClr val="E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633472"/>
            <a:ext cx="10268712" cy="822960"/>
          </a:xfrm>
          <a:prstGeom prst="rect">
            <a:avLst/>
          </a:prstGeom>
          <a:noFill/>
        </p:spPr>
        <p:txBody>
          <a:bodyPr wrap="square" lIns="27432" rIns="27432" tIns="18288" bIns="0">
            <a:spAutoFit/>
          </a:bodyPr>
          <a:lstStyle/>
          <a:p>
            <a:pPr>
              <a:spcAft>
                <a:spcPts val="800"/>
              </a:spcAft>
              <a:defRPr sz="2300" b="1">
                <a:solidFill>
                  <a:srgbClr val="183949"/>
                </a:solidFill>
                <a:latin typeface="DejaVu Sans"/>
              </a:defRPr>
            </a:pPr>
            <a:r>
              <a:t>Tez-tez o‘qiladigan va arxiv ma’lumotlar uchun turli saqlash sinflari tanlanadi.</a:t>
            </a:r>
          </a:p>
        </p:txBody>
      </p:sp>
      <p:sp>
        <p:nvSpPr>
          <p:cNvPr id="10" name="TextBox 9"/>
          <p:cNvSpPr txBox="1"/>
          <p:nvPr/>
        </p:nvSpPr>
        <p:spPr>
          <a:xfrm>
            <a:off x="777240" y="3886200"/>
            <a:ext cx="5074920" cy="1920240"/>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Lifecycle eski obyektni boshqa sinfga o‘tkazishi yoki muddati tugagach o‘chirishi mumkin.</a:t>
            </a:r>
          </a:p>
        </p:txBody>
      </p:sp>
      <p:sp>
        <p:nvSpPr>
          <p:cNvPr id="11" name="TextBox 10"/>
          <p:cNvSpPr txBox="1"/>
          <p:nvPr/>
        </p:nvSpPr>
        <p:spPr>
          <a:xfrm>
            <a:off x="6336792" y="3886200"/>
            <a:ext cx="5029200" cy="1920240"/>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Umumiy narx = saqlash + so‘rov + olish + tashqi trafik. Faqat GB narxiga qaramang.</a:t>
            </a:r>
          </a:p>
        </p:txBody>
      </p:sp>
      <p:cxnSp>
        <p:nvCxnSpPr>
          <p:cNvPr id="12" name="Connector 11"/>
          <p:cNvCxnSpPr/>
          <p:nvPr/>
        </p:nvCxnSpPr>
        <p:spPr>
          <a:xfrm>
            <a:off x="6035040" y="3858768"/>
            <a:ext cx="0" cy="2039112"/>
          </a:xfrm>
          <a:prstGeom prst="line">
            <a:avLst/>
          </a:prstGeom>
          <a:ln w="12700">
            <a:solidFill>
              <a:srgbClr val="008BB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88720" cy="731520"/>
          </a:xfrm>
          <a:prstGeom prst="rect">
            <a:avLst/>
          </a:prstGeom>
          <a:noFill/>
        </p:spPr>
        <p:txBody>
          <a:bodyPr wrap="square" lIns="27432" rIns="27432" tIns="18288" bIns="0">
            <a:spAutoFit/>
          </a:bodyPr>
          <a:lstStyle/>
          <a:p>
            <a:pPr>
              <a:spcAft>
                <a:spcPts val="800"/>
              </a:spcAft>
              <a:defRPr sz="3600" b="1">
                <a:solidFill>
                  <a:srgbClr val="008BB6"/>
                </a:solidFill>
                <a:latin typeface="DejaVu Sans"/>
              </a:defRPr>
            </a:pPr>
            <a:r>
              <a:t>09</a:t>
            </a:r>
          </a:p>
        </p:txBody>
      </p:sp>
      <p:cxnSp>
        <p:nvCxnSpPr>
          <p:cNvPr id="3" name="Connector 2"/>
          <p:cNvCxnSpPr/>
          <p:nvPr/>
        </p:nvCxnSpPr>
        <p:spPr>
          <a:xfrm>
            <a:off x="1828800" y="475488"/>
            <a:ext cx="9784080" cy="0"/>
          </a:xfrm>
          <a:prstGeom prst="line">
            <a:avLst/>
          </a:prstGeom>
          <a:ln w="12700">
            <a:solidFill>
              <a:srgbClr val="008B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874519" y="621792"/>
            <a:ext cx="9646920" cy="960120"/>
          </a:xfrm>
          <a:prstGeom prst="rect">
            <a:avLst/>
          </a:prstGeom>
          <a:noFill/>
        </p:spPr>
        <p:txBody>
          <a:bodyPr wrap="square" lIns="27432" rIns="27432" tIns="18288" bIns="0">
            <a:spAutoFit/>
          </a:bodyPr>
          <a:lstStyle/>
          <a:p>
            <a:pPr>
              <a:spcAft>
                <a:spcPts val="800"/>
              </a:spcAft>
              <a:defRPr sz="2800" b="1">
                <a:solidFill>
                  <a:srgbClr val="183949"/>
                </a:solidFill>
                <a:latin typeface="DejaVu Sans"/>
              </a:defRPr>
            </a:pPr>
            <a:r>
              <a:t>Texnik diagramma</a:t>
            </a:r>
          </a:p>
        </p:txBody>
      </p:sp>
      <p:sp>
        <p:nvSpPr>
          <p:cNvPr id="5" name="TextBox 4"/>
          <p:cNvSpPr txBox="1"/>
          <p:nvPr/>
        </p:nvSpPr>
        <p:spPr>
          <a:xfrm>
            <a:off x="594360" y="1737360"/>
            <a:ext cx="10789920" cy="384048"/>
          </a:xfrm>
          <a:prstGeom prst="rect">
            <a:avLst/>
          </a:prstGeom>
          <a:noFill/>
        </p:spPr>
        <p:txBody>
          <a:bodyPr wrap="square" lIns="27432" rIns="27432" tIns="18288" bIns="0">
            <a:spAutoFit/>
          </a:bodyPr>
          <a:lstStyle/>
          <a:p>
            <a:pPr>
              <a:spcAft>
                <a:spcPts val="800"/>
              </a:spcAft>
              <a:defRPr sz="1500" b="0">
                <a:solidFill>
                  <a:srgbClr val="008BB6"/>
                </a:solidFill>
                <a:latin typeface="DejaVu Sans"/>
              </a:defRPr>
            </a:pPr>
            <a:r>
              <a:t>Komponentlar va ular orasidagi asosiy bog‘lanish</a:t>
            </a:r>
          </a:p>
        </p:txBody>
      </p:sp>
      <p:sp>
        <p:nvSpPr>
          <p:cNvPr id="6" name="TextBox 5"/>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949"/>
                </a:solidFill>
                <a:latin typeface="DejaVu Sans"/>
              </a:defRPr>
            </a:pPr>
            <a:r>
              <a:t>BTST206   /   M08   /   2027–2028</a:t>
            </a:r>
          </a:p>
        </p:txBody>
      </p:sp>
      <p:sp>
        <p:nvSpPr>
          <p:cNvPr id="7" name="TextBox 6"/>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09 / 13</a:t>
            </a:r>
          </a:p>
        </p:txBody>
      </p:sp>
      <p:sp>
        <p:nvSpPr>
          <p:cNvPr id="8" name="Rectangle 7"/>
          <p:cNvSpPr/>
          <p:nvPr/>
        </p:nvSpPr>
        <p:spPr>
          <a:xfrm>
            <a:off x="822960" y="2532888"/>
            <a:ext cx="2286000" cy="1097280"/>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642616"/>
            <a:ext cx="2048256" cy="932688"/>
          </a:xfrm>
          <a:prstGeom prst="rect">
            <a:avLst/>
          </a:prstGeom>
          <a:noFill/>
        </p:spPr>
        <p:txBody>
          <a:bodyPr wrap="square" lIns="27432" rIns="27432" tIns="18288" bIns="0">
            <a:spAutoFit/>
          </a:bodyPr>
          <a:lstStyle/>
          <a:p>
            <a:pPr>
              <a:spcAft>
                <a:spcPts val="800"/>
              </a:spcAft>
              <a:defRPr sz="2200" b="1">
                <a:solidFill>
                  <a:srgbClr val="183949"/>
                </a:solidFill>
                <a:latin typeface="DejaVu Sans"/>
              </a:defRPr>
            </a:pPr>
            <a:r>
              <a:t>Universitet</a:t>
            </a:r>
          </a:p>
          <a:p>
            <a:pPr>
              <a:spcAft>
                <a:spcPts val="800"/>
              </a:spcAft>
              <a:defRPr sz="2200" b="1">
                <a:solidFill>
                  <a:srgbClr val="183949"/>
                </a:solidFill>
                <a:latin typeface="DejaVu Sans"/>
              </a:defRPr>
            </a:pPr>
            <a:r>
              <a:t>ilovasi</a:t>
            </a:r>
          </a:p>
        </p:txBody>
      </p:sp>
      <p:sp>
        <p:nvSpPr>
          <p:cNvPr id="10" name="Rectangle 9"/>
          <p:cNvSpPr/>
          <p:nvPr/>
        </p:nvSpPr>
        <p:spPr>
          <a:xfrm>
            <a:off x="3886200" y="3383280"/>
            <a:ext cx="2240280" cy="1280160"/>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05072" y="3493008"/>
            <a:ext cx="2002536" cy="1115568"/>
          </a:xfrm>
          <a:prstGeom prst="rect">
            <a:avLst/>
          </a:prstGeom>
          <a:noFill/>
        </p:spPr>
        <p:txBody>
          <a:bodyPr wrap="square" lIns="27432" rIns="27432" tIns="18288" bIns="0">
            <a:spAutoFit/>
          </a:bodyPr>
          <a:lstStyle/>
          <a:p>
            <a:pPr>
              <a:spcAft>
                <a:spcPts val="800"/>
              </a:spcAft>
              <a:defRPr sz="1800" b="1">
                <a:solidFill>
                  <a:srgbClr val="183949"/>
                </a:solidFill>
                <a:latin typeface="DejaVu Sans"/>
              </a:defRPr>
            </a:pPr>
            <a:r>
              <a:t>OBJECT</a:t>
            </a:r>
          </a:p>
          <a:p>
            <a:pPr>
              <a:spcAft>
                <a:spcPts val="800"/>
              </a:spcAft>
              <a:defRPr sz="1800" b="1">
                <a:solidFill>
                  <a:srgbClr val="183949"/>
                </a:solidFill>
                <a:latin typeface="DejaVu Sans"/>
              </a:defRPr>
            </a:pPr>
            <a:r>
              <a:t>Video va rasm</a:t>
            </a:r>
          </a:p>
        </p:txBody>
      </p:sp>
      <p:cxnSp>
        <p:nvCxnSpPr>
          <p:cNvPr id="12" name="Connector 11"/>
          <p:cNvCxnSpPr/>
          <p:nvPr/>
        </p:nvCxnSpPr>
        <p:spPr>
          <a:xfrm>
            <a:off x="3108960" y="3081528"/>
            <a:ext cx="1874520" cy="301752"/>
          </a:xfrm>
          <a:prstGeom prst="line">
            <a:avLst/>
          </a:prstGeom>
          <a:ln w="25400">
            <a:solidFill>
              <a:srgbClr val="008BB6"/>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373368" y="3383280"/>
            <a:ext cx="2240280" cy="1280160"/>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493008"/>
            <a:ext cx="2002536" cy="1115568"/>
          </a:xfrm>
          <a:prstGeom prst="rect">
            <a:avLst/>
          </a:prstGeom>
          <a:noFill/>
        </p:spPr>
        <p:txBody>
          <a:bodyPr wrap="square" lIns="27432" rIns="27432" tIns="18288" bIns="0">
            <a:spAutoFit/>
          </a:bodyPr>
          <a:lstStyle/>
          <a:p>
            <a:pPr>
              <a:spcAft>
                <a:spcPts val="800"/>
              </a:spcAft>
              <a:defRPr sz="1800" b="1">
                <a:solidFill>
                  <a:srgbClr val="183949"/>
                </a:solidFill>
                <a:latin typeface="DejaVu Sans"/>
              </a:defRPr>
            </a:pPr>
            <a:r>
              <a:t>BLOCK</a:t>
            </a:r>
          </a:p>
          <a:p>
            <a:pPr>
              <a:spcAft>
                <a:spcPts val="800"/>
              </a:spcAft>
              <a:defRPr sz="1800" b="1">
                <a:solidFill>
                  <a:srgbClr val="183949"/>
                </a:solidFill>
                <a:latin typeface="DejaVu Sans"/>
              </a:defRPr>
            </a:pPr>
            <a:r>
              <a:t>VM diski</a:t>
            </a:r>
          </a:p>
        </p:txBody>
      </p:sp>
      <p:cxnSp>
        <p:nvCxnSpPr>
          <p:cNvPr id="15" name="Connector 14"/>
          <p:cNvCxnSpPr/>
          <p:nvPr/>
        </p:nvCxnSpPr>
        <p:spPr>
          <a:xfrm>
            <a:off x="3108960" y="3081528"/>
            <a:ext cx="4361688" cy="301752"/>
          </a:xfrm>
          <a:prstGeom prst="line">
            <a:avLst/>
          </a:prstGeom>
          <a:ln w="25400">
            <a:solidFill>
              <a:srgbClr val="008BB6"/>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8860536" y="3383280"/>
            <a:ext cx="2240280" cy="1280160"/>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79408" y="3493008"/>
            <a:ext cx="2002536" cy="1115568"/>
          </a:xfrm>
          <a:prstGeom prst="rect">
            <a:avLst/>
          </a:prstGeom>
          <a:noFill/>
        </p:spPr>
        <p:txBody>
          <a:bodyPr wrap="square" lIns="27432" rIns="27432" tIns="18288" bIns="0">
            <a:spAutoFit/>
          </a:bodyPr>
          <a:lstStyle/>
          <a:p>
            <a:pPr>
              <a:spcAft>
                <a:spcPts val="800"/>
              </a:spcAft>
              <a:defRPr sz="1800" b="1">
                <a:solidFill>
                  <a:srgbClr val="183949"/>
                </a:solidFill>
                <a:latin typeface="DejaVu Sans"/>
              </a:defRPr>
            </a:pPr>
            <a:r>
              <a:t>FILE</a:t>
            </a:r>
          </a:p>
          <a:p>
            <a:pPr>
              <a:spcAft>
                <a:spcPts val="800"/>
              </a:spcAft>
              <a:defRPr sz="1800" b="1">
                <a:solidFill>
                  <a:srgbClr val="183949"/>
                </a:solidFill>
                <a:latin typeface="DejaVu Sans"/>
              </a:defRPr>
            </a:pPr>
            <a:r>
              <a:t>Umumiy papka</a:t>
            </a:r>
          </a:p>
        </p:txBody>
      </p:sp>
      <p:cxnSp>
        <p:nvCxnSpPr>
          <p:cNvPr id="18" name="Connector 17"/>
          <p:cNvCxnSpPr/>
          <p:nvPr/>
        </p:nvCxnSpPr>
        <p:spPr>
          <a:xfrm>
            <a:off x="3108960" y="3081528"/>
            <a:ext cx="6848856" cy="301752"/>
          </a:xfrm>
          <a:prstGeom prst="line">
            <a:avLst/>
          </a:prstGeom>
          <a:ln w="25400">
            <a:solidFill>
              <a:srgbClr val="008BB6"/>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32104" y="5394960"/>
            <a:ext cx="10561320" cy="594360"/>
          </a:xfrm>
          <a:prstGeom prst="rect">
            <a:avLst/>
          </a:prstGeom>
          <a:noFill/>
        </p:spPr>
        <p:txBody>
          <a:bodyPr wrap="square" lIns="27432" rIns="27432" tIns="18288" bIns="0">
            <a:spAutoFit/>
          </a:bodyPr>
          <a:lstStyle/>
          <a:p>
            <a:pPr>
              <a:spcAft>
                <a:spcPts val="800"/>
              </a:spcAft>
              <a:defRPr sz="2300" b="1">
                <a:solidFill>
                  <a:srgbClr val="183949"/>
                </a:solidFill>
                <a:latin typeface="DejaVu Sans"/>
              </a:defRPr>
            </a:pPr>
            <a:r>
              <a:t>Alohida backup va tiklash siyosati barcha muhim ma’lumotlarga kerak.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88720" cy="731520"/>
          </a:xfrm>
          <a:prstGeom prst="rect">
            <a:avLst/>
          </a:prstGeom>
          <a:noFill/>
        </p:spPr>
        <p:txBody>
          <a:bodyPr wrap="square" lIns="27432" rIns="27432" tIns="18288" bIns="0">
            <a:spAutoFit/>
          </a:bodyPr>
          <a:lstStyle/>
          <a:p>
            <a:pPr>
              <a:spcAft>
                <a:spcPts val="800"/>
              </a:spcAft>
              <a:defRPr sz="3600" b="1">
                <a:solidFill>
                  <a:srgbClr val="008BB6"/>
                </a:solidFill>
                <a:latin typeface="DejaVu Sans"/>
              </a:defRPr>
            </a:pPr>
            <a:r>
              <a:t>10</a:t>
            </a:r>
          </a:p>
        </p:txBody>
      </p:sp>
      <p:cxnSp>
        <p:nvCxnSpPr>
          <p:cNvPr id="3" name="Connector 2"/>
          <p:cNvCxnSpPr/>
          <p:nvPr/>
        </p:nvCxnSpPr>
        <p:spPr>
          <a:xfrm>
            <a:off x="1828800" y="475488"/>
            <a:ext cx="9784080" cy="0"/>
          </a:xfrm>
          <a:prstGeom prst="line">
            <a:avLst/>
          </a:prstGeom>
          <a:ln w="12700">
            <a:solidFill>
              <a:srgbClr val="008B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874519" y="621792"/>
            <a:ext cx="9646920" cy="960120"/>
          </a:xfrm>
          <a:prstGeom prst="rect">
            <a:avLst/>
          </a:prstGeom>
          <a:noFill/>
        </p:spPr>
        <p:txBody>
          <a:bodyPr wrap="square" lIns="27432" rIns="27432" tIns="18288" bIns="0">
            <a:spAutoFit/>
          </a:bodyPr>
          <a:lstStyle/>
          <a:p>
            <a:pPr>
              <a:spcAft>
                <a:spcPts val="800"/>
              </a:spcAft>
              <a:defRPr sz="2800" b="1">
                <a:solidFill>
                  <a:srgbClr val="183949"/>
                </a:solidFill>
                <a:latin typeface="DejaVu Sans"/>
              </a:defRPr>
            </a:pPr>
            <a:r>
              <a:t>Universitet misolida</a:t>
            </a:r>
          </a:p>
        </p:txBody>
      </p:sp>
      <p:sp>
        <p:nvSpPr>
          <p:cNvPr id="5" name="TextBox 4"/>
          <p:cNvSpPr txBox="1"/>
          <p:nvPr/>
        </p:nvSpPr>
        <p:spPr>
          <a:xfrm>
            <a:off x="594360" y="1737360"/>
            <a:ext cx="10789920" cy="384048"/>
          </a:xfrm>
          <a:prstGeom prst="rect">
            <a:avLst/>
          </a:prstGeom>
          <a:noFill/>
        </p:spPr>
        <p:txBody>
          <a:bodyPr wrap="square" lIns="27432" rIns="27432" tIns="18288" bIns="0">
            <a:spAutoFit/>
          </a:bodyPr>
          <a:lstStyle/>
          <a:p>
            <a:pPr>
              <a:spcAft>
                <a:spcPts val="800"/>
              </a:spcAft>
              <a:defRPr sz="1500" b="0">
                <a:solidFill>
                  <a:srgbClr val="008BB6"/>
                </a:solidFill>
                <a:latin typeface="DejaVu Sans"/>
              </a:defRPr>
            </a:pPr>
            <a:r>
              <a:t>Tushunchalar amaliy tizimda qanday birlashadi?</a:t>
            </a:r>
          </a:p>
        </p:txBody>
      </p:sp>
      <p:sp>
        <p:nvSpPr>
          <p:cNvPr id="6" name="TextBox 5"/>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949"/>
                </a:solidFill>
                <a:latin typeface="DejaVu Sans"/>
              </a:defRPr>
            </a:pPr>
            <a:r>
              <a:t>BTST206   /   M08   /   2027–2028</a:t>
            </a:r>
          </a:p>
        </p:txBody>
      </p:sp>
      <p:sp>
        <p:nvSpPr>
          <p:cNvPr id="7" name="TextBox 6"/>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10 / 13</a:t>
            </a:r>
          </a:p>
        </p:txBody>
      </p:sp>
      <p:sp>
        <p:nvSpPr>
          <p:cNvPr id="8" name="TextBox 7"/>
          <p:cNvSpPr txBox="1"/>
          <p:nvPr/>
        </p:nvSpPr>
        <p:spPr>
          <a:xfrm>
            <a:off x="777240" y="2468880"/>
            <a:ext cx="3794760" cy="1097280"/>
          </a:xfrm>
          <a:prstGeom prst="rect">
            <a:avLst/>
          </a:prstGeom>
          <a:noFill/>
        </p:spPr>
        <p:txBody>
          <a:bodyPr wrap="square" lIns="27432" rIns="27432" tIns="18288" bIns="0">
            <a:spAutoFit/>
          </a:bodyPr>
          <a:lstStyle/>
          <a:p>
            <a:pPr>
              <a:spcAft>
                <a:spcPts val="800"/>
              </a:spcAft>
              <a:defRPr sz="2900" b="1">
                <a:solidFill>
                  <a:srgbClr val="008BB6"/>
                </a:solidFill>
                <a:latin typeface="DejaVu Serif"/>
              </a:defRPr>
            </a:pPr>
            <a:r>
              <a:t>Uch xil ehtiyoj.</a:t>
            </a:r>
          </a:p>
          <a:p>
            <a:pPr>
              <a:spcAft>
                <a:spcPts val="800"/>
              </a:spcAft>
              <a:defRPr sz="2900" b="1">
                <a:solidFill>
                  <a:srgbClr val="008BB6"/>
                </a:solidFill>
                <a:latin typeface="DejaVu Serif"/>
              </a:defRPr>
            </a:pPr>
            <a:r>
              <a:t>Uch xil saqlash.</a:t>
            </a:r>
          </a:p>
        </p:txBody>
      </p:sp>
      <p:sp>
        <p:nvSpPr>
          <p:cNvPr id="9" name="TextBox 8"/>
          <p:cNvSpPr txBox="1"/>
          <p:nvPr/>
        </p:nvSpPr>
        <p:spPr>
          <a:xfrm>
            <a:off x="4892040" y="2514600"/>
            <a:ext cx="6400800" cy="2011680"/>
          </a:xfrm>
          <a:prstGeom prst="rect">
            <a:avLst/>
          </a:prstGeom>
          <a:noFill/>
        </p:spPr>
        <p:txBody>
          <a:bodyPr wrap="square" lIns="27432" rIns="27432" tIns="18288" bIns="0">
            <a:spAutoFit/>
          </a:bodyPr>
          <a:lstStyle/>
          <a:p>
            <a:pPr>
              <a:spcAft>
                <a:spcPts val="800"/>
              </a:spcAft>
              <a:defRPr sz="2300" b="0">
                <a:solidFill>
                  <a:srgbClr val="183949"/>
                </a:solidFill>
                <a:latin typeface="DejaVu Sans"/>
              </a:defRPr>
            </a:pPr>
            <a:r>
              <a:t>Universitet ma’ruza videolari, virtual server diski va umumiy ishchi hujjatlarni saqlaydi. Ularning kirish usuli va talabi turlicha bo‘lgani uchun bir xil saqlash xizmati har biriga mos kelmaydi.</a:t>
            </a:r>
          </a:p>
        </p:txBody>
      </p:sp>
      <p:sp>
        <p:nvSpPr>
          <p:cNvPr id="10" name="Rectangle 9"/>
          <p:cNvSpPr/>
          <p:nvPr/>
        </p:nvSpPr>
        <p:spPr>
          <a:xfrm>
            <a:off x="777240" y="5102352"/>
            <a:ext cx="3325368" cy="777240"/>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5212080"/>
            <a:ext cx="3087624" cy="612647"/>
          </a:xfrm>
          <a:prstGeom prst="rect">
            <a:avLst/>
          </a:prstGeom>
          <a:noFill/>
        </p:spPr>
        <p:txBody>
          <a:bodyPr wrap="square" lIns="27432" rIns="27432" tIns="18288" bIns="0">
            <a:spAutoFit/>
          </a:bodyPr>
          <a:lstStyle/>
          <a:p>
            <a:pPr>
              <a:spcAft>
                <a:spcPts val="800"/>
              </a:spcAft>
              <a:defRPr sz="1700" b="1">
                <a:solidFill>
                  <a:srgbClr val="183949"/>
                </a:solidFill>
                <a:latin typeface="DejaVu Sans"/>
              </a:defRPr>
            </a:pPr>
            <a:r>
              <a:t>Video → Object</a:t>
            </a:r>
          </a:p>
        </p:txBody>
      </p:sp>
      <p:cxnSp>
        <p:nvCxnSpPr>
          <p:cNvPr id="12" name="Connector 11"/>
          <p:cNvCxnSpPr/>
          <p:nvPr/>
        </p:nvCxnSpPr>
        <p:spPr>
          <a:xfrm>
            <a:off x="4102607" y="5490972"/>
            <a:ext cx="292609" cy="0"/>
          </a:xfrm>
          <a:prstGeom prst="line">
            <a:avLst/>
          </a:prstGeom>
          <a:ln w="24130">
            <a:solidFill>
              <a:srgbClr val="008BB6"/>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395216" y="5102352"/>
            <a:ext cx="3325368" cy="777240"/>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5212080"/>
            <a:ext cx="3087624" cy="612647"/>
          </a:xfrm>
          <a:prstGeom prst="rect">
            <a:avLst/>
          </a:prstGeom>
          <a:noFill/>
        </p:spPr>
        <p:txBody>
          <a:bodyPr wrap="square" lIns="27432" rIns="27432" tIns="18288" bIns="0">
            <a:spAutoFit/>
          </a:bodyPr>
          <a:lstStyle/>
          <a:p>
            <a:pPr>
              <a:spcAft>
                <a:spcPts val="800"/>
              </a:spcAft>
              <a:defRPr sz="1700" b="1">
                <a:solidFill>
                  <a:srgbClr val="183949"/>
                </a:solidFill>
                <a:latin typeface="DejaVu Sans"/>
              </a:defRPr>
            </a:pPr>
            <a:r>
              <a:t>VM → Block</a:t>
            </a:r>
          </a:p>
        </p:txBody>
      </p:sp>
      <p:cxnSp>
        <p:nvCxnSpPr>
          <p:cNvPr id="15" name="Connector 14"/>
          <p:cNvCxnSpPr/>
          <p:nvPr/>
        </p:nvCxnSpPr>
        <p:spPr>
          <a:xfrm>
            <a:off x="7720584" y="5490972"/>
            <a:ext cx="292608" cy="0"/>
          </a:xfrm>
          <a:prstGeom prst="line">
            <a:avLst/>
          </a:prstGeom>
          <a:ln w="24130">
            <a:solidFill>
              <a:srgbClr val="008BB6"/>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8013192" y="5102352"/>
            <a:ext cx="3325368" cy="777240"/>
          </a:xfrm>
          <a:prstGeom prst="rect">
            <a:avLst/>
          </a:prstGeom>
          <a:solidFill>
            <a:srgbClr val="E8F7FA"/>
          </a:solidFill>
          <a:ln>
            <a:solidFill>
              <a:srgbClr val="008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2064" y="5212080"/>
            <a:ext cx="3087624" cy="612647"/>
          </a:xfrm>
          <a:prstGeom prst="rect">
            <a:avLst/>
          </a:prstGeom>
          <a:noFill/>
        </p:spPr>
        <p:txBody>
          <a:bodyPr wrap="square" lIns="27432" rIns="27432" tIns="18288" bIns="0">
            <a:spAutoFit/>
          </a:bodyPr>
          <a:lstStyle/>
          <a:p>
            <a:pPr>
              <a:spcAft>
                <a:spcPts val="800"/>
              </a:spcAft>
              <a:defRPr sz="1700" b="1">
                <a:solidFill>
                  <a:srgbClr val="183949"/>
                </a:solidFill>
                <a:latin typeface="DejaVu Sans"/>
              </a:defRPr>
            </a:pPr>
            <a:r>
              <a:t>Papka → File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88720" cy="731520"/>
          </a:xfrm>
          <a:prstGeom prst="rect">
            <a:avLst/>
          </a:prstGeom>
          <a:noFill/>
        </p:spPr>
        <p:txBody>
          <a:bodyPr wrap="square" lIns="27432" rIns="27432" tIns="18288" bIns="0">
            <a:spAutoFit/>
          </a:bodyPr>
          <a:lstStyle/>
          <a:p>
            <a:pPr>
              <a:spcAft>
                <a:spcPts val="800"/>
              </a:spcAft>
              <a:defRPr sz="3600" b="1">
                <a:solidFill>
                  <a:srgbClr val="008BB6"/>
                </a:solidFill>
                <a:latin typeface="DejaVu Sans"/>
              </a:defRPr>
            </a:pPr>
            <a:r>
              <a:t>11</a:t>
            </a:r>
          </a:p>
        </p:txBody>
      </p:sp>
      <p:cxnSp>
        <p:nvCxnSpPr>
          <p:cNvPr id="3" name="Connector 2"/>
          <p:cNvCxnSpPr/>
          <p:nvPr/>
        </p:nvCxnSpPr>
        <p:spPr>
          <a:xfrm>
            <a:off x="1828800" y="475488"/>
            <a:ext cx="9784080" cy="0"/>
          </a:xfrm>
          <a:prstGeom prst="line">
            <a:avLst/>
          </a:prstGeom>
          <a:ln w="12700">
            <a:solidFill>
              <a:srgbClr val="008B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874519" y="621792"/>
            <a:ext cx="9646920" cy="960120"/>
          </a:xfrm>
          <a:prstGeom prst="rect">
            <a:avLst/>
          </a:prstGeom>
          <a:noFill/>
        </p:spPr>
        <p:txBody>
          <a:bodyPr wrap="square" lIns="27432" rIns="27432" tIns="18288" bIns="0">
            <a:spAutoFit/>
          </a:bodyPr>
          <a:lstStyle/>
          <a:p>
            <a:pPr>
              <a:spcAft>
                <a:spcPts val="800"/>
              </a:spcAft>
              <a:defRPr sz="2800" b="1">
                <a:solidFill>
                  <a:srgbClr val="183949"/>
                </a:solidFill>
                <a:latin typeface="DejaVu Sans"/>
              </a:defRPr>
            </a:pPr>
            <a:r>
              <a:t>Ko‘p uchraydigan xato tushunchalar</a:t>
            </a:r>
          </a:p>
        </p:txBody>
      </p:sp>
      <p:sp>
        <p:nvSpPr>
          <p:cNvPr id="5" name="TextBox 4"/>
          <p:cNvSpPr txBox="1"/>
          <p:nvPr/>
        </p:nvSpPr>
        <p:spPr>
          <a:xfrm>
            <a:off x="594360" y="1737360"/>
            <a:ext cx="10789920" cy="384048"/>
          </a:xfrm>
          <a:prstGeom prst="rect">
            <a:avLst/>
          </a:prstGeom>
          <a:noFill/>
        </p:spPr>
        <p:txBody>
          <a:bodyPr wrap="square" lIns="27432" rIns="27432" tIns="18288" bIns="0">
            <a:spAutoFit/>
          </a:bodyPr>
          <a:lstStyle/>
          <a:p>
            <a:pPr>
              <a:spcAft>
                <a:spcPts val="800"/>
              </a:spcAft>
              <a:defRPr sz="1500" b="0">
                <a:solidFill>
                  <a:srgbClr val="008BB6"/>
                </a:solidFill>
                <a:latin typeface="DejaVu Sans"/>
              </a:defRPr>
            </a:pPr>
            <a:r>
              <a:t>To‘g‘ri talqin xizmatni ongli tanlashga yordam beradi</a:t>
            </a:r>
          </a:p>
        </p:txBody>
      </p:sp>
      <p:sp>
        <p:nvSpPr>
          <p:cNvPr id="6" name="TextBox 5"/>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949"/>
                </a:solidFill>
                <a:latin typeface="DejaVu Sans"/>
              </a:defRPr>
            </a:pPr>
            <a:r>
              <a:t>BTST206   /   M08   /   2027–2028</a:t>
            </a:r>
          </a:p>
        </p:txBody>
      </p:sp>
      <p:sp>
        <p:nvSpPr>
          <p:cNvPr id="7" name="TextBox 6"/>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11 / 13</a:t>
            </a:r>
          </a:p>
        </p:txBody>
      </p:sp>
      <p:sp>
        <p:nvSpPr>
          <p:cNvPr id="8" name="Rectangle 7"/>
          <p:cNvSpPr/>
          <p:nvPr/>
        </p:nvSpPr>
        <p:spPr>
          <a:xfrm>
            <a:off x="758952" y="2514600"/>
            <a:ext cx="10625328" cy="941832"/>
          </a:xfrm>
          <a:prstGeom prst="rect">
            <a:avLst/>
          </a:prstGeom>
          <a:solidFill>
            <a:srgbClr val="E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2688336"/>
            <a:ext cx="548640" cy="502920"/>
          </a:xfrm>
          <a:prstGeom prst="rect">
            <a:avLst/>
          </a:prstGeom>
          <a:noFill/>
        </p:spPr>
        <p:txBody>
          <a:bodyPr wrap="square" lIns="27432" rIns="27432" tIns="18288" bIns="0">
            <a:spAutoFit/>
          </a:bodyPr>
          <a:lstStyle/>
          <a:p>
            <a:pPr>
              <a:spcAft>
                <a:spcPts val="800"/>
              </a:spcAft>
              <a:defRPr sz="2100" b="1">
                <a:solidFill>
                  <a:srgbClr val="008BB6"/>
                </a:solidFill>
                <a:latin typeface="DejaVu Sans"/>
              </a:defRPr>
            </a:pPr>
            <a:r>
              <a:t>01</a:t>
            </a:r>
          </a:p>
        </p:txBody>
      </p:sp>
      <p:sp>
        <p:nvSpPr>
          <p:cNvPr id="10" name="TextBox 9"/>
          <p:cNvSpPr txBox="1"/>
          <p:nvPr/>
        </p:nvSpPr>
        <p:spPr>
          <a:xfrm>
            <a:off x="1700784" y="2660904"/>
            <a:ext cx="9500616" cy="704088"/>
          </a:xfrm>
          <a:prstGeom prst="rect">
            <a:avLst/>
          </a:prstGeom>
          <a:noFill/>
        </p:spPr>
        <p:txBody>
          <a:bodyPr wrap="square" lIns="27432" rIns="27432" tIns="18288" bIns="0">
            <a:spAutoFit/>
          </a:bodyPr>
          <a:lstStyle/>
          <a:p>
            <a:pPr>
              <a:spcAft>
                <a:spcPts val="800"/>
              </a:spcAft>
              <a:defRPr sz="2100" b="0">
                <a:solidFill>
                  <a:srgbClr val="183949"/>
                </a:solidFill>
                <a:latin typeface="DejaVu Sans"/>
              </a:defRPr>
            </a:pPr>
            <a:r>
              <a:t>Replikatsiya xato o‘chirishni ham tarqatishi mumkin; mavjudlik va durability bir xil ko‘rsatkich emas.</a:t>
            </a:r>
          </a:p>
        </p:txBody>
      </p:sp>
      <p:sp>
        <p:nvSpPr>
          <p:cNvPr id="11" name="Rectangle 10"/>
          <p:cNvSpPr/>
          <p:nvPr/>
        </p:nvSpPr>
        <p:spPr>
          <a:xfrm>
            <a:off x="758952" y="3584448"/>
            <a:ext cx="10625328" cy="941832"/>
          </a:xfrm>
          <a:prstGeom prst="rect">
            <a:avLst/>
          </a:prstGeom>
          <a:solidFill>
            <a:srgbClr val="E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758184"/>
            <a:ext cx="548640" cy="502920"/>
          </a:xfrm>
          <a:prstGeom prst="rect">
            <a:avLst/>
          </a:prstGeom>
          <a:noFill/>
        </p:spPr>
        <p:txBody>
          <a:bodyPr wrap="square" lIns="27432" rIns="27432" tIns="18288" bIns="0">
            <a:spAutoFit/>
          </a:bodyPr>
          <a:lstStyle/>
          <a:p>
            <a:pPr>
              <a:spcAft>
                <a:spcPts val="800"/>
              </a:spcAft>
              <a:defRPr sz="2100" b="1">
                <a:solidFill>
                  <a:srgbClr val="008BB6"/>
                </a:solidFill>
                <a:latin typeface="DejaVu Sans"/>
              </a:defRPr>
            </a:pPr>
            <a:r>
              <a:t>02</a:t>
            </a:r>
          </a:p>
        </p:txBody>
      </p:sp>
      <p:sp>
        <p:nvSpPr>
          <p:cNvPr id="13" name="TextBox 12"/>
          <p:cNvSpPr txBox="1"/>
          <p:nvPr/>
        </p:nvSpPr>
        <p:spPr>
          <a:xfrm>
            <a:off x="1700784" y="3730752"/>
            <a:ext cx="9500616" cy="704088"/>
          </a:xfrm>
          <a:prstGeom prst="rect">
            <a:avLst/>
          </a:prstGeom>
          <a:noFill/>
        </p:spPr>
        <p:txBody>
          <a:bodyPr wrap="square" lIns="27432" rIns="27432" tIns="18288" bIns="0">
            <a:spAutoFit/>
          </a:bodyPr>
          <a:lstStyle/>
          <a:p>
            <a:pPr>
              <a:spcAft>
                <a:spcPts val="800"/>
              </a:spcAft>
              <a:defRPr sz="2100" b="0">
                <a:solidFill>
                  <a:srgbClr val="183949"/>
                </a:solidFill>
                <a:latin typeface="DejaVu Sans"/>
              </a:defRPr>
            </a:pPr>
            <a:r>
              <a:t>Zaxira fayli borligi uning ishlashini isbotlamaydi: undan tiklab ko‘rish zarur.</a:t>
            </a:r>
          </a:p>
        </p:txBody>
      </p:sp>
      <p:sp>
        <p:nvSpPr>
          <p:cNvPr id="14" name="Rectangle 13"/>
          <p:cNvSpPr/>
          <p:nvPr/>
        </p:nvSpPr>
        <p:spPr>
          <a:xfrm>
            <a:off x="758952" y="4654296"/>
            <a:ext cx="10625328" cy="941832"/>
          </a:xfrm>
          <a:prstGeom prst="rect">
            <a:avLst/>
          </a:prstGeom>
          <a:solidFill>
            <a:srgbClr val="E8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 y="4828032"/>
            <a:ext cx="548640" cy="502920"/>
          </a:xfrm>
          <a:prstGeom prst="rect">
            <a:avLst/>
          </a:prstGeom>
          <a:noFill/>
        </p:spPr>
        <p:txBody>
          <a:bodyPr wrap="square" lIns="27432" rIns="27432" tIns="18288" bIns="0">
            <a:spAutoFit/>
          </a:bodyPr>
          <a:lstStyle/>
          <a:p>
            <a:pPr>
              <a:spcAft>
                <a:spcPts val="800"/>
              </a:spcAft>
              <a:defRPr sz="2100" b="1">
                <a:solidFill>
                  <a:srgbClr val="008BB6"/>
                </a:solidFill>
                <a:latin typeface="DejaVu Sans"/>
              </a:defRPr>
            </a:pPr>
            <a:r>
              <a:t>03</a:t>
            </a:r>
          </a:p>
        </p:txBody>
      </p:sp>
      <p:sp>
        <p:nvSpPr>
          <p:cNvPr id="16" name="TextBox 15"/>
          <p:cNvSpPr txBox="1"/>
          <p:nvPr/>
        </p:nvSpPr>
        <p:spPr>
          <a:xfrm>
            <a:off x="1700784" y="4800600"/>
            <a:ext cx="9500616" cy="704088"/>
          </a:xfrm>
          <a:prstGeom prst="rect">
            <a:avLst/>
          </a:prstGeom>
          <a:noFill/>
        </p:spPr>
        <p:txBody>
          <a:bodyPr wrap="square" lIns="27432" rIns="27432" tIns="18288" bIns="0">
            <a:spAutoFit/>
          </a:bodyPr>
          <a:lstStyle/>
          <a:p>
            <a:pPr>
              <a:spcAft>
                <a:spcPts val="800"/>
              </a:spcAft>
              <a:defRPr sz="2100" b="0">
                <a:solidFill>
                  <a:srgbClr val="183949"/>
                </a:solidFill>
                <a:latin typeface="DejaVu Sans"/>
              </a:defRPr>
            </a:pPr>
            <a:r>
              <a:t>Eng arzon GB narxi umumiy xarajat eng pastligini bildirmaydi; olish, so‘rov va tashqi trafik ham hisoblanadi.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88720" cy="731520"/>
          </a:xfrm>
          <a:prstGeom prst="rect">
            <a:avLst/>
          </a:prstGeom>
          <a:noFill/>
        </p:spPr>
        <p:txBody>
          <a:bodyPr wrap="square" lIns="27432" rIns="27432" tIns="18288" bIns="0">
            <a:spAutoFit/>
          </a:bodyPr>
          <a:lstStyle/>
          <a:p>
            <a:pPr>
              <a:spcAft>
                <a:spcPts val="800"/>
              </a:spcAft>
              <a:defRPr sz="3600" b="1">
                <a:solidFill>
                  <a:srgbClr val="008BB6"/>
                </a:solidFill>
                <a:latin typeface="DejaVu Sans"/>
              </a:defRPr>
            </a:pPr>
            <a:r>
              <a:t>12</a:t>
            </a:r>
          </a:p>
        </p:txBody>
      </p:sp>
      <p:cxnSp>
        <p:nvCxnSpPr>
          <p:cNvPr id="3" name="Connector 2"/>
          <p:cNvCxnSpPr/>
          <p:nvPr/>
        </p:nvCxnSpPr>
        <p:spPr>
          <a:xfrm>
            <a:off x="1828800" y="475488"/>
            <a:ext cx="9784080" cy="0"/>
          </a:xfrm>
          <a:prstGeom prst="line">
            <a:avLst/>
          </a:prstGeom>
          <a:ln w="12700">
            <a:solidFill>
              <a:srgbClr val="008BB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874519" y="621792"/>
            <a:ext cx="9646920" cy="960120"/>
          </a:xfrm>
          <a:prstGeom prst="rect">
            <a:avLst/>
          </a:prstGeom>
          <a:noFill/>
        </p:spPr>
        <p:txBody>
          <a:bodyPr wrap="square" lIns="27432" rIns="27432" tIns="18288" bIns="0">
            <a:spAutoFit/>
          </a:bodyPr>
          <a:lstStyle/>
          <a:p>
            <a:pPr>
              <a:spcAft>
                <a:spcPts val="800"/>
              </a:spcAft>
              <a:defRPr sz="2800" b="1">
                <a:solidFill>
                  <a:srgbClr val="183949"/>
                </a:solidFill>
                <a:latin typeface="DejaVu Sans"/>
              </a:defRPr>
            </a:pPr>
            <a:r>
              <a:t>Asosiy xulosalar</a:t>
            </a:r>
          </a:p>
        </p:txBody>
      </p:sp>
      <p:sp>
        <p:nvSpPr>
          <p:cNvPr id="5" name="TextBox 4"/>
          <p:cNvSpPr txBox="1"/>
          <p:nvPr/>
        </p:nvSpPr>
        <p:spPr>
          <a:xfrm>
            <a:off x="594360" y="1737360"/>
            <a:ext cx="10789920" cy="384048"/>
          </a:xfrm>
          <a:prstGeom prst="rect">
            <a:avLst/>
          </a:prstGeom>
          <a:noFill/>
        </p:spPr>
        <p:txBody>
          <a:bodyPr wrap="square" lIns="27432" rIns="27432" tIns="18288" bIns="0">
            <a:spAutoFit/>
          </a:bodyPr>
          <a:lstStyle/>
          <a:p>
            <a:pPr>
              <a:spcAft>
                <a:spcPts val="800"/>
              </a:spcAft>
              <a:defRPr sz="1500" b="0">
                <a:solidFill>
                  <a:srgbClr val="008BB6"/>
                </a:solidFill>
                <a:latin typeface="DejaVu Sans"/>
              </a:defRPr>
            </a:pPr>
            <a:r>
              <a:t>Yodda qoladigan olti fikr</a:t>
            </a:r>
          </a:p>
        </p:txBody>
      </p:sp>
      <p:sp>
        <p:nvSpPr>
          <p:cNvPr id="6" name="TextBox 5"/>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949"/>
                </a:solidFill>
                <a:latin typeface="DejaVu Sans"/>
              </a:defRPr>
            </a:pPr>
            <a:r>
              <a:t>BTST206   /   M08   /   2027–2028</a:t>
            </a:r>
          </a:p>
        </p:txBody>
      </p:sp>
      <p:sp>
        <p:nvSpPr>
          <p:cNvPr id="7" name="TextBox 6"/>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12 / 13</a:t>
            </a:r>
          </a:p>
        </p:txBody>
      </p:sp>
      <p:sp>
        <p:nvSpPr>
          <p:cNvPr id="8" name="Oval 7"/>
          <p:cNvSpPr/>
          <p:nvPr/>
        </p:nvSpPr>
        <p:spPr>
          <a:xfrm>
            <a:off x="822959" y="2569464"/>
            <a:ext cx="155448" cy="155448"/>
          </a:xfrm>
          <a:prstGeom prst="ellipse">
            <a:avLst/>
          </a:prstGeom>
          <a:solidFill>
            <a:srgbClr val="F0B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2496312"/>
            <a:ext cx="10168128" cy="475488"/>
          </a:xfrm>
          <a:prstGeom prst="rect">
            <a:avLst/>
          </a:prstGeom>
          <a:noFill/>
        </p:spPr>
        <p:txBody>
          <a:bodyPr wrap="square" lIns="27432" rIns="27432" tIns="18288" bIns="0">
            <a:spAutoFit/>
          </a:bodyPr>
          <a:lstStyle/>
          <a:p>
            <a:pPr>
              <a:spcAft>
                <a:spcPts val="800"/>
              </a:spcAft>
              <a:defRPr sz="2200" b="1">
                <a:solidFill>
                  <a:srgbClr val="183949"/>
                </a:solidFill>
                <a:latin typeface="DejaVu Sans"/>
              </a:defRPr>
            </a:pPr>
            <a:r>
              <a:t>Object — obyekt va HTTP API.</a:t>
            </a:r>
          </a:p>
        </p:txBody>
      </p:sp>
      <p:sp>
        <p:nvSpPr>
          <p:cNvPr id="10" name="Oval 9"/>
          <p:cNvSpPr/>
          <p:nvPr/>
        </p:nvSpPr>
        <p:spPr>
          <a:xfrm>
            <a:off x="822959" y="3108960"/>
            <a:ext cx="155448" cy="155448"/>
          </a:xfrm>
          <a:prstGeom prst="ellipse">
            <a:avLst/>
          </a:prstGeom>
          <a:solidFill>
            <a:srgbClr val="F0B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0432" y="3035808"/>
            <a:ext cx="10168128" cy="475488"/>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Block — virtual server diski.</a:t>
            </a:r>
          </a:p>
        </p:txBody>
      </p:sp>
      <p:sp>
        <p:nvSpPr>
          <p:cNvPr id="12" name="Oval 11"/>
          <p:cNvSpPr/>
          <p:nvPr/>
        </p:nvSpPr>
        <p:spPr>
          <a:xfrm>
            <a:off x="822959" y="3648456"/>
            <a:ext cx="155448" cy="155448"/>
          </a:xfrm>
          <a:prstGeom prst="ellipse">
            <a:avLst/>
          </a:prstGeom>
          <a:solidFill>
            <a:srgbClr val="F0B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0432" y="3575304"/>
            <a:ext cx="10168128" cy="475488"/>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File — umumiy papka va fayl tizimi.</a:t>
            </a:r>
          </a:p>
        </p:txBody>
      </p:sp>
      <p:sp>
        <p:nvSpPr>
          <p:cNvPr id="14" name="Oval 13"/>
          <p:cNvSpPr/>
          <p:nvPr/>
        </p:nvSpPr>
        <p:spPr>
          <a:xfrm>
            <a:off x="822959" y="4187952"/>
            <a:ext cx="155448" cy="155448"/>
          </a:xfrm>
          <a:prstGeom prst="ellipse">
            <a:avLst/>
          </a:prstGeom>
          <a:solidFill>
            <a:srgbClr val="F0B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 y="4114800"/>
            <a:ext cx="10168128" cy="475488"/>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Replika va backup turli vazifalarni bajaradi.</a:t>
            </a:r>
          </a:p>
        </p:txBody>
      </p:sp>
      <p:sp>
        <p:nvSpPr>
          <p:cNvPr id="16" name="Oval 15"/>
          <p:cNvSpPr/>
          <p:nvPr/>
        </p:nvSpPr>
        <p:spPr>
          <a:xfrm>
            <a:off x="822959" y="4727448"/>
            <a:ext cx="155448" cy="155448"/>
          </a:xfrm>
          <a:prstGeom prst="ellipse">
            <a:avLst/>
          </a:prstGeom>
          <a:solidFill>
            <a:srgbClr val="F0B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0432" y="4654296"/>
            <a:ext cx="10168128" cy="475488"/>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RPO va RTO tiklash maqsadini belgilaydi.</a:t>
            </a:r>
          </a:p>
        </p:txBody>
      </p:sp>
      <p:sp>
        <p:nvSpPr>
          <p:cNvPr id="18" name="Oval 17"/>
          <p:cNvSpPr/>
          <p:nvPr/>
        </p:nvSpPr>
        <p:spPr>
          <a:xfrm>
            <a:off x="822959" y="5266944"/>
            <a:ext cx="155448" cy="155448"/>
          </a:xfrm>
          <a:prstGeom prst="ellipse">
            <a:avLst/>
          </a:prstGeom>
          <a:solidFill>
            <a:srgbClr val="F0B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70432" y="5193792"/>
            <a:ext cx="10168128" cy="475488"/>
          </a:xfrm>
          <a:prstGeom prst="rect">
            <a:avLst/>
          </a:prstGeom>
          <a:noFill/>
        </p:spPr>
        <p:txBody>
          <a:bodyPr wrap="square" lIns="27432" rIns="27432" tIns="18288" bIns="0">
            <a:spAutoFit/>
          </a:bodyPr>
          <a:lstStyle/>
          <a:p>
            <a:pPr>
              <a:spcAft>
                <a:spcPts val="800"/>
              </a:spcAft>
              <a:defRPr sz="2200" b="0">
                <a:solidFill>
                  <a:srgbClr val="183949"/>
                </a:solidFill>
                <a:latin typeface="DejaVu Sans"/>
              </a:defRPr>
            </a:pPr>
            <a:r>
              <a:t>Umumiy narxga trafik va olish ham kiradi.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548640"/>
            <a:ext cx="109728" cy="640080"/>
          </a:xfrm>
          <a:prstGeom prst="rect">
            <a:avLst/>
          </a:prstGeom>
          <a:solidFill>
            <a:srgbClr val="008B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789920" cy="777240"/>
          </a:xfrm>
          <a:prstGeom prst="rect">
            <a:avLst/>
          </a:prstGeom>
          <a:noFill/>
        </p:spPr>
        <p:txBody>
          <a:bodyPr wrap="square" lIns="27432" rIns="27432" tIns="18288" bIns="0">
            <a:spAutoFit/>
          </a:bodyPr>
          <a:lstStyle/>
          <a:p>
            <a:pPr>
              <a:spcAft>
                <a:spcPts val="800"/>
              </a:spcAft>
              <a:defRPr sz="2900" b="1">
                <a:solidFill>
                  <a:srgbClr val="183949"/>
                </a:solidFill>
                <a:latin typeface="DejaVu Sans"/>
              </a:defRPr>
            </a:pPr>
            <a:r>
              <a:t>Manbalar va rasm manbasi</a:t>
            </a:r>
          </a:p>
        </p:txBody>
      </p:sp>
      <p:sp>
        <p:nvSpPr>
          <p:cNvPr id="4" name="TextBox 3"/>
          <p:cNvSpPr txBox="1"/>
          <p:nvPr/>
        </p:nvSpPr>
        <p:spPr>
          <a:xfrm>
            <a:off x="731520" y="1600200"/>
            <a:ext cx="10789920" cy="594360"/>
          </a:xfrm>
          <a:prstGeom prst="rect">
            <a:avLst/>
          </a:prstGeom>
          <a:noFill/>
        </p:spPr>
        <p:txBody>
          <a:bodyPr wrap="square" lIns="27432" rIns="27432" tIns="18288" bIns="0">
            <a:spAutoFit/>
          </a:bodyPr>
          <a:lstStyle/>
          <a:p>
            <a:pPr>
              <a:spcAft>
                <a:spcPts val="800"/>
              </a:spcAft>
              <a:defRPr sz="1700" b="0">
                <a:solidFill>
                  <a:srgbClr val="183949"/>
                </a:solidFill>
                <a:latin typeface="DejaVu Sans"/>
              </a:defRPr>
            </a:pPr>
            <a:r>
              <a:t>Asos: BTST206, 2027–2028 sillabusi. Rasmiy texnik hujjatlar:</a:t>
            </a:r>
          </a:p>
        </p:txBody>
      </p:sp>
      <p:sp>
        <p:nvSpPr>
          <p:cNvPr id="5" name="TextBox 4"/>
          <p:cNvSpPr txBox="1"/>
          <p:nvPr/>
        </p:nvSpPr>
        <p:spPr>
          <a:xfrm>
            <a:off x="777240" y="2286000"/>
            <a:ext cx="10652760" cy="365760"/>
          </a:xfrm>
          <a:prstGeom prst="rect">
            <a:avLst/>
          </a:prstGeom>
          <a:noFill/>
        </p:spPr>
        <p:txBody>
          <a:bodyPr wrap="square" lIns="27432" rIns="27432" tIns="18288" bIns="0">
            <a:spAutoFit/>
          </a:bodyPr>
          <a:lstStyle/>
          <a:p>
            <a:pPr>
              <a:spcAft>
                <a:spcPts val="800"/>
              </a:spcAft>
              <a:defRPr sz="1300" b="0">
                <a:solidFill>
                  <a:srgbClr val="008BB6"/>
                </a:solidFill>
                <a:latin typeface="DejaVu Sans"/>
              </a:defRPr>
            </a:pPr>
            <a:r>
              <a:t>https://docs.aws.amazon.com/AmazonS3/latest/userguide/</a:t>
            </a:r>
          </a:p>
        </p:txBody>
      </p:sp>
      <p:sp>
        <p:nvSpPr>
          <p:cNvPr id="6" name="TextBox 5"/>
          <p:cNvSpPr txBox="1"/>
          <p:nvPr/>
        </p:nvSpPr>
        <p:spPr>
          <a:xfrm>
            <a:off x="777240" y="2715768"/>
            <a:ext cx="10652760" cy="365760"/>
          </a:xfrm>
          <a:prstGeom prst="rect">
            <a:avLst/>
          </a:prstGeom>
          <a:noFill/>
        </p:spPr>
        <p:txBody>
          <a:bodyPr wrap="square" lIns="27432" rIns="27432" tIns="18288" bIns="0">
            <a:spAutoFit/>
          </a:bodyPr>
          <a:lstStyle/>
          <a:p>
            <a:pPr>
              <a:spcAft>
                <a:spcPts val="800"/>
              </a:spcAft>
              <a:defRPr sz="1300" b="0">
                <a:solidFill>
                  <a:srgbClr val="008BB6"/>
                </a:solidFill>
                <a:latin typeface="DejaVu Sans"/>
              </a:defRPr>
            </a:pPr>
            <a:r>
              <a:t>https://learn.microsoft.com/azure/storage/common/storage-introduction</a:t>
            </a:r>
          </a:p>
        </p:txBody>
      </p:sp>
      <p:sp>
        <p:nvSpPr>
          <p:cNvPr id="7" name="TextBox 6"/>
          <p:cNvSpPr txBox="1"/>
          <p:nvPr/>
        </p:nvSpPr>
        <p:spPr>
          <a:xfrm>
            <a:off x="777240" y="3145536"/>
            <a:ext cx="10652760" cy="365760"/>
          </a:xfrm>
          <a:prstGeom prst="rect">
            <a:avLst/>
          </a:prstGeom>
          <a:noFill/>
        </p:spPr>
        <p:txBody>
          <a:bodyPr wrap="square" lIns="27432" rIns="27432" tIns="18288" bIns="0">
            <a:spAutoFit/>
          </a:bodyPr>
          <a:lstStyle/>
          <a:p>
            <a:pPr>
              <a:spcAft>
                <a:spcPts val="800"/>
              </a:spcAft>
              <a:defRPr sz="1300" b="0">
                <a:solidFill>
                  <a:srgbClr val="008BB6"/>
                </a:solidFill>
                <a:latin typeface="DejaVu Sans"/>
              </a:defRPr>
            </a:pPr>
            <a:r>
              <a:t>https://cloud.google.com/storage/docs/introduction</a:t>
            </a:r>
          </a:p>
        </p:txBody>
      </p:sp>
      <p:sp>
        <p:nvSpPr>
          <p:cNvPr id="8" name="TextBox 7"/>
          <p:cNvSpPr txBox="1"/>
          <p:nvPr/>
        </p:nvSpPr>
        <p:spPr>
          <a:xfrm>
            <a:off x="777240" y="4251960"/>
            <a:ext cx="10652760" cy="365760"/>
          </a:xfrm>
          <a:prstGeom prst="rect">
            <a:avLst/>
          </a:prstGeom>
          <a:noFill/>
        </p:spPr>
        <p:txBody>
          <a:bodyPr wrap="square" lIns="27432" rIns="27432" tIns="18288" bIns="0">
            <a:spAutoFit/>
          </a:bodyPr>
          <a:lstStyle/>
          <a:p>
            <a:pPr>
              <a:spcAft>
                <a:spcPts val="800"/>
              </a:spcAft>
              <a:defRPr sz="1200" b="1">
                <a:solidFill>
                  <a:srgbClr val="008BB6"/>
                </a:solidFill>
                <a:latin typeface="DejaVu Sans"/>
              </a:defRPr>
            </a:pPr>
            <a:r>
              <a:t>INTERNET RASMI</a:t>
            </a:r>
          </a:p>
        </p:txBody>
      </p:sp>
      <p:sp>
        <p:nvSpPr>
          <p:cNvPr id="9" name="TextBox 8"/>
          <p:cNvSpPr txBox="1"/>
          <p:nvPr/>
        </p:nvSpPr>
        <p:spPr>
          <a:xfrm>
            <a:off x="777240" y="4663440"/>
            <a:ext cx="10652760" cy="576072"/>
          </a:xfrm>
          <a:prstGeom prst="rect">
            <a:avLst/>
          </a:prstGeom>
          <a:noFill/>
        </p:spPr>
        <p:txBody>
          <a:bodyPr wrap="square" lIns="27432" rIns="27432" tIns="18288" bIns="0">
            <a:spAutoFit/>
          </a:bodyPr>
          <a:lstStyle/>
          <a:p>
            <a:pPr>
              <a:spcAft>
                <a:spcPts val="800"/>
              </a:spcAft>
              <a:defRPr sz="1400" b="0">
                <a:solidFill>
                  <a:srgbClr val="183949"/>
                </a:solidFill>
                <a:latin typeface="DejaVu Sans"/>
              </a:defRPr>
            </a:pPr>
            <a:r>
              <a:t>Rook / CNCF official artwork</a:t>
            </a:r>
          </a:p>
        </p:txBody>
      </p:sp>
      <p:sp>
        <p:nvSpPr>
          <p:cNvPr id="10" name="TextBox 9"/>
          <p:cNvSpPr txBox="1"/>
          <p:nvPr/>
        </p:nvSpPr>
        <p:spPr>
          <a:xfrm>
            <a:off x="777240" y="5285232"/>
            <a:ext cx="10652760" cy="64008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https://raw.githubusercontent.com/cncf/artwork/main/projects/rook/icon/color/rook-icon-color.png</a:t>
            </a:r>
          </a:p>
        </p:txBody>
      </p:sp>
      <p:sp>
        <p:nvSpPr>
          <p:cNvPr id="11" name="TextBox 10"/>
          <p:cNvSpPr txBox="1"/>
          <p:nvPr/>
        </p:nvSpPr>
        <p:spPr>
          <a:xfrm>
            <a:off x="777240" y="6035040"/>
            <a:ext cx="10652760" cy="320040"/>
          </a:xfrm>
          <a:prstGeom prst="rect">
            <a:avLst/>
          </a:prstGeom>
          <a:noFill/>
        </p:spPr>
        <p:txBody>
          <a:bodyPr wrap="square" lIns="27432" rIns="27432" tIns="18288" bIns="0">
            <a:spAutoFit/>
          </a:bodyPr>
          <a:lstStyle/>
          <a:p>
            <a:pPr>
              <a:spcAft>
                <a:spcPts val="800"/>
              </a:spcAft>
              <a:defRPr sz="1100" b="0">
                <a:solidFill>
                  <a:srgbClr val="183949"/>
                </a:solidFill>
                <a:latin typeface="DejaVu Sans"/>
              </a:defRPr>
            </a:pPr>
            <a:r>
              <a:t>Barcha rasm manbalari va foydalanish izohlari: ASSET_SOURCES.md</a:t>
            </a:r>
          </a:p>
        </p:txBody>
      </p:sp>
      <p:sp>
        <p:nvSpPr>
          <p:cNvPr id="12" name="TextBox 11"/>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83949"/>
                </a:solidFill>
                <a:latin typeface="DejaVu Sans"/>
              </a:defRPr>
            </a:pPr>
            <a:r>
              <a:t>BTST206   /   M08   /   2027–2028</a:t>
            </a:r>
          </a:p>
        </p:txBody>
      </p:sp>
      <p:sp>
        <p:nvSpPr>
          <p:cNvPr id="13" name="TextBox 12"/>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83949"/>
                </a:solidFill>
                <a:latin typeface="DejaVu Sans"/>
              </a:defRPr>
            </a:pPr>
            <a: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