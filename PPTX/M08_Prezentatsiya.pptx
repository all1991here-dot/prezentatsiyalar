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Assalomu alaykum, aziz talabalar. Bugungi ma’ruzamiz «Bulutli ma’lumotlarni saqlash texnologiyalari» mavzusiga bag‘ishlanadi. Mavzuni murakkab atamalardan emas, kundalik ehtiyojdan boshlaymiz. Universitet ma’ruza videolari, virtual server diski va umumiy ishchi hujjatlarni saqlaydi. Ularning kirish usuli va talabi turlicha bo‘lgani uchun bir xil saqlash xizmati har biriga mos kelmaydi.</a:t>
            </a:r>
          </a:p>
          <a:p/>
          <a:p>
            <a:r>
              <a:t>Biz avval asosiy tushunchalarni ajratamiz, keyin ularning ishlash tartibini sxemada ko‘ramiz. Maqsad xizmat nomlarini yodlash emas, ularning qaysi vazifani bajarishini va qayerda cheklanishini tushunishdir. Inglizcha atama uchraganda uning sodda o‘zbekcha ma’nosi bilan bog‘laymiz. Slayddagi qisqa jumlalar tayanch fikrlar bo‘lib, ularning batafsil izohi ushbu ma’ruza matnida beriladi.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Ma’ruza oltita asosiy bo‘limdan iborat. 1-bo‘limda object storage tushuntiriladi. 2-bo‘limda block storage tushuntiriladi. 3-bo‘limda file storage tushuntiriladi. 4-bo‘limda replikatsiya va durability tushuntiriladi. 5-bo‘limda zaxiralash, rpo va rto tushuntiriladi. 6-bo‘limda hayot sikli va narx tushuntiriladi.</a:t>
            </a:r>
          </a:p>
          <a:p/>
          <a:p>
            <a:r>
              <a:t>Har bir bo‘limda bir xil fikrlash tartibidan foydalanamiz: tushuncha nimani anglatadi, qanday ishlaydi, universitet portalida qayerda ko‘rinadi va qaysi holatda ehtiyot bo‘lish kerak. Shundan keyin umumiy sxema barcha qismlarni bir-biriga bog‘laydi. Oxirida o‘qituvchi bayon qiladigan misol, chalkash tushunchalar va yakuniy xulosalar beriladi. Bu ketma-ketlik amaliy topshiriq emas, videodarsning tushuntirish rejasidir.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 Storage ma’lumotni obyekt sifatida saqlaydi. Obyekt mazmun, kalit va metadata dan iborat bo‘lishi mumkin. Odatda HTTP API orqali o‘qiladi va yoziladi. Video, rasm, arxiv va zaxiralar uchun juda qulay.</a:t>
            </a:r>
          </a:p>
          <a:p/>
          <a:p>
            <a:r>
              <a:t>Ilova bucket ichidagi kalit orqali obyektga murojaat qiladi. Ko‘rinishda papka bo‘lishi mumkin, lekin odatiy fayl tizimidagi blokni joyida tahrirlash bilan bir xil model emas.</a:t>
            </a:r>
          </a:p>
          <a:p/>
          <a:p>
            <a:r>
              <a:t>Universitet misolida buni quyidagicha tasavvur qilamiz. Ma’ruza videosi videos/m01.mp4 kaliti bilan saqlanadi va ruxsat asosida talabalarga uzatiladi. Bu misolda texnik atama real vazifa bilan bog‘lanadi: resursning nomini emas, nima uchun tanlanganini tushunish muhim.</a:t>
            </a:r>
          </a:p>
          <a:p/>
          <a:p>
            <a:r>
              <a:t>E’tibor beradigan chegara ham bor. Bucket ni ommaviy ochish shart emas; maxfiy obyektlar cheklangan ruxsat bilan tarqatiladi.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Block Storage xom bloklar ko‘rinishidagi saqlashni beradi. Operatsion tizim uning ustida fayl tizimi yaratishi mumkin. Past kechikish va diskka to‘g‘ridan-to‘g‘ri kirish kerak bo‘ladigan ish yuklamalarida keng qo‘llanadi.</a:t>
            </a:r>
          </a:p>
          <a:p/>
          <a:p>
            <a:r>
              <a:t>Virtual disk serverga ulanadi. Ilova fayl tizimi yoki ma’lumotlar bazasi orqali bloklarga yozadi. IOPS, throughput va kechikish ish faoliyatini belgilaydi.</a:t>
            </a:r>
          </a:p>
          <a:p/>
          <a:p>
            <a:r>
              <a:t>Universitet misolida buni quyidagicha tasavvur qilamiz. Virtual serverning operatsion tizimi va ayrim baza yuklamalari blokli diskda joylashadi. Bu misolda texnik atama real vazifa bilan bog‘lanadi: resursning nomini emas, nima uchun tanlanganini tushunish muhim.</a:t>
            </a:r>
          </a:p>
          <a:p/>
          <a:p>
            <a:r>
              <a:t>E’tibor beradigan chegara ham bor. Disk hajmi katta bo‘lishi uning barcha turdagi yuklama uchun tez ekanini anglatmaydi.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File Storage papka va fayllar iyerarxiyasini taqdim etadi. NFS yoki SMB kabi protokollar orqali bir nechta tizim birgalikda foydalanishi mumkin. Eski ilovalar va umumiy ish papkalari uchun mos bo‘lishi mumkin.</a:t>
            </a:r>
          </a:p>
          <a:p/>
          <a:p>
            <a:r>
              <a:t>Mijoz fayl ulashuvini mount qiladi va odatdagi fayl yo‘li bilan ishlaydi. Parallel yozish, qulf va ruxsat xatti-harakati xizmatga qarab tekshiriladi.</a:t>
            </a:r>
          </a:p>
          <a:p/>
          <a:p>
            <a:r>
              <a:t>Universitet misolida buni quyidagicha tasavvur qilamiz. Bir nechta server hisobot shablonlarini umumiy tarmoq papkasidan o‘qiydi. Bu misolda texnik atama real vazifa bilan bog‘lanadi: resursning nomini emas, nima uchun tanlanganini tushunish muhim.</a:t>
            </a:r>
          </a:p>
          <a:p/>
          <a:p>
            <a:r>
              <a:t>E’tibor beradigan chegara ham bor. Har qanday ilovani umumiy papkaga ko‘chirish uni avtomatik taqsimlangan va barqaror qilmaydi.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Replikatsiya ma’lumotning bir nechta nusxasini ushlab turadi. Nusxalar disk, tugun, zona yoki hudud darajasida joylashtirilishi mumkin. Durability ma’lumotni yo‘qotmasdan saqlash, availability esa uni kerakli vaqtda olish imkoniyatidir.</a:t>
            </a:r>
          </a:p>
          <a:p/>
          <a:p>
            <a:r>
              <a:t>Yozuv belgilangan siyosat asosida ko‘chiriladi. Ba’zi modellar sinxron, boshqalari asinxron bo‘ladi. Asinxron modelda eng so‘nggi o‘zgarish boshqa nusxaga hali yetmagan bo‘lishi mumkin.</a:t>
            </a:r>
          </a:p>
          <a:p/>
          <a:p>
            <a:r>
              <a:t>Universitet misolida buni quyidagicha tasavvur qilamiz. Videolar bir zonadagi uskuna buzilganda ham boshqa nusxadan saqlanib qoladi. Bu misolda texnik atama real vazifa bilan bog‘lanadi: resursning nomini emas, nima uchun tanlanganini tushunish muhim.</a:t>
            </a:r>
          </a:p>
          <a:p/>
          <a:p>
            <a:r>
              <a:t>E’tibor beradigan chegara ham bor. Replikatsiya xato o‘chirishni ham tarqatishi mumkin; mavjudlik va durability bir xil ko‘rsatkich emas.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tarixiy tiklash nusxasini beradi. RPO tiklashda qancha vaqt oralig‘idagi ma’lumot yo‘qolishi mumkinligini, RTO esa xizmatni qancha vaqtda qayta tiklash maqsadini bildiradi. Bu biznes talablari asosida belgilanadi.</a:t>
            </a:r>
          </a:p>
          <a:p/>
          <a:p>
            <a:r>
              <a:t>Zaxira jadvali RPO ga, tiklash jarayoni esa RTO ga mos tanlanadi. Zaxiralar ajratilgan joyda saqlanadi va tiklash sinovi orqali tekshiriladi.</a:t>
            </a:r>
          </a:p>
          <a:p/>
          <a:p>
            <a:r>
              <a:t>Universitet misolida buni quyidagicha tasavvur qilamiz. Har soat zaxira olish nazariy jihatdan bir soatgacha o‘zgarishni yo‘qotish xavfini qoldiradi; haqiqiy natija muvaffaqiyatli nusxaga bog‘liq. Bu misolda texnik atama real vazifa bilan bog‘lanadi: resursning nomini emas, nima uchun tanlanganini tushunish muhim.</a:t>
            </a:r>
          </a:p>
          <a:p/>
          <a:p>
            <a:r>
              <a:t>E’tibor beradigan chegara ham bor. Zaxira fayli borligi uning ishlashini isbotlamaydi: undan tiklab ko‘rish zarur.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Tez-tez o‘qiladigan ma’lumot va uzoq muddatli arxiv turli sinflarda saqlanishi mumkin. Sovuq sinflar arzonroq saqlashni, lekin tiklash vaqti yoki olish to‘lovini talab qilishi mumkin. Kirish talabiga qarab siyosat tuziladi.</a:t>
            </a:r>
          </a:p>
          <a:p/>
          <a:p>
            <a:r>
              <a:t>Lifecycle qoidasi eski obyektlarni boshqa sinfga o‘tkazadi yoki muddat tugaganda o‘chiradi. Versioning va saqlash muddati qoidalari bilan bu jarayon muvofiqlashtiriladi.</a:t>
            </a:r>
          </a:p>
          <a:p/>
          <a:p>
            <a:r>
              <a:t>Universitet misolida buni quyidagicha tasavvur qilamiz. Joriy semestr videosi tezkor sinfda, eski yozuvlar esa arxiv sinfida saqlanadi. Bu misolda texnik atama real vazifa bilan bog‘lanadi: resursning nomini emas, nima uchun tanlanganini tushunish muhim.</a:t>
            </a:r>
          </a:p>
          <a:p/>
          <a:p>
            <a:r>
              <a:t>E’tibor beradigan chegara ham bor. Eng arzon GB narxi umumiy xarajat eng pastligini bildirmaydi; olish, so‘rov va tashqi trafik ham hisoblanadi.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Endi mavzuni yaxlit sxemada ko‘ramiz. To‘rtburchaklar asosiy komponentlarni, o‘qlar esa ma’lumot, murojaat yoki boshqaruv bog‘lanishini ko‘rsatadi. Bu soddalashtirilgan ta’lim sxemasi: unda barcha xavfsizlik qoidalari, ichki protokollar va zaxira komponentlari alohida chizilmagan.</a:t>
            </a:r>
          </a:p>
          <a:p/>
          <a:p>
            <a:r>
              <a:t>«Ilova» bilan «Object · video» o‘rtasida sxemada bog‘lanish ko‘rsatilgan. «Ilova» bilan «Block · VM diski» o‘rtasida sxemada bog‘lanish ko‘rsatilgan. «Ilova» bilan «File · umumiy papka» o‘rtasida sxemada bog‘lanish ko‘rsatilgan. «Object · video» bilan «Alohida backup» o‘rtasida sxemada bog‘lanish ko‘rsatilgan. «Block · VM diski» bilan «Alohida backup» o‘rtasida sxemada bog‘lanish ko‘rsatilgan. «File · umumiy papka» bilan «Alohida backup» o‘rtasida sxemada bog‘lanish ko‘rsatilgan.</a:t>
            </a:r>
          </a:p>
          <a:p/>
          <a:p>
            <a:r>
              <a:t>Bu bog‘lanishlarni barcha xizmatlarda bir xil buyruq yoki bir xil fizik kabel deb tushunmaymiz. Ayrim o‘qlar bajarilish ketma-ketligini, ayrimlari resursni boshqarish yoki unga kirish aloqasini anglatadi. Virtual disk serverga ulanadi. Ilova fayl tizimi yoki ma’lumotlar bazasi orqali bloklarga yozadi. IOPS, throughput va kechikish ish faoliyatini belgilaydi.</a:t>
            </a:r>
          </a:p>
          <a:p/>
          <a:p>
            <a:r>
              <a:t>Sxemaning asosiy foydasi mas’uliyatlarni ajratib ko‘rsatishdir. Har soat zaxira olish nazariy jihatdan bir soatgacha o‘zgarishni yo‘qotish xavfini qoldiradi; haqiqiy natija muvaffaqiyatli nusxaga bog‘liq. Bir qismdagi o‘zgarish boshqasiga qanday ta’sir qilishini ko‘rish orqali murakkab tizimni kichik va tushunarli qismlarga ajratamiz.</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Keling, nazariyani bitta izchil vaziyat bilan bog‘laymiz. Universitet ma’ruza videolari, virtual server diski va umumiy ishchi hujjatlarni saqlaydi. Ularning kirish usuli va talabi turlicha bo‘lgani uchun bir xil saqlash xizmati har biriga mos kelmaydi.</a:t>
            </a:r>
          </a:p>
          <a:p/>
          <a:p>
            <a:r>
              <a:t>Avval ehtiyoj aniqlanadi: kim tizimdan foydalanadi, qaysi ma’lumot bilan ishlanadi va qanday natija kutiladi. Ma’ruza videosi videos/m01.mp4 kaliti bilan saqlanadi va ruxsat asosida talabalarga uzatiladi. Keyin texnik qismlar shu talabga mos tanlanadi. Bir nechta server hisobot shablonlarini umumiy tarmoq papkasidan o‘qiydi.</a:t>
            </a:r>
          </a:p>
          <a:p/>
          <a:p>
            <a:r>
              <a:t>Ishlash jarayonida faqat muvaffaqiyatli holat emas, xato va cheklovlar ham hisobga olinadi. Replikatsiya xato o‘chirishni ham tarqatishi mumkin; mavjudlik va durability bir xil ko‘rsatkich emas. Shu sababli jamoa talabni, ruxsatni va nosozlikdagi xatti-harakatni oldindan belgilaydi. Joriy semestr videosi tezkor sinfda, eski yozuvlar esa arxiv sinfida saqlanadi.</a:t>
            </a:r>
          </a:p>
          <a:p/>
          <a:p>
            <a:r>
              <a:t>Misolning xulosasi shuki, texnologiya alohida maqsad emas. U talabaga kerakli xizmatni sodda, xavfsiz va barqaror yetkazishga xizmat qiladi. Slayddagi tayanch qismlar ishni rejalashga yordam beradi; haqiqiy joylashtirishda esa aniq konfiguratsiya va amaldagi hujjatlar talab qilinadi.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 to‘g‘ri tushunish uchun uchta chegarani qayta ajratamiz.</a:t>
            </a:r>
          </a:p>
          <a:p/>
          <a:p>
            <a:r>
              <a:t>1. Bucket ni ommaviy ochish shart emas; maxfiy obyektlar cheklangan ruxsat bilan tarqatiladi. To‘g‘ri talqin quyidagicha: Object Storage ma’lumotni obyekt sifatida saqlaydi. Obyekt mazmun, kalit va metadata dan iborat bo‘lishi mumkin. Odatda HTTP API orqali o‘qiladi va yoziladi. Video, rasm, arxiv va zaxiralar uchun juda qulay.</a:t>
            </a:r>
          </a:p>
          <a:p/>
          <a:p>
            <a:r>
              <a:t>2. Replikatsiya xato o‘chirishni ham tarqatishi mumkin; mavjudlik va durability bir xil ko‘rsatkich emas. To‘g‘ri talqin quyidagicha: Replikatsiya ma’lumotning bir nechta nusxasini ushlab turadi. Nusxalar disk, tugun, zona yoki hudud darajasida joylashtirilishi mumkin. Durability ma’lumotni yo‘qotmasdan saqlash, availability esa uni kerakli vaqtda olish imkoniyatidir.</a:t>
            </a:r>
          </a:p>
          <a:p/>
          <a:p>
            <a:r>
              <a:t>3. Eng arzon GB narxi umumiy xarajat eng pastligini bildirmaydi; olish, so‘rov va tashqi trafik ham hisoblanadi. To‘g‘ri talqin quyidagicha: Tez-tez o‘qiladigan ma’lumot va uzoq muddatli arxiv turli sinflarda saqlanishi mumkin. Sovuq sinflar arzonroq saqlashni, lekin tiklash vaqti yoki olish to‘lovini talab qilishi mumkin. Kirish talabiga qarab siyosat tuziladi.</a:t>
            </a:r>
          </a:p>
          <a:p/>
          <a:p>
            <a:r>
              <a:t>Bu izohlar texnologiyani rad etish uchun emas, undan o‘rinli foydalanish uchun kerak. Ta’rif, amaliy vazifa va shart birga o‘qilgandagina to‘g‘ri xulosa paydo bo‘ladi. Shuning uchun xizmat nomi yoki bitta imkoniyatga qarab butun tizim haqida umumiy hukm chiqarmaymiz.</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Bugungi ma’ruzani yakunlaymiz. Object, block va file storage ni to‘g‘ri tanlash — mavzuning umumiy mazmunini ifodalaydi.</a:t>
            </a:r>
          </a:p>
          <a:p/>
          <a:p>
            <a:r>
              <a:t>Asosiy tayanch fikr: Obyekt + identifikator + metadata. Ilova bucket ichidagi kalit orqali obyektga murojaat qiladi. Ko‘rinishda papka bo‘lishi mumkin, lekin odatiy fayl tizimidagi blokni joyida tahrirlash bilan bir xil model emas.</a:t>
            </a:r>
          </a:p>
          <a:p/>
          <a:p>
            <a:r>
              <a:t>Asosiy tayanch fikr: Bir nechta mijozga umumiy fayl tizimi. Mijoz fayl ulashuvini mount qiladi va odatdagi fayl yo‘li bilan ishlaydi. Parallel yozish, qulf va ruxsat xatti-harakati xizmatga qarab tekshiriladi.</a:t>
            </a:r>
          </a:p>
          <a:p/>
          <a:p>
            <a:r>
              <a:t>Asosiy tayanch fikr: Qancha ma’lumot va qancha vaqt yo‘qotish mumkin? Zaxira jadvali RPO ga, tiklash jarayoni esa RTO ga mos tanlanadi. Zaxiralar ajratilgan joyda saqlanadi va tiklash sinovi orqali tekshiriladi.</a:t>
            </a:r>
          </a:p>
          <a:p/>
          <a:p>
            <a:r>
              <a:t>Barcha bo‘limlarni universitet portali misoli orqali bog‘ladik. Endi atamalarni alohida so‘z sifatida emas, tizimdagi aniq vazifa sifatida ko‘rish mumkin. Arxitektura tanlashda talab, cheklov, xavfsizlik va xarajat birgalikda baholanadi. Mavzuni takrorlashda avval ta’rifni, keyin sxemani, so‘ng misol va chegaralarni ko‘zdan kechirish foydali. E’tiboringiz uchun rahmat.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mavzu foydalanuvchi taqdim etgan BTST206 sillabusidagi tegishli ma’ruza bo‘limi asosida tuzildi. Slaydda mavzuni chuqurroq o‘qish uchun rasmiy hujjatlarga havolalar ko‘rsatilgan. Xizmatlar yangilanib boradi, shuning uchun amaliy ish oldidan tanlangan versiya, region, tarif va limitlar tekshiriladi. Bu ma’ruzada maqsad o‘zgaruvchan raqamlarni yodlash emas, barqaror tamoyillarni tushunishdir.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xec-1c8f91bc-6381-4745-8533-c57166497063.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16636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594360"/>
            <a:ext cx="594360" cy="73152"/>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896112"/>
            <a:ext cx="4480560" cy="457200"/>
          </a:xfrm>
          <a:prstGeom prst="rect">
            <a:avLst/>
          </a:prstGeom>
          <a:noFill/>
        </p:spPr>
        <p:txBody>
          <a:bodyPr wrap="square" lIns="27432" rIns="27432" tIns="18288" bIns="0">
            <a:spAutoFit/>
          </a:bodyPr>
          <a:lstStyle/>
          <a:p>
            <a:pPr>
              <a:spcAft>
                <a:spcPts val="1000"/>
              </a:spcAft>
              <a:defRPr sz="1700" b="1">
                <a:solidFill>
                  <a:srgbClr val="1678D2"/>
                </a:solidFill>
                <a:latin typeface="DejaVu Sans"/>
              </a:defRPr>
            </a:pPr>
            <a:r>
              <a:t>M08  /  BTST206</a:t>
            </a:r>
          </a:p>
        </p:txBody>
      </p:sp>
      <p:sp>
        <p:nvSpPr>
          <p:cNvPr id="6" name="TextBox 5"/>
          <p:cNvSpPr txBox="1"/>
          <p:nvPr/>
        </p:nvSpPr>
        <p:spPr>
          <a:xfrm>
            <a:off x="548640" y="1737360"/>
            <a:ext cx="4480560" cy="2788920"/>
          </a:xfrm>
          <a:prstGeom prst="rect">
            <a:avLst/>
          </a:prstGeom>
          <a:noFill/>
        </p:spPr>
        <p:txBody>
          <a:bodyPr wrap="square" lIns="27432" rIns="27432" tIns="18288" bIns="0">
            <a:spAutoFit/>
          </a:bodyPr>
          <a:lstStyle/>
          <a:p>
            <a:pPr>
              <a:spcAft>
                <a:spcPts val="1000"/>
              </a:spcAft>
              <a:defRPr sz="3000" b="1">
                <a:solidFill>
                  <a:srgbClr val="15365B"/>
                </a:solidFill>
                <a:latin typeface="DejaVu Sans"/>
              </a:defRPr>
            </a:pPr>
            <a:r>
              <a:t>Bulutli ma’lumotlarni saqlash texnologiyalari</a:t>
            </a:r>
          </a:p>
        </p:txBody>
      </p:sp>
      <p:sp>
        <p:nvSpPr>
          <p:cNvPr id="7" name="TextBox 6"/>
          <p:cNvSpPr txBox="1"/>
          <p:nvPr/>
        </p:nvSpPr>
        <p:spPr>
          <a:xfrm>
            <a:off x="548640" y="4800600"/>
            <a:ext cx="4434840" cy="914400"/>
          </a:xfrm>
          <a:prstGeom prst="rect">
            <a:avLst/>
          </a:prstGeom>
          <a:noFill/>
        </p:spPr>
        <p:txBody>
          <a:bodyPr wrap="square" lIns="27432" rIns="27432" tIns="18288" bIns="0">
            <a:spAutoFit/>
          </a:bodyPr>
          <a:lstStyle/>
          <a:p>
            <a:pPr>
              <a:spcAft>
                <a:spcPts val="1000"/>
              </a:spcAft>
              <a:defRPr sz="1900" b="0">
                <a:solidFill>
                  <a:srgbClr val="53687D"/>
                </a:solidFill>
                <a:latin typeface="DejaVu Sans"/>
              </a:defRPr>
            </a:pPr>
            <a:r>
              <a:t>Object, block va file storage ni to‘g‘ri tanlash</a:t>
            </a:r>
          </a:p>
        </p:txBody>
      </p:sp>
      <p:sp>
        <p:nvSpPr>
          <p:cNvPr id="8" name="TextBox 7"/>
          <p:cNvSpPr txBox="1"/>
          <p:nvPr/>
        </p:nvSpPr>
        <p:spPr>
          <a:xfrm>
            <a:off x="548640" y="6217920"/>
            <a:ext cx="4480560" cy="365760"/>
          </a:xfrm>
          <a:prstGeom prst="rect">
            <a:avLst/>
          </a:prstGeom>
          <a:noFill/>
        </p:spPr>
        <p:txBody>
          <a:bodyPr wrap="square" lIns="27432" rIns="27432" tIns="18288" bIns="0">
            <a:spAutoFit/>
          </a:bodyPr>
          <a:lstStyle/>
          <a:p>
            <a:pPr>
              <a:spcAft>
                <a:spcPts val="1000"/>
              </a:spcAft>
              <a:defRPr sz="1100" b="0">
                <a:solidFill>
                  <a:srgbClr val="1678D2"/>
                </a:solidFill>
                <a:latin typeface="DejaVu Sans"/>
              </a:defRPr>
            </a:pPr>
            <a:r>
              <a:t>2027–2028  •  VIDEOMA’RUZA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M08 · O‘RGANISH TARTIBI</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Bugungi mavzuning yo‘l xaritasi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02</a:t>
            </a:r>
          </a:p>
        </p:txBody>
      </p:sp>
      <p:sp>
        <p:nvSpPr>
          <p:cNvPr id="8" name="Rounded Rectangle 7"/>
          <p:cNvSpPr/>
          <p:nvPr/>
        </p:nvSpPr>
        <p:spPr>
          <a:xfrm>
            <a:off x="594360" y="1938528"/>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084832"/>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01</a:t>
            </a:r>
          </a:p>
        </p:txBody>
      </p:sp>
      <p:sp>
        <p:nvSpPr>
          <p:cNvPr id="10" name="TextBox 9"/>
          <p:cNvSpPr txBox="1"/>
          <p:nvPr/>
        </p:nvSpPr>
        <p:spPr>
          <a:xfrm>
            <a:off x="1380744" y="2057400"/>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Object Storage</a:t>
            </a:r>
          </a:p>
        </p:txBody>
      </p:sp>
      <p:sp>
        <p:nvSpPr>
          <p:cNvPr id="11" name="Rounded Rectangle 10"/>
          <p:cNvSpPr/>
          <p:nvPr/>
        </p:nvSpPr>
        <p:spPr>
          <a:xfrm>
            <a:off x="6263640" y="1938528"/>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084832"/>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02</a:t>
            </a:r>
          </a:p>
        </p:txBody>
      </p:sp>
      <p:sp>
        <p:nvSpPr>
          <p:cNvPr id="13" name="TextBox 12"/>
          <p:cNvSpPr txBox="1"/>
          <p:nvPr/>
        </p:nvSpPr>
        <p:spPr>
          <a:xfrm>
            <a:off x="7050024" y="2057400"/>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Block Storage</a:t>
            </a:r>
          </a:p>
        </p:txBody>
      </p:sp>
      <p:sp>
        <p:nvSpPr>
          <p:cNvPr id="14" name="Rounded Rectangle 13"/>
          <p:cNvSpPr/>
          <p:nvPr/>
        </p:nvSpPr>
        <p:spPr>
          <a:xfrm>
            <a:off x="594360" y="3246120"/>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392424"/>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03</a:t>
            </a:r>
          </a:p>
        </p:txBody>
      </p:sp>
      <p:sp>
        <p:nvSpPr>
          <p:cNvPr id="16" name="TextBox 15"/>
          <p:cNvSpPr txBox="1"/>
          <p:nvPr/>
        </p:nvSpPr>
        <p:spPr>
          <a:xfrm>
            <a:off x="1380744" y="3364991"/>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File Storage</a:t>
            </a:r>
          </a:p>
        </p:txBody>
      </p:sp>
      <p:sp>
        <p:nvSpPr>
          <p:cNvPr id="17" name="Rounded Rectangle 16"/>
          <p:cNvSpPr/>
          <p:nvPr/>
        </p:nvSpPr>
        <p:spPr>
          <a:xfrm>
            <a:off x="6263640" y="3246120"/>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3392424"/>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04</a:t>
            </a:r>
          </a:p>
        </p:txBody>
      </p:sp>
      <p:sp>
        <p:nvSpPr>
          <p:cNvPr id="19" name="TextBox 18"/>
          <p:cNvSpPr txBox="1"/>
          <p:nvPr/>
        </p:nvSpPr>
        <p:spPr>
          <a:xfrm>
            <a:off x="7050024" y="3364991"/>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Replikatsiya va durability</a:t>
            </a:r>
          </a:p>
        </p:txBody>
      </p:sp>
      <p:sp>
        <p:nvSpPr>
          <p:cNvPr id="20" name="Rounded Rectangle 19"/>
          <p:cNvSpPr/>
          <p:nvPr/>
        </p:nvSpPr>
        <p:spPr>
          <a:xfrm>
            <a:off x="594360" y="4553712"/>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700016"/>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05</a:t>
            </a:r>
          </a:p>
        </p:txBody>
      </p:sp>
      <p:sp>
        <p:nvSpPr>
          <p:cNvPr id="22" name="TextBox 21"/>
          <p:cNvSpPr txBox="1"/>
          <p:nvPr/>
        </p:nvSpPr>
        <p:spPr>
          <a:xfrm>
            <a:off x="1380744" y="4672584"/>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Zaxiralash, RPO va RTO</a:t>
            </a:r>
          </a:p>
        </p:txBody>
      </p:sp>
      <p:sp>
        <p:nvSpPr>
          <p:cNvPr id="23" name="Rounded Rectangle 22"/>
          <p:cNvSpPr/>
          <p:nvPr/>
        </p:nvSpPr>
        <p:spPr>
          <a:xfrm>
            <a:off x="6263640" y="4553712"/>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4700016"/>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06</a:t>
            </a:r>
          </a:p>
        </p:txBody>
      </p:sp>
      <p:sp>
        <p:nvSpPr>
          <p:cNvPr id="25" name="TextBox 24"/>
          <p:cNvSpPr txBox="1"/>
          <p:nvPr/>
        </p:nvSpPr>
        <p:spPr>
          <a:xfrm>
            <a:off x="7050024" y="4672584"/>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Hayot sikli va narx</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M08 · ASOSIY TUSHUNCHA 1/6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Object Storage</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03</a:t>
            </a:r>
          </a:p>
        </p:txBody>
      </p:sp>
      <p:sp>
        <p:nvSpPr>
          <p:cNvPr id="8" name="TextBox 7"/>
          <p:cNvSpPr txBox="1"/>
          <p:nvPr/>
        </p:nvSpPr>
        <p:spPr>
          <a:xfrm>
            <a:off x="594360" y="1865376"/>
            <a:ext cx="7086600" cy="1143000"/>
          </a:xfrm>
          <a:prstGeom prst="rect">
            <a:avLst/>
          </a:prstGeom>
          <a:noFill/>
        </p:spPr>
        <p:txBody>
          <a:bodyPr wrap="square" lIns="27432" rIns="27432" tIns="18288" bIns="0">
            <a:spAutoFit/>
          </a:bodyPr>
          <a:lstStyle/>
          <a:p>
            <a:pPr>
              <a:spcAft>
                <a:spcPts val="1000"/>
              </a:spcAft>
              <a:defRPr sz="3000" b="1">
                <a:solidFill>
                  <a:srgbClr val="1678D2"/>
                </a:solidFill>
                <a:latin typeface="DejaVu Sans"/>
              </a:defRPr>
            </a:pPr>
            <a:r>
              <a:t>Obyekt + identifikator + metadata.</a:t>
            </a:r>
          </a:p>
        </p:txBody>
      </p:sp>
      <p:sp>
        <p:nvSpPr>
          <p:cNvPr id="9" name="Rounded Rectangle 8"/>
          <p:cNvSpPr/>
          <p:nvPr/>
        </p:nvSpPr>
        <p:spPr>
          <a:xfrm>
            <a:off x="594360" y="3337560"/>
            <a:ext cx="7040880" cy="203911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538728"/>
            <a:ext cx="6556248" cy="178308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Ma’ruza videosi videos/m01.mp4 kaliti bilan saqlanadi va ruxsat asosida talabalarga uzatiladi.</a:t>
            </a:r>
          </a:p>
        </p:txBody>
      </p:sp>
      <p:sp>
        <p:nvSpPr>
          <p:cNvPr id="11" name="Rounded Rectangle 10"/>
          <p:cNvSpPr/>
          <p:nvPr/>
        </p:nvSpPr>
        <p:spPr>
          <a:xfrm>
            <a:off x="8183879" y="4965192"/>
            <a:ext cx="3063240" cy="14630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8321040" y="3120390"/>
            <a:ext cx="1042416" cy="217170"/>
          </a:xfrm>
          <a:custGeom>
            <a:avLst/>
            <a:gdLst/>
            <a:ahLst/>
            <a:cxnLst/>
            <a:rect l="l" t="t" r="r" b="b"/>
            <a:pathLst>
              <a:path w="1042416" h="217170">
                <a:moveTo>
                  <a:pt x="0" y="217170"/>
                </a:moveTo>
                <a:lnTo>
                  <a:pt x="825246" y="217170"/>
                </a:lnTo>
                <a:lnTo>
                  <a:pt x="1042416" y="0"/>
                </a:lnTo>
                <a:lnTo>
                  <a:pt x="21717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9146286" y="3120390"/>
            <a:ext cx="217170" cy="1780793"/>
          </a:xfrm>
          <a:custGeom>
            <a:avLst/>
            <a:gdLst/>
            <a:ahLst/>
            <a:cxnLst/>
            <a:rect l="l" t="t" r="r" b="b"/>
            <a:pathLst>
              <a:path w="217170" h="1780793">
                <a:moveTo>
                  <a:pt x="0" y="217170"/>
                </a:moveTo>
                <a:lnTo>
                  <a:pt x="217170" y="0"/>
                </a:lnTo>
                <a:lnTo>
                  <a:pt x="217170" y="1563624"/>
                </a:lnTo>
                <a:lnTo>
                  <a:pt x="0" y="178079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21040" y="3337560"/>
            <a:ext cx="825246" cy="1563624"/>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407908" y="349392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894368" y="353735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407908" y="373715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894368" y="378058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07908" y="398038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894368" y="402381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07908" y="422361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894368" y="426704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407908" y="4466844"/>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94368" y="4510278"/>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reeform 24"/>
          <p:cNvSpPr/>
          <p:nvPr/>
        </p:nvSpPr>
        <p:spPr>
          <a:xfrm>
            <a:off x="9628632" y="2811779"/>
            <a:ext cx="1207008" cy="251460"/>
          </a:xfrm>
          <a:custGeom>
            <a:avLst/>
            <a:gdLst/>
            <a:ahLst/>
            <a:cxnLst/>
            <a:rect l="l" t="t" r="r" b="b"/>
            <a:pathLst>
              <a:path w="1207008" h="251460">
                <a:moveTo>
                  <a:pt x="0" y="251460"/>
                </a:moveTo>
                <a:lnTo>
                  <a:pt x="955548" y="251460"/>
                </a:lnTo>
                <a:lnTo>
                  <a:pt x="1207008" y="0"/>
                </a:lnTo>
                <a:lnTo>
                  <a:pt x="25146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10584180" y="2811779"/>
            <a:ext cx="251460" cy="2061973"/>
          </a:xfrm>
          <a:custGeom>
            <a:avLst/>
            <a:gdLst/>
            <a:ahLst/>
            <a:cxnLst/>
            <a:rect l="l" t="t" r="r" b="b"/>
            <a:pathLst>
              <a:path w="251460" h="2061973">
                <a:moveTo>
                  <a:pt x="0" y="251460"/>
                </a:moveTo>
                <a:lnTo>
                  <a:pt x="251460" y="0"/>
                </a:lnTo>
                <a:lnTo>
                  <a:pt x="251460" y="1810513"/>
                </a:lnTo>
                <a:lnTo>
                  <a:pt x="0" y="206197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28632" y="3063239"/>
            <a:ext cx="955547" cy="1810512"/>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729215" y="324429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292486" y="329458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729215" y="352592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292486" y="357621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29215" y="380756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292486" y="385785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729215" y="408919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292486" y="413948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29215" y="437083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292486" y="4421124"/>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Cloud 37"/>
          <p:cNvSpPr/>
          <p:nvPr/>
        </p:nvSpPr>
        <p:spPr>
          <a:xfrm>
            <a:off x="8668512" y="2103120"/>
            <a:ext cx="2286000" cy="1188720"/>
          </a:xfrm>
          <a:prstGeom prst="cloud">
            <a:avLst/>
          </a:prstGeom>
          <a:solidFill>
            <a:srgbClr val="D8F1FF"/>
          </a:solidFill>
          <a:ln>
            <a:solidFill>
              <a:srgbClr val="5CC9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M08 · ASOSIY TUSHUNCHA 2/6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Block Storage</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04</a:t>
            </a:r>
          </a:p>
        </p:txBody>
      </p:sp>
      <p:sp>
        <p:nvSpPr>
          <p:cNvPr id="8" name="Rounded Rectangle 7"/>
          <p:cNvSpPr/>
          <p:nvPr/>
        </p:nvSpPr>
        <p:spPr>
          <a:xfrm>
            <a:off x="59436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QANDAY ISHLAYDI?</a:t>
            </a:r>
          </a:p>
        </p:txBody>
      </p:sp>
      <p:sp>
        <p:nvSpPr>
          <p:cNvPr id="10" name="TextBox 9"/>
          <p:cNvSpPr txBox="1"/>
          <p:nvPr/>
        </p:nvSpPr>
        <p:spPr>
          <a:xfrm>
            <a:off x="82296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Virtual disk serverga ulanadi.</a:t>
            </a:r>
          </a:p>
        </p:txBody>
      </p:sp>
      <p:sp>
        <p:nvSpPr>
          <p:cNvPr id="11" name="Rounded Rectangle 10"/>
          <p:cNvSpPr/>
          <p:nvPr/>
        </p:nvSpPr>
        <p:spPr>
          <a:xfrm>
            <a:off x="626364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ESDA SAQLANG</a:t>
            </a:r>
          </a:p>
        </p:txBody>
      </p:sp>
      <p:sp>
        <p:nvSpPr>
          <p:cNvPr id="13" name="TextBox 12"/>
          <p:cNvSpPr txBox="1"/>
          <p:nvPr/>
        </p:nvSpPr>
        <p:spPr>
          <a:xfrm>
            <a:off x="649224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Disk hajmi katta bo‘lishi uning barcha turdagi yuklama uchun tez ekanini anglatmaydi.</a:t>
            </a:r>
          </a:p>
        </p:txBody>
      </p:sp>
      <p:sp>
        <p:nvSpPr>
          <p:cNvPr id="14" name="TextBox 13"/>
          <p:cNvSpPr txBox="1"/>
          <p:nvPr/>
        </p:nvSpPr>
        <p:spPr>
          <a:xfrm>
            <a:off x="640080" y="5742432"/>
            <a:ext cx="10881360" cy="3657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Virtual mashinaga ulanadigan blokli disk.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M08 · ASOSIY TUSHUNCHA 3/6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File Storage</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05</a:t>
            </a:r>
          </a:p>
        </p:txBody>
      </p:sp>
      <p:sp>
        <p:nvSpPr>
          <p:cNvPr id="8" name="Rectangle 7"/>
          <p:cNvSpPr/>
          <p:nvPr/>
        </p:nvSpPr>
        <p:spPr>
          <a:xfrm>
            <a:off x="594360" y="2011680"/>
            <a:ext cx="100584" cy="333756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075688"/>
            <a:ext cx="9966960" cy="1280160"/>
          </a:xfrm>
          <a:prstGeom prst="rect">
            <a:avLst/>
          </a:prstGeom>
          <a:noFill/>
        </p:spPr>
        <p:txBody>
          <a:bodyPr wrap="square" lIns="27432" rIns="27432" tIns="18288" bIns="0">
            <a:spAutoFit/>
          </a:bodyPr>
          <a:lstStyle/>
          <a:p>
            <a:pPr>
              <a:spcAft>
                <a:spcPts val="1000"/>
              </a:spcAft>
              <a:defRPr sz="3200" b="1">
                <a:solidFill>
                  <a:srgbClr val="1678D2"/>
                </a:solidFill>
                <a:latin typeface="DejaVu Sans"/>
              </a:defRPr>
            </a:pPr>
            <a:r>
              <a:t>Bir nechta mijozga umumiy fayl tizimi.</a:t>
            </a:r>
          </a:p>
        </p:txBody>
      </p:sp>
      <p:sp>
        <p:nvSpPr>
          <p:cNvPr id="10" name="TextBox 9"/>
          <p:cNvSpPr txBox="1"/>
          <p:nvPr/>
        </p:nvSpPr>
        <p:spPr>
          <a:xfrm>
            <a:off x="960120" y="3712463"/>
            <a:ext cx="6629400" cy="1645920"/>
          </a:xfrm>
          <a:prstGeom prst="rect">
            <a:avLst/>
          </a:prstGeom>
          <a:noFill/>
        </p:spPr>
        <p:txBody>
          <a:bodyPr wrap="square" lIns="27432" rIns="27432" tIns="18288" bIns="0">
            <a:spAutoFit/>
          </a:bodyPr>
          <a:lstStyle/>
          <a:p>
            <a:pPr>
              <a:spcAft>
                <a:spcPts val="1000"/>
              </a:spcAft>
              <a:defRPr sz="2400" b="0">
                <a:solidFill>
                  <a:srgbClr val="15365B"/>
                </a:solidFill>
                <a:latin typeface="DejaVu Sans"/>
              </a:defRPr>
            </a:pPr>
            <a:r>
              <a:t>File Storage papka va fayllar iyerarxiyasini taqdim etadi.</a:t>
            </a:r>
          </a:p>
        </p:txBody>
      </p:sp>
      <p:sp>
        <p:nvSpPr>
          <p:cNvPr id="11" name="Rounded Rectangle 10"/>
          <p:cNvSpPr/>
          <p:nvPr/>
        </p:nvSpPr>
        <p:spPr>
          <a:xfrm>
            <a:off x="8366760" y="3822191"/>
            <a:ext cx="2971800" cy="133502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0" y="4114800"/>
            <a:ext cx="2514600" cy="8229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TA’RIF → MISOL</a:t>
            </a:r>
          </a:p>
          <a:p>
            <a:pPr>
              <a:spcAft>
                <a:spcPts val="1000"/>
              </a:spcAft>
              <a:defRPr sz="1800" b="1">
                <a:solidFill>
                  <a:srgbClr val="1678D2"/>
                </a:solidFill>
                <a:latin typeface="DejaVu Sans"/>
              </a:defRPr>
            </a:pPr>
            <a:r>
              <a:t>→ CHEGARA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M08 · ASOSIY TUSHUNCHA 4/6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Replikatsiya va durability</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06</a:t>
            </a:r>
          </a:p>
        </p:txBody>
      </p:sp>
      <p:sp>
        <p:nvSpPr>
          <p:cNvPr id="8" name="TextBox 7"/>
          <p:cNvSpPr txBox="1"/>
          <p:nvPr/>
        </p:nvSpPr>
        <p:spPr>
          <a:xfrm>
            <a:off x="594360" y="1865376"/>
            <a:ext cx="7086600" cy="1143000"/>
          </a:xfrm>
          <a:prstGeom prst="rect">
            <a:avLst/>
          </a:prstGeom>
          <a:noFill/>
        </p:spPr>
        <p:txBody>
          <a:bodyPr wrap="square" lIns="27432" rIns="27432" tIns="18288" bIns="0">
            <a:spAutoFit/>
          </a:bodyPr>
          <a:lstStyle/>
          <a:p>
            <a:pPr>
              <a:spcAft>
                <a:spcPts val="1000"/>
              </a:spcAft>
              <a:defRPr sz="3000" b="1">
                <a:solidFill>
                  <a:srgbClr val="1678D2"/>
                </a:solidFill>
                <a:latin typeface="DejaVu Sans"/>
              </a:defRPr>
            </a:pPr>
            <a:r>
              <a:t>Bir nechta nusxa saqlanish xavfini kamaytiradi.</a:t>
            </a:r>
          </a:p>
        </p:txBody>
      </p:sp>
      <p:sp>
        <p:nvSpPr>
          <p:cNvPr id="9" name="Rounded Rectangle 8"/>
          <p:cNvSpPr/>
          <p:nvPr/>
        </p:nvSpPr>
        <p:spPr>
          <a:xfrm>
            <a:off x="594360" y="3337560"/>
            <a:ext cx="7040880" cy="203911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538728"/>
            <a:ext cx="6556248" cy="178308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Videolar bir zonadagi uskuna buzilganda ham boshqa nusxadan saqlanib qoladi.</a:t>
            </a:r>
          </a:p>
        </p:txBody>
      </p:sp>
      <p:sp>
        <p:nvSpPr>
          <p:cNvPr id="11" name="Rounded Rectangle 10"/>
          <p:cNvSpPr/>
          <p:nvPr/>
        </p:nvSpPr>
        <p:spPr>
          <a:xfrm>
            <a:off x="8183879" y="4965192"/>
            <a:ext cx="3063240" cy="14630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8321040" y="3120390"/>
            <a:ext cx="1042416" cy="217170"/>
          </a:xfrm>
          <a:custGeom>
            <a:avLst/>
            <a:gdLst/>
            <a:ahLst/>
            <a:cxnLst/>
            <a:rect l="l" t="t" r="r" b="b"/>
            <a:pathLst>
              <a:path w="1042416" h="217170">
                <a:moveTo>
                  <a:pt x="0" y="217170"/>
                </a:moveTo>
                <a:lnTo>
                  <a:pt x="825246" y="217170"/>
                </a:lnTo>
                <a:lnTo>
                  <a:pt x="1042416" y="0"/>
                </a:lnTo>
                <a:lnTo>
                  <a:pt x="21717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9146286" y="3120390"/>
            <a:ext cx="217170" cy="1780793"/>
          </a:xfrm>
          <a:custGeom>
            <a:avLst/>
            <a:gdLst/>
            <a:ahLst/>
            <a:cxnLst/>
            <a:rect l="l" t="t" r="r" b="b"/>
            <a:pathLst>
              <a:path w="217170" h="1780793">
                <a:moveTo>
                  <a:pt x="0" y="217170"/>
                </a:moveTo>
                <a:lnTo>
                  <a:pt x="217170" y="0"/>
                </a:lnTo>
                <a:lnTo>
                  <a:pt x="217170" y="1563624"/>
                </a:lnTo>
                <a:lnTo>
                  <a:pt x="0" y="178079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21040" y="3337560"/>
            <a:ext cx="825246" cy="1563624"/>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407908" y="349392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894368" y="353735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407908" y="373715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894368" y="378058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07908" y="398038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894368" y="402381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07908" y="422361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894368" y="426704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407908" y="4466844"/>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94368" y="4510278"/>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reeform 24"/>
          <p:cNvSpPr/>
          <p:nvPr/>
        </p:nvSpPr>
        <p:spPr>
          <a:xfrm>
            <a:off x="9628632" y="2811779"/>
            <a:ext cx="1207008" cy="251460"/>
          </a:xfrm>
          <a:custGeom>
            <a:avLst/>
            <a:gdLst/>
            <a:ahLst/>
            <a:cxnLst/>
            <a:rect l="l" t="t" r="r" b="b"/>
            <a:pathLst>
              <a:path w="1207008" h="251460">
                <a:moveTo>
                  <a:pt x="0" y="251460"/>
                </a:moveTo>
                <a:lnTo>
                  <a:pt x="955548" y="251460"/>
                </a:lnTo>
                <a:lnTo>
                  <a:pt x="1207008" y="0"/>
                </a:lnTo>
                <a:lnTo>
                  <a:pt x="25146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10584180" y="2811779"/>
            <a:ext cx="251460" cy="2061973"/>
          </a:xfrm>
          <a:custGeom>
            <a:avLst/>
            <a:gdLst/>
            <a:ahLst/>
            <a:cxnLst/>
            <a:rect l="l" t="t" r="r" b="b"/>
            <a:pathLst>
              <a:path w="251460" h="2061973">
                <a:moveTo>
                  <a:pt x="0" y="251460"/>
                </a:moveTo>
                <a:lnTo>
                  <a:pt x="251460" y="0"/>
                </a:lnTo>
                <a:lnTo>
                  <a:pt x="251460" y="1810513"/>
                </a:lnTo>
                <a:lnTo>
                  <a:pt x="0" y="206197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28632" y="3063239"/>
            <a:ext cx="955547" cy="1810512"/>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729215" y="324429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292486" y="329458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729215" y="352592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292486" y="357621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29215" y="380756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292486" y="385785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729215" y="408919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292486" y="413948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29215" y="437083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292486" y="4421124"/>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Cloud 37"/>
          <p:cNvSpPr/>
          <p:nvPr/>
        </p:nvSpPr>
        <p:spPr>
          <a:xfrm>
            <a:off x="8668512" y="2103120"/>
            <a:ext cx="2286000" cy="1188720"/>
          </a:xfrm>
          <a:prstGeom prst="cloud">
            <a:avLst/>
          </a:prstGeom>
          <a:solidFill>
            <a:srgbClr val="D8F1FF"/>
          </a:solidFill>
          <a:ln>
            <a:solidFill>
              <a:srgbClr val="5CC9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M08 · ASOSIY TUSHUNCHA 5/6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Zaxiralash, RPO va RTO</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07</a:t>
            </a:r>
          </a:p>
        </p:txBody>
      </p:sp>
      <p:sp>
        <p:nvSpPr>
          <p:cNvPr id="8" name="Rounded Rectangle 7"/>
          <p:cNvSpPr/>
          <p:nvPr/>
        </p:nvSpPr>
        <p:spPr>
          <a:xfrm>
            <a:off x="59436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QANDAY ISHLAYDI?</a:t>
            </a:r>
          </a:p>
        </p:txBody>
      </p:sp>
      <p:sp>
        <p:nvSpPr>
          <p:cNvPr id="10" name="TextBox 9"/>
          <p:cNvSpPr txBox="1"/>
          <p:nvPr/>
        </p:nvSpPr>
        <p:spPr>
          <a:xfrm>
            <a:off x="82296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Zaxira jadvali RPO ga, tiklash jarayoni esa RTO ga mos tanlanadi.</a:t>
            </a:r>
          </a:p>
        </p:txBody>
      </p:sp>
      <p:sp>
        <p:nvSpPr>
          <p:cNvPr id="11" name="Rounded Rectangle 10"/>
          <p:cNvSpPr/>
          <p:nvPr/>
        </p:nvSpPr>
        <p:spPr>
          <a:xfrm>
            <a:off x="626364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ESDA SAQLANG</a:t>
            </a:r>
          </a:p>
        </p:txBody>
      </p:sp>
      <p:sp>
        <p:nvSpPr>
          <p:cNvPr id="13" name="TextBox 12"/>
          <p:cNvSpPr txBox="1"/>
          <p:nvPr/>
        </p:nvSpPr>
        <p:spPr>
          <a:xfrm>
            <a:off x="649224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Zaxira fayli borligi uning ishlashini isbotlamaydi: undan tiklab ko‘rish zarur.</a:t>
            </a:r>
          </a:p>
        </p:txBody>
      </p:sp>
      <p:sp>
        <p:nvSpPr>
          <p:cNvPr id="14" name="TextBox 13"/>
          <p:cNvSpPr txBox="1"/>
          <p:nvPr/>
        </p:nvSpPr>
        <p:spPr>
          <a:xfrm>
            <a:off x="640080" y="5742432"/>
            <a:ext cx="10881360" cy="3657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Qancha ma’lumot va qancha vaqt yo‘qotish mumkin?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M08 · ASOSIY TUSHUNCHA 6/6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Hayot sikli va narx</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08</a:t>
            </a:r>
          </a:p>
        </p:txBody>
      </p:sp>
      <p:sp>
        <p:nvSpPr>
          <p:cNvPr id="8" name="Rectangle 7"/>
          <p:cNvSpPr/>
          <p:nvPr/>
        </p:nvSpPr>
        <p:spPr>
          <a:xfrm>
            <a:off x="594360" y="2011680"/>
            <a:ext cx="100584" cy="333756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075688"/>
            <a:ext cx="9966960" cy="1280160"/>
          </a:xfrm>
          <a:prstGeom prst="rect">
            <a:avLst/>
          </a:prstGeom>
          <a:noFill/>
        </p:spPr>
        <p:txBody>
          <a:bodyPr wrap="square" lIns="27432" rIns="27432" tIns="18288" bIns="0">
            <a:spAutoFit/>
          </a:bodyPr>
          <a:lstStyle/>
          <a:p>
            <a:pPr>
              <a:spcAft>
                <a:spcPts val="1000"/>
              </a:spcAft>
              <a:defRPr sz="3200" b="1">
                <a:solidFill>
                  <a:srgbClr val="1678D2"/>
                </a:solidFill>
                <a:latin typeface="DejaVu Sans"/>
              </a:defRPr>
            </a:pPr>
            <a:r>
              <a:t>Saqlash narxiga kirish va trafik ham kiradi.</a:t>
            </a:r>
          </a:p>
        </p:txBody>
      </p:sp>
      <p:sp>
        <p:nvSpPr>
          <p:cNvPr id="10" name="TextBox 9"/>
          <p:cNvSpPr txBox="1"/>
          <p:nvPr/>
        </p:nvSpPr>
        <p:spPr>
          <a:xfrm>
            <a:off x="960120" y="3712463"/>
            <a:ext cx="6629400" cy="1645920"/>
          </a:xfrm>
          <a:prstGeom prst="rect">
            <a:avLst/>
          </a:prstGeom>
          <a:noFill/>
        </p:spPr>
        <p:txBody>
          <a:bodyPr wrap="square" lIns="27432" rIns="27432" tIns="18288" bIns="0">
            <a:spAutoFit/>
          </a:bodyPr>
          <a:lstStyle/>
          <a:p>
            <a:pPr>
              <a:spcAft>
                <a:spcPts val="1000"/>
              </a:spcAft>
              <a:defRPr sz="2400" b="0">
                <a:solidFill>
                  <a:srgbClr val="15365B"/>
                </a:solidFill>
                <a:latin typeface="DejaVu Sans"/>
              </a:defRPr>
            </a:pPr>
            <a:r>
              <a:t>Tez-tez o‘qiladigan ma’lumot va uzoq muddatli arxiv turli sinflarda saqlanishi mumkin.</a:t>
            </a:r>
          </a:p>
        </p:txBody>
      </p:sp>
      <p:sp>
        <p:nvSpPr>
          <p:cNvPr id="11" name="Rounded Rectangle 10"/>
          <p:cNvSpPr/>
          <p:nvPr/>
        </p:nvSpPr>
        <p:spPr>
          <a:xfrm>
            <a:off x="8366760" y="3822191"/>
            <a:ext cx="2971800" cy="133502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0" y="4114800"/>
            <a:ext cx="2514600" cy="8229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TA’RIF → MISOL</a:t>
            </a:r>
          </a:p>
          <a:p>
            <a:pPr>
              <a:spcAft>
                <a:spcPts val="1000"/>
              </a:spcAft>
              <a:defRPr sz="1800" b="1">
                <a:solidFill>
                  <a:srgbClr val="1678D2"/>
                </a:solidFill>
                <a:latin typeface="DejaVu Sans"/>
              </a:defRPr>
            </a:pPr>
            <a:r>
              <a:t>→ CHEGARA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M08 · ARXITEKTURA</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Texnik sxema: qismlar qanday bog‘lanadi?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09</a:t>
            </a:r>
          </a:p>
        </p:txBody>
      </p:sp>
      <p:cxnSp>
        <p:nvCxnSpPr>
          <p:cNvPr id="8" name="Connector 7"/>
          <p:cNvCxnSpPr/>
          <p:nvPr/>
        </p:nvCxnSpPr>
        <p:spPr>
          <a:xfrm>
            <a:off x="3474720" y="2761488"/>
            <a:ext cx="777240" cy="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474720" y="2761488"/>
            <a:ext cx="4297680" cy="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103120" y="3246120"/>
            <a:ext cx="2011680" cy="123444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623560" y="3246120"/>
            <a:ext cx="2423160" cy="123444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8046720" y="3246120"/>
            <a:ext cx="1097280" cy="123444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486400" y="4956048"/>
            <a:ext cx="1188720" cy="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31520" y="2286000"/>
            <a:ext cx="2743200" cy="960120"/>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392" y="2450592"/>
            <a:ext cx="2505456" cy="685800"/>
          </a:xfrm>
          <a:prstGeom prst="rect">
            <a:avLst/>
          </a:prstGeom>
          <a:noFill/>
        </p:spPr>
        <p:txBody>
          <a:bodyPr wrap="square" lIns="27432" rIns="27432" tIns="18288" bIns="0">
            <a:spAutoFit/>
          </a:bodyPr>
          <a:lstStyle/>
          <a:p>
            <a:pPr>
              <a:spcAft>
                <a:spcPts val="1000"/>
              </a:spcAft>
              <a:defRPr sz="1800" b="1">
                <a:solidFill>
                  <a:srgbClr val="FFFFFF"/>
                </a:solidFill>
                <a:latin typeface="DejaVu Sans"/>
              </a:defRPr>
            </a:pPr>
            <a:r>
              <a:t>Ilova</a:t>
            </a:r>
          </a:p>
        </p:txBody>
      </p:sp>
      <p:sp>
        <p:nvSpPr>
          <p:cNvPr id="16" name="Rounded Rectangle 15"/>
          <p:cNvSpPr/>
          <p:nvPr/>
        </p:nvSpPr>
        <p:spPr>
          <a:xfrm>
            <a:off x="4251960" y="228600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70832" y="245059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Object · video</a:t>
            </a:r>
          </a:p>
        </p:txBody>
      </p:sp>
      <p:sp>
        <p:nvSpPr>
          <p:cNvPr id="18" name="Rounded Rectangle 17"/>
          <p:cNvSpPr/>
          <p:nvPr/>
        </p:nvSpPr>
        <p:spPr>
          <a:xfrm>
            <a:off x="7772400" y="228600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91272" y="245059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Block · VM diski</a:t>
            </a:r>
          </a:p>
        </p:txBody>
      </p:sp>
      <p:sp>
        <p:nvSpPr>
          <p:cNvPr id="20" name="Rounded Rectangle 19"/>
          <p:cNvSpPr/>
          <p:nvPr/>
        </p:nvSpPr>
        <p:spPr>
          <a:xfrm>
            <a:off x="2743200" y="448056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62072" y="464515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File · umumiy papka</a:t>
            </a:r>
          </a:p>
        </p:txBody>
      </p:sp>
      <p:sp>
        <p:nvSpPr>
          <p:cNvPr id="22" name="Rounded Rectangle 21"/>
          <p:cNvSpPr/>
          <p:nvPr/>
        </p:nvSpPr>
        <p:spPr>
          <a:xfrm>
            <a:off x="6675120" y="448056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93992" y="464515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Alohida backup</a:t>
            </a:r>
          </a:p>
        </p:txBody>
      </p:sp>
      <p:sp>
        <p:nvSpPr>
          <p:cNvPr id="24" name="TextBox 23"/>
          <p:cNvSpPr txBox="1"/>
          <p:nvPr/>
        </p:nvSpPr>
        <p:spPr>
          <a:xfrm>
            <a:off x="777240" y="5806440"/>
            <a:ext cx="10789920" cy="347472"/>
          </a:xfrm>
          <a:prstGeom prst="rect">
            <a:avLst/>
          </a:prstGeom>
          <a:noFill/>
        </p:spPr>
        <p:txBody>
          <a:bodyPr wrap="square" lIns="27432" rIns="27432" tIns="18288" bIns="0">
            <a:spAutoFit/>
          </a:bodyPr>
          <a:lstStyle/>
          <a:p>
            <a:pPr>
              <a:spcAft>
                <a:spcPts val="1000"/>
              </a:spcAft>
              <a:defRPr sz="1300" b="0">
                <a:solidFill>
                  <a:srgbClr val="53687D"/>
                </a:solidFill>
                <a:latin typeface="DejaVu Sans"/>
              </a:defRPr>
            </a:pPr>
            <a:r>
              <a:t>O‘qlar: asosiy bog‘lanish yoki boshqaruv yo‘nalishi. Sxema soddalashtirilgan.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M08 · O‘QITUVCHI BAYONI</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Universitet portali misolida</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10</a:t>
            </a:r>
          </a:p>
        </p:txBody>
      </p:sp>
      <p:sp>
        <p:nvSpPr>
          <p:cNvPr id="8" name="TextBox 7"/>
          <p:cNvSpPr txBox="1"/>
          <p:nvPr/>
        </p:nvSpPr>
        <p:spPr>
          <a:xfrm>
            <a:off x="658368" y="1920240"/>
            <a:ext cx="7040880" cy="1508760"/>
          </a:xfrm>
          <a:prstGeom prst="rect">
            <a:avLst/>
          </a:prstGeom>
          <a:noFill/>
        </p:spPr>
        <p:txBody>
          <a:bodyPr wrap="square" lIns="27432" rIns="27432" tIns="18288" bIns="0">
            <a:spAutoFit/>
          </a:bodyPr>
          <a:lstStyle/>
          <a:p>
            <a:pPr>
              <a:spcAft>
                <a:spcPts val="1000"/>
              </a:spcAft>
              <a:defRPr sz="2400" b="0">
                <a:solidFill>
                  <a:srgbClr val="15365B"/>
                </a:solidFill>
                <a:latin typeface="DejaVu Sans"/>
              </a:defRPr>
            </a:pPr>
            <a:r>
              <a:t>Universitet ma’ruza videolari, virtual server diski va umumiy ishchi hujjatlarni saqlaydi. Ularning kirish usuli va talabi turlicha bo‘lgani uchun bir xil saqlash xizmati har biriga mos kelmaydi.</a:t>
            </a:r>
          </a:p>
        </p:txBody>
      </p:sp>
      <p:sp>
        <p:nvSpPr>
          <p:cNvPr id="9" name="Rounded Rectangle 8"/>
          <p:cNvSpPr/>
          <p:nvPr/>
        </p:nvSpPr>
        <p:spPr>
          <a:xfrm>
            <a:off x="685800"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Ilova</a:t>
            </a:r>
          </a:p>
        </p:txBody>
      </p:sp>
      <p:sp>
        <p:nvSpPr>
          <p:cNvPr id="11" name="Rounded Rectangle 10"/>
          <p:cNvSpPr/>
          <p:nvPr/>
        </p:nvSpPr>
        <p:spPr>
          <a:xfrm>
            <a:off x="3584448"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21608"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Saqlash API si</a:t>
            </a:r>
          </a:p>
        </p:txBody>
      </p:sp>
      <p:sp>
        <p:nvSpPr>
          <p:cNvPr id="13" name="Rounded Rectangle 12"/>
          <p:cNvSpPr/>
          <p:nvPr/>
        </p:nvSpPr>
        <p:spPr>
          <a:xfrm>
            <a:off x="6483096"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0256"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Asosiy nusxa</a:t>
            </a:r>
          </a:p>
        </p:txBody>
      </p:sp>
      <p:sp>
        <p:nvSpPr>
          <p:cNvPr id="15" name="Rounded Rectangle 14"/>
          <p:cNvSpPr/>
          <p:nvPr/>
        </p:nvSpPr>
        <p:spPr>
          <a:xfrm>
            <a:off x="9381744"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18904"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Replika va zaxira</a:t>
            </a:r>
          </a:p>
        </p:txBody>
      </p:sp>
      <p:sp>
        <p:nvSpPr>
          <p:cNvPr id="17" name="TextBox 16"/>
          <p:cNvSpPr txBox="1"/>
          <p:nvPr/>
        </p:nvSpPr>
        <p:spPr>
          <a:xfrm>
            <a:off x="713232" y="5632704"/>
            <a:ext cx="10789920" cy="365760"/>
          </a:xfrm>
          <a:prstGeom prst="rect">
            <a:avLst/>
          </a:prstGeom>
          <a:noFill/>
        </p:spPr>
        <p:txBody>
          <a:bodyPr wrap="square" lIns="27432" rIns="27432" tIns="18288" bIns="0">
            <a:spAutoFit/>
          </a:bodyPr>
          <a:lstStyle/>
          <a:p>
            <a:pPr>
              <a:spcAft>
                <a:spcPts val="1000"/>
              </a:spcAft>
              <a:defRPr sz="1300" b="0">
                <a:solidFill>
                  <a:srgbClr val="53687D"/>
                </a:solidFill>
                <a:latin typeface="DejaVu Sans"/>
              </a:defRPr>
            </a:pPr>
            <a:r>
              <a:t>Yuqoridagi bloklar — misolning tayanch qismlari; ular har doim chiziqli trafik yo‘li emas.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M08 · ANIQLIK KIRITAMIZ</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Ko‘p uchraydigan noto‘g‘ri xulosalar</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11</a:t>
            </a:r>
          </a:p>
        </p:txBody>
      </p:sp>
      <p:sp>
        <p:nvSpPr>
          <p:cNvPr id="8" name="Rounded Rectangle 7"/>
          <p:cNvSpPr/>
          <p:nvPr/>
        </p:nvSpPr>
        <p:spPr>
          <a:xfrm>
            <a:off x="640080" y="1892807"/>
            <a:ext cx="475488" cy="475488"/>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1929384"/>
            <a:ext cx="310896" cy="365760"/>
          </a:xfrm>
          <a:prstGeom prst="rect">
            <a:avLst/>
          </a:prstGeom>
          <a:noFill/>
        </p:spPr>
        <p:txBody>
          <a:bodyPr wrap="square" lIns="27432" rIns="27432" tIns="18288" bIns="0">
            <a:spAutoFit/>
          </a:bodyPr>
          <a:lstStyle/>
          <a:p>
            <a:pPr>
              <a:spcAft>
                <a:spcPts val="1000"/>
              </a:spcAft>
              <a:defRPr sz="1700" b="1">
                <a:solidFill>
                  <a:srgbClr val="FFFFFF"/>
                </a:solidFill>
                <a:latin typeface="DejaVu Sans"/>
              </a:defRPr>
            </a:pPr>
            <a:r>
              <a:t>1</a:t>
            </a:r>
          </a:p>
        </p:txBody>
      </p:sp>
      <p:sp>
        <p:nvSpPr>
          <p:cNvPr id="10" name="TextBox 9"/>
          <p:cNvSpPr txBox="1"/>
          <p:nvPr/>
        </p:nvSpPr>
        <p:spPr>
          <a:xfrm>
            <a:off x="1353312" y="1892807"/>
            <a:ext cx="10058400" cy="114300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Bucket ni ommaviy ochish shart emas; maxfiy obyektlar cheklangan ruxsat bilan tarqatiladi.</a:t>
            </a:r>
          </a:p>
        </p:txBody>
      </p:sp>
      <p:sp>
        <p:nvSpPr>
          <p:cNvPr id="11" name="Rounded Rectangle 10"/>
          <p:cNvSpPr/>
          <p:nvPr/>
        </p:nvSpPr>
        <p:spPr>
          <a:xfrm>
            <a:off x="640080" y="3246120"/>
            <a:ext cx="475488" cy="475488"/>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3282696"/>
            <a:ext cx="310896" cy="365760"/>
          </a:xfrm>
          <a:prstGeom prst="rect">
            <a:avLst/>
          </a:prstGeom>
          <a:noFill/>
        </p:spPr>
        <p:txBody>
          <a:bodyPr wrap="square" lIns="27432" rIns="27432" tIns="18288" bIns="0">
            <a:spAutoFit/>
          </a:bodyPr>
          <a:lstStyle/>
          <a:p>
            <a:pPr>
              <a:spcAft>
                <a:spcPts val="1000"/>
              </a:spcAft>
              <a:defRPr sz="1700" b="1">
                <a:solidFill>
                  <a:srgbClr val="FFFFFF"/>
                </a:solidFill>
                <a:latin typeface="DejaVu Sans"/>
              </a:defRPr>
            </a:pPr>
            <a:r>
              <a:t>2</a:t>
            </a:r>
          </a:p>
        </p:txBody>
      </p:sp>
      <p:sp>
        <p:nvSpPr>
          <p:cNvPr id="13" name="TextBox 12"/>
          <p:cNvSpPr txBox="1"/>
          <p:nvPr/>
        </p:nvSpPr>
        <p:spPr>
          <a:xfrm>
            <a:off x="1353312" y="3246120"/>
            <a:ext cx="10058400" cy="114300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Replikatsiya xato o‘chirishni ham tarqatishi mumkin; mavjudlik va durability bir xil ko‘rsatkich emas.</a:t>
            </a:r>
          </a:p>
        </p:txBody>
      </p:sp>
      <p:sp>
        <p:nvSpPr>
          <p:cNvPr id="14" name="Rounded Rectangle 13"/>
          <p:cNvSpPr/>
          <p:nvPr/>
        </p:nvSpPr>
        <p:spPr>
          <a:xfrm>
            <a:off x="640080" y="4599431"/>
            <a:ext cx="475488" cy="475488"/>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4636007"/>
            <a:ext cx="310896" cy="365760"/>
          </a:xfrm>
          <a:prstGeom prst="rect">
            <a:avLst/>
          </a:prstGeom>
          <a:noFill/>
        </p:spPr>
        <p:txBody>
          <a:bodyPr wrap="square" lIns="27432" rIns="27432" tIns="18288" bIns="0">
            <a:spAutoFit/>
          </a:bodyPr>
          <a:lstStyle/>
          <a:p>
            <a:pPr>
              <a:spcAft>
                <a:spcPts val="1000"/>
              </a:spcAft>
              <a:defRPr sz="1700" b="1">
                <a:solidFill>
                  <a:srgbClr val="FFFFFF"/>
                </a:solidFill>
                <a:latin typeface="DejaVu Sans"/>
              </a:defRPr>
            </a:pPr>
            <a:r>
              <a:t>3</a:t>
            </a:r>
          </a:p>
        </p:txBody>
      </p:sp>
      <p:sp>
        <p:nvSpPr>
          <p:cNvPr id="16" name="TextBox 15"/>
          <p:cNvSpPr txBox="1"/>
          <p:nvPr/>
        </p:nvSpPr>
        <p:spPr>
          <a:xfrm>
            <a:off x="1353312" y="4599431"/>
            <a:ext cx="10058400" cy="114300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Eng arzon GB narxi umumiy xarajat eng pastligini bildirmaydi; olish, so‘rov va tashqi trafik ham hisoblanadi.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M08 · YAKUN</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Mavzuning asosiy xulosalari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12</a:t>
            </a:r>
          </a:p>
        </p:txBody>
      </p:sp>
      <p:sp>
        <p:nvSpPr>
          <p:cNvPr id="8" name="Rounded Rectangle 7"/>
          <p:cNvSpPr/>
          <p:nvPr/>
        </p:nvSpPr>
        <p:spPr>
          <a:xfrm>
            <a:off x="640080" y="2075688"/>
            <a:ext cx="3611880" cy="343814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2286000"/>
            <a:ext cx="3136392" cy="502920"/>
          </a:xfrm>
          <a:prstGeom prst="rect">
            <a:avLst/>
          </a:prstGeom>
          <a:noFill/>
        </p:spPr>
        <p:txBody>
          <a:bodyPr wrap="square" lIns="27432" rIns="27432" tIns="18288" bIns="0">
            <a:spAutoFit/>
          </a:bodyPr>
          <a:lstStyle/>
          <a:p>
            <a:pPr>
              <a:spcAft>
                <a:spcPts val="1000"/>
              </a:spcAft>
              <a:defRPr sz="3100" b="1">
                <a:solidFill>
                  <a:srgbClr val="1678D2"/>
                </a:solidFill>
                <a:latin typeface="DejaVu Sans"/>
              </a:defRPr>
            </a:pPr>
            <a:r>
              <a:t>01</a:t>
            </a:r>
          </a:p>
        </p:txBody>
      </p:sp>
      <p:sp>
        <p:nvSpPr>
          <p:cNvPr id="10" name="TextBox 9"/>
          <p:cNvSpPr txBox="1"/>
          <p:nvPr/>
        </p:nvSpPr>
        <p:spPr>
          <a:xfrm>
            <a:off x="859536" y="3090672"/>
            <a:ext cx="3136392" cy="2103120"/>
          </a:xfrm>
          <a:prstGeom prst="rect">
            <a:avLst/>
          </a:prstGeom>
          <a:noFill/>
        </p:spPr>
        <p:txBody>
          <a:bodyPr wrap="square" lIns="27432" rIns="27432" tIns="18288" bIns="0">
            <a:spAutoFit/>
          </a:bodyPr>
          <a:lstStyle/>
          <a:p>
            <a:pPr>
              <a:spcAft>
                <a:spcPts val="1000"/>
              </a:spcAft>
              <a:defRPr sz="2500" b="1">
                <a:solidFill>
                  <a:srgbClr val="15365B"/>
                </a:solidFill>
                <a:latin typeface="DejaVu Sans"/>
              </a:defRPr>
            </a:pPr>
            <a:r>
              <a:t>Obyekt + identifikator + metadata.</a:t>
            </a:r>
          </a:p>
        </p:txBody>
      </p:sp>
      <p:sp>
        <p:nvSpPr>
          <p:cNvPr id="11" name="Rounded Rectangle 10"/>
          <p:cNvSpPr/>
          <p:nvPr/>
        </p:nvSpPr>
        <p:spPr>
          <a:xfrm>
            <a:off x="4498848" y="2075688"/>
            <a:ext cx="3611880" cy="343814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18304" y="2286000"/>
            <a:ext cx="3136392" cy="502920"/>
          </a:xfrm>
          <a:prstGeom prst="rect">
            <a:avLst/>
          </a:prstGeom>
          <a:noFill/>
        </p:spPr>
        <p:txBody>
          <a:bodyPr wrap="square" lIns="27432" rIns="27432" tIns="18288" bIns="0">
            <a:spAutoFit/>
          </a:bodyPr>
          <a:lstStyle/>
          <a:p>
            <a:pPr>
              <a:spcAft>
                <a:spcPts val="1000"/>
              </a:spcAft>
              <a:defRPr sz="3100" b="1">
                <a:solidFill>
                  <a:srgbClr val="1678D2"/>
                </a:solidFill>
                <a:latin typeface="DejaVu Sans"/>
              </a:defRPr>
            </a:pPr>
            <a:r>
              <a:t>02</a:t>
            </a:r>
          </a:p>
        </p:txBody>
      </p:sp>
      <p:sp>
        <p:nvSpPr>
          <p:cNvPr id="13" name="TextBox 12"/>
          <p:cNvSpPr txBox="1"/>
          <p:nvPr/>
        </p:nvSpPr>
        <p:spPr>
          <a:xfrm>
            <a:off x="4718304" y="3090672"/>
            <a:ext cx="3136392" cy="2103120"/>
          </a:xfrm>
          <a:prstGeom prst="rect">
            <a:avLst/>
          </a:prstGeom>
          <a:noFill/>
        </p:spPr>
        <p:txBody>
          <a:bodyPr wrap="square" lIns="27432" rIns="27432" tIns="18288" bIns="0">
            <a:spAutoFit/>
          </a:bodyPr>
          <a:lstStyle/>
          <a:p>
            <a:pPr>
              <a:spcAft>
                <a:spcPts val="1000"/>
              </a:spcAft>
              <a:defRPr sz="2500" b="1">
                <a:solidFill>
                  <a:srgbClr val="15365B"/>
                </a:solidFill>
                <a:latin typeface="DejaVu Sans"/>
              </a:defRPr>
            </a:pPr>
            <a:r>
              <a:t>Bir nechta mijozga umumiy fayl tizimi.</a:t>
            </a:r>
          </a:p>
        </p:txBody>
      </p:sp>
      <p:sp>
        <p:nvSpPr>
          <p:cNvPr id="14" name="Rounded Rectangle 13"/>
          <p:cNvSpPr/>
          <p:nvPr/>
        </p:nvSpPr>
        <p:spPr>
          <a:xfrm>
            <a:off x="8357615" y="2075688"/>
            <a:ext cx="3611880" cy="343814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77072" y="2286000"/>
            <a:ext cx="3136392" cy="502920"/>
          </a:xfrm>
          <a:prstGeom prst="rect">
            <a:avLst/>
          </a:prstGeom>
          <a:noFill/>
        </p:spPr>
        <p:txBody>
          <a:bodyPr wrap="square" lIns="27432" rIns="27432" tIns="18288" bIns="0">
            <a:spAutoFit/>
          </a:bodyPr>
          <a:lstStyle/>
          <a:p>
            <a:pPr>
              <a:spcAft>
                <a:spcPts val="1000"/>
              </a:spcAft>
              <a:defRPr sz="3100" b="1">
                <a:solidFill>
                  <a:srgbClr val="1678D2"/>
                </a:solidFill>
                <a:latin typeface="DejaVu Sans"/>
              </a:defRPr>
            </a:pPr>
            <a:r>
              <a:t>03</a:t>
            </a:r>
          </a:p>
        </p:txBody>
      </p:sp>
      <p:sp>
        <p:nvSpPr>
          <p:cNvPr id="16" name="TextBox 15"/>
          <p:cNvSpPr txBox="1"/>
          <p:nvPr/>
        </p:nvSpPr>
        <p:spPr>
          <a:xfrm>
            <a:off x="8577072" y="3090672"/>
            <a:ext cx="3136392" cy="2103120"/>
          </a:xfrm>
          <a:prstGeom prst="rect">
            <a:avLst/>
          </a:prstGeom>
          <a:noFill/>
        </p:spPr>
        <p:txBody>
          <a:bodyPr wrap="square" lIns="27432" rIns="27432" tIns="18288" bIns="0">
            <a:spAutoFit/>
          </a:bodyPr>
          <a:lstStyle/>
          <a:p>
            <a:pPr>
              <a:spcAft>
                <a:spcPts val="1000"/>
              </a:spcAft>
              <a:defRPr sz="2500" b="1">
                <a:solidFill>
                  <a:srgbClr val="15365B"/>
                </a:solidFill>
                <a:latin typeface="DejaVu Sans"/>
              </a:defRPr>
            </a:pPr>
            <a:r>
              <a:t>Qancha ma’lumot va qancha vaqt yo‘qotish mumkin?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M08 · QO‘SHIMCHA O‘QISH</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Manbalar va terminlar</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13</a:t>
            </a:r>
          </a:p>
        </p:txBody>
      </p:sp>
      <p:sp>
        <p:nvSpPr>
          <p:cNvPr id="8" name="TextBox 7"/>
          <p:cNvSpPr txBox="1"/>
          <p:nvPr/>
        </p:nvSpPr>
        <p:spPr>
          <a:xfrm>
            <a:off x="685800" y="1920240"/>
            <a:ext cx="10789920" cy="822960"/>
          </a:xfrm>
          <a:prstGeom prst="rect">
            <a:avLst/>
          </a:prstGeom>
          <a:noFill/>
        </p:spPr>
        <p:txBody>
          <a:bodyPr wrap="square" lIns="27432" rIns="27432" tIns="18288" bIns="0">
            <a:spAutoFit/>
          </a:bodyPr>
          <a:lstStyle/>
          <a:p>
            <a:pPr>
              <a:spcAft>
                <a:spcPts val="1000"/>
              </a:spcAft>
              <a:defRPr sz="2100" b="1">
                <a:solidFill>
                  <a:srgbClr val="15365B"/>
                </a:solidFill>
                <a:latin typeface="DejaVu Sans"/>
              </a:defRPr>
            </a:pPr>
            <a:r>
              <a:t>Asos: BTST206 sillabusi, 2027–2028. M1–M18 ma’ruza bo‘limi.</a:t>
            </a:r>
          </a:p>
        </p:txBody>
      </p:sp>
      <p:sp>
        <p:nvSpPr>
          <p:cNvPr id="9" name="TextBox 8"/>
          <p:cNvSpPr txBox="1"/>
          <p:nvPr/>
        </p:nvSpPr>
        <p:spPr>
          <a:xfrm>
            <a:off x="713232" y="2926080"/>
            <a:ext cx="10744200" cy="512064"/>
          </a:xfrm>
          <a:prstGeom prst="rect">
            <a:avLst/>
          </a:prstGeom>
          <a:noFill/>
        </p:spPr>
        <p:txBody>
          <a:bodyPr wrap="square" lIns="27432" rIns="27432" tIns="18288" bIns="0">
            <a:spAutoFit/>
          </a:bodyPr>
          <a:lstStyle/>
          <a:p>
            <a:pPr>
              <a:spcAft>
                <a:spcPts val="1000"/>
              </a:spcAft>
              <a:defRPr sz="1600" b="0">
                <a:solidFill>
                  <a:srgbClr val="1678D2"/>
                </a:solidFill>
                <a:latin typeface="DejaVu Sans"/>
              </a:defRPr>
            </a:pPr>
            <a:r>
              <a:t>https://docs.aws.amazon.com/AmazonS3/latest/userguide/</a:t>
            </a:r>
          </a:p>
        </p:txBody>
      </p:sp>
      <p:sp>
        <p:nvSpPr>
          <p:cNvPr id="10" name="TextBox 9"/>
          <p:cNvSpPr txBox="1"/>
          <p:nvPr/>
        </p:nvSpPr>
        <p:spPr>
          <a:xfrm>
            <a:off x="713232" y="3456432"/>
            <a:ext cx="10744200" cy="512064"/>
          </a:xfrm>
          <a:prstGeom prst="rect">
            <a:avLst/>
          </a:prstGeom>
          <a:noFill/>
        </p:spPr>
        <p:txBody>
          <a:bodyPr wrap="square" lIns="27432" rIns="27432" tIns="18288" bIns="0">
            <a:spAutoFit/>
          </a:bodyPr>
          <a:lstStyle/>
          <a:p>
            <a:pPr>
              <a:spcAft>
                <a:spcPts val="1000"/>
              </a:spcAft>
              <a:defRPr sz="1600" b="0">
                <a:solidFill>
                  <a:srgbClr val="1678D2"/>
                </a:solidFill>
                <a:latin typeface="DejaVu Sans"/>
              </a:defRPr>
            </a:pPr>
            <a:r>
              <a:t>https://learn.microsoft.com/azure/storage/common/storage-introduction</a:t>
            </a:r>
          </a:p>
        </p:txBody>
      </p:sp>
      <p:sp>
        <p:nvSpPr>
          <p:cNvPr id="11" name="TextBox 10"/>
          <p:cNvSpPr txBox="1"/>
          <p:nvPr/>
        </p:nvSpPr>
        <p:spPr>
          <a:xfrm>
            <a:off x="713232" y="3986784"/>
            <a:ext cx="10744200" cy="512064"/>
          </a:xfrm>
          <a:prstGeom prst="rect">
            <a:avLst/>
          </a:prstGeom>
          <a:noFill/>
        </p:spPr>
        <p:txBody>
          <a:bodyPr wrap="square" lIns="27432" rIns="27432" tIns="18288" bIns="0">
            <a:spAutoFit/>
          </a:bodyPr>
          <a:lstStyle/>
          <a:p>
            <a:pPr>
              <a:spcAft>
                <a:spcPts val="1000"/>
              </a:spcAft>
              <a:defRPr sz="1600" b="0">
                <a:solidFill>
                  <a:srgbClr val="1678D2"/>
                </a:solidFill>
                <a:latin typeface="DejaVu Sans"/>
              </a:defRPr>
            </a:pPr>
            <a:r>
              <a:t>https://cloud.google.com/storage/docs/introduction</a:t>
            </a:r>
          </a:p>
        </p:txBody>
      </p:sp>
      <p:sp>
        <p:nvSpPr>
          <p:cNvPr id="12" name="TextBox 11"/>
          <p:cNvSpPr txBox="1"/>
          <p:nvPr/>
        </p:nvSpPr>
        <p:spPr>
          <a:xfrm>
            <a:off x="713232" y="5650992"/>
            <a:ext cx="10789920" cy="502920"/>
          </a:xfrm>
          <a:prstGeom prst="rect">
            <a:avLst/>
          </a:prstGeom>
          <a:noFill/>
        </p:spPr>
        <p:txBody>
          <a:bodyPr wrap="square" lIns="27432" rIns="27432" tIns="18288" bIns="0">
            <a:spAutoFit/>
          </a:bodyPr>
          <a:lstStyle/>
          <a:p>
            <a:pPr>
              <a:spcAft>
                <a:spcPts val="1000"/>
              </a:spcAft>
              <a:defRPr sz="1600" b="0">
                <a:solidFill>
                  <a:srgbClr val="53687D"/>
                </a:solidFill>
                <a:latin typeface="DejaVu Sans"/>
              </a:defRPr>
            </a:pPr>
            <a:r>
              <a:t>Narx, limit va xizmat nomlarining amaldagi holati rasmiy hujjatlarda tekshiriladi.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