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Assalomu alaykum, aziz talabalar. Bugungi ma’ruzamiz «Google Cloud Platform bulut xizmatlari» mavzusiga bag‘ishlanadi. Mavzuni murakkab atamalardan emas, kundalik ehtiyojdan boshlaymiz. Universitet tahlil va portal xizmatlarini Google Cloud da joylashtiradi. Project resurslar, API lar, ruxsat va xarajatlarni tartibga solishning asosiy amaliy chegarasi sifatida ishlatiladi.</a:t>
            </a:r>
          </a:p>
          <a:p/>
          <a:p>
            <a:r>
              <a:t>Biz avval asosiy tushunchalarni ajratamiz, keyin ularning ishlash tartibini sxemada ko‘ramiz. Maqsad xizmat nomlarini yodlash emas, ularning qaysi vazifani bajarishini va qayerda cheklanishini tushunishdir. Inglizcha atama uchraganda uning sodda o‘zbekcha ma’nosi bilan bog‘laymiz. Slayddagi qisqa jumlalar tayanch fikrlar bo‘lib, ularning batafsil izohi ushbu ma’ruza matnida beriladi.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 oltita asosiy bo‘limdan iborat. 1-bo‘limda resurs iyerarxiyasi va hududlar tushuntiriladi. 2-bo‘limda compute engine tushuntiriladi. 3-bo‘limda cloud storage tushuntiriladi. 4-bo‘limda cloud sql tushuntiriladi. 5-bo‘limda google kubernetes engine tushuntiriladi. 6-bo‘limda cloud functions va cloud run functions tushuntiriladi.</a:t>
            </a:r>
          </a:p>
          <a:p/>
          <a:p>
            <a:r>
              <a:t>Har bir bo‘limda bir xil fikrlash tartibidan foydalanamiz: tushuncha nimani anglatadi, qanday ishlaydi, universitet portalida qayerda ko‘rinadi va qaysi holatda ehtiyot bo‘lish kerak. Shundan keyin umumiy sxema barcha qismlarni bir-biriga bog‘laydi. Oxirida o‘qituvchi bayon qiladigan misol, chalkash tushunchalar va yakuniy xulosalar beriladi. Bu ketma-ketlik amaliy topshiriq emas, videodarsning tushuntirish rejasidir.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 Cloud resurslari organization, folder va project lar orqali boshqarilishi mumkin. Project API larni yoqish, xizmatlar va hisob-kitobni bog‘lashda muhim birlikdir. Region va zone tanlovi kechikish hamda mavjudlikka ta’sir qiladi.</a:t>
            </a:r>
          </a:p>
          <a:p/>
          <a:p>
            <a:r>
              <a:t>Loyiha yaratiladi, billing bog‘lanadi va zarur API lar yoqiladi. IAM siyosatlari mos ko‘lamda beriladi. Resurslar tegishli hudud va zonalarda joylashtiriladi.</a:t>
            </a:r>
          </a:p>
          <a:p/>
          <a:p>
            <a:r>
              <a:t>Universitet misolida buni quyidagicha tasavvur qilamiz. Portal va tajriba ishlari alohida project larda yuritilib, xarajat va vakolatlar ajratiladi. Bu misolda texnik atama real vazifa bilan bog‘lanadi: resursning nomini emas, nima uchun tanlanganini tushunish muhim.</a:t>
            </a:r>
          </a:p>
          <a:p/>
          <a:p>
            <a:r>
              <a:t>E’tibor beradigan chegara ham bor. Project yaratishning o‘zi barcha xizmat API lari yoqilgani yoki budjet cheklangani degani emas.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Compute Engine virtual mashinalarni taqdim etadi. Machine type CPU va xotira konfiguratsiyasini, image esa boshlang‘ich operatsion tizimni belgilaydi. Instance template va managed instance group bir xil nusxalarni boshqarishga yordam beradi.</a:t>
            </a:r>
          </a:p>
          <a:p/>
          <a:p>
            <a:r>
              <a:t>Ilova image yoki boshlash konfiguratsiyasi bilan VM ga joylashtiriladi. Sog‘lomlik tekshiruvi va guruh sozlamalari yangilash hamda masshtablashni boshqaradi.</a:t>
            </a:r>
          </a:p>
          <a:p/>
          <a:p>
            <a:r>
              <a:t>Universitet misolida buni quyidagicha tasavvur qilamiz. Portalning ikki nusxasi managed instance group ichida ishlaydi va yuklama taqsimlagich ortida xizmat qiladi. Bu misolda texnik atama real vazifa bilan bog‘lanadi: resursning nomini emas, nima uchun tanlanganini tushunish muhim.</a:t>
            </a:r>
          </a:p>
          <a:p/>
          <a:p>
            <a:r>
              <a:t>E’tibor beradigan chegara ham bor. Spot VM arzonroq bo‘lishi mumkin, ammo to‘xtatilishi ehtimoli bor; yagona muhim nusxa sifatida tanlanmaydi.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 Storage video, rasm, arxiv va analitik fayllar uchun obyekt xizmati hisoblanadi. Bucket joylashuvi ma’lumotning hududiy siyosati va kirish kechikishiga ta’sir qiladi. Ruxsatlar IAM yordamida boshqariladi.</a:t>
            </a:r>
          </a:p>
          <a:p/>
          <a:p>
            <a:r>
              <a:t>Ilova service account orqali tegishli obyektga kiradi. Lifecycle qoidalari eskirgan fayllarning sinfini o‘zgartirishi mumkin. Public access siyosati aniq nazorat qilinadi.</a:t>
            </a:r>
          </a:p>
          <a:p/>
          <a:p>
            <a:r>
              <a:t>Universitet misolida buni quyidagicha tasavvur qilamiz. Videolar maxsus bucket da saqlanadi; tahlil uchun kerakli log fayllari boshqa bucket ga yoziladi. Bu misolda texnik atama real vazifa bilan bog‘lanadi: resursning nomini emas, nima uchun tanlanganini tushunish muhim.</a:t>
            </a:r>
          </a:p>
          <a:p/>
          <a:p>
            <a:r>
              <a:t>E’tibor beradigan chegara ham bor. Object Storage fayl nomlarini papkaga o‘xshatib ko‘rsatsa ham, u oddiy lokal disk bilan bir xil emas.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 SQL qo‘llab-quvvatlanadigan MySQL, PostgreSQL va SQL Server dvijoklari uchun boshqariladigan xizmatdir. Kundalik infratuzilma ishlari soddalashadi. So‘rov samaradorligi va ma’lumot modeli esa jamoaning vazifasi bo‘lib qoladi.</a:t>
            </a:r>
          </a:p>
          <a:p/>
          <a:p>
            <a:r>
              <a:t>Private ulanish yoki mos xavfsiz ulanish mexanizmi tanlanadi. Zaxira va mavjudlik sozlamalari belgilanadi. Ilova ulanish havzasidan foydalanib limitni nazorat qiladi.</a:t>
            </a:r>
          </a:p>
          <a:p/>
          <a:p>
            <a:r>
              <a:t>Universitet misolida buni quyidagicha tasavvur qilamiz. Portalning ro‘yxatdan o‘tish yozuvlari Cloud SQL da tranzaksiyalar orqali saqlanadi. Bu misolda texnik atama real vazifa bilan bog‘lanadi: resursning nomini emas, nima uchun tanlanganini tushunish muhim.</a:t>
            </a:r>
          </a:p>
          <a:p/>
          <a:p>
            <a:r>
              <a:t>E’tibor beradigan chegara ham bor. Ko‘p yangi ilova nusxasi bir vaqtda ulansa, baza ulanish limiti to‘lishi mumkin.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GKE Kubernetes klasterlarini boshqarishni soddalashtiradi. Control plane bilan bog‘liq ishlarning katta qismi xizmat tomonidan bajariladi. Standard va Autopilot kabi rejimlarda boshqaruv chegaralari farq qiladi.</a:t>
            </a:r>
          </a:p>
          <a:p/>
          <a:p>
            <a:r>
              <a:t>Jamoa konteyner image, Deployment va Service konfiguratsiyasini beradi. Platforma klaster infratuzilmasini boshqarishga yordam beradi. Ilova xavfsizligi, resurs so‘rovi va kuzatuv baribir rejalashtiriladi.</a:t>
            </a:r>
          </a:p>
          <a:p/>
          <a:p>
            <a:r>
              <a:t>Universitet misolida buni quyidagicha tasavvur qilamiz. Portal va xabarnoma mikroservislari GKE da alohida Deployment lar sifatida yuritiladi. Bu misolda texnik atama real vazifa bilan bog‘lanadi: resursning nomini emas, nima uchun tanlanganini tushunish muhim.</a:t>
            </a:r>
          </a:p>
          <a:p/>
          <a:p>
            <a:r>
              <a:t>E’tibor beradigan chegara ham bor. Boshqariladigan Kubernetes ilova arxitekturasi va konteyner xatolarini avtomatik tuzatmaydi.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Sillabusdagi Cloud Functions nomi funksiyalar xizmatini anglatadi. Google hujjatlarida yangi takliflar Cloud Run functions nomi bilan ham yuritiladi. Avlod va joylashtirish usuliga qarab limit hamda imkoniyatlar farqlanadi.</a:t>
            </a:r>
          </a:p>
          <a:p/>
          <a:p>
            <a:r>
              <a:t>HTTP yoki boshqa hodisa funksiyani ishga tushiradi. Service account kerakli ruxsatni beradi. Cloud Logging va Cloud Monitoring natija va xatolarni kuzatadi.</a:t>
            </a:r>
          </a:p>
          <a:p/>
          <a:p>
            <a:r>
              <a:t>Universitet misolida buni quyidagicha tasavvur qilamiz. Cloud Storage ga rasm yuklanganda funksiya uni tekshirib, kichik ko‘rinishini boshqa obyekt sifatida yozadi. Bu misolda texnik atama real vazifa bilan bog‘lanadi: resursning nomini emas, nima uchun tanlanganini tushunish muhim.</a:t>
            </a:r>
          </a:p>
          <a:p/>
          <a:p>
            <a:r>
              <a:t>E’tibor beradigan chegara ham bor. Xizmat nomi va limitlari yangilanadi; amaliy joylashtirishdan oldin tegishli avlodning rasmiy hujjati tekshiriladi.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mavzuni yaxlit sxemada ko‘ramiz. To‘rtburchaklar asosiy komponentlarni, o‘qlar esa ma’lumot, murojaat yoki boshqaruv bog‘lanishini ko‘rsatadi. Bu soddalashtirilgan ta’lim sxemasi: unda barcha xavfsizlik qoidalari, ichki protokollar va zaxira komponentlari alohida chizilmagan.</a:t>
            </a:r>
          </a:p>
          <a:p/>
          <a:p>
            <a:r>
              <a:t>«Project va IAM» bilan «Compute / GKE» o‘rtasida sxemada bog‘lanish ko‘rsatilgan. «Compute / GKE» bilan «Cloud SQL» o‘rtasida sxemada bog‘lanish ko‘rsatilgan. «Compute / GKE» bilan «Cloud Storage» o‘rtasida sxemada bog‘lanish ko‘rsatilgan. «Cloud Storage» bilan «Functions» o‘rtasida sxemada bog‘lanish ko‘rsatilgan.</a:t>
            </a:r>
          </a:p>
          <a:p/>
          <a:p>
            <a:r>
              <a:t>Bu bog‘lanishlarni barcha xizmatlarda bir xil buyruq yoki bir xil fizik kabel deb tushunmaymiz. Ayrim o‘qlar bajarilish ketma-ketligini, ayrimlari resursni boshqarish yoki unga kirish aloqasini anglatadi. Ilova image yoki boshlash konfiguratsiyasi bilan VM ga joylashtiriladi. Sog‘lomlik tekshiruvi va guruh sozlamalari yangilash hamda masshtablashni boshqaradi.</a:t>
            </a:r>
          </a:p>
          <a:p/>
          <a:p>
            <a:r>
              <a:t>Sxemaning asosiy foydasi mas’uliyatlarni ajratib ko‘rsatishdir. Portal va xabarnoma mikroservislari GKE da alohida Deployment lar sifatida yuritiladi. Bir qismdagi o‘zgarish boshqasiga qanday ta’sir qilishini ko‘rish orqali murakkab tizimni kichik va tushunarli qismlarga ajratamiz.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Keling, nazariyani bitta izchil vaziyat bilan bog‘laymiz. Universitet tahlil va portal xizmatlarini Google Cloud da joylashtiradi. Project resurslar, API lar, ruxsat va xarajatlarni tartibga solishning asosiy amaliy chegarasi sifatida ishlatiladi.</a:t>
            </a:r>
          </a:p>
          <a:p/>
          <a:p>
            <a:r>
              <a:t>Avval ehtiyoj aniqlanadi: kim tizimdan foydalanadi, qaysi ma’lumot bilan ishlanadi va qanday natija kutiladi. Portal va tajriba ishlari alohida project larda yuritilib, xarajat va vakolatlar ajratiladi. Keyin texnik qismlar shu talabga mos tanlanadi. Videolar maxsus bucket da saqlanadi; tahlil uchun kerakli log fayllari boshqa bucket ga yoziladi.</a:t>
            </a:r>
          </a:p>
          <a:p/>
          <a:p>
            <a:r>
              <a:t>Ishlash jarayonida faqat muvaffaqiyatli holat emas, xato va cheklovlar ham hisobga olinadi. Ko‘p yangi ilova nusxasi bir vaqtda ulansa, baza ulanish limiti to‘lishi mumkin. Shu sababli jamoa talabni, ruxsatni va nosozlikdagi xatti-harakatni oldindan belgilaydi. Cloud Storage ga rasm yuklanganda funksiya uni tekshirib, kichik ko‘rinishini boshqa obyekt sifatida yozadi.</a:t>
            </a:r>
          </a:p>
          <a:p/>
          <a:p>
            <a:r>
              <a:t>Misolning xulosasi shuki, texnologiya alohida maqsad emas. U talabaga kerakli xizmatni sodda, xavfsiz va barqaror yetkazishga xizmat qiladi. Slayddagi tayanch qismlar ishni rejalashga yordam beradi; haqiqiy joylashtirishda esa aniq konfiguratsiya va amaldagi hujjatlar talab qilinadi.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 to‘g‘ri tushunish uchun uchta chegarani qayta ajratamiz.</a:t>
            </a:r>
          </a:p>
          <a:p/>
          <a:p>
            <a:r>
              <a:t>1. Project yaratishning o‘zi barcha xizmat API lari yoqilgani yoki budjet cheklangani degani emas. To‘g‘ri talqin quyidagicha: Google Cloud resurslari organization, folder va project lar orqali boshqarilishi mumkin. Project API larni yoqish, xizmatlar va hisob-kitobni bog‘lashda muhim birlikdir. Region va zone tanlovi kechikish hamda mavjudlikka ta’sir qiladi.</a:t>
            </a:r>
          </a:p>
          <a:p/>
          <a:p>
            <a:r>
              <a:t>2. Ko‘p yangi ilova nusxasi bir vaqtda ulansa, baza ulanish limiti to‘lishi mumkin. To‘g‘ri talqin quyidagicha: Cloud SQL qo‘llab-quvvatlanadigan MySQL, PostgreSQL va SQL Server dvijoklari uchun boshqariladigan xizmatdir. Kundalik infratuzilma ishlari soddalashadi. So‘rov samaradorligi va ma’lumot modeli esa jamoaning vazifasi bo‘lib qoladi.</a:t>
            </a:r>
          </a:p>
          <a:p/>
          <a:p>
            <a:r>
              <a:t>3. Xizmat nomi va limitlari yangilanadi; amaliy joylashtirishdan oldin tegishli avlodning rasmiy hujjati tekshiriladi. To‘g‘ri talqin quyidagicha: Sillabusdagi Cloud Functions nomi funksiyalar xizmatini anglatadi. Google hujjatlarida yangi takliflar Cloud Run functions nomi bilan ham yuritiladi. Avlod va joylashtirish usuliga qarab limit hamda imkoniyatlar farqlanadi.</a:t>
            </a:r>
          </a:p>
          <a:p/>
          <a:p>
            <a:r>
              <a:t>Bu izohlar texnologiyani rad etish uchun emas, undan o‘rinli foydalanish uchun kerak. Ta’rif, amaliy vazifa va shart birga o‘qilgandagina to‘g‘ri xulosa paydo bo‘ladi. Shuning uchun xizmat nomi yoki bitta imkoniyatga qarab butun tizim haqida umumiy hukm chiqarmaymiz.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Bugungi ma’ruzani yakunlaymiz. Compute Engine, Cloud Storage, Cloud SQL va GKE — mavzuning umumiy mazmunini ifodalaydi.</a:t>
            </a:r>
          </a:p>
          <a:p/>
          <a:p>
            <a:r>
              <a:t>Asosiy tayanch fikr: Organization → folder → project → resource. Loyiha yaratiladi, billing bog‘lanadi va zarur API lar yoqiladi. IAM siyosatlari mos ko‘lamda beriladi. Resurslar tegishli hudud va zonalarda joylashtiriladi.</a:t>
            </a:r>
          </a:p>
          <a:p/>
          <a:p>
            <a:r>
              <a:t>Asosiy tayanch fikr: Bucket ichida obyekt saqlash. Ilova service account orqali tegishli obyektga kiradi. Lifecycle qoidalari eskirgan fayllarning sinfini o‘zgartirishi mumkin. Public access siyosati aniq nazorat qilinadi.</a:t>
            </a:r>
          </a:p>
          <a:p/>
          <a:p>
            <a:r>
              <a:t>Asosiy tayanch fikr: Kubernetes uchun boshqariladigan platforma. Jamoa konteyner image, Deployment va Service konfiguratsiyasini beradi. Platforma klaster infratuzilmasini boshqarishga yordam beradi. Ilova xavfsizligi, resurs so‘rovi va kuzatuv baribir rejalashtiriladi.</a:t>
            </a:r>
          </a:p>
          <a:p/>
          <a:p>
            <a:r>
              <a:t>Barcha bo‘limlarni universitet portali misoli orqali bog‘ladik. Endi atamalarni alohida so‘z sifatida emas, tizimdagi aniq vazifa sifatida ko‘rish mumkin. Arxitektura tanlashda talab, cheklov, xavfsizlik va xarajat birgalikda baholanadi. Mavzuni takrorlashda avval ta’rifni, keyin sxemani, so‘ng misol va chegaralarni ko‘zdan kechirish foydali. E’tiboringiz uchun rahmat.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mavzu foydalanuvchi taqdim etgan BTST206 sillabusidagi tegishli ma’ruza bo‘limi asosida tuzildi. Slaydda mavzuni chuqurroq o‘qish uchun rasmiy hujjatlarga havolalar ko‘rsatilgan. Xizmatlar yangilanib boradi, shuning uchun amaliy ish oldidan tanlangan versiya, region, tarif va limitlar tekshiriladi. Bu ma’ruzada maqsad o‘zgaruvchan raqamlarni yodlash emas, barqaror tamoyillarni tushunishdir.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xec-1c8f91bc-6381-4745-8533-c57166497063.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16636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594360"/>
            <a:ext cx="594360" cy="73152"/>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896112"/>
            <a:ext cx="4480560" cy="457200"/>
          </a:xfrm>
          <a:prstGeom prst="rect">
            <a:avLst/>
          </a:prstGeom>
          <a:noFill/>
        </p:spPr>
        <p:txBody>
          <a:bodyPr wrap="square" lIns="27432" rIns="27432" tIns="18288" bIns="0">
            <a:spAutoFit/>
          </a:bodyPr>
          <a:lstStyle/>
          <a:p>
            <a:pPr>
              <a:spcAft>
                <a:spcPts val="1000"/>
              </a:spcAft>
              <a:defRPr sz="1700" b="1">
                <a:solidFill>
                  <a:srgbClr val="1678D2"/>
                </a:solidFill>
                <a:latin typeface="DejaVu Sans"/>
              </a:defRPr>
            </a:pPr>
            <a:r>
              <a:t>M14  /  BTST206</a:t>
            </a:r>
          </a:p>
        </p:txBody>
      </p:sp>
      <p:sp>
        <p:nvSpPr>
          <p:cNvPr id="6" name="TextBox 5"/>
          <p:cNvSpPr txBox="1"/>
          <p:nvPr/>
        </p:nvSpPr>
        <p:spPr>
          <a:xfrm>
            <a:off x="548640" y="1737360"/>
            <a:ext cx="4480560" cy="2788920"/>
          </a:xfrm>
          <a:prstGeom prst="rect">
            <a:avLst/>
          </a:prstGeom>
          <a:noFill/>
        </p:spPr>
        <p:txBody>
          <a:bodyPr wrap="square" lIns="27432" rIns="27432" tIns="18288" bIns="0">
            <a:spAutoFit/>
          </a:bodyPr>
          <a:lstStyle/>
          <a:p>
            <a:pPr>
              <a:spcAft>
                <a:spcPts val="1000"/>
              </a:spcAft>
              <a:defRPr sz="3000" b="1">
                <a:solidFill>
                  <a:srgbClr val="15365B"/>
                </a:solidFill>
                <a:latin typeface="DejaVu Sans"/>
              </a:defRPr>
            </a:pPr>
            <a:r>
              <a:t>Google Cloud Platform bulut xizmatlari</a:t>
            </a:r>
          </a:p>
        </p:txBody>
      </p:sp>
      <p:sp>
        <p:nvSpPr>
          <p:cNvPr id="7" name="TextBox 6"/>
          <p:cNvSpPr txBox="1"/>
          <p:nvPr/>
        </p:nvSpPr>
        <p:spPr>
          <a:xfrm>
            <a:off x="548640" y="4800600"/>
            <a:ext cx="4434840" cy="914400"/>
          </a:xfrm>
          <a:prstGeom prst="rect">
            <a:avLst/>
          </a:prstGeom>
          <a:noFill/>
        </p:spPr>
        <p:txBody>
          <a:bodyPr wrap="square" lIns="27432" rIns="27432" tIns="18288" bIns="0">
            <a:spAutoFit/>
          </a:bodyPr>
          <a:lstStyle/>
          <a:p>
            <a:pPr>
              <a:spcAft>
                <a:spcPts val="1000"/>
              </a:spcAft>
              <a:defRPr sz="1900" b="0">
                <a:solidFill>
                  <a:srgbClr val="53687D"/>
                </a:solidFill>
                <a:latin typeface="DejaVu Sans"/>
              </a:defRPr>
            </a:pPr>
            <a:r>
              <a:t>Compute Engine, Cloud Storage, Cloud SQL va GKE</a:t>
            </a:r>
          </a:p>
        </p:txBody>
      </p:sp>
      <p:sp>
        <p:nvSpPr>
          <p:cNvPr id="8" name="TextBox 7"/>
          <p:cNvSpPr txBox="1"/>
          <p:nvPr/>
        </p:nvSpPr>
        <p:spPr>
          <a:xfrm>
            <a:off x="548640" y="6217920"/>
            <a:ext cx="4480560" cy="365760"/>
          </a:xfrm>
          <a:prstGeom prst="rect">
            <a:avLst/>
          </a:prstGeom>
          <a:noFill/>
        </p:spPr>
        <p:txBody>
          <a:bodyPr wrap="square" lIns="27432" rIns="27432" tIns="18288" bIns="0">
            <a:spAutoFit/>
          </a:bodyPr>
          <a:lstStyle/>
          <a:p>
            <a:pPr>
              <a:spcAft>
                <a:spcPts val="1000"/>
              </a:spcAft>
              <a:defRPr sz="1100" b="0">
                <a:solidFill>
                  <a:srgbClr val="1678D2"/>
                </a:solidFill>
                <a:latin typeface="DejaVu Sans"/>
              </a:defRPr>
            </a:pPr>
            <a:r>
              <a:t>2027–2028  •  VIDEOMA’RUZA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M14 · O‘RGANISH TARTIBI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Bugungi mavzuning yo‘l xaritasi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02</a:t>
            </a:r>
          </a:p>
        </p:txBody>
      </p:sp>
      <p:sp>
        <p:nvSpPr>
          <p:cNvPr id="8" name="Rounded Rectangle 7"/>
          <p:cNvSpPr/>
          <p:nvPr/>
        </p:nvSpPr>
        <p:spPr>
          <a:xfrm>
            <a:off x="59436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01</a:t>
            </a:r>
          </a:p>
        </p:txBody>
      </p:sp>
      <p:sp>
        <p:nvSpPr>
          <p:cNvPr id="10" name="TextBox 9"/>
          <p:cNvSpPr txBox="1"/>
          <p:nvPr/>
        </p:nvSpPr>
        <p:spPr>
          <a:xfrm>
            <a:off x="138074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Resurs iyerarxiyasi va hududlar</a:t>
            </a:r>
          </a:p>
        </p:txBody>
      </p:sp>
      <p:sp>
        <p:nvSpPr>
          <p:cNvPr id="11" name="Rounded Rectangle 10"/>
          <p:cNvSpPr/>
          <p:nvPr/>
        </p:nvSpPr>
        <p:spPr>
          <a:xfrm>
            <a:off x="626364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02</a:t>
            </a:r>
          </a:p>
        </p:txBody>
      </p:sp>
      <p:sp>
        <p:nvSpPr>
          <p:cNvPr id="13" name="TextBox 12"/>
          <p:cNvSpPr txBox="1"/>
          <p:nvPr/>
        </p:nvSpPr>
        <p:spPr>
          <a:xfrm>
            <a:off x="705002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Compute Engine</a:t>
            </a:r>
          </a:p>
        </p:txBody>
      </p:sp>
      <p:sp>
        <p:nvSpPr>
          <p:cNvPr id="14" name="Rounded Rectangle 13"/>
          <p:cNvSpPr/>
          <p:nvPr/>
        </p:nvSpPr>
        <p:spPr>
          <a:xfrm>
            <a:off x="59436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03</a:t>
            </a:r>
          </a:p>
        </p:txBody>
      </p:sp>
      <p:sp>
        <p:nvSpPr>
          <p:cNvPr id="16" name="TextBox 15"/>
          <p:cNvSpPr txBox="1"/>
          <p:nvPr/>
        </p:nvSpPr>
        <p:spPr>
          <a:xfrm>
            <a:off x="138074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Cloud Storage</a:t>
            </a:r>
          </a:p>
        </p:txBody>
      </p:sp>
      <p:sp>
        <p:nvSpPr>
          <p:cNvPr id="17" name="Rounded Rectangle 16"/>
          <p:cNvSpPr/>
          <p:nvPr/>
        </p:nvSpPr>
        <p:spPr>
          <a:xfrm>
            <a:off x="626364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04</a:t>
            </a:r>
          </a:p>
        </p:txBody>
      </p:sp>
      <p:sp>
        <p:nvSpPr>
          <p:cNvPr id="19" name="TextBox 18"/>
          <p:cNvSpPr txBox="1"/>
          <p:nvPr/>
        </p:nvSpPr>
        <p:spPr>
          <a:xfrm>
            <a:off x="705002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Cloud SQL</a:t>
            </a:r>
          </a:p>
        </p:txBody>
      </p:sp>
      <p:sp>
        <p:nvSpPr>
          <p:cNvPr id="20" name="Rounded Rectangle 19"/>
          <p:cNvSpPr/>
          <p:nvPr/>
        </p:nvSpPr>
        <p:spPr>
          <a:xfrm>
            <a:off x="59436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05</a:t>
            </a:r>
          </a:p>
        </p:txBody>
      </p:sp>
      <p:sp>
        <p:nvSpPr>
          <p:cNvPr id="22" name="TextBox 21"/>
          <p:cNvSpPr txBox="1"/>
          <p:nvPr/>
        </p:nvSpPr>
        <p:spPr>
          <a:xfrm>
            <a:off x="138074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Google Kubernetes Engine</a:t>
            </a:r>
          </a:p>
        </p:txBody>
      </p:sp>
      <p:sp>
        <p:nvSpPr>
          <p:cNvPr id="23" name="Rounded Rectangle 22"/>
          <p:cNvSpPr/>
          <p:nvPr/>
        </p:nvSpPr>
        <p:spPr>
          <a:xfrm>
            <a:off x="626364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06</a:t>
            </a:r>
          </a:p>
        </p:txBody>
      </p:sp>
      <p:sp>
        <p:nvSpPr>
          <p:cNvPr id="25" name="TextBox 24"/>
          <p:cNvSpPr txBox="1"/>
          <p:nvPr/>
        </p:nvSpPr>
        <p:spPr>
          <a:xfrm>
            <a:off x="705002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Cloud Functions va Cloud Run functions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M14 · ASOSIY TUSHUNCHA 1/6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Resurs iyerarxiyasi va hududlar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03</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Organization → folder → project → resource.</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Portal va tajriba ishlari alohida project larda yuritilib, xarajat va vakolatlar ajratiladi.</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M14 · ASOSIY TUSHUNCHA 2/6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Compute Engine</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04</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Ilova image yoki boshlash konfiguratsiyasi bilan VM ga joylashtiriladi.</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Spot VM arzonroq bo‘lishi mumkin, ammo to‘xtatilishi ehtimoli bor; yagona muhim nusxa sifatida tanlanmaydi.</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Moslashuvchan virtual mashinalar.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M14 · ASOSIY TUSHUNCHA 3/6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Cloud Storage</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05</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Bucket ichida obyekt saqlash.</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Cloud Storage video, rasm, arxiv va analitik fayllar uchun obyekt xizmati hisoblanadi.</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M14 · ASOSIY TUSHUNCHA 4/6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Cloud SQL</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06</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Boshqariladigan relatsion bazalar.</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Portalning ro‘yxatdan o‘tish yozuvlari Cloud SQL da tranzaksiyalar orqali saqlanadi.</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M14 · ASOSIY TUSHUNCHA 5/6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Google Kubernetes Engine</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07</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Jamoa konteyner image, Deployment va Service konfiguratsiyasini beradi.</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Boshqariladigan Kubernetes ilova arxitekturasi va konteyner xatolarini avtomatik tuzatmaydi.</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Kubernetes uchun boshqariladigan platforma.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M14 · ASOSIY TUSHUNCHA 6/6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Cloud Functions va Cloud Run functions</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08</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Hodisalardan funksiyaga o‘tish.</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Sillabusdagi Cloud Functions nomi funksiyalar xizmatini anglatadi.</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M14 · ARXITEKTURA</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Texnik sxema: qismlar qanday bog‘lanadi?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09</a:t>
            </a:r>
          </a:p>
        </p:txBody>
      </p:sp>
      <p:cxnSp>
        <p:nvCxnSpPr>
          <p:cNvPr id="8" name="Connector 7"/>
          <p:cNvCxnSpPr/>
          <p:nvPr/>
        </p:nvCxnSpPr>
        <p:spPr>
          <a:xfrm>
            <a:off x="347472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9516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4114800" y="3246120"/>
            <a:ext cx="150876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486400" y="4956048"/>
            <a:ext cx="118872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31520" y="2286000"/>
            <a:ext cx="2743200" cy="960120"/>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2450592"/>
            <a:ext cx="2505456" cy="685800"/>
          </a:xfrm>
          <a:prstGeom prst="rect">
            <a:avLst/>
          </a:prstGeom>
          <a:noFill/>
        </p:spPr>
        <p:txBody>
          <a:bodyPr wrap="square" lIns="27432" rIns="27432" tIns="18288" bIns="0">
            <a:spAutoFit/>
          </a:bodyPr>
          <a:lstStyle/>
          <a:p>
            <a:pPr>
              <a:spcAft>
                <a:spcPts val="1000"/>
              </a:spcAft>
              <a:defRPr sz="1800" b="1">
                <a:solidFill>
                  <a:srgbClr val="FFFFFF"/>
                </a:solidFill>
                <a:latin typeface="DejaVu Sans"/>
              </a:defRPr>
            </a:pPr>
            <a:r>
              <a:t>Project va IAM</a:t>
            </a:r>
          </a:p>
        </p:txBody>
      </p:sp>
      <p:sp>
        <p:nvSpPr>
          <p:cNvPr id="14" name="Rounded Rectangle 13"/>
          <p:cNvSpPr/>
          <p:nvPr/>
        </p:nvSpPr>
        <p:spPr>
          <a:xfrm>
            <a:off x="425196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Compute / GKE</a:t>
            </a:r>
          </a:p>
        </p:txBody>
      </p:sp>
      <p:sp>
        <p:nvSpPr>
          <p:cNvPr id="16" name="Rounded Rectangle 15"/>
          <p:cNvSpPr/>
          <p:nvPr/>
        </p:nvSpPr>
        <p:spPr>
          <a:xfrm>
            <a:off x="777240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9127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Cloud SQL</a:t>
            </a:r>
          </a:p>
        </p:txBody>
      </p:sp>
      <p:sp>
        <p:nvSpPr>
          <p:cNvPr id="18" name="Rounded Rectangle 17"/>
          <p:cNvSpPr/>
          <p:nvPr/>
        </p:nvSpPr>
        <p:spPr>
          <a:xfrm>
            <a:off x="274320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6207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Cloud Storage</a:t>
            </a:r>
          </a:p>
        </p:txBody>
      </p:sp>
      <p:sp>
        <p:nvSpPr>
          <p:cNvPr id="20" name="Rounded Rectangle 19"/>
          <p:cNvSpPr/>
          <p:nvPr/>
        </p:nvSpPr>
        <p:spPr>
          <a:xfrm>
            <a:off x="667512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Functions</a:t>
            </a:r>
          </a:p>
        </p:txBody>
      </p:sp>
      <p:sp>
        <p:nvSpPr>
          <p:cNvPr id="22" name="TextBox 21"/>
          <p:cNvSpPr txBox="1"/>
          <p:nvPr/>
        </p:nvSpPr>
        <p:spPr>
          <a:xfrm>
            <a:off x="777240" y="5806440"/>
            <a:ext cx="10789920" cy="347472"/>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O‘qlar: asosiy bog‘lanish yoki boshqaruv yo‘nalishi. Sxema soddalashtirilgan.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M14 · O‘QITUVCHI BAYONI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Universitet portali misolida</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10</a:t>
            </a:r>
          </a:p>
        </p:txBody>
      </p:sp>
      <p:sp>
        <p:nvSpPr>
          <p:cNvPr id="8" name="TextBox 7"/>
          <p:cNvSpPr txBox="1"/>
          <p:nvPr/>
        </p:nvSpPr>
        <p:spPr>
          <a:xfrm>
            <a:off x="658368" y="1920240"/>
            <a:ext cx="7040880" cy="150876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Universitet tahlil va portal xizmatlarini Google Cloud da joylashtiradi. Project resurslar, API lar, ruxsat va xarajatlarni tartibga solishning asosiy amaliy chegarasi sifatida ishlatiladi.</a:t>
            </a:r>
          </a:p>
        </p:txBody>
      </p:sp>
      <p:sp>
        <p:nvSpPr>
          <p:cNvPr id="9" name="Rounded Rectangle 8"/>
          <p:cNvSpPr/>
          <p:nvPr/>
        </p:nvSpPr>
        <p:spPr>
          <a:xfrm>
            <a:off x="685800"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Project va IAM</a:t>
            </a:r>
          </a:p>
        </p:txBody>
      </p:sp>
      <p:sp>
        <p:nvSpPr>
          <p:cNvPr id="11" name="Rounded Rectangle 10"/>
          <p:cNvSpPr/>
          <p:nvPr/>
        </p:nvSpPr>
        <p:spPr>
          <a:xfrm>
            <a:off x="3584448"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21608"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VPC</a:t>
            </a:r>
          </a:p>
        </p:txBody>
      </p:sp>
      <p:sp>
        <p:nvSpPr>
          <p:cNvPr id="13" name="Rounded Rectangle 12"/>
          <p:cNvSpPr/>
          <p:nvPr/>
        </p:nvSpPr>
        <p:spPr>
          <a:xfrm>
            <a:off x="6483096"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0256"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Compute / GKE</a:t>
            </a:r>
          </a:p>
        </p:txBody>
      </p:sp>
      <p:sp>
        <p:nvSpPr>
          <p:cNvPr id="15" name="Rounded Rectangle 14"/>
          <p:cNvSpPr/>
          <p:nvPr/>
        </p:nvSpPr>
        <p:spPr>
          <a:xfrm>
            <a:off x="9381744"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18904"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Storage / SQL</a:t>
            </a:r>
          </a:p>
        </p:txBody>
      </p:sp>
      <p:sp>
        <p:nvSpPr>
          <p:cNvPr id="17" name="TextBox 16"/>
          <p:cNvSpPr txBox="1"/>
          <p:nvPr/>
        </p:nvSpPr>
        <p:spPr>
          <a:xfrm>
            <a:off x="713232" y="5632704"/>
            <a:ext cx="10789920" cy="365760"/>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Yuqoridagi bloklar — misolning tayanch qismlari; ular har doim chiziqli trafik yo‘li emas.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M14 · ANIQLIK KIRITAMIZ</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Ko‘p uchraydigan noto‘g‘ri xulosalar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11</a:t>
            </a:r>
          </a:p>
        </p:txBody>
      </p:sp>
      <p:sp>
        <p:nvSpPr>
          <p:cNvPr id="8" name="Rounded Rectangle 7"/>
          <p:cNvSpPr/>
          <p:nvPr/>
        </p:nvSpPr>
        <p:spPr>
          <a:xfrm>
            <a:off x="640080" y="1892807"/>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1929384"/>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1</a:t>
            </a:r>
          </a:p>
        </p:txBody>
      </p:sp>
      <p:sp>
        <p:nvSpPr>
          <p:cNvPr id="10" name="TextBox 9"/>
          <p:cNvSpPr txBox="1"/>
          <p:nvPr/>
        </p:nvSpPr>
        <p:spPr>
          <a:xfrm>
            <a:off x="1353312" y="1892807"/>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Project yaratishning o‘zi barcha xizmat API lari yoqilgani yoki budjet cheklangani degani emas.</a:t>
            </a:r>
          </a:p>
        </p:txBody>
      </p:sp>
      <p:sp>
        <p:nvSpPr>
          <p:cNvPr id="11" name="Rounded Rectangle 10"/>
          <p:cNvSpPr/>
          <p:nvPr/>
        </p:nvSpPr>
        <p:spPr>
          <a:xfrm>
            <a:off x="640080" y="3246120"/>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3282696"/>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2</a:t>
            </a:r>
          </a:p>
        </p:txBody>
      </p:sp>
      <p:sp>
        <p:nvSpPr>
          <p:cNvPr id="13" name="TextBox 12"/>
          <p:cNvSpPr txBox="1"/>
          <p:nvPr/>
        </p:nvSpPr>
        <p:spPr>
          <a:xfrm>
            <a:off x="1353312" y="3246120"/>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Ko‘p yangi ilova nusxasi bir vaqtda ulansa, baza ulanish limiti to‘lishi mumkin.</a:t>
            </a:r>
          </a:p>
        </p:txBody>
      </p:sp>
      <p:sp>
        <p:nvSpPr>
          <p:cNvPr id="14" name="Rounded Rectangle 13"/>
          <p:cNvSpPr/>
          <p:nvPr/>
        </p:nvSpPr>
        <p:spPr>
          <a:xfrm>
            <a:off x="640080" y="4599431"/>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636007"/>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3</a:t>
            </a:r>
          </a:p>
        </p:txBody>
      </p:sp>
      <p:sp>
        <p:nvSpPr>
          <p:cNvPr id="16" name="TextBox 15"/>
          <p:cNvSpPr txBox="1"/>
          <p:nvPr/>
        </p:nvSpPr>
        <p:spPr>
          <a:xfrm>
            <a:off x="1353312" y="4599431"/>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Xizmat nomi va limitlari yangilanadi; amaliy joylashtirishdan oldin tegishli avlodning rasmiy hujjati tekshiriladi.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M14 · YAKUN</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Mavzuning asosiy xulosalari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12</a:t>
            </a:r>
          </a:p>
        </p:txBody>
      </p:sp>
      <p:sp>
        <p:nvSpPr>
          <p:cNvPr id="8" name="Rounded Rectangle 7"/>
          <p:cNvSpPr/>
          <p:nvPr/>
        </p:nvSpPr>
        <p:spPr>
          <a:xfrm>
            <a:off x="640080"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01</a:t>
            </a:r>
          </a:p>
        </p:txBody>
      </p:sp>
      <p:sp>
        <p:nvSpPr>
          <p:cNvPr id="10" name="TextBox 9"/>
          <p:cNvSpPr txBox="1"/>
          <p:nvPr/>
        </p:nvSpPr>
        <p:spPr>
          <a:xfrm>
            <a:off x="859536"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Organization → folder → project → resource.</a:t>
            </a:r>
          </a:p>
        </p:txBody>
      </p:sp>
      <p:sp>
        <p:nvSpPr>
          <p:cNvPr id="11" name="Rounded Rectangle 10"/>
          <p:cNvSpPr/>
          <p:nvPr/>
        </p:nvSpPr>
        <p:spPr>
          <a:xfrm>
            <a:off x="4498848"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8304"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02</a:t>
            </a:r>
          </a:p>
        </p:txBody>
      </p:sp>
      <p:sp>
        <p:nvSpPr>
          <p:cNvPr id="13" name="TextBox 12"/>
          <p:cNvSpPr txBox="1"/>
          <p:nvPr/>
        </p:nvSpPr>
        <p:spPr>
          <a:xfrm>
            <a:off x="4718304"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Bucket ichida obyekt saqlash.</a:t>
            </a:r>
          </a:p>
        </p:txBody>
      </p:sp>
      <p:sp>
        <p:nvSpPr>
          <p:cNvPr id="14" name="Rounded Rectangle 13"/>
          <p:cNvSpPr/>
          <p:nvPr/>
        </p:nvSpPr>
        <p:spPr>
          <a:xfrm>
            <a:off x="8357615"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77072"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03</a:t>
            </a:r>
          </a:p>
        </p:txBody>
      </p:sp>
      <p:sp>
        <p:nvSpPr>
          <p:cNvPr id="16" name="TextBox 15"/>
          <p:cNvSpPr txBox="1"/>
          <p:nvPr/>
        </p:nvSpPr>
        <p:spPr>
          <a:xfrm>
            <a:off x="8577072"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Kubernetes uchun boshqariladigan platforma.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M14 · QO‘SHIMCHA O‘QISH</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Manbalar va terminlar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13</a:t>
            </a:r>
          </a:p>
        </p:txBody>
      </p:sp>
      <p:sp>
        <p:nvSpPr>
          <p:cNvPr id="8" name="TextBox 7"/>
          <p:cNvSpPr txBox="1"/>
          <p:nvPr/>
        </p:nvSpPr>
        <p:spPr>
          <a:xfrm>
            <a:off x="685800" y="1920240"/>
            <a:ext cx="10789920" cy="822960"/>
          </a:xfrm>
          <a:prstGeom prst="rect">
            <a:avLst/>
          </a:prstGeom>
          <a:noFill/>
        </p:spPr>
        <p:txBody>
          <a:bodyPr wrap="square" lIns="27432" rIns="27432" tIns="18288" bIns="0">
            <a:spAutoFit/>
          </a:bodyPr>
          <a:lstStyle/>
          <a:p>
            <a:pPr>
              <a:spcAft>
                <a:spcPts val="1000"/>
              </a:spcAft>
              <a:defRPr sz="2100" b="1">
                <a:solidFill>
                  <a:srgbClr val="15365B"/>
                </a:solidFill>
                <a:latin typeface="DejaVu Sans"/>
              </a:defRPr>
            </a:pPr>
            <a:r>
              <a:t>Asos: BTST206 sillabusi, 2027–2028. M1–M18 ma’ruza bo‘limi.</a:t>
            </a:r>
          </a:p>
        </p:txBody>
      </p:sp>
      <p:sp>
        <p:nvSpPr>
          <p:cNvPr id="9" name="TextBox 8"/>
          <p:cNvSpPr txBox="1"/>
          <p:nvPr/>
        </p:nvSpPr>
        <p:spPr>
          <a:xfrm>
            <a:off x="713232" y="2926080"/>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https://cloud.google.com/resource-manager/docs/cloud-platform-resource-hierarchy</a:t>
            </a:r>
          </a:p>
        </p:txBody>
      </p:sp>
      <p:sp>
        <p:nvSpPr>
          <p:cNvPr id="10" name="TextBox 9"/>
          <p:cNvSpPr txBox="1"/>
          <p:nvPr/>
        </p:nvSpPr>
        <p:spPr>
          <a:xfrm>
            <a:off x="713232" y="3456432"/>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https://cloud.google.com/compute/docs</a:t>
            </a:r>
          </a:p>
        </p:txBody>
      </p:sp>
      <p:sp>
        <p:nvSpPr>
          <p:cNvPr id="11" name="TextBox 10"/>
          <p:cNvSpPr txBox="1"/>
          <p:nvPr/>
        </p:nvSpPr>
        <p:spPr>
          <a:xfrm>
            <a:off x="713232" y="3986784"/>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https://cloud.google.com/kubernetes-engine/docs</a:t>
            </a:r>
          </a:p>
        </p:txBody>
      </p:sp>
      <p:sp>
        <p:nvSpPr>
          <p:cNvPr id="12" name="TextBox 11"/>
          <p:cNvSpPr txBox="1"/>
          <p:nvPr/>
        </p:nvSpPr>
        <p:spPr>
          <a:xfrm>
            <a:off x="713232" y="4517136"/>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https://cloud.google.com/run/docs/functions/overview</a:t>
            </a:r>
          </a:p>
        </p:txBody>
      </p:sp>
      <p:sp>
        <p:nvSpPr>
          <p:cNvPr id="13" name="TextBox 12"/>
          <p:cNvSpPr txBox="1"/>
          <p:nvPr/>
        </p:nvSpPr>
        <p:spPr>
          <a:xfrm>
            <a:off x="713232" y="5650992"/>
            <a:ext cx="10789920" cy="502920"/>
          </a:xfrm>
          <a:prstGeom prst="rect">
            <a:avLst/>
          </a:prstGeom>
          <a:noFill/>
        </p:spPr>
        <p:txBody>
          <a:bodyPr wrap="square" lIns="27432" rIns="27432" tIns="18288" bIns="0">
            <a:spAutoFit/>
          </a:bodyPr>
          <a:lstStyle/>
          <a:p>
            <a:pPr>
              <a:spcAft>
                <a:spcPts val="1000"/>
              </a:spcAft>
              <a:defRPr sz="1600" b="0">
                <a:solidFill>
                  <a:srgbClr val="53687D"/>
                </a:solidFill>
                <a:latin typeface="DejaVu Sans"/>
              </a:defRPr>
            </a:pPr>
            <a:r>
              <a:t>Narx, limit va xizmat nomlarining amaldagi holati rasmiy hujjatlarda tekshiriladi.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