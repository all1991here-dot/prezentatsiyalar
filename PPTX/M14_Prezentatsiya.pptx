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Assalomu alaykum, aziz talabalar. Bugungi ma’ruzamiz «Google Cloud Platform bulut xizmatlari» mavzusiga bag‘ishlanadi. Mavzuni murakkab atamalardan emas, kundalik ehtiyojdan boshlaymiz. Universitet tahlil va portal xizmatlarini Google Cloud da joylashtiradi. Project resurslar, API lar, ruxsat va xarajatlarni tartibga solishning asosiy amaliy chegarasi sifatida ishlatiladi.</a:t>
            </a:r>
          </a:p>
          <a:p/>
          <a:p>
            <a:r>
              <a:t>Biz avval asosiy tushunchalarni ajratamiz, keyin ularning ishlash tartibini sxemada ko‘ramiz. Maqsad xizmat nomlarini yodlash emas, ularning qaysi vazifani bajarishini va qayerda cheklanishini tushunishdir. Inglizcha atama uchraganda uning sodda o‘zbekcha ma’nosi bilan bog‘laymiz. Slayddagi qisqa jumlalar tayanch fikrlar bo‘lib, ularning batafsil izohi ushbu ma’ruza matnida beriladi.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Ma’ruza oltita asosiy bo‘limdan iborat. 1-bo‘limda resurs iyerarxiyasi va hududlar tushuntiriladi. 2-bo‘limda compute engine tushuntiriladi. 3-bo‘limda cloud storage tushuntiriladi. 4-bo‘limda cloud sql tushuntiriladi. 5-bo‘limda google kubernetes engine tushuntiriladi. 6-bo‘limda cloud functions va cloud run functions tushuntiriladi.</a:t>
            </a:r>
          </a:p>
          <a:p/>
          <a:p>
            <a:r>
              <a:t>Har bir bo‘limda bir xil fikrlash tartibidan foydalanamiz: tushuncha nimani anglatadi, qanday ishlaydi, universitet portalida qayerda ko‘rinadi va qaysi holatda ehtiyot bo‘lish kerak. Shundan keyin umumiy sxema barcha qismlarni bir-biriga bog‘laydi. Oxirida o‘qituvchi bayon qiladigan misol, chalkash tushunchalar va yakuniy xulosalar beriladi. Bu ketma-ketlik amaliy topshiriq emas, videodarsning tushuntirish rejasidir.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Google Cloud resurslari organization, folder va project lar orqali boshqarilishi mumkin. Project API larni yoqish, xizmatlar va hisob-kitobni bog‘lashda muhim birlikdir. Region va zone tanlovi kechikish hamda mavjudlikka ta’sir qiladi.</a:t>
            </a:r>
          </a:p>
          <a:p/>
          <a:p>
            <a:r>
              <a:t>Loyiha yaratiladi, billing bog‘lanadi va zarur API lar yoqiladi. IAM siyosatlari mos ko‘lamda beriladi. Resurslar tegishli hudud va zonalarda joylashtiriladi.</a:t>
            </a:r>
          </a:p>
          <a:p/>
          <a:p>
            <a:r>
              <a:t>Universitet misolida buni quyidagicha tasavvur qilamiz. Portal va tajriba ishlari alohida project larda yuritilib, xarajat va vakolatlar ajratiladi. Bu misolda texnik atama real vazifa bilan bog‘lanadi: resursning nomini emas, nima uchun tanlanganini tushunish muhim.</a:t>
            </a:r>
          </a:p>
          <a:p/>
          <a:p>
            <a:r>
              <a:t>E’tibor beradigan chegara ham bor. Project yaratishning o‘zi barcha xizmat API lari yoqilgani yoki budjet cheklangani degani emas.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Compute Engine virtual mashinalarni taqdim etadi. Machine type CPU va xotira konfiguratsiyasini, image esa boshlang‘ich operatsion tizimni belgilaydi. Instance template va managed instance group bir xil nusxalarni boshqarishga yordam beradi.</a:t>
            </a:r>
          </a:p>
          <a:p/>
          <a:p>
            <a:r>
              <a:t>Ilova image yoki boshlash konfiguratsiyasi bilan VM ga joylashtiriladi. Sog‘lomlik tekshiruvi va guruh sozlamalari yangilash hamda masshtablashni boshqaradi.</a:t>
            </a:r>
          </a:p>
          <a:p/>
          <a:p>
            <a:r>
              <a:t>Universitet misolida buni quyidagicha tasavvur qilamiz. Portalning ikki nusxasi managed instance group ichida ishlaydi va yuklama taqsimlagich ortida xizmat qiladi. Bu misolda texnik atama real vazifa bilan bog‘lanadi: resursning nomini emas, nima uchun tanlanganini tushunish muhim.</a:t>
            </a:r>
          </a:p>
          <a:p/>
          <a:p>
            <a:r>
              <a:t>E’tibor beradigan chegara ham bor. Spot VM arzonroq bo‘lishi mumkin, ammo to‘xtatilishi ehtimoli bor; yagona muhim nusxa sifatida tanlanmaydi.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Cloud Storage video, rasm, arxiv va analitik fayllar uchun obyekt xizmati hisoblanadi. Bucket joylashuvi ma’lumotning hududiy siyosati va kirish kechikishiga ta’sir qiladi. Ruxsatlar IAM yordamida boshqariladi.</a:t>
            </a:r>
          </a:p>
          <a:p/>
          <a:p>
            <a:r>
              <a:t>Ilova service account orqali tegishli obyektga kiradi. Lifecycle qoidalari eskirgan fayllarning sinfini o‘zgartirishi mumkin. Public access siyosati aniq nazorat qilinadi.</a:t>
            </a:r>
          </a:p>
          <a:p/>
          <a:p>
            <a:r>
              <a:t>Universitet misolida buni quyidagicha tasavvur qilamiz. Videolar maxsus bucket da saqlanadi; tahlil uchun kerakli log fayllari boshqa bucket ga yoziladi. Bu misolda texnik atama real vazifa bilan bog‘lanadi: resursning nomini emas, nima uchun tanlanganini tushunish muhim.</a:t>
            </a:r>
          </a:p>
          <a:p/>
          <a:p>
            <a:r>
              <a:t>E’tibor beradigan chegara ham bor. Object Storage fayl nomlarini papkaga o‘xshatib ko‘rsatsa ham, u oddiy lokal disk bilan bir xil emas.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Cloud SQL qo‘llab-quvvatlanadigan MySQL, PostgreSQL va SQL Server dvijoklari uchun boshqariladigan xizmatdir. Kundalik infratuzilma ishlari soddalashadi. So‘rov samaradorligi va ma’lumot modeli esa jamoaning vazifasi bo‘lib qoladi.</a:t>
            </a:r>
          </a:p>
          <a:p/>
          <a:p>
            <a:r>
              <a:t>Private ulanish yoki mos xavfsiz ulanish mexanizmi tanlanadi. Zaxira va mavjudlik sozlamalari belgilanadi. Ilova ulanish havzasidan foydalanib limitni nazorat qiladi.</a:t>
            </a:r>
          </a:p>
          <a:p/>
          <a:p>
            <a:r>
              <a:t>Universitet misolida buni quyidagicha tasavvur qilamiz. Portalning ro‘yxatdan o‘tish yozuvlari Cloud SQL da tranzaksiyalar orqali saqlanadi. Bu misolda texnik atama real vazifa bilan bog‘lanadi: resursning nomini emas, nima uchun tanlanganini tushunish muhim.</a:t>
            </a:r>
          </a:p>
          <a:p/>
          <a:p>
            <a:r>
              <a:t>E’tibor beradigan chegara ham bor. Ko‘p yangi ilova nusxasi bir vaqtda ulansa, baza ulanish limiti to‘lishi mumkin.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GKE Kubernetes klasterlarini boshqarishni soddalashtiradi. Control plane bilan bog‘liq ishlarning katta qismi xizmat tomonidan bajariladi. Standard va Autopilot kabi rejimlarda boshqaruv chegaralari farq qiladi.</a:t>
            </a:r>
          </a:p>
          <a:p/>
          <a:p>
            <a:r>
              <a:t>Jamoa konteyner image, Deployment va Service konfiguratsiyasini beradi. Platforma klaster infratuzilmasini boshqarishga yordam beradi. Ilova xavfsizligi, resurs so‘rovi va kuzatuv baribir rejalashtiriladi.</a:t>
            </a:r>
          </a:p>
          <a:p/>
          <a:p>
            <a:r>
              <a:t>Universitet misolida buni quyidagicha tasavvur qilamiz. Portal va xabarnoma mikroservislari GKE da alohida Deployment lar sifatida yuritiladi. Bu misolda texnik atama real vazifa bilan bog‘lanadi: resursning nomini emas, nima uchun tanlanganini tushunish muhim.</a:t>
            </a:r>
          </a:p>
          <a:p/>
          <a:p>
            <a:r>
              <a:t>E’tibor beradigan chegara ham bor. Boshqariladigan Kubernetes ilova arxitekturasi va konteyner xatolarini avtomatik tuzatmaydi.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Sillabusdagi Cloud Functions nomi funksiyalar xizmatini anglatadi. Google hujjatlarida yangi takliflar Cloud Run functions nomi bilan ham yuritiladi. Avlod va joylashtirish usuliga qarab limit hamda imkoniyatlar farqlanadi.</a:t>
            </a:r>
          </a:p>
          <a:p/>
          <a:p>
            <a:r>
              <a:t>HTTP yoki boshqa hodisa funksiyani ishga tushiradi. Service account kerakli ruxsatni beradi. Cloud Logging va Cloud Monitoring natija va xatolarni kuzatadi.</a:t>
            </a:r>
          </a:p>
          <a:p/>
          <a:p>
            <a:r>
              <a:t>Universitet misolida buni quyidagicha tasavvur qilamiz. Cloud Storage ga rasm yuklanganda funksiya uni tekshirib, kichik ko‘rinishini boshqa obyekt sifatida yozadi. Bu misolda texnik atama real vazifa bilan bog‘lanadi: resursning nomini emas, nima uchun tanlanganini tushunish muhim.</a:t>
            </a:r>
          </a:p>
          <a:p/>
          <a:p>
            <a:r>
              <a:t>E’tibor beradigan chegara ham bor. Xizmat nomi va limitlari yangilanadi; amaliy joylashtirishdan oldin tegishli avlodning rasmiy hujjati tekshiriladi.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Endi mavzuni yaxlit sxemada ko‘ramiz. To‘rtburchaklar asosiy komponentlarni, o‘qlar esa ma’lumot, murojaat yoki boshqaruv bog‘lanishini ko‘rsatadi. Bu soddalashtirilgan ta’lim sxemasi: unda barcha xavfsizlik qoidalari, ichki protokollar va zaxira komponentlari alohida chizilmagan.</a:t>
            </a:r>
          </a:p>
          <a:p/>
          <a:p>
            <a:r>
              <a:t>«Project va IAM» bilan «Compute / GKE» o‘rtasida sxemada bog‘lanish ko‘rsatilgan. «Compute / GKE» bilan «Cloud SQL» o‘rtasida sxemada bog‘lanish ko‘rsatilgan. «Compute / GKE» bilan «Cloud Storage» o‘rtasida sxemada bog‘lanish ko‘rsatilgan. «Cloud Storage» bilan «Functions» o‘rtasida sxemada bog‘lanish ko‘rsatilgan.</a:t>
            </a:r>
          </a:p>
          <a:p/>
          <a:p>
            <a:r>
              <a:t>Bu bog‘lanishlarni barcha xizmatlarda bir xil buyruq yoki bir xil fizik kabel deb tushunmaymiz. Ayrim o‘qlar bajarilish ketma-ketligini, ayrimlari resursni boshqarish yoki unga kirish aloqasini anglatadi. Ilova image yoki boshlash konfiguratsiyasi bilan VM ga joylashtiriladi. Sog‘lomlik tekshiruvi va guruh sozlamalari yangilash hamda masshtablashni boshqaradi.</a:t>
            </a:r>
          </a:p>
          <a:p/>
          <a:p>
            <a:r>
              <a:t>Sxemaning asosiy foydasi mas’uliyatlarni ajratib ko‘rsatishdir. Portal va xabarnoma mikroservislari GKE da alohida Deployment lar sifatida yuritiladi. Bir qismdagi o‘zgarish boshqasiga qanday ta’sir qilishini ko‘rish orqali murakkab tizimni kichik va tushunarli qismlarga ajratamiz.</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Keling, nazariyani bitta izchil vaziyat bilan bog‘laymiz. Universitet tahlil va portal xizmatlarini Google Cloud da joylashtiradi. Project resurslar, API lar, ruxsat va xarajatlarni tartibga solishning asosiy amaliy chegarasi sifatida ishlatiladi.</a:t>
            </a:r>
          </a:p>
          <a:p/>
          <a:p>
            <a:r>
              <a:t>Avval ehtiyoj aniqlanadi: kim tizimdan foydalanadi, qaysi ma’lumot bilan ishlanadi va qanday natija kutiladi. Portal va tajriba ishlari alohida project larda yuritilib, xarajat va vakolatlar ajratiladi. Keyin texnik qismlar shu talabga mos tanlanadi. Videolar maxsus bucket da saqlanadi; tahlil uchun kerakli log fayllari boshqa bucket ga yoziladi.</a:t>
            </a:r>
          </a:p>
          <a:p/>
          <a:p>
            <a:r>
              <a:t>Ishlash jarayonida faqat muvaffaqiyatli holat emas, xato va cheklovlar ham hisobga olinadi. Ko‘p yangi ilova nusxasi bir vaqtda ulansa, baza ulanish limiti to‘lishi mumkin. Shu sababli jamoa talabni, ruxsatni va nosozlikdagi xatti-harakatni oldindan belgilaydi. Cloud Storage ga rasm yuklanganda funksiya uni tekshirib, kichik ko‘rinishini boshqa obyekt sifatida yozadi.</a:t>
            </a:r>
          </a:p>
          <a:p/>
          <a:p>
            <a:r>
              <a:t>Misolning xulosasi shuki, texnologiya alohida maqsad emas. U talabaga kerakli xizmatni sodda, xavfsiz va barqaror yetkazishga xizmat qiladi. Slayddagi tayanch qismlar ishni rejalashga yordam beradi; haqiqiy joylashtirishda esa aniq konfiguratsiya va amaldagi hujjatlar talab qilinadi.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Mavzuni to‘g‘ri tushunish uchun uchta chegarani qayta ajratamiz.</a:t>
            </a:r>
          </a:p>
          <a:p/>
          <a:p>
            <a:r>
              <a:t>1. Project yaratishning o‘zi barcha xizmat API lari yoqilgani yoki budjet cheklangani degani emas. To‘g‘ri talqin quyidagicha: Google Cloud resurslari organization, folder va project lar orqali boshqarilishi mumkin. Project API larni yoqish, xizmatlar va hisob-kitobni bog‘lashda muhim birlikdir. Region va zone tanlovi kechikish hamda mavjudlikka ta’sir qiladi.</a:t>
            </a:r>
          </a:p>
          <a:p/>
          <a:p>
            <a:r>
              <a:t>2. Ko‘p yangi ilova nusxasi bir vaqtda ulansa, baza ulanish limiti to‘lishi mumkin. To‘g‘ri talqin quyidagicha: Cloud SQL qo‘llab-quvvatlanadigan MySQL, PostgreSQL va SQL Server dvijoklari uchun boshqariladigan xizmatdir. Kundalik infratuzilma ishlari soddalashadi. So‘rov samaradorligi va ma’lumot modeli esa jamoaning vazifasi bo‘lib qoladi.</a:t>
            </a:r>
          </a:p>
          <a:p/>
          <a:p>
            <a:r>
              <a:t>3. Xizmat nomi va limitlari yangilanadi; amaliy joylashtirishdan oldin tegishli avlodning rasmiy hujjati tekshiriladi. To‘g‘ri talqin quyidagicha: Sillabusdagi Cloud Functions nomi funksiyalar xizmatini anglatadi. Google hujjatlarida yangi takliflar Cloud Run functions nomi bilan ham yuritiladi. Avlod va joylashtirish usuliga qarab limit hamda imkoniyatlar farqlanadi.</a:t>
            </a:r>
          </a:p>
          <a:p/>
          <a:p>
            <a:r>
              <a:t>Bu izohlar texnologiyani rad etish uchun emas, undan o‘rinli foydalanish uchun kerak. Ta’rif, amaliy vazifa va shart birga o‘qilgandagina to‘g‘ri xulosa paydo bo‘ladi. Shuning uchun xizmat nomi yoki bitta imkoniyatga qarab butun tizim haqida umumiy hukm chiqarmaymiz.</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Bugungi ma’ruzani yakunlaymiz. Compute Engine, Cloud Storage, Cloud SQL va GKE — mavzuning umumiy mazmunini ifodalaydi.</a:t>
            </a:r>
          </a:p>
          <a:p/>
          <a:p>
            <a:r>
              <a:t>Asosiy tayanch fikr: Organization → folder → project → resource. Loyiha yaratiladi, billing bog‘lanadi va zarur API lar yoqiladi. IAM siyosatlari mos ko‘lamda beriladi. Resurslar tegishli hudud va zonalarda joylashtiriladi.</a:t>
            </a:r>
          </a:p>
          <a:p/>
          <a:p>
            <a:r>
              <a:t>Asosiy tayanch fikr: Bucket ichida obyekt saqlash. Ilova service account orqali tegishli obyektga kiradi. Lifecycle qoidalari eskirgan fayllarning sinfini o‘zgartirishi mumkin. Public access siyosati aniq nazorat qilinadi.</a:t>
            </a:r>
          </a:p>
          <a:p/>
          <a:p>
            <a:r>
              <a:t>Asosiy tayanch fikr: Kubernetes uchun boshqariladigan platforma. Jamoa konteyner image, Deployment va Service konfiguratsiyasini beradi. Platforma klaster infratuzilmasini boshqarishga yordam beradi. Ilova xavfsizligi, resurs so‘rovi va kuzatuv baribir rejalashtiriladi.</a:t>
            </a:r>
          </a:p>
          <a:p/>
          <a:p>
            <a:r>
              <a:t>Barcha bo‘limlarni universitet portali misoli orqali bog‘ladik. Endi atamalarni alohida so‘z sifatida emas, tizimdagi aniq vazifa sifatida ko‘rish mumkin. Arxitektura tanlashda talab, cheklov, xavfsizlik va xarajat birgalikda baholanadi. Mavzuni takrorlashda avval ta’rifni, keyin sxemani, so‘ng misol va chegaralarni ko‘zdan kechirish foydali. E’tiboringiz uchun rahmat.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Ushbu mavzu foydalanuvchi taqdim etgan BTST206 sillabusidagi tegishli ma’ruza bo‘limi asosida tuzildi. Slaydda mavzuni chuqurroq o‘qish uchun rasmiy hujjatlarga havolalar ko‘rsatilgan. Xizmatlar yangilanib boradi, shuning uchun amaliy ish oldidan tanlangan versiya, region, tarif va limitlar tekshiriladi. Bu ma’ruzada maqsad o‘zgaruvchan raqamlarni yodlash emas, barqaror tamoyillarni tushunishdir.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047923" cy="11887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047923" y="0"/>
            <a:ext cx="3047923" cy="11887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5847" y="0"/>
            <a:ext cx="3047923" cy="118872"/>
          </a:xfrm>
          <a:prstGeom prst="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3771" y="0"/>
            <a:ext cx="3047923" cy="11887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685800"/>
            <a:ext cx="5486400" cy="457200"/>
          </a:xfrm>
          <a:prstGeom prst="rect">
            <a:avLst/>
          </a:prstGeom>
          <a:noFill/>
        </p:spPr>
        <p:txBody>
          <a:bodyPr wrap="square" lIns="27432" rIns="27432" tIns="18288" bIns="0">
            <a:spAutoFit/>
          </a:bodyPr>
          <a:lstStyle/>
          <a:p>
            <a:pPr>
              <a:spcAft>
                <a:spcPts val="800"/>
              </a:spcAft>
              <a:defRPr sz="1600" b="1">
                <a:solidFill>
                  <a:srgbClr val="4285F4"/>
                </a:solidFill>
                <a:latin typeface="DejaVu Sans"/>
              </a:defRPr>
            </a:pPr>
            <a:r>
              <a:t>14   /   GOOGLE CLOUD</a:t>
            </a:r>
          </a:p>
        </p:txBody>
      </p:sp>
      <p:sp>
        <p:nvSpPr>
          <p:cNvPr id="7" name="TextBox 6"/>
          <p:cNvSpPr txBox="1"/>
          <p:nvPr/>
        </p:nvSpPr>
        <p:spPr>
          <a:xfrm>
            <a:off x="749808" y="1600200"/>
            <a:ext cx="6400800" cy="2240280"/>
          </a:xfrm>
          <a:prstGeom prst="rect">
            <a:avLst/>
          </a:prstGeom>
          <a:noFill/>
        </p:spPr>
        <p:txBody>
          <a:bodyPr wrap="square" lIns="27432" rIns="27432" tIns="18288" bIns="0">
            <a:spAutoFit/>
          </a:bodyPr>
          <a:lstStyle/>
          <a:p>
            <a:pPr>
              <a:spcAft>
                <a:spcPts val="800"/>
              </a:spcAft>
              <a:defRPr sz="4400" b="1">
                <a:solidFill>
                  <a:srgbClr val="25364C"/>
                </a:solidFill>
                <a:latin typeface="DejaVu Sans"/>
              </a:defRPr>
            </a:pPr>
            <a:r>
              <a:t>Google Cloud</a:t>
            </a:r>
          </a:p>
          <a:p>
            <a:pPr>
              <a:spcAft>
                <a:spcPts val="800"/>
              </a:spcAft>
              <a:defRPr sz="4400" b="1">
                <a:solidFill>
                  <a:srgbClr val="25364C"/>
                </a:solidFill>
                <a:latin typeface="DejaVu Sans"/>
              </a:defRPr>
            </a:pPr>
            <a:r>
              <a:t>Platform</a:t>
            </a:r>
          </a:p>
        </p:txBody>
      </p:sp>
      <p:sp>
        <p:nvSpPr>
          <p:cNvPr id="8" name="TextBox 7"/>
          <p:cNvSpPr txBox="1"/>
          <p:nvPr/>
        </p:nvSpPr>
        <p:spPr>
          <a:xfrm>
            <a:off x="777240" y="4160520"/>
            <a:ext cx="6126480" cy="914400"/>
          </a:xfrm>
          <a:prstGeom prst="rect">
            <a:avLst/>
          </a:prstGeom>
          <a:noFill/>
        </p:spPr>
        <p:txBody>
          <a:bodyPr wrap="square" lIns="27432" rIns="27432" tIns="18288" bIns="0">
            <a:spAutoFit/>
          </a:bodyPr>
          <a:lstStyle/>
          <a:p>
            <a:pPr>
              <a:spcAft>
                <a:spcPts val="800"/>
              </a:spcAft>
              <a:defRPr sz="2400" b="0">
                <a:solidFill>
                  <a:srgbClr val="25364C"/>
                </a:solidFill>
                <a:latin typeface="DejaVu Sans"/>
              </a:defRPr>
            </a:pPr>
            <a:r>
              <a:t>Compute Engine, Cloud Storage, Cloud SQL va GKE</a:t>
            </a:r>
          </a:p>
        </p:txBody>
      </p:sp>
      <p:sp>
        <p:nvSpPr>
          <p:cNvPr id="9" name="Oval 8"/>
          <p:cNvSpPr/>
          <p:nvPr/>
        </p:nvSpPr>
        <p:spPr>
          <a:xfrm>
            <a:off x="7498079" y="1417320"/>
            <a:ext cx="3383280" cy="3383280"/>
          </a:xfrm>
          <a:prstGeom prst="ellipse">
            <a:avLst/>
          </a:prstGeom>
          <a:solidFill>
            <a:srgbClr val="F0F5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M14_google_cloud.png"/>
          <p:cNvPicPr>
            <a:picLocks noChangeAspect="1"/>
          </p:cNvPicPr>
          <p:nvPr/>
        </p:nvPicPr>
        <p:blipFill>
          <a:blip r:embed="rId2"/>
          <a:stretch>
            <a:fillRect/>
          </a:stretch>
        </p:blipFill>
        <p:spPr>
          <a:xfrm>
            <a:off x="7726679" y="1618487"/>
            <a:ext cx="2926080" cy="2926080"/>
          </a:xfrm>
          <a:prstGeom prst="rect">
            <a:avLst/>
          </a:prstGeom>
        </p:spPr>
      </p:pic>
      <p:sp>
        <p:nvSpPr>
          <p:cNvPr id="11" name="Oval 10"/>
          <p:cNvSpPr/>
          <p:nvPr/>
        </p:nvSpPr>
        <p:spPr>
          <a:xfrm>
            <a:off x="777240" y="5660136"/>
            <a:ext cx="146304" cy="146304"/>
          </a:xfrm>
          <a:prstGeom prst="ellipse">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33271" y="5532120"/>
            <a:ext cx="2377440" cy="475488"/>
          </a:xfrm>
          <a:prstGeom prst="rect">
            <a:avLst/>
          </a:prstGeom>
          <a:noFill/>
        </p:spPr>
        <p:txBody>
          <a:bodyPr wrap="square" lIns="27432" rIns="27432" tIns="18288" bIns="0">
            <a:spAutoFit/>
          </a:bodyPr>
          <a:lstStyle/>
          <a:p>
            <a:pPr>
              <a:spcAft>
                <a:spcPts val="800"/>
              </a:spcAft>
              <a:defRPr sz="2000" b="0">
                <a:solidFill>
                  <a:srgbClr val="25364C"/>
                </a:solidFill>
                <a:latin typeface="DejaVu Sans"/>
              </a:defRPr>
            </a:pPr>
            <a:r>
              <a:t>Compute</a:t>
            </a:r>
          </a:p>
        </p:txBody>
      </p:sp>
      <p:sp>
        <p:nvSpPr>
          <p:cNvPr id="13" name="Oval 12"/>
          <p:cNvSpPr/>
          <p:nvPr/>
        </p:nvSpPr>
        <p:spPr>
          <a:xfrm>
            <a:off x="3557016" y="5660136"/>
            <a:ext cx="146304" cy="146304"/>
          </a:xfrm>
          <a:prstGeom prst="ellipse">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813048" y="5532120"/>
            <a:ext cx="2377440" cy="475488"/>
          </a:xfrm>
          <a:prstGeom prst="rect">
            <a:avLst/>
          </a:prstGeom>
          <a:noFill/>
        </p:spPr>
        <p:txBody>
          <a:bodyPr wrap="square" lIns="27432" rIns="27432" tIns="18288" bIns="0">
            <a:spAutoFit/>
          </a:bodyPr>
          <a:lstStyle/>
          <a:p>
            <a:pPr>
              <a:spcAft>
                <a:spcPts val="800"/>
              </a:spcAft>
              <a:defRPr sz="2000" b="0">
                <a:solidFill>
                  <a:srgbClr val="25364C"/>
                </a:solidFill>
                <a:latin typeface="DejaVu Sans"/>
              </a:defRPr>
            </a:pPr>
            <a:r>
              <a:t>Storage</a:t>
            </a:r>
          </a:p>
        </p:txBody>
      </p:sp>
      <p:sp>
        <p:nvSpPr>
          <p:cNvPr id="15" name="Oval 14"/>
          <p:cNvSpPr/>
          <p:nvPr/>
        </p:nvSpPr>
        <p:spPr>
          <a:xfrm>
            <a:off x="6336792" y="5660136"/>
            <a:ext cx="146304" cy="146304"/>
          </a:xfrm>
          <a:prstGeom prst="ellipse">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92824" y="5532120"/>
            <a:ext cx="2377440" cy="475488"/>
          </a:xfrm>
          <a:prstGeom prst="rect">
            <a:avLst/>
          </a:prstGeom>
          <a:noFill/>
        </p:spPr>
        <p:txBody>
          <a:bodyPr wrap="square" lIns="27432" rIns="27432" tIns="18288" bIns="0">
            <a:spAutoFit/>
          </a:bodyPr>
          <a:lstStyle/>
          <a:p>
            <a:pPr>
              <a:spcAft>
                <a:spcPts val="800"/>
              </a:spcAft>
              <a:defRPr sz="2000" b="0">
                <a:solidFill>
                  <a:srgbClr val="25364C"/>
                </a:solidFill>
                <a:latin typeface="DejaVu Sans"/>
              </a:defRPr>
            </a:pPr>
            <a:r>
              <a:t>Data</a:t>
            </a:r>
          </a:p>
        </p:txBody>
      </p:sp>
      <p:sp>
        <p:nvSpPr>
          <p:cNvPr id="17" name="Oval 16"/>
          <p:cNvSpPr/>
          <p:nvPr/>
        </p:nvSpPr>
        <p:spPr>
          <a:xfrm>
            <a:off x="9116568" y="5660136"/>
            <a:ext cx="146304" cy="146304"/>
          </a:xfrm>
          <a:prstGeom prst="ellipse">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72600" y="5532120"/>
            <a:ext cx="2377440" cy="475488"/>
          </a:xfrm>
          <a:prstGeom prst="rect">
            <a:avLst/>
          </a:prstGeom>
          <a:noFill/>
        </p:spPr>
        <p:txBody>
          <a:bodyPr wrap="square" lIns="27432" rIns="27432" tIns="18288" bIns="0">
            <a:spAutoFit/>
          </a:bodyPr>
          <a:lstStyle/>
          <a:p>
            <a:pPr>
              <a:spcAft>
                <a:spcPts val="800"/>
              </a:spcAft>
              <a:defRPr sz="2000" b="0">
                <a:solidFill>
                  <a:srgbClr val="25364C"/>
                </a:solidFill>
                <a:latin typeface="DejaVu Sans"/>
              </a:defRPr>
            </a:pPr>
            <a:r>
              <a:t>Kubernetes</a:t>
            </a:r>
          </a:p>
        </p:txBody>
      </p:sp>
      <p:sp>
        <p:nvSpPr>
          <p:cNvPr id="19" name="TextBox 18"/>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25364C"/>
                </a:solidFill>
                <a:latin typeface="DejaVu Sans"/>
              </a:defRPr>
            </a:pPr>
            <a:r>
              <a:t>BTST206   /   M14   /   2027–2028</a:t>
            </a:r>
          </a:p>
        </p:txBody>
      </p:sp>
      <p:sp>
        <p:nvSpPr>
          <p:cNvPr id="20" name="TextBox 19"/>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25364C"/>
                </a:solidFill>
                <a:latin typeface="DejaVu Sans"/>
              </a:defRPr>
            </a:pPr>
            <a:r>
              <a:t>01 / 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93192"/>
            <a:ext cx="10607040" cy="1060704"/>
          </a:xfrm>
          <a:prstGeom prst="rect">
            <a:avLst/>
          </a:prstGeom>
          <a:noFill/>
        </p:spPr>
        <p:txBody>
          <a:bodyPr wrap="square" lIns="27432" rIns="27432" tIns="18288" bIns="0">
            <a:spAutoFit/>
          </a:bodyPr>
          <a:lstStyle/>
          <a:p>
            <a:pPr>
              <a:spcAft>
                <a:spcPts val="800"/>
              </a:spcAft>
              <a:defRPr sz="3000" b="1">
                <a:solidFill>
                  <a:srgbClr val="25364C"/>
                </a:solidFill>
                <a:latin typeface="DejaVu Sans"/>
              </a:defRPr>
            </a:pPr>
            <a:r>
              <a:t>Google Cloud: bitta loyiha, turli xizmatlar</a:t>
            </a:r>
          </a:p>
        </p:txBody>
      </p:sp>
      <p:sp>
        <p:nvSpPr>
          <p:cNvPr id="3" name="Oval 2"/>
          <p:cNvSpPr/>
          <p:nvPr/>
        </p:nvSpPr>
        <p:spPr>
          <a:xfrm>
            <a:off x="10835640" y="292608"/>
            <a:ext cx="118872" cy="118872"/>
          </a:xfrm>
          <a:prstGeom prst="ellipse">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045952" y="292608"/>
            <a:ext cx="118872" cy="118872"/>
          </a:xfrm>
          <a:prstGeom prst="ellipse">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256264" y="292608"/>
            <a:ext cx="118872" cy="118872"/>
          </a:xfrm>
          <a:prstGeom prst="ellipse">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466576" y="292608"/>
            <a:ext cx="118872" cy="118872"/>
          </a:xfrm>
          <a:prstGeom prst="ellipse">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2" y="1545336"/>
            <a:ext cx="438912" cy="5029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43584" y="1545336"/>
            <a:ext cx="438912" cy="5029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773936" y="1545336"/>
            <a:ext cx="438912" cy="50292"/>
          </a:xfrm>
          <a:prstGeom prst="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304287" y="1545336"/>
            <a:ext cx="438912" cy="5029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25364C"/>
                </a:solidFill>
                <a:latin typeface="DejaVu Sans"/>
              </a:defRPr>
            </a:pPr>
            <a:r>
              <a:t>BTST206   /   M14   /   2027–2028</a:t>
            </a:r>
          </a:p>
        </p:txBody>
      </p:sp>
      <p:sp>
        <p:nvSpPr>
          <p:cNvPr id="12" name="TextBox 11"/>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25364C"/>
                </a:solidFill>
                <a:latin typeface="DejaVu Sans"/>
              </a:defRPr>
            </a:pPr>
            <a:r>
              <a:t>02 / 13</a:t>
            </a:r>
          </a:p>
        </p:txBody>
      </p:sp>
      <p:sp>
        <p:nvSpPr>
          <p:cNvPr id="13" name="Oval 12"/>
          <p:cNvSpPr/>
          <p:nvPr/>
        </p:nvSpPr>
        <p:spPr>
          <a:xfrm>
            <a:off x="777240" y="1801368"/>
            <a:ext cx="548640" cy="548640"/>
          </a:xfrm>
          <a:prstGeom prst="ellipse">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03" y="1892807"/>
            <a:ext cx="438912" cy="365760"/>
          </a:xfrm>
          <a:prstGeom prst="rect">
            <a:avLst/>
          </a:prstGeom>
          <a:noFill/>
        </p:spPr>
        <p:txBody>
          <a:bodyPr wrap="square" lIns="27432" rIns="27432" tIns="18288" bIns="0">
            <a:spAutoFit/>
          </a:bodyPr>
          <a:lstStyle/>
          <a:p>
            <a:pPr algn="ctr">
              <a:spcAft>
                <a:spcPts val="800"/>
              </a:spcAft>
              <a:defRPr sz="2300" b="1">
                <a:solidFill>
                  <a:srgbClr val="FFFFFF"/>
                </a:solidFill>
                <a:latin typeface="DejaVu Sans"/>
              </a:defRPr>
            </a:pPr>
            <a:r>
              <a:t>1</a:t>
            </a:r>
          </a:p>
        </p:txBody>
      </p:sp>
      <p:sp>
        <p:nvSpPr>
          <p:cNvPr id="15" name="TextBox 14"/>
          <p:cNvSpPr txBox="1"/>
          <p:nvPr/>
        </p:nvSpPr>
        <p:spPr>
          <a:xfrm>
            <a:off x="1609344" y="1828800"/>
            <a:ext cx="4590288" cy="932688"/>
          </a:xfrm>
          <a:prstGeom prst="rect">
            <a:avLst/>
          </a:prstGeom>
          <a:noFill/>
        </p:spPr>
        <p:txBody>
          <a:bodyPr wrap="square" lIns="27432" rIns="27432" tIns="18288" bIns="0">
            <a:spAutoFit/>
          </a:bodyPr>
          <a:lstStyle/>
          <a:p>
            <a:pPr>
              <a:spcAft>
                <a:spcPts val="800"/>
              </a:spcAft>
              <a:defRPr sz="2400" b="1">
                <a:solidFill>
                  <a:srgbClr val="25364C"/>
                </a:solidFill>
                <a:latin typeface="DejaVu Sans"/>
              </a:defRPr>
            </a:pPr>
            <a:r>
              <a:t>Resurs iyerarxiyasi va hududlar</a:t>
            </a:r>
          </a:p>
        </p:txBody>
      </p:sp>
      <p:sp>
        <p:nvSpPr>
          <p:cNvPr id="16" name="Oval 15"/>
          <p:cNvSpPr/>
          <p:nvPr/>
        </p:nvSpPr>
        <p:spPr>
          <a:xfrm>
            <a:off x="6492240" y="1801368"/>
            <a:ext cx="548640" cy="548640"/>
          </a:xfrm>
          <a:prstGeom prst="ellipse">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47103" y="1892807"/>
            <a:ext cx="438912" cy="365760"/>
          </a:xfrm>
          <a:prstGeom prst="rect">
            <a:avLst/>
          </a:prstGeom>
          <a:noFill/>
        </p:spPr>
        <p:txBody>
          <a:bodyPr wrap="square" lIns="27432" rIns="27432" tIns="18288" bIns="0">
            <a:spAutoFit/>
          </a:bodyPr>
          <a:lstStyle/>
          <a:p>
            <a:pPr algn="ctr">
              <a:spcAft>
                <a:spcPts val="800"/>
              </a:spcAft>
              <a:defRPr sz="2300" b="1">
                <a:solidFill>
                  <a:srgbClr val="FFFFFF"/>
                </a:solidFill>
                <a:latin typeface="DejaVu Sans"/>
              </a:defRPr>
            </a:pPr>
            <a:r>
              <a:t>2</a:t>
            </a:r>
          </a:p>
        </p:txBody>
      </p:sp>
      <p:sp>
        <p:nvSpPr>
          <p:cNvPr id="18" name="TextBox 17"/>
          <p:cNvSpPr txBox="1"/>
          <p:nvPr/>
        </p:nvSpPr>
        <p:spPr>
          <a:xfrm>
            <a:off x="7324344" y="1828800"/>
            <a:ext cx="4590288" cy="932688"/>
          </a:xfrm>
          <a:prstGeom prst="rect">
            <a:avLst/>
          </a:prstGeom>
          <a:noFill/>
        </p:spPr>
        <p:txBody>
          <a:bodyPr wrap="square" lIns="27432" rIns="27432" tIns="18288" bIns="0">
            <a:spAutoFit/>
          </a:bodyPr>
          <a:lstStyle/>
          <a:p>
            <a:pPr>
              <a:spcAft>
                <a:spcPts val="800"/>
              </a:spcAft>
              <a:defRPr sz="2400" b="1">
                <a:solidFill>
                  <a:srgbClr val="25364C"/>
                </a:solidFill>
                <a:latin typeface="DejaVu Sans"/>
              </a:defRPr>
            </a:pPr>
            <a:r>
              <a:t>Compute Engine</a:t>
            </a:r>
          </a:p>
        </p:txBody>
      </p:sp>
      <p:sp>
        <p:nvSpPr>
          <p:cNvPr id="19" name="Oval 18"/>
          <p:cNvSpPr/>
          <p:nvPr/>
        </p:nvSpPr>
        <p:spPr>
          <a:xfrm>
            <a:off x="777240" y="3218688"/>
            <a:ext cx="548640" cy="548640"/>
          </a:xfrm>
          <a:prstGeom prst="ellipse">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3" y="3310128"/>
            <a:ext cx="438912" cy="365760"/>
          </a:xfrm>
          <a:prstGeom prst="rect">
            <a:avLst/>
          </a:prstGeom>
          <a:noFill/>
        </p:spPr>
        <p:txBody>
          <a:bodyPr wrap="square" lIns="27432" rIns="27432" tIns="18288" bIns="0">
            <a:spAutoFit/>
          </a:bodyPr>
          <a:lstStyle/>
          <a:p>
            <a:pPr algn="ctr">
              <a:spcAft>
                <a:spcPts val="800"/>
              </a:spcAft>
              <a:defRPr sz="2300" b="1">
                <a:solidFill>
                  <a:srgbClr val="FFFFFF"/>
                </a:solidFill>
                <a:latin typeface="DejaVu Sans"/>
              </a:defRPr>
            </a:pPr>
            <a:r>
              <a:t>3</a:t>
            </a:r>
          </a:p>
        </p:txBody>
      </p:sp>
      <p:sp>
        <p:nvSpPr>
          <p:cNvPr id="21" name="TextBox 20"/>
          <p:cNvSpPr txBox="1"/>
          <p:nvPr/>
        </p:nvSpPr>
        <p:spPr>
          <a:xfrm>
            <a:off x="1609344" y="3246120"/>
            <a:ext cx="4590288" cy="932688"/>
          </a:xfrm>
          <a:prstGeom prst="rect">
            <a:avLst/>
          </a:prstGeom>
          <a:noFill/>
        </p:spPr>
        <p:txBody>
          <a:bodyPr wrap="square" lIns="27432" rIns="27432" tIns="18288" bIns="0">
            <a:spAutoFit/>
          </a:bodyPr>
          <a:lstStyle/>
          <a:p>
            <a:pPr>
              <a:spcAft>
                <a:spcPts val="800"/>
              </a:spcAft>
              <a:defRPr sz="2400" b="1">
                <a:solidFill>
                  <a:srgbClr val="25364C"/>
                </a:solidFill>
                <a:latin typeface="DejaVu Sans"/>
              </a:defRPr>
            </a:pPr>
            <a:r>
              <a:t>Cloud Storage</a:t>
            </a:r>
          </a:p>
        </p:txBody>
      </p:sp>
      <p:sp>
        <p:nvSpPr>
          <p:cNvPr id="22" name="Oval 21"/>
          <p:cNvSpPr/>
          <p:nvPr/>
        </p:nvSpPr>
        <p:spPr>
          <a:xfrm>
            <a:off x="6492240" y="3218688"/>
            <a:ext cx="548640" cy="548640"/>
          </a:xfrm>
          <a:prstGeom prst="ellipse">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47103" y="3310128"/>
            <a:ext cx="438912" cy="365760"/>
          </a:xfrm>
          <a:prstGeom prst="rect">
            <a:avLst/>
          </a:prstGeom>
          <a:noFill/>
        </p:spPr>
        <p:txBody>
          <a:bodyPr wrap="square" lIns="27432" rIns="27432" tIns="18288" bIns="0">
            <a:spAutoFit/>
          </a:bodyPr>
          <a:lstStyle/>
          <a:p>
            <a:pPr algn="ctr">
              <a:spcAft>
                <a:spcPts val="800"/>
              </a:spcAft>
              <a:defRPr sz="2300" b="1">
                <a:solidFill>
                  <a:srgbClr val="FFFFFF"/>
                </a:solidFill>
                <a:latin typeface="DejaVu Sans"/>
              </a:defRPr>
            </a:pPr>
            <a:r>
              <a:t>4</a:t>
            </a:r>
          </a:p>
        </p:txBody>
      </p:sp>
      <p:sp>
        <p:nvSpPr>
          <p:cNvPr id="24" name="TextBox 23"/>
          <p:cNvSpPr txBox="1"/>
          <p:nvPr/>
        </p:nvSpPr>
        <p:spPr>
          <a:xfrm>
            <a:off x="7324344" y="3246120"/>
            <a:ext cx="4590288" cy="932688"/>
          </a:xfrm>
          <a:prstGeom prst="rect">
            <a:avLst/>
          </a:prstGeom>
          <a:noFill/>
        </p:spPr>
        <p:txBody>
          <a:bodyPr wrap="square" lIns="27432" rIns="27432" tIns="18288" bIns="0">
            <a:spAutoFit/>
          </a:bodyPr>
          <a:lstStyle/>
          <a:p>
            <a:pPr>
              <a:spcAft>
                <a:spcPts val="800"/>
              </a:spcAft>
              <a:defRPr sz="2400" b="1">
                <a:solidFill>
                  <a:srgbClr val="25364C"/>
                </a:solidFill>
                <a:latin typeface="DejaVu Sans"/>
              </a:defRPr>
            </a:pPr>
            <a:r>
              <a:t>Cloud SQL</a:t>
            </a:r>
          </a:p>
        </p:txBody>
      </p:sp>
      <p:sp>
        <p:nvSpPr>
          <p:cNvPr id="25" name="Oval 24"/>
          <p:cNvSpPr/>
          <p:nvPr/>
        </p:nvSpPr>
        <p:spPr>
          <a:xfrm>
            <a:off x="777240" y="4636008"/>
            <a:ext cx="548640" cy="548640"/>
          </a:xfrm>
          <a:prstGeom prst="ellipse">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2103" y="4727448"/>
            <a:ext cx="438912" cy="365760"/>
          </a:xfrm>
          <a:prstGeom prst="rect">
            <a:avLst/>
          </a:prstGeom>
          <a:noFill/>
        </p:spPr>
        <p:txBody>
          <a:bodyPr wrap="square" lIns="27432" rIns="27432" tIns="18288" bIns="0">
            <a:spAutoFit/>
          </a:bodyPr>
          <a:lstStyle/>
          <a:p>
            <a:pPr algn="ctr">
              <a:spcAft>
                <a:spcPts val="800"/>
              </a:spcAft>
              <a:defRPr sz="2300" b="1">
                <a:solidFill>
                  <a:srgbClr val="FFFFFF"/>
                </a:solidFill>
                <a:latin typeface="DejaVu Sans"/>
              </a:defRPr>
            </a:pPr>
            <a:r>
              <a:t>5</a:t>
            </a:r>
          </a:p>
        </p:txBody>
      </p:sp>
      <p:sp>
        <p:nvSpPr>
          <p:cNvPr id="27" name="TextBox 26"/>
          <p:cNvSpPr txBox="1"/>
          <p:nvPr/>
        </p:nvSpPr>
        <p:spPr>
          <a:xfrm>
            <a:off x="1609344" y="4663440"/>
            <a:ext cx="4590288" cy="932688"/>
          </a:xfrm>
          <a:prstGeom prst="rect">
            <a:avLst/>
          </a:prstGeom>
          <a:noFill/>
        </p:spPr>
        <p:txBody>
          <a:bodyPr wrap="square" lIns="27432" rIns="27432" tIns="18288" bIns="0">
            <a:spAutoFit/>
          </a:bodyPr>
          <a:lstStyle/>
          <a:p>
            <a:pPr>
              <a:spcAft>
                <a:spcPts val="800"/>
              </a:spcAft>
              <a:defRPr sz="2400" b="1">
                <a:solidFill>
                  <a:srgbClr val="25364C"/>
                </a:solidFill>
                <a:latin typeface="DejaVu Sans"/>
              </a:defRPr>
            </a:pPr>
            <a:r>
              <a:t>Google Kubernetes Engine</a:t>
            </a:r>
          </a:p>
        </p:txBody>
      </p:sp>
      <p:sp>
        <p:nvSpPr>
          <p:cNvPr id="28" name="Oval 27"/>
          <p:cNvSpPr/>
          <p:nvPr/>
        </p:nvSpPr>
        <p:spPr>
          <a:xfrm>
            <a:off x="6492240" y="4636008"/>
            <a:ext cx="548640" cy="548640"/>
          </a:xfrm>
          <a:prstGeom prst="ellipse">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47103" y="4727448"/>
            <a:ext cx="438912" cy="365760"/>
          </a:xfrm>
          <a:prstGeom prst="rect">
            <a:avLst/>
          </a:prstGeom>
          <a:noFill/>
        </p:spPr>
        <p:txBody>
          <a:bodyPr wrap="square" lIns="27432" rIns="27432" tIns="18288" bIns="0">
            <a:spAutoFit/>
          </a:bodyPr>
          <a:lstStyle/>
          <a:p>
            <a:pPr algn="ctr">
              <a:spcAft>
                <a:spcPts val="800"/>
              </a:spcAft>
              <a:defRPr sz="2300" b="1">
                <a:solidFill>
                  <a:srgbClr val="FFFFFF"/>
                </a:solidFill>
                <a:latin typeface="DejaVu Sans"/>
              </a:defRPr>
            </a:pPr>
            <a:r>
              <a:t>6</a:t>
            </a:r>
          </a:p>
        </p:txBody>
      </p:sp>
      <p:sp>
        <p:nvSpPr>
          <p:cNvPr id="30" name="TextBox 29"/>
          <p:cNvSpPr txBox="1"/>
          <p:nvPr/>
        </p:nvSpPr>
        <p:spPr>
          <a:xfrm>
            <a:off x="7324344" y="4663440"/>
            <a:ext cx="4590288" cy="932688"/>
          </a:xfrm>
          <a:prstGeom prst="rect">
            <a:avLst/>
          </a:prstGeom>
          <a:noFill/>
        </p:spPr>
        <p:txBody>
          <a:bodyPr wrap="square" lIns="27432" rIns="27432" tIns="18288" bIns="0">
            <a:spAutoFit/>
          </a:bodyPr>
          <a:lstStyle/>
          <a:p>
            <a:pPr>
              <a:spcAft>
                <a:spcPts val="800"/>
              </a:spcAft>
              <a:defRPr sz="2400" b="1">
                <a:solidFill>
                  <a:srgbClr val="25364C"/>
                </a:solidFill>
                <a:latin typeface="DejaVu Sans"/>
              </a:defRPr>
            </a:pPr>
            <a:r>
              <a:t>Cloud Functions va Cloud Run functions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93192"/>
            <a:ext cx="10607040" cy="1060704"/>
          </a:xfrm>
          <a:prstGeom prst="rect">
            <a:avLst/>
          </a:prstGeom>
          <a:noFill/>
        </p:spPr>
        <p:txBody>
          <a:bodyPr wrap="square" lIns="27432" rIns="27432" tIns="18288" bIns="0">
            <a:spAutoFit/>
          </a:bodyPr>
          <a:lstStyle/>
          <a:p>
            <a:pPr>
              <a:spcAft>
                <a:spcPts val="800"/>
              </a:spcAft>
              <a:defRPr sz="3000" b="1">
                <a:solidFill>
                  <a:srgbClr val="25364C"/>
                </a:solidFill>
                <a:latin typeface="DejaVu Sans"/>
              </a:defRPr>
            </a:pPr>
            <a:r>
              <a:t>Resurs iyerarxiyasi va hududlar</a:t>
            </a:r>
          </a:p>
        </p:txBody>
      </p:sp>
      <p:sp>
        <p:nvSpPr>
          <p:cNvPr id="3" name="Oval 2"/>
          <p:cNvSpPr/>
          <p:nvPr/>
        </p:nvSpPr>
        <p:spPr>
          <a:xfrm>
            <a:off x="10835640" y="292608"/>
            <a:ext cx="118872" cy="118872"/>
          </a:xfrm>
          <a:prstGeom prst="ellipse">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045952" y="292608"/>
            <a:ext cx="118872" cy="118872"/>
          </a:xfrm>
          <a:prstGeom prst="ellipse">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256264" y="292608"/>
            <a:ext cx="118872" cy="118872"/>
          </a:xfrm>
          <a:prstGeom prst="ellipse">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466576" y="292608"/>
            <a:ext cx="118872" cy="118872"/>
          </a:xfrm>
          <a:prstGeom prst="ellipse">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2" y="1545336"/>
            <a:ext cx="438912" cy="5029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43584" y="1545336"/>
            <a:ext cx="438912" cy="5029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773936" y="1545336"/>
            <a:ext cx="438912" cy="50292"/>
          </a:xfrm>
          <a:prstGeom prst="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304287" y="1545336"/>
            <a:ext cx="438912" cy="5029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25364C"/>
                </a:solidFill>
                <a:latin typeface="DejaVu Sans"/>
              </a:defRPr>
            </a:pPr>
            <a:r>
              <a:t>BTST206   /   M14   /   2027–2028</a:t>
            </a:r>
          </a:p>
        </p:txBody>
      </p:sp>
      <p:sp>
        <p:nvSpPr>
          <p:cNvPr id="12" name="TextBox 11"/>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25364C"/>
                </a:solidFill>
                <a:latin typeface="DejaVu Sans"/>
              </a:defRPr>
            </a:pPr>
            <a:r>
              <a:t>03 / 13</a:t>
            </a:r>
          </a:p>
        </p:txBody>
      </p:sp>
      <p:sp>
        <p:nvSpPr>
          <p:cNvPr id="13" name="TextBox 12"/>
          <p:cNvSpPr txBox="1"/>
          <p:nvPr/>
        </p:nvSpPr>
        <p:spPr>
          <a:xfrm>
            <a:off x="777240" y="1773936"/>
            <a:ext cx="6629400" cy="822960"/>
          </a:xfrm>
          <a:prstGeom prst="rect">
            <a:avLst/>
          </a:prstGeom>
          <a:noFill/>
        </p:spPr>
        <p:txBody>
          <a:bodyPr wrap="square" lIns="27432" rIns="27432" tIns="18288" bIns="0">
            <a:spAutoFit/>
          </a:bodyPr>
          <a:lstStyle/>
          <a:p>
            <a:pPr>
              <a:spcAft>
                <a:spcPts val="800"/>
              </a:spcAft>
              <a:defRPr sz="2700" b="1">
                <a:solidFill>
                  <a:srgbClr val="4285F4"/>
                </a:solidFill>
                <a:latin typeface="DejaVu Sans"/>
              </a:defRPr>
            </a:pPr>
            <a:r>
              <a:t>Organization → folder → project → resource.</a:t>
            </a:r>
          </a:p>
        </p:txBody>
      </p:sp>
      <p:sp>
        <p:nvSpPr>
          <p:cNvPr id="14" name="TextBox 13"/>
          <p:cNvSpPr txBox="1"/>
          <p:nvPr/>
        </p:nvSpPr>
        <p:spPr>
          <a:xfrm>
            <a:off x="777240" y="2889504"/>
            <a:ext cx="6309360" cy="2194560"/>
          </a:xfrm>
          <a:prstGeom prst="rect">
            <a:avLst/>
          </a:prstGeom>
          <a:noFill/>
        </p:spPr>
        <p:txBody>
          <a:bodyPr wrap="square" lIns="27432" rIns="27432" tIns="18288" bIns="0">
            <a:spAutoFit/>
          </a:bodyPr>
          <a:lstStyle/>
          <a:p>
            <a:pPr>
              <a:spcAft>
                <a:spcPts val="800"/>
              </a:spcAft>
              <a:defRPr sz="2300" b="0">
                <a:solidFill>
                  <a:srgbClr val="25364C"/>
                </a:solidFill>
                <a:latin typeface="DejaVu Sans"/>
              </a:defRPr>
            </a:pPr>
            <a:r>
              <a:t>Google Cloud resurslari organization, folder va project lar orqali boshqarilishi mumkin.</a:t>
            </a:r>
          </a:p>
        </p:txBody>
      </p:sp>
      <p:pic>
        <p:nvPicPr>
          <p:cNvPr id="15" name="Picture 14" descr="M14_google_cloud.png"/>
          <p:cNvPicPr>
            <a:picLocks noChangeAspect="1"/>
          </p:cNvPicPr>
          <p:nvPr/>
        </p:nvPicPr>
        <p:blipFill>
          <a:blip r:embed="rId2"/>
          <a:stretch>
            <a:fillRect/>
          </a:stretch>
        </p:blipFill>
        <p:spPr>
          <a:xfrm>
            <a:off x="8202167" y="1856231"/>
            <a:ext cx="2423160" cy="2423160"/>
          </a:xfrm>
          <a:prstGeom prst="rect">
            <a:avLst/>
          </a:prstGeom>
        </p:spPr>
      </p:pic>
      <p:sp>
        <p:nvSpPr>
          <p:cNvPr id="16" name="TextBox 15"/>
          <p:cNvSpPr txBox="1"/>
          <p:nvPr/>
        </p:nvSpPr>
        <p:spPr>
          <a:xfrm>
            <a:off x="7616952" y="4700016"/>
            <a:ext cx="3657600" cy="640080"/>
          </a:xfrm>
          <a:prstGeom prst="rect">
            <a:avLst/>
          </a:prstGeom>
          <a:noFill/>
        </p:spPr>
        <p:txBody>
          <a:bodyPr wrap="square" lIns="27432" rIns="27432" tIns="18288" bIns="0">
            <a:spAutoFit/>
          </a:bodyPr>
          <a:lstStyle/>
          <a:p>
            <a:pPr>
              <a:spcAft>
                <a:spcPts val="800"/>
              </a:spcAft>
              <a:defRPr sz="2200" b="1">
                <a:solidFill>
                  <a:srgbClr val="25364C"/>
                </a:solidFill>
                <a:latin typeface="DejaVu Sans"/>
              </a:defRPr>
            </a:pPr>
            <a:r>
              <a:t>Project — asosiy amaliy birlik.</a:t>
            </a:r>
          </a:p>
        </p:txBody>
      </p:sp>
      <p:sp>
        <p:nvSpPr>
          <p:cNvPr id="17" name="Rounded Rectangle 16"/>
          <p:cNvSpPr/>
          <p:nvPr/>
        </p:nvSpPr>
        <p:spPr>
          <a:xfrm>
            <a:off x="731520" y="5641848"/>
            <a:ext cx="10698480" cy="621792"/>
          </a:xfrm>
          <a:prstGeom prst="roundRect">
            <a:avLst>
              <a:gd name="adj" fmla="val 8000"/>
            </a:avLst>
          </a:prstGeom>
          <a:solidFill>
            <a:srgbClr val="F2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7824" y="5733288"/>
            <a:ext cx="10405872" cy="466344"/>
          </a:xfrm>
          <a:prstGeom prst="rect">
            <a:avLst/>
          </a:prstGeom>
          <a:noFill/>
        </p:spPr>
        <p:txBody>
          <a:bodyPr wrap="square" lIns="27432" rIns="27432" tIns="18288" bIns="0">
            <a:spAutoFit/>
          </a:bodyPr>
          <a:lstStyle/>
          <a:p>
            <a:pPr>
              <a:spcAft>
                <a:spcPts val="800"/>
              </a:spcAft>
              <a:defRPr sz="1700" b="0">
                <a:solidFill>
                  <a:srgbClr val="25364C"/>
                </a:solidFill>
                <a:latin typeface="DejaVu Sans"/>
              </a:defRPr>
            </a:pPr>
            <a:r>
              <a:t>Project yaratishning o‘zi barcha xizmat API lari yoqilgani yoki budjet cheklangani degani emas.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93192"/>
            <a:ext cx="10607040" cy="1060704"/>
          </a:xfrm>
          <a:prstGeom prst="rect">
            <a:avLst/>
          </a:prstGeom>
          <a:noFill/>
        </p:spPr>
        <p:txBody>
          <a:bodyPr wrap="square" lIns="27432" rIns="27432" tIns="18288" bIns="0">
            <a:spAutoFit/>
          </a:bodyPr>
          <a:lstStyle/>
          <a:p>
            <a:pPr>
              <a:spcAft>
                <a:spcPts val="800"/>
              </a:spcAft>
              <a:defRPr sz="3000" b="1">
                <a:solidFill>
                  <a:srgbClr val="25364C"/>
                </a:solidFill>
                <a:latin typeface="DejaVu Sans"/>
              </a:defRPr>
            </a:pPr>
            <a:r>
              <a:t>Compute Engine</a:t>
            </a:r>
          </a:p>
        </p:txBody>
      </p:sp>
      <p:sp>
        <p:nvSpPr>
          <p:cNvPr id="3" name="Oval 2"/>
          <p:cNvSpPr/>
          <p:nvPr/>
        </p:nvSpPr>
        <p:spPr>
          <a:xfrm>
            <a:off x="10835640" y="292608"/>
            <a:ext cx="118872" cy="118872"/>
          </a:xfrm>
          <a:prstGeom prst="ellipse">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045952" y="292608"/>
            <a:ext cx="118872" cy="118872"/>
          </a:xfrm>
          <a:prstGeom prst="ellipse">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256264" y="292608"/>
            <a:ext cx="118872" cy="118872"/>
          </a:xfrm>
          <a:prstGeom prst="ellipse">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466576" y="292608"/>
            <a:ext cx="118872" cy="118872"/>
          </a:xfrm>
          <a:prstGeom prst="ellipse">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2" y="1545336"/>
            <a:ext cx="438912" cy="5029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43584" y="1545336"/>
            <a:ext cx="438912" cy="5029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773936" y="1545336"/>
            <a:ext cx="438912" cy="50292"/>
          </a:xfrm>
          <a:prstGeom prst="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304287" y="1545336"/>
            <a:ext cx="438912" cy="5029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25364C"/>
                </a:solidFill>
                <a:latin typeface="DejaVu Sans"/>
              </a:defRPr>
            </a:pPr>
            <a:r>
              <a:t>BTST206   /   M14   /   2027–2028</a:t>
            </a:r>
          </a:p>
        </p:txBody>
      </p:sp>
      <p:sp>
        <p:nvSpPr>
          <p:cNvPr id="12" name="TextBox 11"/>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25364C"/>
                </a:solidFill>
                <a:latin typeface="DejaVu Sans"/>
              </a:defRPr>
            </a:pPr>
            <a:r>
              <a:t>04 / 13</a:t>
            </a:r>
          </a:p>
        </p:txBody>
      </p:sp>
      <p:sp>
        <p:nvSpPr>
          <p:cNvPr id="13" name="Rounded Rectangle 12"/>
          <p:cNvSpPr/>
          <p:nvPr/>
        </p:nvSpPr>
        <p:spPr>
          <a:xfrm>
            <a:off x="777240" y="1783080"/>
            <a:ext cx="10652760" cy="978408"/>
          </a:xfrm>
          <a:prstGeom prst="roundRect">
            <a:avLst>
              <a:gd name="adj" fmla="val 8000"/>
            </a:avLst>
          </a:prstGeom>
          <a:solidFill>
            <a:srgbClr val="EDF3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1965960"/>
            <a:ext cx="10149840" cy="667512"/>
          </a:xfrm>
          <a:prstGeom prst="rect">
            <a:avLst/>
          </a:prstGeom>
          <a:noFill/>
        </p:spPr>
        <p:txBody>
          <a:bodyPr wrap="square" lIns="27432" rIns="27432" tIns="18288" bIns="0">
            <a:spAutoFit/>
          </a:bodyPr>
          <a:lstStyle/>
          <a:p>
            <a:pPr>
              <a:spcAft>
                <a:spcPts val="800"/>
              </a:spcAft>
              <a:defRPr sz="2700" b="1">
                <a:solidFill>
                  <a:srgbClr val="25364C"/>
                </a:solidFill>
                <a:latin typeface="DejaVu Sans"/>
              </a:defRPr>
            </a:pPr>
            <a:r>
              <a:t>Moslashuvchan virtual mashinalar.</a:t>
            </a:r>
          </a:p>
        </p:txBody>
      </p:sp>
      <p:sp>
        <p:nvSpPr>
          <p:cNvPr id="15" name="Rounded Rectangle 14"/>
          <p:cNvSpPr/>
          <p:nvPr/>
        </p:nvSpPr>
        <p:spPr>
          <a:xfrm>
            <a:off x="777240" y="2971800"/>
            <a:ext cx="5129784" cy="2487168"/>
          </a:xfrm>
          <a:prstGeom prst="roundRect">
            <a:avLst>
              <a:gd name="adj" fmla="val 8000"/>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3118104"/>
            <a:ext cx="4764024" cy="365760"/>
          </a:xfrm>
          <a:prstGeom prst="rect">
            <a:avLst/>
          </a:prstGeom>
          <a:noFill/>
        </p:spPr>
        <p:txBody>
          <a:bodyPr wrap="square" lIns="27432" rIns="27432" tIns="18288" bIns="0">
            <a:spAutoFit/>
          </a:bodyPr>
          <a:lstStyle/>
          <a:p>
            <a:pPr>
              <a:spcAft>
                <a:spcPts val="800"/>
              </a:spcAft>
              <a:defRPr sz="1400" b="1">
                <a:solidFill>
                  <a:srgbClr val="EA4335"/>
                </a:solidFill>
                <a:latin typeface="DejaVu Sans"/>
              </a:defRPr>
            </a:pPr>
            <a:r>
              <a:t>NIMA?</a:t>
            </a:r>
          </a:p>
        </p:txBody>
      </p:sp>
      <p:sp>
        <p:nvSpPr>
          <p:cNvPr id="17" name="TextBox 16"/>
          <p:cNvSpPr txBox="1"/>
          <p:nvPr/>
        </p:nvSpPr>
        <p:spPr>
          <a:xfrm>
            <a:off x="960120" y="3593592"/>
            <a:ext cx="4764024" cy="1755648"/>
          </a:xfrm>
          <a:prstGeom prst="rect">
            <a:avLst/>
          </a:prstGeom>
          <a:noFill/>
        </p:spPr>
        <p:txBody>
          <a:bodyPr wrap="square" lIns="27432" rIns="27432" tIns="18288" bIns="0">
            <a:spAutoFit/>
          </a:bodyPr>
          <a:lstStyle/>
          <a:p>
            <a:pPr>
              <a:spcAft>
                <a:spcPts val="800"/>
              </a:spcAft>
              <a:defRPr sz="2100" b="0">
                <a:solidFill>
                  <a:srgbClr val="25364C"/>
                </a:solidFill>
                <a:latin typeface="DejaVu Sans"/>
              </a:defRPr>
            </a:pPr>
            <a:r>
              <a:t>Compute Engine virtual mashinalarni beradi. Machine type CPU va xotirani, image esa operatsion tizim andozasini belgilaydi.</a:t>
            </a:r>
          </a:p>
        </p:txBody>
      </p:sp>
      <p:sp>
        <p:nvSpPr>
          <p:cNvPr id="18" name="Rounded Rectangle 17"/>
          <p:cNvSpPr/>
          <p:nvPr/>
        </p:nvSpPr>
        <p:spPr>
          <a:xfrm>
            <a:off x="6236208" y="2971800"/>
            <a:ext cx="5193792" cy="2487168"/>
          </a:xfrm>
          <a:prstGeom prst="roundRect">
            <a:avLst>
              <a:gd name="adj" fmla="val 8000"/>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19088" y="3118104"/>
            <a:ext cx="4828031" cy="365760"/>
          </a:xfrm>
          <a:prstGeom prst="rect">
            <a:avLst/>
          </a:prstGeom>
          <a:noFill/>
        </p:spPr>
        <p:txBody>
          <a:bodyPr wrap="square" lIns="27432" rIns="27432" tIns="18288" bIns="0">
            <a:spAutoFit/>
          </a:bodyPr>
          <a:lstStyle/>
          <a:p>
            <a:pPr>
              <a:spcAft>
                <a:spcPts val="800"/>
              </a:spcAft>
              <a:defRPr sz="1400" b="1">
                <a:solidFill>
                  <a:srgbClr val="FBBC04"/>
                </a:solidFill>
                <a:latin typeface="DejaVu Sans"/>
              </a:defRPr>
            </a:pPr>
            <a:r>
              <a:t>QAYERDA?</a:t>
            </a:r>
          </a:p>
        </p:txBody>
      </p:sp>
      <p:sp>
        <p:nvSpPr>
          <p:cNvPr id="20" name="TextBox 19"/>
          <p:cNvSpPr txBox="1"/>
          <p:nvPr/>
        </p:nvSpPr>
        <p:spPr>
          <a:xfrm>
            <a:off x="6419088" y="3593592"/>
            <a:ext cx="4828031" cy="1755648"/>
          </a:xfrm>
          <a:prstGeom prst="rect">
            <a:avLst/>
          </a:prstGeom>
          <a:noFill/>
        </p:spPr>
        <p:txBody>
          <a:bodyPr wrap="square" lIns="27432" rIns="27432" tIns="18288" bIns="0">
            <a:spAutoFit/>
          </a:bodyPr>
          <a:lstStyle/>
          <a:p>
            <a:pPr>
              <a:spcAft>
                <a:spcPts val="800"/>
              </a:spcAft>
              <a:defRPr sz="2100" b="0">
                <a:solidFill>
                  <a:srgbClr val="25364C"/>
                </a:solidFill>
                <a:latin typeface="DejaVu Sans"/>
              </a:defRPr>
            </a:pPr>
            <a:r>
              <a:t>Portalning ikki nusxasi managed instance group ichida ishlaydi va yuklama taqsimlagich ortida xizmat qiladi.</a:t>
            </a:r>
          </a:p>
        </p:txBody>
      </p:sp>
      <p:sp>
        <p:nvSpPr>
          <p:cNvPr id="21" name="Rounded Rectangle 20"/>
          <p:cNvSpPr/>
          <p:nvPr/>
        </p:nvSpPr>
        <p:spPr>
          <a:xfrm>
            <a:off x="731520" y="5641848"/>
            <a:ext cx="10698480" cy="621792"/>
          </a:xfrm>
          <a:prstGeom prst="roundRect">
            <a:avLst>
              <a:gd name="adj" fmla="val 8000"/>
            </a:avLst>
          </a:prstGeom>
          <a:solidFill>
            <a:srgbClr val="F2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7824" y="5733288"/>
            <a:ext cx="10405872" cy="466344"/>
          </a:xfrm>
          <a:prstGeom prst="rect">
            <a:avLst/>
          </a:prstGeom>
          <a:noFill/>
        </p:spPr>
        <p:txBody>
          <a:bodyPr wrap="square" lIns="27432" rIns="27432" tIns="18288" bIns="0">
            <a:spAutoFit/>
          </a:bodyPr>
          <a:lstStyle/>
          <a:p>
            <a:pPr>
              <a:spcAft>
                <a:spcPts val="800"/>
              </a:spcAft>
              <a:defRPr sz="1700" b="0">
                <a:solidFill>
                  <a:srgbClr val="25364C"/>
                </a:solidFill>
                <a:latin typeface="DejaVu Sans"/>
              </a:defRPr>
            </a:pPr>
            <a:r>
              <a:t>Spot VM arzonroq bo‘lishi mumkin, ammo to‘xtatilishi ehtimoli bor; yagona muhim nusxa sifatida tanlanmaydi.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93192"/>
            <a:ext cx="10607040" cy="1060704"/>
          </a:xfrm>
          <a:prstGeom prst="rect">
            <a:avLst/>
          </a:prstGeom>
          <a:noFill/>
        </p:spPr>
        <p:txBody>
          <a:bodyPr wrap="square" lIns="27432" rIns="27432" tIns="18288" bIns="0">
            <a:spAutoFit/>
          </a:bodyPr>
          <a:lstStyle/>
          <a:p>
            <a:pPr>
              <a:spcAft>
                <a:spcPts val="800"/>
              </a:spcAft>
              <a:defRPr sz="3000" b="1">
                <a:solidFill>
                  <a:srgbClr val="25364C"/>
                </a:solidFill>
                <a:latin typeface="DejaVu Sans"/>
              </a:defRPr>
            </a:pPr>
            <a:r>
              <a:t>Cloud Storage</a:t>
            </a:r>
          </a:p>
        </p:txBody>
      </p:sp>
      <p:sp>
        <p:nvSpPr>
          <p:cNvPr id="3" name="Oval 2"/>
          <p:cNvSpPr/>
          <p:nvPr/>
        </p:nvSpPr>
        <p:spPr>
          <a:xfrm>
            <a:off x="10835640" y="292608"/>
            <a:ext cx="118872" cy="118872"/>
          </a:xfrm>
          <a:prstGeom prst="ellipse">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045952" y="292608"/>
            <a:ext cx="118872" cy="118872"/>
          </a:xfrm>
          <a:prstGeom prst="ellipse">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256264" y="292608"/>
            <a:ext cx="118872" cy="118872"/>
          </a:xfrm>
          <a:prstGeom prst="ellipse">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466576" y="292608"/>
            <a:ext cx="118872" cy="118872"/>
          </a:xfrm>
          <a:prstGeom prst="ellipse">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2" y="1545336"/>
            <a:ext cx="438912" cy="5029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43584" y="1545336"/>
            <a:ext cx="438912" cy="5029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773936" y="1545336"/>
            <a:ext cx="438912" cy="50292"/>
          </a:xfrm>
          <a:prstGeom prst="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304287" y="1545336"/>
            <a:ext cx="438912" cy="5029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25364C"/>
                </a:solidFill>
                <a:latin typeface="DejaVu Sans"/>
              </a:defRPr>
            </a:pPr>
            <a:r>
              <a:t>BTST206   /   M14   /   2027–2028</a:t>
            </a:r>
          </a:p>
        </p:txBody>
      </p:sp>
      <p:sp>
        <p:nvSpPr>
          <p:cNvPr id="12" name="TextBox 11"/>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25364C"/>
                </a:solidFill>
                <a:latin typeface="DejaVu Sans"/>
              </a:defRPr>
            </a:pPr>
            <a:r>
              <a:t>05 / 13</a:t>
            </a:r>
          </a:p>
        </p:txBody>
      </p:sp>
      <p:sp>
        <p:nvSpPr>
          <p:cNvPr id="13" name="TextBox 12"/>
          <p:cNvSpPr txBox="1"/>
          <p:nvPr/>
        </p:nvSpPr>
        <p:spPr>
          <a:xfrm>
            <a:off x="777240" y="1783080"/>
            <a:ext cx="3794760" cy="1737360"/>
          </a:xfrm>
          <a:prstGeom prst="rect">
            <a:avLst/>
          </a:prstGeom>
          <a:noFill/>
        </p:spPr>
        <p:txBody>
          <a:bodyPr wrap="square" lIns="27432" rIns="27432" tIns="18288" bIns="0">
            <a:spAutoFit/>
          </a:bodyPr>
          <a:lstStyle/>
          <a:p>
            <a:pPr>
              <a:spcAft>
                <a:spcPts val="800"/>
              </a:spcAft>
              <a:defRPr sz="3000" b="1">
                <a:solidFill>
                  <a:srgbClr val="25364C"/>
                </a:solidFill>
                <a:latin typeface="DejaVu Sans"/>
              </a:defRPr>
            </a:pPr>
            <a:r>
              <a:t>Bucket ichida obyekt saqlash.</a:t>
            </a:r>
          </a:p>
        </p:txBody>
      </p:sp>
      <p:cxnSp>
        <p:nvCxnSpPr>
          <p:cNvPr id="14" name="Connector 13"/>
          <p:cNvCxnSpPr/>
          <p:nvPr/>
        </p:nvCxnSpPr>
        <p:spPr>
          <a:xfrm>
            <a:off x="4983480" y="1810512"/>
            <a:ext cx="0" cy="3474720"/>
          </a:xfrm>
          <a:prstGeom prst="line">
            <a:avLst/>
          </a:prstGeom>
          <a:ln w="38100">
            <a:solidFill>
              <a:srgbClr val="FBBC04"/>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404104" y="1874519"/>
            <a:ext cx="5925312" cy="1362456"/>
          </a:xfrm>
          <a:prstGeom prst="rect">
            <a:avLst/>
          </a:prstGeom>
          <a:noFill/>
        </p:spPr>
        <p:txBody>
          <a:bodyPr wrap="square" lIns="27432" rIns="27432" tIns="18288" bIns="0">
            <a:spAutoFit/>
          </a:bodyPr>
          <a:lstStyle/>
          <a:p>
            <a:pPr>
              <a:spcAft>
                <a:spcPts val="800"/>
              </a:spcAft>
              <a:defRPr sz="2200" b="0">
                <a:solidFill>
                  <a:srgbClr val="25364C"/>
                </a:solidFill>
                <a:latin typeface="DejaVu Sans"/>
              </a:defRPr>
            </a:pPr>
            <a:r>
              <a:t>Cloud Storage video, rasm, arxiv va analitik fayllar uchun obyekt xizmati hisoblanadi.</a:t>
            </a:r>
          </a:p>
        </p:txBody>
      </p:sp>
      <p:sp>
        <p:nvSpPr>
          <p:cNvPr id="16" name="TextBox 15"/>
          <p:cNvSpPr txBox="1"/>
          <p:nvPr/>
        </p:nvSpPr>
        <p:spPr>
          <a:xfrm>
            <a:off x="5404104" y="3767328"/>
            <a:ext cx="5925312" cy="1389888"/>
          </a:xfrm>
          <a:prstGeom prst="rect">
            <a:avLst/>
          </a:prstGeom>
          <a:noFill/>
        </p:spPr>
        <p:txBody>
          <a:bodyPr wrap="square" lIns="27432" rIns="27432" tIns="18288" bIns="0">
            <a:spAutoFit/>
          </a:bodyPr>
          <a:lstStyle/>
          <a:p>
            <a:pPr>
              <a:spcAft>
                <a:spcPts val="800"/>
              </a:spcAft>
              <a:defRPr sz="2200" b="0">
                <a:solidFill>
                  <a:srgbClr val="25364C"/>
                </a:solidFill>
                <a:latin typeface="DejaVu Sans"/>
              </a:defRPr>
            </a:pPr>
            <a:r>
              <a:t>Ilova service account orqali tegishli obyektga kiradi. Lifecycle qoidalari eskirgan fayllarning sinfini o‘zgartirishi mumkin.</a:t>
            </a:r>
          </a:p>
        </p:txBody>
      </p:sp>
      <p:sp>
        <p:nvSpPr>
          <p:cNvPr id="17" name="Rounded Rectangle 16"/>
          <p:cNvSpPr/>
          <p:nvPr/>
        </p:nvSpPr>
        <p:spPr>
          <a:xfrm>
            <a:off x="731520" y="5641848"/>
            <a:ext cx="10698480" cy="621792"/>
          </a:xfrm>
          <a:prstGeom prst="roundRect">
            <a:avLst>
              <a:gd name="adj" fmla="val 8000"/>
            </a:avLst>
          </a:prstGeom>
          <a:solidFill>
            <a:srgbClr val="F2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7824" y="5733288"/>
            <a:ext cx="10405872" cy="466344"/>
          </a:xfrm>
          <a:prstGeom prst="rect">
            <a:avLst/>
          </a:prstGeom>
          <a:noFill/>
        </p:spPr>
        <p:txBody>
          <a:bodyPr wrap="square" lIns="27432" rIns="27432" tIns="18288" bIns="0">
            <a:spAutoFit/>
          </a:bodyPr>
          <a:lstStyle/>
          <a:p>
            <a:pPr>
              <a:spcAft>
                <a:spcPts val="800"/>
              </a:spcAft>
              <a:defRPr sz="1700" b="0">
                <a:solidFill>
                  <a:srgbClr val="25364C"/>
                </a:solidFill>
                <a:latin typeface="DejaVu Sans"/>
              </a:defRPr>
            </a:pPr>
            <a:r>
              <a:t>Object Storage fayl nomlarini papkaga o‘xshatib ko‘rsatsa ham, u oddiy lokal disk bilan bir xil emas.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93192"/>
            <a:ext cx="10607040" cy="1060704"/>
          </a:xfrm>
          <a:prstGeom prst="rect">
            <a:avLst/>
          </a:prstGeom>
          <a:noFill/>
        </p:spPr>
        <p:txBody>
          <a:bodyPr wrap="square" lIns="27432" rIns="27432" tIns="18288" bIns="0">
            <a:spAutoFit/>
          </a:bodyPr>
          <a:lstStyle/>
          <a:p>
            <a:pPr>
              <a:spcAft>
                <a:spcPts val="800"/>
              </a:spcAft>
              <a:defRPr sz="3000" b="1">
                <a:solidFill>
                  <a:srgbClr val="25364C"/>
                </a:solidFill>
                <a:latin typeface="DejaVu Sans"/>
              </a:defRPr>
            </a:pPr>
            <a:r>
              <a:t>Cloud SQL</a:t>
            </a:r>
          </a:p>
        </p:txBody>
      </p:sp>
      <p:sp>
        <p:nvSpPr>
          <p:cNvPr id="3" name="Oval 2"/>
          <p:cNvSpPr/>
          <p:nvPr/>
        </p:nvSpPr>
        <p:spPr>
          <a:xfrm>
            <a:off x="10835640" y="292608"/>
            <a:ext cx="118872" cy="118872"/>
          </a:xfrm>
          <a:prstGeom prst="ellipse">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045952" y="292608"/>
            <a:ext cx="118872" cy="118872"/>
          </a:xfrm>
          <a:prstGeom prst="ellipse">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256264" y="292608"/>
            <a:ext cx="118872" cy="118872"/>
          </a:xfrm>
          <a:prstGeom prst="ellipse">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466576" y="292608"/>
            <a:ext cx="118872" cy="118872"/>
          </a:xfrm>
          <a:prstGeom prst="ellipse">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2" y="1545336"/>
            <a:ext cx="438912" cy="5029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43584" y="1545336"/>
            <a:ext cx="438912" cy="5029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773936" y="1545336"/>
            <a:ext cx="438912" cy="50292"/>
          </a:xfrm>
          <a:prstGeom prst="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304287" y="1545336"/>
            <a:ext cx="438912" cy="5029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25364C"/>
                </a:solidFill>
                <a:latin typeface="DejaVu Sans"/>
              </a:defRPr>
            </a:pPr>
            <a:r>
              <a:t>BTST206   /   M14   /   2027–2028</a:t>
            </a:r>
          </a:p>
        </p:txBody>
      </p:sp>
      <p:sp>
        <p:nvSpPr>
          <p:cNvPr id="12" name="TextBox 11"/>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25364C"/>
                </a:solidFill>
                <a:latin typeface="DejaVu Sans"/>
              </a:defRPr>
            </a:pPr>
            <a:r>
              <a:t>06 / 13</a:t>
            </a:r>
          </a:p>
        </p:txBody>
      </p:sp>
      <p:sp>
        <p:nvSpPr>
          <p:cNvPr id="13" name="Oval 12"/>
          <p:cNvSpPr/>
          <p:nvPr/>
        </p:nvSpPr>
        <p:spPr>
          <a:xfrm>
            <a:off x="777240" y="1819656"/>
            <a:ext cx="256032" cy="256032"/>
          </a:xfrm>
          <a:prstGeom prst="ellipse">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350008"/>
            <a:ext cx="3383280" cy="548640"/>
          </a:xfrm>
          <a:prstGeom prst="rect">
            <a:avLst/>
          </a:prstGeom>
          <a:noFill/>
        </p:spPr>
        <p:txBody>
          <a:bodyPr wrap="square" lIns="27432" rIns="27432" tIns="18288" bIns="0">
            <a:spAutoFit/>
          </a:bodyPr>
          <a:lstStyle/>
          <a:p>
            <a:pPr>
              <a:spcAft>
                <a:spcPts val="800"/>
              </a:spcAft>
              <a:defRPr sz="2200" b="1">
                <a:solidFill>
                  <a:srgbClr val="4285F4"/>
                </a:solidFill>
                <a:latin typeface="DejaVu Sans"/>
              </a:defRPr>
            </a:pPr>
            <a:r>
              <a:t>Tushuncha</a:t>
            </a:r>
          </a:p>
        </p:txBody>
      </p:sp>
      <p:sp>
        <p:nvSpPr>
          <p:cNvPr id="15" name="TextBox 14"/>
          <p:cNvSpPr txBox="1"/>
          <p:nvPr/>
        </p:nvSpPr>
        <p:spPr>
          <a:xfrm>
            <a:off x="777240" y="3136392"/>
            <a:ext cx="3383280" cy="2130552"/>
          </a:xfrm>
          <a:prstGeom prst="rect">
            <a:avLst/>
          </a:prstGeom>
          <a:noFill/>
        </p:spPr>
        <p:txBody>
          <a:bodyPr wrap="square" lIns="27432" rIns="27432" tIns="18288" bIns="0">
            <a:spAutoFit/>
          </a:bodyPr>
          <a:lstStyle/>
          <a:p>
            <a:pPr>
              <a:spcAft>
                <a:spcPts val="800"/>
              </a:spcAft>
              <a:defRPr sz="2300" b="0">
                <a:solidFill>
                  <a:srgbClr val="25364C"/>
                </a:solidFill>
                <a:latin typeface="DejaVu Sans"/>
              </a:defRPr>
            </a:pPr>
            <a:r>
              <a:t>Boshqariladigan relatsion bazalar.</a:t>
            </a:r>
          </a:p>
        </p:txBody>
      </p:sp>
      <p:sp>
        <p:nvSpPr>
          <p:cNvPr id="16" name="Oval 15"/>
          <p:cNvSpPr/>
          <p:nvPr/>
        </p:nvSpPr>
        <p:spPr>
          <a:xfrm>
            <a:off x="4471416" y="1819656"/>
            <a:ext cx="256032" cy="256032"/>
          </a:xfrm>
          <a:prstGeom prst="ellipse">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1416" y="2350008"/>
            <a:ext cx="3383280" cy="548640"/>
          </a:xfrm>
          <a:prstGeom prst="rect">
            <a:avLst/>
          </a:prstGeom>
          <a:noFill/>
        </p:spPr>
        <p:txBody>
          <a:bodyPr wrap="square" lIns="27432" rIns="27432" tIns="18288" bIns="0">
            <a:spAutoFit/>
          </a:bodyPr>
          <a:lstStyle/>
          <a:p>
            <a:pPr>
              <a:spcAft>
                <a:spcPts val="800"/>
              </a:spcAft>
              <a:defRPr sz="2200" b="1">
                <a:solidFill>
                  <a:srgbClr val="EA4335"/>
                </a:solidFill>
                <a:latin typeface="DejaVu Sans"/>
              </a:defRPr>
            </a:pPr>
            <a:r>
              <a:t>Ishlash tartibi</a:t>
            </a:r>
          </a:p>
        </p:txBody>
      </p:sp>
      <p:sp>
        <p:nvSpPr>
          <p:cNvPr id="18" name="TextBox 17"/>
          <p:cNvSpPr txBox="1"/>
          <p:nvPr/>
        </p:nvSpPr>
        <p:spPr>
          <a:xfrm>
            <a:off x="4471416" y="3136392"/>
            <a:ext cx="3383280" cy="2130552"/>
          </a:xfrm>
          <a:prstGeom prst="rect">
            <a:avLst/>
          </a:prstGeom>
          <a:noFill/>
        </p:spPr>
        <p:txBody>
          <a:bodyPr wrap="square" lIns="27432" rIns="27432" tIns="18288" bIns="0">
            <a:spAutoFit/>
          </a:bodyPr>
          <a:lstStyle/>
          <a:p>
            <a:pPr>
              <a:spcAft>
                <a:spcPts val="800"/>
              </a:spcAft>
              <a:defRPr sz="2300" b="0">
                <a:solidFill>
                  <a:srgbClr val="25364C"/>
                </a:solidFill>
                <a:latin typeface="DejaVu Sans"/>
              </a:defRPr>
            </a:pPr>
            <a:r>
              <a:t>Private ulanish yoki mos xavfsiz ulanish mexanizmi tanlanadi. Zaxira va mavjudlik sozlamalari belgilanadi.</a:t>
            </a:r>
          </a:p>
        </p:txBody>
      </p:sp>
      <p:sp>
        <p:nvSpPr>
          <p:cNvPr id="19" name="Oval 18"/>
          <p:cNvSpPr/>
          <p:nvPr/>
        </p:nvSpPr>
        <p:spPr>
          <a:xfrm>
            <a:off x="8165592" y="1819656"/>
            <a:ext cx="256032" cy="256032"/>
          </a:xfrm>
          <a:prstGeom prst="ellipse">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65592" y="2350008"/>
            <a:ext cx="3383280" cy="548640"/>
          </a:xfrm>
          <a:prstGeom prst="rect">
            <a:avLst/>
          </a:prstGeom>
          <a:noFill/>
        </p:spPr>
        <p:txBody>
          <a:bodyPr wrap="square" lIns="27432" rIns="27432" tIns="18288" bIns="0">
            <a:spAutoFit/>
          </a:bodyPr>
          <a:lstStyle/>
          <a:p>
            <a:pPr>
              <a:spcAft>
                <a:spcPts val="800"/>
              </a:spcAft>
              <a:defRPr sz="2200" b="1">
                <a:solidFill>
                  <a:srgbClr val="FBBC04"/>
                </a:solidFill>
                <a:latin typeface="DejaVu Sans"/>
              </a:defRPr>
            </a:pPr>
            <a:r>
              <a:t>Misol</a:t>
            </a:r>
          </a:p>
        </p:txBody>
      </p:sp>
      <p:sp>
        <p:nvSpPr>
          <p:cNvPr id="21" name="TextBox 20"/>
          <p:cNvSpPr txBox="1"/>
          <p:nvPr/>
        </p:nvSpPr>
        <p:spPr>
          <a:xfrm>
            <a:off x="8165592" y="3136392"/>
            <a:ext cx="3383280" cy="2130552"/>
          </a:xfrm>
          <a:prstGeom prst="rect">
            <a:avLst/>
          </a:prstGeom>
          <a:noFill/>
        </p:spPr>
        <p:txBody>
          <a:bodyPr wrap="square" lIns="27432" rIns="27432" tIns="18288" bIns="0">
            <a:spAutoFit/>
          </a:bodyPr>
          <a:lstStyle/>
          <a:p>
            <a:pPr>
              <a:spcAft>
                <a:spcPts val="800"/>
              </a:spcAft>
              <a:defRPr sz="2300" b="0">
                <a:solidFill>
                  <a:srgbClr val="25364C"/>
                </a:solidFill>
                <a:latin typeface="DejaVu Sans"/>
              </a:defRPr>
            </a:pPr>
            <a:r>
              <a:t>Portalning ro‘yxatdan o‘tish yozuvlari Cloud SQL da tranzaksiyalar orqali saqlanadi.</a:t>
            </a:r>
          </a:p>
        </p:txBody>
      </p:sp>
      <p:sp>
        <p:nvSpPr>
          <p:cNvPr id="22" name="Rounded Rectangle 21"/>
          <p:cNvSpPr/>
          <p:nvPr/>
        </p:nvSpPr>
        <p:spPr>
          <a:xfrm>
            <a:off x="731520" y="5641848"/>
            <a:ext cx="10698480" cy="621792"/>
          </a:xfrm>
          <a:prstGeom prst="roundRect">
            <a:avLst>
              <a:gd name="adj" fmla="val 8000"/>
            </a:avLst>
          </a:prstGeom>
          <a:solidFill>
            <a:srgbClr val="F2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7824" y="5733288"/>
            <a:ext cx="10405872" cy="466344"/>
          </a:xfrm>
          <a:prstGeom prst="rect">
            <a:avLst/>
          </a:prstGeom>
          <a:noFill/>
        </p:spPr>
        <p:txBody>
          <a:bodyPr wrap="square" lIns="27432" rIns="27432" tIns="18288" bIns="0">
            <a:spAutoFit/>
          </a:bodyPr>
          <a:lstStyle/>
          <a:p>
            <a:pPr>
              <a:spcAft>
                <a:spcPts val="800"/>
              </a:spcAft>
              <a:defRPr sz="1700" b="0">
                <a:solidFill>
                  <a:srgbClr val="25364C"/>
                </a:solidFill>
                <a:latin typeface="DejaVu Sans"/>
              </a:defRPr>
            </a:pPr>
            <a:r>
              <a:t>Ko‘p yangi ilova nusxasi bir vaqtda ulansa, baza ulanish limiti to‘lishi mumkin.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93192"/>
            <a:ext cx="10607040" cy="1060704"/>
          </a:xfrm>
          <a:prstGeom prst="rect">
            <a:avLst/>
          </a:prstGeom>
          <a:noFill/>
        </p:spPr>
        <p:txBody>
          <a:bodyPr wrap="square" lIns="27432" rIns="27432" tIns="18288" bIns="0">
            <a:spAutoFit/>
          </a:bodyPr>
          <a:lstStyle/>
          <a:p>
            <a:pPr>
              <a:spcAft>
                <a:spcPts val="800"/>
              </a:spcAft>
              <a:defRPr sz="3000" b="1">
                <a:solidFill>
                  <a:srgbClr val="25364C"/>
                </a:solidFill>
                <a:latin typeface="DejaVu Sans"/>
              </a:defRPr>
            </a:pPr>
            <a:r>
              <a:t>Google Kubernetes Engine</a:t>
            </a:r>
          </a:p>
        </p:txBody>
      </p:sp>
      <p:sp>
        <p:nvSpPr>
          <p:cNvPr id="3" name="Oval 2"/>
          <p:cNvSpPr/>
          <p:nvPr/>
        </p:nvSpPr>
        <p:spPr>
          <a:xfrm>
            <a:off x="10835640" y="292608"/>
            <a:ext cx="118872" cy="118872"/>
          </a:xfrm>
          <a:prstGeom prst="ellipse">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045952" y="292608"/>
            <a:ext cx="118872" cy="118872"/>
          </a:xfrm>
          <a:prstGeom prst="ellipse">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256264" y="292608"/>
            <a:ext cx="118872" cy="118872"/>
          </a:xfrm>
          <a:prstGeom prst="ellipse">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466576" y="292608"/>
            <a:ext cx="118872" cy="118872"/>
          </a:xfrm>
          <a:prstGeom prst="ellipse">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2" y="1545336"/>
            <a:ext cx="438912" cy="5029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43584" y="1545336"/>
            <a:ext cx="438912" cy="5029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773936" y="1545336"/>
            <a:ext cx="438912" cy="50292"/>
          </a:xfrm>
          <a:prstGeom prst="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304287" y="1545336"/>
            <a:ext cx="438912" cy="5029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25364C"/>
                </a:solidFill>
                <a:latin typeface="DejaVu Sans"/>
              </a:defRPr>
            </a:pPr>
            <a:r>
              <a:t>BTST206   /   M14   /   2027–2028</a:t>
            </a:r>
          </a:p>
        </p:txBody>
      </p:sp>
      <p:sp>
        <p:nvSpPr>
          <p:cNvPr id="12" name="TextBox 11"/>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25364C"/>
                </a:solidFill>
                <a:latin typeface="DejaVu Sans"/>
              </a:defRPr>
            </a:pPr>
            <a:r>
              <a:t>07 / 13</a:t>
            </a:r>
          </a:p>
        </p:txBody>
      </p:sp>
      <p:sp>
        <p:nvSpPr>
          <p:cNvPr id="13" name="Rounded Rectangle 12"/>
          <p:cNvSpPr/>
          <p:nvPr/>
        </p:nvSpPr>
        <p:spPr>
          <a:xfrm>
            <a:off x="777240" y="1783080"/>
            <a:ext cx="10652760" cy="978408"/>
          </a:xfrm>
          <a:prstGeom prst="roundRect">
            <a:avLst>
              <a:gd name="adj" fmla="val 8000"/>
            </a:avLst>
          </a:prstGeom>
          <a:solidFill>
            <a:srgbClr val="EDF3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1965960"/>
            <a:ext cx="10149840" cy="667512"/>
          </a:xfrm>
          <a:prstGeom prst="rect">
            <a:avLst/>
          </a:prstGeom>
          <a:noFill/>
        </p:spPr>
        <p:txBody>
          <a:bodyPr wrap="square" lIns="27432" rIns="27432" tIns="18288" bIns="0">
            <a:spAutoFit/>
          </a:bodyPr>
          <a:lstStyle/>
          <a:p>
            <a:pPr>
              <a:spcAft>
                <a:spcPts val="800"/>
              </a:spcAft>
              <a:defRPr sz="2700" b="1">
                <a:solidFill>
                  <a:srgbClr val="25364C"/>
                </a:solidFill>
                <a:latin typeface="DejaVu Sans"/>
              </a:defRPr>
            </a:pPr>
            <a:r>
              <a:t>Kubernetes uchun boshqariladigan platforma.</a:t>
            </a:r>
          </a:p>
        </p:txBody>
      </p:sp>
      <p:sp>
        <p:nvSpPr>
          <p:cNvPr id="15" name="Rounded Rectangle 14"/>
          <p:cNvSpPr/>
          <p:nvPr/>
        </p:nvSpPr>
        <p:spPr>
          <a:xfrm>
            <a:off x="777240" y="2971800"/>
            <a:ext cx="5129784" cy="2487168"/>
          </a:xfrm>
          <a:prstGeom prst="roundRect">
            <a:avLst>
              <a:gd name="adj" fmla="val 8000"/>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3118104"/>
            <a:ext cx="4764024" cy="365760"/>
          </a:xfrm>
          <a:prstGeom prst="rect">
            <a:avLst/>
          </a:prstGeom>
          <a:noFill/>
        </p:spPr>
        <p:txBody>
          <a:bodyPr wrap="square" lIns="27432" rIns="27432" tIns="18288" bIns="0">
            <a:spAutoFit/>
          </a:bodyPr>
          <a:lstStyle/>
          <a:p>
            <a:pPr>
              <a:spcAft>
                <a:spcPts val="800"/>
              </a:spcAft>
              <a:defRPr sz="1400" b="1">
                <a:solidFill>
                  <a:srgbClr val="4285F4"/>
                </a:solidFill>
                <a:latin typeface="DejaVu Sans"/>
              </a:defRPr>
            </a:pPr>
            <a:r>
              <a:t>NIMA?</a:t>
            </a:r>
          </a:p>
        </p:txBody>
      </p:sp>
      <p:sp>
        <p:nvSpPr>
          <p:cNvPr id="17" name="TextBox 16"/>
          <p:cNvSpPr txBox="1"/>
          <p:nvPr/>
        </p:nvSpPr>
        <p:spPr>
          <a:xfrm>
            <a:off x="960120" y="3593592"/>
            <a:ext cx="4764024" cy="1755648"/>
          </a:xfrm>
          <a:prstGeom prst="rect">
            <a:avLst/>
          </a:prstGeom>
          <a:noFill/>
        </p:spPr>
        <p:txBody>
          <a:bodyPr wrap="square" lIns="27432" rIns="27432" tIns="18288" bIns="0">
            <a:spAutoFit/>
          </a:bodyPr>
          <a:lstStyle/>
          <a:p>
            <a:pPr>
              <a:spcAft>
                <a:spcPts val="800"/>
              </a:spcAft>
              <a:defRPr sz="2100" b="0">
                <a:solidFill>
                  <a:srgbClr val="25364C"/>
                </a:solidFill>
                <a:latin typeface="DejaVu Sans"/>
              </a:defRPr>
            </a:pPr>
            <a:r>
              <a:t>GKE Kubernetes klasterini boshqarishni soddalashtiradi. Control plane infratuzilmasini provayder yuritadi.</a:t>
            </a:r>
          </a:p>
        </p:txBody>
      </p:sp>
      <p:sp>
        <p:nvSpPr>
          <p:cNvPr id="18" name="Rounded Rectangle 17"/>
          <p:cNvSpPr/>
          <p:nvPr/>
        </p:nvSpPr>
        <p:spPr>
          <a:xfrm>
            <a:off x="6236208" y="2971800"/>
            <a:ext cx="5193792" cy="2487168"/>
          </a:xfrm>
          <a:prstGeom prst="roundRect">
            <a:avLst>
              <a:gd name="adj" fmla="val 8000"/>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19088" y="3118104"/>
            <a:ext cx="4828031" cy="365760"/>
          </a:xfrm>
          <a:prstGeom prst="rect">
            <a:avLst/>
          </a:prstGeom>
          <a:noFill/>
        </p:spPr>
        <p:txBody>
          <a:bodyPr wrap="square" lIns="27432" rIns="27432" tIns="18288" bIns="0">
            <a:spAutoFit/>
          </a:bodyPr>
          <a:lstStyle/>
          <a:p>
            <a:pPr>
              <a:spcAft>
                <a:spcPts val="800"/>
              </a:spcAft>
              <a:defRPr sz="1400" b="1">
                <a:solidFill>
                  <a:srgbClr val="EA4335"/>
                </a:solidFill>
                <a:latin typeface="DejaVu Sans"/>
              </a:defRPr>
            </a:pPr>
            <a:r>
              <a:t>QAYERDA?</a:t>
            </a:r>
          </a:p>
        </p:txBody>
      </p:sp>
      <p:sp>
        <p:nvSpPr>
          <p:cNvPr id="20" name="TextBox 19"/>
          <p:cNvSpPr txBox="1"/>
          <p:nvPr/>
        </p:nvSpPr>
        <p:spPr>
          <a:xfrm>
            <a:off x="6419088" y="3593592"/>
            <a:ext cx="4828031" cy="1755648"/>
          </a:xfrm>
          <a:prstGeom prst="rect">
            <a:avLst/>
          </a:prstGeom>
          <a:noFill/>
        </p:spPr>
        <p:txBody>
          <a:bodyPr wrap="square" lIns="27432" rIns="27432" tIns="18288" bIns="0">
            <a:spAutoFit/>
          </a:bodyPr>
          <a:lstStyle/>
          <a:p>
            <a:pPr>
              <a:spcAft>
                <a:spcPts val="800"/>
              </a:spcAft>
              <a:defRPr sz="2100" b="0">
                <a:solidFill>
                  <a:srgbClr val="25364C"/>
                </a:solidFill>
                <a:latin typeface="DejaVu Sans"/>
              </a:defRPr>
            </a:pPr>
            <a:r>
              <a:t>Portal va xabarnoma mikroservislari GKE da alohida Deployment lar sifatida yuritiladi.</a:t>
            </a:r>
          </a:p>
        </p:txBody>
      </p:sp>
      <p:sp>
        <p:nvSpPr>
          <p:cNvPr id="21" name="Rounded Rectangle 20"/>
          <p:cNvSpPr/>
          <p:nvPr/>
        </p:nvSpPr>
        <p:spPr>
          <a:xfrm>
            <a:off x="731520" y="5641848"/>
            <a:ext cx="10698480" cy="621792"/>
          </a:xfrm>
          <a:prstGeom prst="roundRect">
            <a:avLst>
              <a:gd name="adj" fmla="val 8000"/>
            </a:avLst>
          </a:prstGeom>
          <a:solidFill>
            <a:srgbClr val="F2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77824" y="5733288"/>
            <a:ext cx="10405872" cy="466344"/>
          </a:xfrm>
          <a:prstGeom prst="rect">
            <a:avLst/>
          </a:prstGeom>
          <a:noFill/>
        </p:spPr>
        <p:txBody>
          <a:bodyPr wrap="square" lIns="27432" rIns="27432" tIns="18288" bIns="0">
            <a:spAutoFit/>
          </a:bodyPr>
          <a:lstStyle/>
          <a:p>
            <a:pPr>
              <a:spcAft>
                <a:spcPts val="800"/>
              </a:spcAft>
              <a:defRPr sz="1700" b="0">
                <a:solidFill>
                  <a:srgbClr val="25364C"/>
                </a:solidFill>
                <a:latin typeface="DejaVu Sans"/>
              </a:defRPr>
            </a:pPr>
            <a:r>
              <a:t>Boshqariladigan Kubernetes ilova arxitekturasi va konteyner xatolarini avtomatik tuzatmaydi.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93192"/>
            <a:ext cx="10607040" cy="1060704"/>
          </a:xfrm>
          <a:prstGeom prst="rect">
            <a:avLst/>
          </a:prstGeom>
          <a:noFill/>
        </p:spPr>
        <p:txBody>
          <a:bodyPr wrap="square" lIns="27432" rIns="27432" tIns="18288" bIns="0">
            <a:spAutoFit/>
          </a:bodyPr>
          <a:lstStyle/>
          <a:p>
            <a:pPr>
              <a:spcAft>
                <a:spcPts val="800"/>
              </a:spcAft>
              <a:defRPr sz="3000" b="1">
                <a:solidFill>
                  <a:srgbClr val="25364C"/>
                </a:solidFill>
                <a:latin typeface="DejaVu Sans"/>
              </a:defRPr>
            </a:pPr>
            <a:r>
              <a:t>Cloud Functions va Cloud Run functions</a:t>
            </a:r>
          </a:p>
        </p:txBody>
      </p:sp>
      <p:sp>
        <p:nvSpPr>
          <p:cNvPr id="3" name="Oval 2"/>
          <p:cNvSpPr/>
          <p:nvPr/>
        </p:nvSpPr>
        <p:spPr>
          <a:xfrm>
            <a:off x="10835640" y="292608"/>
            <a:ext cx="118872" cy="118872"/>
          </a:xfrm>
          <a:prstGeom prst="ellipse">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045952" y="292608"/>
            <a:ext cx="118872" cy="118872"/>
          </a:xfrm>
          <a:prstGeom prst="ellipse">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256264" y="292608"/>
            <a:ext cx="118872" cy="118872"/>
          </a:xfrm>
          <a:prstGeom prst="ellipse">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466576" y="292608"/>
            <a:ext cx="118872" cy="118872"/>
          </a:xfrm>
          <a:prstGeom prst="ellipse">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2" y="1545336"/>
            <a:ext cx="438912" cy="5029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43584" y="1545336"/>
            <a:ext cx="438912" cy="5029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773936" y="1545336"/>
            <a:ext cx="438912" cy="50292"/>
          </a:xfrm>
          <a:prstGeom prst="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304287" y="1545336"/>
            <a:ext cx="438912" cy="5029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25364C"/>
                </a:solidFill>
                <a:latin typeface="DejaVu Sans"/>
              </a:defRPr>
            </a:pPr>
            <a:r>
              <a:t>BTST206   /   M14   /   2027–2028</a:t>
            </a:r>
          </a:p>
        </p:txBody>
      </p:sp>
      <p:sp>
        <p:nvSpPr>
          <p:cNvPr id="12" name="TextBox 11"/>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25364C"/>
                </a:solidFill>
                <a:latin typeface="DejaVu Sans"/>
              </a:defRPr>
            </a:pPr>
            <a:r>
              <a:t>08 / 13</a:t>
            </a:r>
          </a:p>
        </p:txBody>
      </p:sp>
      <p:sp>
        <p:nvSpPr>
          <p:cNvPr id="13" name="TextBox 12"/>
          <p:cNvSpPr txBox="1"/>
          <p:nvPr/>
        </p:nvSpPr>
        <p:spPr>
          <a:xfrm>
            <a:off x="777240" y="1783080"/>
            <a:ext cx="3794760" cy="1737360"/>
          </a:xfrm>
          <a:prstGeom prst="rect">
            <a:avLst/>
          </a:prstGeom>
          <a:noFill/>
        </p:spPr>
        <p:txBody>
          <a:bodyPr wrap="square" lIns="27432" rIns="27432" tIns="18288" bIns="0">
            <a:spAutoFit/>
          </a:bodyPr>
          <a:lstStyle/>
          <a:p>
            <a:pPr>
              <a:spcAft>
                <a:spcPts val="800"/>
              </a:spcAft>
              <a:defRPr sz="3000" b="1">
                <a:solidFill>
                  <a:srgbClr val="25364C"/>
                </a:solidFill>
                <a:latin typeface="DejaVu Sans"/>
              </a:defRPr>
            </a:pPr>
            <a:r>
              <a:t>Hodisalardan funksiyaga o‘tish.</a:t>
            </a:r>
          </a:p>
        </p:txBody>
      </p:sp>
      <p:cxnSp>
        <p:nvCxnSpPr>
          <p:cNvPr id="14" name="Connector 13"/>
          <p:cNvCxnSpPr/>
          <p:nvPr/>
        </p:nvCxnSpPr>
        <p:spPr>
          <a:xfrm>
            <a:off x="4983480" y="1810512"/>
            <a:ext cx="0" cy="3474720"/>
          </a:xfrm>
          <a:prstGeom prst="line">
            <a:avLst/>
          </a:prstGeom>
          <a:ln w="38100">
            <a:solidFill>
              <a:srgbClr val="EA4335"/>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404104" y="1874519"/>
            <a:ext cx="5925312" cy="1362456"/>
          </a:xfrm>
          <a:prstGeom prst="rect">
            <a:avLst/>
          </a:prstGeom>
          <a:noFill/>
        </p:spPr>
        <p:txBody>
          <a:bodyPr wrap="square" lIns="27432" rIns="27432" tIns="18288" bIns="0">
            <a:spAutoFit/>
          </a:bodyPr>
          <a:lstStyle/>
          <a:p>
            <a:pPr>
              <a:spcAft>
                <a:spcPts val="800"/>
              </a:spcAft>
              <a:defRPr sz="2200" b="0">
                <a:solidFill>
                  <a:srgbClr val="25364C"/>
                </a:solidFill>
                <a:latin typeface="DejaVu Sans"/>
              </a:defRPr>
            </a:pPr>
            <a:r>
              <a:t>Sillabusdagi Cloud Functions nomi funksiyalar xizmatini anglatadi.</a:t>
            </a:r>
          </a:p>
        </p:txBody>
      </p:sp>
      <p:sp>
        <p:nvSpPr>
          <p:cNvPr id="16" name="TextBox 15"/>
          <p:cNvSpPr txBox="1"/>
          <p:nvPr/>
        </p:nvSpPr>
        <p:spPr>
          <a:xfrm>
            <a:off x="5404104" y="3767328"/>
            <a:ext cx="5925312" cy="1389888"/>
          </a:xfrm>
          <a:prstGeom prst="rect">
            <a:avLst/>
          </a:prstGeom>
          <a:noFill/>
        </p:spPr>
        <p:txBody>
          <a:bodyPr wrap="square" lIns="27432" rIns="27432" tIns="18288" bIns="0">
            <a:spAutoFit/>
          </a:bodyPr>
          <a:lstStyle/>
          <a:p>
            <a:pPr>
              <a:spcAft>
                <a:spcPts val="800"/>
              </a:spcAft>
              <a:defRPr sz="2200" b="0">
                <a:solidFill>
                  <a:srgbClr val="25364C"/>
                </a:solidFill>
                <a:latin typeface="DejaVu Sans"/>
              </a:defRPr>
            </a:pPr>
            <a:r>
              <a:t>HTTP yoki boshqa hodisa funksiyani ishga tushiradi. Service account kerakli ruxsatni beradi.</a:t>
            </a:r>
          </a:p>
        </p:txBody>
      </p:sp>
      <p:sp>
        <p:nvSpPr>
          <p:cNvPr id="17" name="Rounded Rectangle 16"/>
          <p:cNvSpPr/>
          <p:nvPr/>
        </p:nvSpPr>
        <p:spPr>
          <a:xfrm>
            <a:off x="731520" y="5641848"/>
            <a:ext cx="10698480" cy="621792"/>
          </a:xfrm>
          <a:prstGeom prst="roundRect">
            <a:avLst>
              <a:gd name="adj" fmla="val 8000"/>
            </a:avLst>
          </a:prstGeom>
          <a:solidFill>
            <a:srgbClr val="F2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7824" y="5733288"/>
            <a:ext cx="10405872" cy="466344"/>
          </a:xfrm>
          <a:prstGeom prst="rect">
            <a:avLst/>
          </a:prstGeom>
          <a:noFill/>
        </p:spPr>
        <p:txBody>
          <a:bodyPr wrap="square" lIns="27432" rIns="27432" tIns="18288" bIns="0">
            <a:spAutoFit/>
          </a:bodyPr>
          <a:lstStyle/>
          <a:p>
            <a:pPr>
              <a:spcAft>
                <a:spcPts val="800"/>
              </a:spcAft>
              <a:defRPr sz="1700" b="0">
                <a:solidFill>
                  <a:srgbClr val="25364C"/>
                </a:solidFill>
                <a:latin typeface="DejaVu Sans"/>
              </a:defRPr>
            </a:pPr>
            <a:r>
              <a:t>Xizmat nomi va limitlari yangilanadi; amaliy joylashtirishdan oldin tegishli avlodning rasmiy hujjati tekshiriladi.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93192"/>
            <a:ext cx="10607040" cy="1060704"/>
          </a:xfrm>
          <a:prstGeom prst="rect">
            <a:avLst/>
          </a:prstGeom>
          <a:noFill/>
        </p:spPr>
        <p:txBody>
          <a:bodyPr wrap="square" lIns="27432" rIns="27432" tIns="18288" bIns="0">
            <a:spAutoFit/>
          </a:bodyPr>
          <a:lstStyle/>
          <a:p>
            <a:pPr>
              <a:spcAft>
                <a:spcPts val="800"/>
              </a:spcAft>
              <a:defRPr sz="3000" b="1">
                <a:solidFill>
                  <a:srgbClr val="25364C"/>
                </a:solidFill>
                <a:latin typeface="DejaVu Sans"/>
              </a:defRPr>
            </a:pPr>
            <a:r>
              <a:t>Google Cloud xizmatlari qanday bog‘lanadi?</a:t>
            </a:r>
          </a:p>
        </p:txBody>
      </p:sp>
      <p:sp>
        <p:nvSpPr>
          <p:cNvPr id="3" name="Oval 2"/>
          <p:cNvSpPr/>
          <p:nvPr/>
        </p:nvSpPr>
        <p:spPr>
          <a:xfrm>
            <a:off x="10835640" y="292608"/>
            <a:ext cx="118872" cy="118872"/>
          </a:xfrm>
          <a:prstGeom prst="ellipse">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045952" y="292608"/>
            <a:ext cx="118872" cy="118872"/>
          </a:xfrm>
          <a:prstGeom prst="ellipse">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256264" y="292608"/>
            <a:ext cx="118872" cy="118872"/>
          </a:xfrm>
          <a:prstGeom prst="ellipse">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466576" y="292608"/>
            <a:ext cx="118872" cy="118872"/>
          </a:xfrm>
          <a:prstGeom prst="ellipse">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2" y="1545336"/>
            <a:ext cx="438912" cy="5029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43584" y="1545336"/>
            <a:ext cx="438912" cy="5029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773936" y="1545336"/>
            <a:ext cx="438912" cy="50292"/>
          </a:xfrm>
          <a:prstGeom prst="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304287" y="1545336"/>
            <a:ext cx="438912" cy="5029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25364C"/>
                </a:solidFill>
                <a:latin typeface="DejaVu Sans"/>
              </a:defRPr>
            </a:pPr>
            <a:r>
              <a:t>BTST206   /   M14   /   2027–2028</a:t>
            </a:r>
          </a:p>
        </p:txBody>
      </p:sp>
      <p:sp>
        <p:nvSpPr>
          <p:cNvPr id="12" name="TextBox 11"/>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25364C"/>
                </a:solidFill>
                <a:latin typeface="DejaVu Sans"/>
              </a:defRPr>
            </a:pPr>
            <a:r>
              <a:t>09 / 13</a:t>
            </a:r>
          </a:p>
        </p:txBody>
      </p:sp>
      <p:cxnSp>
        <p:nvCxnSpPr>
          <p:cNvPr id="13" name="Connector 12"/>
          <p:cNvCxnSpPr/>
          <p:nvPr/>
        </p:nvCxnSpPr>
        <p:spPr>
          <a:xfrm>
            <a:off x="3474720" y="2331720"/>
            <a:ext cx="777240" cy="0"/>
          </a:xfrm>
          <a:prstGeom prst="line">
            <a:avLst/>
          </a:prstGeom>
          <a:ln w="25400">
            <a:solidFill>
              <a:srgbClr val="4285F4"/>
            </a:solidFill>
            <a:tailEnd type="triangle"/>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995160" y="2331720"/>
            <a:ext cx="777240" cy="0"/>
          </a:xfrm>
          <a:prstGeom prst="line">
            <a:avLst/>
          </a:prstGeom>
          <a:ln w="25400">
            <a:solidFill>
              <a:srgbClr val="4285F4"/>
            </a:solidFill>
            <a:tailEnd type="triangle"/>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3931920" y="2816352"/>
            <a:ext cx="1691640" cy="1161287"/>
          </a:xfrm>
          <a:prstGeom prst="line">
            <a:avLst/>
          </a:prstGeom>
          <a:ln w="25400">
            <a:solidFill>
              <a:srgbClr val="4285F4"/>
            </a:solidFill>
            <a:tailEnd type="triangle"/>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303520" y="4434840"/>
            <a:ext cx="1554480" cy="0"/>
          </a:xfrm>
          <a:prstGeom prst="line">
            <a:avLst/>
          </a:prstGeom>
          <a:ln w="25400">
            <a:solidFill>
              <a:srgbClr val="4285F4"/>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31520" y="1874519"/>
            <a:ext cx="2743200" cy="941832"/>
          </a:xfrm>
          <a:prstGeom prst="roundRect">
            <a:avLst>
              <a:gd name="adj" fmla="val 8000"/>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 y="2011679"/>
            <a:ext cx="2523744" cy="685800"/>
          </a:xfrm>
          <a:prstGeom prst="rect">
            <a:avLst/>
          </a:prstGeom>
          <a:noFill/>
        </p:spPr>
        <p:txBody>
          <a:bodyPr wrap="square" lIns="27432" rIns="27432" tIns="18288" bIns="0">
            <a:spAutoFit/>
          </a:bodyPr>
          <a:lstStyle/>
          <a:p>
            <a:pPr>
              <a:spcAft>
                <a:spcPts val="800"/>
              </a:spcAft>
              <a:defRPr sz="1700" b="1">
                <a:solidFill>
                  <a:srgbClr val="FFFFFF"/>
                </a:solidFill>
                <a:latin typeface="DejaVu Sans"/>
              </a:defRPr>
            </a:pPr>
            <a:r>
              <a:t>Project va IAM</a:t>
            </a:r>
          </a:p>
        </p:txBody>
      </p:sp>
      <p:sp>
        <p:nvSpPr>
          <p:cNvPr id="19" name="Rounded Rectangle 18"/>
          <p:cNvSpPr/>
          <p:nvPr/>
        </p:nvSpPr>
        <p:spPr>
          <a:xfrm>
            <a:off x="4251960" y="1874519"/>
            <a:ext cx="2743200" cy="941832"/>
          </a:xfrm>
          <a:prstGeom prst="roundRect">
            <a:avLst>
              <a:gd name="adj" fmla="val 8000"/>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61688" y="2011679"/>
            <a:ext cx="2523744" cy="685800"/>
          </a:xfrm>
          <a:prstGeom prst="rect">
            <a:avLst/>
          </a:prstGeom>
          <a:noFill/>
        </p:spPr>
        <p:txBody>
          <a:bodyPr wrap="square" lIns="27432" rIns="27432" tIns="18288" bIns="0">
            <a:spAutoFit/>
          </a:bodyPr>
          <a:lstStyle/>
          <a:p>
            <a:pPr>
              <a:spcAft>
                <a:spcPts val="800"/>
              </a:spcAft>
              <a:defRPr sz="1700" b="1">
                <a:solidFill>
                  <a:srgbClr val="25364C"/>
                </a:solidFill>
                <a:latin typeface="DejaVu Sans"/>
              </a:defRPr>
            </a:pPr>
            <a:r>
              <a:t>Compute / GKE</a:t>
            </a:r>
          </a:p>
        </p:txBody>
      </p:sp>
      <p:sp>
        <p:nvSpPr>
          <p:cNvPr id="21" name="Rounded Rectangle 20"/>
          <p:cNvSpPr/>
          <p:nvPr/>
        </p:nvSpPr>
        <p:spPr>
          <a:xfrm>
            <a:off x="7772400" y="1874519"/>
            <a:ext cx="2743200" cy="941832"/>
          </a:xfrm>
          <a:prstGeom prst="roundRect">
            <a:avLst>
              <a:gd name="adj" fmla="val 8000"/>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82127" y="2011679"/>
            <a:ext cx="2523744" cy="685800"/>
          </a:xfrm>
          <a:prstGeom prst="rect">
            <a:avLst/>
          </a:prstGeom>
          <a:noFill/>
        </p:spPr>
        <p:txBody>
          <a:bodyPr wrap="square" lIns="27432" rIns="27432" tIns="18288" bIns="0">
            <a:spAutoFit/>
          </a:bodyPr>
          <a:lstStyle/>
          <a:p>
            <a:pPr>
              <a:spcAft>
                <a:spcPts val="800"/>
              </a:spcAft>
              <a:defRPr sz="1700" b="1">
                <a:solidFill>
                  <a:srgbClr val="25364C"/>
                </a:solidFill>
                <a:latin typeface="DejaVu Sans"/>
              </a:defRPr>
            </a:pPr>
            <a:r>
              <a:t>Cloud SQL</a:t>
            </a:r>
          </a:p>
        </p:txBody>
      </p:sp>
      <p:sp>
        <p:nvSpPr>
          <p:cNvPr id="23" name="Rounded Rectangle 22"/>
          <p:cNvSpPr/>
          <p:nvPr/>
        </p:nvSpPr>
        <p:spPr>
          <a:xfrm>
            <a:off x="2560320" y="3977639"/>
            <a:ext cx="2743200" cy="941832"/>
          </a:xfrm>
          <a:prstGeom prst="roundRect">
            <a:avLst>
              <a:gd name="adj" fmla="val 8000"/>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670048" y="4114800"/>
            <a:ext cx="2523744" cy="685800"/>
          </a:xfrm>
          <a:prstGeom prst="rect">
            <a:avLst/>
          </a:prstGeom>
          <a:noFill/>
        </p:spPr>
        <p:txBody>
          <a:bodyPr wrap="square" lIns="27432" rIns="27432" tIns="18288" bIns="0">
            <a:spAutoFit/>
          </a:bodyPr>
          <a:lstStyle/>
          <a:p>
            <a:pPr>
              <a:spcAft>
                <a:spcPts val="800"/>
              </a:spcAft>
              <a:defRPr sz="1700" b="1">
                <a:solidFill>
                  <a:srgbClr val="25364C"/>
                </a:solidFill>
                <a:latin typeface="DejaVu Sans"/>
              </a:defRPr>
            </a:pPr>
            <a:r>
              <a:t>Cloud Storage</a:t>
            </a:r>
          </a:p>
        </p:txBody>
      </p:sp>
      <p:sp>
        <p:nvSpPr>
          <p:cNvPr id="25" name="Rounded Rectangle 24"/>
          <p:cNvSpPr/>
          <p:nvPr/>
        </p:nvSpPr>
        <p:spPr>
          <a:xfrm>
            <a:off x="6858000" y="3977639"/>
            <a:ext cx="2743200" cy="941832"/>
          </a:xfrm>
          <a:prstGeom prst="roundRect">
            <a:avLst>
              <a:gd name="adj" fmla="val 8000"/>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67728" y="4114800"/>
            <a:ext cx="2523744" cy="685800"/>
          </a:xfrm>
          <a:prstGeom prst="rect">
            <a:avLst/>
          </a:prstGeom>
          <a:noFill/>
        </p:spPr>
        <p:txBody>
          <a:bodyPr wrap="square" lIns="27432" rIns="27432" tIns="18288" bIns="0">
            <a:spAutoFit/>
          </a:bodyPr>
          <a:lstStyle/>
          <a:p>
            <a:pPr>
              <a:spcAft>
                <a:spcPts val="800"/>
              </a:spcAft>
              <a:defRPr sz="1700" b="1">
                <a:solidFill>
                  <a:srgbClr val="25364C"/>
                </a:solidFill>
                <a:latin typeface="DejaVu Sans"/>
              </a:defRPr>
            </a:pPr>
            <a:r>
              <a:t>Functions</a:t>
            </a:r>
          </a:p>
        </p:txBody>
      </p:sp>
      <p:sp>
        <p:nvSpPr>
          <p:cNvPr id="27" name="TextBox 26"/>
          <p:cNvSpPr txBox="1"/>
          <p:nvPr/>
        </p:nvSpPr>
        <p:spPr>
          <a:xfrm>
            <a:off x="731520" y="6080760"/>
            <a:ext cx="10698480" cy="274320"/>
          </a:xfrm>
          <a:prstGeom prst="rect">
            <a:avLst/>
          </a:prstGeom>
          <a:noFill/>
        </p:spPr>
        <p:txBody>
          <a:bodyPr wrap="square" lIns="27432" rIns="27432" tIns="18288" bIns="0">
            <a:spAutoFit/>
          </a:bodyPr>
          <a:lstStyle/>
          <a:p>
            <a:pPr>
              <a:spcAft>
                <a:spcPts val="800"/>
              </a:spcAft>
              <a:defRPr sz="1100" b="0">
                <a:solidFill>
                  <a:srgbClr val="25364C"/>
                </a:solidFill>
                <a:latin typeface="DejaVu Sans"/>
              </a:defRPr>
            </a:pPr>
            <a:r>
              <a:t>Soddalashtirilgan sxema: o‘qlar — asosiy murojaat yoki boshqaruv bog‘lanishi.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93192"/>
            <a:ext cx="10607040" cy="1060704"/>
          </a:xfrm>
          <a:prstGeom prst="rect">
            <a:avLst/>
          </a:prstGeom>
          <a:noFill/>
        </p:spPr>
        <p:txBody>
          <a:bodyPr wrap="square" lIns="27432" rIns="27432" tIns="18288" bIns="0">
            <a:spAutoFit/>
          </a:bodyPr>
          <a:lstStyle/>
          <a:p>
            <a:pPr>
              <a:spcAft>
                <a:spcPts val="800"/>
              </a:spcAft>
              <a:defRPr sz="3000" b="1">
                <a:solidFill>
                  <a:srgbClr val="25364C"/>
                </a:solidFill>
                <a:latin typeface="DejaVu Sans"/>
              </a:defRPr>
            </a:pPr>
            <a:r>
              <a:t>Universitet misoli: loyiha chegarasi</a:t>
            </a:r>
          </a:p>
        </p:txBody>
      </p:sp>
      <p:sp>
        <p:nvSpPr>
          <p:cNvPr id="3" name="Oval 2"/>
          <p:cNvSpPr/>
          <p:nvPr/>
        </p:nvSpPr>
        <p:spPr>
          <a:xfrm>
            <a:off x="10835640" y="292608"/>
            <a:ext cx="118872" cy="118872"/>
          </a:xfrm>
          <a:prstGeom prst="ellipse">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045952" y="292608"/>
            <a:ext cx="118872" cy="118872"/>
          </a:xfrm>
          <a:prstGeom prst="ellipse">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256264" y="292608"/>
            <a:ext cx="118872" cy="118872"/>
          </a:xfrm>
          <a:prstGeom prst="ellipse">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466576" y="292608"/>
            <a:ext cx="118872" cy="118872"/>
          </a:xfrm>
          <a:prstGeom prst="ellipse">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2" y="1545336"/>
            <a:ext cx="438912" cy="5029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43584" y="1545336"/>
            <a:ext cx="438912" cy="5029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773936" y="1545336"/>
            <a:ext cx="438912" cy="50292"/>
          </a:xfrm>
          <a:prstGeom prst="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304287" y="1545336"/>
            <a:ext cx="438912" cy="5029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25364C"/>
                </a:solidFill>
                <a:latin typeface="DejaVu Sans"/>
              </a:defRPr>
            </a:pPr>
            <a:r>
              <a:t>BTST206   /   M14   /   2027–2028</a:t>
            </a:r>
          </a:p>
        </p:txBody>
      </p:sp>
      <p:sp>
        <p:nvSpPr>
          <p:cNvPr id="12" name="TextBox 11"/>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25364C"/>
                </a:solidFill>
                <a:latin typeface="DejaVu Sans"/>
              </a:defRPr>
            </a:pPr>
            <a:r>
              <a:t>10 / 13</a:t>
            </a:r>
          </a:p>
        </p:txBody>
      </p:sp>
      <p:sp>
        <p:nvSpPr>
          <p:cNvPr id="13" name="TextBox 12"/>
          <p:cNvSpPr txBox="1"/>
          <p:nvPr/>
        </p:nvSpPr>
        <p:spPr>
          <a:xfrm>
            <a:off x="822960" y="1847088"/>
            <a:ext cx="6400800" cy="3566160"/>
          </a:xfrm>
          <a:prstGeom prst="rect">
            <a:avLst/>
          </a:prstGeom>
          <a:noFill/>
        </p:spPr>
        <p:txBody>
          <a:bodyPr wrap="square" lIns="27432" rIns="27432" tIns="18288" bIns="0">
            <a:spAutoFit/>
          </a:bodyPr>
          <a:lstStyle/>
          <a:p>
            <a:pPr>
              <a:spcAft>
                <a:spcPts val="800"/>
              </a:spcAft>
              <a:defRPr sz="2800" b="0">
                <a:solidFill>
                  <a:srgbClr val="25364C"/>
                </a:solidFill>
                <a:latin typeface="DejaVu Sans"/>
              </a:defRPr>
            </a:pPr>
            <a:r>
              <a:t>Universitet tahlil va portal xizmatlarini Google Cloud da joylashtiradi. Project resurslar, API lar, ruxsat va xarajatlarni tartibga solishning asosiy amaliy chegarasi sifatida ishlatiladi.</a:t>
            </a:r>
          </a:p>
        </p:txBody>
      </p:sp>
      <p:sp>
        <p:nvSpPr>
          <p:cNvPr id="14" name="Oval 13"/>
          <p:cNvSpPr/>
          <p:nvPr/>
        </p:nvSpPr>
        <p:spPr>
          <a:xfrm>
            <a:off x="7909560" y="1837943"/>
            <a:ext cx="539496" cy="539496"/>
          </a:xfrm>
          <a:prstGeom prst="ellipse">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68512" y="1837943"/>
            <a:ext cx="2743200" cy="411480"/>
          </a:xfrm>
          <a:prstGeom prst="rect">
            <a:avLst/>
          </a:prstGeom>
          <a:noFill/>
        </p:spPr>
        <p:txBody>
          <a:bodyPr wrap="square" lIns="27432" rIns="27432" tIns="18288" bIns="0">
            <a:spAutoFit/>
          </a:bodyPr>
          <a:lstStyle/>
          <a:p>
            <a:pPr>
              <a:spcAft>
                <a:spcPts val="800"/>
              </a:spcAft>
              <a:defRPr sz="2300" b="1">
                <a:solidFill>
                  <a:srgbClr val="4285F4"/>
                </a:solidFill>
                <a:latin typeface="DejaVu Sans"/>
              </a:defRPr>
            </a:pPr>
            <a:r>
              <a:t>API</a:t>
            </a:r>
          </a:p>
        </p:txBody>
      </p:sp>
      <p:sp>
        <p:nvSpPr>
          <p:cNvPr id="16" name="TextBox 15"/>
          <p:cNvSpPr txBox="1"/>
          <p:nvPr/>
        </p:nvSpPr>
        <p:spPr>
          <a:xfrm>
            <a:off x="8668512" y="2386584"/>
            <a:ext cx="2743200" cy="594360"/>
          </a:xfrm>
          <a:prstGeom prst="rect">
            <a:avLst/>
          </a:prstGeom>
          <a:noFill/>
        </p:spPr>
        <p:txBody>
          <a:bodyPr wrap="square" lIns="27432" rIns="27432" tIns="18288" bIns="0">
            <a:spAutoFit/>
          </a:bodyPr>
          <a:lstStyle/>
          <a:p>
            <a:pPr>
              <a:spcAft>
                <a:spcPts val="800"/>
              </a:spcAft>
              <a:defRPr sz="2000" b="0">
                <a:solidFill>
                  <a:srgbClr val="25364C"/>
                </a:solidFill>
                <a:latin typeface="DejaVu Sans"/>
              </a:defRPr>
            </a:pPr>
            <a:r>
              <a:t>Kerakli xizmatni yoqish</a:t>
            </a:r>
          </a:p>
        </p:txBody>
      </p:sp>
      <p:sp>
        <p:nvSpPr>
          <p:cNvPr id="17" name="Oval 16"/>
          <p:cNvSpPr/>
          <p:nvPr/>
        </p:nvSpPr>
        <p:spPr>
          <a:xfrm>
            <a:off x="7909560" y="3209544"/>
            <a:ext cx="539496" cy="539496"/>
          </a:xfrm>
          <a:prstGeom prst="ellipse">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68512" y="3209544"/>
            <a:ext cx="2743200" cy="411480"/>
          </a:xfrm>
          <a:prstGeom prst="rect">
            <a:avLst/>
          </a:prstGeom>
          <a:noFill/>
        </p:spPr>
        <p:txBody>
          <a:bodyPr wrap="square" lIns="27432" rIns="27432" tIns="18288" bIns="0">
            <a:spAutoFit/>
          </a:bodyPr>
          <a:lstStyle/>
          <a:p>
            <a:pPr>
              <a:spcAft>
                <a:spcPts val="800"/>
              </a:spcAft>
              <a:defRPr sz="2300" b="1">
                <a:solidFill>
                  <a:srgbClr val="EA4335"/>
                </a:solidFill>
                <a:latin typeface="DejaVu Sans"/>
              </a:defRPr>
            </a:pPr>
            <a:r>
              <a:t>IAM</a:t>
            </a:r>
          </a:p>
        </p:txBody>
      </p:sp>
      <p:sp>
        <p:nvSpPr>
          <p:cNvPr id="19" name="TextBox 18"/>
          <p:cNvSpPr txBox="1"/>
          <p:nvPr/>
        </p:nvSpPr>
        <p:spPr>
          <a:xfrm>
            <a:off x="8668512" y="3758183"/>
            <a:ext cx="2743200" cy="594360"/>
          </a:xfrm>
          <a:prstGeom prst="rect">
            <a:avLst/>
          </a:prstGeom>
          <a:noFill/>
        </p:spPr>
        <p:txBody>
          <a:bodyPr wrap="square" lIns="27432" rIns="27432" tIns="18288" bIns="0">
            <a:spAutoFit/>
          </a:bodyPr>
          <a:lstStyle/>
          <a:p>
            <a:pPr>
              <a:spcAft>
                <a:spcPts val="800"/>
              </a:spcAft>
              <a:defRPr sz="2000" b="0">
                <a:solidFill>
                  <a:srgbClr val="25364C"/>
                </a:solidFill>
                <a:latin typeface="DejaVu Sans"/>
              </a:defRPr>
            </a:pPr>
            <a:r>
              <a:t>Eng kam vakolat</a:t>
            </a:r>
          </a:p>
        </p:txBody>
      </p:sp>
      <p:sp>
        <p:nvSpPr>
          <p:cNvPr id="20" name="Oval 19"/>
          <p:cNvSpPr/>
          <p:nvPr/>
        </p:nvSpPr>
        <p:spPr>
          <a:xfrm>
            <a:off x="7909560" y="4581144"/>
            <a:ext cx="539496" cy="539496"/>
          </a:xfrm>
          <a:prstGeom prst="ellipse">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68512" y="4581144"/>
            <a:ext cx="2743200" cy="411480"/>
          </a:xfrm>
          <a:prstGeom prst="rect">
            <a:avLst/>
          </a:prstGeom>
          <a:noFill/>
        </p:spPr>
        <p:txBody>
          <a:bodyPr wrap="square" lIns="27432" rIns="27432" tIns="18288" bIns="0">
            <a:spAutoFit/>
          </a:bodyPr>
          <a:lstStyle/>
          <a:p>
            <a:pPr>
              <a:spcAft>
                <a:spcPts val="800"/>
              </a:spcAft>
              <a:defRPr sz="2300" b="1">
                <a:solidFill>
                  <a:srgbClr val="FBBC04"/>
                </a:solidFill>
                <a:latin typeface="DejaVu Sans"/>
              </a:defRPr>
            </a:pPr>
            <a:r>
              <a:t>Billing</a:t>
            </a:r>
          </a:p>
        </p:txBody>
      </p:sp>
      <p:sp>
        <p:nvSpPr>
          <p:cNvPr id="22" name="TextBox 21"/>
          <p:cNvSpPr txBox="1"/>
          <p:nvPr/>
        </p:nvSpPr>
        <p:spPr>
          <a:xfrm>
            <a:off x="8668512" y="5129783"/>
            <a:ext cx="2743200" cy="594360"/>
          </a:xfrm>
          <a:prstGeom prst="rect">
            <a:avLst/>
          </a:prstGeom>
          <a:noFill/>
        </p:spPr>
        <p:txBody>
          <a:bodyPr wrap="square" lIns="27432" rIns="27432" tIns="18288" bIns="0">
            <a:spAutoFit/>
          </a:bodyPr>
          <a:lstStyle/>
          <a:p>
            <a:pPr>
              <a:spcAft>
                <a:spcPts val="800"/>
              </a:spcAft>
              <a:defRPr sz="2000" b="0">
                <a:solidFill>
                  <a:srgbClr val="25364C"/>
                </a:solidFill>
                <a:latin typeface="DejaVu Sans"/>
              </a:defRPr>
            </a:pPr>
            <a:r>
              <a:t>Xarajatni ajratish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93192"/>
            <a:ext cx="10607040" cy="1060704"/>
          </a:xfrm>
          <a:prstGeom prst="rect">
            <a:avLst/>
          </a:prstGeom>
          <a:noFill/>
        </p:spPr>
        <p:txBody>
          <a:bodyPr wrap="square" lIns="27432" rIns="27432" tIns="18288" bIns="0">
            <a:spAutoFit/>
          </a:bodyPr>
          <a:lstStyle/>
          <a:p>
            <a:pPr>
              <a:spcAft>
                <a:spcPts val="800"/>
              </a:spcAft>
              <a:defRPr sz="3000" b="1">
                <a:solidFill>
                  <a:srgbClr val="25364C"/>
                </a:solidFill>
                <a:latin typeface="DejaVu Sans"/>
              </a:defRPr>
            </a:pPr>
            <a:r>
              <a:t>Xizmat boshqarilishi barcha muammoni hal qilmaydi</a:t>
            </a:r>
          </a:p>
        </p:txBody>
      </p:sp>
      <p:sp>
        <p:nvSpPr>
          <p:cNvPr id="3" name="Oval 2"/>
          <p:cNvSpPr/>
          <p:nvPr/>
        </p:nvSpPr>
        <p:spPr>
          <a:xfrm>
            <a:off x="10835640" y="292608"/>
            <a:ext cx="118872" cy="118872"/>
          </a:xfrm>
          <a:prstGeom prst="ellipse">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045952" y="292608"/>
            <a:ext cx="118872" cy="118872"/>
          </a:xfrm>
          <a:prstGeom prst="ellipse">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256264" y="292608"/>
            <a:ext cx="118872" cy="118872"/>
          </a:xfrm>
          <a:prstGeom prst="ellipse">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466576" y="292608"/>
            <a:ext cx="118872" cy="118872"/>
          </a:xfrm>
          <a:prstGeom prst="ellipse">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2" y="1545336"/>
            <a:ext cx="438912" cy="5029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43584" y="1545336"/>
            <a:ext cx="438912" cy="5029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773936" y="1545336"/>
            <a:ext cx="438912" cy="50292"/>
          </a:xfrm>
          <a:prstGeom prst="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304287" y="1545336"/>
            <a:ext cx="438912" cy="5029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25364C"/>
                </a:solidFill>
                <a:latin typeface="DejaVu Sans"/>
              </a:defRPr>
            </a:pPr>
            <a:r>
              <a:t>BTST206   /   M14   /   2027–2028</a:t>
            </a:r>
          </a:p>
        </p:txBody>
      </p:sp>
      <p:sp>
        <p:nvSpPr>
          <p:cNvPr id="12" name="TextBox 11"/>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25364C"/>
                </a:solidFill>
                <a:latin typeface="DejaVu Sans"/>
              </a:defRPr>
            </a:pPr>
            <a:r>
              <a:t>11 / 13</a:t>
            </a:r>
          </a:p>
        </p:txBody>
      </p:sp>
      <p:sp>
        <p:nvSpPr>
          <p:cNvPr id="13" name="Rectangle 12"/>
          <p:cNvSpPr/>
          <p:nvPr/>
        </p:nvSpPr>
        <p:spPr>
          <a:xfrm>
            <a:off x="731520" y="1737360"/>
            <a:ext cx="512064" cy="115214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6384" y="1920240"/>
            <a:ext cx="384048" cy="457200"/>
          </a:xfrm>
          <a:prstGeom prst="rect">
            <a:avLst/>
          </a:prstGeom>
          <a:noFill/>
        </p:spPr>
        <p:txBody>
          <a:bodyPr wrap="square" lIns="27432" rIns="27432" tIns="18288" bIns="0">
            <a:spAutoFit/>
          </a:bodyPr>
          <a:lstStyle/>
          <a:p>
            <a:pPr>
              <a:spcAft>
                <a:spcPts val="800"/>
              </a:spcAft>
              <a:defRPr sz="2400" b="1">
                <a:solidFill>
                  <a:srgbClr val="FFFFFF"/>
                </a:solidFill>
                <a:latin typeface="DejaVu Sans"/>
              </a:defRPr>
            </a:pPr>
            <a:r>
              <a:t>1</a:t>
            </a:r>
          </a:p>
        </p:txBody>
      </p:sp>
      <p:sp>
        <p:nvSpPr>
          <p:cNvPr id="15" name="TextBox 14"/>
          <p:cNvSpPr txBox="1"/>
          <p:nvPr/>
        </p:nvSpPr>
        <p:spPr>
          <a:xfrm>
            <a:off x="1444752" y="1773936"/>
            <a:ext cx="3063240" cy="1124712"/>
          </a:xfrm>
          <a:prstGeom prst="rect">
            <a:avLst/>
          </a:prstGeom>
          <a:noFill/>
        </p:spPr>
        <p:txBody>
          <a:bodyPr wrap="square" lIns="27432" rIns="27432" tIns="18288" bIns="0">
            <a:spAutoFit/>
          </a:bodyPr>
          <a:lstStyle/>
          <a:p>
            <a:pPr>
              <a:spcAft>
                <a:spcPts val="800"/>
              </a:spcAft>
              <a:defRPr sz="2100" b="1">
                <a:solidFill>
                  <a:srgbClr val="25364C"/>
                </a:solidFill>
                <a:latin typeface="DejaVu Sans"/>
              </a:defRPr>
            </a:pPr>
            <a:r>
              <a:t>Resurs iyerarxiyasi va hududlar</a:t>
            </a:r>
          </a:p>
        </p:txBody>
      </p:sp>
      <p:sp>
        <p:nvSpPr>
          <p:cNvPr id="16" name="Rounded Rectangle 15"/>
          <p:cNvSpPr/>
          <p:nvPr/>
        </p:nvSpPr>
        <p:spPr>
          <a:xfrm>
            <a:off x="4599432" y="1737360"/>
            <a:ext cx="6812280" cy="1170432"/>
          </a:xfrm>
          <a:prstGeom prst="roundRect">
            <a:avLst>
              <a:gd name="adj" fmla="val 8000"/>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82312" y="1856231"/>
            <a:ext cx="6428232" cy="987552"/>
          </a:xfrm>
          <a:prstGeom prst="rect">
            <a:avLst/>
          </a:prstGeom>
          <a:noFill/>
        </p:spPr>
        <p:txBody>
          <a:bodyPr wrap="square" lIns="27432" rIns="27432" tIns="18288" bIns="0">
            <a:spAutoFit/>
          </a:bodyPr>
          <a:lstStyle/>
          <a:p>
            <a:pPr>
              <a:spcAft>
                <a:spcPts val="800"/>
              </a:spcAft>
              <a:defRPr sz="2000" b="0">
                <a:solidFill>
                  <a:srgbClr val="25364C"/>
                </a:solidFill>
                <a:latin typeface="DejaVu Sans"/>
              </a:defRPr>
            </a:pPr>
            <a:r>
              <a:t>Project yaratishning o‘zi barcha xizmat API lari yoqilgani yoki budjet cheklangani degani emas.</a:t>
            </a:r>
          </a:p>
        </p:txBody>
      </p:sp>
      <p:sp>
        <p:nvSpPr>
          <p:cNvPr id="18" name="Rectangle 17"/>
          <p:cNvSpPr/>
          <p:nvPr/>
        </p:nvSpPr>
        <p:spPr>
          <a:xfrm>
            <a:off x="731520" y="3154680"/>
            <a:ext cx="512064" cy="115214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 y="3337560"/>
            <a:ext cx="384048" cy="457200"/>
          </a:xfrm>
          <a:prstGeom prst="rect">
            <a:avLst/>
          </a:prstGeom>
          <a:noFill/>
        </p:spPr>
        <p:txBody>
          <a:bodyPr wrap="square" lIns="27432" rIns="27432" tIns="18288" bIns="0">
            <a:spAutoFit/>
          </a:bodyPr>
          <a:lstStyle/>
          <a:p>
            <a:pPr>
              <a:spcAft>
                <a:spcPts val="800"/>
              </a:spcAft>
              <a:defRPr sz="2400" b="1">
                <a:solidFill>
                  <a:srgbClr val="FFFFFF"/>
                </a:solidFill>
                <a:latin typeface="DejaVu Sans"/>
              </a:defRPr>
            </a:pPr>
            <a:r>
              <a:t>2</a:t>
            </a:r>
          </a:p>
        </p:txBody>
      </p:sp>
      <p:sp>
        <p:nvSpPr>
          <p:cNvPr id="20" name="TextBox 19"/>
          <p:cNvSpPr txBox="1"/>
          <p:nvPr/>
        </p:nvSpPr>
        <p:spPr>
          <a:xfrm>
            <a:off x="1444752" y="3191256"/>
            <a:ext cx="3063240" cy="1124712"/>
          </a:xfrm>
          <a:prstGeom prst="rect">
            <a:avLst/>
          </a:prstGeom>
          <a:noFill/>
        </p:spPr>
        <p:txBody>
          <a:bodyPr wrap="square" lIns="27432" rIns="27432" tIns="18288" bIns="0">
            <a:spAutoFit/>
          </a:bodyPr>
          <a:lstStyle/>
          <a:p>
            <a:pPr>
              <a:spcAft>
                <a:spcPts val="800"/>
              </a:spcAft>
              <a:defRPr sz="2100" b="1">
                <a:solidFill>
                  <a:srgbClr val="25364C"/>
                </a:solidFill>
                <a:latin typeface="DejaVu Sans"/>
              </a:defRPr>
            </a:pPr>
            <a:r>
              <a:t>Cloud Storage</a:t>
            </a:r>
          </a:p>
        </p:txBody>
      </p:sp>
      <p:sp>
        <p:nvSpPr>
          <p:cNvPr id="21" name="Rounded Rectangle 20"/>
          <p:cNvSpPr/>
          <p:nvPr/>
        </p:nvSpPr>
        <p:spPr>
          <a:xfrm>
            <a:off x="4599432" y="3154680"/>
            <a:ext cx="6812280" cy="1170432"/>
          </a:xfrm>
          <a:prstGeom prst="roundRect">
            <a:avLst>
              <a:gd name="adj" fmla="val 8000"/>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82312" y="3273552"/>
            <a:ext cx="6428232" cy="987552"/>
          </a:xfrm>
          <a:prstGeom prst="rect">
            <a:avLst/>
          </a:prstGeom>
          <a:noFill/>
        </p:spPr>
        <p:txBody>
          <a:bodyPr wrap="square" lIns="27432" rIns="27432" tIns="18288" bIns="0">
            <a:spAutoFit/>
          </a:bodyPr>
          <a:lstStyle/>
          <a:p>
            <a:pPr>
              <a:spcAft>
                <a:spcPts val="800"/>
              </a:spcAft>
              <a:defRPr sz="2000" b="0">
                <a:solidFill>
                  <a:srgbClr val="25364C"/>
                </a:solidFill>
                <a:latin typeface="DejaVu Sans"/>
              </a:defRPr>
            </a:pPr>
            <a:r>
              <a:t>Object Storage fayl nomlarini papkaga o‘xshatib ko‘rsatsa ham, u oddiy lokal disk bilan bir xil emas.</a:t>
            </a:r>
          </a:p>
        </p:txBody>
      </p:sp>
      <p:sp>
        <p:nvSpPr>
          <p:cNvPr id="23" name="Rectangle 22"/>
          <p:cNvSpPr/>
          <p:nvPr/>
        </p:nvSpPr>
        <p:spPr>
          <a:xfrm>
            <a:off x="731520" y="4572000"/>
            <a:ext cx="512064" cy="1152144"/>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86384" y="4754880"/>
            <a:ext cx="384048" cy="457200"/>
          </a:xfrm>
          <a:prstGeom prst="rect">
            <a:avLst/>
          </a:prstGeom>
          <a:noFill/>
        </p:spPr>
        <p:txBody>
          <a:bodyPr wrap="square" lIns="27432" rIns="27432" tIns="18288" bIns="0">
            <a:spAutoFit/>
          </a:bodyPr>
          <a:lstStyle/>
          <a:p>
            <a:pPr>
              <a:spcAft>
                <a:spcPts val="800"/>
              </a:spcAft>
              <a:defRPr sz="2400" b="1">
                <a:solidFill>
                  <a:srgbClr val="FFFFFF"/>
                </a:solidFill>
                <a:latin typeface="DejaVu Sans"/>
              </a:defRPr>
            </a:pPr>
            <a:r>
              <a:t>3</a:t>
            </a:r>
          </a:p>
        </p:txBody>
      </p:sp>
      <p:sp>
        <p:nvSpPr>
          <p:cNvPr id="25" name="TextBox 24"/>
          <p:cNvSpPr txBox="1"/>
          <p:nvPr/>
        </p:nvSpPr>
        <p:spPr>
          <a:xfrm>
            <a:off x="1444752" y="4608576"/>
            <a:ext cx="3063240" cy="1124712"/>
          </a:xfrm>
          <a:prstGeom prst="rect">
            <a:avLst/>
          </a:prstGeom>
          <a:noFill/>
        </p:spPr>
        <p:txBody>
          <a:bodyPr wrap="square" lIns="27432" rIns="27432" tIns="18288" bIns="0">
            <a:spAutoFit/>
          </a:bodyPr>
          <a:lstStyle/>
          <a:p>
            <a:pPr>
              <a:spcAft>
                <a:spcPts val="800"/>
              </a:spcAft>
              <a:defRPr sz="2100" b="1">
                <a:solidFill>
                  <a:srgbClr val="25364C"/>
                </a:solidFill>
                <a:latin typeface="DejaVu Sans"/>
              </a:defRPr>
            </a:pPr>
            <a:r>
              <a:t>Google Kubernetes Engine</a:t>
            </a:r>
          </a:p>
        </p:txBody>
      </p:sp>
      <p:sp>
        <p:nvSpPr>
          <p:cNvPr id="26" name="Rounded Rectangle 25"/>
          <p:cNvSpPr/>
          <p:nvPr/>
        </p:nvSpPr>
        <p:spPr>
          <a:xfrm>
            <a:off x="4599432" y="4572000"/>
            <a:ext cx="6812280" cy="1170432"/>
          </a:xfrm>
          <a:prstGeom prst="roundRect">
            <a:avLst>
              <a:gd name="adj" fmla="val 8000"/>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82312" y="4690872"/>
            <a:ext cx="6428232" cy="987552"/>
          </a:xfrm>
          <a:prstGeom prst="rect">
            <a:avLst/>
          </a:prstGeom>
          <a:noFill/>
        </p:spPr>
        <p:txBody>
          <a:bodyPr wrap="square" lIns="27432" rIns="27432" tIns="18288" bIns="0">
            <a:spAutoFit/>
          </a:bodyPr>
          <a:lstStyle/>
          <a:p>
            <a:pPr>
              <a:spcAft>
                <a:spcPts val="800"/>
              </a:spcAft>
              <a:defRPr sz="2000" b="0">
                <a:solidFill>
                  <a:srgbClr val="25364C"/>
                </a:solidFill>
                <a:latin typeface="DejaVu Sans"/>
              </a:defRPr>
            </a:pPr>
            <a:r>
              <a:t>Boshqariladigan Kubernetes ilova arxitekturasi va konteyner xatolarini avtomatik tuzatmaydi.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393192"/>
            <a:ext cx="10607040" cy="1060704"/>
          </a:xfrm>
          <a:prstGeom prst="rect">
            <a:avLst/>
          </a:prstGeom>
          <a:noFill/>
        </p:spPr>
        <p:txBody>
          <a:bodyPr wrap="square" lIns="27432" rIns="27432" tIns="18288" bIns="0">
            <a:spAutoFit/>
          </a:bodyPr>
          <a:lstStyle/>
          <a:p>
            <a:pPr>
              <a:spcAft>
                <a:spcPts val="800"/>
              </a:spcAft>
              <a:defRPr sz="3000" b="1">
                <a:solidFill>
                  <a:srgbClr val="25364C"/>
                </a:solidFill>
                <a:latin typeface="DejaVu Sans"/>
              </a:defRPr>
            </a:pPr>
            <a:r>
              <a:t>Uchta muhim xulosa</a:t>
            </a:r>
          </a:p>
        </p:txBody>
      </p:sp>
      <p:sp>
        <p:nvSpPr>
          <p:cNvPr id="3" name="Oval 2"/>
          <p:cNvSpPr/>
          <p:nvPr/>
        </p:nvSpPr>
        <p:spPr>
          <a:xfrm>
            <a:off x="10835640" y="292608"/>
            <a:ext cx="118872" cy="118872"/>
          </a:xfrm>
          <a:prstGeom prst="ellipse">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045952" y="292608"/>
            <a:ext cx="118872" cy="118872"/>
          </a:xfrm>
          <a:prstGeom prst="ellipse">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256264" y="292608"/>
            <a:ext cx="118872" cy="118872"/>
          </a:xfrm>
          <a:prstGeom prst="ellipse">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466576" y="292608"/>
            <a:ext cx="118872" cy="118872"/>
          </a:xfrm>
          <a:prstGeom prst="ellipse">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13232" y="1545336"/>
            <a:ext cx="438912" cy="50292"/>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243584" y="1545336"/>
            <a:ext cx="438912" cy="50292"/>
          </a:xfrm>
          <a:prstGeom prst="rect">
            <a:avLst/>
          </a:prstGeom>
          <a:solidFill>
            <a:srgbClr val="EA43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773936" y="1545336"/>
            <a:ext cx="438912" cy="50292"/>
          </a:xfrm>
          <a:prstGeom prst="rect">
            <a:avLst/>
          </a:prstGeom>
          <a:solidFill>
            <a:srgbClr val="FBBC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304287" y="1545336"/>
            <a:ext cx="438912" cy="50292"/>
          </a:xfrm>
          <a:prstGeom prst="rect">
            <a:avLst/>
          </a:prstGeom>
          <a:solidFill>
            <a:srgbClr val="34A8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25364C"/>
                </a:solidFill>
                <a:latin typeface="DejaVu Sans"/>
              </a:defRPr>
            </a:pPr>
            <a:r>
              <a:t>BTST206   /   M14   /   2027–2028</a:t>
            </a:r>
          </a:p>
        </p:txBody>
      </p:sp>
      <p:sp>
        <p:nvSpPr>
          <p:cNvPr id="12" name="TextBox 11"/>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25364C"/>
                </a:solidFill>
                <a:latin typeface="DejaVu Sans"/>
              </a:defRPr>
            </a:pPr>
            <a:r>
              <a:t>12 / 13</a:t>
            </a:r>
          </a:p>
        </p:txBody>
      </p:sp>
      <p:sp>
        <p:nvSpPr>
          <p:cNvPr id="13" name="Rounded Rectangle 12"/>
          <p:cNvSpPr/>
          <p:nvPr/>
        </p:nvSpPr>
        <p:spPr>
          <a:xfrm>
            <a:off x="731520" y="1874519"/>
            <a:ext cx="3465576" cy="3611880"/>
          </a:xfrm>
          <a:prstGeom prst="roundRect">
            <a:avLst>
              <a:gd name="adj" fmla="val 8000"/>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544" y="2029968"/>
            <a:ext cx="3072384" cy="502920"/>
          </a:xfrm>
          <a:prstGeom prst="rect">
            <a:avLst/>
          </a:prstGeom>
          <a:noFill/>
        </p:spPr>
        <p:txBody>
          <a:bodyPr wrap="square" lIns="27432" rIns="27432" tIns="18288" bIns="0">
            <a:spAutoFit/>
          </a:bodyPr>
          <a:lstStyle/>
          <a:p>
            <a:pPr>
              <a:spcAft>
                <a:spcPts val="800"/>
              </a:spcAft>
              <a:defRPr sz="3200" b="1">
                <a:solidFill>
                  <a:srgbClr val="4285F4"/>
                </a:solidFill>
                <a:latin typeface="DejaVu Sans"/>
              </a:defRPr>
            </a:pPr>
            <a:r>
              <a:t>01</a:t>
            </a:r>
          </a:p>
        </p:txBody>
      </p:sp>
      <p:sp>
        <p:nvSpPr>
          <p:cNvPr id="15" name="TextBox 14"/>
          <p:cNvSpPr txBox="1"/>
          <p:nvPr/>
        </p:nvSpPr>
        <p:spPr>
          <a:xfrm>
            <a:off x="923544" y="2788920"/>
            <a:ext cx="3072384" cy="1042415"/>
          </a:xfrm>
          <a:prstGeom prst="rect">
            <a:avLst/>
          </a:prstGeom>
          <a:noFill/>
        </p:spPr>
        <p:txBody>
          <a:bodyPr wrap="square" lIns="27432" rIns="27432" tIns="18288" bIns="0">
            <a:spAutoFit/>
          </a:bodyPr>
          <a:lstStyle/>
          <a:p>
            <a:pPr>
              <a:spcAft>
                <a:spcPts val="800"/>
              </a:spcAft>
              <a:defRPr sz="2400" b="1">
                <a:solidFill>
                  <a:srgbClr val="25364C"/>
                </a:solidFill>
                <a:latin typeface="DejaVu Sans"/>
              </a:defRPr>
            </a:pPr>
            <a:r>
              <a:t>Resurs iyerarxiyasi va hududlar</a:t>
            </a:r>
          </a:p>
        </p:txBody>
      </p:sp>
      <p:sp>
        <p:nvSpPr>
          <p:cNvPr id="16" name="TextBox 15"/>
          <p:cNvSpPr txBox="1"/>
          <p:nvPr/>
        </p:nvSpPr>
        <p:spPr>
          <a:xfrm>
            <a:off x="923544" y="4087368"/>
            <a:ext cx="3072384" cy="1234440"/>
          </a:xfrm>
          <a:prstGeom prst="rect">
            <a:avLst/>
          </a:prstGeom>
          <a:noFill/>
        </p:spPr>
        <p:txBody>
          <a:bodyPr wrap="square" lIns="27432" rIns="27432" tIns="18288" bIns="0">
            <a:spAutoFit/>
          </a:bodyPr>
          <a:lstStyle/>
          <a:p>
            <a:pPr>
              <a:spcAft>
                <a:spcPts val="800"/>
              </a:spcAft>
              <a:defRPr sz="2100" b="0">
                <a:solidFill>
                  <a:srgbClr val="25364C"/>
                </a:solidFill>
                <a:latin typeface="DejaVu Sans"/>
              </a:defRPr>
            </a:pPr>
            <a:r>
              <a:t>Organization → folder → project → resource.</a:t>
            </a:r>
          </a:p>
        </p:txBody>
      </p:sp>
      <p:sp>
        <p:nvSpPr>
          <p:cNvPr id="17" name="Rounded Rectangle 16"/>
          <p:cNvSpPr/>
          <p:nvPr/>
        </p:nvSpPr>
        <p:spPr>
          <a:xfrm>
            <a:off x="4425696" y="1874519"/>
            <a:ext cx="3465576" cy="3611880"/>
          </a:xfrm>
          <a:prstGeom prst="roundRect">
            <a:avLst>
              <a:gd name="adj" fmla="val 8000"/>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2029968"/>
            <a:ext cx="3072384" cy="502920"/>
          </a:xfrm>
          <a:prstGeom prst="rect">
            <a:avLst/>
          </a:prstGeom>
          <a:noFill/>
        </p:spPr>
        <p:txBody>
          <a:bodyPr wrap="square" lIns="27432" rIns="27432" tIns="18288" bIns="0">
            <a:spAutoFit/>
          </a:bodyPr>
          <a:lstStyle/>
          <a:p>
            <a:pPr>
              <a:spcAft>
                <a:spcPts val="800"/>
              </a:spcAft>
              <a:defRPr sz="3200" b="1">
                <a:solidFill>
                  <a:srgbClr val="4285F4"/>
                </a:solidFill>
                <a:latin typeface="DejaVu Sans"/>
              </a:defRPr>
            </a:pPr>
            <a:r>
              <a:t>02</a:t>
            </a:r>
          </a:p>
        </p:txBody>
      </p:sp>
      <p:sp>
        <p:nvSpPr>
          <p:cNvPr id="19" name="TextBox 18"/>
          <p:cNvSpPr txBox="1"/>
          <p:nvPr/>
        </p:nvSpPr>
        <p:spPr>
          <a:xfrm>
            <a:off x="4617720" y="2788920"/>
            <a:ext cx="3072384" cy="1042415"/>
          </a:xfrm>
          <a:prstGeom prst="rect">
            <a:avLst/>
          </a:prstGeom>
          <a:noFill/>
        </p:spPr>
        <p:txBody>
          <a:bodyPr wrap="square" lIns="27432" rIns="27432" tIns="18288" bIns="0">
            <a:spAutoFit/>
          </a:bodyPr>
          <a:lstStyle/>
          <a:p>
            <a:pPr>
              <a:spcAft>
                <a:spcPts val="800"/>
              </a:spcAft>
              <a:defRPr sz="2400" b="1">
                <a:solidFill>
                  <a:srgbClr val="25364C"/>
                </a:solidFill>
                <a:latin typeface="DejaVu Sans"/>
              </a:defRPr>
            </a:pPr>
            <a:r>
              <a:t>Cloud Storage</a:t>
            </a:r>
          </a:p>
        </p:txBody>
      </p:sp>
      <p:sp>
        <p:nvSpPr>
          <p:cNvPr id="20" name="TextBox 19"/>
          <p:cNvSpPr txBox="1"/>
          <p:nvPr/>
        </p:nvSpPr>
        <p:spPr>
          <a:xfrm>
            <a:off x="4617720" y="4087368"/>
            <a:ext cx="3072384" cy="1234440"/>
          </a:xfrm>
          <a:prstGeom prst="rect">
            <a:avLst/>
          </a:prstGeom>
          <a:noFill/>
        </p:spPr>
        <p:txBody>
          <a:bodyPr wrap="square" lIns="27432" rIns="27432" tIns="18288" bIns="0">
            <a:spAutoFit/>
          </a:bodyPr>
          <a:lstStyle/>
          <a:p>
            <a:pPr>
              <a:spcAft>
                <a:spcPts val="800"/>
              </a:spcAft>
              <a:defRPr sz="2100" b="0">
                <a:solidFill>
                  <a:srgbClr val="25364C"/>
                </a:solidFill>
                <a:latin typeface="DejaVu Sans"/>
              </a:defRPr>
            </a:pPr>
            <a:r>
              <a:t>Bucket ichida obyekt saqlash.</a:t>
            </a:r>
          </a:p>
        </p:txBody>
      </p:sp>
      <p:sp>
        <p:nvSpPr>
          <p:cNvPr id="21" name="Rounded Rectangle 20"/>
          <p:cNvSpPr/>
          <p:nvPr/>
        </p:nvSpPr>
        <p:spPr>
          <a:xfrm>
            <a:off x="8119872" y="1874519"/>
            <a:ext cx="3465576" cy="3611880"/>
          </a:xfrm>
          <a:prstGeom prst="roundRect">
            <a:avLst>
              <a:gd name="adj" fmla="val 8000"/>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11896" y="2029968"/>
            <a:ext cx="3072384" cy="502920"/>
          </a:xfrm>
          <a:prstGeom prst="rect">
            <a:avLst/>
          </a:prstGeom>
          <a:noFill/>
        </p:spPr>
        <p:txBody>
          <a:bodyPr wrap="square" lIns="27432" rIns="27432" tIns="18288" bIns="0">
            <a:spAutoFit/>
          </a:bodyPr>
          <a:lstStyle/>
          <a:p>
            <a:pPr>
              <a:spcAft>
                <a:spcPts val="800"/>
              </a:spcAft>
              <a:defRPr sz="3200" b="1">
                <a:solidFill>
                  <a:srgbClr val="4285F4"/>
                </a:solidFill>
                <a:latin typeface="DejaVu Sans"/>
              </a:defRPr>
            </a:pPr>
            <a:r>
              <a:t>03</a:t>
            </a:r>
          </a:p>
        </p:txBody>
      </p:sp>
      <p:sp>
        <p:nvSpPr>
          <p:cNvPr id="23" name="TextBox 22"/>
          <p:cNvSpPr txBox="1"/>
          <p:nvPr/>
        </p:nvSpPr>
        <p:spPr>
          <a:xfrm>
            <a:off x="8311896" y="2788920"/>
            <a:ext cx="3072384" cy="1042415"/>
          </a:xfrm>
          <a:prstGeom prst="rect">
            <a:avLst/>
          </a:prstGeom>
          <a:noFill/>
        </p:spPr>
        <p:txBody>
          <a:bodyPr wrap="square" lIns="27432" rIns="27432" tIns="18288" bIns="0">
            <a:spAutoFit/>
          </a:bodyPr>
          <a:lstStyle/>
          <a:p>
            <a:pPr>
              <a:spcAft>
                <a:spcPts val="800"/>
              </a:spcAft>
              <a:defRPr sz="2400" b="1">
                <a:solidFill>
                  <a:srgbClr val="25364C"/>
                </a:solidFill>
                <a:latin typeface="DejaVu Sans"/>
              </a:defRPr>
            </a:pPr>
            <a:r>
              <a:t>Google Kubernetes Engine</a:t>
            </a:r>
          </a:p>
        </p:txBody>
      </p:sp>
      <p:sp>
        <p:nvSpPr>
          <p:cNvPr id="24" name="TextBox 23"/>
          <p:cNvSpPr txBox="1"/>
          <p:nvPr/>
        </p:nvSpPr>
        <p:spPr>
          <a:xfrm>
            <a:off x="8311896" y="4087368"/>
            <a:ext cx="3072384" cy="1234440"/>
          </a:xfrm>
          <a:prstGeom prst="rect">
            <a:avLst/>
          </a:prstGeom>
          <a:noFill/>
        </p:spPr>
        <p:txBody>
          <a:bodyPr wrap="square" lIns="27432" rIns="27432" tIns="18288" bIns="0">
            <a:spAutoFit/>
          </a:bodyPr>
          <a:lstStyle/>
          <a:p>
            <a:pPr>
              <a:spcAft>
                <a:spcPts val="800"/>
              </a:spcAft>
              <a:defRPr sz="2100" b="0">
                <a:solidFill>
                  <a:srgbClr val="25364C"/>
                </a:solidFill>
                <a:latin typeface="DejaVu Sans"/>
              </a:defRPr>
            </a:pPr>
            <a:r>
              <a:t>Kubernetes uchun boshqariladigan platforma.</a:t>
            </a:r>
          </a:p>
        </p:txBody>
      </p:sp>
      <p:sp>
        <p:nvSpPr>
          <p:cNvPr id="25" name="Rounded Rectangle 24"/>
          <p:cNvSpPr/>
          <p:nvPr/>
        </p:nvSpPr>
        <p:spPr>
          <a:xfrm>
            <a:off x="731520" y="5641848"/>
            <a:ext cx="10698480" cy="621792"/>
          </a:xfrm>
          <a:prstGeom prst="roundRect">
            <a:avLst>
              <a:gd name="adj" fmla="val 8000"/>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77824" y="5733288"/>
            <a:ext cx="10405872" cy="466344"/>
          </a:xfrm>
          <a:prstGeom prst="rect">
            <a:avLst/>
          </a:prstGeom>
          <a:noFill/>
        </p:spPr>
        <p:txBody>
          <a:bodyPr wrap="square" lIns="27432" rIns="27432" tIns="18288" bIns="0">
            <a:spAutoFit/>
          </a:bodyPr>
          <a:lstStyle/>
          <a:p>
            <a:pPr>
              <a:spcAft>
                <a:spcPts val="800"/>
              </a:spcAft>
              <a:defRPr sz="1700" b="0">
                <a:solidFill>
                  <a:srgbClr val="25364C"/>
                </a:solidFill>
                <a:latin typeface="DejaVu Sans"/>
              </a:defRPr>
            </a:pPr>
            <a:r>
              <a:t>Asosiy mezon: xizmatni tanlashda xavfsizlik, mavjudlik va xarajatni birga baholang.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548640"/>
            <a:ext cx="109728" cy="640080"/>
          </a:xfrm>
          <a:prstGeom prst="rect">
            <a:avLst/>
          </a:prstGeom>
          <a:solidFill>
            <a:srgbClr val="428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94360"/>
            <a:ext cx="10789920" cy="777240"/>
          </a:xfrm>
          <a:prstGeom prst="rect">
            <a:avLst/>
          </a:prstGeom>
          <a:noFill/>
        </p:spPr>
        <p:txBody>
          <a:bodyPr wrap="square" lIns="27432" rIns="27432" tIns="18288" bIns="0">
            <a:spAutoFit/>
          </a:bodyPr>
          <a:lstStyle/>
          <a:p>
            <a:pPr>
              <a:spcAft>
                <a:spcPts val="800"/>
              </a:spcAft>
              <a:defRPr sz="2900" b="1">
                <a:solidFill>
                  <a:srgbClr val="25364C"/>
                </a:solidFill>
                <a:latin typeface="DejaVu Sans"/>
              </a:defRPr>
            </a:pPr>
            <a:r>
              <a:t>Manbalar va rasm manbasi</a:t>
            </a:r>
          </a:p>
        </p:txBody>
      </p:sp>
      <p:sp>
        <p:nvSpPr>
          <p:cNvPr id="4" name="TextBox 3"/>
          <p:cNvSpPr txBox="1"/>
          <p:nvPr/>
        </p:nvSpPr>
        <p:spPr>
          <a:xfrm>
            <a:off x="731520" y="1600200"/>
            <a:ext cx="10789920" cy="594360"/>
          </a:xfrm>
          <a:prstGeom prst="rect">
            <a:avLst/>
          </a:prstGeom>
          <a:noFill/>
        </p:spPr>
        <p:txBody>
          <a:bodyPr wrap="square" lIns="27432" rIns="27432" tIns="18288" bIns="0">
            <a:spAutoFit/>
          </a:bodyPr>
          <a:lstStyle/>
          <a:p>
            <a:pPr>
              <a:spcAft>
                <a:spcPts val="800"/>
              </a:spcAft>
              <a:defRPr sz="1700" b="0">
                <a:solidFill>
                  <a:srgbClr val="25364C"/>
                </a:solidFill>
                <a:latin typeface="DejaVu Sans"/>
              </a:defRPr>
            </a:pPr>
            <a:r>
              <a:t>Asos: BTST206, 2027–2028 sillabusi. Rasmiy texnik hujjatlar:</a:t>
            </a:r>
          </a:p>
        </p:txBody>
      </p:sp>
      <p:sp>
        <p:nvSpPr>
          <p:cNvPr id="5" name="TextBox 4"/>
          <p:cNvSpPr txBox="1"/>
          <p:nvPr/>
        </p:nvSpPr>
        <p:spPr>
          <a:xfrm>
            <a:off x="777240" y="2286000"/>
            <a:ext cx="10652760" cy="365760"/>
          </a:xfrm>
          <a:prstGeom prst="rect">
            <a:avLst/>
          </a:prstGeom>
          <a:noFill/>
        </p:spPr>
        <p:txBody>
          <a:bodyPr wrap="square" lIns="27432" rIns="27432" tIns="18288" bIns="0">
            <a:spAutoFit/>
          </a:bodyPr>
          <a:lstStyle/>
          <a:p>
            <a:pPr>
              <a:spcAft>
                <a:spcPts val="800"/>
              </a:spcAft>
              <a:defRPr sz="1300" b="0">
                <a:solidFill>
                  <a:srgbClr val="4285F4"/>
                </a:solidFill>
                <a:latin typeface="DejaVu Sans"/>
              </a:defRPr>
            </a:pPr>
            <a:r>
              <a:t>https://cloud.google.com/resource-manager/docs/cloud-platform-resource-hierarchy</a:t>
            </a:r>
          </a:p>
        </p:txBody>
      </p:sp>
      <p:sp>
        <p:nvSpPr>
          <p:cNvPr id="6" name="TextBox 5"/>
          <p:cNvSpPr txBox="1"/>
          <p:nvPr/>
        </p:nvSpPr>
        <p:spPr>
          <a:xfrm>
            <a:off x="777240" y="2715768"/>
            <a:ext cx="10652760" cy="365760"/>
          </a:xfrm>
          <a:prstGeom prst="rect">
            <a:avLst/>
          </a:prstGeom>
          <a:noFill/>
        </p:spPr>
        <p:txBody>
          <a:bodyPr wrap="square" lIns="27432" rIns="27432" tIns="18288" bIns="0">
            <a:spAutoFit/>
          </a:bodyPr>
          <a:lstStyle/>
          <a:p>
            <a:pPr>
              <a:spcAft>
                <a:spcPts val="800"/>
              </a:spcAft>
              <a:defRPr sz="1300" b="0">
                <a:solidFill>
                  <a:srgbClr val="4285F4"/>
                </a:solidFill>
                <a:latin typeface="DejaVu Sans"/>
              </a:defRPr>
            </a:pPr>
            <a:r>
              <a:t>https://cloud.google.com/compute/docs</a:t>
            </a:r>
          </a:p>
        </p:txBody>
      </p:sp>
      <p:sp>
        <p:nvSpPr>
          <p:cNvPr id="7" name="TextBox 6"/>
          <p:cNvSpPr txBox="1"/>
          <p:nvPr/>
        </p:nvSpPr>
        <p:spPr>
          <a:xfrm>
            <a:off x="777240" y="3145536"/>
            <a:ext cx="10652760" cy="365760"/>
          </a:xfrm>
          <a:prstGeom prst="rect">
            <a:avLst/>
          </a:prstGeom>
          <a:noFill/>
        </p:spPr>
        <p:txBody>
          <a:bodyPr wrap="square" lIns="27432" rIns="27432" tIns="18288" bIns="0">
            <a:spAutoFit/>
          </a:bodyPr>
          <a:lstStyle/>
          <a:p>
            <a:pPr>
              <a:spcAft>
                <a:spcPts val="800"/>
              </a:spcAft>
              <a:defRPr sz="1300" b="0">
                <a:solidFill>
                  <a:srgbClr val="4285F4"/>
                </a:solidFill>
                <a:latin typeface="DejaVu Sans"/>
              </a:defRPr>
            </a:pPr>
            <a:r>
              <a:t>https://cloud.google.com/kubernetes-engine/docs</a:t>
            </a:r>
          </a:p>
        </p:txBody>
      </p:sp>
      <p:sp>
        <p:nvSpPr>
          <p:cNvPr id="8" name="TextBox 7"/>
          <p:cNvSpPr txBox="1"/>
          <p:nvPr/>
        </p:nvSpPr>
        <p:spPr>
          <a:xfrm>
            <a:off x="777240" y="3575304"/>
            <a:ext cx="10652760" cy="365760"/>
          </a:xfrm>
          <a:prstGeom prst="rect">
            <a:avLst/>
          </a:prstGeom>
          <a:noFill/>
        </p:spPr>
        <p:txBody>
          <a:bodyPr wrap="square" lIns="27432" rIns="27432" tIns="18288" bIns="0">
            <a:spAutoFit/>
          </a:bodyPr>
          <a:lstStyle/>
          <a:p>
            <a:pPr>
              <a:spcAft>
                <a:spcPts val="800"/>
              </a:spcAft>
              <a:defRPr sz="1300" b="0">
                <a:solidFill>
                  <a:srgbClr val="4285F4"/>
                </a:solidFill>
                <a:latin typeface="DejaVu Sans"/>
              </a:defRPr>
            </a:pPr>
            <a:r>
              <a:t>https://cloud.google.com/run/docs/functions/overview</a:t>
            </a:r>
          </a:p>
        </p:txBody>
      </p:sp>
      <p:sp>
        <p:nvSpPr>
          <p:cNvPr id="9" name="TextBox 8"/>
          <p:cNvSpPr txBox="1"/>
          <p:nvPr/>
        </p:nvSpPr>
        <p:spPr>
          <a:xfrm>
            <a:off x="777240" y="4251960"/>
            <a:ext cx="10652760" cy="365760"/>
          </a:xfrm>
          <a:prstGeom prst="rect">
            <a:avLst/>
          </a:prstGeom>
          <a:noFill/>
        </p:spPr>
        <p:txBody>
          <a:bodyPr wrap="square" lIns="27432" rIns="27432" tIns="18288" bIns="0">
            <a:spAutoFit/>
          </a:bodyPr>
          <a:lstStyle/>
          <a:p>
            <a:pPr>
              <a:spcAft>
                <a:spcPts val="800"/>
              </a:spcAft>
              <a:defRPr sz="1200" b="1">
                <a:solidFill>
                  <a:srgbClr val="4285F4"/>
                </a:solidFill>
                <a:latin typeface="DejaVu Sans"/>
              </a:defRPr>
            </a:pPr>
            <a:r>
              <a:t>INTERNET RASMI</a:t>
            </a:r>
          </a:p>
        </p:txBody>
      </p:sp>
      <p:sp>
        <p:nvSpPr>
          <p:cNvPr id="10" name="TextBox 9"/>
          <p:cNvSpPr txBox="1"/>
          <p:nvPr/>
        </p:nvSpPr>
        <p:spPr>
          <a:xfrm>
            <a:off x="777240" y="4663440"/>
            <a:ext cx="10652760" cy="576072"/>
          </a:xfrm>
          <a:prstGeom prst="rect">
            <a:avLst/>
          </a:prstGeom>
          <a:noFill/>
        </p:spPr>
        <p:txBody>
          <a:bodyPr wrap="square" lIns="27432" rIns="27432" tIns="18288" bIns="0">
            <a:spAutoFit/>
          </a:bodyPr>
          <a:lstStyle/>
          <a:p>
            <a:pPr>
              <a:spcAft>
                <a:spcPts val="800"/>
              </a:spcAft>
              <a:defRPr sz="1400" b="0">
                <a:solidFill>
                  <a:srgbClr val="25364C"/>
                </a:solidFill>
                <a:latin typeface="DejaVu Sans"/>
              </a:defRPr>
            </a:pPr>
            <a:r>
              <a:t>Google Cloud; Simple Icons vector</a:t>
            </a:r>
          </a:p>
        </p:txBody>
      </p:sp>
      <p:sp>
        <p:nvSpPr>
          <p:cNvPr id="11" name="TextBox 10"/>
          <p:cNvSpPr txBox="1"/>
          <p:nvPr/>
        </p:nvSpPr>
        <p:spPr>
          <a:xfrm>
            <a:off x="777240" y="5285232"/>
            <a:ext cx="10652760" cy="640080"/>
          </a:xfrm>
          <a:prstGeom prst="rect">
            <a:avLst/>
          </a:prstGeom>
          <a:noFill/>
        </p:spPr>
        <p:txBody>
          <a:bodyPr wrap="square" lIns="27432" rIns="27432" tIns="18288" bIns="0">
            <a:spAutoFit/>
          </a:bodyPr>
          <a:lstStyle/>
          <a:p>
            <a:pPr>
              <a:spcAft>
                <a:spcPts val="800"/>
              </a:spcAft>
              <a:defRPr sz="1000" b="0">
                <a:solidFill>
                  <a:srgbClr val="25364C"/>
                </a:solidFill>
                <a:latin typeface="DejaVu Sans"/>
              </a:defRPr>
            </a:pPr>
            <a:r>
              <a:t>https://raw.githubusercontent.com/simple-icons/simple-icons/15.0.0/icons/googlecloud.svg</a:t>
            </a:r>
          </a:p>
        </p:txBody>
      </p:sp>
      <p:sp>
        <p:nvSpPr>
          <p:cNvPr id="12" name="TextBox 11"/>
          <p:cNvSpPr txBox="1"/>
          <p:nvPr/>
        </p:nvSpPr>
        <p:spPr>
          <a:xfrm>
            <a:off x="777240" y="6035040"/>
            <a:ext cx="10652760" cy="320040"/>
          </a:xfrm>
          <a:prstGeom prst="rect">
            <a:avLst/>
          </a:prstGeom>
          <a:noFill/>
        </p:spPr>
        <p:txBody>
          <a:bodyPr wrap="square" lIns="27432" rIns="27432" tIns="18288" bIns="0">
            <a:spAutoFit/>
          </a:bodyPr>
          <a:lstStyle/>
          <a:p>
            <a:pPr>
              <a:spcAft>
                <a:spcPts val="800"/>
              </a:spcAft>
              <a:defRPr sz="1100" b="0">
                <a:solidFill>
                  <a:srgbClr val="25364C"/>
                </a:solidFill>
                <a:latin typeface="DejaVu Sans"/>
              </a:defRPr>
            </a:pPr>
            <a:r>
              <a:t>Barcha rasm manbalari va foydalanish izohlari: ASSET_SOURCES.md</a:t>
            </a:r>
          </a:p>
        </p:txBody>
      </p:sp>
      <p:sp>
        <p:nvSpPr>
          <p:cNvPr id="13" name="TextBox 12"/>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25364C"/>
                </a:solidFill>
                <a:latin typeface="DejaVu Sans"/>
              </a:defRPr>
            </a:pPr>
            <a:r>
              <a:t>BTST206   /   M14   /   2027–2028</a:t>
            </a:r>
          </a:p>
        </p:txBody>
      </p:sp>
      <p:sp>
        <p:nvSpPr>
          <p:cNvPr id="14" name="TextBox 13"/>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25364C"/>
                </a:solidFill>
                <a:latin typeface="DejaVu Sans"/>
              </a:defRPr>
            </a:pPr>
            <a:r>
              <a:t>13 /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