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Assalomu alaykum, aziz talabalar. Bugungi ma’ruzamiz «Bulutlarni joylashtirish modellari» mavzusiga bag‘ishlanadi. Mavzuni murakkab atamalardan emas, kundalik ehtiyojdan boshlaymiz. Universitet umumiy saytini ommaviy bulutda, ayrim maxfiy ma’lumotlarini esa o‘z muhitida saqlamoqchi. Tanlovni texnik imkoniyat, qonuniy talab va boshqaruv xarajati birgalikda belgilaydi.</a:t>
            </a:r>
          </a:p>
          <a:p/>
          <a:p>
            <a:r>
              <a:t>Biz avval asosiy tushunchalarni ajratamiz, keyin ularning ishlash tartibini sxemada ko‘ramiz. Maqsad xizmat nomlarini yodlash emas, ularning qaysi vazifani bajarishini va qayerda cheklanishini tushunishdir. Inglizcha atama uchraganda uning sodda o‘zbekcha ma’nosi bilan bog‘laymiz. Slayddagi qisqa jumlalar tayanch fikrlar bo‘lib, ularning batafsil izohi ushbu ma’ruza matnida beriladi.</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Ma’ruza oltita asosiy bo‘limdan iborat. 1-bo‘limda public cloud tushuntiriladi. 2-bo‘limda private cloud tushuntiriladi. 3-bo‘limda hybrid cloud tushuntiriladi. 4-bo‘limda community cloud tushuntiriladi. 5-bo‘limda multi-cloud strategiyasi tushuntiriladi. 6-bo‘limda modelni asosli tanlash tushuntiriladi.</a:t>
            </a:r>
          </a:p>
          <a:p/>
          <a:p>
            <a:r>
              <a:t>Har bir bo‘limda bir xil fikrlash tartibidan foydalanamiz: tushuncha nimani anglatadi, qanday ishlaydi, universitet portalida qayerda ko‘rinadi va qaysi holatda ehtiyot bo‘lish kerak. Shundan keyin umumiy sxema barcha qismlarni bir-biriga bog‘laydi. Oxirida o‘qituvchi bayon qiladigan misol, chalkash tushunchalar va yakuniy xulosalar beriladi. Bu ketma-ketlik amaliy topshiriq emas, videodarsning tushuntirish rejasidir.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Public Cloud ommaviy xizmat ko‘rsatish modeli bo‘lib, resurslar odatda yirik provayder infratuzilmasida ishlaydi. Mijozlar mantiqiy ravishda ajratiladi. Public so‘zi mijozning ma’lumotlari hammaga ochiq degani emas.</a:t>
            </a:r>
          </a:p>
          <a:p/>
          <a:p>
            <a:r>
              <a:t>Tashkilot hisob ochib, hudud va xizmatlarni tanlaydi. Ruxsatlar, tarmoq hamda ma’lumotga kirish sozlamalari bilan o‘z muhitini boshqaradi.</a:t>
            </a:r>
          </a:p>
          <a:p/>
          <a:p>
            <a:r>
              <a:t>Universitet misolida buni quyidagicha tasavvur qilamiz. Universitetning ochiq yangiliklar sayti ommaviy bulutdagi veb-platformada ishlaydi; bazaga esa faqat ilova kira oladi. Bu misolda texnik atama real vazifa bilan bog‘lanadi: resursning nomini emas, nima uchun tanlanganini tushunish muhim.</a:t>
            </a:r>
          </a:p>
          <a:p/>
          <a:p>
            <a:r>
              <a:t>E’tibor beradigan chegara ham bor. Ochiqlik darajasi joylashtirish nomi bilan emas, konfiguratsiya va ruxsatlar bilan belgilanadi. Shuning uchun texnik qaror chiqarishda slayddagi asosiy fikr bilan birga shu shartni ham yodda tutamiz.</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Private Cloud bitta tashkilot foydalanadigan bulut muhitidir. U tashkilot binosida ham, tashqi operator maydonida ham joylashishi mumkin. Muhimi — resurslar va boshqaruvning tashkilot talablariga mos ajratilishidir.</a:t>
            </a:r>
          </a:p>
          <a:p/>
          <a:p>
            <a:r>
              <a:t>Avtomatlashtirilgan resurs ajratish, markaziy boshqaruv va xizmat katalogi xususiy bulutni oddiy server xonasidan farqlaydi. Uskuna va mutaxassislar uchun xarajat saqlanadi.</a:t>
            </a:r>
          </a:p>
          <a:p/>
          <a:p>
            <a:r>
              <a:t>Universitet misolida buni quyidagicha tasavvur qilamiz. Universitet bir nechta fakultetga ichki katalog orqali virtual mashina ajratadigan OpenStack muhitini yuritadi. Bu misolda texnik atama real vazifa bilan bog‘lanadi: resursning nomini emas, nima uchun tanlanganini tushunish muhim.</a:t>
            </a:r>
          </a:p>
          <a:p/>
          <a:p>
            <a:r>
              <a:t>E’tibor beradigan chegara ham bor. Faqat lokal serverga ega bo‘lish hali to‘liq xususiy bulut qurilganini bildirmaydi. Shuning uchun texnik qaror chiqarishda slayddagi asosiy fikr bilan birga shu shartni ham yodda tutamiz.</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Hybrid Cloud kamida ikki xil bulut muhitining bog‘langan ishlashini anglatadi. Amaliy arxitekturalarda mahalliy infratuzilma va public cloud birlashtirilishi ham shu nom bilan yuritiladi. Ma’lumot oqimi va identifikatsiya izchil boshqarilishi kerak.</a:t>
            </a:r>
          </a:p>
          <a:p/>
          <a:p>
            <a:r>
              <a:t>VPN yoki ajratilgan ulanish, yagona identifikatsiya va integratsiya API lari orqali muhitlar hamkorlik qiladi. Kechikish va uzilish holati oldindan rejalashtiriladi.</a:t>
            </a:r>
          </a:p>
          <a:p/>
          <a:p>
            <a:r>
              <a:t>Universitet misolida buni quyidagicha tasavvur qilamiz. Portal bulutda ishlaydi, lekin ichki talaba registriga himoyalangan API orqali murojaat qiladi. Bu misolda texnik atama real vazifa bilan bog‘lanadi: resursning nomini emas, nima uchun tanlanganini tushunish muhim.</a:t>
            </a:r>
          </a:p>
          <a:p/>
          <a:p>
            <a:r>
              <a:t>E’tibor beradigan chegara ham bor. Aloqa uzilsa nima bo‘lishi va qaysi ma’lumot qayerga ko‘chishi aniq belgilanishi kerak. Shuning uchun texnik qaror chiqarishda slayddagi asosiy fikr bilan birga shu shartni ham yodda tutamiz.</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Community Cloud bir xil manfaat yoki talabga ega tashkilotlar jamoasiga xizmat qiladi. Umumiy xavfsizlik, ilmiy hisoblash yoki sohaviy standartlar asosiy sabab bo‘lishi mumkin. Xarajat va boshqaruv qoidalari kelishiladi.</a:t>
            </a:r>
          </a:p>
          <a:p/>
          <a:p>
            <a:r>
              <a:t>Ishtirokchilar kim resurs ajratishi, kim audit o‘tkazishi va ma’lumot uchun kim javob berishini belgilaydi. Boshqaruv shartnomalari texnik infratuzilma kabi muhimdir.</a:t>
            </a:r>
          </a:p>
          <a:p/>
          <a:p>
            <a:r>
              <a:t>Universitet misolida buni quyidagicha tasavvur qilamiz. Bir nechta universitet ilmiy hisoblash va katta tajriba ma’lumotlari uchun umumiy bulut platformasidan foydalanadi. Bu misolda texnik atama real vazifa bilan bog‘lanadi: resursning nomini emas, nima uchun tanlanganini tushunish muhim.</a:t>
            </a:r>
          </a:p>
          <a:p/>
          <a:p>
            <a:r>
              <a:t>E’tibor beradigan chegara ham bor. Bu shunchaki internetdagi ochiq hamjamiyat emas; a’zolik va boshqaruv chegarasi mavjud. Shuning uchun texnik qaror chiqarishda slayddagi asosiy fikr bilan birga shu shartni ham yodda tutamiz.</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Multi-cloud bitta tashkilotning ikki yoki undan ko‘p provayder xizmatidan foydalanishidir. Bu xizmatlarni tanlash erkinligi yoki biznes talabidan kelib chiqishi mumkin. Muhitlar o‘zaro chuqur bog‘langan bo‘lishi shart emas.</a:t>
            </a:r>
          </a:p>
          <a:p/>
          <a:p>
            <a:r>
              <a:t>Har bir provayder uchun hisoblar, ruxsatlar, monitoring va xarajatlar boshqariladi. Ma’lumot formatlari va joylashtirish jarayonlarini standartlashtirish murakkablikni kamaytiradi.</a:t>
            </a:r>
          </a:p>
          <a:p/>
          <a:p>
            <a:r>
              <a:t>Universitet misolida buni quyidagicha tasavvur qilamiz. Universitet pochta uchun bitta, ilmiy hisoblash uchun ikkinchi provayderdan foydalanishi mumkin. Bu misolda texnik atama real vazifa bilan bog‘lanadi: resursning nomini emas, nima uchun tanlanganini tushunish muhim.</a:t>
            </a:r>
          </a:p>
          <a:p/>
          <a:p>
            <a:r>
              <a:t>E’tibor beradigan chegara ham bor. Multi-cloud avtomatik ravishda uzilishdan himoya yoki oson ko‘chirishni ta’minlamaydi. Shuning uchun texnik qaror chiqarishda slayddagi asosiy fikr bilan birga shu shartni ham yodda tutamiz.</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Joylashtirish modelini tanlashda ma’lumotning sezgirligi, joylashuv talablari, tarmoq kechikishi va xizmat sifati ko‘rib chiqiladi. Mahalliy tizim bilan integratsiya zarurati ham muhim. Jamoa qo‘llab-quvvatlay oladigan model tanlanadi.</a:t>
            </a:r>
          </a:p>
          <a:p/>
          <a:p>
            <a:r>
              <a:t>Avval ish yuklamalari guruhlanadi. Har biri uchun xavfsizlik va texnik talablar yoziladi. Keyin variantlar xarajat va murakkablik bo‘yicha solishtiriladi.</a:t>
            </a:r>
          </a:p>
          <a:p/>
          <a:p>
            <a:r>
              <a:t>Universitet misolida buni quyidagicha tasavvur qilamiz. Ochiq sayt, ichki registr va ilmiy hisoblash uchun uch xil yondashuv asosli bo‘lishi mumkin. Bu misolda texnik atama real vazifa bilan bog‘lanadi: resursning nomini emas, nima uchun tanlanganini tushunish muhim.</a:t>
            </a:r>
          </a:p>
          <a:p/>
          <a:p>
            <a:r>
              <a:t>E’tibor beradigan chegara ham bor. Faqat boshqa tashkilot shu modeldan foydalangani uchun aynan uni tanlash yetarli dalil emas. Shuning uchun texnik qaror chiqarishda slayddagi asosiy fikr bilan birga shu shartni ham yodda tutamiz.</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Endi mavzuni yaxlit sxemada ko‘ramiz. To‘rtburchaklar asosiy komponentlarni, o‘qlar esa ma’lumot, murojaat yoki boshqaruv bog‘lanishini ko‘rsatadi. Bu soddalashtirilgan ta’lim sxemasi: unda barcha xavfsizlik qoidalari, ichki protokollar va zaxira komponentlari alohida chizilmagan.</a:t>
            </a:r>
          </a:p>
          <a:p/>
          <a:p>
            <a:r>
              <a:t>«Mahalliy / private» bilan «Xavfsiz aloqa» o‘rtasida sxemada bog‘lanish ko‘rsatilgan. «Xavfsiz aloqa» bilan «Public cloud» o‘rtasida sxemada bog‘lanish ko‘rsatilgan. «Yagona identifikatsiya» bilan «Mahalliy / private» o‘rtasida sxemada bog‘lanish ko‘rsatilgan. «Yagona identifikatsiya» bilan «Public cloud» o‘rtasida sxemada bog‘lanish ko‘rsatilgan. «Siyosat va kuzatuv» bilan «Mahalliy / private» o‘rtasida sxemada bog‘lanish ko‘rsatilgan. «Siyosat va kuzatuv» bilan «Public cloud» o‘rtasida sxemada bog‘lanish ko‘rsatilgan.</a:t>
            </a:r>
          </a:p>
          <a:p/>
          <a:p>
            <a:r>
              <a:t>Bu bog‘lanishlarni barcha xizmatlarda bir xil buyruq yoki bir xil fizik kabel deb tushunmaymiz. Ayrim o‘qlar bajarilish ketma-ketligini, ayrimlari resursni boshqarish yoki unga kirish aloqasini anglatadi. Avtomatlashtirilgan resurs ajratish, markaziy boshqaruv va xizmat katalogi xususiy bulutni oddiy server xonasidan farqlaydi. Uskuna va mutaxassislar uchun xarajat saqlanadi.</a:t>
            </a:r>
          </a:p>
          <a:p/>
          <a:p>
            <a:r>
              <a:t>Sxemaning asosiy foydasi mas’uliyatlarni ajratib ko‘rsatishdir. Universitet pochta uchun bitta, ilmiy hisoblash uchun ikkinchi provayderdan foydalanishi mumkin. Bir qismdagi o‘zgarish boshqasiga qanday ta’sir qilishini ko‘rish orqali murakkab tizimni kichik va tushunarli qismlarga ajratamiz.</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Keling, nazariyani bitta izchil vaziyat bilan bog‘laymiz. Universitet umumiy saytini ommaviy bulutda, ayrim maxfiy ma’lumotlarini esa o‘z muhitida saqlamoqchi. Tanlovni texnik imkoniyat, qonuniy talab va boshqaruv xarajati birgalikda belgilaydi.</a:t>
            </a:r>
          </a:p>
          <a:p/>
          <a:p>
            <a:r>
              <a:t>Avval ehtiyoj aniqlanadi: kim tizimdan foydalanadi, qaysi ma’lumot bilan ishlanadi va qanday natija kutiladi. Universitetning ochiq yangiliklar sayti ommaviy bulutdagi veb-platformada ishlaydi; bazaga esa faqat ilova kira oladi. Keyin texnik qismlar shu talabga mos tanlanadi. Portal bulutda ishlaydi, lekin ichki talaba registriga himoyalangan API orqali murojaat qiladi.</a:t>
            </a:r>
          </a:p>
          <a:p/>
          <a:p>
            <a:r>
              <a:t>Ishlash jarayonida faqat muvaffaqiyatli holat emas, xato va cheklovlar ham hisobga olinadi. Bu shunchaki internetdagi ochiq hamjamiyat emas; a’zolik va boshqaruv chegarasi mavjud. Shu sababli jamoa talabni, ruxsatni va nosozlikdagi xatti-harakatni oldindan belgilaydi. Ochiq sayt, ichki registr va ilmiy hisoblash uchun uch xil yondashuv asosli bo‘lishi mumkin.</a:t>
            </a:r>
          </a:p>
          <a:p/>
          <a:p>
            <a:r>
              <a:t>Misolning xulosasi shuki, texnologiya alohida maqsad emas. U talabaga kerakli xizmatni sodda, xavfsiz va barqaror yetkazishga xizmat qiladi. Slayddagi tayanch qismlar ishni rejalashga yordam beradi; haqiqiy joylashtirishda esa aniq konfiguratsiya va amaldagi hujjatlar talab qilinadi.</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Mavzuni to‘g‘ri tushunish uchun uchta chegarani qayta ajratamiz.</a:t>
            </a:r>
          </a:p>
          <a:p/>
          <a:p>
            <a:r>
              <a:t>1. Ochiqlik darajasi joylashtirish nomi bilan emas, konfiguratsiya va ruxsatlar bilan belgilanadi. To‘g‘ri talqin quyidagicha: Public Cloud ommaviy xizmat ko‘rsatish modeli bo‘lib, resurslar odatda yirik provayder infratuzilmasida ishlaydi. Mijozlar mantiqiy ravishda ajratiladi. Public so‘zi mijozning ma’lumotlari hammaga ochiq degani emas.</a:t>
            </a:r>
          </a:p>
          <a:p/>
          <a:p>
            <a:r>
              <a:t>2. Bu shunchaki internetdagi ochiq hamjamiyat emas; a’zolik va boshqaruv chegarasi mavjud. To‘g‘ri talqin quyidagicha: Community Cloud bir xil manfaat yoki talabga ega tashkilotlar jamoasiga xizmat qiladi. Umumiy xavfsizlik, ilmiy hisoblash yoki sohaviy standartlar asosiy sabab bo‘lishi mumkin. Xarajat va boshqaruv qoidalari kelishiladi.</a:t>
            </a:r>
          </a:p>
          <a:p/>
          <a:p>
            <a:r>
              <a:t>3. Faqat boshqa tashkilot shu modeldan foydalangani uchun aynan uni tanlash yetarli dalil emas. To‘g‘ri talqin quyidagicha: Joylashtirish modelini tanlashda ma’lumotning sezgirligi, joylashuv talablari, tarmoq kechikishi va xizmat sifati ko‘rib chiqiladi. Mahalliy tizim bilan integratsiya zarurati ham muhim. Jamoa qo‘llab-quvvatlay oladigan model tanlanadi.</a:t>
            </a:r>
          </a:p>
          <a:p/>
          <a:p>
            <a:r>
              <a:t>Bu izohlar texnologiyani rad etish uchun emas, undan o‘rinli foydalanish uchun kerak. Ta’rif, amaliy vazifa va shart birga o‘qilgandagina to‘g‘ri xulosa paydo bo‘ladi. Shuning uchun xizmat nomi yoki bitta imkoniyatga qarab butun tizim haqida umumiy hukm chiqarmaymiz.</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Bugungi ma’ruzani yakunlaymiz. Public, private, hybrid, community va multi-cloud — mavzuning umumiy mazmunini ifodalaydi.</a:t>
            </a:r>
          </a:p>
          <a:p/>
          <a:p>
            <a:r>
              <a:t>Asosiy tayanch fikr: Provayder resurslari ko‘plab mijozlarga xizmat qiladi. Tashkilot hisob ochib, hudud va xizmatlarni tanlaydi. Ruxsatlar, tarmoq hamda ma’lumotga kirish sozlamalari bilan o‘z muhitini boshqaradi.</a:t>
            </a:r>
          </a:p>
          <a:p/>
          <a:p>
            <a:r>
              <a:t>Asosiy tayanch fikr: Turli muhitlar o‘zaro bog‘lanib ishlaydi. VPN yoki ajratilgan ulanish, yagona identifikatsiya va integratsiya API lari orqali muhitlar hamkorlik qiladi. Kechikish va uzilish holati oldindan rejalashtiriladi.</a:t>
            </a:r>
          </a:p>
          <a:p/>
          <a:p>
            <a:r>
              <a:t>Asosiy tayanch fikr: Bir nechta bulut provayderidan foydalanish. Har bir provayder uchun hisoblar, ruxsatlar, monitoring va xarajatlar boshqariladi. Ma’lumot formatlari va joylashtirish jarayonlarini standartlashtirish murakkablikni kamaytiradi.</a:t>
            </a:r>
          </a:p>
          <a:p/>
          <a:p>
            <a:r>
              <a:t>Barcha bo‘limlarni universitet portali misoli orqali bog‘ladik. Endi atamalarni alohida so‘z sifatida emas, tizimdagi aniq vazifa sifatida ko‘rish mumkin. Arxitektura tanlashda talab, cheklov, xavfsizlik va xarajat birgalikda baholanadi. Mavzuni takrorlashda avval ta’rifni, keyin sxemani, so‘ng misol va chegaralarni ko‘zdan kechirish foydali. E’tiboringiz uchun rahmat.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Ushbu mavzu foydalanuvchi taqdim etgan BTST206 sillabusidagi tegishli ma’ruza bo‘limi asosida tuzildi. Slaydda mavzuni chuqurroq o‘qish uchun rasmiy hujjatlarga havolalar ko‘rsatilgan. Xizmatlar yangilanib boradi, shuning uchun amaliy ish oldidan tanlangan versiya, region, tarif va limitlar tekshiriladi. Bu ma’ruzada maqsad o‘zgaruvchan raqamlarni yodlash emas, barqaror tamoyillarni tushunishdir.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exec-1c8f91bc-6381-4745-8533-c57166497063.pn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516636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0" y="594360"/>
            <a:ext cx="594360" cy="73152"/>
          </a:xfrm>
          <a:prstGeom prst="rect">
            <a:avLst/>
          </a:prstGeom>
          <a:solidFill>
            <a:srgbClr val="1678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896112"/>
            <a:ext cx="4480560" cy="457200"/>
          </a:xfrm>
          <a:prstGeom prst="rect">
            <a:avLst/>
          </a:prstGeom>
          <a:noFill/>
        </p:spPr>
        <p:txBody>
          <a:bodyPr wrap="square" lIns="27432" rIns="27432" tIns="18288" bIns="0">
            <a:spAutoFit/>
          </a:bodyPr>
          <a:lstStyle/>
          <a:p>
            <a:pPr>
              <a:spcAft>
                <a:spcPts val="1000"/>
              </a:spcAft>
              <a:defRPr sz="1700" b="1">
                <a:solidFill>
                  <a:srgbClr val="1678D2"/>
                </a:solidFill>
                <a:latin typeface="DejaVu Sans"/>
              </a:defRPr>
            </a:pPr>
            <a:r>
              <a:t>M04  /  BTST206</a:t>
            </a:r>
          </a:p>
        </p:txBody>
      </p:sp>
      <p:sp>
        <p:nvSpPr>
          <p:cNvPr id="6" name="TextBox 5"/>
          <p:cNvSpPr txBox="1"/>
          <p:nvPr/>
        </p:nvSpPr>
        <p:spPr>
          <a:xfrm>
            <a:off x="548640" y="1737360"/>
            <a:ext cx="4480560" cy="2788920"/>
          </a:xfrm>
          <a:prstGeom prst="rect">
            <a:avLst/>
          </a:prstGeom>
          <a:noFill/>
        </p:spPr>
        <p:txBody>
          <a:bodyPr wrap="square" lIns="27432" rIns="27432" tIns="18288" bIns="0">
            <a:spAutoFit/>
          </a:bodyPr>
          <a:lstStyle/>
          <a:p>
            <a:pPr>
              <a:spcAft>
                <a:spcPts val="1000"/>
              </a:spcAft>
              <a:defRPr sz="3000" b="1">
                <a:solidFill>
                  <a:srgbClr val="15365B"/>
                </a:solidFill>
                <a:latin typeface="DejaVu Sans"/>
              </a:defRPr>
            </a:pPr>
            <a:r>
              <a:t>Bulutlarni joylashtirish modellari</a:t>
            </a:r>
          </a:p>
        </p:txBody>
      </p:sp>
      <p:sp>
        <p:nvSpPr>
          <p:cNvPr id="7" name="TextBox 6"/>
          <p:cNvSpPr txBox="1"/>
          <p:nvPr/>
        </p:nvSpPr>
        <p:spPr>
          <a:xfrm>
            <a:off x="548640" y="4800600"/>
            <a:ext cx="4434840" cy="914400"/>
          </a:xfrm>
          <a:prstGeom prst="rect">
            <a:avLst/>
          </a:prstGeom>
          <a:noFill/>
        </p:spPr>
        <p:txBody>
          <a:bodyPr wrap="square" lIns="27432" rIns="27432" tIns="18288" bIns="0">
            <a:spAutoFit/>
          </a:bodyPr>
          <a:lstStyle/>
          <a:p>
            <a:pPr>
              <a:spcAft>
                <a:spcPts val="1000"/>
              </a:spcAft>
              <a:defRPr sz="1900" b="0">
                <a:solidFill>
                  <a:srgbClr val="53687D"/>
                </a:solidFill>
                <a:latin typeface="DejaVu Sans"/>
              </a:defRPr>
            </a:pPr>
            <a:r>
              <a:t>Public, private, hybrid, community va multi-cloud</a:t>
            </a:r>
          </a:p>
        </p:txBody>
      </p:sp>
      <p:sp>
        <p:nvSpPr>
          <p:cNvPr id="8" name="TextBox 7"/>
          <p:cNvSpPr txBox="1"/>
          <p:nvPr/>
        </p:nvSpPr>
        <p:spPr>
          <a:xfrm>
            <a:off x="548640" y="6217920"/>
            <a:ext cx="4480560" cy="365760"/>
          </a:xfrm>
          <a:prstGeom prst="rect">
            <a:avLst/>
          </a:prstGeom>
          <a:noFill/>
        </p:spPr>
        <p:txBody>
          <a:bodyPr wrap="square" lIns="27432" rIns="27432" tIns="18288" bIns="0">
            <a:spAutoFit/>
          </a:bodyPr>
          <a:lstStyle/>
          <a:p>
            <a:pPr>
              <a:spcAft>
                <a:spcPts val="1000"/>
              </a:spcAft>
              <a:defRPr sz="1100" b="0">
                <a:solidFill>
                  <a:srgbClr val="1678D2"/>
                </a:solidFill>
                <a:latin typeface="DejaVu Sans"/>
              </a:defRPr>
            </a:pPr>
            <a:r>
              <a:t>2027–2028  •  VIDEOMA’RUZA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1678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0058400" cy="274320"/>
          </a:xfrm>
          <a:prstGeom prst="rect">
            <a:avLst/>
          </a:prstGeom>
          <a:noFill/>
        </p:spPr>
        <p:txBody>
          <a:bodyPr wrap="square" lIns="27432" rIns="27432" tIns="18288" bIns="0">
            <a:spAutoFit/>
          </a:bodyPr>
          <a:lstStyle/>
          <a:p>
            <a:pPr>
              <a:spcAft>
                <a:spcPts val="1000"/>
              </a:spcAft>
              <a:defRPr sz="1100" b="1">
                <a:solidFill>
                  <a:srgbClr val="1678D2"/>
                </a:solidFill>
                <a:latin typeface="DejaVu Sans"/>
              </a:defRPr>
            </a:pPr>
            <a:r>
              <a:t>M04 · O‘RGANISH TARTIBI</a:t>
            </a:r>
          </a:p>
        </p:txBody>
      </p:sp>
      <p:sp>
        <p:nvSpPr>
          <p:cNvPr id="4" name="TextBox 3"/>
          <p:cNvSpPr txBox="1"/>
          <p:nvPr/>
        </p:nvSpPr>
        <p:spPr>
          <a:xfrm>
            <a:off x="502920" y="777240"/>
            <a:ext cx="11155680" cy="960120"/>
          </a:xfrm>
          <a:prstGeom prst="rect">
            <a:avLst/>
          </a:prstGeom>
          <a:noFill/>
        </p:spPr>
        <p:txBody>
          <a:bodyPr wrap="square" lIns="27432" rIns="27432" tIns="18288" bIns="0">
            <a:spAutoFit/>
          </a:bodyPr>
          <a:lstStyle/>
          <a:p>
            <a:pPr>
              <a:spcAft>
                <a:spcPts val="1000"/>
              </a:spcAft>
              <a:defRPr sz="2900" b="1">
                <a:solidFill>
                  <a:srgbClr val="15365B"/>
                </a:solidFill>
                <a:latin typeface="DejaVu Sans"/>
              </a:defRPr>
            </a:pPr>
            <a:r>
              <a:t>Bugungi mavzuning yo‘l xaritasi</a:t>
            </a:r>
          </a:p>
        </p:txBody>
      </p:sp>
      <p:sp>
        <p:nvSpPr>
          <p:cNvPr id="5" name="Rectangle 4"/>
          <p:cNvSpPr/>
          <p:nvPr/>
        </p:nvSpPr>
        <p:spPr>
          <a:xfrm>
            <a:off x="548640" y="6428232"/>
            <a:ext cx="11064240" cy="10972"/>
          </a:xfrm>
          <a:prstGeom prst="rect">
            <a:avLst/>
          </a:prstGeom>
          <a:solidFill>
            <a:srgbClr val="CEE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9144000" cy="182880"/>
          </a:xfrm>
          <a:prstGeom prst="rect">
            <a:avLst/>
          </a:prstGeom>
          <a:noFill/>
        </p:spPr>
        <p:txBody>
          <a:bodyPr wrap="square" lIns="27432" rIns="27432" tIns="18288" bIns="0">
            <a:spAutoFit/>
          </a:bodyPr>
          <a:lstStyle/>
          <a:p>
            <a:pPr>
              <a:spcAft>
                <a:spcPts val="1000"/>
              </a:spcAft>
              <a:defRPr sz="900" b="0">
                <a:solidFill>
                  <a:srgbClr val="53687D"/>
                </a:solidFill>
                <a:latin typeface="DejaVu Sans"/>
              </a:defRPr>
            </a:pPr>
            <a:r>
              <a:t>BTST206  •  BULUT TEXNOLOGIYALARI VA SERVISLAR  •  2027–2028</a:t>
            </a:r>
          </a:p>
        </p:txBody>
      </p:sp>
      <p:sp>
        <p:nvSpPr>
          <p:cNvPr id="7" name="TextBox 6"/>
          <p:cNvSpPr txBox="1"/>
          <p:nvPr/>
        </p:nvSpPr>
        <p:spPr>
          <a:xfrm>
            <a:off x="10607040" y="6473952"/>
            <a:ext cx="1005840" cy="274320"/>
          </a:xfrm>
          <a:prstGeom prst="rect">
            <a:avLst/>
          </a:prstGeom>
          <a:noFill/>
        </p:spPr>
        <p:txBody>
          <a:bodyPr wrap="square" lIns="27432" rIns="27432" tIns="18288" bIns="0">
            <a:spAutoFit/>
          </a:bodyPr>
          <a:lstStyle/>
          <a:p>
            <a:pPr>
              <a:spcAft>
                <a:spcPts val="1000"/>
              </a:spcAft>
              <a:defRPr sz="1200" b="1">
                <a:solidFill>
                  <a:srgbClr val="1678D2"/>
                </a:solidFill>
                <a:latin typeface="DejaVu Sans"/>
              </a:defRPr>
            </a:pPr>
            <a:r>
              <a:t>02</a:t>
            </a:r>
          </a:p>
        </p:txBody>
      </p:sp>
      <p:sp>
        <p:nvSpPr>
          <p:cNvPr id="8" name="Rounded Rectangle 7"/>
          <p:cNvSpPr/>
          <p:nvPr/>
        </p:nvSpPr>
        <p:spPr>
          <a:xfrm>
            <a:off x="594360" y="1938528"/>
            <a:ext cx="5413248" cy="1078992"/>
          </a:xfrm>
          <a:prstGeom prst="roundRect">
            <a:avLst>
              <a:gd name="adj" fmla="val 8000"/>
            </a:avLst>
          </a:prstGeom>
          <a:solidFill>
            <a:srgbClr val="EA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2084832"/>
            <a:ext cx="484632" cy="457200"/>
          </a:xfrm>
          <a:prstGeom prst="rect">
            <a:avLst/>
          </a:prstGeom>
          <a:noFill/>
        </p:spPr>
        <p:txBody>
          <a:bodyPr wrap="square" lIns="27432" rIns="27432" tIns="18288" bIns="0">
            <a:spAutoFit/>
          </a:bodyPr>
          <a:lstStyle/>
          <a:p>
            <a:pPr>
              <a:spcAft>
                <a:spcPts val="1000"/>
              </a:spcAft>
              <a:defRPr sz="2000" b="1">
                <a:solidFill>
                  <a:srgbClr val="1678D2"/>
                </a:solidFill>
                <a:latin typeface="DejaVu Sans"/>
              </a:defRPr>
            </a:pPr>
            <a:r>
              <a:t>01</a:t>
            </a:r>
          </a:p>
        </p:txBody>
      </p:sp>
      <p:sp>
        <p:nvSpPr>
          <p:cNvPr id="10" name="TextBox 9"/>
          <p:cNvSpPr txBox="1"/>
          <p:nvPr/>
        </p:nvSpPr>
        <p:spPr>
          <a:xfrm>
            <a:off x="1380744" y="2057400"/>
            <a:ext cx="4416552" cy="804672"/>
          </a:xfrm>
          <a:prstGeom prst="rect">
            <a:avLst/>
          </a:prstGeom>
          <a:noFill/>
        </p:spPr>
        <p:txBody>
          <a:bodyPr wrap="square" lIns="27432" rIns="27432" tIns="18288" bIns="0">
            <a:spAutoFit/>
          </a:bodyPr>
          <a:lstStyle/>
          <a:p>
            <a:pPr>
              <a:spcAft>
                <a:spcPts val="1000"/>
              </a:spcAft>
              <a:defRPr sz="2000" b="1">
                <a:solidFill>
                  <a:srgbClr val="15365B"/>
                </a:solidFill>
                <a:latin typeface="DejaVu Sans"/>
              </a:defRPr>
            </a:pPr>
            <a:r>
              <a:t>Public Cloud</a:t>
            </a:r>
          </a:p>
        </p:txBody>
      </p:sp>
      <p:sp>
        <p:nvSpPr>
          <p:cNvPr id="11" name="Rounded Rectangle 10"/>
          <p:cNvSpPr/>
          <p:nvPr/>
        </p:nvSpPr>
        <p:spPr>
          <a:xfrm>
            <a:off x="6263640" y="1938528"/>
            <a:ext cx="5413248" cy="1078992"/>
          </a:xfrm>
          <a:prstGeom prst="roundRect">
            <a:avLst>
              <a:gd name="adj" fmla="val 8000"/>
            </a:avLst>
          </a:prstGeom>
          <a:solidFill>
            <a:srgbClr val="EA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2084832"/>
            <a:ext cx="484632" cy="457200"/>
          </a:xfrm>
          <a:prstGeom prst="rect">
            <a:avLst/>
          </a:prstGeom>
          <a:noFill/>
        </p:spPr>
        <p:txBody>
          <a:bodyPr wrap="square" lIns="27432" rIns="27432" tIns="18288" bIns="0">
            <a:spAutoFit/>
          </a:bodyPr>
          <a:lstStyle/>
          <a:p>
            <a:pPr>
              <a:spcAft>
                <a:spcPts val="1000"/>
              </a:spcAft>
              <a:defRPr sz="2000" b="1">
                <a:solidFill>
                  <a:srgbClr val="1678D2"/>
                </a:solidFill>
                <a:latin typeface="DejaVu Sans"/>
              </a:defRPr>
            </a:pPr>
            <a:r>
              <a:t>02</a:t>
            </a:r>
          </a:p>
        </p:txBody>
      </p:sp>
      <p:sp>
        <p:nvSpPr>
          <p:cNvPr id="13" name="TextBox 12"/>
          <p:cNvSpPr txBox="1"/>
          <p:nvPr/>
        </p:nvSpPr>
        <p:spPr>
          <a:xfrm>
            <a:off x="7050024" y="2057400"/>
            <a:ext cx="4416552" cy="804672"/>
          </a:xfrm>
          <a:prstGeom prst="rect">
            <a:avLst/>
          </a:prstGeom>
          <a:noFill/>
        </p:spPr>
        <p:txBody>
          <a:bodyPr wrap="square" lIns="27432" rIns="27432" tIns="18288" bIns="0">
            <a:spAutoFit/>
          </a:bodyPr>
          <a:lstStyle/>
          <a:p>
            <a:pPr>
              <a:spcAft>
                <a:spcPts val="1000"/>
              </a:spcAft>
              <a:defRPr sz="2000" b="1">
                <a:solidFill>
                  <a:srgbClr val="15365B"/>
                </a:solidFill>
                <a:latin typeface="DejaVu Sans"/>
              </a:defRPr>
            </a:pPr>
            <a:r>
              <a:t>Private Cloud</a:t>
            </a:r>
          </a:p>
        </p:txBody>
      </p:sp>
      <p:sp>
        <p:nvSpPr>
          <p:cNvPr id="14" name="Rounded Rectangle 13"/>
          <p:cNvSpPr/>
          <p:nvPr/>
        </p:nvSpPr>
        <p:spPr>
          <a:xfrm>
            <a:off x="594360" y="3246120"/>
            <a:ext cx="5413248" cy="1078992"/>
          </a:xfrm>
          <a:prstGeom prst="roundRect">
            <a:avLst>
              <a:gd name="adj" fmla="val 8000"/>
            </a:avLst>
          </a:prstGeom>
          <a:solidFill>
            <a:srgbClr val="EA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3392424"/>
            <a:ext cx="484632" cy="457200"/>
          </a:xfrm>
          <a:prstGeom prst="rect">
            <a:avLst/>
          </a:prstGeom>
          <a:noFill/>
        </p:spPr>
        <p:txBody>
          <a:bodyPr wrap="square" lIns="27432" rIns="27432" tIns="18288" bIns="0">
            <a:spAutoFit/>
          </a:bodyPr>
          <a:lstStyle/>
          <a:p>
            <a:pPr>
              <a:spcAft>
                <a:spcPts val="1000"/>
              </a:spcAft>
              <a:defRPr sz="2000" b="1">
                <a:solidFill>
                  <a:srgbClr val="1678D2"/>
                </a:solidFill>
                <a:latin typeface="DejaVu Sans"/>
              </a:defRPr>
            </a:pPr>
            <a:r>
              <a:t>03</a:t>
            </a:r>
          </a:p>
        </p:txBody>
      </p:sp>
      <p:sp>
        <p:nvSpPr>
          <p:cNvPr id="16" name="TextBox 15"/>
          <p:cNvSpPr txBox="1"/>
          <p:nvPr/>
        </p:nvSpPr>
        <p:spPr>
          <a:xfrm>
            <a:off x="1380744" y="3364991"/>
            <a:ext cx="4416552" cy="804672"/>
          </a:xfrm>
          <a:prstGeom prst="rect">
            <a:avLst/>
          </a:prstGeom>
          <a:noFill/>
        </p:spPr>
        <p:txBody>
          <a:bodyPr wrap="square" lIns="27432" rIns="27432" tIns="18288" bIns="0">
            <a:spAutoFit/>
          </a:bodyPr>
          <a:lstStyle/>
          <a:p>
            <a:pPr>
              <a:spcAft>
                <a:spcPts val="1000"/>
              </a:spcAft>
              <a:defRPr sz="2000" b="1">
                <a:solidFill>
                  <a:srgbClr val="15365B"/>
                </a:solidFill>
                <a:latin typeface="DejaVu Sans"/>
              </a:defRPr>
            </a:pPr>
            <a:r>
              <a:t>Hybrid Cloud</a:t>
            </a:r>
          </a:p>
        </p:txBody>
      </p:sp>
      <p:sp>
        <p:nvSpPr>
          <p:cNvPr id="17" name="Rounded Rectangle 16"/>
          <p:cNvSpPr/>
          <p:nvPr/>
        </p:nvSpPr>
        <p:spPr>
          <a:xfrm>
            <a:off x="6263640" y="3246120"/>
            <a:ext cx="5413248" cy="1078992"/>
          </a:xfrm>
          <a:prstGeom prst="roundRect">
            <a:avLst>
              <a:gd name="adj" fmla="val 8000"/>
            </a:avLst>
          </a:prstGeom>
          <a:solidFill>
            <a:srgbClr val="EA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0" y="3392424"/>
            <a:ext cx="484632" cy="457200"/>
          </a:xfrm>
          <a:prstGeom prst="rect">
            <a:avLst/>
          </a:prstGeom>
          <a:noFill/>
        </p:spPr>
        <p:txBody>
          <a:bodyPr wrap="square" lIns="27432" rIns="27432" tIns="18288" bIns="0">
            <a:spAutoFit/>
          </a:bodyPr>
          <a:lstStyle/>
          <a:p>
            <a:pPr>
              <a:spcAft>
                <a:spcPts val="1000"/>
              </a:spcAft>
              <a:defRPr sz="2000" b="1">
                <a:solidFill>
                  <a:srgbClr val="1678D2"/>
                </a:solidFill>
                <a:latin typeface="DejaVu Sans"/>
              </a:defRPr>
            </a:pPr>
            <a:r>
              <a:t>04</a:t>
            </a:r>
          </a:p>
        </p:txBody>
      </p:sp>
      <p:sp>
        <p:nvSpPr>
          <p:cNvPr id="19" name="TextBox 18"/>
          <p:cNvSpPr txBox="1"/>
          <p:nvPr/>
        </p:nvSpPr>
        <p:spPr>
          <a:xfrm>
            <a:off x="7050024" y="3364991"/>
            <a:ext cx="4416552" cy="804672"/>
          </a:xfrm>
          <a:prstGeom prst="rect">
            <a:avLst/>
          </a:prstGeom>
          <a:noFill/>
        </p:spPr>
        <p:txBody>
          <a:bodyPr wrap="square" lIns="27432" rIns="27432" tIns="18288" bIns="0">
            <a:spAutoFit/>
          </a:bodyPr>
          <a:lstStyle/>
          <a:p>
            <a:pPr>
              <a:spcAft>
                <a:spcPts val="1000"/>
              </a:spcAft>
              <a:defRPr sz="2000" b="1">
                <a:solidFill>
                  <a:srgbClr val="15365B"/>
                </a:solidFill>
                <a:latin typeface="DejaVu Sans"/>
              </a:defRPr>
            </a:pPr>
            <a:r>
              <a:t>Community Cloud</a:t>
            </a:r>
          </a:p>
        </p:txBody>
      </p:sp>
      <p:sp>
        <p:nvSpPr>
          <p:cNvPr id="20" name="Rounded Rectangle 19"/>
          <p:cNvSpPr/>
          <p:nvPr/>
        </p:nvSpPr>
        <p:spPr>
          <a:xfrm>
            <a:off x="594360" y="4553712"/>
            <a:ext cx="5413248" cy="1078992"/>
          </a:xfrm>
          <a:prstGeom prst="roundRect">
            <a:avLst>
              <a:gd name="adj" fmla="val 8000"/>
            </a:avLst>
          </a:prstGeom>
          <a:solidFill>
            <a:srgbClr val="EA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4700016"/>
            <a:ext cx="484632" cy="457200"/>
          </a:xfrm>
          <a:prstGeom prst="rect">
            <a:avLst/>
          </a:prstGeom>
          <a:noFill/>
        </p:spPr>
        <p:txBody>
          <a:bodyPr wrap="square" lIns="27432" rIns="27432" tIns="18288" bIns="0">
            <a:spAutoFit/>
          </a:bodyPr>
          <a:lstStyle/>
          <a:p>
            <a:pPr>
              <a:spcAft>
                <a:spcPts val="1000"/>
              </a:spcAft>
              <a:defRPr sz="2000" b="1">
                <a:solidFill>
                  <a:srgbClr val="1678D2"/>
                </a:solidFill>
                <a:latin typeface="DejaVu Sans"/>
              </a:defRPr>
            </a:pPr>
            <a:r>
              <a:t>05</a:t>
            </a:r>
          </a:p>
        </p:txBody>
      </p:sp>
      <p:sp>
        <p:nvSpPr>
          <p:cNvPr id="22" name="TextBox 21"/>
          <p:cNvSpPr txBox="1"/>
          <p:nvPr/>
        </p:nvSpPr>
        <p:spPr>
          <a:xfrm>
            <a:off x="1380744" y="4672584"/>
            <a:ext cx="4416552" cy="804672"/>
          </a:xfrm>
          <a:prstGeom prst="rect">
            <a:avLst/>
          </a:prstGeom>
          <a:noFill/>
        </p:spPr>
        <p:txBody>
          <a:bodyPr wrap="square" lIns="27432" rIns="27432" tIns="18288" bIns="0">
            <a:spAutoFit/>
          </a:bodyPr>
          <a:lstStyle/>
          <a:p>
            <a:pPr>
              <a:spcAft>
                <a:spcPts val="1000"/>
              </a:spcAft>
              <a:defRPr sz="2000" b="1">
                <a:solidFill>
                  <a:srgbClr val="15365B"/>
                </a:solidFill>
                <a:latin typeface="DejaVu Sans"/>
              </a:defRPr>
            </a:pPr>
            <a:r>
              <a:t>Multi-cloud strategiyasi</a:t>
            </a:r>
          </a:p>
        </p:txBody>
      </p:sp>
      <p:sp>
        <p:nvSpPr>
          <p:cNvPr id="23" name="Rounded Rectangle 22"/>
          <p:cNvSpPr/>
          <p:nvPr/>
        </p:nvSpPr>
        <p:spPr>
          <a:xfrm>
            <a:off x="6263640" y="4553712"/>
            <a:ext cx="5413248" cy="1078992"/>
          </a:xfrm>
          <a:prstGeom prst="roundRect">
            <a:avLst>
              <a:gd name="adj" fmla="val 8000"/>
            </a:avLst>
          </a:prstGeom>
          <a:solidFill>
            <a:srgbClr val="EA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0" y="4700016"/>
            <a:ext cx="484632" cy="457200"/>
          </a:xfrm>
          <a:prstGeom prst="rect">
            <a:avLst/>
          </a:prstGeom>
          <a:noFill/>
        </p:spPr>
        <p:txBody>
          <a:bodyPr wrap="square" lIns="27432" rIns="27432" tIns="18288" bIns="0">
            <a:spAutoFit/>
          </a:bodyPr>
          <a:lstStyle/>
          <a:p>
            <a:pPr>
              <a:spcAft>
                <a:spcPts val="1000"/>
              </a:spcAft>
              <a:defRPr sz="2000" b="1">
                <a:solidFill>
                  <a:srgbClr val="1678D2"/>
                </a:solidFill>
                <a:latin typeface="DejaVu Sans"/>
              </a:defRPr>
            </a:pPr>
            <a:r>
              <a:t>06</a:t>
            </a:r>
          </a:p>
        </p:txBody>
      </p:sp>
      <p:sp>
        <p:nvSpPr>
          <p:cNvPr id="25" name="TextBox 24"/>
          <p:cNvSpPr txBox="1"/>
          <p:nvPr/>
        </p:nvSpPr>
        <p:spPr>
          <a:xfrm>
            <a:off x="7050024" y="4672584"/>
            <a:ext cx="4416552" cy="804672"/>
          </a:xfrm>
          <a:prstGeom prst="rect">
            <a:avLst/>
          </a:prstGeom>
          <a:noFill/>
        </p:spPr>
        <p:txBody>
          <a:bodyPr wrap="square" lIns="27432" rIns="27432" tIns="18288" bIns="0">
            <a:spAutoFit/>
          </a:bodyPr>
          <a:lstStyle/>
          <a:p>
            <a:pPr>
              <a:spcAft>
                <a:spcPts val="1000"/>
              </a:spcAft>
              <a:defRPr sz="2000" b="1">
                <a:solidFill>
                  <a:srgbClr val="15365B"/>
                </a:solidFill>
                <a:latin typeface="DejaVu Sans"/>
              </a:defRPr>
            </a:pPr>
            <a:r>
              <a:t>Modelni asosli tanlash</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1678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0058400" cy="274320"/>
          </a:xfrm>
          <a:prstGeom prst="rect">
            <a:avLst/>
          </a:prstGeom>
          <a:noFill/>
        </p:spPr>
        <p:txBody>
          <a:bodyPr wrap="square" lIns="27432" rIns="27432" tIns="18288" bIns="0">
            <a:spAutoFit/>
          </a:bodyPr>
          <a:lstStyle/>
          <a:p>
            <a:pPr>
              <a:spcAft>
                <a:spcPts val="1000"/>
              </a:spcAft>
              <a:defRPr sz="1100" b="1">
                <a:solidFill>
                  <a:srgbClr val="1678D2"/>
                </a:solidFill>
                <a:latin typeface="DejaVu Sans"/>
              </a:defRPr>
            </a:pPr>
            <a:r>
              <a:t>M04 · ASOSIY TUSHUNCHA 1/6</a:t>
            </a:r>
          </a:p>
        </p:txBody>
      </p:sp>
      <p:sp>
        <p:nvSpPr>
          <p:cNvPr id="4" name="TextBox 3"/>
          <p:cNvSpPr txBox="1"/>
          <p:nvPr/>
        </p:nvSpPr>
        <p:spPr>
          <a:xfrm>
            <a:off x="502920" y="777240"/>
            <a:ext cx="11155680" cy="960120"/>
          </a:xfrm>
          <a:prstGeom prst="rect">
            <a:avLst/>
          </a:prstGeom>
          <a:noFill/>
        </p:spPr>
        <p:txBody>
          <a:bodyPr wrap="square" lIns="27432" rIns="27432" tIns="18288" bIns="0">
            <a:spAutoFit/>
          </a:bodyPr>
          <a:lstStyle/>
          <a:p>
            <a:pPr>
              <a:spcAft>
                <a:spcPts val="1000"/>
              </a:spcAft>
              <a:defRPr sz="2900" b="1">
                <a:solidFill>
                  <a:srgbClr val="15365B"/>
                </a:solidFill>
                <a:latin typeface="DejaVu Sans"/>
              </a:defRPr>
            </a:pPr>
            <a:r>
              <a:t>Public Cloud</a:t>
            </a:r>
          </a:p>
        </p:txBody>
      </p:sp>
      <p:sp>
        <p:nvSpPr>
          <p:cNvPr id="5" name="Rectangle 4"/>
          <p:cNvSpPr/>
          <p:nvPr/>
        </p:nvSpPr>
        <p:spPr>
          <a:xfrm>
            <a:off x="548640" y="6428232"/>
            <a:ext cx="11064240" cy="10972"/>
          </a:xfrm>
          <a:prstGeom prst="rect">
            <a:avLst/>
          </a:prstGeom>
          <a:solidFill>
            <a:srgbClr val="CEE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9144000" cy="182880"/>
          </a:xfrm>
          <a:prstGeom prst="rect">
            <a:avLst/>
          </a:prstGeom>
          <a:noFill/>
        </p:spPr>
        <p:txBody>
          <a:bodyPr wrap="square" lIns="27432" rIns="27432" tIns="18288" bIns="0">
            <a:spAutoFit/>
          </a:bodyPr>
          <a:lstStyle/>
          <a:p>
            <a:pPr>
              <a:spcAft>
                <a:spcPts val="1000"/>
              </a:spcAft>
              <a:defRPr sz="900" b="0">
                <a:solidFill>
                  <a:srgbClr val="53687D"/>
                </a:solidFill>
                <a:latin typeface="DejaVu Sans"/>
              </a:defRPr>
            </a:pPr>
            <a:r>
              <a:t>BTST206  •  BULUT TEXNOLOGIYALARI VA SERVISLAR  •  2027–2028</a:t>
            </a:r>
          </a:p>
        </p:txBody>
      </p:sp>
      <p:sp>
        <p:nvSpPr>
          <p:cNvPr id="7" name="TextBox 6"/>
          <p:cNvSpPr txBox="1"/>
          <p:nvPr/>
        </p:nvSpPr>
        <p:spPr>
          <a:xfrm>
            <a:off x="10607040" y="6473952"/>
            <a:ext cx="1005840" cy="274320"/>
          </a:xfrm>
          <a:prstGeom prst="rect">
            <a:avLst/>
          </a:prstGeom>
          <a:noFill/>
        </p:spPr>
        <p:txBody>
          <a:bodyPr wrap="square" lIns="27432" rIns="27432" tIns="18288" bIns="0">
            <a:spAutoFit/>
          </a:bodyPr>
          <a:lstStyle/>
          <a:p>
            <a:pPr>
              <a:spcAft>
                <a:spcPts val="1000"/>
              </a:spcAft>
              <a:defRPr sz="1200" b="1">
                <a:solidFill>
                  <a:srgbClr val="1678D2"/>
                </a:solidFill>
                <a:latin typeface="DejaVu Sans"/>
              </a:defRPr>
            </a:pPr>
            <a:r>
              <a:t>03</a:t>
            </a:r>
          </a:p>
        </p:txBody>
      </p:sp>
      <p:sp>
        <p:nvSpPr>
          <p:cNvPr id="8" name="TextBox 7"/>
          <p:cNvSpPr txBox="1"/>
          <p:nvPr/>
        </p:nvSpPr>
        <p:spPr>
          <a:xfrm>
            <a:off x="594360" y="1865376"/>
            <a:ext cx="7086600" cy="1143000"/>
          </a:xfrm>
          <a:prstGeom prst="rect">
            <a:avLst/>
          </a:prstGeom>
          <a:noFill/>
        </p:spPr>
        <p:txBody>
          <a:bodyPr wrap="square" lIns="27432" rIns="27432" tIns="18288" bIns="0">
            <a:spAutoFit/>
          </a:bodyPr>
          <a:lstStyle/>
          <a:p>
            <a:pPr>
              <a:spcAft>
                <a:spcPts val="1000"/>
              </a:spcAft>
              <a:defRPr sz="3000" b="1">
                <a:solidFill>
                  <a:srgbClr val="1678D2"/>
                </a:solidFill>
                <a:latin typeface="DejaVu Sans"/>
              </a:defRPr>
            </a:pPr>
            <a:r>
              <a:t>Provayder resurslari ko‘plab mijozlarga xizmat qiladi.</a:t>
            </a:r>
          </a:p>
        </p:txBody>
      </p:sp>
      <p:sp>
        <p:nvSpPr>
          <p:cNvPr id="9" name="Rounded Rectangle 8"/>
          <p:cNvSpPr/>
          <p:nvPr/>
        </p:nvSpPr>
        <p:spPr>
          <a:xfrm>
            <a:off x="594360" y="3337560"/>
            <a:ext cx="7040880" cy="2039112"/>
          </a:xfrm>
          <a:prstGeom prst="roundRect">
            <a:avLst>
              <a:gd name="adj" fmla="val 8000"/>
            </a:avLst>
          </a:prstGeom>
          <a:solidFill>
            <a:srgbClr val="EA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3538728"/>
            <a:ext cx="6556248" cy="1783080"/>
          </a:xfrm>
          <a:prstGeom prst="rect">
            <a:avLst/>
          </a:prstGeom>
          <a:noFill/>
        </p:spPr>
        <p:txBody>
          <a:bodyPr wrap="square" lIns="27432" rIns="27432" tIns="18288" bIns="0">
            <a:spAutoFit/>
          </a:bodyPr>
          <a:lstStyle/>
          <a:p>
            <a:pPr>
              <a:spcAft>
                <a:spcPts val="1000"/>
              </a:spcAft>
              <a:defRPr sz="2300" b="0">
                <a:solidFill>
                  <a:srgbClr val="15365B"/>
                </a:solidFill>
                <a:latin typeface="DejaVu Sans"/>
              </a:defRPr>
            </a:pPr>
            <a:r>
              <a:t>Universitetning ochiq yangiliklar sayti ommaviy bulutdagi veb-platformada ishlaydi; bazaga esa faqat ilova kira oladi.</a:t>
            </a:r>
          </a:p>
        </p:txBody>
      </p:sp>
      <p:sp>
        <p:nvSpPr>
          <p:cNvPr id="11" name="Rounded Rectangle 10"/>
          <p:cNvSpPr/>
          <p:nvPr/>
        </p:nvSpPr>
        <p:spPr>
          <a:xfrm>
            <a:off x="8183879" y="4965192"/>
            <a:ext cx="3063240" cy="146304"/>
          </a:xfrm>
          <a:prstGeom prst="roundRect">
            <a:avLst>
              <a:gd name="adj" fmla="val 8000"/>
            </a:avLst>
          </a:prstGeom>
          <a:solidFill>
            <a:srgbClr val="EA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Freeform 11"/>
          <p:cNvSpPr/>
          <p:nvPr/>
        </p:nvSpPr>
        <p:spPr>
          <a:xfrm>
            <a:off x="8321040" y="3120390"/>
            <a:ext cx="1042416" cy="217170"/>
          </a:xfrm>
          <a:custGeom>
            <a:avLst/>
            <a:gdLst/>
            <a:ahLst/>
            <a:cxnLst/>
            <a:rect l="l" t="t" r="r" b="b"/>
            <a:pathLst>
              <a:path w="1042416" h="217170">
                <a:moveTo>
                  <a:pt x="0" y="217170"/>
                </a:moveTo>
                <a:lnTo>
                  <a:pt x="825246" y="217170"/>
                </a:lnTo>
                <a:lnTo>
                  <a:pt x="1042416" y="0"/>
                </a:lnTo>
                <a:lnTo>
                  <a:pt x="217170" y="0"/>
                </a:lnTo>
                <a:close/>
              </a:path>
            </a:pathLst>
          </a:custGeom>
          <a:solidFill>
            <a:srgbClr val="DAE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Freeform 12"/>
          <p:cNvSpPr/>
          <p:nvPr/>
        </p:nvSpPr>
        <p:spPr>
          <a:xfrm>
            <a:off x="9146286" y="3120390"/>
            <a:ext cx="217170" cy="1780793"/>
          </a:xfrm>
          <a:custGeom>
            <a:avLst/>
            <a:gdLst/>
            <a:ahLst/>
            <a:cxnLst/>
            <a:rect l="l" t="t" r="r" b="b"/>
            <a:pathLst>
              <a:path w="217170" h="1780793">
                <a:moveTo>
                  <a:pt x="0" y="217170"/>
                </a:moveTo>
                <a:lnTo>
                  <a:pt x="217170" y="0"/>
                </a:lnTo>
                <a:lnTo>
                  <a:pt x="217170" y="1563624"/>
                </a:lnTo>
                <a:lnTo>
                  <a:pt x="0" y="1780793"/>
                </a:lnTo>
                <a:close/>
              </a:path>
            </a:pathLst>
          </a:custGeom>
          <a:solidFill>
            <a:srgbClr val="7EB7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321040" y="3337560"/>
            <a:ext cx="825246" cy="1563624"/>
          </a:xfrm>
          <a:prstGeom prst="rect">
            <a:avLst/>
          </a:prstGeom>
          <a:solidFill>
            <a:srgbClr val="D7EA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407908" y="3493922"/>
            <a:ext cx="642823" cy="156362"/>
          </a:xfrm>
          <a:prstGeom prst="rect">
            <a:avLst/>
          </a:prstGeom>
          <a:solidFill>
            <a:srgbClr val="1536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894368" y="3537356"/>
            <a:ext cx="52120" cy="43434"/>
          </a:xfrm>
          <a:prstGeom prst="rect">
            <a:avLst/>
          </a:prstGeom>
          <a:solidFill>
            <a:srgbClr val="5CC9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407908" y="3737152"/>
            <a:ext cx="642823" cy="156362"/>
          </a:xfrm>
          <a:prstGeom prst="rect">
            <a:avLst/>
          </a:prstGeom>
          <a:solidFill>
            <a:srgbClr val="1536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894368" y="3780586"/>
            <a:ext cx="52120" cy="43434"/>
          </a:xfrm>
          <a:prstGeom prst="rect">
            <a:avLst/>
          </a:prstGeom>
          <a:solidFill>
            <a:srgbClr val="5CC9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407908" y="3980383"/>
            <a:ext cx="642823" cy="156362"/>
          </a:xfrm>
          <a:prstGeom prst="rect">
            <a:avLst/>
          </a:prstGeom>
          <a:solidFill>
            <a:srgbClr val="1536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894368" y="4023817"/>
            <a:ext cx="52120" cy="43434"/>
          </a:xfrm>
          <a:prstGeom prst="rect">
            <a:avLst/>
          </a:prstGeom>
          <a:solidFill>
            <a:srgbClr val="5CC9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407908" y="4223613"/>
            <a:ext cx="642823" cy="156362"/>
          </a:xfrm>
          <a:prstGeom prst="rect">
            <a:avLst/>
          </a:prstGeom>
          <a:solidFill>
            <a:srgbClr val="1536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894368" y="4267047"/>
            <a:ext cx="52120" cy="43434"/>
          </a:xfrm>
          <a:prstGeom prst="rect">
            <a:avLst/>
          </a:prstGeom>
          <a:solidFill>
            <a:srgbClr val="5CC9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407908" y="4466844"/>
            <a:ext cx="642823" cy="156362"/>
          </a:xfrm>
          <a:prstGeom prst="rect">
            <a:avLst/>
          </a:prstGeom>
          <a:solidFill>
            <a:srgbClr val="1536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894368" y="4510278"/>
            <a:ext cx="52120" cy="43434"/>
          </a:xfrm>
          <a:prstGeom prst="rect">
            <a:avLst/>
          </a:prstGeom>
          <a:solidFill>
            <a:srgbClr val="5CC9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Freeform 24"/>
          <p:cNvSpPr/>
          <p:nvPr/>
        </p:nvSpPr>
        <p:spPr>
          <a:xfrm>
            <a:off x="9628632" y="2811779"/>
            <a:ext cx="1207008" cy="251460"/>
          </a:xfrm>
          <a:custGeom>
            <a:avLst/>
            <a:gdLst/>
            <a:ahLst/>
            <a:cxnLst/>
            <a:rect l="l" t="t" r="r" b="b"/>
            <a:pathLst>
              <a:path w="1207008" h="251460">
                <a:moveTo>
                  <a:pt x="0" y="251460"/>
                </a:moveTo>
                <a:lnTo>
                  <a:pt x="955548" y="251460"/>
                </a:lnTo>
                <a:lnTo>
                  <a:pt x="1207008" y="0"/>
                </a:lnTo>
                <a:lnTo>
                  <a:pt x="251460" y="0"/>
                </a:lnTo>
                <a:close/>
              </a:path>
            </a:pathLst>
          </a:custGeom>
          <a:solidFill>
            <a:srgbClr val="DAE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Freeform 25"/>
          <p:cNvSpPr/>
          <p:nvPr/>
        </p:nvSpPr>
        <p:spPr>
          <a:xfrm>
            <a:off x="10584180" y="2811779"/>
            <a:ext cx="251460" cy="2061973"/>
          </a:xfrm>
          <a:custGeom>
            <a:avLst/>
            <a:gdLst/>
            <a:ahLst/>
            <a:cxnLst/>
            <a:rect l="l" t="t" r="r" b="b"/>
            <a:pathLst>
              <a:path w="251460" h="2061973">
                <a:moveTo>
                  <a:pt x="0" y="251460"/>
                </a:moveTo>
                <a:lnTo>
                  <a:pt x="251460" y="0"/>
                </a:lnTo>
                <a:lnTo>
                  <a:pt x="251460" y="1810513"/>
                </a:lnTo>
                <a:lnTo>
                  <a:pt x="0" y="2061973"/>
                </a:lnTo>
                <a:close/>
              </a:path>
            </a:pathLst>
          </a:custGeom>
          <a:solidFill>
            <a:srgbClr val="7EB7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9628632" y="3063239"/>
            <a:ext cx="955547" cy="1810512"/>
          </a:xfrm>
          <a:prstGeom prst="rect">
            <a:avLst/>
          </a:prstGeom>
          <a:solidFill>
            <a:srgbClr val="D7EA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729215" y="3244291"/>
            <a:ext cx="744321" cy="181051"/>
          </a:xfrm>
          <a:prstGeom prst="rect">
            <a:avLst/>
          </a:prstGeom>
          <a:solidFill>
            <a:srgbClr val="1536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10292486" y="3294583"/>
            <a:ext cx="60350" cy="50292"/>
          </a:xfrm>
          <a:prstGeom prst="rect">
            <a:avLst/>
          </a:prstGeom>
          <a:solidFill>
            <a:srgbClr val="5CC9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729215" y="3525926"/>
            <a:ext cx="744321" cy="181051"/>
          </a:xfrm>
          <a:prstGeom prst="rect">
            <a:avLst/>
          </a:prstGeom>
          <a:solidFill>
            <a:srgbClr val="1536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10292486" y="3576218"/>
            <a:ext cx="60350" cy="50292"/>
          </a:xfrm>
          <a:prstGeom prst="rect">
            <a:avLst/>
          </a:prstGeom>
          <a:solidFill>
            <a:srgbClr val="5CC9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729215" y="3807561"/>
            <a:ext cx="744321" cy="181051"/>
          </a:xfrm>
          <a:prstGeom prst="rect">
            <a:avLst/>
          </a:prstGeom>
          <a:solidFill>
            <a:srgbClr val="1536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10292486" y="3857853"/>
            <a:ext cx="60350" cy="50292"/>
          </a:xfrm>
          <a:prstGeom prst="rect">
            <a:avLst/>
          </a:prstGeom>
          <a:solidFill>
            <a:srgbClr val="5CC9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729215" y="4089196"/>
            <a:ext cx="744321" cy="181051"/>
          </a:xfrm>
          <a:prstGeom prst="rect">
            <a:avLst/>
          </a:prstGeom>
          <a:solidFill>
            <a:srgbClr val="1536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10292486" y="4139488"/>
            <a:ext cx="60350" cy="50292"/>
          </a:xfrm>
          <a:prstGeom prst="rect">
            <a:avLst/>
          </a:prstGeom>
          <a:solidFill>
            <a:srgbClr val="5CC9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729215" y="4370831"/>
            <a:ext cx="744321" cy="181051"/>
          </a:xfrm>
          <a:prstGeom prst="rect">
            <a:avLst/>
          </a:prstGeom>
          <a:solidFill>
            <a:srgbClr val="1536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10292486" y="4421124"/>
            <a:ext cx="60350" cy="50292"/>
          </a:xfrm>
          <a:prstGeom prst="rect">
            <a:avLst/>
          </a:prstGeom>
          <a:solidFill>
            <a:srgbClr val="5CC9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Cloud 37"/>
          <p:cNvSpPr/>
          <p:nvPr/>
        </p:nvSpPr>
        <p:spPr>
          <a:xfrm>
            <a:off x="8668512" y="2103120"/>
            <a:ext cx="2286000" cy="1188720"/>
          </a:xfrm>
          <a:prstGeom prst="cloud">
            <a:avLst/>
          </a:prstGeom>
          <a:solidFill>
            <a:srgbClr val="D8F1FF"/>
          </a:solidFill>
          <a:ln>
            <a:solidFill>
              <a:srgbClr val="5CC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1678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0058400" cy="274320"/>
          </a:xfrm>
          <a:prstGeom prst="rect">
            <a:avLst/>
          </a:prstGeom>
          <a:noFill/>
        </p:spPr>
        <p:txBody>
          <a:bodyPr wrap="square" lIns="27432" rIns="27432" tIns="18288" bIns="0">
            <a:spAutoFit/>
          </a:bodyPr>
          <a:lstStyle/>
          <a:p>
            <a:pPr>
              <a:spcAft>
                <a:spcPts val="1000"/>
              </a:spcAft>
              <a:defRPr sz="1100" b="1">
                <a:solidFill>
                  <a:srgbClr val="1678D2"/>
                </a:solidFill>
                <a:latin typeface="DejaVu Sans"/>
              </a:defRPr>
            </a:pPr>
            <a:r>
              <a:t>M04 · ASOSIY TUSHUNCHA 2/6</a:t>
            </a:r>
          </a:p>
        </p:txBody>
      </p:sp>
      <p:sp>
        <p:nvSpPr>
          <p:cNvPr id="4" name="TextBox 3"/>
          <p:cNvSpPr txBox="1"/>
          <p:nvPr/>
        </p:nvSpPr>
        <p:spPr>
          <a:xfrm>
            <a:off x="502920" y="777240"/>
            <a:ext cx="11155680" cy="960120"/>
          </a:xfrm>
          <a:prstGeom prst="rect">
            <a:avLst/>
          </a:prstGeom>
          <a:noFill/>
        </p:spPr>
        <p:txBody>
          <a:bodyPr wrap="square" lIns="27432" rIns="27432" tIns="18288" bIns="0">
            <a:spAutoFit/>
          </a:bodyPr>
          <a:lstStyle/>
          <a:p>
            <a:pPr>
              <a:spcAft>
                <a:spcPts val="1000"/>
              </a:spcAft>
              <a:defRPr sz="2900" b="1">
                <a:solidFill>
                  <a:srgbClr val="15365B"/>
                </a:solidFill>
                <a:latin typeface="DejaVu Sans"/>
              </a:defRPr>
            </a:pPr>
            <a:r>
              <a:t>Private Cloud</a:t>
            </a:r>
          </a:p>
        </p:txBody>
      </p:sp>
      <p:sp>
        <p:nvSpPr>
          <p:cNvPr id="5" name="Rectangle 4"/>
          <p:cNvSpPr/>
          <p:nvPr/>
        </p:nvSpPr>
        <p:spPr>
          <a:xfrm>
            <a:off x="548640" y="6428232"/>
            <a:ext cx="11064240" cy="10972"/>
          </a:xfrm>
          <a:prstGeom prst="rect">
            <a:avLst/>
          </a:prstGeom>
          <a:solidFill>
            <a:srgbClr val="CEE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9144000" cy="182880"/>
          </a:xfrm>
          <a:prstGeom prst="rect">
            <a:avLst/>
          </a:prstGeom>
          <a:noFill/>
        </p:spPr>
        <p:txBody>
          <a:bodyPr wrap="square" lIns="27432" rIns="27432" tIns="18288" bIns="0">
            <a:spAutoFit/>
          </a:bodyPr>
          <a:lstStyle/>
          <a:p>
            <a:pPr>
              <a:spcAft>
                <a:spcPts val="1000"/>
              </a:spcAft>
              <a:defRPr sz="900" b="0">
                <a:solidFill>
                  <a:srgbClr val="53687D"/>
                </a:solidFill>
                <a:latin typeface="DejaVu Sans"/>
              </a:defRPr>
            </a:pPr>
            <a:r>
              <a:t>BTST206  •  BULUT TEXNOLOGIYALARI VA SERVISLAR  •  2027–2028</a:t>
            </a:r>
          </a:p>
        </p:txBody>
      </p:sp>
      <p:sp>
        <p:nvSpPr>
          <p:cNvPr id="7" name="TextBox 6"/>
          <p:cNvSpPr txBox="1"/>
          <p:nvPr/>
        </p:nvSpPr>
        <p:spPr>
          <a:xfrm>
            <a:off x="10607040" y="6473952"/>
            <a:ext cx="1005840" cy="274320"/>
          </a:xfrm>
          <a:prstGeom prst="rect">
            <a:avLst/>
          </a:prstGeom>
          <a:noFill/>
        </p:spPr>
        <p:txBody>
          <a:bodyPr wrap="square" lIns="27432" rIns="27432" tIns="18288" bIns="0">
            <a:spAutoFit/>
          </a:bodyPr>
          <a:lstStyle/>
          <a:p>
            <a:pPr>
              <a:spcAft>
                <a:spcPts val="1000"/>
              </a:spcAft>
              <a:defRPr sz="1200" b="1">
                <a:solidFill>
                  <a:srgbClr val="1678D2"/>
                </a:solidFill>
                <a:latin typeface="DejaVu Sans"/>
              </a:defRPr>
            </a:pPr>
            <a:r>
              <a:t>04</a:t>
            </a:r>
          </a:p>
        </p:txBody>
      </p:sp>
      <p:sp>
        <p:nvSpPr>
          <p:cNvPr id="8" name="Rounded Rectangle 7"/>
          <p:cNvSpPr/>
          <p:nvPr/>
        </p:nvSpPr>
        <p:spPr>
          <a:xfrm>
            <a:off x="594360" y="1965960"/>
            <a:ext cx="5321808" cy="3502152"/>
          </a:xfrm>
          <a:prstGeom prst="roundRect">
            <a:avLst>
              <a:gd name="adj" fmla="val 8000"/>
            </a:avLst>
          </a:prstGeom>
          <a:solidFill>
            <a:srgbClr val="EA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240280"/>
            <a:ext cx="4828032" cy="365760"/>
          </a:xfrm>
          <a:prstGeom prst="rect">
            <a:avLst/>
          </a:prstGeom>
          <a:noFill/>
        </p:spPr>
        <p:txBody>
          <a:bodyPr wrap="square" lIns="27432" rIns="27432" tIns="18288" bIns="0">
            <a:spAutoFit/>
          </a:bodyPr>
          <a:lstStyle/>
          <a:p>
            <a:pPr>
              <a:spcAft>
                <a:spcPts val="1000"/>
              </a:spcAft>
              <a:defRPr sz="1300" b="1">
                <a:solidFill>
                  <a:srgbClr val="1678D2"/>
                </a:solidFill>
                <a:latin typeface="DejaVu Sans"/>
              </a:defRPr>
            </a:pPr>
            <a:r>
              <a:t>QANDAY ISHLAYDI?</a:t>
            </a:r>
          </a:p>
        </p:txBody>
      </p:sp>
      <p:sp>
        <p:nvSpPr>
          <p:cNvPr id="10" name="TextBox 9"/>
          <p:cNvSpPr txBox="1"/>
          <p:nvPr/>
        </p:nvSpPr>
        <p:spPr>
          <a:xfrm>
            <a:off x="822960" y="2852928"/>
            <a:ext cx="4818888" cy="2331720"/>
          </a:xfrm>
          <a:prstGeom prst="rect">
            <a:avLst/>
          </a:prstGeom>
          <a:noFill/>
        </p:spPr>
        <p:txBody>
          <a:bodyPr wrap="square" lIns="27432" rIns="27432" tIns="18288" bIns="0">
            <a:spAutoFit/>
          </a:bodyPr>
          <a:lstStyle/>
          <a:p>
            <a:pPr>
              <a:spcAft>
                <a:spcPts val="1000"/>
              </a:spcAft>
              <a:defRPr sz="2500" b="0">
                <a:solidFill>
                  <a:srgbClr val="15365B"/>
                </a:solidFill>
                <a:latin typeface="DejaVu Sans"/>
              </a:defRPr>
            </a:pPr>
            <a:r>
              <a:t>Avtomatlashtirilgan resurs ajratish, markaziy boshqaruv va xizmat katalogi xususiy bulutni oddiy server xonasidan farqlaydi.</a:t>
            </a:r>
          </a:p>
        </p:txBody>
      </p:sp>
      <p:sp>
        <p:nvSpPr>
          <p:cNvPr id="11" name="Rounded Rectangle 10"/>
          <p:cNvSpPr/>
          <p:nvPr/>
        </p:nvSpPr>
        <p:spPr>
          <a:xfrm>
            <a:off x="6263640" y="1965960"/>
            <a:ext cx="5321808" cy="3502152"/>
          </a:xfrm>
          <a:prstGeom prst="roundRect">
            <a:avLst>
              <a:gd name="adj" fmla="val 8000"/>
            </a:avLst>
          </a:prstGeom>
          <a:solidFill>
            <a:srgbClr val="EA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92240" y="2240280"/>
            <a:ext cx="4828032" cy="365760"/>
          </a:xfrm>
          <a:prstGeom prst="rect">
            <a:avLst/>
          </a:prstGeom>
          <a:noFill/>
        </p:spPr>
        <p:txBody>
          <a:bodyPr wrap="square" lIns="27432" rIns="27432" tIns="18288" bIns="0">
            <a:spAutoFit/>
          </a:bodyPr>
          <a:lstStyle/>
          <a:p>
            <a:pPr>
              <a:spcAft>
                <a:spcPts val="1000"/>
              </a:spcAft>
              <a:defRPr sz="1300" b="1">
                <a:solidFill>
                  <a:srgbClr val="1678D2"/>
                </a:solidFill>
                <a:latin typeface="DejaVu Sans"/>
              </a:defRPr>
            </a:pPr>
            <a:r>
              <a:t>ESDA SAQLANG</a:t>
            </a:r>
          </a:p>
        </p:txBody>
      </p:sp>
      <p:sp>
        <p:nvSpPr>
          <p:cNvPr id="13" name="TextBox 12"/>
          <p:cNvSpPr txBox="1"/>
          <p:nvPr/>
        </p:nvSpPr>
        <p:spPr>
          <a:xfrm>
            <a:off x="6492240" y="2852928"/>
            <a:ext cx="4818888" cy="2331720"/>
          </a:xfrm>
          <a:prstGeom prst="rect">
            <a:avLst/>
          </a:prstGeom>
          <a:noFill/>
        </p:spPr>
        <p:txBody>
          <a:bodyPr wrap="square" lIns="27432" rIns="27432" tIns="18288" bIns="0">
            <a:spAutoFit/>
          </a:bodyPr>
          <a:lstStyle/>
          <a:p>
            <a:pPr>
              <a:spcAft>
                <a:spcPts val="1000"/>
              </a:spcAft>
              <a:defRPr sz="2500" b="0">
                <a:solidFill>
                  <a:srgbClr val="15365B"/>
                </a:solidFill>
                <a:latin typeface="DejaVu Sans"/>
              </a:defRPr>
            </a:pPr>
            <a:r>
              <a:t>Faqat lokal serverga ega bo‘lish hali to‘liq xususiy bulut qurilganini bildirmaydi.</a:t>
            </a:r>
          </a:p>
        </p:txBody>
      </p:sp>
      <p:sp>
        <p:nvSpPr>
          <p:cNvPr id="14" name="TextBox 13"/>
          <p:cNvSpPr txBox="1"/>
          <p:nvPr/>
        </p:nvSpPr>
        <p:spPr>
          <a:xfrm>
            <a:off x="640080" y="5742432"/>
            <a:ext cx="10881360" cy="365760"/>
          </a:xfrm>
          <a:prstGeom prst="rect">
            <a:avLst/>
          </a:prstGeom>
          <a:noFill/>
        </p:spPr>
        <p:txBody>
          <a:bodyPr wrap="square" lIns="27432" rIns="27432" tIns="18288" bIns="0">
            <a:spAutoFit/>
          </a:bodyPr>
          <a:lstStyle/>
          <a:p>
            <a:pPr>
              <a:spcAft>
                <a:spcPts val="1000"/>
              </a:spcAft>
              <a:defRPr sz="1800" b="1">
                <a:solidFill>
                  <a:srgbClr val="1678D2"/>
                </a:solidFill>
                <a:latin typeface="DejaVu Sans"/>
              </a:defRPr>
            </a:pPr>
            <a:r>
              <a:t>Faqat bitta tashkilot uchun ajratilgan bulut.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1678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0058400" cy="274320"/>
          </a:xfrm>
          <a:prstGeom prst="rect">
            <a:avLst/>
          </a:prstGeom>
          <a:noFill/>
        </p:spPr>
        <p:txBody>
          <a:bodyPr wrap="square" lIns="27432" rIns="27432" tIns="18288" bIns="0">
            <a:spAutoFit/>
          </a:bodyPr>
          <a:lstStyle/>
          <a:p>
            <a:pPr>
              <a:spcAft>
                <a:spcPts val="1000"/>
              </a:spcAft>
              <a:defRPr sz="1100" b="1">
                <a:solidFill>
                  <a:srgbClr val="1678D2"/>
                </a:solidFill>
                <a:latin typeface="DejaVu Sans"/>
              </a:defRPr>
            </a:pPr>
            <a:r>
              <a:t>M04 · ASOSIY TUSHUNCHA 3/6</a:t>
            </a:r>
          </a:p>
        </p:txBody>
      </p:sp>
      <p:sp>
        <p:nvSpPr>
          <p:cNvPr id="4" name="TextBox 3"/>
          <p:cNvSpPr txBox="1"/>
          <p:nvPr/>
        </p:nvSpPr>
        <p:spPr>
          <a:xfrm>
            <a:off x="502920" y="777240"/>
            <a:ext cx="11155680" cy="960120"/>
          </a:xfrm>
          <a:prstGeom prst="rect">
            <a:avLst/>
          </a:prstGeom>
          <a:noFill/>
        </p:spPr>
        <p:txBody>
          <a:bodyPr wrap="square" lIns="27432" rIns="27432" tIns="18288" bIns="0">
            <a:spAutoFit/>
          </a:bodyPr>
          <a:lstStyle/>
          <a:p>
            <a:pPr>
              <a:spcAft>
                <a:spcPts val="1000"/>
              </a:spcAft>
              <a:defRPr sz="2900" b="1">
                <a:solidFill>
                  <a:srgbClr val="15365B"/>
                </a:solidFill>
                <a:latin typeface="DejaVu Sans"/>
              </a:defRPr>
            </a:pPr>
            <a:r>
              <a:t>Hybrid Cloud</a:t>
            </a:r>
          </a:p>
        </p:txBody>
      </p:sp>
      <p:sp>
        <p:nvSpPr>
          <p:cNvPr id="5" name="Rectangle 4"/>
          <p:cNvSpPr/>
          <p:nvPr/>
        </p:nvSpPr>
        <p:spPr>
          <a:xfrm>
            <a:off x="548640" y="6428232"/>
            <a:ext cx="11064240" cy="10972"/>
          </a:xfrm>
          <a:prstGeom prst="rect">
            <a:avLst/>
          </a:prstGeom>
          <a:solidFill>
            <a:srgbClr val="CEE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9144000" cy="182880"/>
          </a:xfrm>
          <a:prstGeom prst="rect">
            <a:avLst/>
          </a:prstGeom>
          <a:noFill/>
        </p:spPr>
        <p:txBody>
          <a:bodyPr wrap="square" lIns="27432" rIns="27432" tIns="18288" bIns="0">
            <a:spAutoFit/>
          </a:bodyPr>
          <a:lstStyle/>
          <a:p>
            <a:pPr>
              <a:spcAft>
                <a:spcPts val="1000"/>
              </a:spcAft>
              <a:defRPr sz="900" b="0">
                <a:solidFill>
                  <a:srgbClr val="53687D"/>
                </a:solidFill>
                <a:latin typeface="DejaVu Sans"/>
              </a:defRPr>
            </a:pPr>
            <a:r>
              <a:t>BTST206  •  BULUT TEXNOLOGIYALARI VA SERVISLAR  •  2027–2028</a:t>
            </a:r>
          </a:p>
        </p:txBody>
      </p:sp>
      <p:sp>
        <p:nvSpPr>
          <p:cNvPr id="7" name="TextBox 6"/>
          <p:cNvSpPr txBox="1"/>
          <p:nvPr/>
        </p:nvSpPr>
        <p:spPr>
          <a:xfrm>
            <a:off x="10607040" y="6473952"/>
            <a:ext cx="1005840" cy="274320"/>
          </a:xfrm>
          <a:prstGeom prst="rect">
            <a:avLst/>
          </a:prstGeom>
          <a:noFill/>
        </p:spPr>
        <p:txBody>
          <a:bodyPr wrap="square" lIns="27432" rIns="27432" tIns="18288" bIns="0">
            <a:spAutoFit/>
          </a:bodyPr>
          <a:lstStyle/>
          <a:p>
            <a:pPr>
              <a:spcAft>
                <a:spcPts val="1000"/>
              </a:spcAft>
              <a:defRPr sz="1200" b="1">
                <a:solidFill>
                  <a:srgbClr val="1678D2"/>
                </a:solidFill>
                <a:latin typeface="DejaVu Sans"/>
              </a:defRPr>
            </a:pPr>
            <a:r>
              <a:t>05</a:t>
            </a:r>
          </a:p>
        </p:txBody>
      </p:sp>
      <p:sp>
        <p:nvSpPr>
          <p:cNvPr id="8" name="Rectangle 7"/>
          <p:cNvSpPr/>
          <p:nvPr/>
        </p:nvSpPr>
        <p:spPr>
          <a:xfrm>
            <a:off x="594360" y="2011680"/>
            <a:ext cx="100584" cy="3337560"/>
          </a:xfrm>
          <a:prstGeom prst="rect">
            <a:avLst/>
          </a:prstGeom>
          <a:solidFill>
            <a:srgbClr val="1678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32688" y="2075688"/>
            <a:ext cx="9966960" cy="1280160"/>
          </a:xfrm>
          <a:prstGeom prst="rect">
            <a:avLst/>
          </a:prstGeom>
          <a:noFill/>
        </p:spPr>
        <p:txBody>
          <a:bodyPr wrap="square" lIns="27432" rIns="27432" tIns="18288" bIns="0">
            <a:spAutoFit/>
          </a:bodyPr>
          <a:lstStyle/>
          <a:p>
            <a:pPr>
              <a:spcAft>
                <a:spcPts val="1000"/>
              </a:spcAft>
              <a:defRPr sz="3200" b="1">
                <a:solidFill>
                  <a:srgbClr val="1678D2"/>
                </a:solidFill>
                <a:latin typeface="DejaVu Sans"/>
              </a:defRPr>
            </a:pPr>
            <a:r>
              <a:t>Turli muhitlar o‘zaro bog‘lanib ishlaydi.</a:t>
            </a:r>
          </a:p>
        </p:txBody>
      </p:sp>
      <p:sp>
        <p:nvSpPr>
          <p:cNvPr id="10" name="TextBox 9"/>
          <p:cNvSpPr txBox="1"/>
          <p:nvPr/>
        </p:nvSpPr>
        <p:spPr>
          <a:xfrm>
            <a:off x="960120" y="3712463"/>
            <a:ext cx="6629400" cy="1645920"/>
          </a:xfrm>
          <a:prstGeom prst="rect">
            <a:avLst/>
          </a:prstGeom>
          <a:noFill/>
        </p:spPr>
        <p:txBody>
          <a:bodyPr wrap="square" lIns="27432" rIns="27432" tIns="18288" bIns="0">
            <a:spAutoFit/>
          </a:bodyPr>
          <a:lstStyle/>
          <a:p>
            <a:pPr>
              <a:spcAft>
                <a:spcPts val="1000"/>
              </a:spcAft>
              <a:defRPr sz="2400" b="0">
                <a:solidFill>
                  <a:srgbClr val="15365B"/>
                </a:solidFill>
                <a:latin typeface="DejaVu Sans"/>
              </a:defRPr>
            </a:pPr>
            <a:r>
              <a:t>Hybrid Cloud kamida ikki xil bulut muhitining bog‘langan ishlashini anglatadi.</a:t>
            </a:r>
          </a:p>
        </p:txBody>
      </p:sp>
      <p:sp>
        <p:nvSpPr>
          <p:cNvPr id="11" name="Rounded Rectangle 10"/>
          <p:cNvSpPr/>
          <p:nvPr/>
        </p:nvSpPr>
        <p:spPr>
          <a:xfrm>
            <a:off x="8366760" y="3822191"/>
            <a:ext cx="2971800" cy="1335024"/>
          </a:xfrm>
          <a:prstGeom prst="roundRect">
            <a:avLst>
              <a:gd name="adj" fmla="val 8000"/>
            </a:avLst>
          </a:prstGeom>
          <a:solidFill>
            <a:srgbClr val="EA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95360" y="4114800"/>
            <a:ext cx="2514600" cy="822960"/>
          </a:xfrm>
          <a:prstGeom prst="rect">
            <a:avLst/>
          </a:prstGeom>
          <a:noFill/>
        </p:spPr>
        <p:txBody>
          <a:bodyPr wrap="square" lIns="27432" rIns="27432" tIns="18288" bIns="0">
            <a:spAutoFit/>
          </a:bodyPr>
          <a:lstStyle/>
          <a:p>
            <a:pPr>
              <a:spcAft>
                <a:spcPts val="1000"/>
              </a:spcAft>
              <a:defRPr sz="1800" b="1">
                <a:solidFill>
                  <a:srgbClr val="1678D2"/>
                </a:solidFill>
                <a:latin typeface="DejaVu Sans"/>
              </a:defRPr>
            </a:pPr>
            <a:r>
              <a:t>TA’RIF → MISOL</a:t>
            </a:r>
          </a:p>
          <a:p>
            <a:pPr>
              <a:spcAft>
                <a:spcPts val="1000"/>
              </a:spcAft>
              <a:defRPr sz="1800" b="1">
                <a:solidFill>
                  <a:srgbClr val="1678D2"/>
                </a:solidFill>
                <a:latin typeface="DejaVu Sans"/>
              </a:defRPr>
            </a:pPr>
            <a:r>
              <a:t>→ CHEGARA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1678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0058400" cy="274320"/>
          </a:xfrm>
          <a:prstGeom prst="rect">
            <a:avLst/>
          </a:prstGeom>
          <a:noFill/>
        </p:spPr>
        <p:txBody>
          <a:bodyPr wrap="square" lIns="27432" rIns="27432" tIns="18288" bIns="0">
            <a:spAutoFit/>
          </a:bodyPr>
          <a:lstStyle/>
          <a:p>
            <a:pPr>
              <a:spcAft>
                <a:spcPts val="1000"/>
              </a:spcAft>
              <a:defRPr sz="1100" b="1">
                <a:solidFill>
                  <a:srgbClr val="1678D2"/>
                </a:solidFill>
                <a:latin typeface="DejaVu Sans"/>
              </a:defRPr>
            </a:pPr>
            <a:r>
              <a:t>M04 · ASOSIY TUSHUNCHA 4/6</a:t>
            </a:r>
          </a:p>
        </p:txBody>
      </p:sp>
      <p:sp>
        <p:nvSpPr>
          <p:cNvPr id="4" name="TextBox 3"/>
          <p:cNvSpPr txBox="1"/>
          <p:nvPr/>
        </p:nvSpPr>
        <p:spPr>
          <a:xfrm>
            <a:off x="502920" y="777240"/>
            <a:ext cx="11155680" cy="960120"/>
          </a:xfrm>
          <a:prstGeom prst="rect">
            <a:avLst/>
          </a:prstGeom>
          <a:noFill/>
        </p:spPr>
        <p:txBody>
          <a:bodyPr wrap="square" lIns="27432" rIns="27432" tIns="18288" bIns="0">
            <a:spAutoFit/>
          </a:bodyPr>
          <a:lstStyle/>
          <a:p>
            <a:pPr>
              <a:spcAft>
                <a:spcPts val="1000"/>
              </a:spcAft>
              <a:defRPr sz="2900" b="1">
                <a:solidFill>
                  <a:srgbClr val="15365B"/>
                </a:solidFill>
                <a:latin typeface="DejaVu Sans"/>
              </a:defRPr>
            </a:pPr>
            <a:r>
              <a:t>Community Cloud</a:t>
            </a:r>
          </a:p>
        </p:txBody>
      </p:sp>
      <p:sp>
        <p:nvSpPr>
          <p:cNvPr id="5" name="Rectangle 4"/>
          <p:cNvSpPr/>
          <p:nvPr/>
        </p:nvSpPr>
        <p:spPr>
          <a:xfrm>
            <a:off x="548640" y="6428232"/>
            <a:ext cx="11064240" cy="10972"/>
          </a:xfrm>
          <a:prstGeom prst="rect">
            <a:avLst/>
          </a:prstGeom>
          <a:solidFill>
            <a:srgbClr val="CEE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9144000" cy="182880"/>
          </a:xfrm>
          <a:prstGeom prst="rect">
            <a:avLst/>
          </a:prstGeom>
          <a:noFill/>
        </p:spPr>
        <p:txBody>
          <a:bodyPr wrap="square" lIns="27432" rIns="27432" tIns="18288" bIns="0">
            <a:spAutoFit/>
          </a:bodyPr>
          <a:lstStyle/>
          <a:p>
            <a:pPr>
              <a:spcAft>
                <a:spcPts val="1000"/>
              </a:spcAft>
              <a:defRPr sz="900" b="0">
                <a:solidFill>
                  <a:srgbClr val="53687D"/>
                </a:solidFill>
                <a:latin typeface="DejaVu Sans"/>
              </a:defRPr>
            </a:pPr>
            <a:r>
              <a:t>BTST206  •  BULUT TEXNOLOGIYALARI VA SERVISLAR  •  2027–2028</a:t>
            </a:r>
          </a:p>
        </p:txBody>
      </p:sp>
      <p:sp>
        <p:nvSpPr>
          <p:cNvPr id="7" name="TextBox 6"/>
          <p:cNvSpPr txBox="1"/>
          <p:nvPr/>
        </p:nvSpPr>
        <p:spPr>
          <a:xfrm>
            <a:off x="10607040" y="6473952"/>
            <a:ext cx="1005840" cy="274320"/>
          </a:xfrm>
          <a:prstGeom prst="rect">
            <a:avLst/>
          </a:prstGeom>
          <a:noFill/>
        </p:spPr>
        <p:txBody>
          <a:bodyPr wrap="square" lIns="27432" rIns="27432" tIns="18288" bIns="0">
            <a:spAutoFit/>
          </a:bodyPr>
          <a:lstStyle/>
          <a:p>
            <a:pPr>
              <a:spcAft>
                <a:spcPts val="1000"/>
              </a:spcAft>
              <a:defRPr sz="1200" b="1">
                <a:solidFill>
                  <a:srgbClr val="1678D2"/>
                </a:solidFill>
                <a:latin typeface="DejaVu Sans"/>
              </a:defRPr>
            </a:pPr>
            <a:r>
              <a:t>06</a:t>
            </a:r>
          </a:p>
        </p:txBody>
      </p:sp>
      <p:sp>
        <p:nvSpPr>
          <p:cNvPr id="8" name="TextBox 7"/>
          <p:cNvSpPr txBox="1"/>
          <p:nvPr/>
        </p:nvSpPr>
        <p:spPr>
          <a:xfrm>
            <a:off x="594360" y="1865376"/>
            <a:ext cx="7086600" cy="1143000"/>
          </a:xfrm>
          <a:prstGeom prst="rect">
            <a:avLst/>
          </a:prstGeom>
          <a:noFill/>
        </p:spPr>
        <p:txBody>
          <a:bodyPr wrap="square" lIns="27432" rIns="27432" tIns="18288" bIns="0">
            <a:spAutoFit/>
          </a:bodyPr>
          <a:lstStyle/>
          <a:p>
            <a:pPr>
              <a:spcAft>
                <a:spcPts val="1000"/>
              </a:spcAft>
              <a:defRPr sz="3000" b="1">
                <a:solidFill>
                  <a:srgbClr val="1678D2"/>
                </a:solidFill>
                <a:latin typeface="DejaVu Sans"/>
              </a:defRPr>
            </a:pPr>
            <a:r>
              <a:t>Umumiy talabli tashkilotlar uchun birgalikdagi muhit.</a:t>
            </a:r>
          </a:p>
        </p:txBody>
      </p:sp>
      <p:sp>
        <p:nvSpPr>
          <p:cNvPr id="9" name="Rounded Rectangle 8"/>
          <p:cNvSpPr/>
          <p:nvPr/>
        </p:nvSpPr>
        <p:spPr>
          <a:xfrm>
            <a:off x="594360" y="3337560"/>
            <a:ext cx="7040880" cy="2039112"/>
          </a:xfrm>
          <a:prstGeom prst="roundRect">
            <a:avLst>
              <a:gd name="adj" fmla="val 8000"/>
            </a:avLst>
          </a:prstGeom>
          <a:solidFill>
            <a:srgbClr val="EA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3538728"/>
            <a:ext cx="6556248" cy="1783080"/>
          </a:xfrm>
          <a:prstGeom prst="rect">
            <a:avLst/>
          </a:prstGeom>
          <a:noFill/>
        </p:spPr>
        <p:txBody>
          <a:bodyPr wrap="square" lIns="27432" rIns="27432" tIns="18288" bIns="0">
            <a:spAutoFit/>
          </a:bodyPr>
          <a:lstStyle/>
          <a:p>
            <a:pPr>
              <a:spcAft>
                <a:spcPts val="1000"/>
              </a:spcAft>
              <a:defRPr sz="2300" b="0">
                <a:solidFill>
                  <a:srgbClr val="15365B"/>
                </a:solidFill>
                <a:latin typeface="DejaVu Sans"/>
              </a:defRPr>
            </a:pPr>
            <a:r>
              <a:t>Bir nechta universitet ilmiy hisoblash va katta tajriba ma’lumotlari uchun umumiy bulut platformasidan foydalanadi.</a:t>
            </a:r>
          </a:p>
        </p:txBody>
      </p:sp>
      <p:sp>
        <p:nvSpPr>
          <p:cNvPr id="11" name="Rounded Rectangle 10"/>
          <p:cNvSpPr/>
          <p:nvPr/>
        </p:nvSpPr>
        <p:spPr>
          <a:xfrm>
            <a:off x="8183879" y="4965192"/>
            <a:ext cx="3063240" cy="146304"/>
          </a:xfrm>
          <a:prstGeom prst="roundRect">
            <a:avLst>
              <a:gd name="adj" fmla="val 8000"/>
            </a:avLst>
          </a:prstGeom>
          <a:solidFill>
            <a:srgbClr val="EA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Freeform 11"/>
          <p:cNvSpPr/>
          <p:nvPr/>
        </p:nvSpPr>
        <p:spPr>
          <a:xfrm>
            <a:off x="8321040" y="3120390"/>
            <a:ext cx="1042416" cy="217170"/>
          </a:xfrm>
          <a:custGeom>
            <a:avLst/>
            <a:gdLst/>
            <a:ahLst/>
            <a:cxnLst/>
            <a:rect l="l" t="t" r="r" b="b"/>
            <a:pathLst>
              <a:path w="1042416" h="217170">
                <a:moveTo>
                  <a:pt x="0" y="217170"/>
                </a:moveTo>
                <a:lnTo>
                  <a:pt x="825246" y="217170"/>
                </a:lnTo>
                <a:lnTo>
                  <a:pt x="1042416" y="0"/>
                </a:lnTo>
                <a:lnTo>
                  <a:pt x="217170" y="0"/>
                </a:lnTo>
                <a:close/>
              </a:path>
            </a:pathLst>
          </a:custGeom>
          <a:solidFill>
            <a:srgbClr val="DAE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Freeform 12"/>
          <p:cNvSpPr/>
          <p:nvPr/>
        </p:nvSpPr>
        <p:spPr>
          <a:xfrm>
            <a:off x="9146286" y="3120390"/>
            <a:ext cx="217170" cy="1780793"/>
          </a:xfrm>
          <a:custGeom>
            <a:avLst/>
            <a:gdLst/>
            <a:ahLst/>
            <a:cxnLst/>
            <a:rect l="l" t="t" r="r" b="b"/>
            <a:pathLst>
              <a:path w="217170" h="1780793">
                <a:moveTo>
                  <a:pt x="0" y="217170"/>
                </a:moveTo>
                <a:lnTo>
                  <a:pt x="217170" y="0"/>
                </a:lnTo>
                <a:lnTo>
                  <a:pt x="217170" y="1563624"/>
                </a:lnTo>
                <a:lnTo>
                  <a:pt x="0" y="1780793"/>
                </a:lnTo>
                <a:close/>
              </a:path>
            </a:pathLst>
          </a:custGeom>
          <a:solidFill>
            <a:srgbClr val="7EB7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321040" y="3337560"/>
            <a:ext cx="825246" cy="1563624"/>
          </a:xfrm>
          <a:prstGeom prst="rect">
            <a:avLst/>
          </a:prstGeom>
          <a:solidFill>
            <a:srgbClr val="D7EA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407908" y="3493922"/>
            <a:ext cx="642823" cy="156362"/>
          </a:xfrm>
          <a:prstGeom prst="rect">
            <a:avLst/>
          </a:prstGeom>
          <a:solidFill>
            <a:srgbClr val="1536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894368" y="3537356"/>
            <a:ext cx="52120" cy="43434"/>
          </a:xfrm>
          <a:prstGeom prst="rect">
            <a:avLst/>
          </a:prstGeom>
          <a:solidFill>
            <a:srgbClr val="5CC9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407908" y="3737152"/>
            <a:ext cx="642823" cy="156362"/>
          </a:xfrm>
          <a:prstGeom prst="rect">
            <a:avLst/>
          </a:prstGeom>
          <a:solidFill>
            <a:srgbClr val="1536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894368" y="3780586"/>
            <a:ext cx="52120" cy="43434"/>
          </a:xfrm>
          <a:prstGeom prst="rect">
            <a:avLst/>
          </a:prstGeom>
          <a:solidFill>
            <a:srgbClr val="5CC9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407908" y="3980383"/>
            <a:ext cx="642823" cy="156362"/>
          </a:xfrm>
          <a:prstGeom prst="rect">
            <a:avLst/>
          </a:prstGeom>
          <a:solidFill>
            <a:srgbClr val="1536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894368" y="4023817"/>
            <a:ext cx="52120" cy="43434"/>
          </a:xfrm>
          <a:prstGeom prst="rect">
            <a:avLst/>
          </a:prstGeom>
          <a:solidFill>
            <a:srgbClr val="5CC9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407908" y="4223613"/>
            <a:ext cx="642823" cy="156362"/>
          </a:xfrm>
          <a:prstGeom prst="rect">
            <a:avLst/>
          </a:prstGeom>
          <a:solidFill>
            <a:srgbClr val="1536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894368" y="4267047"/>
            <a:ext cx="52120" cy="43434"/>
          </a:xfrm>
          <a:prstGeom prst="rect">
            <a:avLst/>
          </a:prstGeom>
          <a:solidFill>
            <a:srgbClr val="5CC9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407908" y="4466844"/>
            <a:ext cx="642823" cy="156362"/>
          </a:xfrm>
          <a:prstGeom prst="rect">
            <a:avLst/>
          </a:prstGeom>
          <a:solidFill>
            <a:srgbClr val="1536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894368" y="4510278"/>
            <a:ext cx="52120" cy="43434"/>
          </a:xfrm>
          <a:prstGeom prst="rect">
            <a:avLst/>
          </a:prstGeom>
          <a:solidFill>
            <a:srgbClr val="5CC9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Freeform 24"/>
          <p:cNvSpPr/>
          <p:nvPr/>
        </p:nvSpPr>
        <p:spPr>
          <a:xfrm>
            <a:off x="9628632" y="2811779"/>
            <a:ext cx="1207008" cy="251460"/>
          </a:xfrm>
          <a:custGeom>
            <a:avLst/>
            <a:gdLst/>
            <a:ahLst/>
            <a:cxnLst/>
            <a:rect l="l" t="t" r="r" b="b"/>
            <a:pathLst>
              <a:path w="1207008" h="251460">
                <a:moveTo>
                  <a:pt x="0" y="251460"/>
                </a:moveTo>
                <a:lnTo>
                  <a:pt x="955548" y="251460"/>
                </a:lnTo>
                <a:lnTo>
                  <a:pt x="1207008" y="0"/>
                </a:lnTo>
                <a:lnTo>
                  <a:pt x="251460" y="0"/>
                </a:lnTo>
                <a:close/>
              </a:path>
            </a:pathLst>
          </a:custGeom>
          <a:solidFill>
            <a:srgbClr val="DAE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Freeform 25"/>
          <p:cNvSpPr/>
          <p:nvPr/>
        </p:nvSpPr>
        <p:spPr>
          <a:xfrm>
            <a:off x="10584180" y="2811779"/>
            <a:ext cx="251460" cy="2061973"/>
          </a:xfrm>
          <a:custGeom>
            <a:avLst/>
            <a:gdLst/>
            <a:ahLst/>
            <a:cxnLst/>
            <a:rect l="l" t="t" r="r" b="b"/>
            <a:pathLst>
              <a:path w="251460" h="2061973">
                <a:moveTo>
                  <a:pt x="0" y="251460"/>
                </a:moveTo>
                <a:lnTo>
                  <a:pt x="251460" y="0"/>
                </a:lnTo>
                <a:lnTo>
                  <a:pt x="251460" y="1810513"/>
                </a:lnTo>
                <a:lnTo>
                  <a:pt x="0" y="2061973"/>
                </a:lnTo>
                <a:close/>
              </a:path>
            </a:pathLst>
          </a:custGeom>
          <a:solidFill>
            <a:srgbClr val="7EB7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9628632" y="3063239"/>
            <a:ext cx="955547" cy="1810512"/>
          </a:xfrm>
          <a:prstGeom prst="rect">
            <a:avLst/>
          </a:prstGeom>
          <a:solidFill>
            <a:srgbClr val="D7EA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729215" y="3244291"/>
            <a:ext cx="744321" cy="181051"/>
          </a:xfrm>
          <a:prstGeom prst="rect">
            <a:avLst/>
          </a:prstGeom>
          <a:solidFill>
            <a:srgbClr val="1536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10292486" y="3294583"/>
            <a:ext cx="60350" cy="50292"/>
          </a:xfrm>
          <a:prstGeom prst="rect">
            <a:avLst/>
          </a:prstGeom>
          <a:solidFill>
            <a:srgbClr val="5CC9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729215" y="3525926"/>
            <a:ext cx="744321" cy="181051"/>
          </a:xfrm>
          <a:prstGeom prst="rect">
            <a:avLst/>
          </a:prstGeom>
          <a:solidFill>
            <a:srgbClr val="1536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10292486" y="3576218"/>
            <a:ext cx="60350" cy="50292"/>
          </a:xfrm>
          <a:prstGeom prst="rect">
            <a:avLst/>
          </a:prstGeom>
          <a:solidFill>
            <a:srgbClr val="5CC9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729215" y="3807561"/>
            <a:ext cx="744321" cy="181051"/>
          </a:xfrm>
          <a:prstGeom prst="rect">
            <a:avLst/>
          </a:prstGeom>
          <a:solidFill>
            <a:srgbClr val="1536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10292486" y="3857853"/>
            <a:ext cx="60350" cy="50292"/>
          </a:xfrm>
          <a:prstGeom prst="rect">
            <a:avLst/>
          </a:prstGeom>
          <a:solidFill>
            <a:srgbClr val="5CC9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729215" y="4089196"/>
            <a:ext cx="744321" cy="181051"/>
          </a:xfrm>
          <a:prstGeom prst="rect">
            <a:avLst/>
          </a:prstGeom>
          <a:solidFill>
            <a:srgbClr val="1536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10292486" y="4139488"/>
            <a:ext cx="60350" cy="50292"/>
          </a:xfrm>
          <a:prstGeom prst="rect">
            <a:avLst/>
          </a:prstGeom>
          <a:solidFill>
            <a:srgbClr val="5CC9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729215" y="4370831"/>
            <a:ext cx="744321" cy="181051"/>
          </a:xfrm>
          <a:prstGeom prst="rect">
            <a:avLst/>
          </a:prstGeom>
          <a:solidFill>
            <a:srgbClr val="1536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10292486" y="4421124"/>
            <a:ext cx="60350" cy="50292"/>
          </a:xfrm>
          <a:prstGeom prst="rect">
            <a:avLst/>
          </a:prstGeom>
          <a:solidFill>
            <a:srgbClr val="5CC9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Cloud 37"/>
          <p:cNvSpPr/>
          <p:nvPr/>
        </p:nvSpPr>
        <p:spPr>
          <a:xfrm>
            <a:off x="8668512" y="2103120"/>
            <a:ext cx="2286000" cy="1188720"/>
          </a:xfrm>
          <a:prstGeom prst="cloud">
            <a:avLst/>
          </a:prstGeom>
          <a:solidFill>
            <a:srgbClr val="D8F1FF"/>
          </a:solidFill>
          <a:ln>
            <a:solidFill>
              <a:srgbClr val="5CC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1678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0058400" cy="274320"/>
          </a:xfrm>
          <a:prstGeom prst="rect">
            <a:avLst/>
          </a:prstGeom>
          <a:noFill/>
        </p:spPr>
        <p:txBody>
          <a:bodyPr wrap="square" lIns="27432" rIns="27432" tIns="18288" bIns="0">
            <a:spAutoFit/>
          </a:bodyPr>
          <a:lstStyle/>
          <a:p>
            <a:pPr>
              <a:spcAft>
                <a:spcPts val="1000"/>
              </a:spcAft>
              <a:defRPr sz="1100" b="1">
                <a:solidFill>
                  <a:srgbClr val="1678D2"/>
                </a:solidFill>
                <a:latin typeface="DejaVu Sans"/>
              </a:defRPr>
            </a:pPr>
            <a:r>
              <a:t>M04 · ASOSIY TUSHUNCHA 5/6</a:t>
            </a:r>
          </a:p>
        </p:txBody>
      </p:sp>
      <p:sp>
        <p:nvSpPr>
          <p:cNvPr id="4" name="TextBox 3"/>
          <p:cNvSpPr txBox="1"/>
          <p:nvPr/>
        </p:nvSpPr>
        <p:spPr>
          <a:xfrm>
            <a:off x="502920" y="777240"/>
            <a:ext cx="11155680" cy="960120"/>
          </a:xfrm>
          <a:prstGeom prst="rect">
            <a:avLst/>
          </a:prstGeom>
          <a:noFill/>
        </p:spPr>
        <p:txBody>
          <a:bodyPr wrap="square" lIns="27432" rIns="27432" tIns="18288" bIns="0">
            <a:spAutoFit/>
          </a:bodyPr>
          <a:lstStyle/>
          <a:p>
            <a:pPr>
              <a:spcAft>
                <a:spcPts val="1000"/>
              </a:spcAft>
              <a:defRPr sz="2900" b="1">
                <a:solidFill>
                  <a:srgbClr val="15365B"/>
                </a:solidFill>
                <a:latin typeface="DejaVu Sans"/>
              </a:defRPr>
            </a:pPr>
            <a:r>
              <a:t>Multi-cloud strategiyasi</a:t>
            </a:r>
          </a:p>
        </p:txBody>
      </p:sp>
      <p:sp>
        <p:nvSpPr>
          <p:cNvPr id="5" name="Rectangle 4"/>
          <p:cNvSpPr/>
          <p:nvPr/>
        </p:nvSpPr>
        <p:spPr>
          <a:xfrm>
            <a:off x="548640" y="6428232"/>
            <a:ext cx="11064240" cy="10972"/>
          </a:xfrm>
          <a:prstGeom prst="rect">
            <a:avLst/>
          </a:prstGeom>
          <a:solidFill>
            <a:srgbClr val="CEE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9144000" cy="182880"/>
          </a:xfrm>
          <a:prstGeom prst="rect">
            <a:avLst/>
          </a:prstGeom>
          <a:noFill/>
        </p:spPr>
        <p:txBody>
          <a:bodyPr wrap="square" lIns="27432" rIns="27432" tIns="18288" bIns="0">
            <a:spAutoFit/>
          </a:bodyPr>
          <a:lstStyle/>
          <a:p>
            <a:pPr>
              <a:spcAft>
                <a:spcPts val="1000"/>
              </a:spcAft>
              <a:defRPr sz="900" b="0">
                <a:solidFill>
                  <a:srgbClr val="53687D"/>
                </a:solidFill>
                <a:latin typeface="DejaVu Sans"/>
              </a:defRPr>
            </a:pPr>
            <a:r>
              <a:t>BTST206  •  BULUT TEXNOLOGIYALARI VA SERVISLAR  •  2027–2028</a:t>
            </a:r>
          </a:p>
        </p:txBody>
      </p:sp>
      <p:sp>
        <p:nvSpPr>
          <p:cNvPr id="7" name="TextBox 6"/>
          <p:cNvSpPr txBox="1"/>
          <p:nvPr/>
        </p:nvSpPr>
        <p:spPr>
          <a:xfrm>
            <a:off x="10607040" y="6473952"/>
            <a:ext cx="1005840" cy="274320"/>
          </a:xfrm>
          <a:prstGeom prst="rect">
            <a:avLst/>
          </a:prstGeom>
          <a:noFill/>
        </p:spPr>
        <p:txBody>
          <a:bodyPr wrap="square" lIns="27432" rIns="27432" tIns="18288" bIns="0">
            <a:spAutoFit/>
          </a:bodyPr>
          <a:lstStyle/>
          <a:p>
            <a:pPr>
              <a:spcAft>
                <a:spcPts val="1000"/>
              </a:spcAft>
              <a:defRPr sz="1200" b="1">
                <a:solidFill>
                  <a:srgbClr val="1678D2"/>
                </a:solidFill>
                <a:latin typeface="DejaVu Sans"/>
              </a:defRPr>
            </a:pPr>
            <a:r>
              <a:t>07</a:t>
            </a:r>
          </a:p>
        </p:txBody>
      </p:sp>
      <p:sp>
        <p:nvSpPr>
          <p:cNvPr id="8" name="Rounded Rectangle 7"/>
          <p:cNvSpPr/>
          <p:nvPr/>
        </p:nvSpPr>
        <p:spPr>
          <a:xfrm>
            <a:off x="594360" y="1965960"/>
            <a:ext cx="5321808" cy="3502152"/>
          </a:xfrm>
          <a:prstGeom prst="roundRect">
            <a:avLst>
              <a:gd name="adj" fmla="val 8000"/>
            </a:avLst>
          </a:prstGeom>
          <a:solidFill>
            <a:srgbClr val="EA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240280"/>
            <a:ext cx="4828032" cy="365760"/>
          </a:xfrm>
          <a:prstGeom prst="rect">
            <a:avLst/>
          </a:prstGeom>
          <a:noFill/>
        </p:spPr>
        <p:txBody>
          <a:bodyPr wrap="square" lIns="27432" rIns="27432" tIns="18288" bIns="0">
            <a:spAutoFit/>
          </a:bodyPr>
          <a:lstStyle/>
          <a:p>
            <a:pPr>
              <a:spcAft>
                <a:spcPts val="1000"/>
              </a:spcAft>
              <a:defRPr sz="1300" b="1">
                <a:solidFill>
                  <a:srgbClr val="1678D2"/>
                </a:solidFill>
                <a:latin typeface="DejaVu Sans"/>
              </a:defRPr>
            </a:pPr>
            <a:r>
              <a:t>QANDAY ISHLAYDI?</a:t>
            </a:r>
          </a:p>
        </p:txBody>
      </p:sp>
      <p:sp>
        <p:nvSpPr>
          <p:cNvPr id="10" name="TextBox 9"/>
          <p:cNvSpPr txBox="1"/>
          <p:nvPr/>
        </p:nvSpPr>
        <p:spPr>
          <a:xfrm>
            <a:off x="822960" y="2852928"/>
            <a:ext cx="4818888" cy="2331720"/>
          </a:xfrm>
          <a:prstGeom prst="rect">
            <a:avLst/>
          </a:prstGeom>
          <a:noFill/>
        </p:spPr>
        <p:txBody>
          <a:bodyPr wrap="square" lIns="27432" rIns="27432" tIns="18288" bIns="0">
            <a:spAutoFit/>
          </a:bodyPr>
          <a:lstStyle/>
          <a:p>
            <a:pPr>
              <a:spcAft>
                <a:spcPts val="1000"/>
              </a:spcAft>
              <a:defRPr sz="2500" b="0">
                <a:solidFill>
                  <a:srgbClr val="15365B"/>
                </a:solidFill>
                <a:latin typeface="DejaVu Sans"/>
              </a:defRPr>
            </a:pPr>
            <a:r>
              <a:t>Har bir provayder uchun hisoblar, ruxsatlar, monitoring va xarajatlar boshqariladi.</a:t>
            </a:r>
          </a:p>
        </p:txBody>
      </p:sp>
      <p:sp>
        <p:nvSpPr>
          <p:cNvPr id="11" name="Rounded Rectangle 10"/>
          <p:cNvSpPr/>
          <p:nvPr/>
        </p:nvSpPr>
        <p:spPr>
          <a:xfrm>
            <a:off x="6263640" y="1965960"/>
            <a:ext cx="5321808" cy="3502152"/>
          </a:xfrm>
          <a:prstGeom prst="roundRect">
            <a:avLst>
              <a:gd name="adj" fmla="val 8000"/>
            </a:avLst>
          </a:prstGeom>
          <a:solidFill>
            <a:srgbClr val="EA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92240" y="2240280"/>
            <a:ext cx="4828032" cy="365760"/>
          </a:xfrm>
          <a:prstGeom prst="rect">
            <a:avLst/>
          </a:prstGeom>
          <a:noFill/>
        </p:spPr>
        <p:txBody>
          <a:bodyPr wrap="square" lIns="27432" rIns="27432" tIns="18288" bIns="0">
            <a:spAutoFit/>
          </a:bodyPr>
          <a:lstStyle/>
          <a:p>
            <a:pPr>
              <a:spcAft>
                <a:spcPts val="1000"/>
              </a:spcAft>
              <a:defRPr sz="1300" b="1">
                <a:solidFill>
                  <a:srgbClr val="1678D2"/>
                </a:solidFill>
                <a:latin typeface="DejaVu Sans"/>
              </a:defRPr>
            </a:pPr>
            <a:r>
              <a:t>ESDA SAQLANG</a:t>
            </a:r>
          </a:p>
        </p:txBody>
      </p:sp>
      <p:sp>
        <p:nvSpPr>
          <p:cNvPr id="13" name="TextBox 12"/>
          <p:cNvSpPr txBox="1"/>
          <p:nvPr/>
        </p:nvSpPr>
        <p:spPr>
          <a:xfrm>
            <a:off x="6492240" y="2852928"/>
            <a:ext cx="4818888" cy="2331720"/>
          </a:xfrm>
          <a:prstGeom prst="rect">
            <a:avLst/>
          </a:prstGeom>
          <a:noFill/>
        </p:spPr>
        <p:txBody>
          <a:bodyPr wrap="square" lIns="27432" rIns="27432" tIns="18288" bIns="0">
            <a:spAutoFit/>
          </a:bodyPr>
          <a:lstStyle/>
          <a:p>
            <a:pPr>
              <a:spcAft>
                <a:spcPts val="1000"/>
              </a:spcAft>
              <a:defRPr sz="2500" b="0">
                <a:solidFill>
                  <a:srgbClr val="15365B"/>
                </a:solidFill>
                <a:latin typeface="DejaVu Sans"/>
              </a:defRPr>
            </a:pPr>
            <a:r>
              <a:t>Multi-cloud avtomatik ravishda uzilishdan himoya yoki oson ko‘chirishni ta’minlamaydi.</a:t>
            </a:r>
          </a:p>
        </p:txBody>
      </p:sp>
      <p:sp>
        <p:nvSpPr>
          <p:cNvPr id="14" name="TextBox 13"/>
          <p:cNvSpPr txBox="1"/>
          <p:nvPr/>
        </p:nvSpPr>
        <p:spPr>
          <a:xfrm>
            <a:off x="640080" y="5742432"/>
            <a:ext cx="10881360" cy="365760"/>
          </a:xfrm>
          <a:prstGeom prst="rect">
            <a:avLst/>
          </a:prstGeom>
          <a:noFill/>
        </p:spPr>
        <p:txBody>
          <a:bodyPr wrap="square" lIns="27432" rIns="27432" tIns="18288" bIns="0">
            <a:spAutoFit/>
          </a:bodyPr>
          <a:lstStyle/>
          <a:p>
            <a:pPr>
              <a:spcAft>
                <a:spcPts val="1000"/>
              </a:spcAft>
              <a:defRPr sz="1800" b="1">
                <a:solidFill>
                  <a:srgbClr val="1678D2"/>
                </a:solidFill>
                <a:latin typeface="DejaVu Sans"/>
              </a:defRPr>
            </a:pPr>
            <a:r>
              <a:t>Bir nechta bulut provayderidan foydalanish.</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1678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0058400" cy="274320"/>
          </a:xfrm>
          <a:prstGeom prst="rect">
            <a:avLst/>
          </a:prstGeom>
          <a:noFill/>
        </p:spPr>
        <p:txBody>
          <a:bodyPr wrap="square" lIns="27432" rIns="27432" tIns="18288" bIns="0">
            <a:spAutoFit/>
          </a:bodyPr>
          <a:lstStyle/>
          <a:p>
            <a:pPr>
              <a:spcAft>
                <a:spcPts val="1000"/>
              </a:spcAft>
              <a:defRPr sz="1100" b="1">
                <a:solidFill>
                  <a:srgbClr val="1678D2"/>
                </a:solidFill>
                <a:latin typeface="DejaVu Sans"/>
              </a:defRPr>
            </a:pPr>
            <a:r>
              <a:t>M04 · ASOSIY TUSHUNCHA 6/6</a:t>
            </a:r>
          </a:p>
        </p:txBody>
      </p:sp>
      <p:sp>
        <p:nvSpPr>
          <p:cNvPr id="4" name="TextBox 3"/>
          <p:cNvSpPr txBox="1"/>
          <p:nvPr/>
        </p:nvSpPr>
        <p:spPr>
          <a:xfrm>
            <a:off x="502920" y="777240"/>
            <a:ext cx="11155680" cy="960120"/>
          </a:xfrm>
          <a:prstGeom prst="rect">
            <a:avLst/>
          </a:prstGeom>
          <a:noFill/>
        </p:spPr>
        <p:txBody>
          <a:bodyPr wrap="square" lIns="27432" rIns="27432" tIns="18288" bIns="0">
            <a:spAutoFit/>
          </a:bodyPr>
          <a:lstStyle/>
          <a:p>
            <a:pPr>
              <a:spcAft>
                <a:spcPts val="1000"/>
              </a:spcAft>
              <a:defRPr sz="2900" b="1">
                <a:solidFill>
                  <a:srgbClr val="15365B"/>
                </a:solidFill>
                <a:latin typeface="DejaVu Sans"/>
              </a:defRPr>
            </a:pPr>
            <a:r>
              <a:t>Modelni asosli tanlash</a:t>
            </a:r>
          </a:p>
        </p:txBody>
      </p:sp>
      <p:sp>
        <p:nvSpPr>
          <p:cNvPr id="5" name="Rectangle 4"/>
          <p:cNvSpPr/>
          <p:nvPr/>
        </p:nvSpPr>
        <p:spPr>
          <a:xfrm>
            <a:off x="548640" y="6428232"/>
            <a:ext cx="11064240" cy="10972"/>
          </a:xfrm>
          <a:prstGeom prst="rect">
            <a:avLst/>
          </a:prstGeom>
          <a:solidFill>
            <a:srgbClr val="CEE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9144000" cy="182880"/>
          </a:xfrm>
          <a:prstGeom prst="rect">
            <a:avLst/>
          </a:prstGeom>
          <a:noFill/>
        </p:spPr>
        <p:txBody>
          <a:bodyPr wrap="square" lIns="27432" rIns="27432" tIns="18288" bIns="0">
            <a:spAutoFit/>
          </a:bodyPr>
          <a:lstStyle/>
          <a:p>
            <a:pPr>
              <a:spcAft>
                <a:spcPts val="1000"/>
              </a:spcAft>
              <a:defRPr sz="900" b="0">
                <a:solidFill>
                  <a:srgbClr val="53687D"/>
                </a:solidFill>
                <a:latin typeface="DejaVu Sans"/>
              </a:defRPr>
            </a:pPr>
            <a:r>
              <a:t>BTST206  •  BULUT TEXNOLOGIYALARI VA SERVISLAR  •  2027–2028</a:t>
            </a:r>
          </a:p>
        </p:txBody>
      </p:sp>
      <p:sp>
        <p:nvSpPr>
          <p:cNvPr id="7" name="TextBox 6"/>
          <p:cNvSpPr txBox="1"/>
          <p:nvPr/>
        </p:nvSpPr>
        <p:spPr>
          <a:xfrm>
            <a:off x="10607040" y="6473952"/>
            <a:ext cx="1005840" cy="274320"/>
          </a:xfrm>
          <a:prstGeom prst="rect">
            <a:avLst/>
          </a:prstGeom>
          <a:noFill/>
        </p:spPr>
        <p:txBody>
          <a:bodyPr wrap="square" lIns="27432" rIns="27432" tIns="18288" bIns="0">
            <a:spAutoFit/>
          </a:bodyPr>
          <a:lstStyle/>
          <a:p>
            <a:pPr>
              <a:spcAft>
                <a:spcPts val="1000"/>
              </a:spcAft>
              <a:defRPr sz="1200" b="1">
                <a:solidFill>
                  <a:srgbClr val="1678D2"/>
                </a:solidFill>
                <a:latin typeface="DejaVu Sans"/>
              </a:defRPr>
            </a:pPr>
            <a:r>
              <a:t>08</a:t>
            </a:r>
          </a:p>
        </p:txBody>
      </p:sp>
      <p:sp>
        <p:nvSpPr>
          <p:cNvPr id="8" name="Rectangle 7"/>
          <p:cNvSpPr/>
          <p:nvPr/>
        </p:nvSpPr>
        <p:spPr>
          <a:xfrm>
            <a:off x="594360" y="2011680"/>
            <a:ext cx="100584" cy="3337560"/>
          </a:xfrm>
          <a:prstGeom prst="rect">
            <a:avLst/>
          </a:prstGeom>
          <a:solidFill>
            <a:srgbClr val="1678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32688" y="2075688"/>
            <a:ext cx="9966960" cy="1280160"/>
          </a:xfrm>
          <a:prstGeom prst="rect">
            <a:avLst/>
          </a:prstGeom>
          <a:noFill/>
        </p:spPr>
        <p:txBody>
          <a:bodyPr wrap="square" lIns="27432" rIns="27432" tIns="18288" bIns="0">
            <a:spAutoFit/>
          </a:bodyPr>
          <a:lstStyle/>
          <a:p>
            <a:pPr>
              <a:spcAft>
                <a:spcPts val="1000"/>
              </a:spcAft>
              <a:defRPr sz="3200" b="1">
                <a:solidFill>
                  <a:srgbClr val="1678D2"/>
                </a:solidFill>
                <a:latin typeface="DejaVu Sans"/>
              </a:defRPr>
            </a:pPr>
            <a:r>
              <a:t>Ma’lumot, integratsiya, malaka va umumiy xarajat.</a:t>
            </a:r>
          </a:p>
        </p:txBody>
      </p:sp>
      <p:sp>
        <p:nvSpPr>
          <p:cNvPr id="10" name="TextBox 9"/>
          <p:cNvSpPr txBox="1"/>
          <p:nvPr/>
        </p:nvSpPr>
        <p:spPr>
          <a:xfrm>
            <a:off x="960120" y="3712463"/>
            <a:ext cx="6629400" cy="1645920"/>
          </a:xfrm>
          <a:prstGeom prst="rect">
            <a:avLst/>
          </a:prstGeom>
          <a:noFill/>
        </p:spPr>
        <p:txBody>
          <a:bodyPr wrap="square" lIns="27432" rIns="27432" tIns="18288" bIns="0">
            <a:spAutoFit/>
          </a:bodyPr>
          <a:lstStyle/>
          <a:p>
            <a:pPr>
              <a:spcAft>
                <a:spcPts val="1000"/>
              </a:spcAft>
              <a:defRPr sz="2400" b="0">
                <a:solidFill>
                  <a:srgbClr val="15365B"/>
                </a:solidFill>
                <a:latin typeface="DejaVu Sans"/>
              </a:defRPr>
            </a:pPr>
            <a:r>
              <a:t>Joylashtirish modelini tanlashda ma’lumotning sezgirligi, joylashuv talablari, tarmoq kechikishi va xizmat sifati ko‘rib chiqiladi.</a:t>
            </a:r>
          </a:p>
        </p:txBody>
      </p:sp>
      <p:sp>
        <p:nvSpPr>
          <p:cNvPr id="11" name="Rounded Rectangle 10"/>
          <p:cNvSpPr/>
          <p:nvPr/>
        </p:nvSpPr>
        <p:spPr>
          <a:xfrm>
            <a:off x="8366760" y="3822191"/>
            <a:ext cx="2971800" cy="1335024"/>
          </a:xfrm>
          <a:prstGeom prst="roundRect">
            <a:avLst>
              <a:gd name="adj" fmla="val 8000"/>
            </a:avLst>
          </a:prstGeom>
          <a:solidFill>
            <a:srgbClr val="EA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95360" y="4114800"/>
            <a:ext cx="2514600" cy="822960"/>
          </a:xfrm>
          <a:prstGeom prst="rect">
            <a:avLst/>
          </a:prstGeom>
          <a:noFill/>
        </p:spPr>
        <p:txBody>
          <a:bodyPr wrap="square" lIns="27432" rIns="27432" tIns="18288" bIns="0">
            <a:spAutoFit/>
          </a:bodyPr>
          <a:lstStyle/>
          <a:p>
            <a:pPr>
              <a:spcAft>
                <a:spcPts val="1000"/>
              </a:spcAft>
              <a:defRPr sz="1800" b="1">
                <a:solidFill>
                  <a:srgbClr val="1678D2"/>
                </a:solidFill>
                <a:latin typeface="DejaVu Sans"/>
              </a:defRPr>
            </a:pPr>
            <a:r>
              <a:t>TA’RIF → MISOL</a:t>
            </a:r>
          </a:p>
          <a:p>
            <a:pPr>
              <a:spcAft>
                <a:spcPts val="1000"/>
              </a:spcAft>
              <a:defRPr sz="1800" b="1">
                <a:solidFill>
                  <a:srgbClr val="1678D2"/>
                </a:solidFill>
                <a:latin typeface="DejaVu Sans"/>
              </a:defRPr>
            </a:pPr>
            <a:r>
              <a:t>→ CHEGARA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1678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0058400" cy="274320"/>
          </a:xfrm>
          <a:prstGeom prst="rect">
            <a:avLst/>
          </a:prstGeom>
          <a:noFill/>
        </p:spPr>
        <p:txBody>
          <a:bodyPr wrap="square" lIns="27432" rIns="27432" tIns="18288" bIns="0">
            <a:spAutoFit/>
          </a:bodyPr>
          <a:lstStyle/>
          <a:p>
            <a:pPr>
              <a:spcAft>
                <a:spcPts val="1000"/>
              </a:spcAft>
              <a:defRPr sz="1100" b="1">
                <a:solidFill>
                  <a:srgbClr val="1678D2"/>
                </a:solidFill>
                <a:latin typeface="DejaVu Sans"/>
              </a:defRPr>
            </a:pPr>
            <a:r>
              <a:t>M04 · ARXITEKTURA</a:t>
            </a:r>
          </a:p>
        </p:txBody>
      </p:sp>
      <p:sp>
        <p:nvSpPr>
          <p:cNvPr id="4" name="TextBox 3"/>
          <p:cNvSpPr txBox="1"/>
          <p:nvPr/>
        </p:nvSpPr>
        <p:spPr>
          <a:xfrm>
            <a:off x="502920" y="777240"/>
            <a:ext cx="11155680" cy="960120"/>
          </a:xfrm>
          <a:prstGeom prst="rect">
            <a:avLst/>
          </a:prstGeom>
          <a:noFill/>
        </p:spPr>
        <p:txBody>
          <a:bodyPr wrap="square" lIns="27432" rIns="27432" tIns="18288" bIns="0">
            <a:spAutoFit/>
          </a:bodyPr>
          <a:lstStyle/>
          <a:p>
            <a:pPr>
              <a:spcAft>
                <a:spcPts val="1000"/>
              </a:spcAft>
              <a:defRPr sz="2900" b="1">
                <a:solidFill>
                  <a:srgbClr val="15365B"/>
                </a:solidFill>
                <a:latin typeface="DejaVu Sans"/>
              </a:defRPr>
            </a:pPr>
            <a:r>
              <a:t>Texnik sxema: qismlar qanday bog‘lanadi?</a:t>
            </a:r>
          </a:p>
        </p:txBody>
      </p:sp>
      <p:sp>
        <p:nvSpPr>
          <p:cNvPr id="5" name="Rectangle 4"/>
          <p:cNvSpPr/>
          <p:nvPr/>
        </p:nvSpPr>
        <p:spPr>
          <a:xfrm>
            <a:off x="548640" y="6428232"/>
            <a:ext cx="11064240" cy="10972"/>
          </a:xfrm>
          <a:prstGeom prst="rect">
            <a:avLst/>
          </a:prstGeom>
          <a:solidFill>
            <a:srgbClr val="CEE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9144000" cy="182880"/>
          </a:xfrm>
          <a:prstGeom prst="rect">
            <a:avLst/>
          </a:prstGeom>
          <a:noFill/>
        </p:spPr>
        <p:txBody>
          <a:bodyPr wrap="square" lIns="27432" rIns="27432" tIns="18288" bIns="0">
            <a:spAutoFit/>
          </a:bodyPr>
          <a:lstStyle/>
          <a:p>
            <a:pPr>
              <a:spcAft>
                <a:spcPts val="1000"/>
              </a:spcAft>
              <a:defRPr sz="900" b="0">
                <a:solidFill>
                  <a:srgbClr val="53687D"/>
                </a:solidFill>
                <a:latin typeface="DejaVu Sans"/>
              </a:defRPr>
            </a:pPr>
            <a:r>
              <a:t>BTST206  •  BULUT TEXNOLOGIYALARI VA SERVISLAR  •  2027–2028</a:t>
            </a:r>
          </a:p>
        </p:txBody>
      </p:sp>
      <p:sp>
        <p:nvSpPr>
          <p:cNvPr id="7" name="TextBox 6"/>
          <p:cNvSpPr txBox="1"/>
          <p:nvPr/>
        </p:nvSpPr>
        <p:spPr>
          <a:xfrm>
            <a:off x="10607040" y="6473952"/>
            <a:ext cx="1005840" cy="274320"/>
          </a:xfrm>
          <a:prstGeom prst="rect">
            <a:avLst/>
          </a:prstGeom>
          <a:noFill/>
        </p:spPr>
        <p:txBody>
          <a:bodyPr wrap="square" lIns="27432" rIns="27432" tIns="18288" bIns="0">
            <a:spAutoFit/>
          </a:bodyPr>
          <a:lstStyle/>
          <a:p>
            <a:pPr>
              <a:spcAft>
                <a:spcPts val="1000"/>
              </a:spcAft>
              <a:defRPr sz="1200" b="1">
                <a:solidFill>
                  <a:srgbClr val="1678D2"/>
                </a:solidFill>
                <a:latin typeface="DejaVu Sans"/>
              </a:defRPr>
            </a:pPr>
            <a:r>
              <a:t>09</a:t>
            </a:r>
          </a:p>
        </p:txBody>
      </p:sp>
      <p:cxnSp>
        <p:nvCxnSpPr>
          <p:cNvPr id="8" name="Connector 7"/>
          <p:cNvCxnSpPr/>
          <p:nvPr/>
        </p:nvCxnSpPr>
        <p:spPr>
          <a:xfrm>
            <a:off x="3474720" y="2761488"/>
            <a:ext cx="777240" cy="0"/>
          </a:xfrm>
          <a:prstGeom prst="line">
            <a:avLst/>
          </a:prstGeom>
          <a:ln w="25400">
            <a:solidFill>
              <a:srgbClr val="78ACD8"/>
            </a:solidFill>
            <a:tailEnd type="triangle"/>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995160" y="2761488"/>
            <a:ext cx="777240" cy="0"/>
          </a:xfrm>
          <a:prstGeom prst="line">
            <a:avLst/>
          </a:prstGeom>
          <a:ln w="25400">
            <a:solidFill>
              <a:srgbClr val="78ACD8"/>
            </a:solidFill>
            <a:tailEnd type="triangle"/>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flipV="1">
            <a:off x="2103120" y="3246120"/>
            <a:ext cx="2011680" cy="1234440"/>
          </a:xfrm>
          <a:prstGeom prst="line">
            <a:avLst/>
          </a:prstGeom>
          <a:ln w="25400">
            <a:solidFill>
              <a:srgbClr val="78ACD8"/>
            </a:solidFill>
            <a:tailEnd type="triangle"/>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4114800" y="3246120"/>
            <a:ext cx="5029200" cy="1234440"/>
          </a:xfrm>
          <a:prstGeom prst="line">
            <a:avLst/>
          </a:prstGeom>
          <a:ln w="25400">
            <a:solidFill>
              <a:srgbClr val="78ACD8"/>
            </a:solidFill>
            <a:tailEnd type="triangle"/>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flipV="1">
            <a:off x="2103120" y="3246120"/>
            <a:ext cx="5943600" cy="1234440"/>
          </a:xfrm>
          <a:prstGeom prst="line">
            <a:avLst/>
          </a:prstGeom>
          <a:ln w="25400">
            <a:solidFill>
              <a:srgbClr val="78ACD8"/>
            </a:solidFill>
            <a:tailEnd type="triangle"/>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8046720" y="3246120"/>
            <a:ext cx="1097280" cy="1234440"/>
          </a:xfrm>
          <a:prstGeom prst="line">
            <a:avLst/>
          </a:prstGeom>
          <a:ln w="25400">
            <a:solidFill>
              <a:srgbClr val="78ACD8"/>
            </a:solidFill>
            <a:tailEnd type="triangle"/>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731520" y="2286000"/>
            <a:ext cx="2743200" cy="960120"/>
          </a:xfrm>
          <a:prstGeom prst="roundRect">
            <a:avLst>
              <a:gd name="adj" fmla="val 8000"/>
            </a:avLst>
          </a:prstGeom>
          <a:solidFill>
            <a:srgbClr val="1678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392" y="2450592"/>
            <a:ext cx="2505456" cy="685800"/>
          </a:xfrm>
          <a:prstGeom prst="rect">
            <a:avLst/>
          </a:prstGeom>
          <a:noFill/>
        </p:spPr>
        <p:txBody>
          <a:bodyPr wrap="square" lIns="27432" rIns="27432" tIns="18288" bIns="0">
            <a:spAutoFit/>
          </a:bodyPr>
          <a:lstStyle/>
          <a:p>
            <a:pPr>
              <a:spcAft>
                <a:spcPts val="1000"/>
              </a:spcAft>
              <a:defRPr sz="1800" b="1">
                <a:solidFill>
                  <a:srgbClr val="FFFFFF"/>
                </a:solidFill>
                <a:latin typeface="DejaVu Sans"/>
              </a:defRPr>
            </a:pPr>
            <a:r>
              <a:t>Mahalliy / private</a:t>
            </a:r>
          </a:p>
        </p:txBody>
      </p:sp>
      <p:sp>
        <p:nvSpPr>
          <p:cNvPr id="16" name="Rounded Rectangle 15"/>
          <p:cNvSpPr/>
          <p:nvPr/>
        </p:nvSpPr>
        <p:spPr>
          <a:xfrm>
            <a:off x="4251960" y="2286000"/>
            <a:ext cx="2743200" cy="960120"/>
          </a:xfrm>
          <a:prstGeom prst="roundRect">
            <a:avLst>
              <a:gd name="adj" fmla="val 8000"/>
            </a:avLst>
          </a:prstGeom>
          <a:solidFill>
            <a:srgbClr val="EA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370832" y="2450592"/>
            <a:ext cx="2505456" cy="685800"/>
          </a:xfrm>
          <a:prstGeom prst="rect">
            <a:avLst/>
          </a:prstGeom>
          <a:noFill/>
        </p:spPr>
        <p:txBody>
          <a:bodyPr wrap="square" lIns="27432" rIns="27432" tIns="18288" bIns="0">
            <a:spAutoFit/>
          </a:bodyPr>
          <a:lstStyle/>
          <a:p>
            <a:pPr>
              <a:spcAft>
                <a:spcPts val="1000"/>
              </a:spcAft>
              <a:defRPr sz="1800" b="1">
                <a:solidFill>
                  <a:srgbClr val="15365B"/>
                </a:solidFill>
                <a:latin typeface="DejaVu Sans"/>
              </a:defRPr>
            </a:pPr>
            <a:r>
              <a:t>Xavfsiz aloqa</a:t>
            </a:r>
          </a:p>
        </p:txBody>
      </p:sp>
      <p:sp>
        <p:nvSpPr>
          <p:cNvPr id="18" name="Rounded Rectangle 17"/>
          <p:cNvSpPr/>
          <p:nvPr/>
        </p:nvSpPr>
        <p:spPr>
          <a:xfrm>
            <a:off x="7772400" y="2286000"/>
            <a:ext cx="2743200" cy="960120"/>
          </a:xfrm>
          <a:prstGeom prst="roundRect">
            <a:avLst>
              <a:gd name="adj" fmla="val 8000"/>
            </a:avLst>
          </a:prstGeom>
          <a:solidFill>
            <a:srgbClr val="EA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891272" y="2450592"/>
            <a:ext cx="2505456" cy="685800"/>
          </a:xfrm>
          <a:prstGeom prst="rect">
            <a:avLst/>
          </a:prstGeom>
          <a:noFill/>
        </p:spPr>
        <p:txBody>
          <a:bodyPr wrap="square" lIns="27432" rIns="27432" tIns="18288" bIns="0">
            <a:spAutoFit/>
          </a:bodyPr>
          <a:lstStyle/>
          <a:p>
            <a:pPr>
              <a:spcAft>
                <a:spcPts val="1000"/>
              </a:spcAft>
              <a:defRPr sz="1800" b="1">
                <a:solidFill>
                  <a:srgbClr val="15365B"/>
                </a:solidFill>
                <a:latin typeface="DejaVu Sans"/>
              </a:defRPr>
            </a:pPr>
            <a:r>
              <a:t>Public cloud</a:t>
            </a:r>
          </a:p>
        </p:txBody>
      </p:sp>
      <p:sp>
        <p:nvSpPr>
          <p:cNvPr id="20" name="Rounded Rectangle 19"/>
          <p:cNvSpPr/>
          <p:nvPr/>
        </p:nvSpPr>
        <p:spPr>
          <a:xfrm>
            <a:off x="2743200" y="4480560"/>
            <a:ext cx="2743200" cy="960120"/>
          </a:xfrm>
          <a:prstGeom prst="roundRect">
            <a:avLst>
              <a:gd name="adj" fmla="val 8000"/>
            </a:avLst>
          </a:prstGeom>
          <a:solidFill>
            <a:srgbClr val="EA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862072" y="4645152"/>
            <a:ext cx="2505456" cy="685800"/>
          </a:xfrm>
          <a:prstGeom prst="rect">
            <a:avLst/>
          </a:prstGeom>
          <a:noFill/>
        </p:spPr>
        <p:txBody>
          <a:bodyPr wrap="square" lIns="27432" rIns="27432" tIns="18288" bIns="0">
            <a:spAutoFit/>
          </a:bodyPr>
          <a:lstStyle/>
          <a:p>
            <a:pPr>
              <a:spcAft>
                <a:spcPts val="1000"/>
              </a:spcAft>
              <a:defRPr sz="1800" b="1">
                <a:solidFill>
                  <a:srgbClr val="15365B"/>
                </a:solidFill>
                <a:latin typeface="DejaVu Sans"/>
              </a:defRPr>
            </a:pPr>
            <a:r>
              <a:t>Yagona identifikatsiya</a:t>
            </a:r>
          </a:p>
        </p:txBody>
      </p:sp>
      <p:sp>
        <p:nvSpPr>
          <p:cNvPr id="22" name="Rounded Rectangle 21"/>
          <p:cNvSpPr/>
          <p:nvPr/>
        </p:nvSpPr>
        <p:spPr>
          <a:xfrm>
            <a:off x="6675120" y="4480560"/>
            <a:ext cx="2743200" cy="960120"/>
          </a:xfrm>
          <a:prstGeom prst="roundRect">
            <a:avLst>
              <a:gd name="adj" fmla="val 8000"/>
            </a:avLst>
          </a:prstGeom>
          <a:solidFill>
            <a:srgbClr val="EA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793992" y="4645152"/>
            <a:ext cx="2505456" cy="685800"/>
          </a:xfrm>
          <a:prstGeom prst="rect">
            <a:avLst/>
          </a:prstGeom>
          <a:noFill/>
        </p:spPr>
        <p:txBody>
          <a:bodyPr wrap="square" lIns="27432" rIns="27432" tIns="18288" bIns="0">
            <a:spAutoFit/>
          </a:bodyPr>
          <a:lstStyle/>
          <a:p>
            <a:pPr>
              <a:spcAft>
                <a:spcPts val="1000"/>
              </a:spcAft>
              <a:defRPr sz="1800" b="1">
                <a:solidFill>
                  <a:srgbClr val="15365B"/>
                </a:solidFill>
                <a:latin typeface="DejaVu Sans"/>
              </a:defRPr>
            </a:pPr>
            <a:r>
              <a:t>Siyosat va kuzatuv</a:t>
            </a:r>
          </a:p>
        </p:txBody>
      </p:sp>
      <p:sp>
        <p:nvSpPr>
          <p:cNvPr id="24" name="TextBox 23"/>
          <p:cNvSpPr txBox="1"/>
          <p:nvPr/>
        </p:nvSpPr>
        <p:spPr>
          <a:xfrm>
            <a:off x="777240" y="5806440"/>
            <a:ext cx="10789920" cy="347472"/>
          </a:xfrm>
          <a:prstGeom prst="rect">
            <a:avLst/>
          </a:prstGeom>
          <a:noFill/>
        </p:spPr>
        <p:txBody>
          <a:bodyPr wrap="square" lIns="27432" rIns="27432" tIns="18288" bIns="0">
            <a:spAutoFit/>
          </a:bodyPr>
          <a:lstStyle/>
          <a:p>
            <a:pPr>
              <a:spcAft>
                <a:spcPts val="1000"/>
              </a:spcAft>
              <a:defRPr sz="1300" b="0">
                <a:solidFill>
                  <a:srgbClr val="53687D"/>
                </a:solidFill>
                <a:latin typeface="DejaVu Sans"/>
              </a:defRPr>
            </a:pPr>
            <a:r>
              <a:t>O‘qlar: asosiy bog‘lanish yoki boshqaruv yo‘nalishi. Sxema soddalashtirilgan.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1678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0058400" cy="274320"/>
          </a:xfrm>
          <a:prstGeom prst="rect">
            <a:avLst/>
          </a:prstGeom>
          <a:noFill/>
        </p:spPr>
        <p:txBody>
          <a:bodyPr wrap="square" lIns="27432" rIns="27432" tIns="18288" bIns="0">
            <a:spAutoFit/>
          </a:bodyPr>
          <a:lstStyle/>
          <a:p>
            <a:pPr>
              <a:spcAft>
                <a:spcPts val="1000"/>
              </a:spcAft>
              <a:defRPr sz="1100" b="1">
                <a:solidFill>
                  <a:srgbClr val="1678D2"/>
                </a:solidFill>
                <a:latin typeface="DejaVu Sans"/>
              </a:defRPr>
            </a:pPr>
            <a:r>
              <a:t>M04 · O‘QITUVCHI BAYONI</a:t>
            </a:r>
          </a:p>
        </p:txBody>
      </p:sp>
      <p:sp>
        <p:nvSpPr>
          <p:cNvPr id="4" name="TextBox 3"/>
          <p:cNvSpPr txBox="1"/>
          <p:nvPr/>
        </p:nvSpPr>
        <p:spPr>
          <a:xfrm>
            <a:off x="502920" y="777240"/>
            <a:ext cx="11155680" cy="960120"/>
          </a:xfrm>
          <a:prstGeom prst="rect">
            <a:avLst/>
          </a:prstGeom>
          <a:noFill/>
        </p:spPr>
        <p:txBody>
          <a:bodyPr wrap="square" lIns="27432" rIns="27432" tIns="18288" bIns="0">
            <a:spAutoFit/>
          </a:bodyPr>
          <a:lstStyle/>
          <a:p>
            <a:pPr>
              <a:spcAft>
                <a:spcPts val="1000"/>
              </a:spcAft>
              <a:defRPr sz="2900" b="1">
                <a:solidFill>
                  <a:srgbClr val="15365B"/>
                </a:solidFill>
                <a:latin typeface="DejaVu Sans"/>
              </a:defRPr>
            </a:pPr>
            <a:r>
              <a:t>Universitet portali misolida</a:t>
            </a:r>
          </a:p>
        </p:txBody>
      </p:sp>
      <p:sp>
        <p:nvSpPr>
          <p:cNvPr id="5" name="Rectangle 4"/>
          <p:cNvSpPr/>
          <p:nvPr/>
        </p:nvSpPr>
        <p:spPr>
          <a:xfrm>
            <a:off x="548640" y="6428232"/>
            <a:ext cx="11064240" cy="10972"/>
          </a:xfrm>
          <a:prstGeom prst="rect">
            <a:avLst/>
          </a:prstGeom>
          <a:solidFill>
            <a:srgbClr val="CEE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9144000" cy="182880"/>
          </a:xfrm>
          <a:prstGeom prst="rect">
            <a:avLst/>
          </a:prstGeom>
          <a:noFill/>
        </p:spPr>
        <p:txBody>
          <a:bodyPr wrap="square" lIns="27432" rIns="27432" tIns="18288" bIns="0">
            <a:spAutoFit/>
          </a:bodyPr>
          <a:lstStyle/>
          <a:p>
            <a:pPr>
              <a:spcAft>
                <a:spcPts val="1000"/>
              </a:spcAft>
              <a:defRPr sz="900" b="0">
                <a:solidFill>
                  <a:srgbClr val="53687D"/>
                </a:solidFill>
                <a:latin typeface="DejaVu Sans"/>
              </a:defRPr>
            </a:pPr>
            <a:r>
              <a:t>BTST206  •  BULUT TEXNOLOGIYALARI VA SERVISLAR  •  2027–2028</a:t>
            </a:r>
          </a:p>
        </p:txBody>
      </p:sp>
      <p:sp>
        <p:nvSpPr>
          <p:cNvPr id="7" name="TextBox 6"/>
          <p:cNvSpPr txBox="1"/>
          <p:nvPr/>
        </p:nvSpPr>
        <p:spPr>
          <a:xfrm>
            <a:off x="10607040" y="6473952"/>
            <a:ext cx="1005840" cy="274320"/>
          </a:xfrm>
          <a:prstGeom prst="rect">
            <a:avLst/>
          </a:prstGeom>
          <a:noFill/>
        </p:spPr>
        <p:txBody>
          <a:bodyPr wrap="square" lIns="27432" rIns="27432" tIns="18288" bIns="0">
            <a:spAutoFit/>
          </a:bodyPr>
          <a:lstStyle/>
          <a:p>
            <a:pPr>
              <a:spcAft>
                <a:spcPts val="1000"/>
              </a:spcAft>
              <a:defRPr sz="1200" b="1">
                <a:solidFill>
                  <a:srgbClr val="1678D2"/>
                </a:solidFill>
                <a:latin typeface="DejaVu Sans"/>
              </a:defRPr>
            </a:pPr>
            <a:r>
              <a:t>10</a:t>
            </a:r>
          </a:p>
        </p:txBody>
      </p:sp>
      <p:sp>
        <p:nvSpPr>
          <p:cNvPr id="8" name="TextBox 7"/>
          <p:cNvSpPr txBox="1"/>
          <p:nvPr/>
        </p:nvSpPr>
        <p:spPr>
          <a:xfrm>
            <a:off x="658368" y="1920240"/>
            <a:ext cx="7040880" cy="1508760"/>
          </a:xfrm>
          <a:prstGeom prst="rect">
            <a:avLst/>
          </a:prstGeom>
          <a:noFill/>
        </p:spPr>
        <p:txBody>
          <a:bodyPr wrap="square" lIns="27432" rIns="27432" tIns="18288" bIns="0">
            <a:spAutoFit/>
          </a:bodyPr>
          <a:lstStyle/>
          <a:p>
            <a:pPr>
              <a:spcAft>
                <a:spcPts val="1000"/>
              </a:spcAft>
              <a:defRPr sz="2400" b="0">
                <a:solidFill>
                  <a:srgbClr val="15365B"/>
                </a:solidFill>
                <a:latin typeface="DejaVu Sans"/>
              </a:defRPr>
            </a:pPr>
            <a:r>
              <a:t>Universitet umumiy saytini ommaviy bulutda, ayrim maxfiy ma’lumotlarini esa o‘z muhitida saqlamoqchi. Tanlovni texnik imkoniyat, qonuniy talab va boshqaruv xarajati birgalikda belgilaydi.</a:t>
            </a:r>
          </a:p>
        </p:txBody>
      </p:sp>
      <p:sp>
        <p:nvSpPr>
          <p:cNvPr id="9" name="Rounded Rectangle 8"/>
          <p:cNvSpPr/>
          <p:nvPr/>
        </p:nvSpPr>
        <p:spPr>
          <a:xfrm>
            <a:off x="685800" y="4114800"/>
            <a:ext cx="2670048" cy="1161288"/>
          </a:xfrm>
          <a:prstGeom prst="roundRect">
            <a:avLst>
              <a:gd name="adj" fmla="val 8000"/>
            </a:avLst>
          </a:prstGeom>
          <a:solidFill>
            <a:srgbClr val="EA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4279392"/>
            <a:ext cx="2404872" cy="822960"/>
          </a:xfrm>
          <a:prstGeom prst="rect">
            <a:avLst/>
          </a:prstGeom>
          <a:noFill/>
        </p:spPr>
        <p:txBody>
          <a:bodyPr wrap="square" lIns="27432" rIns="27432" tIns="18288" bIns="0">
            <a:spAutoFit/>
          </a:bodyPr>
          <a:lstStyle/>
          <a:p>
            <a:pPr>
              <a:spcAft>
                <a:spcPts val="1000"/>
              </a:spcAft>
              <a:defRPr sz="2000" b="1">
                <a:solidFill>
                  <a:srgbClr val="1678D2"/>
                </a:solidFill>
                <a:latin typeface="DejaVu Sans"/>
              </a:defRPr>
            </a:pPr>
            <a:r>
              <a:t>Mahalliy muhit</a:t>
            </a:r>
          </a:p>
        </p:txBody>
      </p:sp>
      <p:sp>
        <p:nvSpPr>
          <p:cNvPr id="11" name="Rounded Rectangle 10"/>
          <p:cNvSpPr/>
          <p:nvPr/>
        </p:nvSpPr>
        <p:spPr>
          <a:xfrm>
            <a:off x="3584448" y="4114800"/>
            <a:ext cx="2670048" cy="1161288"/>
          </a:xfrm>
          <a:prstGeom prst="roundRect">
            <a:avLst>
              <a:gd name="adj" fmla="val 8000"/>
            </a:avLst>
          </a:prstGeom>
          <a:solidFill>
            <a:srgbClr val="EA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721608" y="4279392"/>
            <a:ext cx="2404872" cy="822960"/>
          </a:xfrm>
          <a:prstGeom prst="rect">
            <a:avLst/>
          </a:prstGeom>
          <a:noFill/>
        </p:spPr>
        <p:txBody>
          <a:bodyPr wrap="square" lIns="27432" rIns="27432" tIns="18288" bIns="0">
            <a:spAutoFit/>
          </a:bodyPr>
          <a:lstStyle/>
          <a:p>
            <a:pPr>
              <a:spcAft>
                <a:spcPts val="1000"/>
              </a:spcAft>
              <a:defRPr sz="2000" b="1">
                <a:solidFill>
                  <a:srgbClr val="1678D2"/>
                </a:solidFill>
                <a:latin typeface="DejaVu Sans"/>
              </a:defRPr>
            </a:pPr>
            <a:r>
              <a:t>Xavfsiz aloqa</a:t>
            </a:r>
          </a:p>
        </p:txBody>
      </p:sp>
      <p:sp>
        <p:nvSpPr>
          <p:cNvPr id="13" name="Rounded Rectangle 12"/>
          <p:cNvSpPr/>
          <p:nvPr/>
        </p:nvSpPr>
        <p:spPr>
          <a:xfrm>
            <a:off x="6483096" y="4114800"/>
            <a:ext cx="2670048" cy="1161288"/>
          </a:xfrm>
          <a:prstGeom prst="roundRect">
            <a:avLst>
              <a:gd name="adj" fmla="val 8000"/>
            </a:avLst>
          </a:prstGeom>
          <a:solidFill>
            <a:srgbClr val="EA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20256" y="4279392"/>
            <a:ext cx="2404872" cy="822960"/>
          </a:xfrm>
          <a:prstGeom prst="rect">
            <a:avLst/>
          </a:prstGeom>
          <a:noFill/>
        </p:spPr>
        <p:txBody>
          <a:bodyPr wrap="square" lIns="27432" rIns="27432" tIns="18288" bIns="0">
            <a:spAutoFit/>
          </a:bodyPr>
          <a:lstStyle/>
          <a:p>
            <a:pPr>
              <a:spcAft>
                <a:spcPts val="1000"/>
              </a:spcAft>
              <a:defRPr sz="2000" b="1">
                <a:solidFill>
                  <a:srgbClr val="1678D2"/>
                </a:solidFill>
                <a:latin typeface="DejaVu Sans"/>
              </a:defRPr>
            </a:pPr>
            <a:r>
              <a:t>Ommaviy bulut</a:t>
            </a:r>
          </a:p>
        </p:txBody>
      </p:sp>
      <p:sp>
        <p:nvSpPr>
          <p:cNvPr id="15" name="Rounded Rectangle 14"/>
          <p:cNvSpPr/>
          <p:nvPr/>
        </p:nvSpPr>
        <p:spPr>
          <a:xfrm>
            <a:off x="9381744" y="4114800"/>
            <a:ext cx="2670048" cy="1161288"/>
          </a:xfrm>
          <a:prstGeom prst="roundRect">
            <a:avLst>
              <a:gd name="adj" fmla="val 8000"/>
            </a:avLst>
          </a:prstGeom>
          <a:solidFill>
            <a:srgbClr val="EA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518904" y="4279392"/>
            <a:ext cx="2404872" cy="822960"/>
          </a:xfrm>
          <a:prstGeom prst="rect">
            <a:avLst/>
          </a:prstGeom>
          <a:noFill/>
        </p:spPr>
        <p:txBody>
          <a:bodyPr wrap="square" lIns="27432" rIns="27432" tIns="18288" bIns="0">
            <a:spAutoFit/>
          </a:bodyPr>
          <a:lstStyle/>
          <a:p>
            <a:pPr>
              <a:spcAft>
                <a:spcPts val="1000"/>
              </a:spcAft>
              <a:defRPr sz="2000" b="1">
                <a:solidFill>
                  <a:srgbClr val="1678D2"/>
                </a:solidFill>
                <a:latin typeface="DejaVu Sans"/>
              </a:defRPr>
            </a:pPr>
            <a:r>
              <a:t>Yagona boshqaruv</a:t>
            </a:r>
          </a:p>
        </p:txBody>
      </p:sp>
      <p:sp>
        <p:nvSpPr>
          <p:cNvPr id="17" name="TextBox 16"/>
          <p:cNvSpPr txBox="1"/>
          <p:nvPr/>
        </p:nvSpPr>
        <p:spPr>
          <a:xfrm>
            <a:off x="713232" y="5632704"/>
            <a:ext cx="10789920" cy="365760"/>
          </a:xfrm>
          <a:prstGeom prst="rect">
            <a:avLst/>
          </a:prstGeom>
          <a:noFill/>
        </p:spPr>
        <p:txBody>
          <a:bodyPr wrap="square" lIns="27432" rIns="27432" tIns="18288" bIns="0">
            <a:spAutoFit/>
          </a:bodyPr>
          <a:lstStyle/>
          <a:p>
            <a:pPr>
              <a:spcAft>
                <a:spcPts val="1000"/>
              </a:spcAft>
              <a:defRPr sz="1300" b="0">
                <a:solidFill>
                  <a:srgbClr val="53687D"/>
                </a:solidFill>
                <a:latin typeface="DejaVu Sans"/>
              </a:defRPr>
            </a:pPr>
            <a:r>
              <a:t>Yuqoridagi bloklar — misolning tayanch qismlari; ular har doim chiziqli trafik yo‘li emas.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1678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0058400" cy="274320"/>
          </a:xfrm>
          <a:prstGeom prst="rect">
            <a:avLst/>
          </a:prstGeom>
          <a:noFill/>
        </p:spPr>
        <p:txBody>
          <a:bodyPr wrap="square" lIns="27432" rIns="27432" tIns="18288" bIns="0">
            <a:spAutoFit/>
          </a:bodyPr>
          <a:lstStyle/>
          <a:p>
            <a:pPr>
              <a:spcAft>
                <a:spcPts val="1000"/>
              </a:spcAft>
              <a:defRPr sz="1100" b="1">
                <a:solidFill>
                  <a:srgbClr val="1678D2"/>
                </a:solidFill>
                <a:latin typeface="DejaVu Sans"/>
              </a:defRPr>
            </a:pPr>
            <a:r>
              <a:t>M04 · ANIQLIK KIRITAMIZ</a:t>
            </a:r>
          </a:p>
        </p:txBody>
      </p:sp>
      <p:sp>
        <p:nvSpPr>
          <p:cNvPr id="4" name="TextBox 3"/>
          <p:cNvSpPr txBox="1"/>
          <p:nvPr/>
        </p:nvSpPr>
        <p:spPr>
          <a:xfrm>
            <a:off x="502920" y="777240"/>
            <a:ext cx="11155680" cy="960120"/>
          </a:xfrm>
          <a:prstGeom prst="rect">
            <a:avLst/>
          </a:prstGeom>
          <a:noFill/>
        </p:spPr>
        <p:txBody>
          <a:bodyPr wrap="square" lIns="27432" rIns="27432" tIns="18288" bIns="0">
            <a:spAutoFit/>
          </a:bodyPr>
          <a:lstStyle/>
          <a:p>
            <a:pPr>
              <a:spcAft>
                <a:spcPts val="1000"/>
              </a:spcAft>
              <a:defRPr sz="2900" b="1">
                <a:solidFill>
                  <a:srgbClr val="15365B"/>
                </a:solidFill>
                <a:latin typeface="DejaVu Sans"/>
              </a:defRPr>
            </a:pPr>
            <a:r>
              <a:t>Ko‘p uchraydigan noto‘g‘ri xulosalar</a:t>
            </a:r>
          </a:p>
        </p:txBody>
      </p:sp>
      <p:sp>
        <p:nvSpPr>
          <p:cNvPr id="5" name="Rectangle 4"/>
          <p:cNvSpPr/>
          <p:nvPr/>
        </p:nvSpPr>
        <p:spPr>
          <a:xfrm>
            <a:off x="548640" y="6428232"/>
            <a:ext cx="11064240" cy="10972"/>
          </a:xfrm>
          <a:prstGeom prst="rect">
            <a:avLst/>
          </a:prstGeom>
          <a:solidFill>
            <a:srgbClr val="CEE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9144000" cy="182880"/>
          </a:xfrm>
          <a:prstGeom prst="rect">
            <a:avLst/>
          </a:prstGeom>
          <a:noFill/>
        </p:spPr>
        <p:txBody>
          <a:bodyPr wrap="square" lIns="27432" rIns="27432" tIns="18288" bIns="0">
            <a:spAutoFit/>
          </a:bodyPr>
          <a:lstStyle/>
          <a:p>
            <a:pPr>
              <a:spcAft>
                <a:spcPts val="1000"/>
              </a:spcAft>
              <a:defRPr sz="900" b="0">
                <a:solidFill>
                  <a:srgbClr val="53687D"/>
                </a:solidFill>
                <a:latin typeface="DejaVu Sans"/>
              </a:defRPr>
            </a:pPr>
            <a:r>
              <a:t>BTST206  •  BULUT TEXNOLOGIYALARI VA SERVISLAR  •  2027–2028</a:t>
            </a:r>
          </a:p>
        </p:txBody>
      </p:sp>
      <p:sp>
        <p:nvSpPr>
          <p:cNvPr id="7" name="TextBox 6"/>
          <p:cNvSpPr txBox="1"/>
          <p:nvPr/>
        </p:nvSpPr>
        <p:spPr>
          <a:xfrm>
            <a:off x="10607040" y="6473952"/>
            <a:ext cx="1005840" cy="274320"/>
          </a:xfrm>
          <a:prstGeom prst="rect">
            <a:avLst/>
          </a:prstGeom>
          <a:noFill/>
        </p:spPr>
        <p:txBody>
          <a:bodyPr wrap="square" lIns="27432" rIns="27432" tIns="18288" bIns="0">
            <a:spAutoFit/>
          </a:bodyPr>
          <a:lstStyle/>
          <a:p>
            <a:pPr>
              <a:spcAft>
                <a:spcPts val="1000"/>
              </a:spcAft>
              <a:defRPr sz="1200" b="1">
                <a:solidFill>
                  <a:srgbClr val="1678D2"/>
                </a:solidFill>
                <a:latin typeface="DejaVu Sans"/>
              </a:defRPr>
            </a:pPr>
            <a:r>
              <a:t>11</a:t>
            </a:r>
          </a:p>
        </p:txBody>
      </p:sp>
      <p:sp>
        <p:nvSpPr>
          <p:cNvPr id="8" name="Rounded Rectangle 7"/>
          <p:cNvSpPr/>
          <p:nvPr/>
        </p:nvSpPr>
        <p:spPr>
          <a:xfrm>
            <a:off x="640080" y="1892807"/>
            <a:ext cx="475488" cy="475488"/>
          </a:xfrm>
          <a:prstGeom prst="roundRect">
            <a:avLst>
              <a:gd name="adj" fmla="val 8000"/>
            </a:avLst>
          </a:prstGeom>
          <a:solidFill>
            <a:srgbClr val="1678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22376" y="1929384"/>
            <a:ext cx="310896" cy="365760"/>
          </a:xfrm>
          <a:prstGeom prst="rect">
            <a:avLst/>
          </a:prstGeom>
          <a:noFill/>
        </p:spPr>
        <p:txBody>
          <a:bodyPr wrap="square" lIns="27432" rIns="27432" tIns="18288" bIns="0">
            <a:spAutoFit/>
          </a:bodyPr>
          <a:lstStyle/>
          <a:p>
            <a:pPr>
              <a:spcAft>
                <a:spcPts val="1000"/>
              </a:spcAft>
              <a:defRPr sz="1700" b="1">
                <a:solidFill>
                  <a:srgbClr val="FFFFFF"/>
                </a:solidFill>
                <a:latin typeface="DejaVu Sans"/>
              </a:defRPr>
            </a:pPr>
            <a:r>
              <a:t>1</a:t>
            </a:r>
          </a:p>
        </p:txBody>
      </p:sp>
      <p:sp>
        <p:nvSpPr>
          <p:cNvPr id="10" name="TextBox 9"/>
          <p:cNvSpPr txBox="1"/>
          <p:nvPr/>
        </p:nvSpPr>
        <p:spPr>
          <a:xfrm>
            <a:off x="1353312" y="1892807"/>
            <a:ext cx="10058400" cy="1143000"/>
          </a:xfrm>
          <a:prstGeom prst="rect">
            <a:avLst/>
          </a:prstGeom>
          <a:noFill/>
        </p:spPr>
        <p:txBody>
          <a:bodyPr wrap="square" lIns="27432" rIns="27432" tIns="18288" bIns="0">
            <a:spAutoFit/>
          </a:bodyPr>
          <a:lstStyle/>
          <a:p>
            <a:pPr>
              <a:spcAft>
                <a:spcPts val="1000"/>
              </a:spcAft>
              <a:defRPr sz="2300" b="0">
                <a:solidFill>
                  <a:srgbClr val="15365B"/>
                </a:solidFill>
                <a:latin typeface="DejaVu Sans"/>
              </a:defRPr>
            </a:pPr>
            <a:r>
              <a:t>Ochiqlik darajasi joylashtirish nomi bilan emas, konfiguratsiya va ruxsatlar bilan belgilanadi.</a:t>
            </a:r>
          </a:p>
        </p:txBody>
      </p:sp>
      <p:sp>
        <p:nvSpPr>
          <p:cNvPr id="11" name="Rounded Rectangle 10"/>
          <p:cNvSpPr/>
          <p:nvPr/>
        </p:nvSpPr>
        <p:spPr>
          <a:xfrm>
            <a:off x="640080" y="3246120"/>
            <a:ext cx="475488" cy="475488"/>
          </a:xfrm>
          <a:prstGeom prst="roundRect">
            <a:avLst>
              <a:gd name="adj" fmla="val 8000"/>
            </a:avLst>
          </a:prstGeom>
          <a:solidFill>
            <a:srgbClr val="1678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2376" y="3282696"/>
            <a:ext cx="310896" cy="365760"/>
          </a:xfrm>
          <a:prstGeom prst="rect">
            <a:avLst/>
          </a:prstGeom>
          <a:noFill/>
        </p:spPr>
        <p:txBody>
          <a:bodyPr wrap="square" lIns="27432" rIns="27432" tIns="18288" bIns="0">
            <a:spAutoFit/>
          </a:bodyPr>
          <a:lstStyle/>
          <a:p>
            <a:pPr>
              <a:spcAft>
                <a:spcPts val="1000"/>
              </a:spcAft>
              <a:defRPr sz="1700" b="1">
                <a:solidFill>
                  <a:srgbClr val="FFFFFF"/>
                </a:solidFill>
                <a:latin typeface="DejaVu Sans"/>
              </a:defRPr>
            </a:pPr>
            <a:r>
              <a:t>2</a:t>
            </a:r>
          </a:p>
        </p:txBody>
      </p:sp>
      <p:sp>
        <p:nvSpPr>
          <p:cNvPr id="13" name="TextBox 12"/>
          <p:cNvSpPr txBox="1"/>
          <p:nvPr/>
        </p:nvSpPr>
        <p:spPr>
          <a:xfrm>
            <a:off x="1353312" y="3246120"/>
            <a:ext cx="10058400" cy="1143000"/>
          </a:xfrm>
          <a:prstGeom prst="rect">
            <a:avLst/>
          </a:prstGeom>
          <a:noFill/>
        </p:spPr>
        <p:txBody>
          <a:bodyPr wrap="square" lIns="27432" rIns="27432" tIns="18288" bIns="0">
            <a:spAutoFit/>
          </a:bodyPr>
          <a:lstStyle/>
          <a:p>
            <a:pPr>
              <a:spcAft>
                <a:spcPts val="1000"/>
              </a:spcAft>
              <a:defRPr sz="2300" b="0">
                <a:solidFill>
                  <a:srgbClr val="15365B"/>
                </a:solidFill>
                <a:latin typeface="DejaVu Sans"/>
              </a:defRPr>
            </a:pPr>
            <a:r>
              <a:t>Bu shunchaki internetdagi ochiq hamjamiyat emas; a’zolik va boshqaruv chegarasi mavjud.</a:t>
            </a:r>
          </a:p>
        </p:txBody>
      </p:sp>
      <p:sp>
        <p:nvSpPr>
          <p:cNvPr id="14" name="Rounded Rectangle 13"/>
          <p:cNvSpPr/>
          <p:nvPr/>
        </p:nvSpPr>
        <p:spPr>
          <a:xfrm>
            <a:off x="640080" y="4599431"/>
            <a:ext cx="475488" cy="475488"/>
          </a:xfrm>
          <a:prstGeom prst="roundRect">
            <a:avLst>
              <a:gd name="adj" fmla="val 8000"/>
            </a:avLst>
          </a:prstGeom>
          <a:solidFill>
            <a:srgbClr val="1678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22376" y="4636007"/>
            <a:ext cx="310896" cy="365760"/>
          </a:xfrm>
          <a:prstGeom prst="rect">
            <a:avLst/>
          </a:prstGeom>
          <a:noFill/>
        </p:spPr>
        <p:txBody>
          <a:bodyPr wrap="square" lIns="27432" rIns="27432" tIns="18288" bIns="0">
            <a:spAutoFit/>
          </a:bodyPr>
          <a:lstStyle/>
          <a:p>
            <a:pPr>
              <a:spcAft>
                <a:spcPts val="1000"/>
              </a:spcAft>
              <a:defRPr sz="1700" b="1">
                <a:solidFill>
                  <a:srgbClr val="FFFFFF"/>
                </a:solidFill>
                <a:latin typeface="DejaVu Sans"/>
              </a:defRPr>
            </a:pPr>
            <a:r>
              <a:t>3</a:t>
            </a:r>
          </a:p>
        </p:txBody>
      </p:sp>
      <p:sp>
        <p:nvSpPr>
          <p:cNvPr id="16" name="TextBox 15"/>
          <p:cNvSpPr txBox="1"/>
          <p:nvPr/>
        </p:nvSpPr>
        <p:spPr>
          <a:xfrm>
            <a:off x="1353312" y="4599431"/>
            <a:ext cx="10058400" cy="1143000"/>
          </a:xfrm>
          <a:prstGeom prst="rect">
            <a:avLst/>
          </a:prstGeom>
          <a:noFill/>
        </p:spPr>
        <p:txBody>
          <a:bodyPr wrap="square" lIns="27432" rIns="27432" tIns="18288" bIns="0">
            <a:spAutoFit/>
          </a:bodyPr>
          <a:lstStyle/>
          <a:p>
            <a:pPr>
              <a:spcAft>
                <a:spcPts val="1000"/>
              </a:spcAft>
              <a:defRPr sz="2300" b="0">
                <a:solidFill>
                  <a:srgbClr val="15365B"/>
                </a:solidFill>
                <a:latin typeface="DejaVu Sans"/>
              </a:defRPr>
            </a:pPr>
            <a:r>
              <a:t>Faqat boshqa tashkilot shu modeldan foydalangani uchun aynan uni tanlash yetarli dalil emas.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1678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0058400" cy="274320"/>
          </a:xfrm>
          <a:prstGeom prst="rect">
            <a:avLst/>
          </a:prstGeom>
          <a:noFill/>
        </p:spPr>
        <p:txBody>
          <a:bodyPr wrap="square" lIns="27432" rIns="27432" tIns="18288" bIns="0">
            <a:spAutoFit/>
          </a:bodyPr>
          <a:lstStyle/>
          <a:p>
            <a:pPr>
              <a:spcAft>
                <a:spcPts val="1000"/>
              </a:spcAft>
              <a:defRPr sz="1100" b="1">
                <a:solidFill>
                  <a:srgbClr val="1678D2"/>
                </a:solidFill>
                <a:latin typeface="DejaVu Sans"/>
              </a:defRPr>
            </a:pPr>
            <a:r>
              <a:t>M04 · YAKUN</a:t>
            </a:r>
          </a:p>
        </p:txBody>
      </p:sp>
      <p:sp>
        <p:nvSpPr>
          <p:cNvPr id="4" name="TextBox 3"/>
          <p:cNvSpPr txBox="1"/>
          <p:nvPr/>
        </p:nvSpPr>
        <p:spPr>
          <a:xfrm>
            <a:off x="502920" y="777240"/>
            <a:ext cx="11155680" cy="960120"/>
          </a:xfrm>
          <a:prstGeom prst="rect">
            <a:avLst/>
          </a:prstGeom>
          <a:noFill/>
        </p:spPr>
        <p:txBody>
          <a:bodyPr wrap="square" lIns="27432" rIns="27432" tIns="18288" bIns="0">
            <a:spAutoFit/>
          </a:bodyPr>
          <a:lstStyle/>
          <a:p>
            <a:pPr>
              <a:spcAft>
                <a:spcPts val="1000"/>
              </a:spcAft>
              <a:defRPr sz="2900" b="1">
                <a:solidFill>
                  <a:srgbClr val="15365B"/>
                </a:solidFill>
                <a:latin typeface="DejaVu Sans"/>
              </a:defRPr>
            </a:pPr>
            <a:r>
              <a:t>Mavzuning asosiy xulosalari</a:t>
            </a:r>
          </a:p>
        </p:txBody>
      </p:sp>
      <p:sp>
        <p:nvSpPr>
          <p:cNvPr id="5" name="Rectangle 4"/>
          <p:cNvSpPr/>
          <p:nvPr/>
        </p:nvSpPr>
        <p:spPr>
          <a:xfrm>
            <a:off x="548640" y="6428232"/>
            <a:ext cx="11064240" cy="10972"/>
          </a:xfrm>
          <a:prstGeom prst="rect">
            <a:avLst/>
          </a:prstGeom>
          <a:solidFill>
            <a:srgbClr val="CEE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9144000" cy="182880"/>
          </a:xfrm>
          <a:prstGeom prst="rect">
            <a:avLst/>
          </a:prstGeom>
          <a:noFill/>
        </p:spPr>
        <p:txBody>
          <a:bodyPr wrap="square" lIns="27432" rIns="27432" tIns="18288" bIns="0">
            <a:spAutoFit/>
          </a:bodyPr>
          <a:lstStyle/>
          <a:p>
            <a:pPr>
              <a:spcAft>
                <a:spcPts val="1000"/>
              </a:spcAft>
              <a:defRPr sz="900" b="0">
                <a:solidFill>
                  <a:srgbClr val="53687D"/>
                </a:solidFill>
                <a:latin typeface="DejaVu Sans"/>
              </a:defRPr>
            </a:pPr>
            <a:r>
              <a:t>BTST206  •  BULUT TEXNOLOGIYALARI VA SERVISLAR  •  2027–2028</a:t>
            </a:r>
          </a:p>
        </p:txBody>
      </p:sp>
      <p:sp>
        <p:nvSpPr>
          <p:cNvPr id="7" name="TextBox 6"/>
          <p:cNvSpPr txBox="1"/>
          <p:nvPr/>
        </p:nvSpPr>
        <p:spPr>
          <a:xfrm>
            <a:off x="10607040" y="6473952"/>
            <a:ext cx="1005840" cy="274320"/>
          </a:xfrm>
          <a:prstGeom prst="rect">
            <a:avLst/>
          </a:prstGeom>
          <a:noFill/>
        </p:spPr>
        <p:txBody>
          <a:bodyPr wrap="square" lIns="27432" rIns="27432" tIns="18288" bIns="0">
            <a:spAutoFit/>
          </a:bodyPr>
          <a:lstStyle/>
          <a:p>
            <a:pPr>
              <a:spcAft>
                <a:spcPts val="1000"/>
              </a:spcAft>
              <a:defRPr sz="1200" b="1">
                <a:solidFill>
                  <a:srgbClr val="1678D2"/>
                </a:solidFill>
                <a:latin typeface="DejaVu Sans"/>
              </a:defRPr>
            </a:pPr>
            <a:r>
              <a:t>12</a:t>
            </a:r>
          </a:p>
        </p:txBody>
      </p:sp>
      <p:sp>
        <p:nvSpPr>
          <p:cNvPr id="8" name="Rounded Rectangle 7"/>
          <p:cNvSpPr/>
          <p:nvPr/>
        </p:nvSpPr>
        <p:spPr>
          <a:xfrm>
            <a:off x="640080" y="2075688"/>
            <a:ext cx="3611880" cy="3438144"/>
          </a:xfrm>
          <a:prstGeom prst="roundRect">
            <a:avLst>
              <a:gd name="adj" fmla="val 8000"/>
            </a:avLst>
          </a:prstGeom>
          <a:solidFill>
            <a:srgbClr val="EA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2286000"/>
            <a:ext cx="3136392" cy="502920"/>
          </a:xfrm>
          <a:prstGeom prst="rect">
            <a:avLst/>
          </a:prstGeom>
          <a:noFill/>
        </p:spPr>
        <p:txBody>
          <a:bodyPr wrap="square" lIns="27432" rIns="27432" tIns="18288" bIns="0">
            <a:spAutoFit/>
          </a:bodyPr>
          <a:lstStyle/>
          <a:p>
            <a:pPr>
              <a:spcAft>
                <a:spcPts val="1000"/>
              </a:spcAft>
              <a:defRPr sz="3100" b="1">
                <a:solidFill>
                  <a:srgbClr val="1678D2"/>
                </a:solidFill>
                <a:latin typeface="DejaVu Sans"/>
              </a:defRPr>
            </a:pPr>
            <a:r>
              <a:t>01</a:t>
            </a:r>
          </a:p>
        </p:txBody>
      </p:sp>
      <p:sp>
        <p:nvSpPr>
          <p:cNvPr id="10" name="TextBox 9"/>
          <p:cNvSpPr txBox="1"/>
          <p:nvPr/>
        </p:nvSpPr>
        <p:spPr>
          <a:xfrm>
            <a:off x="859536" y="3090672"/>
            <a:ext cx="3136392" cy="2103120"/>
          </a:xfrm>
          <a:prstGeom prst="rect">
            <a:avLst/>
          </a:prstGeom>
          <a:noFill/>
        </p:spPr>
        <p:txBody>
          <a:bodyPr wrap="square" lIns="27432" rIns="27432" tIns="18288" bIns="0">
            <a:spAutoFit/>
          </a:bodyPr>
          <a:lstStyle/>
          <a:p>
            <a:pPr>
              <a:spcAft>
                <a:spcPts val="1000"/>
              </a:spcAft>
              <a:defRPr sz="2500" b="1">
                <a:solidFill>
                  <a:srgbClr val="15365B"/>
                </a:solidFill>
                <a:latin typeface="DejaVu Sans"/>
              </a:defRPr>
            </a:pPr>
            <a:r>
              <a:t>Provayder resurslari ko‘plab mijozlarga xizmat qiladi.</a:t>
            </a:r>
          </a:p>
        </p:txBody>
      </p:sp>
      <p:sp>
        <p:nvSpPr>
          <p:cNvPr id="11" name="Rounded Rectangle 10"/>
          <p:cNvSpPr/>
          <p:nvPr/>
        </p:nvSpPr>
        <p:spPr>
          <a:xfrm>
            <a:off x="4498848" y="2075688"/>
            <a:ext cx="3611880" cy="3438144"/>
          </a:xfrm>
          <a:prstGeom prst="roundRect">
            <a:avLst>
              <a:gd name="adj" fmla="val 8000"/>
            </a:avLst>
          </a:prstGeom>
          <a:solidFill>
            <a:srgbClr val="EA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18304" y="2286000"/>
            <a:ext cx="3136392" cy="502920"/>
          </a:xfrm>
          <a:prstGeom prst="rect">
            <a:avLst/>
          </a:prstGeom>
          <a:noFill/>
        </p:spPr>
        <p:txBody>
          <a:bodyPr wrap="square" lIns="27432" rIns="27432" tIns="18288" bIns="0">
            <a:spAutoFit/>
          </a:bodyPr>
          <a:lstStyle/>
          <a:p>
            <a:pPr>
              <a:spcAft>
                <a:spcPts val="1000"/>
              </a:spcAft>
              <a:defRPr sz="3100" b="1">
                <a:solidFill>
                  <a:srgbClr val="1678D2"/>
                </a:solidFill>
                <a:latin typeface="DejaVu Sans"/>
              </a:defRPr>
            </a:pPr>
            <a:r>
              <a:t>02</a:t>
            </a:r>
          </a:p>
        </p:txBody>
      </p:sp>
      <p:sp>
        <p:nvSpPr>
          <p:cNvPr id="13" name="TextBox 12"/>
          <p:cNvSpPr txBox="1"/>
          <p:nvPr/>
        </p:nvSpPr>
        <p:spPr>
          <a:xfrm>
            <a:off x="4718304" y="3090672"/>
            <a:ext cx="3136392" cy="2103120"/>
          </a:xfrm>
          <a:prstGeom prst="rect">
            <a:avLst/>
          </a:prstGeom>
          <a:noFill/>
        </p:spPr>
        <p:txBody>
          <a:bodyPr wrap="square" lIns="27432" rIns="27432" tIns="18288" bIns="0">
            <a:spAutoFit/>
          </a:bodyPr>
          <a:lstStyle/>
          <a:p>
            <a:pPr>
              <a:spcAft>
                <a:spcPts val="1000"/>
              </a:spcAft>
              <a:defRPr sz="2500" b="1">
                <a:solidFill>
                  <a:srgbClr val="15365B"/>
                </a:solidFill>
                <a:latin typeface="DejaVu Sans"/>
              </a:defRPr>
            </a:pPr>
            <a:r>
              <a:t>Turli muhitlar o‘zaro bog‘lanib ishlaydi.</a:t>
            </a:r>
          </a:p>
        </p:txBody>
      </p:sp>
      <p:sp>
        <p:nvSpPr>
          <p:cNvPr id="14" name="Rounded Rectangle 13"/>
          <p:cNvSpPr/>
          <p:nvPr/>
        </p:nvSpPr>
        <p:spPr>
          <a:xfrm>
            <a:off x="8357615" y="2075688"/>
            <a:ext cx="3611880" cy="3438144"/>
          </a:xfrm>
          <a:prstGeom prst="roundRect">
            <a:avLst>
              <a:gd name="adj" fmla="val 8000"/>
            </a:avLst>
          </a:prstGeom>
          <a:solidFill>
            <a:srgbClr val="EA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77072" y="2286000"/>
            <a:ext cx="3136392" cy="502920"/>
          </a:xfrm>
          <a:prstGeom prst="rect">
            <a:avLst/>
          </a:prstGeom>
          <a:noFill/>
        </p:spPr>
        <p:txBody>
          <a:bodyPr wrap="square" lIns="27432" rIns="27432" tIns="18288" bIns="0">
            <a:spAutoFit/>
          </a:bodyPr>
          <a:lstStyle/>
          <a:p>
            <a:pPr>
              <a:spcAft>
                <a:spcPts val="1000"/>
              </a:spcAft>
              <a:defRPr sz="3100" b="1">
                <a:solidFill>
                  <a:srgbClr val="1678D2"/>
                </a:solidFill>
                <a:latin typeface="DejaVu Sans"/>
              </a:defRPr>
            </a:pPr>
            <a:r>
              <a:t>03</a:t>
            </a:r>
          </a:p>
        </p:txBody>
      </p:sp>
      <p:sp>
        <p:nvSpPr>
          <p:cNvPr id="16" name="TextBox 15"/>
          <p:cNvSpPr txBox="1"/>
          <p:nvPr/>
        </p:nvSpPr>
        <p:spPr>
          <a:xfrm>
            <a:off x="8577072" y="3090672"/>
            <a:ext cx="3136392" cy="2103120"/>
          </a:xfrm>
          <a:prstGeom prst="rect">
            <a:avLst/>
          </a:prstGeom>
          <a:noFill/>
        </p:spPr>
        <p:txBody>
          <a:bodyPr wrap="square" lIns="27432" rIns="27432" tIns="18288" bIns="0">
            <a:spAutoFit/>
          </a:bodyPr>
          <a:lstStyle/>
          <a:p>
            <a:pPr>
              <a:spcAft>
                <a:spcPts val="1000"/>
              </a:spcAft>
              <a:defRPr sz="2500" b="1">
                <a:solidFill>
                  <a:srgbClr val="15365B"/>
                </a:solidFill>
                <a:latin typeface="DejaVu Sans"/>
              </a:defRPr>
            </a:pPr>
            <a:r>
              <a:t>Bir nechta bulut provayderidan foydalanish.</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1678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0058400" cy="274320"/>
          </a:xfrm>
          <a:prstGeom prst="rect">
            <a:avLst/>
          </a:prstGeom>
          <a:noFill/>
        </p:spPr>
        <p:txBody>
          <a:bodyPr wrap="square" lIns="27432" rIns="27432" tIns="18288" bIns="0">
            <a:spAutoFit/>
          </a:bodyPr>
          <a:lstStyle/>
          <a:p>
            <a:pPr>
              <a:spcAft>
                <a:spcPts val="1000"/>
              </a:spcAft>
              <a:defRPr sz="1100" b="1">
                <a:solidFill>
                  <a:srgbClr val="1678D2"/>
                </a:solidFill>
                <a:latin typeface="DejaVu Sans"/>
              </a:defRPr>
            </a:pPr>
            <a:r>
              <a:t>M04 · QO‘SHIMCHA O‘QISH</a:t>
            </a:r>
          </a:p>
        </p:txBody>
      </p:sp>
      <p:sp>
        <p:nvSpPr>
          <p:cNvPr id="4" name="TextBox 3"/>
          <p:cNvSpPr txBox="1"/>
          <p:nvPr/>
        </p:nvSpPr>
        <p:spPr>
          <a:xfrm>
            <a:off x="502920" y="777240"/>
            <a:ext cx="11155680" cy="960120"/>
          </a:xfrm>
          <a:prstGeom prst="rect">
            <a:avLst/>
          </a:prstGeom>
          <a:noFill/>
        </p:spPr>
        <p:txBody>
          <a:bodyPr wrap="square" lIns="27432" rIns="27432" tIns="18288" bIns="0">
            <a:spAutoFit/>
          </a:bodyPr>
          <a:lstStyle/>
          <a:p>
            <a:pPr>
              <a:spcAft>
                <a:spcPts val="1000"/>
              </a:spcAft>
              <a:defRPr sz="2900" b="1">
                <a:solidFill>
                  <a:srgbClr val="15365B"/>
                </a:solidFill>
                <a:latin typeface="DejaVu Sans"/>
              </a:defRPr>
            </a:pPr>
            <a:r>
              <a:t>Manbalar va terminlar</a:t>
            </a:r>
          </a:p>
        </p:txBody>
      </p:sp>
      <p:sp>
        <p:nvSpPr>
          <p:cNvPr id="5" name="Rectangle 4"/>
          <p:cNvSpPr/>
          <p:nvPr/>
        </p:nvSpPr>
        <p:spPr>
          <a:xfrm>
            <a:off x="548640" y="6428232"/>
            <a:ext cx="11064240" cy="10972"/>
          </a:xfrm>
          <a:prstGeom prst="rect">
            <a:avLst/>
          </a:prstGeom>
          <a:solidFill>
            <a:srgbClr val="CEE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9144000" cy="182880"/>
          </a:xfrm>
          <a:prstGeom prst="rect">
            <a:avLst/>
          </a:prstGeom>
          <a:noFill/>
        </p:spPr>
        <p:txBody>
          <a:bodyPr wrap="square" lIns="27432" rIns="27432" tIns="18288" bIns="0">
            <a:spAutoFit/>
          </a:bodyPr>
          <a:lstStyle/>
          <a:p>
            <a:pPr>
              <a:spcAft>
                <a:spcPts val="1000"/>
              </a:spcAft>
              <a:defRPr sz="900" b="0">
                <a:solidFill>
                  <a:srgbClr val="53687D"/>
                </a:solidFill>
                <a:latin typeface="DejaVu Sans"/>
              </a:defRPr>
            </a:pPr>
            <a:r>
              <a:t>BTST206  •  BULUT TEXNOLOGIYALARI VA SERVISLAR  •  2027–2028</a:t>
            </a:r>
          </a:p>
        </p:txBody>
      </p:sp>
      <p:sp>
        <p:nvSpPr>
          <p:cNvPr id="7" name="TextBox 6"/>
          <p:cNvSpPr txBox="1"/>
          <p:nvPr/>
        </p:nvSpPr>
        <p:spPr>
          <a:xfrm>
            <a:off x="10607040" y="6473952"/>
            <a:ext cx="1005840" cy="274320"/>
          </a:xfrm>
          <a:prstGeom prst="rect">
            <a:avLst/>
          </a:prstGeom>
          <a:noFill/>
        </p:spPr>
        <p:txBody>
          <a:bodyPr wrap="square" lIns="27432" rIns="27432" tIns="18288" bIns="0">
            <a:spAutoFit/>
          </a:bodyPr>
          <a:lstStyle/>
          <a:p>
            <a:pPr>
              <a:spcAft>
                <a:spcPts val="1000"/>
              </a:spcAft>
              <a:defRPr sz="1200" b="1">
                <a:solidFill>
                  <a:srgbClr val="1678D2"/>
                </a:solidFill>
                <a:latin typeface="DejaVu Sans"/>
              </a:defRPr>
            </a:pPr>
            <a:r>
              <a:t>13</a:t>
            </a:r>
          </a:p>
        </p:txBody>
      </p:sp>
      <p:sp>
        <p:nvSpPr>
          <p:cNvPr id="8" name="TextBox 7"/>
          <p:cNvSpPr txBox="1"/>
          <p:nvPr/>
        </p:nvSpPr>
        <p:spPr>
          <a:xfrm>
            <a:off x="685800" y="1920240"/>
            <a:ext cx="10789920" cy="822960"/>
          </a:xfrm>
          <a:prstGeom prst="rect">
            <a:avLst/>
          </a:prstGeom>
          <a:noFill/>
        </p:spPr>
        <p:txBody>
          <a:bodyPr wrap="square" lIns="27432" rIns="27432" tIns="18288" bIns="0">
            <a:spAutoFit/>
          </a:bodyPr>
          <a:lstStyle/>
          <a:p>
            <a:pPr>
              <a:spcAft>
                <a:spcPts val="1000"/>
              </a:spcAft>
              <a:defRPr sz="2100" b="1">
                <a:solidFill>
                  <a:srgbClr val="15365B"/>
                </a:solidFill>
                <a:latin typeface="DejaVu Sans"/>
              </a:defRPr>
            </a:pPr>
            <a:r>
              <a:t>Asos: BTST206 sillabusi, 2027–2028. M1–M18 ma’ruza bo‘limi.</a:t>
            </a:r>
          </a:p>
        </p:txBody>
      </p:sp>
      <p:sp>
        <p:nvSpPr>
          <p:cNvPr id="9" name="TextBox 8"/>
          <p:cNvSpPr txBox="1"/>
          <p:nvPr/>
        </p:nvSpPr>
        <p:spPr>
          <a:xfrm>
            <a:off x="713232" y="2926080"/>
            <a:ext cx="10744200" cy="512064"/>
          </a:xfrm>
          <a:prstGeom prst="rect">
            <a:avLst/>
          </a:prstGeom>
          <a:noFill/>
        </p:spPr>
        <p:txBody>
          <a:bodyPr wrap="square" lIns="27432" rIns="27432" tIns="18288" bIns="0">
            <a:spAutoFit/>
          </a:bodyPr>
          <a:lstStyle/>
          <a:p>
            <a:pPr>
              <a:spcAft>
                <a:spcPts val="1000"/>
              </a:spcAft>
              <a:defRPr sz="1600" b="0">
                <a:solidFill>
                  <a:srgbClr val="1678D2"/>
                </a:solidFill>
                <a:latin typeface="DejaVu Sans"/>
              </a:defRPr>
            </a:pPr>
            <a:r>
              <a:t>https://csrc.nist.gov/pubs/sp/800/145/final</a:t>
            </a:r>
          </a:p>
        </p:txBody>
      </p:sp>
      <p:sp>
        <p:nvSpPr>
          <p:cNvPr id="10" name="TextBox 9"/>
          <p:cNvSpPr txBox="1"/>
          <p:nvPr/>
        </p:nvSpPr>
        <p:spPr>
          <a:xfrm>
            <a:off x="713232" y="3456432"/>
            <a:ext cx="10744200" cy="512064"/>
          </a:xfrm>
          <a:prstGeom prst="rect">
            <a:avLst/>
          </a:prstGeom>
          <a:noFill/>
        </p:spPr>
        <p:txBody>
          <a:bodyPr wrap="square" lIns="27432" rIns="27432" tIns="18288" bIns="0">
            <a:spAutoFit/>
          </a:bodyPr>
          <a:lstStyle/>
          <a:p>
            <a:pPr>
              <a:spcAft>
                <a:spcPts val="1000"/>
              </a:spcAft>
              <a:defRPr sz="1600" b="0">
                <a:solidFill>
                  <a:srgbClr val="1678D2"/>
                </a:solidFill>
                <a:latin typeface="DejaVu Sans"/>
              </a:defRPr>
            </a:pPr>
            <a:r>
              <a:t>https://cloud.google.com/architecture/hybrid-multicloud</a:t>
            </a:r>
          </a:p>
        </p:txBody>
      </p:sp>
      <p:sp>
        <p:nvSpPr>
          <p:cNvPr id="11" name="TextBox 10"/>
          <p:cNvSpPr txBox="1"/>
          <p:nvPr/>
        </p:nvSpPr>
        <p:spPr>
          <a:xfrm>
            <a:off x="713232" y="5650992"/>
            <a:ext cx="10789920" cy="502920"/>
          </a:xfrm>
          <a:prstGeom prst="rect">
            <a:avLst/>
          </a:prstGeom>
          <a:noFill/>
        </p:spPr>
        <p:txBody>
          <a:bodyPr wrap="square" lIns="27432" rIns="27432" tIns="18288" bIns="0">
            <a:spAutoFit/>
          </a:bodyPr>
          <a:lstStyle/>
          <a:p>
            <a:pPr>
              <a:spcAft>
                <a:spcPts val="1000"/>
              </a:spcAft>
              <a:defRPr sz="1600" b="0">
                <a:solidFill>
                  <a:srgbClr val="53687D"/>
                </a:solidFill>
                <a:latin typeface="DejaVu Sans"/>
              </a:defRPr>
            </a:pPr>
            <a:r>
              <a:t>Narx, limit va xizmat nomlarining amaldagi holati rasmiy hujjatlarda tekshiriladi.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