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Assalomu alaykum, aziz talabalar. Bugungi ma’ruzamiz «Virtualizatsiya texnologiyalari» mavzusiga bag‘ishlanadi. Mavzuni murakkab atamalardan emas, kundalik ehtiyojdan boshlaymiz. Universitetda kutubxona, portal va test tizimi uchun uchta alohida muhit kerak. Virtualizatsiya ularni bitta kuchli serverda mantiqiy ajratib ishlatishga imkon beradi.</a:t>
            </a:r>
          </a:p>
          <a:p/>
          <a:p>
            <a:r>
              <a:t>Biz avval asosiy tushunchalarni ajratamiz, keyin ularning ishlash tartibini sxemada ko‘ramiz. Maqsad xizmat nomlarini yodlash emas, ularning qaysi vazifani bajarishini va qayerda cheklanishini tushunishdir. Inglizcha atama uchraganda uning sodda o‘zbekcha ma’nosi bilan bog‘laymiz. Slayddagi qisqa jumlalar tayanch fikrlar bo‘lib, ularning batafsil izohi ushbu ma’ruza matnida beriladi.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Ma’ruza oltita asosiy bo‘limdan iborat. 1-bo‘limda virtualizatsiyaning mohiyati tushuntiriladi. 2-bo‘limda gipervizor va virtual mashina tushuntiriladi. 3-bo‘limda type 1 gipervizor tushuntiriladi. 4-bo‘limda type 2 gipervizor tushuntiriladi. 5-bo‘limda vmware, hyper-v va kvm tushuntiriladi. 6-bo‘limda resurslar, snapshot va zaxira tushuntiriladi.</a:t>
            </a:r>
          </a:p>
          <a:p/>
          <a:p>
            <a:r>
              <a:t>Har bir bo‘limda bir xil fikrlash tartibidan foydalanamiz: tushuncha nimani anglatadi, qanday ishlaydi, universitet portalida qayerda ko‘rinadi va qaysi holatda ehtiyot bo‘lish kerak. Shundan keyin umumiy sxema barcha qismlarni bir-biriga bog‘laydi. Oxirida o‘qituvchi bayon qiladigan misol, chalkash tushunchalar va yakuniy xulosalar beriladi. Bu ketma-ketlik amaliy topshiriq emas, videodarsning tushuntirish rejasidir.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Virtualizatsiya CPU, xotira, disk va tarmoqni dasturiy boshqariladigan resurslarga aylantiradi. Har bir virtual mashina o‘z operatsion tizimiga ega bo‘lishi mumkin. Dastur o‘zini alohida kompyuterda ishlayotgandek tutadi.</a:t>
            </a:r>
          </a:p>
          <a:p/>
          <a:p>
            <a:r>
              <a:t>Gipervizor jismoniy resurslarni virtual mashinalar o‘rtasida taqsimlaydi. CPU uchun rejalashtirish, xotira ajratish va virtual qurilmalar bilan ishlash shu qatlam orqali bajariladi.</a:t>
            </a:r>
          </a:p>
          <a:p/>
          <a:p>
            <a:r>
              <a:t>Universitet misolida buni quyidagicha tasavvur qilamiz. Bitta serverda Linux asosidagi portal va boshqa operatsion tizimdagi eski dastur yonma-yon ishlashi mumkin. Bu misolda texnik atama real vazifa bilan bog‘lanadi: resursning nomini emas, nima uchun tanlanganini tushunish muhim.</a:t>
            </a:r>
          </a:p>
          <a:p/>
          <a:p>
            <a:r>
              <a:t>E’tibor beradigan chegara ham bor. Ajratish kuchli bo‘lsa ham, gipervizor zaifligi yoki noto‘g‘ri sozlama xavfini butunlay yo‘q qilmaydi.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Gipervizor virtual mashinalarni yaratish va ishga tushirish qatlamidir. VM tarkibida virtual CPU, xotira, disk, tarmoq adapteri va mehmon operatsion tizimi bo‘ladi. Host esa virtual mashinalarni olib boruvchi asosiy tizimdir.</a:t>
            </a:r>
          </a:p>
          <a:p/>
          <a:p>
            <a:r>
              <a:t>VM konfiguratsiyasi resurs chegaralarini belgilaydi. Mehmon operatsion tizimi odatdagi kompyuterdagidek yuklanadi va dasturlarni ishga tushiradi.</a:t>
            </a:r>
          </a:p>
          <a:p/>
          <a:p>
            <a:r>
              <a:t>Universitet misolida buni quyidagicha tasavvur qilamiz. Kutubxona tizimiga 2 vCPU va 4 GB xotira ajratilib, uning virtual diski alohida boshqariladi. Bu misolda texnik atama real vazifa bilan bog‘lanadi: resursning nomini emas, nima uchun tanlanganini tushunish muhim.</a:t>
            </a:r>
          </a:p>
          <a:p/>
          <a:p>
            <a:r>
              <a:t>E’tibor beradigan chegara ham bor. vCPU soni jismoniy yadro soniga to‘g‘ridan-to‘g‘ri teng emas; ishlash yuklama va taqsimlashga bog‘liq.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Type 1 gipervizor server uskunasi bilan bevosita ishlaydi va ma’lumotlar markazlarida keng qo‘llanadi. Bunday arxitektura ko‘p virtual mashinalarni markazlashgan boshqarish uchun mos. Boshqaruv interfeysi alohida komponent bo‘lishi mumkin.</a:t>
            </a:r>
          </a:p>
          <a:p/>
          <a:p>
            <a:r>
              <a:t>Server yuklanganda gipervizor ishga tushadi. Uning ustida mehmon tizimlar ishlaydi. Boshqaruv vositasi orqali VM yaratish, ko‘chirish va kuzatish amalga oshiriladi.</a:t>
            </a:r>
          </a:p>
          <a:p/>
          <a:p>
            <a:r>
              <a:t>Universitet misolida buni quyidagicha tasavvur qilamiz. VMware ESXi va Hyper-V server virtualizatsiyasining mashhur misollaridir. Hyper-V da boshqaruv tizimi bo‘lsa ham arxitektura Type 1 hisoblanadi. Bu misolda texnik atama real vazifa bilan bog‘lanadi: resursning nomini emas, nima uchun tanlanganini tushunish muhim.</a:t>
            </a:r>
          </a:p>
          <a:p/>
          <a:p>
            <a:r>
              <a:t>E’tibor beradigan chegara ham bor. Gipervizor turi bilan butun mahsulotning litsenziya va boshqaruv imkoniyatlarini aralashtirmaslik kerak.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Type 2 gipervizor host operatsion tizimi ichida dastur sifatida ishlaydi. U o‘rganish, tajriba va ish stansiyasida qo‘shimcha muhit yaratish uchun qulay. Uskunaga kirish host tizimi orqali amalga oshadi.</a:t>
            </a:r>
          </a:p>
          <a:p/>
          <a:p>
            <a:r>
              <a:t>Avval host operatsion tizimi yuklanadi. Keyin virtualizatsiya dasturi ochilib, virtual mashina ishga tushiriladi. Host va mehmon bir xil jismoniy resurslardan foydalanadi.</a:t>
            </a:r>
          </a:p>
          <a:p/>
          <a:p>
            <a:r>
              <a:t>Universitet misolida buni quyidagicha tasavvur qilamiz. Talaba o‘z noutbukida VirtualBox yordamida Linux virtual mashinasini ishga tushiradi. Bu misolda texnik atama real vazifa bilan bog‘lanadi: resursning nomini emas, nima uchun tanlanganini tushunish muhim.</a:t>
            </a:r>
          </a:p>
          <a:p/>
          <a:p>
            <a:r>
              <a:t>E’tibor beradigan chegara ham bor. Host tizimining yuklamasi yoki qayta yuklanishi mehmon tizimga ham ta’sir qiladi.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VMware virtualizatsiya va boshqaruv mahsulotlari oilasidir. Hyper-V Microsoft ekotizimi bilan bog‘liq. KVM esa Linux yadrosidagi virtualizatsiya mexanizmi bo‘lib, odatda QEMU va libvirt bilan ishlatiladi.</a:t>
            </a:r>
          </a:p>
          <a:p/>
          <a:p>
            <a:r>
              <a:t>Vositalar mehmon tizimlarni yuritish, virtual disk va tarmoqni boshqarish hamda kuzatuv imkoniyatlarini taqdim etadi. KVM Linux yadrosini gipervizor vazifasida ishlatadi.</a:t>
            </a:r>
          </a:p>
          <a:p/>
          <a:p>
            <a:r>
              <a:t>Universitet misolida buni quyidagicha tasavvur qilamiz. Linux serverlarida KVM, Microsoft infratuzilmasida Hyper-V tanlanishi mumkin; tanlov jamoa tajribasi va qo‘llab-quvvatlashga bog‘liq. Bu misolda texnik atama real vazifa bilan bog‘lanadi: resursning nomini emas, nima uchun tanlanganini tushunish muhim.</a:t>
            </a:r>
          </a:p>
          <a:p/>
          <a:p>
            <a:r>
              <a:t>E’tibor beradigan chegara ham bor. Barcha vositalarning funksiyasi va bepul imkoniyatlari bir xil deb qabul qilinmaydi.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VM resurslari haddan tashqari ko‘p taqsimlansa, xotira va disk bo‘yicha raqobat paydo bo‘ladi. Snapshot esa tizim holatini ma’lum vaqtda qayd etadi. U yangilanishdan oldin foydali, ammo mustaqil zaxira siyosati o‘rnini bosa olmaydi.</a:t>
            </a:r>
          </a:p>
          <a:p/>
          <a:p>
            <a:r>
              <a:t>CPU va xotira yuklamasi kuzatiladi. Virtual disklarning bo‘sh joyi tekshiriladi. Zaxira boshqa nosozlik hududida saqlanib, tiklash sinovi bilan tekshiriladi.</a:t>
            </a:r>
          </a:p>
          <a:p/>
          <a:p>
            <a:r>
              <a:t>Universitet misolida buni quyidagicha tasavvur qilamiz. Portal yangilanishidan oldin snapshot olinadi, kundalik zaxira esa boshqa saqlash tizimiga ko‘chiriladi. Bu misolda texnik atama real vazifa bilan bog‘lanadi: resursning nomini emas, nima uchun tanlanganini tushunish muhim.</a:t>
            </a:r>
          </a:p>
          <a:p/>
          <a:p>
            <a:r>
              <a:t>E’tibor beradigan chegara ham bor. Uzoq saqlangan snapshot disk sarfi va unumdorlikka ta’sir qilishi mumkin.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Endi mavzuni yaxlit sxemada ko‘ramiz. To‘rtburchaklar asosiy komponentlarni, o‘qlar esa ma’lumot, murojaat yoki boshqaruv bog‘lanishini ko‘rsatadi. Bu soddalashtirilgan ta’lim sxemasi: unda barcha xavfsizlik qoidalari, ichki protokollar va zaxira komponentlari alohida chizilmagan.</a:t>
            </a:r>
          </a:p>
          <a:p/>
          <a:p>
            <a:r>
              <a:t>«Jismoniy uskuna» bilan «Gipervizor» o‘rtasida sxemada bog‘lanish ko‘rsatilgan. «Gipervizor» bilan «VM 1 · Linux» o‘rtasida sxemada bog‘lanish ko‘rsatilgan. «Gipervizor» bilan «VM 2 · boshqa OS» o‘rtasida sxemada bog‘lanish ko‘rsatilgan. «VM 1 · Linux» bilan «Ilovalar» o‘rtasida sxemada bog‘lanish ko‘rsatilgan. «VM 2 · boshqa OS» bilan «Ilovalar» o‘rtasida sxemada bog‘lanish ko‘rsatilgan.</a:t>
            </a:r>
          </a:p>
          <a:p/>
          <a:p>
            <a:r>
              <a:t>Bu bog‘lanishlarni barcha xizmatlarda bir xil buyruq yoki bir xil fizik kabel deb tushunmaymiz. Ayrim o‘qlar bajarilish ketma-ketligini, ayrimlari resursni boshqarish yoki unga kirish aloqasini anglatadi. VM konfiguratsiyasi resurs chegaralarini belgilaydi. Mehmon operatsion tizimi odatdagi kompyuterdagidek yuklanadi va dasturlarni ishga tushiradi.</a:t>
            </a:r>
          </a:p>
          <a:p/>
          <a:p>
            <a:r>
              <a:t>Sxemaning asosiy foydasi mas’uliyatlarni ajratib ko‘rsatishdir. Linux serverlarida KVM, Microsoft infratuzilmasida Hyper-V tanlanishi mumkin; tanlov jamoa tajribasi va qo‘llab-quvvatlashga bog‘liq. Bir qismdagi o‘zgarish boshqasiga qanday ta’sir qilishini ko‘rish orqali murakkab tizimni kichik va tushunarli qismlarga ajratamiz.</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Keling, nazariyani bitta izchil vaziyat bilan bog‘laymiz. Universitetda kutubxona, portal va test tizimi uchun uchta alohida muhit kerak. Virtualizatsiya ularni bitta kuchli serverda mantiqiy ajratib ishlatishga imkon beradi.</a:t>
            </a:r>
          </a:p>
          <a:p/>
          <a:p>
            <a:r>
              <a:t>Avval ehtiyoj aniqlanadi: kim tizimdan foydalanadi, qaysi ma’lumot bilan ishlanadi va qanday natija kutiladi. Bitta serverda Linux asosidagi portal va boshqa operatsion tizimdagi eski dastur yonma-yon ishlashi mumkin. Keyin texnik qismlar shu talabga mos tanlanadi. VMware ESXi va Hyper-V server virtualizatsiyasining mashhur misollaridir. Hyper-V da boshqaruv tizimi bo‘lsa ham arxitektura Type 1 hisoblanadi.</a:t>
            </a:r>
          </a:p>
          <a:p/>
          <a:p>
            <a:r>
              <a:t>Ishlash jarayonida faqat muvaffaqiyatli holat emas, xato va cheklovlar ham hisobga olinadi. Host tizimining yuklamasi yoki qayta yuklanishi mehmon tizimga ham ta’sir qiladi. Shu sababli jamoa talabni, ruxsatni va nosozlikdagi xatti-harakatni oldindan belgilaydi. Portal yangilanishidan oldin snapshot olinadi, kundalik zaxira esa boshqa saqlash tizimiga ko‘chiriladi.</a:t>
            </a:r>
          </a:p>
          <a:p/>
          <a:p>
            <a:r>
              <a:t>Misolning xulosasi shuki, texnologiya alohida maqsad emas. U talabaga kerakli xizmatni sodda, xavfsiz va barqaror yetkazishga xizmat qiladi. Slayddagi tayanch qismlar ishni rejalashga yordam beradi; haqiqiy joylashtirishda esa aniq konfiguratsiya va amaldagi hujjatlar talab qilinadi.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Mavzuni to‘g‘ri tushunish uchun uchta chegarani qayta ajratamiz.</a:t>
            </a:r>
          </a:p>
          <a:p/>
          <a:p>
            <a:r>
              <a:t>1. Ajratish kuchli bo‘lsa ham, gipervizor zaifligi yoki noto‘g‘ri sozlama xavfini butunlay yo‘q qilmaydi. To‘g‘ri talqin quyidagicha: Virtualizatsiya CPU, xotira, disk va tarmoqni dasturiy boshqariladigan resurslarga aylantiradi. Har bir virtual mashina o‘z operatsion tizimiga ega bo‘lishi mumkin. Dastur o‘zini alohida kompyuterda ishlayotgandek tutadi.</a:t>
            </a:r>
          </a:p>
          <a:p/>
          <a:p>
            <a:r>
              <a:t>2. Host tizimining yuklamasi yoki qayta yuklanishi mehmon tizimga ham ta’sir qiladi. To‘g‘ri talqin quyidagicha: Type 2 gipervizor host operatsion tizimi ichida dastur sifatida ishlaydi. U o‘rganish, tajriba va ish stansiyasida qo‘shimcha muhit yaratish uchun qulay. Uskunaga kirish host tizimi orqali amalga oshadi.</a:t>
            </a:r>
          </a:p>
          <a:p/>
          <a:p>
            <a:r>
              <a:t>3. Uzoq saqlangan snapshot disk sarfi va unumdorlikka ta’sir qilishi mumkin. To‘g‘ri talqin quyidagicha: VM resurslari haddan tashqari ko‘p taqsimlansa, xotira va disk bo‘yicha raqobat paydo bo‘ladi. Snapshot esa tizim holatini ma’lum vaqtda qayd etadi. U yangilanishdan oldin foydali, ammo mustaqil zaxira siyosati o‘rnini bosa olmaydi.</a:t>
            </a:r>
          </a:p>
          <a:p/>
          <a:p>
            <a:r>
              <a:t>Bu izohlar texnologiyani rad etish uchun emas, undan o‘rinli foydalanish uchun kerak. Ta’rif, amaliy vazifa va shart birga o‘qilgandagina to‘g‘ri xulosa paydo bo‘ladi. Shuning uchun xizmat nomi yoki bitta imkoniyatga qarab butun tizim haqida umumiy hukm chiqarmaymiz.</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Bugungi ma’ruzani yakunlaymiz. Bitta jismoniy serverda bir nechta mustaqil muhit — mavzuning umumiy mazmunini ifodalaydi.</a:t>
            </a:r>
          </a:p>
          <a:p/>
          <a:p>
            <a:r>
              <a:t>Asosiy tayanch fikr: Jismoniy resurslardan mantiqiy mashinalar yaratish. Gipervizor jismoniy resurslarni virtual mashinalar o‘rtasida taqsimlaydi. CPU uchun rejalashtirish, xotira ajratish va virtual qurilmalar bilan ishlash shu qatlam orqali bajariladi.</a:t>
            </a:r>
          </a:p>
          <a:p/>
          <a:p>
            <a:r>
              <a:t>Asosiy tayanch fikr: Virtualizatsiya qatlamini bevosita uskuna ustida yuritish. Server yuklanganda gipervizor ishga tushadi. Uning ustida mehmon tizimlar ishlaydi. Boshqaruv vositasi orqali VM yaratish, ko‘chirish va kuzatish amalga oshiriladi.</a:t>
            </a:r>
          </a:p>
          <a:p/>
          <a:p>
            <a:r>
              <a:t>Asosiy tayanch fikr: Vosita tanlash — ekotizim va talabga bog‘liq. Vositalar mehmon tizimlarni yuritish, virtual disk va tarmoqni boshqarish hamda kuzatuv imkoniyatlarini taqdim etadi. KVM Linux yadrosini gipervizor vazifasida ishlatadi.</a:t>
            </a:r>
          </a:p>
          <a:p/>
          <a:p>
            <a:r>
              <a:t>Barcha bo‘limlarni universitet portali misoli orqali bog‘ladik. Endi atamalarni alohida so‘z sifatida emas, tizimdagi aniq vazifa sifatida ko‘rish mumkin. Arxitektura tanlashda talab, cheklov, xavfsizlik va xarajat birgalikda baholanadi. Mavzuni takrorlashda avval ta’rifni, keyin sxemani, so‘ng misol va chegaralarni ko‘zdan kechirish foydali. E’tiboringiz uchun rahmat.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Ushbu mavzu foydalanuvchi taqdim etgan BTST206 sillabusidagi tegishli ma’ruza bo‘limi asosida tuzildi. Slaydda mavzuni chuqurroq o‘qish uchun rasmiy hujjatlarga havolalar ko‘rsatilgan. Xizmatlar yangilanib boradi, shuning uchun amaliy ish oldidan tanlangan versiya, region, tarif va limitlar tekshiriladi. Bu ma’ruzada maqsad o‘zgaruvchan raqamlarni yodlash emas, barqaror tamoyillarni tushunishdir.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BFD"/>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246E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94360"/>
            <a:ext cx="6766560" cy="320040"/>
          </a:xfrm>
          <a:prstGeom prst="rect">
            <a:avLst/>
          </a:prstGeom>
          <a:noFill/>
        </p:spPr>
        <p:txBody>
          <a:bodyPr wrap="square" lIns="27432" rIns="27432" tIns="18288" bIns="0">
            <a:spAutoFit/>
          </a:bodyPr>
          <a:lstStyle/>
          <a:p>
            <a:pPr>
              <a:spcAft>
                <a:spcPts val="800"/>
              </a:spcAft>
              <a:defRPr sz="1200" b="1">
                <a:solidFill>
                  <a:srgbClr val="246EC3"/>
                </a:solidFill>
                <a:latin typeface="DejaVu Sans"/>
              </a:defRPr>
            </a:pPr>
            <a:r>
              <a:t>05  /  VIRTUALIZATSIYA TEXNOLOGIYALARI</a:t>
            </a:r>
          </a:p>
        </p:txBody>
      </p:sp>
      <p:sp>
        <p:nvSpPr>
          <p:cNvPr id="4" name="TextBox 3"/>
          <p:cNvSpPr txBox="1"/>
          <p:nvPr/>
        </p:nvSpPr>
        <p:spPr>
          <a:xfrm>
            <a:off x="685800" y="1508760"/>
            <a:ext cx="6629400" cy="2029968"/>
          </a:xfrm>
          <a:prstGeom prst="rect">
            <a:avLst/>
          </a:prstGeom>
          <a:noFill/>
        </p:spPr>
        <p:txBody>
          <a:bodyPr wrap="square" lIns="27432" rIns="27432" tIns="18288" bIns="0">
            <a:spAutoFit/>
          </a:bodyPr>
          <a:lstStyle/>
          <a:p>
            <a:pPr>
              <a:spcAft>
                <a:spcPts val="800"/>
              </a:spcAft>
              <a:defRPr sz="3700" b="1">
                <a:solidFill>
                  <a:srgbClr val="223B53"/>
                </a:solidFill>
                <a:latin typeface="DejaVu Sans"/>
              </a:defRPr>
            </a:pPr>
            <a:r>
              <a:t>Bir server.</a:t>
            </a:r>
          </a:p>
          <a:p>
            <a:pPr>
              <a:spcAft>
                <a:spcPts val="800"/>
              </a:spcAft>
              <a:defRPr sz="3700" b="1">
                <a:solidFill>
                  <a:srgbClr val="223B53"/>
                </a:solidFill>
                <a:latin typeface="DejaVu Sans"/>
              </a:defRPr>
            </a:pPr>
            <a:r>
              <a:t>Bir nechta</a:t>
            </a:r>
          </a:p>
          <a:p>
            <a:pPr>
              <a:spcAft>
                <a:spcPts val="800"/>
              </a:spcAft>
              <a:defRPr sz="3700" b="1">
                <a:solidFill>
                  <a:srgbClr val="223B53"/>
                </a:solidFill>
                <a:latin typeface="DejaVu Sans"/>
              </a:defRPr>
            </a:pPr>
            <a:r>
              <a:t>mustaqil muhit.</a:t>
            </a:r>
          </a:p>
        </p:txBody>
      </p:sp>
      <p:sp>
        <p:nvSpPr>
          <p:cNvPr id="5" name="TextBox 4"/>
          <p:cNvSpPr txBox="1"/>
          <p:nvPr/>
        </p:nvSpPr>
        <p:spPr>
          <a:xfrm>
            <a:off x="731520" y="4005072"/>
            <a:ext cx="6446520" cy="914400"/>
          </a:xfrm>
          <a:prstGeom prst="rect">
            <a:avLst/>
          </a:prstGeom>
          <a:noFill/>
        </p:spPr>
        <p:txBody>
          <a:bodyPr wrap="square" lIns="27432" rIns="27432" tIns="18288" bIns="0">
            <a:spAutoFit/>
          </a:bodyPr>
          <a:lstStyle/>
          <a:p>
            <a:pPr>
              <a:spcAft>
                <a:spcPts val="800"/>
              </a:spcAft>
              <a:defRPr sz="2200" b="0">
                <a:solidFill>
                  <a:srgbClr val="4D6D86"/>
                </a:solidFill>
                <a:latin typeface="DejaVu Sans"/>
              </a:defRPr>
            </a:pPr>
            <a:r>
              <a:t>Bitta jismoniy serverda bir nechta mustaqil muhit</a:t>
            </a:r>
          </a:p>
        </p:txBody>
      </p:sp>
      <p:pic>
        <p:nvPicPr>
          <p:cNvPr id="6" name="Picture 5" descr="photo1.jpg"/>
          <p:cNvPicPr>
            <a:picLocks noChangeAspect="1"/>
          </p:cNvPicPr>
          <p:nvPr/>
        </p:nvPicPr>
        <p:blipFill>
          <a:blip r:embed="rId2"/>
          <a:srcRect t="5556" b="5556"/>
          <a:stretch>
            <a:fillRect/>
          </a:stretch>
        </p:blipFill>
        <p:spPr>
          <a:xfrm>
            <a:off x="8732520" y="685800"/>
            <a:ext cx="2743200" cy="1828800"/>
          </a:xfrm>
          <a:prstGeom prst="rect">
            <a:avLst/>
          </a:prstGeom>
        </p:spPr>
      </p:pic>
      <p:sp>
        <p:nvSpPr>
          <p:cNvPr id="7" name="Rounded Rectangle 6"/>
          <p:cNvSpPr/>
          <p:nvPr/>
        </p:nvSpPr>
        <p:spPr>
          <a:xfrm>
            <a:off x="7818120" y="2880360"/>
            <a:ext cx="3611880" cy="2971800"/>
          </a:xfrm>
          <a:prstGeom prst="roundRect">
            <a:avLst>
              <a:gd name="adj" fmla="val 8000"/>
            </a:avLst>
          </a:prstGeom>
          <a:solidFill>
            <a:srgbClr val="DCEAF4"/>
          </a:solidFill>
          <a:ln>
            <a:solidFill>
              <a:srgbClr val="7EA9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001000" y="3108960"/>
            <a:ext cx="3246120" cy="466344"/>
          </a:xfrm>
          <a:prstGeom prst="roundRect">
            <a:avLst>
              <a:gd name="adj" fmla="val 8000"/>
            </a:avLst>
          </a:prstGeom>
          <a:solidFill>
            <a:srgbClr val="FFFFFF"/>
          </a:solidFill>
          <a:ln>
            <a:solidFill>
              <a:srgbClr val="9AB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183880" y="3218688"/>
            <a:ext cx="82296" cy="82296"/>
          </a:xfrm>
          <a:prstGeom prst="ellipse">
            <a:avLst/>
          </a:prstGeom>
          <a:solidFill>
            <a:srgbClr val="45B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385048" y="3218688"/>
            <a:ext cx="82296" cy="82296"/>
          </a:xfrm>
          <a:prstGeom prst="ellipse">
            <a:avLst/>
          </a:prstGeom>
          <a:solidFill>
            <a:srgbClr val="8CB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10789920" y="3200400"/>
            <a:ext cx="0" cy="182879"/>
          </a:xfrm>
          <a:prstGeom prst="line">
            <a:avLst/>
          </a:prstGeom>
          <a:ln w="12700">
            <a:solidFill>
              <a:srgbClr val="9ABED8"/>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001000" y="3611880"/>
            <a:ext cx="3246120" cy="466344"/>
          </a:xfrm>
          <a:prstGeom prst="roundRect">
            <a:avLst>
              <a:gd name="adj" fmla="val 8000"/>
            </a:avLst>
          </a:prstGeom>
          <a:solidFill>
            <a:srgbClr val="FFFFFF"/>
          </a:solidFill>
          <a:ln>
            <a:solidFill>
              <a:srgbClr val="9AB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183880" y="3721608"/>
            <a:ext cx="82296" cy="82296"/>
          </a:xfrm>
          <a:prstGeom prst="ellipse">
            <a:avLst/>
          </a:prstGeom>
          <a:solidFill>
            <a:srgbClr val="45B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385048" y="3721608"/>
            <a:ext cx="82296" cy="82296"/>
          </a:xfrm>
          <a:prstGeom prst="ellipse">
            <a:avLst/>
          </a:prstGeom>
          <a:solidFill>
            <a:srgbClr val="8CB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10789920" y="3703320"/>
            <a:ext cx="0" cy="182880"/>
          </a:xfrm>
          <a:prstGeom prst="line">
            <a:avLst/>
          </a:prstGeom>
          <a:ln w="12700">
            <a:solidFill>
              <a:srgbClr val="9ABED8"/>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8001000" y="4114800"/>
            <a:ext cx="3246120" cy="466344"/>
          </a:xfrm>
          <a:prstGeom prst="roundRect">
            <a:avLst>
              <a:gd name="adj" fmla="val 8000"/>
            </a:avLst>
          </a:prstGeom>
          <a:solidFill>
            <a:srgbClr val="FFFFFF"/>
          </a:solidFill>
          <a:ln>
            <a:solidFill>
              <a:srgbClr val="9AB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183880" y="4224528"/>
            <a:ext cx="82296" cy="82296"/>
          </a:xfrm>
          <a:prstGeom prst="ellipse">
            <a:avLst/>
          </a:prstGeom>
          <a:solidFill>
            <a:srgbClr val="45B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385048" y="4224528"/>
            <a:ext cx="82296" cy="82296"/>
          </a:xfrm>
          <a:prstGeom prst="ellipse">
            <a:avLst/>
          </a:prstGeom>
          <a:solidFill>
            <a:srgbClr val="8CB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a:off x="10789920" y="4206240"/>
            <a:ext cx="0" cy="182880"/>
          </a:xfrm>
          <a:prstGeom prst="line">
            <a:avLst/>
          </a:prstGeom>
          <a:ln w="12700">
            <a:solidFill>
              <a:srgbClr val="9ABED8"/>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8001000" y="4617720"/>
            <a:ext cx="3246120" cy="466344"/>
          </a:xfrm>
          <a:prstGeom prst="roundRect">
            <a:avLst>
              <a:gd name="adj" fmla="val 8000"/>
            </a:avLst>
          </a:prstGeom>
          <a:solidFill>
            <a:srgbClr val="FFFFFF"/>
          </a:solidFill>
          <a:ln>
            <a:solidFill>
              <a:srgbClr val="9AB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183880" y="4727448"/>
            <a:ext cx="82296" cy="82296"/>
          </a:xfrm>
          <a:prstGeom prst="ellipse">
            <a:avLst/>
          </a:prstGeom>
          <a:solidFill>
            <a:srgbClr val="45B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385048" y="4727448"/>
            <a:ext cx="82296" cy="82296"/>
          </a:xfrm>
          <a:prstGeom prst="ellipse">
            <a:avLst/>
          </a:prstGeom>
          <a:solidFill>
            <a:srgbClr val="8CB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a:off x="10789920" y="4709159"/>
            <a:ext cx="0" cy="182881"/>
          </a:xfrm>
          <a:prstGeom prst="line">
            <a:avLst/>
          </a:prstGeom>
          <a:ln w="12700">
            <a:solidFill>
              <a:srgbClr val="9ABED8"/>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001000" y="5120640"/>
            <a:ext cx="3246120" cy="466344"/>
          </a:xfrm>
          <a:prstGeom prst="roundRect">
            <a:avLst>
              <a:gd name="adj" fmla="val 8000"/>
            </a:avLst>
          </a:prstGeom>
          <a:solidFill>
            <a:srgbClr val="FFFFFF"/>
          </a:solidFill>
          <a:ln>
            <a:solidFill>
              <a:srgbClr val="9AB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183880" y="5230368"/>
            <a:ext cx="82296" cy="82296"/>
          </a:xfrm>
          <a:prstGeom prst="ellipse">
            <a:avLst/>
          </a:prstGeom>
          <a:solidFill>
            <a:srgbClr val="45B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385048" y="5230368"/>
            <a:ext cx="82296" cy="82296"/>
          </a:xfrm>
          <a:prstGeom prst="ellipse">
            <a:avLst/>
          </a:prstGeom>
          <a:solidFill>
            <a:srgbClr val="8CB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 name="Connector 26"/>
          <p:cNvCxnSpPr/>
          <p:nvPr/>
        </p:nvCxnSpPr>
        <p:spPr>
          <a:xfrm>
            <a:off x="10789920" y="5212079"/>
            <a:ext cx="0" cy="182880"/>
          </a:xfrm>
          <a:prstGeom prst="line">
            <a:avLst/>
          </a:prstGeom>
          <a:ln w="12700">
            <a:solidFill>
              <a:srgbClr val="9ABED8"/>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1520" y="5577840"/>
            <a:ext cx="1874519" cy="384048"/>
          </a:xfrm>
          <a:prstGeom prst="roundRect">
            <a:avLst>
              <a:gd name="adj" fmla="val 8000"/>
            </a:avLst>
          </a:prstGeom>
          <a:solidFill>
            <a:srgbClr val="E3EF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641848"/>
            <a:ext cx="1691639" cy="274320"/>
          </a:xfrm>
          <a:prstGeom prst="rect">
            <a:avLst/>
          </a:prstGeom>
          <a:noFill/>
        </p:spPr>
        <p:txBody>
          <a:bodyPr wrap="square" lIns="27432" rIns="27432" tIns="18288" bIns="0">
            <a:spAutoFit/>
          </a:bodyPr>
          <a:lstStyle/>
          <a:p>
            <a:pPr>
              <a:spcAft>
                <a:spcPts val="800"/>
              </a:spcAft>
              <a:defRPr sz="1200" b="1">
                <a:solidFill>
                  <a:srgbClr val="246EC3"/>
                </a:solidFill>
                <a:latin typeface="DejaVu Sans"/>
              </a:defRPr>
            </a:pPr>
            <a:r>
              <a:t>CPU</a:t>
            </a:r>
          </a:p>
        </p:txBody>
      </p:sp>
      <p:sp>
        <p:nvSpPr>
          <p:cNvPr id="30" name="Rounded Rectangle 29"/>
          <p:cNvSpPr/>
          <p:nvPr/>
        </p:nvSpPr>
        <p:spPr>
          <a:xfrm>
            <a:off x="2862072" y="5577840"/>
            <a:ext cx="1874519" cy="384048"/>
          </a:xfrm>
          <a:prstGeom prst="roundRect">
            <a:avLst>
              <a:gd name="adj" fmla="val 8000"/>
            </a:avLst>
          </a:prstGeom>
          <a:solidFill>
            <a:srgbClr val="E3EF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953512" y="5641848"/>
            <a:ext cx="1691639" cy="274320"/>
          </a:xfrm>
          <a:prstGeom prst="rect">
            <a:avLst/>
          </a:prstGeom>
          <a:noFill/>
        </p:spPr>
        <p:txBody>
          <a:bodyPr wrap="square" lIns="27432" rIns="27432" tIns="18288" bIns="0">
            <a:spAutoFit/>
          </a:bodyPr>
          <a:lstStyle/>
          <a:p>
            <a:pPr>
              <a:spcAft>
                <a:spcPts val="800"/>
              </a:spcAft>
              <a:defRPr sz="1200" b="1">
                <a:solidFill>
                  <a:srgbClr val="246EC3"/>
                </a:solidFill>
                <a:latin typeface="DejaVu Sans"/>
              </a:defRPr>
            </a:pPr>
            <a:r>
              <a:t>RAM</a:t>
            </a:r>
          </a:p>
        </p:txBody>
      </p:sp>
      <p:sp>
        <p:nvSpPr>
          <p:cNvPr id="32" name="Rounded Rectangle 31"/>
          <p:cNvSpPr/>
          <p:nvPr/>
        </p:nvSpPr>
        <p:spPr>
          <a:xfrm>
            <a:off x="4992624" y="5577840"/>
            <a:ext cx="1874519" cy="384048"/>
          </a:xfrm>
          <a:prstGeom prst="roundRect">
            <a:avLst>
              <a:gd name="adj" fmla="val 8000"/>
            </a:avLst>
          </a:prstGeom>
          <a:solidFill>
            <a:srgbClr val="E3EF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084064" y="5641848"/>
            <a:ext cx="1691639" cy="274320"/>
          </a:xfrm>
          <a:prstGeom prst="rect">
            <a:avLst/>
          </a:prstGeom>
          <a:noFill/>
        </p:spPr>
        <p:txBody>
          <a:bodyPr wrap="square" lIns="27432" rIns="27432" tIns="18288" bIns="0">
            <a:spAutoFit/>
          </a:bodyPr>
          <a:lstStyle/>
          <a:p>
            <a:pPr>
              <a:spcAft>
                <a:spcPts val="800"/>
              </a:spcAft>
              <a:defRPr sz="1200" b="1">
                <a:solidFill>
                  <a:srgbClr val="246EC3"/>
                </a:solidFill>
                <a:latin typeface="DejaVu Sans"/>
              </a:defRPr>
            </a:pPr>
            <a:r>
              <a:t>DISK</a:t>
            </a:r>
          </a:p>
        </p:txBody>
      </p:sp>
      <p:sp>
        <p:nvSpPr>
          <p:cNvPr id="34" name="TextBox 33"/>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567083"/>
                </a:solidFill>
                <a:latin typeface="DejaVu Sans"/>
              </a:defRPr>
            </a:pPr>
            <a:r>
              <a:t>BTST206   /   M05   /   2027–2028</a:t>
            </a:r>
          </a:p>
        </p:txBody>
      </p:sp>
      <p:sp>
        <p:nvSpPr>
          <p:cNvPr id="35" name="TextBox 34"/>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567083"/>
                </a:solidFill>
                <a:latin typeface="DejaVu Sans"/>
              </a:defRPr>
            </a:pPr>
            <a:r>
              <a:t>01 / 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BFD"/>
        </a:solidFill>
        <a:effectLst/>
      </p:bgPr>
    </p:bg>
    <p:spTree>
      <p:nvGrpSpPr>
        <p:cNvPr id="1" name=""/>
        <p:cNvGrpSpPr/>
        <p:nvPr/>
      </p:nvGrpSpPr>
      <p:grpSpPr/>
      <p:sp>
        <p:nvSpPr>
          <p:cNvPr id="2" name="Rectangle 1"/>
          <p:cNvSpPr/>
          <p:nvPr/>
        </p:nvSpPr>
        <p:spPr>
          <a:xfrm>
            <a:off x="0" y="0"/>
            <a:ext cx="210312" cy="6858000"/>
          </a:xfrm>
          <a:prstGeom prst="rect">
            <a:avLst/>
          </a:prstGeom>
          <a:solidFill>
            <a:srgbClr val="246E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92640" cy="274320"/>
          </a:xfrm>
          <a:prstGeom prst="rect">
            <a:avLst/>
          </a:prstGeom>
          <a:noFill/>
        </p:spPr>
        <p:txBody>
          <a:bodyPr wrap="square" lIns="27432" rIns="27432" tIns="18288" bIns="0">
            <a:spAutoFit/>
          </a:bodyPr>
          <a:lstStyle/>
          <a:p>
            <a:pPr>
              <a:spcAft>
                <a:spcPts val="800"/>
              </a:spcAft>
              <a:defRPr sz="1100" b="1">
                <a:solidFill>
                  <a:srgbClr val="246EC3"/>
                </a:solidFill>
                <a:latin typeface="DejaVu Sans"/>
              </a:defRPr>
            </a:pPr>
            <a:r>
              <a:t>VIRTUALIZATSIYA  /  TEXNIK KO‘RINISH</a:t>
            </a:r>
          </a:p>
        </p:txBody>
      </p:sp>
      <p:sp>
        <p:nvSpPr>
          <p:cNvPr id="4" name="TextBox 3"/>
          <p:cNvSpPr txBox="1"/>
          <p:nvPr/>
        </p:nvSpPr>
        <p:spPr>
          <a:xfrm>
            <a:off x="548640" y="877824"/>
            <a:ext cx="10515600" cy="1005840"/>
          </a:xfrm>
          <a:prstGeom prst="rect">
            <a:avLst/>
          </a:prstGeom>
          <a:noFill/>
        </p:spPr>
        <p:txBody>
          <a:bodyPr wrap="square" lIns="27432" rIns="27432" tIns="18288" bIns="0">
            <a:spAutoFit/>
          </a:bodyPr>
          <a:lstStyle/>
          <a:p>
            <a:pPr>
              <a:spcAft>
                <a:spcPts val="800"/>
              </a:spcAft>
              <a:defRPr sz="3000" b="1">
                <a:solidFill>
                  <a:srgbClr val="223B53"/>
                </a:solidFill>
                <a:latin typeface="DejaVu Sans"/>
              </a:defRPr>
            </a:pPr>
            <a:r>
              <a:t>Ma’ruza yo‘nalishi</a:t>
            </a:r>
          </a:p>
        </p:txBody>
      </p:sp>
      <p:sp>
        <p:nvSpPr>
          <p:cNvPr id="5" name="Rectangle 4"/>
          <p:cNvSpPr/>
          <p:nvPr/>
        </p:nvSpPr>
        <p:spPr>
          <a:xfrm>
            <a:off x="10954512" y="365760"/>
            <a:ext cx="667512" cy="667512"/>
          </a:xfrm>
          <a:prstGeom prst="rect">
            <a:avLst/>
          </a:prstGeom>
          <a:solidFill>
            <a:srgbClr val="EBF3FA"/>
          </a:solidFill>
          <a:ln>
            <a:solidFill>
              <a:srgbClr val="246E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36808" y="557784"/>
            <a:ext cx="502920" cy="274320"/>
          </a:xfrm>
          <a:prstGeom prst="rect">
            <a:avLst/>
          </a:prstGeom>
          <a:noFill/>
        </p:spPr>
        <p:txBody>
          <a:bodyPr wrap="square" lIns="27432" rIns="27432" tIns="18288" bIns="0">
            <a:spAutoFit/>
          </a:bodyPr>
          <a:lstStyle/>
          <a:p>
            <a:pPr>
              <a:spcAft>
                <a:spcPts val="800"/>
              </a:spcAft>
              <a:defRPr sz="1400" b="1">
                <a:solidFill>
                  <a:srgbClr val="246EC3"/>
                </a:solidFill>
                <a:latin typeface="DejaVu Sans"/>
              </a:defRPr>
            </a:pPr>
            <a:r>
              <a:t>02</a:t>
            </a:r>
          </a:p>
        </p:txBody>
      </p:sp>
      <p:sp>
        <p:nvSpPr>
          <p:cNvPr id="7" name="TextBox 6"/>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223B53"/>
                </a:solidFill>
                <a:latin typeface="DejaVu Sans"/>
              </a:defRPr>
            </a:pPr>
            <a:r>
              <a:t>BTST206   /   M05   /   2027–2028</a:t>
            </a:r>
          </a:p>
        </p:txBody>
      </p:sp>
      <p:sp>
        <p:nvSpPr>
          <p:cNvPr id="8" name="TextBox 7"/>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223B53"/>
                </a:solidFill>
                <a:latin typeface="DejaVu Sans"/>
              </a:defRPr>
            </a:pPr>
            <a:r>
              <a:t>02 / 13</a:t>
            </a:r>
          </a:p>
        </p:txBody>
      </p:sp>
      <p:sp>
        <p:nvSpPr>
          <p:cNvPr id="9" name="Rectangle 8"/>
          <p:cNvSpPr/>
          <p:nvPr/>
        </p:nvSpPr>
        <p:spPr>
          <a:xfrm>
            <a:off x="594360" y="2103120"/>
            <a:ext cx="585216" cy="438912"/>
          </a:xfrm>
          <a:prstGeom prst="rect">
            <a:avLst/>
          </a:prstGeom>
          <a:solidFill>
            <a:srgbClr val="246E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 y="2185415"/>
            <a:ext cx="411480" cy="274320"/>
          </a:xfrm>
          <a:prstGeom prst="rect">
            <a:avLst/>
          </a:prstGeom>
          <a:noFill/>
        </p:spPr>
        <p:txBody>
          <a:bodyPr wrap="square" lIns="27432" rIns="27432" tIns="18288" bIns="0">
            <a:spAutoFit/>
          </a:bodyPr>
          <a:lstStyle/>
          <a:p>
            <a:pPr>
              <a:spcAft>
                <a:spcPts val="800"/>
              </a:spcAft>
              <a:defRPr sz="1200" b="1">
                <a:solidFill>
                  <a:srgbClr val="FFFFFF"/>
                </a:solidFill>
                <a:latin typeface="DejaVu Sans"/>
              </a:defRPr>
            </a:pPr>
            <a:r>
              <a:t>01</a:t>
            </a:r>
          </a:p>
        </p:txBody>
      </p:sp>
      <p:cxnSp>
        <p:nvCxnSpPr>
          <p:cNvPr id="11" name="Connector 10"/>
          <p:cNvCxnSpPr/>
          <p:nvPr/>
        </p:nvCxnSpPr>
        <p:spPr>
          <a:xfrm>
            <a:off x="1399032" y="2596896"/>
            <a:ext cx="10030968" cy="0"/>
          </a:xfrm>
          <a:prstGeom prst="line">
            <a:avLst/>
          </a:prstGeom>
          <a:ln w="12700">
            <a:solidFill>
              <a:srgbClr val="DBE7F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1554480" y="2103120"/>
            <a:ext cx="9692640" cy="438912"/>
          </a:xfrm>
          <a:prstGeom prst="rect">
            <a:avLst/>
          </a:prstGeom>
          <a:noFill/>
        </p:spPr>
        <p:txBody>
          <a:bodyPr wrap="square" lIns="27432" rIns="27432" tIns="18288" bIns="0">
            <a:spAutoFit/>
          </a:bodyPr>
          <a:lstStyle/>
          <a:p>
            <a:pPr>
              <a:spcAft>
                <a:spcPts val="800"/>
              </a:spcAft>
              <a:defRPr sz="2200" b="0">
                <a:solidFill>
                  <a:srgbClr val="223B53"/>
                </a:solidFill>
                <a:latin typeface="DejaVu Sans"/>
              </a:defRPr>
            </a:pPr>
            <a:r>
              <a:t>Virtualizatsiyaning mohiyati</a:t>
            </a:r>
          </a:p>
        </p:txBody>
      </p:sp>
      <p:sp>
        <p:nvSpPr>
          <p:cNvPr id="13" name="Rectangle 12"/>
          <p:cNvSpPr/>
          <p:nvPr/>
        </p:nvSpPr>
        <p:spPr>
          <a:xfrm>
            <a:off x="594360" y="2724912"/>
            <a:ext cx="585216" cy="438912"/>
          </a:xfrm>
          <a:prstGeom prst="rect">
            <a:avLst/>
          </a:prstGeom>
          <a:solidFill>
            <a:srgbClr val="246E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2807208"/>
            <a:ext cx="411480" cy="274320"/>
          </a:xfrm>
          <a:prstGeom prst="rect">
            <a:avLst/>
          </a:prstGeom>
          <a:noFill/>
        </p:spPr>
        <p:txBody>
          <a:bodyPr wrap="square" lIns="27432" rIns="27432" tIns="18288" bIns="0">
            <a:spAutoFit/>
          </a:bodyPr>
          <a:lstStyle/>
          <a:p>
            <a:pPr>
              <a:spcAft>
                <a:spcPts val="800"/>
              </a:spcAft>
              <a:defRPr sz="1200" b="1">
                <a:solidFill>
                  <a:srgbClr val="FFFFFF"/>
                </a:solidFill>
                <a:latin typeface="DejaVu Sans"/>
              </a:defRPr>
            </a:pPr>
            <a:r>
              <a:t>02</a:t>
            </a:r>
          </a:p>
        </p:txBody>
      </p:sp>
      <p:cxnSp>
        <p:nvCxnSpPr>
          <p:cNvPr id="15" name="Connector 14"/>
          <p:cNvCxnSpPr/>
          <p:nvPr/>
        </p:nvCxnSpPr>
        <p:spPr>
          <a:xfrm>
            <a:off x="1399032" y="3218688"/>
            <a:ext cx="10030968" cy="0"/>
          </a:xfrm>
          <a:prstGeom prst="line">
            <a:avLst/>
          </a:prstGeom>
          <a:ln w="12700">
            <a:solidFill>
              <a:srgbClr val="DBE7F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554480" y="2724912"/>
            <a:ext cx="9692640" cy="438912"/>
          </a:xfrm>
          <a:prstGeom prst="rect">
            <a:avLst/>
          </a:prstGeom>
          <a:noFill/>
        </p:spPr>
        <p:txBody>
          <a:bodyPr wrap="square" lIns="27432" rIns="27432" tIns="18288" bIns="0">
            <a:spAutoFit/>
          </a:bodyPr>
          <a:lstStyle/>
          <a:p>
            <a:pPr>
              <a:spcAft>
                <a:spcPts val="800"/>
              </a:spcAft>
              <a:defRPr sz="2200" b="0">
                <a:solidFill>
                  <a:srgbClr val="223B53"/>
                </a:solidFill>
                <a:latin typeface="DejaVu Sans"/>
              </a:defRPr>
            </a:pPr>
            <a:r>
              <a:t>Gipervizor va virtual mashina</a:t>
            </a:r>
          </a:p>
        </p:txBody>
      </p:sp>
      <p:sp>
        <p:nvSpPr>
          <p:cNvPr id="17" name="Rectangle 16"/>
          <p:cNvSpPr/>
          <p:nvPr/>
        </p:nvSpPr>
        <p:spPr>
          <a:xfrm>
            <a:off x="594360" y="3346704"/>
            <a:ext cx="585216" cy="438912"/>
          </a:xfrm>
          <a:prstGeom prst="rect">
            <a:avLst/>
          </a:prstGeom>
          <a:solidFill>
            <a:srgbClr val="246E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4944" y="3429000"/>
            <a:ext cx="411480" cy="274320"/>
          </a:xfrm>
          <a:prstGeom prst="rect">
            <a:avLst/>
          </a:prstGeom>
          <a:noFill/>
        </p:spPr>
        <p:txBody>
          <a:bodyPr wrap="square" lIns="27432" rIns="27432" tIns="18288" bIns="0">
            <a:spAutoFit/>
          </a:bodyPr>
          <a:lstStyle/>
          <a:p>
            <a:pPr>
              <a:spcAft>
                <a:spcPts val="800"/>
              </a:spcAft>
              <a:defRPr sz="1200" b="1">
                <a:solidFill>
                  <a:srgbClr val="FFFFFF"/>
                </a:solidFill>
                <a:latin typeface="DejaVu Sans"/>
              </a:defRPr>
            </a:pPr>
            <a:r>
              <a:t>03</a:t>
            </a:r>
          </a:p>
        </p:txBody>
      </p:sp>
      <p:cxnSp>
        <p:nvCxnSpPr>
          <p:cNvPr id="19" name="Connector 18"/>
          <p:cNvCxnSpPr/>
          <p:nvPr/>
        </p:nvCxnSpPr>
        <p:spPr>
          <a:xfrm>
            <a:off x="1399032" y="3840480"/>
            <a:ext cx="10030968" cy="0"/>
          </a:xfrm>
          <a:prstGeom prst="line">
            <a:avLst/>
          </a:prstGeom>
          <a:ln w="12700">
            <a:solidFill>
              <a:srgbClr val="DBE7F0"/>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1554480" y="3346704"/>
            <a:ext cx="9692640" cy="438912"/>
          </a:xfrm>
          <a:prstGeom prst="rect">
            <a:avLst/>
          </a:prstGeom>
          <a:noFill/>
        </p:spPr>
        <p:txBody>
          <a:bodyPr wrap="square" lIns="27432" rIns="27432" tIns="18288" bIns="0">
            <a:spAutoFit/>
          </a:bodyPr>
          <a:lstStyle/>
          <a:p>
            <a:pPr>
              <a:spcAft>
                <a:spcPts val="800"/>
              </a:spcAft>
              <a:defRPr sz="2200" b="0">
                <a:solidFill>
                  <a:srgbClr val="223B53"/>
                </a:solidFill>
                <a:latin typeface="DejaVu Sans"/>
              </a:defRPr>
            </a:pPr>
            <a:r>
              <a:t>Type 1 gipervizor</a:t>
            </a:r>
          </a:p>
        </p:txBody>
      </p:sp>
      <p:sp>
        <p:nvSpPr>
          <p:cNvPr id="21" name="Rectangle 20"/>
          <p:cNvSpPr/>
          <p:nvPr/>
        </p:nvSpPr>
        <p:spPr>
          <a:xfrm>
            <a:off x="594360" y="3968496"/>
            <a:ext cx="585216" cy="438912"/>
          </a:xfrm>
          <a:prstGeom prst="rect">
            <a:avLst/>
          </a:prstGeom>
          <a:solidFill>
            <a:srgbClr val="246E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4944" y="4050791"/>
            <a:ext cx="411480" cy="274320"/>
          </a:xfrm>
          <a:prstGeom prst="rect">
            <a:avLst/>
          </a:prstGeom>
          <a:noFill/>
        </p:spPr>
        <p:txBody>
          <a:bodyPr wrap="square" lIns="27432" rIns="27432" tIns="18288" bIns="0">
            <a:spAutoFit/>
          </a:bodyPr>
          <a:lstStyle/>
          <a:p>
            <a:pPr>
              <a:spcAft>
                <a:spcPts val="800"/>
              </a:spcAft>
              <a:defRPr sz="1200" b="1">
                <a:solidFill>
                  <a:srgbClr val="FFFFFF"/>
                </a:solidFill>
                <a:latin typeface="DejaVu Sans"/>
              </a:defRPr>
            </a:pPr>
            <a:r>
              <a:t>04</a:t>
            </a:r>
          </a:p>
        </p:txBody>
      </p:sp>
      <p:cxnSp>
        <p:nvCxnSpPr>
          <p:cNvPr id="23" name="Connector 22"/>
          <p:cNvCxnSpPr/>
          <p:nvPr/>
        </p:nvCxnSpPr>
        <p:spPr>
          <a:xfrm>
            <a:off x="1399032" y="4462272"/>
            <a:ext cx="10030968" cy="0"/>
          </a:xfrm>
          <a:prstGeom prst="line">
            <a:avLst/>
          </a:prstGeom>
          <a:ln w="12700">
            <a:solidFill>
              <a:srgbClr val="DBE7F0"/>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554480" y="3968496"/>
            <a:ext cx="9692640" cy="438912"/>
          </a:xfrm>
          <a:prstGeom prst="rect">
            <a:avLst/>
          </a:prstGeom>
          <a:noFill/>
        </p:spPr>
        <p:txBody>
          <a:bodyPr wrap="square" lIns="27432" rIns="27432" tIns="18288" bIns="0">
            <a:spAutoFit/>
          </a:bodyPr>
          <a:lstStyle/>
          <a:p>
            <a:pPr>
              <a:spcAft>
                <a:spcPts val="800"/>
              </a:spcAft>
              <a:defRPr sz="2200" b="0">
                <a:solidFill>
                  <a:srgbClr val="223B53"/>
                </a:solidFill>
                <a:latin typeface="DejaVu Sans"/>
              </a:defRPr>
            </a:pPr>
            <a:r>
              <a:t>Type 2 gipervizor</a:t>
            </a:r>
          </a:p>
        </p:txBody>
      </p:sp>
      <p:sp>
        <p:nvSpPr>
          <p:cNvPr id="25" name="Rectangle 24"/>
          <p:cNvSpPr/>
          <p:nvPr/>
        </p:nvSpPr>
        <p:spPr>
          <a:xfrm>
            <a:off x="594360" y="4590288"/>
            <a:ext cx="585216" cy="438912"/>
          </a:xfrm>
          <a:prstGeom prst="rect">
            <a:avLst/>
          </a:prstGeom>
          <a:solidFill>
            <a:srgbClr val="246E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4944" y="4672583"/>
            <a:ext cx="411480" cy="274320"/>
          </a:xfrm>
          <a:prstGeom prst="rect">
            <a:avLst/>
          </a:prstGeom>
          <a:noFill/>
        </p:spPr>
        <p:txBody>
          <a:bodyPr wrap="square" lIns="27432" rIns="27432" tIns="18288" bIns="0">
            <a:spAutoFit/>
          </a:bodyPr>
          <a:lstStyle/>
          <a:p>
            <a:pPr>
              <a:spcAft>
                <a:spcPts val="800"/>
              </a:spcAft>
              <a:defRPr sz="1200" b="1">
                <a:solidFill>
                  <a:srgbClr val="FFFFFF"/>
                </a:solidFill>
                <a:latin typeface="DejaVu Sans"/>
              </a:defRPr>
            </a:pPr>
            <a:r>
              <a:t>05</a:t>
            </a:r>
          </a:p>
        </p:txBody>
      </p:sp>
      <p:cxnSp>
        <p:nvCxnSpPr>
          <p:cNvPr id="27" name="Connector 26"/>
          <p:cNvCxnSpPr/>
          <p:nvPr/>
        </p:nvCxnSpPr>
        <p:spPr>
          <a:xfrm>
            <a:off x="1399032" y="5084064"/>
            <a:ext cx="10030968" cy="0"/>
          </a:xfrm>
          <a:prstGeom prst="line">
            <a:avLst/>
          </a:prstGeom>
          <a:ln w="12700">
            <a:solidFill>
              <a:srgbClr val="DBE7F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554480" y="4590288"/>
            <a:ext cx="9692640" cy="438912"/>
          </a:xfrm>
          <a:prstGeom prst="rect">
            <a:avLst/>
          </a:prstGeom>
          <a:noFill/>
        </p:spPr>
        <p:txBody>
          <a:bodyPr wrap="square" lIns="27432" rIns="27432" tIns="18288" bIns="0">
            <a:spAutoFit/>
          </a:bodyPr>
          <a:lstStyle/>
          <a:p>
            <a:pPr>
              <a:spcAft>
                <a:spcPts val="800"/>
              </a:spcAft>
              <a:defRPr sz="2200" b="0">
                <a:solidFill>
                  <a:srgbClr val="223B53"/>
                </a:solidFill>
                <a:latin typeface="DejaVu Sans"/>
              </a:defRPr>
            </a:pPr>
            <a:r>
              <a:t>VMware, Hyper-V va KVM</a:t>
            </a:r>
          </a:p>
        </p:txBody>
      </p:sp>
      <p:sp>
        <p:nvSpPr>
          <p:cNvPr id="29" name="Rectangle 28"/>
          <p:cNvSpPr/>
          <p:nvPr/>
        </p:nvSpPr>
        <p:spPr>
          <a:xfrm>
            <a:off x="594360" y="5212080"/>
            <a:ext cx="585216" cy="438912"/>
          </a:xfrm>
          <a:prstGeom prst="rect">
            <a:avLst/>
          </a:prstGeom>
          <a:solidFill>
            <a:srgbClr val="246E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94944" y="5294376"/>
            <a:ext cx="411480" cy="274320"/>
          </a:xfrm>
          <a:prstGeom prst="rect">
            <a:avLst/>
          </a:prstGeom>
          <a:noFill/>
        </p:spPr>
        <p:txBody>
          <a:bodyPr wrap="square" lIns="27432" rIns="27432" tIns="18288" bIns="0">
            <a:spAutoFit/>
          </a:bodyPr>
          <a:lstStyle/>
          <a:p>
            <a:pPr>
              <a:spcAft>
                <a:spcPts val="800"/>
              </a:spcAft>
              <a:defRPr sz="1200" b="1">
                <a:solidFill>
                  <a:srgbClr val="FFFFFF"/>
                </a:solidFill>
                <a:latin typeface="DejaVu Sans"/>
              </a:defRPr>
            </a:pPr>
            <a:r>
              <a:t>06</a:t>
            </a:r>
          </a:p>
        </p:txBody>
      </p:sp>
      <p:cxnSp>
        <p:nvCxnSpPr>
          <p:cNvPr id="31" name="Connector 30"/>
          <p:cNvCxnSpPr/>
          <p:nvPr/>
        </p:nvCxnSpPr>
        <p:spPr>
          <a:xfrm>
            <a:off x="1399032" y="5705856"/>
            <a:ext cx="10030968" cy="0"/>
          </a:xfrm>
          <a:prstGeom prst="line">
            <a:avLst/>
          </a:prstGeom>
          <a:ln w="12700">
            <a:solidFill>
              <a:srgbClr val="DBE7F0"/>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554480" y="5212080"/>
            <a:ext cx="9692640" cy="438912"/>
          </a:xfrm>
          <a:prstGeom prst="rect">
            <a:avLst/>
          </a:prstGeom>
          <a:noFill/>
        </p:spPr>
        <p:txBody>
          <a:bodyPr wrap="square" lIns="27432" rIns="27432" tIns="18288" bIns="0">
            <a:spAutoFit/>
          </a:bodyPr>
          <a:lstStyle/>
          <a:p>
            <a:pPr>
              <a:spcAft>
                <a:spcPts val="800"/>
              </a:spcAft>
              <a:defRPr sz="2200" b="0">
                <a:solidFill>
                  <a:srgbClr val="223B53"/>
                </a:solidFill>
                <a:latin typeface="DejaVu Sans"/>
              </a:defRPr>
            </a:pPr>
            <a:r>
              <a:t>Resurslar, snapshot va zaxira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BFD"/>
        </a:solidFill>
        <a:effectLst/>
      </p:bgPr>
    </p:bg>
    <p:spTree>
      <p:nvGrpSpPr>
        <p:cNvPr id="1" name=""/>
        <p:cNvGrpSpPr/>
        <p:nvPr/>
      </p:nvGrpSpPr>
      <p:grpSpPr/>
      <p:sp>
        <p:nvSpPr>
          <p:cNvPr id="2" name="Rectangle 1"/>
          <p:cNvSpPr/>
          <p:nvPr/>
        </p:nvSpPr>
        <p:spPr>
          <a:xfrm>
            <a:off x="0" y="0"/>
            <a:ext cx="210312" cy="6858000"/>
          </a:xfrm>
          <a:prstGeom prst="rect">
            <a:avLst/>
          </a:prstGeom>
          <a:solidFill>
            <a:srgbClr val="246E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92640" cy="274320"/>
          </a:xfrm>
          <a:prstGeom prst="rect">
            <a:avLst/>
          </a:prstGeom>
          <a:noFill/>
        </p:spPr>
        <p:txBody>
          <a:bodyPr wrap="square" lIns="27432" rIns="27432" tIns="18288" bIns="0">
            <a:spAutoFit/>
          </a:bodyPr>
          <a:lstStyle/>
          <a:p>
            <a:pPr>
              <a:spcAft>
                <a:spcPts val="800"/>
              </a:spcAft>
              <a:defRPr sz="1100" b="1">
                <a:solidFill>
                  <a:srgbClr val="246EC3"/>
                </a:solidFill>
                <a:latin typeface="DejaVu Sans"/>
              </a:defRPr>
            </a:pPr>
            <a:r>
              <a:t>VIRTUALIZATSIYA  /  TEXNIK KO‘RINISH</a:t>
            </a:r>
          </a:p>
        </p:txBody>
      </p:sp>
      <p:sp>
        <p:nvSpPr>
          <p:cNvPr id="4" name="TextBox 3"/>
          <p:cNvSpPr txBox="1"/>
          <p:nvPr/>
        </p:nvSpPr>
        <p:spPr>
          <a:xfrm>
            <a:off x="548640" y="877824"/>
            <a:ext cx="10515600" cy="1005840"/>
          </a:xfrm>
          <a:prstGeom prst="rect">
            <a:avLst/>
          </a:prstGeom>
          <a:noFill/>
        </p:spPr>
        <p:txBody>
          <a:bodyPr wrap="square" lIns="27432" rIns="27432" tIns="18288" bIns="0">
            <a:spAutoFit/>
          </a:bodyPr>
          <a:lstStyle/>
          <a:p>
            <a:pPr>
              <a:spcAft>
                <a:spcPts val="800"/>
              </a:spcAft>
              <a:defRPr sz="3000" b="1">
                <a:solidFill>
                  <a:srgbClr val="223B53"/>
                </a:solidFill>
                <a:latin typeface="DejaVu Sans"/>
              </a:defRPr>
            </a:pPr>
            <a:r>
              <a:t>Virtualizatsiyaning mohiyati</a:t>
            </a:r>
          </a:p>
        </p:txBody>
      </p:sp>
      <p:sp>
        <p:nvSpPr>
          <p:cNvPr id="5" name="Rectangle 4"/>
          <p:cNvSpPr/>
          <p:nvPr/>
        </p:nvSpPr>
        <p:spPr>
          <a:xfrm>
            <a:off x="10954512" y="365760"/>
            <a:ext cx="667512" cy="667512"/>
          </a:xfrm>
          <a:prstGeom prst="rect">
            <a:avLst/>
          </a:prstGeom>
          <a:solidFill>
            <a:srgbClr val="EBF3FA"/>
          </a:solidFill>
          <a:ln>
            <a:solidFill>
              <a:srgbClr val="246E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36808" y="557784"/>
            <a:ext cx="502920" cy="274320"/>
          </a:xfrm>
          <a:prstGeom prst="rect">
            <a:avLst/>
          </a:prstGeom>
          <a:noFill/>
        </p:spPr>
        <p:txBody>
          <a:bodyPr wrap="square" lIns="27432" rIns="27432" tIns="18288" bIns="0">
            <a:spAutoFit/>
          </a:bodyPr>
          <a:lstStyle/>
          <a:p>
            <a:pPr>
              <a:spcAft>
                <a:spcPts val="800"/>
              </a:spcAft>
              <a:defRPr sz="1400" b="1">
                <a:solidFill>
                  <a:srgbClr val="246EC3"/>
                </a:solidFill>
                <a:latin typeface="DejaVu Sans"/>
              </a:defRPr>
            </a:pPr>
            <a:r>
              <a:t>03</a:t>
            </a:r>
          </a:p>
        </p:txBody>
      </p:sp>
      <p:sp>
        <p:nvSpPr>
          <p:cNvPr id="7" name="TextBox 6"/>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223B53"/>
                </a:solidFill>
                <a:latin typeface="DejaVu Sans"/>
              </a:defRPr>
            </a:pPr>
            <a:r>
              <a:t>BTST206   /   M05   /   2027–2028</a:t>
            </a:r>
          </a:p>
        </p:txBody>
      </p:sp>
      <p:sp>
        <p:nvSpPr>
          <p:cNvPr id="8" name="TextBox 7"/>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223B53"/>
                </a:solidFill>
                <a:latin typeface="DejaVu Sans"/>
              </a:defRPr>
            </a:pPr>
            <a:r>
              <a:t>03 / 13</a:t>
            </a:r>
          </a:p>
        </p:txBody>
      </p:sp>
      <p:pic>
        <p:nvPicPr>
          <p:cNvPr id="9" name="Picture 8" descr="photo1.jpg"/>
          <p:cNvPicPr>
            <a:picLocks noChangeAspect="1"/>
          </p:cNvPicPr>
          <p:nvPr/>
        </p:nvPicPr>
        <p:blipFill>
          <a:blip r:embed="rId2"/>
          <a:srcRect l="2022" r="2022"/>
          <a:stretch>
            <a:fillRect/>
          </a:stretch>
        </p:blipFill>
        <p:spPr>
          <a:xfrm>
            <a:off x="640080" y="2084831"/>
            <a:ext cx="3977639" cy="3108960"/>
          </a:xfrm>
          <a:prstGeom prst="rect">
            <a:avLst/>
          </a:prstGeom>
        </p:spPr>
      </p:pic>
      <p:sp>
        <p:nvSpPr>
          <p:cNvPr id="10" name="TextBox 9"/>
          <p:cNvSpPr txBox="1"/>
          <p:nvPr/>
        </p:nvSpPr>
        <p:spPr>
          <a:xfrm>
            <a:off x="640080" y="5248655"/>
            <a:ext cx="3977639" cy="292608"/>
          </a:xfrm>
          <a:prstGeom prst="rect">
            <a:avLst/>
          </a:prstGeom>
          <a:noFill/>
        </p:spPr>
        <p:txBody>
          <a:bodyPr wrap="square" lIns="27432" rIns="27432" tIns="18288" bIns="0">
            <a:spAutoFit/>
          </a:bodyPr>
          <a:lstStyle/>
          <a:p>
            <a:pPr>
              <a:spcAft>
                <a:spcPts val="800"/>
              </a:spcAft>
              <a:defRPr sz="1000" b="0">
                <a:solidFill>
                  <a:srgbClr val="223B53"/>
                </a:solidFill>
                <a:latin typeface="DejaVu Sans"/>
              </a:defRPr>
            </a:pPr>
            <a:r>
              <a:t>Internet manbasi: 13-slaydda</a:t>
            </a:r>
          </a:p>
        </p:txBody>
      </p:sp>
      <p:sp>
        <p:nvSpPr>
          <p:cNvPr id="11" name="TextBox 10"/>
          <p:cNvSpPr txBox="1"/>
          <p:nvPr/>
        </p:nvSpPr>
        <p:spPr>
          <a:xfrm>
            <a:off x="685800" y="5413248"/>
            <a:ext cx="3840480" cy="594360"/>
          </a:xfrm>
          <a:prstGeom prst="rect">
            <a:avLst/>
          </a:prstGeom>
          <a:noFill/>
        </p:spPr>
        <p:txBody>
          <a:bodyPr wrap="square" lIns="27432" rIns="27432" tIns="18288" bIns="0">
            <a:spAutoFit/>
          </a:bodyPr>
          <a:lstStyle/>
          <a:p>
            <a:pPr>
              <a:spcAft>
                <a:spcPts val="800"/>
              </a:spcAft>
              <a:defRPr sz="1700" b="1">
                <a:solidFill>
                  <a:srgbClr val="246EC3"/>
                </a:solidFill>
                <a:latin typeface="DejaVu Sans"/>
              </a:defRPr>
            </a:pPr>
            <a:r>
              <a:t>Real uskuna — mantiqiy ajratish</a:t>
            </a:r>
          </a:p>
        </p:txBody>
      </p:sp>
      <p:sp>
        <p:nvSpPr>
          <p:cNvPr id="12" name="Cube 11"/>
          <p:cNvSpPr/>
          <p:nvPr/>
        </p:nvSpPr>
        <p:spPr>
          <a:xfrm>
            <a:off x="5074920" y="2267712"/>
            <a:ext cx="1554480" cy="1143000"/>
          </a:xfrm>
          <a:prstGeom prst="cube">
            <a:avLst/>
          </a:prstGeom>
          <a:solidFill>
            <a:srgbClr val="8ECBF3"/>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74920" y="3648456"/>
            <a:ext cx="1737360" cy="548640"/>
          </a:xfrm>
          <a:prstGeom prst="rect">
            <a:avLst/>
          </a:prstGeom>
          <a:noFill/>
        </p:spPr>
        <p:txBody>
          <a:bodyPr wrap="square" lIns="27432" rIns="27432" tIns="18288" bIns="0">
            <a:spAutoFit/>
          </a:bodyPr>
          <a:lstStyle/>
          <a:p>
            <a:pPr algn="ctr">
              <a:spcAft>
                <a:spcPts val="800"/>
              </a:spcAft>
              <a:defRPr sz="2000" b="1">
                <a:solidFill>
                  <a:srgbClr val="246EC3"/>
                </a:solidFill>
                <a:latin typeface="DejaVu Sans"/>
              </a:defRPr>
            </a:pPr>
            <a:r>
              <a:t>VM 1</a:t>
            </a:r>
          </a:p>
        </p:txBody>
      </p:sp>
      <p:sp>
        <p:nvSpPr>
          <p:cNvPr id="14" name="Cube 13"/>
          <p:cNvSpPr/>
          <p:nvPr/>
        </p:nvSpPr>
        <p:spPr>
          <a:xfrm>
            <a:off x="7086600" y="2267712"/>
            <a:ext cx="1554480" cy="1143000"/>
          </a:xfrm>
          <a:prstGeom prst="cube">
            <a:avLst/>
          </a:prstGeom>
          <a:solidFill>
            <a:srgbClr val="88D5D4"/>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86600" y="3648456"/>
            <a:ext cx="1737360" cy="548640"/>
          </a:xfrm>
          <a:prstGeom prst="rect">
            <a:avLst/>
          </a:prstGeom>
          <a:noFill/>
        </p:spPr>
        <p:txBody>
          <a:bodyPr wrap="square" lIns="27432" rIns="27432" tIns="18288" bIns="0">
            <a:spAutoFit/>
          </a:bodyPr>
          <a:lstStyle/>
          <a:p>
            <a:pPr algn="ctr">
              <a:spcAft>
                <a:spcPts val="800"/>
              </a:spcAft>
              <a:defRPr sz="2000" b="1">
                <a:solidFill>
                  <a:srgbClr val="246EC3"/>
                </a:solidFill>
                <a:latin typeface="DejaVu Sans"/>
              </a:defRPr>
            </a:pPr>
            <a:r>
              <a:t>VM 2</a:t>
            </a:r>
          </a:p>
        </p:txBody>
      </p:sp>
      <p:sp>
        <p:nvSpPr>
          <p:cNvPr id="16" name="Cube 15"/>
          <p:cNvSpPr/>
          <p:nvPr/>
        </p:nvSpPr>
        <p:spPr>
          <a:xfrm>
            <a:off x="9098280" y="2267712"/>
            <a:ext cx="1554480" cy="1143000"/>
          </a:xfrm>
          <a:prstGeom prst="cube">
            <a:avLst/>
          </a:prstGeom>
          <a:solidFill>
            <a:srgbClr val="A8BAE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98280" y="3648456"/>
            <a:ext cx="1737360" cy="548640"/>
          </a:xfrm>
          <a:prstGeom prst="rect">
            <a:avLst/>
          </a:prstGeom>
          <a:noFill/>
        </p:spPr>
        <p:txBody>
          <a:bodyPr wrap="square" lIns="27432" rIns="27432" tIns="18288" bIns="0">
            <a:spAutoFit/>
          </a:bodyPr>
          <a:lstStyle/>
          <a:p>
            <a:pPr algn="ctr">
              <a:spcAft>
                <a:spcPts val="800"/>
              </a:spcAft>
              <a:defRPr sz="2000" b="1">
                <a:solidFill>
                  <a:srgbClr val="246EC3"/>
                </a:solidFill>
                <a:latin typeface="DejaVu Sans"/>
              </a:defRPr>
            </a:pPr>
            <a:r>
              <a:t>VM 3</a:t>
            </a:r>
          </a:p>
        </p:txBody>
      </p:sp>
      <p:sp>
        <p:nvSpPr>
          <p:cNvPr id="18" name="Rectangle 17"/>
          <p:cNvSpPr/>
          <p:nvPr/>
        </p:nvSpPr>
        <p:spPr>
          <a:xfrm>
            <a:off x="4983480" y="4480560"/>
            <a:ext cx="5897880" cy="621792"/>
          </a:xfrm>
          <a:prstGeom prst="rect">
            <a:avLst/>
          </a:prstGeom>
          <a:solidFill>
            <a:srgbClr val="246E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38928" y="4617720"/>
            <a:ext cx="5577840" cy="411480"/>
          </a:xfrm>
          <a:prstGeom prst="rect">
            <a:avLst/>
          </a:prstGeom>
          <a:noFill/>
        </p:spPr>
        <p:txBody>
          <a:bodyPr wrap="square" lIns="27432" rIns="27432" tIns="18288" bIns="0">
            <a:spAutoFit/>
          </a:bodyPr>
          <a:lstStyle/>
          <a:p>
            <a:pPr algn="ctr">
              <a:spcAft>
                <a:spcPts val="800"/>
              </a:spcAft>
              <a:defRPr sz="2100" b="1">
                <a:solidFill>
                  <a:srgbClr val="FFFFFF"/>
                </a:solidFill>
                <a:latin typeface="DejaVu Sans"/>
              </a:defRPr>
            </a:pPr>
            <a:r>
              <a:t>Gipervizor</a:t>
            </a:r>
          </a:p>
        </p:txBody>
      </p:sp>
      <p:sp>
        <p:nvSpPr>
          <p:cNvPr id="20" name="Rectangle 19"/>
          <p:cNvSpPr/>
          <p:nvPr/>
        </p:nvSpPr>
        <p:spPr>
          <a:xfrm>
            <a:off x="4983480" y="5376672"/>
            <a:ext cx="5897880" cy="621792"/>
          </a:xfrm>
          <a:prstGeom prst="rect">
            <a:avLst/>
          </a:prstGeom>
          <a:solidFill>
            <a:srgbClr val="DFEA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38928" y="5522976"/>
            <a:ext cx="5577840" cy="393192"/>
          </a:xfrm>
          <a:prstGeom prst="rect">
            <a:avLst/>
          </a:prstGeom>
          <a:noFill/>
        </p:spPr>
        <p:txBody>
          <a:bodyPr wrap="square" lIns="27432" rIns="27432" tIns="18288" bIns="0">
            <a:spAutoFit/>
          </a:bodyPr>
          <a:lstStyle/>
          <a:p>
            <a:pPr algn="ctr">
              <a:spcAft>
                <a:spcPts val="800"/>
              </a:spcAft>
              <a:defRPr sz="1800" b="1">
                <a:solidFill>
                  <a:srgbClr val="223B53"/>
                </a:solidFill>
                <a:latin typeface="DejaVu Sans"/>
              </a:defRPr>
            </a:pPr>
            <a:r>
              <a:t>Jismoniy CPU • RAM • disk • tarmoq</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BFD"/>
        </a:solidFill>
        <a:effectLst/>
      </p:bgPr>
    </p:bg>
    <p:spTree>
      <p:nvGrpSpPr>
        <p:cNvPr id="1" name=""/>
        <p:cNvGrpSpPr/>
        <p:nvPr/>
      </p:nvGrpSpPr>
      <p:grpSpPr/>
      <p:sp>
        <p:nvSpPr>
          <p:cNvPr id="2" name="Rectangle 1"/>
          <p:cNvSpPr/>
          <p:nvPr/>
        </p:nvSpPr>
        <p:spPr>
          <a:xfrm>
            <a:off x="0" y="0"/>
            <a:ext cx="210312" cy="6858000"/>
          </a:xfrm>
          <a:prstGeom prst="rect">
            <a:avLst/>
          </a:prstGeom>
          <a:solidFill>
            <a:srgbClr val="246E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92640" cy="274320"/>
          </a:xfrm>
          <a:prstGeom prst="rect">
            <a:avLst/>
          </a:prstGeom>
          <a:noFill/>
        </p:spPr>
        <p:txBody>
          <a:bodyPr wrap="square" lIns="27432" rIns="27432" tIns="18288" bIns="0">
            <a:spAutoFit/>
          </a:bodyPr>
          <a:lstStyle/>
          <a:p>
            <a:pPr>
              <a:spcAft>
                <a:spcPts val="800"/>
              </a:spcAft>
              <a:defRPr sz="1100" b="1">
                <a:solidFill>
                  <a:srgbClr val="246EC3"/>
                </a:solidFill>
                <a:latin typeface="DejaVu Sans"/>
              </a:defRPr>
            </a:pPr>
            <a:r>
              <a:t>VIRTUALIZATSIYA  /  TEXNIK KO‘RINISH</a:t>
            </a:r>
          </a:p>
        </p:txBody>
      </p:sp>
      <p:sp>
        <p:nvSpPr>
          <p:cNvPr id="4" name="TextBox 3"/>
          <p:cNvSpPr txBox="1"/>
          <p:nvPr/>
        </p:nvSpPr>
        <p:spPr>
          <a:xfrm>
            <a:off x="548640" y="877824"/>
            <a:ext cx="10515600" cy="1005840"/>
          </a:xfrm>
          <a:prstGeom prst="rect">
            <a:avLst/>
          </a:prstGeom>
          <a:noFill/>
        </p:spPr>
        <p:txBody>
          <a:bodyPr wrap="square" lIns="27432" rIns="27432" tIns="18288" bIns="0">
            <a:spAutoFit/>
          </a:bodyPr>
          <a:lstStyle/>
          <a:p>
            <a:pPr>
              <a:spcAft>
                <a:spcPts val="800"/>
              </a:spcAft>
              <a:defRPr sz="3000" b="1">
                <a:solidFill>
                  <a:srgbClr val="223B53"/>
                </a:solidFill>
                <a:latin typeface="DejaVu Sans"/>
              </a:defRPr>
            </a:pPr>
            <a:r>
              <a:t>Gipervizor va virtual mashina</a:t>
            </a:r>
          </a:p>
        </p:txBody>
      </p:sp>
      <p:sp>
        <p:nvSpPr>
          <p:cNvPr id="5" name="Rectangle 4"/>
          <p:cNvSpPr/>
          <p:nvPr/>
        </p:nvSpPr>
        <p:spPr>
          <a:xfrm>
            <a:off x="10954512" y="365760"/>
            <a:ext cx="667512" cy="667512"/>
          </a:xfrm>
          <a:prstGeom prst="rect">
            <a:avLst/>
          </a:prstGeom>
          <a:solidFill>
            <a:srgbClr val="EBF3FA"/>
          </a:solidFill>
          <a:ln>
            <a:solidFill>
              <a:srgbClr val="246E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36808" y="557784"/>
            <a:ext cx="502920" cy="274320"/>
          </a:xfrm>
          <a:prstGeom prst="rect">
            <a:avLst/>
          </a:prstGeom>
          <a:noFill/>
        </p:spPr>
        <p:txBody>
          <a:bodyPr wrap="square" lIns="27432" rIns="27432" tIns="18288" bIns="0">
            <a:spAutoFit/>
          </a:bodyPr>
          <a:lstStyle/>
          <a:p>
            <a:pPr>
              <a:spcAft>
                <a:spcPts val="800"/>
              </a:spcAft>
              <a:defRPr sz="1400" b="1">
                <a:solidFill>
                  <a:srgbClr val="246EC3"/>
                </a:solidFill>
                <a:latin typeface="DejaVu Sans"/>
              </a:defRPr>
            </a:pPr>
            <a:r>
              <a:t>04</a:t>
            </a:r>
          </a:p>
        </p:txBody>
      </p:sp>
      <p:sp>
        <p:nvSpPr>
          <p:cNvPr id="7" name="TextBox 6"/>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223B53"/>
                </a:solidFill>
                <a:latin typeface="DejaVu Sans"/>
              </a:defRPr>
            </a:pPr>
            <a:r>
              <a:t>BTST206   /   M05   /   2027–2028</a:t>
            </a:r>
          </a:p>
        </p:txBody>
      </p:sp>
      <p:sp>
        <p:nvSpPr>
          <p:cNvPr id="8" name="TextBox 7"/>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223B53"/>
                </a:solidFill>
                <a:latin typeface="DejaVu Sans"/>
              </a:defRPr>
            </a:pPr>
            <a:r>
              <a:t>04 / 13</a:t>
            </a:r>
          </a:p>
        </p:txBody>
      </p:sp>
      <p:sp>
        <p:nvSpPr>
          <p:cNvPr id="9" name="TextBox 8"/>
          <p:cNvSpPr txBox="1"/>
          <p:nvPr/>
        </p:nvSpPr>
        <p:spPr>
          <a:xfrm>
            <a:off x="731520" y="2075688"/>
            <a:ext cx="4754880" cy="731520"/>
          </a:xfrm>
          <a:prstGeom prst="rect">
            <a:avLst/>
          </a:prstGeom>
          <a:noFill/>
        </p:spPr>
        <p:txBody>
          <a:bodyPr wrap="square" lIns="27432" rIns="27432" tIns="18288" bIns="0">
            <a:spAutoFit/>
          </a:bodyPr>
          <a:lstStyle/>
          <a:p>
            <a:pPr>
              <a:spcAft>
                <a:spcPts val="800"/>
              </a:spcAft>
              <a:defRPr sz="2500" b="1">
                <a:solidFill>
                  <a:srgbClr val="246EC3"/>
                </a:solidFill>
                <a:latin typeface="DejaVu Sans"/>
              </a:defRPr>
            </a:pPr>
            <a:r>
              <a:t>Virtual mashina tarkibi</a:t>
            </a:r>
          </a:p>
        </p:txBody>
      </p:sp>
      <p:sp>
        <p:nvSpPr>
          <p:cNvPr id="10" name="Rectangle 9"/>
          <p:cNvSpPr/>
          <p:nvPr/>
        </p:nvSpPr>
        <p:spPr>
          <a:xfrm>
            <a:off x="731520" y="3017520"/>
            <a:ext cx="2267712" cy="1280160"/>
          </a:xfrm>
          <a:prstGeom prst="rect">
            <a:avLst/>
          </a:prstGeom>
          <a:solidFill>
            <a:srgbClr val="FFFFFF"/>
          </a:solidFill>
          <a:ln>
            <a:solidFill>
              <a:srgbClr val="246E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3127248"/>
            <a:ext cx="1938528" cy="484632"/>
          </a:xfrm>
          <a:prstGeom prst="rect">
            <a:avLst/>
          </a:prstGeom>
          <a:noFill/>
        </p:spPr>
        <p:txBody>
          <a:bodyPr wrap="square" lIns="27432" rIns="27432" tIns="18288" bIns="0">
            <a:spAutoFit/>
          </a:bodyPr>
          <a:lstStyle/>
          <a:p>
            <a:pPr>
              <a:spcAft>
                <a:spcPts val="800"/>
              </a:spcAft>
              <a:defRPr sz="2500" b="1">
                <a:solidFill>
                  <a:srgbClr val="246EC3"/>
                </a:solidFill>
                <a:latin typeface="DejaVu Sans"/>
              </a:defRPr>
            </a:pPr>
            <a:r>
              <a:t>2 vCPU</a:t>
            </a:r>
          </a:p>
        </p:txBody>
      </p:sp>
      <p:sp>
        <p:nvSpPr>
          <p:cNvPr id="12" name="TextBox 11"/>
          <p:cNvSpPr txBox="1"/>
          <p:nvPr/>
        </p:nvSpPr>
        <p:spPr>
          <a:xfrm>
            <a:off x="896112" y="3703320"/>
            <a:ext cx="1938528" cy="566927"/>
          </a:xfrm>
          <a:prstGeom prst="rect">
            <a:avLst/>
          </a:prstGeom>
          <a:noFill/>
        </p:spPr>
        <p:txBody>
          <a:bodyPr wrap="square" lIns="27432" rIns="27432" tIns="18288" bIns="0">
            <a:spAutoFit/>
          </a:bodyPr>
          <a:lstStyle/>
          <a:p>
            <a:pPr>
              <a:spcAft>
                <a:spcPts val="800"/>
              </a:spcAft>
              <a:defRPr sz="1600" b="0">
                <a:solidFill>
                  <a:srgbClr val="284961"/>
                </a:solidFill>
                <a:latin typeface="DejaVu Sans"/>
              </a:defRPr>
            </a:pPr>
            <a:r>
              <a:t>Virtual protsessor</a:t>
            </a:r>
          </a:p>
        </p:txBody>
      </p:sp>
      <p:sp>
        <p:nvSpPr>
          <p:cNvPr id="13" name="Rectangle 12"/>
          <p:cNvSpPr/>
          <p:nvPr/>
        </p:nvSpPr>
        <p:spPr>
          <a:xfrm>
            <a:off x="3200400" y="3017520"/>
            <a:ext cx="2267712" cy="1280160"/>
          </a:xfrm>
          <a:prstGeom prst="rect">
            <a:avLst/>
          </a:prstGeom>
          <a:solidFill>
            <a:srgbClr val="FFFFFF"/>
          </a:solidFill>
          <a:ln>
            <a:solidFill>
              <a:srgbClr val="246E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64992" y="3127248"/>
            <a:ext cx="1938528" cy="484632"/>
          </a:xfrm>
          <a:prstGeom prst="rect">
            <a:avLst/>
          </a:prstGeom>
          <a:noFill/>
        </p:spPr>
        <p:txBody>
          <a:bodyPr wrap="square" lIns="27432" rIns="27432" tIns="18288" bIns="0">
            <a:spAutoFit/>
          </a:bodyPr>
          <a:lstStyle/>
          <a:p>
            <a:pPr>
              <a:spcAft>
                <a:spcPts val="800"/>
              </a:spcAft>
              <a:defRPr sz="2500" b="1">
                <a:solidFill>
                  <a:srgbClr val="246EC3"/>
                </a:solidFill>
                <a:latin typeface="DejaVu Sans"/>
              </a:defRPr>
            </a:pPr>
            <a:r>
              <a:t>4 GB</a:t>
            </a:r>
          </a:p>
        </p:txBody>
      </p:sp>
      <p:sp>
        <p:nvSpPr>
          <p:cNvPr id="15" name="TextBox 14"/>
          <p:cNvSpPr txBox="1"/>
          <p:nvPr/>
        </p:nvSpPr>
        <p:spPr>
          <a:xfrm>
            <a:off x="3364992" y="3703320"/>
            <a:ext cx="1938528" cy="566927"/>
          </a:xfrm>
          <a:prstGeom prst="rect">
            <a:avLst/>
          </a:prstGeom>
          <a:noFill/>
        </p:spPr>
        <p:txBody>
          <a:bodyPr wrap="square" lIns="27432" rIns="27432" tIns="18288" bIns="0">
            <a:spAutoFit/>
          </a:bodyPr>
          <a:lstStyle/>
          <a:p>
            <a:pPr>
              <a:spcAft>
                <a:spcPts val="800"/>
              </a:spcAft>
              <a:defRPr sz="1600" b="0">
                <a:solidFill>
                  <a:srgbClr val="284961"/>
                </a:solidFill>
                <a:latin typeface="DejaVu Sans"/>
              </a:defRPr>
            </a:pPr>
            <a:r>
              <a:t>Ajratilgan xotira</a:t>
            </a:r>
          </a:p>
        </p:txBody>
      </p:sp>
      <p:sp>
        <p:nvSpPr>
          <p:cNvPr id="16" name="Rectangle 15"/>
          <p:cNvSpPr/>
          <p:nvPr/>
        </p:nvSpPr>
        <p:spPr>
          <a:xfrm>
            <a:off x="731520" y="4480560"/>
            <a:ext cx="2267712" cy="1280160"/>
          </a:xfrm>
          <a:prstGeom prst="rect">
            <a:avLst/>
          </a:prstGeom>
          <a:solidFill>
            <a:srgbClr val="FFFFFF"/>
          </a:solidFill>
          <a:ln>
            <a:solidFill>
              <a:srgbClr val="246E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590288"/>
            <a:ext cx="1938528" cy="484632"/>
          </a:xfrm>
          <a:prstGeom prst="rect">
            <a:avLst/>
          </a:prstGeom>
          <a:noFill/>
        </p:spPr>
        <p:txBody>
          <a:bodyPr wrap="square" lIns="27432" rIns="27432" tIns="18288" bIns="0">
            <a:spAutoFit/>
          </a:bodyPr>
          <a:lstStyle/>
          <a:p>
            <a:pPr>
              <a:spcAft>
                <a:spcPts val="800"/>
              </a:spcAft>
              <a:defRPr sz="2500" b="1">
                <a:solidFill>
                  <a:srgbClr val="246EC3"/>
                </a:solidFill>
                <a:latin typeface="DejaVu Sans"/>
              </a:defRPr>
            </a:pPr>
            <a:r>
              <a:t>Disk</a:t>
            </a:r>
          </a:p>
        </p:txBody>
      </p:sp>
      <p:sp>
        <p:nvSpPr>
          <p:cNvPr id="18" name="TextBox 17"/>
          <p:cNvSpPr txBox="1"/>
          <p:nvPr/>
        </p:nvSpPr>
        <p:spPr>
          <a:xfrm>
            <a:off x="896112" y="5166360"/>
            <a:ext cx="1938528" cy="566927"/>
          </a:xfrm>
          <a:prstGeom prst="rect">
            <a:avLst/>
          </a:prstGeom>
          <a:noFill/>
        </p:spPr>
        <p:txBody>
          <a:bodyPr wrap="square" lIns="27432" rIns="27432" tIns="18288" bIns="0">
            <a:spAutoFit/>
          </a:bodyPr>
          <a:lstStyle/>
          <a:p>
            <a:pPr>
              <a:spcAft>
                <a:spcPts val="800"/>
              </a:spcAft>
              <a:defRPr sz="1600" b="0">
                <a:solidFill>
                  <a:srgbClr val="284961"/>
                </a:solidFill>
                <a:latin typeface="DejaVu Sans"/>
              </a:defRPr>
            </a:pPr>
            <a:r>
              <a:t>Virtual saqlash</a:t>
            </a:r>
          </a:p>
        </p:txBody>
      </p:sp>
      <p:sp>
        <p:nvSpPr>
          <p:cNvPr id="19" name="Rectangle 18"/>
          <p:cNvSpPr/>
          <p:nvPr/>
        </p:nvSpPr>
        <p:spPr>
          <a:xfrm>
            <a:off x="3200400" y="4480560"/>
            <a:ext cx="2267712" cy="1280160"/>
          </a:xfrm>
          <a:prstGeom prst="rect">
            <a:avLst/>
          </a:prstGeom>
          <a:solidFill>
            <a:srgbClr val="FFFFFF"/>
          </a:solidFill>
          <a:ln>
            <a:solidFill>
              <a:srgbClr val="246E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364992" y="4590288"/>
            <a:ext cx="1938528" cy="484632"/>
          </a:xfrm>
          <a:prstGeom prst="rect">
            <a:avLst/>
          </a:prstGeom>
          <a:noFill/>
        </p:spPr>
        <p:txBody>
          <a:bodyPr wrap="square" lIns="27432" rIns="27432" tIns="18288" bIns="0">
            <a:spAutoFit/>
          </a:bodyPr>
          <a:lstStyle/>
          <a:p>
            <a:pPr>
              <a:spcAft>
                <a:spcPts val="800"/>
              </a:spcAft>
              <a:defRPr sz="2500" b="1">
                <a:solidFill>
                  <a:srgbClr val="246EC3"/>
                </a:solidFill>
                <a:latin typeface="DejaVu Sans"/>
              </a:defRPr>
            </a:pPr>
            <a:r>
              <a:t>NIC</a:t>
            </a:r>
          </a:p>
        </p:txBody>
      </p:sp>
      <p:sp>
        <p:nvSpPr>
          <p:cNvPr id="21" name="TextBox 20"/>
          <p:cNvSpPr txBox="1"/>
          <p:nvPr/>
        </p:nvSpPr>
        <p:spPr>
          <a:xfrm>
            <a:off x="3364992" y="5166360"/>
            <a:ext cx="1938528" cy="566927"/>
          </a:xfrm>
          <a:prstGeom prst="rect">
            <a:avLst/>
          </a:prstGeom>
          <a:noFill/>
        </p:spPr>
        <p:txBody>
          <a:bodyPr wrap="square" lIns="27432" rIns="27432" tIns="18288" bIns="0">
            <a:spAutoFit/>
          </a:bodyPr>
          <a:lstStyle/>
          <a:p>
            <a:pPr>
              <a:spcAft>
                <a:spcPts val="800"/>
              </a:spcAft>
              <a:defRPr sz="1600" b="0">
                <a:solidFill>
                  <a:srgbClr val="284961"/>
                </a:solidFill>
                <a:latin typeface="DejaVu Sans"/>
              </a:defRPr>
            </a:pPr>
            <a:r>
              <a:t>Virtual tarmoq</a:t>
            </a:r>
          </a:p>
        </p:txBody>
      </p:sp>
      <p:sp>
        <p:nvSpPr>
          <p:cNvPr id="22" name="Rounded Rectangle 21"/>
          <p:cNvSpPr/>
          <p:nvPr/>
        </p:nvSpPr>
        <p:spPr>
          <a:xfrm>
            <a:off x="6108192" y="2194560"/>
            <a:ext cx="5166360" cy="3794760"/>
          </a:xfrm>
          <a:prstGeom prst="roundRect">
            <a:avLst>
              <a:gd name="adj" fmla="val 8000"/>
            </a:avLst>
          </a:prstGeom>
          <a:solidFill>
            <a:srgbClr val="EB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0" y="2505456"/>
            <a:ext cx="4572000" cy="822960"/>
          </a:xfrm>
          <a:prstGeom prst="rect">
            <a:avLst/>
          </a:prstGeom>
          <a:noFill/>
        </p:spPr>
        <p:txBody>
          <a:bodyPr wrap="square" lIns="27432" rIns="27432" tIns="18288" bIns="0">
            <a:spAutoFit/>
          </a:bodyPr>
          <a:lstStyle/>
          <a:p>
            <a:pPr>
              <a:spcAft>
                <a:spcPts val="800"/>
              </a:spcAft>
              <a:defRPr sz="2700" b="1">
                <a:solidFill>
                  <a:srgbClr val="246EC3"/>
                </a:solidFill>
                <a:latin typeface="DejaVu Sans"/>
              </a:defRPr>
            </a:pPr>
            <a:r>
              <a:t>Gipervizor boshqaradi</a:t>
            </a:r>
          </a:p>
        </p:txBody>
      </p:sp>
      <p:sp>
        <p:nvSpPr>
          <p:cNvPr id="24" name="TextBox 23"/>
          <p:cNvSpPr txBox="1"/>
          <p:nvPr/>
        </p:nvSpPr>
        <p:spPr>
          <a:xfrm>
            <a:off x="6400800" y="3639312"/>
            <a:ext cx="4526280" cy="1463040"/>
          </a:xfrm>
          <a:prstGeom prst="rect">
            <a:avLst/>
          </a:prstGeom>
          <a:noFill/>
        </p:spPr>
        <p:txBody>
          <a:bodyPr wrap="square" lIns="27432" rIns="27432" tIns="18288" bIns="0">
            <a:spAutoFit/>
          </a:bodyPr>
          <a:lstStyle/>
          <a:p>
            <a:pPr>
              <a:spcAft>
                <a:spcPts val="800"/>
              </a:spcAft>
              <a:defRPr sz="2300" b="0">
                <a:solidFill>
                  <a:srgbClr val="223B53"/>
                </a:solidFill>
                <a:latin typeface="DejaVu Sans"/>
              </a:defRPr>
            </a:pPr>
            <a:r>
              <a:t>Resurslar chegarasini belgilaydi va mehmon operatsion tizimlarini ishga tushiradi.</a:t>
            </a:r>
          </a:p>
        </p:txBody>
      </p:sp>
      <p:sp>
        <p:nvSpPr>
          <p:cNvPr id="25" name="TextBox 24"/>
          <p:cNvSpPr txBox="1"/>
          <p:nvPr/>
        </p:nvSpPr>
        <p:spPr>
          <a:xfrm>
            <a:off x="6400800" y="5330952"/>
            <a:ext cx="4480560" cy="457200"/>
          </a:xfrm>
          <a:prstGeom prst="rect">
            <a:avLst/>
          </a:prstGeom>
          <a:noFill/>
        </p:spPr>
        <p:txBody>
          <a:bodyPr wrap="square" lIns="27432" rIns="27432" tIns="18288" bIns="0">
            <a:spAutoFit/>
          </a:bodyPr>
          <a:lstStyle/>
          <a:p>
            <a:pPr>
              <a:spcAft>
                <a:spcPts val="800"/>
              </a:spcAft>
              <a:defRPr sz="1800" b="1">
                <a:solidFill>
                  <a:srgbClr val="223B53"/>
                </a:solidFill>
                <a:latin typeface="DejaVu Sans"/>
              </a:defRPr>
            </a:pPr>
            <a:r>
              <a:t>Host — asosiy olib boruvchi tizim.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BFD"/>
        </a:solidFill>
        <a:effectLst/>
      </p:bgPr>
    </p:bg>
    <p:spTree>
      <p:nvGrpSpPr>
        <p:cNvPr id="1" name=""/>
        <p:cNvGrpSpPr/>
        <p:nvPr/>
      </p:nvGrpSpPr>
      <p:grpSpPr/>
      <p:sp>
        <p:nvSpPr>
          <p:cNvPr id="2" name="Rectangle 1"/>
          <p:cNvSpPr/>
          <p:nvPr/>
        </p:nvSpPr>
        <p:spPr>
          <a:xfrm>
            <a:off x="0" y="0"/>
            <a:ext cx="210312" cy="6858000"/>
          </a:xfrm>
          <a:prstGeom prst="rect">
            <a:avLst/>
          </a:prstGeom>
          <a:solidFill>
            <a:srgbClr val="246E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92640" cy="274320"/>
          </a:xfrm>
          <a:prstGeom prst="rect">
            <a:avLst/>
          </a:prstGeom>
          <a:noFill/>
        </p:spPr>
        <p:txBody>
          <a:bodyPr wrap="square" lIns="27432" rIns="27432" tIns="18288" bIns="0">
            <a:spAutoFit/>
          </a:bodyPr>
          <a:lstStyle/>
          <a:p>
            <a:pPr>
              <a:spcAft>
                <a:spcPts val="800"/>
              </a:spcAft>
              <a:defRPr sz="1100" b="1">
                <a:solidFill>
                  <a:srgbClr val="246EC3"/>
                </a:solidFill>
                <a:latin typeface="DejaVu Sans"/>
              </a:defRPr>
            </a:pPr>
            <a:r>
              <a:t>VIRTUALIZATSIYA  /  TEXNIK KO‘RINISH</a:t>
            </a:r>
          </a:p>
        </p:txBody>
      </p:sp>
      <p:sp>
        <p:nvSpPr>
          <p:cNvPr id="4" name="TextBox 3"/>
          <p:cNvSpPr txBox="1"/>
          <p:nvPr/>
        </p:nvSpPr>
        <p:spPr>
          <a:xfrm>
            <a:off x="548640" y="877824"/>
            <a:ext cx="10515600" cy="1005840"/>
          </a:xfrm>
          <a:prstGeom prst="rect">
            <a:avLst/>
          </a:prstGeom>
          <a:noFill/>
        </p:spPr>
        <p:txBody>
          <a:bodyPr wrap="square" lIns="27432" rIns="27432" tIns="18288" bIns="0">
            <a:spAutoFit/>
          </a:bodyPr>
          <a:lstStyle/>
          <a:p>
            <a:pPr>
              <a:spcAft>
                <a:spcPts val="800"/>
              </a:spcAft>
              <a:defRPr sz="3000" b="1">
                <a:solidFill>
                  <a:srgbClr val="223B53"/>
                </a:solidFill>
                <a:latin typeface="DejaVu Sans"/>
              </a:defRPr>
            </a:pPr>
            <a:r>
              <a:t>Type 1 gipervizor</a:t>
            </a:r>
          </a:p>
        </p:txBody>
      </p:sp>
      <p:sp>
        <p:nvSpPr>
          <p:cNvPr id="5" name="Rectangle 4"/>
          <p:cNvSpPr/>
          <p:nvPr/>
        </p:nvSpPr>
        <p:spPr>
          <a:xfrm>
            <a:off x="10954512" y="365760"/>
            <a:ext cx="667512" cy="667512"/>
          </a:xfrm>
          <a:prstGeom prst="rect">
            <a:avLst/>
          </a:prstGeom>
          <a:solidFill>
            <a:srgbClr val="EBF3FA"/>
          </a:solidFill>
          <a:ln>
            <a:solidFill>
              <a:srgbClr val="246E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36808" y="557784"/>
            <a:ext cx="502920" cy="274320"/>
          </a:xfrm>
          <a:prstGeom prst="rect">
            <a:avLst/>
          </a:prstGeom>
          <a:noFill/>
        </p:spPr>
        <p:txBody>
          <a:bodyPr wrap="square" lIns="27432" rIns="27432" tIns="18288" bIns="0">
            <a:spAutoFit/>
          </a:bodyPr>
          <a:lstStyle/>
          <a:p>
            <a:pPr>
              <a:spcAft>
                <a:spcPts val="800"/>
              </a:spcAft>
              <a:defRPr sz="1400" b="1">
                <a:solidFill>
                  <a:srgbClr val="246EC3"/>
                </a:solidFill>
                <a:latin typeface="DejaVu Sans"/>
              </a:defRPr>
            </a:pPr>
            <a:r>
              <a:t>05</a:t>
            </a:r>
          </a:p>
        </p:txBody>
      </p:sp>
      <p:sp>
        <p:nvSpPr>
          <p:cNvPr id="7" name="TextBox 6"/>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223B53"/>
                </a:solidFill>
                <a:latin typeface="DejaVu Sans"/>
              </a:defRPr>
            </a:pPr>
            <a:r>
              <a:t>BTST206   /   M05   /   2027–2028</a:t>
            </a:r>
          </a:p>
        </p:txBody>
      </p:sp>
      <p:sp>
        <p:nvSpPr>
          <p:cNvPr id="8" name="TextBox 7"/>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223B53"/>
                </a:solidFill>
                <a:latin typeface="DejaVu Sans"/>
              </a:defRPr>
            </a:pPr>
            <a:r>
              <a:t>05 / 13</a:t>
            </a:r>
          </a:p>
        </p:txBody>
      </p:sp>
      <p:sp>
        <p:nvSpPr>
          <p:cNvPr id="9" name="Rounded Rectangle 8"/>
          <p:cNvSpPr/>
          <p:nvPr/>
        </p:nvSpPr>
        <p:spPr>
          <a:xfrm>
            <a:off x="777240" y="2194560"/>
            <a:ext cx="4663440" cy="621792"/>
          </a:xfrm>
          <a:prstGeom prst="roundRect">
            <a:avLst>
              <a:gd name="adj" fmla="val 8000"/>
            </a:avLst>
          </a:prstGeom>
          <a:solidFill>
            <a:srgbClr val="CBE4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331720"/>
            <a:ext cx="4389120" cy="411480"/>
          </a:xfrm>
          <a:prstGeom prst="rect">
            <a:avLst/>
          </a:prstGeom>
          <a:noFill/>
        </p:spPr>
        <p:txBody>
          <a:bodyPr wrap="square" lIns="27432" rIns="27432" tIns="18288" bIns="0">
            <a:spAutoFit/>
          </a:bodyPr>
          <a:lstStyle/>
          <a:p>
            <a:pPr algn="ctr">
              <a:spcAft>
                <a:spcPts val="800"/>
              </a:spcAft>
              <a:defRPr sz="2000" b="1">
                <a:solidFill>
                  <a:srgbClr val="223B53"/>
                </a:solidFill>
                <a:latin typeface="DejaVu Sans"/>
              </a:defRPr>
            </a:pPr>
            <a:r>
              <a:t>Mehmon OS / VM</a:t>
            </a:r>
          </a:p>
        </p:txBody>
      </p:sp>
      <p:sp>
        <p:nvSpPr>
          <p:cNvPr id="11" name="Rounded Rectangle 10"/>
          <p:cNvSpPr/>
          <p:nvPr/>
        </p:nvSpPr>
        <p:spPr>
          <a:xfrm>
            <a:off x="777240" y="2971800"/>
            <a:ext cx="4663440" cy="621792"/>
          </a:xfrm>
          <a:prstGeom prst="roundRect">
            <a:avLst>
              <a:gd name="adj" fmla="val 8000"/>
            </a:avLst>
          </a:prstGeom>
          <a:solidFill>
            <a:srgbClr val="246E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108960"/>
            <a:ext cx="4389120" cy="411480"/>
          </a:xfrm>
          <a:prstGeom prst="rect">
            <a:avLst/>
          </a:prstGeom>
          <a:noFill/>
        </p:spPr>
        <p:txBody>
          <a:bodyPr wrap="square" lIns="27432" rIns="27432" tIns="18288" bIns="0">
            <a:spAutoFit/>
          </a:bodyPr>
          <a:lstStyle/>
          <a:p>
            <a:pPr algn="ctr">
              <a:spcAft>
                <a:spcPts val="800"/>
              </a:spcAft>
              <a:defRPr sz="2000" b="1">
                <a:solidFill>
                  <a:srgbClr val="FFFFFF"/>
                </a:solidFill>
                <a:latin typeface="DejaVu Sans"/>
              </a:defRPr>
            </a:pPr>
            <a:r>
              <a:t>Type 1 gipervizor</a:t>
            </a:r>
          </a:p>
        </p:txBody>
      </p:sp>
      <p:sp>
        <p:nvSpPr>
          <p:cNvPr id="13" name="Rounded Rectangle 12"/>
          <p:cNvSpPr/>
          <p:nvPr/>
        </p:nvSpPr>
        <p:spPr>
          <a:xfrm>
            <a:off x="777240" y="3749039"/>
            <a:ext cx="4663440" cy="621792"/>
          </a:xfrm>
          <a:prstGeom prst="roundRect">
            <a:avLst>
              <a:gd name="adj" fmla="val 8000"/>
            </a:avLst>
          </a:prstGeom>
          <a:solidFill>
            <a:srgbClr val="DCE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886200"/>
            <a:ext cx="4389120" cy="411480"/>
          </a:xfrm>
          <a:prstGeom prst="rect">
            <a:avLst/>
          </a:prstGeom>
          <a:noFill/>
        </p:spPr>
        <p:txBody>
          <a:bodyPr wrap="square" lIns="27432" rIns="27432" tIns="18288" bIns="0">
            <a:spAutoFit/>
          </a:bodyPr>
          <a:lstStyle/>
          <a:p>
            <a:pPr algn="ctr">
              <a:spcAft>
                <a:spcPts val="800"/>
              </a:spcAft>
              <a:defRPr sz="2000" b="1">
                <a:solidFill>
                  <a:srgbClr val="223B53"/>
                </a:solidFill>
                <a:latin typeface="DejaVu Sans"/>
              </a:defRPr>
            </a:pPr>
            <a:r>
              <a:t>Jismoniy uskuna</a:t>
            </a:r>
          </a:p>
        </p:txBody>
      </p:sp>
      <p:sp>
        <p:nvSpPr>
          <p:cNvPr id="15" name="TextBox 14"/>
          <p:cNvSpPr txBox="1"/>
          <p:nvPr/>
        </p:nvSpPr>
        <p:spPr>
          <a:xfrm>
            <a:off x="6080760" y="2194560"/>
            <a:ext cx="5120640" cy="1097280"/>
          </a:xfrm>
          <a:prstGeom prst="rect">
            <a:avLst/>
          </a:prstGeom>
          <a:noFill/>
        </p:spPr>
        <p:txBody>
          <a:bodyPr wrap="square" lIns="27432" rIns="27432" tIns="18288" bIns="0">
            <a:spAutoFit/>
          </a:bodyPr>
          <a:lstStyle/>
          <a:p>
            <a:pPr>
              <a:spcAft>
                <a:spcPts val="800"/>
              </a:spcAft>
              <a:defRPr sz="2600" b="1">
                <a:solidFill>
                  <a:srgbClr val="246EC3"/>
                </a:solidFill>
                <a:latin typeface="DejaVu Sans"/>
              </a:defRPr>
            </a:pPr>
            <a:r>
              <a:t>Virtualizatsiya qatlamini bevosita uskuna ustida yuritish.</a:t>
            </a:r>
          </a:p>
        </p:txBody>
      </p:sp>
      <p:sp>
        <p:nvSpPr>
          <p:cNvPr id="16" name="TextBox 15"/>
          <p:cNvSpPr txBox="1"/>
          <p:nvPr/>
        </p:nvSpPr>
        <p:spPr>
          <a:xfrm>
            <a:off x="6080760" y="3657600"/>
            <a:ext cx="5120640" cy="1261872"/>
          </a:xfrm>
          <a:prstGeom prst="rect">
            <a:avLst/>
          </a:prstGeom>
          <a:noFill/>
        </p:spPr>
        <p:txBody>
          <a:bodyPr wrap="square" lIns="27432" rIns="27432" tIns="18288" bIns="0">
            <a:spAutoFit/>
          </a:bodyPr>
          <a:lstStyle/>
          <a:p>
            <a:pPr>
              <a:spcAft>
                <a:spcPts val="800"/>
              </a:spcAft>
              <a:defRPr sz="2300" b="0">
                <a:solidFill>
                  <a:srgbClr val="223B53"/>
                </a:solidFill>
                <a:latin typeface="DejaVu Sans"/>
              </a:defRPr>
            </a:pPr>
            <a:r>
              <a:t>Ma’lumotlar markazi va ko‘p VM boshqaruvi uchun mos.</a:t>
            </a:r>
          </a:p>
        </p:txBody>
      </p:sp>
      <p:sp>
        <p:nvSpPr>
          <p:cNvPr id="17" name="TextBox 16"/>
          <p:cNvSpPr txBox="1"/>
          <p:nvPr/>
        </p:nvSpPr>
        <p:spPr>
          <a:xfrm>
            <a:off x="6080760" y="5193792"/>
            <a:ext cx="5120640" cy="777240"/>
          </a:xfrm>
          <a:prstGeom prst="rect">
            <a:avLst/>
          </a:prstGeom>
          <a:noFill/>
        </p:spPr>
        <p:txBody>
          <a:bodyPr wrap="square" lIns="27432" rIns="27432" tIns="18288" bIns="0">
            <a:spAutoFit/>
          </a:bodyPr>
          <a:lstStyle/>
          <a:p>
            <a:pPr>
              <a:spcAft>
                <a:spcPts val="800"/>
              </a:spcAft>
              <a:defRPr sz="2200" b="1">
                <a:solidFill>
                  <a:srgbClr val="D58C28"/>
                </a:solidFill>
                <a:latin typeface="DejaVu Sans"/>
              </a:defRPr>
            </a:pPr>
            <a:r>
              <a:t>Misol: ESXi, Hyper-V.</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BFD"/>
        </a:solidFill>
        <a:effectLst/>
      </p:bgPr>
    </p:bg>
    <p:spTree>
      <p:nvGrpSpPr>
        <p:cNvPr id="1" name=""/>
        <p:cNvGrpSpPr/>
        <p:nvPr/>
      </p:nvGrpSpPr>
      <p:grpSpPr/>
      <p:sp>
        <p:nvSpPr>
          <p:cNvPr id="2" name="Rectangle 1"/>
          <p:cNvSpPr/>
          <p:nvPr/>
        </p:nvSpPr>
        <p:spPr>
          <a:xfrm>
            <a:off x="0" y="0"/>
            <a:ext cx="210312" cy="6858000"/>
          </a:xfrm>
          <a:prstGeom prst="rect">
            <a:avLst/>
          </a:prstGeom>
          <a:solidFill>
            <a:srgbClr val="246E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92640" cy="274320"/>
          </a:xfrm>
          <a:prstGeom prst="rect">
            <a:avLst/>
          </a:prstGeom>
          <a:noFill/>
        </p:spPr>
        <p:txBody>
          <a:bodyPr wrap="square" lIns="27432" rIns="27432" tIns="18288" bIns="0">
            <a:spAutoFit/>
          </a:bodyPr>
          <a:lstStyle/>
          <a:p>
            <a:pPr>
              <a:spcAft>
                <a:spcPts val="800"/>
              </a:spcAft>
              <a:defRPr sz="1100" b="1">
                <a:solidFill>
                  <a:srgbClr val="246EC3"/>
                </a:solidFill>
                <a:latin typeface="DejaVu Sans"/>
              </a:defRPr>
            </a:pPr>
            <a:r>
              <a:t>VIRTUALIZATSIYA  /  TEXNIK KO‘RINISH</a:t>
            </a:r>
          </a:p>
        </p:txBody>
      </p:sp>
      <p:sp>
        <p:nvSpPr>
          <p:cNvPr id="4" name="TextBox 3"/>
          <p:cNvSpPr txBox="1"/>
          <p:nvPr/>
        </p:nvSpPr>
        <p:spPr>
          <a:xfrm>
            <a:off x="548640" y="877824"/>
            <a:ext cx="10515600" cy="1005840"/>
          </a:xfrm>
          <a:prstGeom prst="rect">
            <a:avLst/>
          </a:prstGeom>
          <a:noFill/>
        </p:spPr>
        <p:txBody>
          <a:bodyPr wrap="square" lIns="27432" rIns="27432" tIns="18288" bIns="0">
            <a:spAutoFit/>
          </a:bodyPr>
          <a:lstStyle/>
          <a:p>
            <a:pPr>
              <a:spcAft>
                <a:spcPts val="800"/>
              </a:spcAft>
              <a:defRPr sz="3000" b="1">
                <a:solidFill>
                  <a:srgbClr val="223B53"/>
                </a:solidFill>
                <a:latin typeface="DejaVu Sans"/>
              </a:defRPr>
            </a:pPr>
            <a:r>
              <a:t>Type 2 gipervizor</a:t>
            </a:r>
          </a:p>
        </p:txBody>
      </p:sp>
      <p:sp>
        <p:nvSpPr>
          <p:cNvPr id="5" name="Rectangle 4"/>
          <p:cNvSpPr/>
          <p:nvPr/>
        </p:nvSpPr>
        <p:spPr>
          <a:xfrm>
            <a:off x="10954512" y="365760"/>
            <a:ext cx="667512" cy="667512"/>
          </a:xfrm>
          <a:prstGeom prst="rect">
            <a:avLst/>
          </a:prstGeom>
          <a:solidFill>
            <a:srgbClr val="EBF3FA"/>
          </a:solidFill>
          <a:ln>
            <a:solidFill>
              <a:srgbClr val="246E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36808" y="557784"/>
            <a:ext cx="502920" cy="274320"/>
          </a:xfrm>
          <a:prstGeom prst="rect">
            <a:avLst/>
          </a:prstGeom>
          <a:noFill/>
        </p:spPr>
        <p:txBody>
          <a:bodyPr wrap="square" lIns="27432" rIns="27432" tIns="18288" bIns="0">
            <a:spAutoFit/>
          </a:bodyPr>
          <a:lstStyle/>
          <a:p>
            <a:pPr>
              <a:spcAft>
                <a:spcPts val="800"/>
              </a:spcAft>
              <a:defRPr sz="1400" b="1">
                <a:solidFill>
                  <a:srgbClr val="246EC3"/>
                </a:solidFill>
                <a:latin typeface="DejaVu Sans"/>
              </a:defRPr>
            </a:pPr>
            <a:r>
              <a:t>06</a:t>
            </a:r>
          </a:p>
        </p:txBody>
      </p:sp>
      <p:sp>
        <p:nvSpPr>
          <p:cNvPr id="7" name="TextBox 6"/>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223B53"/>
                </a:solidFill>
                <a:latin typeface="DejaVu Sans"/>
              </a:defRPr>
            </a:pPr>
            <a:r>
              <a:t>BTST206   /   M05   /   2027–2028</a:t>
            </a:r>
          </a:p>
        </p:txBody>
      </p:sp>
      <p:sp>
        <p:nvSpPr>
          <p:cNvPr id="8" name="TextBox 7"/>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223B53"/>
                </a:solidFill>
                <a:latin typeface="DejaVu Sans"/>
              </a:defRPr>
            </a:pPr>
            <a:r>
              <a:t>06 / 13</a:t>
            </a:r>
          </a:p>
        </p:txBody>
      </p:sp>
      <p:sp>
        <p:nvSpPr>
          <p:cNvPr id="9" name="Rounded Rectangle 8"/>
          <p:cNvSpPr/>
          <p:nvPr/>
        </p:nvSpPr>
        <p:spPr>
          <a:xfrm>
            <a:off x="777240" y="2194560"/>
            <a:ext cx="4663440" cy="621792"/>
          </a:xfrm>
          <a:prstGeom prst="roundRect">
            <a:avLst>
              <a:gd name="adj" fmla="val 8000"/>
            </a:avLst>
          </a:prstGeom>
          <a:solidFill>
            <a:srgbClr val="CBE4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331720"/>
            <a:ext cx="4389120" cy="411480"/>
          </a:xfrm>
          <a:prstGeom prst="rect">
            <a:avLst/>
          </a:prstGeom>
          <a:noFill/>
        </p:spPr>
        <p:txBody>
          <a:bodyPr wrap="square" lIns="27432" rIns="27432" tIns="18288" bIns="0">
            <a:spAutoFit/>
          </a:bodyPr>
          <a:lstStyle/>
          <a:p>
            <a:pPr algn="ctr">
              <a:spcAft>
                <a:spcPts val="800"/>
              </a:spcAft>
              <a:defRPr sz="2000" b="1">
                <a:solidFill>
                  <a:srgbClr val="223B53"/>
                </a:solidFill>
                <a:latin typeface="DejaVu Sans"/>
              </a:defRPr>
            </a:pPr>
            <a:r>
              <a:t>Mehmon OS / VM</a:t>
            </a:r>
          </a:p>
        </p:txBody>
      </p:sp>
      <p:sp>
        <p:nvSpPr>
          <p:cNvPr id="11" name="Rounded Rectangle 10"/>
          <p:cNvSpPr/>
          <p:nvPr/>
        </p:nvSpPr>
        <p:spPr>
          <a:xfrm>
            <a:off x="777240" y="2971800"/>
            <a:ext cx="4663440" cy="621792"/>
          </a:xfrm>
          <a:prstGeom prst="roundRect">
            <a:avLst>
              <a:gd name="adj" fmla="val 8000"/>
            </a:avLst>
          </a:prstGeom>
          <a:solidFill>
            <a:srgbClr val="246E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108960"/>
            <a:ext cx="4389120" cy="411480"/>
          </a:xfrm>
          <a:prstGeom prst="rect">
            <a:avLst/>
          </a:prstGeom>
          <a:noFill/>
        </p:spPr>
        <p:txBody>
          <a:bodyPr wrap="square" lIns="27432" rIns="27432" tIns="18288" bIns="0">
            <a:spAutoFit/>
          </a:bodyPr>
          <a:lstStyle/>
          <a:p>
            <a:pPr algn="ctr">
              <a:spcAft>
                <a:spcPts val="800"/>
              </a:spcAft>
              <a:defRPr sz="2000" b="1">
                <a:solidFill>
                  <a:srgbClr val="FFFFFF"/>
                </a:solidFill>
                <a:latin typeface="DejaVu Sans"/>
              </a:defRPr>
            </a:pPr>
            <a:r>
              <a:t>Type 2 dasturi</a:t>
            </a:r>
          </a:p>
        </p:txBody>
      </p:sp>
      <p:sp>
        <p:nvSpPr>
          <p:cNvPr id="13" name="Rounded Rectangle 12"/>
          <p:cNvSpPr/>
          <p:nvPr/>
        </p:nvSpPr>
        <p:spPr>
          <a:xfrm>
            <a:off x="777240" y="3749039"/>
            <a:ext cx="4663440" cy="621792"/>
          </a:xfrm>
          <a:prstGeom prst="roundRect">
            <a:avLst>
              <a:gd name="adj" fmla="val 8000"/>
            </a:avLst>
          </a:prstGeom>
          <a:solidFill>
            <a:srgbClr val="E8DB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886200"/>
            <a:ext cx="4389120" cy="411480"/>
          </a:xfrm>
          <a:prstGeom prst="rect">
            <a:avLst/>
          </a:prstGeom>
          <a:noFill/>
        </p:spPr>
        <p:txBody>
          <a:bodyPr wrap="square" lIns="27432" rIns="27432" tIns="18288" bIns="0">
            <a:spAutoFit/>
          </a:bodyPr>
          <a:lstStyle/>
          <a:p>
            <a:pPr algn="ctr">
              <a:spcAft>
                <a:spcPts val="800"/>
              </a:spcAft>
              <a:defRPr sz="2000" b="1">
                <a:solidFill>
                  <a:srgbClr val="223B53"/>
                </a:solidFill>
                <a:latin typeface="DejaVu Sans"/>
              </a:defRPr>
            </a:pPr>
            <a:r>
              <a:t>Host operatsion tizimi</a:t>
            </a:r>
          </a:p>
        </p:txBody>
      </p:sp>
      <p:sp>
        <p:nvSpPr>
          <p:cNvPr id="15" name="Rounded Rectangle 14"/>
          <p:cNvSpPr/>
          <p:nvPr/>
        </p:nvSpPr>
        <p:spPr>
          <a:xfrm>
            <a:off x="777240" y="4526279"/>
            <a:ext cx="4663440" cy="621792"/>
          </a:xfrm>
          <a:prstGeom prst="roundRect">
            <a:avLst>
              <a:gd name="adj" fmla="val 8000"/>
            </a:avLst>
          </a:prstGeom>
          <a:solidFill>
            <a:srgbClr val="DCE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4663440"/>
            <a:ext cx="4389120" cy="411480"/>
          </a:xfrm>
          <a:prstGeom prst="rect">
            <a:avLst/>
          </a:prstGeom>
          <a:noFill/>
        </p:spPr>
        <p:txBody>
          <a:bodyPr wrap="square" lIns="27432" rIns="27432" tIns="18288" bIns="0">
            <a:spAutoFit/>
          </a:bodyPr>
          <a:lstStyle/>
          <a:p>
            <a:pPr algn="ctr">
              <a:spcAft>
                <a:spcPts val="800"/>
              </a:spcAft>
              <a:defRPr sz="2000" b="1">
                <a:solidFill>
                  <a:srgbClr val="223B53"/>
                </a:solidFill>
                <a:latin typeface="DejaVu Sans"/>
              </a:defRPr>
            </a:pPr>
            <a:r>
              <a:t>Jismoniy uskuna</a:t>
            </a:r>
          </a:p>
        </p:txBody>
      </p:sp>
      <p:sp>
        <p:nvSpPr>
          <p:cNvPr id="17" name="TextBox 16"/>
          <p:cNvSpPr txBox="1"/>
          <p:nvPr/>
        </p:nvSpPr>
        <p:spPr>
          <a:xfrm>
            <a:off x="6080760" y="2194560"/>
            <a:ext cx="5120640" cy="1097280"/>
          </a:xfrm>
          <a:prstGeom prst="rect">
            <a:avLst/>
          </a:prstGeom>
          <a:noFill/>
        </p:spPr>
        <p:txBody>
          <a:bodyPr wrap="square" lIns="27432" rIns="27432" tIns="18288" bIns="0">
            <a:spAutoFit/>
          </a:bodyPr>
          <a:lstStyle/>
          <a:p>
            <a:pPr>
              <a:spcAft>
                <a:spcPts val="800"/>
              </a:spcAft>
              <a:defRPr sz="2600" b="1">
                <a:solidFill>
                  <a:srgbClr val="246EC3"/>
                </a:solidFill>
                <a:latin typeface="DejaVu Sans"/>
              </a:defRPr>
            </a:pPr>
            <a:r>
              <a:t>Oddiy operatsion tizim ustida virtual mashina.</a:t>
            </a:r>
          </a:p>
        </p:txBody>
      </p:sp>
      <p:sp>
        <p:nvSpPr>
          <p:cNvPr id="18" name="TextBox 17"/>
          <p:cNvSpPr txBox="1"/>
          <p:nvPr/>
        </p:nvSpPr>
        <p:spPr>
          <a:xfrm>
            <a:off x="6080760" y="3657600"/>
            <a:ext cx="5120640" cy="1261872"/>
          </a:xfrm>
          <a:prstGeom prst="rect">
            <a:avLst/>
          </a:prstGeom>
          <a:noFill/>
        </p:spPr>
        <p:txBody>
          <a:bodyPr wrap="square" lIns="27432" rIns="27432" tIns="18288" bIns="0">
            <a:spAutoFit/>
          </a:bodyPr>
          <a:lstStyle/>
          <a:p>
            <a:pPr>
              <a:spcAft>
                <a:spcPts val="800"/>
              </a:spcAft>
              <a:defRPr sz="2300" b="0">
                <a:solidFill>
                  <a:srgbClr val="223B53"/>
                </a:solidFill>
                <a:latin typeface="DejaVu Sans"/>
              </a:defRPr>
            </a:pPr>
            <a:r>
              <a:t>O‘rganish, sinov va noutbukda qo‘shimcha muhit uchun qulay.</a:t>
            </a:r>
          </a:p>
        </p:txBody>
      </p:sp>
      <p:sp>
        <p:nvSpPr>
          <p:cNvPr id="19" name="TextBox 18"/>
          <p:cNvSpPr txBox="1"/>
          <p:nvPr/>
        </p:nvSpPr>
        <p:spPr>
          <a:xfrm>
            <a:off x="6080760" y="5193792"/>
            <a:ext cx="5120640" cy="777240"/>
          </a:xfrm>
          <a:prstGeom prst="rect">
            <a:avLst/>
          </a:prstGeom>
          <a:noFill/>
        </p:spPr>
        <p:txBody>
          <a:bodyPr wrap="square" lIns="27432" rIns="27432" tIns="18288" bIns="0">
            <a:spAutoFit/>
          </a:bodyPr>
          <a:lstStyle/>
          <a:p>
            <a:pPr>
              <a:spcAft>
                <a:spcPts val="800"/>
              </a:spcAft>
              <a:defRPr sz="2200" b="1">
                <a:solidFill>
                  <a:srgbClr val="D58C28"/>
                </a:solidFill>
                <a:latin typeface="DejaVu Sans"/>
              </a:defRPr>
            </a:pPr>
            <a:r>
              <a:t>Misol: VirtualBox.</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BFD"/>
        </a:solidFill>
        <a:effectLst/>
      </p:bgPr>
    </p:bg>
    <p:spTree>
      <p:nvGrpSpPr>
        <p:cNvPr id="1" name=""/>
        <p:cNvGrpSpPr/>
        <p:nvPr/>
      </p:nvGrpSpPr>
      <p:grpSpPr/>
      <p:sp>
        <p:nvSpPr>
          <p:cNvPr id="2" name="Rectangle 1"/>
          <p:cNvSpPr/>
          <p:nvPr/>
        </p:nvSpPr>
        <p:spPr>
          <a:xfrm>
            <a:off x="0" y="0"/>
            <a:ext cx="210312" cy="6858000"/>
          </a:xfrm>
          <a:prstGeom prst="rect">
            <a:avLst/>
          </a:prstGeom>
          <a:solidFill>
            <a:srgbClr val="246E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92640" cy="274320"/>
          </a:xfrm>
          <a:prstGeom prst="rect">
            <a:avLst/>
          </a:prstGeom>
          <a:noFill/>
        </p:spPr>
        <p:txBody>
          <a:bodyPr wrap="square" lIns="27432" rIns="27432" tIns="18288" bIns="0">
            <a:spAutoFit/>
          </a:bodyPr>
          <a:lstStyle/>
          <a:p>
            <a:pPr>
              <a:spcAft>
                <a:spcPts val="800"/>
              </a:spcAft>
              <a:defRPr sz="1100" b="1">
                <a:solidFill>
                  <a:srgbClr val="246EC3"/>
                </a:solidFill>
                <a:latin typeface="DejaVu Sans"/>
              </a:defRPr>
            </a:pPr>
            <a:r>
              <a:t>VIRTUALIZATSIYA  /  TEXNIK KO‘RINISH</a:t>
            </a:r>
          </a:p>
        </p:txBody>
      </p:sp>
      <p:sp>
        <p:nvSpPr>
          <p:cNvPr id="4" name="TextBox 3"/>
          <p:cNvSpPr txBox="1"/>
          <p:nvPr/>
        </p:nvSpPr>
        <p:spPr>
          <a:xfrm>
            <a:off x="548640" y="877824"/>
            <a:ext cx="10515600" cy="1005840"/>
          </a:xfrm>
          <a:prstGeom prst="rect">
            <a:avLst/>
          </a:prstGeom>
          <a:noFill/>
        </p:spPr>
        <p:txBody>
          <a:bodyPr wrap="square" lIns="27432" rIns="27432" tIns="18288" bIns="0">
            <a:spAutoFit/>
          </a:bodyPr>
          <a:lstStyle/>
          <a:p>
            <a:pPr>
              <a:spcAft>
                <a:spcPts val="800"/>
              </a:spcAft>
              <a:defRPr sz="3000" b="1">
                <a:solidFill>
                  <a:srgbClr val="223B53"/>
                </a:solidFill>
                <a:latin typeface="DejaVu Sans"/>
              </a:defRPr>
            </a:pPr>
            <a:r>
              <a:t>VMware, Hyper-V va KVM</a:t>
            </a:r>
          </a:p>
        </p:txBody>
      </p:sp>
      <p:sp>
        <p:nvSpPr>
          <p:cNvPr id="5" name="Rectangle 4"/>
          <p:cNvSpPr/>
          <p:nvPr/>
        </p:nvSpPr>
        <p:spPr>
          <a:xfrm>
            <a:off x="10954512" y="365760"/>
            <a:ext cx="667512" cy="667512"/>
          </a:xfrm>
          <a:prstGeom prst="rect">
            <a:avLst/>
          </a:prstGeom>
          <a:solidFill>
            <a:srgbClr val="EBF3FA"/>
          </a:solidFill>
          <a:ln>
            <a:solidFill>
              <a:srgbClr val="246E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36808" y="557784"/>
            <a:ext cx="502920" cy="274320"/>
          </a:xfrm>
          <a:prstGeom prst="rect">
            <a:avLst/>
          </a:prstGeom>
          <a:noFill/>
        </p:spPr>
        <p:txBody>
          <a:bodyPr wrap="square" lIns="27432" rIns="27432" tIns="18288" bIns="0">
            <a:spAutoFit/>
          </a:bodyPr>
          <a:lstStyle/>
          <a:p>
            <a:pPr>
              <a:spcAft>
                <a:spcPts val="800"/>
              </a:spcAft>
              <a:defRPr sz="1400" b="1">
                <a:solidFill>
                  <a:srgbClr val="246EC3"/>
                </a:solidFill>
                <a:latin typeface="DejaVu Sans"/>
              </a:defRPr>
            </a:pPr>
            <a:r>
              <a:t>07</a:t>
            </a:r>
          </a:p>
        </p:txBody>
      </p:sp>
      <p:sp>
        <p:nvSpPr>
          <p:cNvPr id="7" name="TextBox 6"/>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223B53"/>
                </a:solidFill>
                <a:latin typeface="DejaVu Sans"/>
              </a:defRPr>
            </a:pPr>
            <a:r>
              <a:t>BTST206   /   M05   /   2027–2028</a:t>
            </a:r>
          </a:p>
        </p:txBody>
      </p:sp>
      <p:sp>
        <p:nvSpPr>
          <p:cNvPr id="8" name="TextBox 7"/>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223B53"/>
                </a:solidFill>
                <a:latin typeface="DejaVu Sans"/>
              </a:defRPr>
            </a:pPr>
            <a:r>
              <a:t>07 / 13</a:t>
            </a:r>
          </a:p>
        </p:txBody>
      </p:sp>
      <p:sp>
        <p:nvSpPr>
          <p:cNvPr id="9" name="Rounded Rectangle 8"/>
          <p:cNvSpPr/>
          <p:nvPr/>
        </p:nvSpPr>
        <p:spPr>
          <a:xfrm>
            <a:off x="731520" y="2148840"/>
            <a:ext cx="2834640" cy="932688"/>
          </a:xfrm>
          <a:prstGeom prst="roundRect">
            <a:avLst>
              <a:gd name="adj" fmla="val 8000"/>
            </a:avLst>
          </a:prstGeom>
          <a:solidFill>
            <a:srgbClr val="246E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68296"/>
            <a:ext cx="2377440" cy="457200"/>
          </a:xfrm>
          <a:prstGeom prst="rect">
            <a:avLst/>
          </a:prstGeom>
          <a:noFill/>
        </p:spPr>
        <p:txBody>
          <a:bodyPr wrap="square" lIns="27432" rIns="27432" tIns="18288" bIns="0">
            <a:spAutoFit/>
          </a:bodyPr>
          <a:lstStyle/>
          <a:p>
            <a:pPr>
              <a:spcAft>
                <a:spcPts val="800"/>
              </a:spcAft>
              <a:defRPr sz="2500" b="1">
                <a:solidFill>
                  <a:srgbClr val="FFFFFF"/>
                </a:solidFill>
                <a:latin typeface="DejaVu Sans"/>
              </a:defRPr>
            </a:pPr>
            <a:r>
              <a:t>VMware</a:t>
            </a:r>
          </a:p>
        </p:txBody>
      </p:sp>
      <p:sp>
        <p:nvSpPr>
          <p:cNvPr id="11" name="TextBox 10"/>
          <p:cNvSpPr txBox="1"/>
          <p:nvPr/>
        </p:nvSpPr>
        <p:spPr>
          <a:xfrm>
            <a:off x="4023360" y="2331720"/>
            <a:ext cx="6995160" cy="685800"/>
          </a:xfrm>
          <a:prstGeom prst="rect">
            <a:avLst/>
          </a:prstGeom>
          <a:noFill/>
        </p:spPr>
        <p:txBody>
          <a:bodyPr wrap="square" lIns="27432" rIns="27432" tIns="18288" bIns="0">
            <a:spAutoFit/>
          </a:bodyPr>
          <a:lstStyle/>
          <a:p>
            <a:pPr>
              <a:spcAft>
                <a:spcPts val="800"/>
              </a:spcAft>
              <a:defRPr sz="2400" b="0">
                <a:solidFill>
                  <a:srgbClr val="223B53"/>
                </a:solidFill>
                <a:latin typeface="DejaVu Sans"/>
              </a:defRPr>
            </a:pPr>
            <a:r>
              <a:t>Virtualizatsiya va boshqaruv mahsulotlari oilasi</a:t>
            </a:r>
          </a:p>
        </p:txBody>
      </p:sp>
      <p:sp>
        <p:nvSpPr>
          <p:cNvPr id="12" name="Rounded Rectangle 11"/>
          <p:cNvSpPr/>
          <p:nvPr/>
        </p:nvSpPr>
        <p:spPr>
          <a:xfrm>
            <a:off x="731520" y="3337560"/>
            <a:ext cx="2834640" cy="932688"/>
          </a:xfrm>
          <a:prstGeom prst="roundRect">
            <a:avLst>
              <a:gd name="adj" fmla="val 8000"/>
            </a:avLst>
          </a:prstGeom>
          <a:solidFill>
            <a:srgbClr val="527F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557016"/>
            <a:ext cx="2377440" cy="457200"/>
          </a:xfrm>
          <a:prstGeom prst="rect">
            <a:avLst/>
          </a:prstGeom>
          <a:noFill/>
        </p:spPr>
        <p:txBody>
          <a:bodyPr wrap="square" lIns="27432" rIns="27432" tIns="18288" bIns="0">
            <a:spAutoFit/>
          </a:bodyPr>
          <a:lstStyle/>
          <a:p>
            <a:pPr>
              <a:spcAft>
                <a:spcPts val="800"/>
              </a:spcAft>
              <a:defRPr sz="2500" b="1">
                <a:solidFill>
                  <a:srgbClr val="FFFFFF"/>
                </a:solidFill>
                <a:latin typeface="DejaVu Sans"/>
              </a:defRPr>
            </a:pPr>
            <a:r>
              <a:t>Hyper-V</a:t>
            </a:r>
          </a:p>
        </p:txBody>
      </p:sp>
      <p:sp>
        <p:nvSpPr>
          <p:cNvPr id="14" name="TextBox 13"/>
          <p:cNvSpPr txBox="1"/>
          <p:nvPr/>
        </p:nvSpPr>
        <p:spPr>
          <a:xfrm>
            <a:off x="4023360" y="3520440"/>
            <a:ext cx="6995160" cy="685800"/>
          </a:xfrm>
          <a:prstGeom prst="rect">
            <a:avLst/>
          </a:prstGeom>
          <a:noFill/>
        </p:spPr>
        <p:txBody>
          <a:bodyPr wrap="square" lIns="27432" rIns="27432" tIns="18288" bIns="0">
            <a:spAutoFit/>
          </a:bodyPr>
          <a:lstStyle/>
          <a:p>
            <a:pPr>
              <a:spcAft>
                <a:spcPts val="800"/>
              </a:spcAft>
              <a:defRPr sz="2400" b="0">
                <a:solidFill>
                  <a:srgbClr val="223B53"/>
                </a:solidFill>
                <a:latin typeface="DejaVu Sans"/>
              </a:defRPr>
            </a:pPr>
            <a:r>
              <a:t>Microsoft ekotizimi bilan bog‘liq</a:t>
            </a:r>
          </a:p>
        </p:txBody>
      </p:sp>
      <p:sp>
        <p:nvSpPr>
          <p:cNvPr id="15" name="Rounded Rectangle 14"/>
          <p:cNvSpPr/>
          <p:nvPr/>
        </p:nvSpPr>
        <p:spPr>
          <a:xfrm>
            <a:off x="731520" y="4526280"/>
            <a:ext cx="2834640" cy="932688"/>
          </a:xfrm>
          <a:prstGeom prst="roundRect">
            <a:avLst>
              <a:gd name="adj" fmla="val 8000"/>
            </a:avLst>
          </a:prstGeom>
          <a:solidFill>
            <a:srgbClr val="246E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4745736"/>
            <a:ext cx="2377440" cy="457200"/>
          </a:xfrm>
          <a:prstGeom prst="rect">
            <a:avLst/>
          </a:prstGeom>
          <a:noFill/>
        </p:spPr>
        <p:txBody>
          <a:bodyPr wrap="square" lIns="27432" rIns="27432" tIns="18288" bIns="0">
            <a:spAutoFit/>
          </a:bodyPr>
          <a:lstStyle/>
          <a:p>
            <a:pPr>
              <a:spcAft>
                <a:spcPts val="800"/>
              </a:spcAft>
              <a:defRPr sz="2500" b="1">
                <a:solidFill>
                  <a:srgbClr val="FFFFFF"/>
                </a:solidFill>
                <a:latin typeface="DejaVu Sans"/>
              </a:defRPr>
            </a:pPr>
            <a:r>
              <a:t>KVM</a:t>
            </a:r>
          </a:p>
        </p:txBody>
      </p:sp>
      <p:sp>
        <p:nvSpPr>
          <p:cNvPr id="17" name="TextBox 16"/>
          <p:cNvSpPr txBox="1"/>
          <p:nvPr/>
        </p:nvSpPr>
        <p:spPr>
          <a:xfrm>
            <a:off x="4023360" y="4709160"/>
            <a:ext cx="6995160" cy="685800"/>
          </a:xfrm>
          <a:prstGeom prst="rect">
            <a:avLst/>
          </a:prstGeom>
          <a:noFill/>
        </p:spPr>
        <p:txBody>
          <a:bodyPr wrap="square" lIns="27432" rIns="27432" tIns="18288" bIns="0">
            <a:spAutoFit/>
          </a:bodyPr>
          <a:lstStyle/>
          <a:p>
            <a:pPr>
              <a:spcAft>
                <a:spcPts val="800"/>
              </a:spcAft>
              <a:defRPr sz="2400" b="0">
                <a:solidFill>
                  <a:srgbClr val="223B53"/>
                </a:solidFill>
                <a:latin typeface="DejaVu Sans"/>
              </a:defRPr>
            </a:pPr>
            <a:r>
              <a:t>Linux yadrosi + QEMU / libvirt</a:t>
            </a:r>
          </a:p>
        </p:txBody>
      </p:sp>
      <p:sp>
        <p:nvSpPr>
          <p:cNvPr id="18" name="TextBox 17"/>
          <p:cNvSpPr txBox="1"/>
          <p:nvPr/>
        </p:nvSpPr>
        <p:spPr>
          <a:xfrm>
            <a:off x="804672" y="5989320"/>
            <a:ext cx="10424160" cy="274320"/>
          </a:xfrm>
          <a:prstGeom prst="rect">
            <a:avLst/>
          </a:prstGeom>
          <a:noFill/>
        </p:spPr>
        <p:txBody>
          <a:bodyPr wrap="square" lIns="27432" rIns="27432" tIns="18288" bIns="0">
            <a:spAutoFit/>
          </a:bodyPr>
          <a:lstStyle/>
          <a:p>
            <a:pPr>
              <a:spcAft>
                <a:spcPts val="800"/>
              </a:spcAft>
              <a:defRPr sz="1700" b="1">
                <a:solidFill>
                  <a:srgbClr val="223B53"/>
                </a:solidFill>
                <a:latin typeface="DejaVu Sans"/>
              </a:defRPr>
            </a:pPr>
            <a:r>
              <a:t>Tanlov: talab, ekotizim, litsenziya va jamoa tajribasiga bog‘liq.</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BFD"/>
        </a:solidFill>
        <a:effectLst/>
      </p:bgPr>
    </p:bg>
    <p:spTree>
      <p:nvGrpSpPr>
        <p:cNvPr id="1" name=""/>
        <p:cNvGrpSpPr/>
        <p:nvPr/>
      </p:nvGrpSpPr>
      <p:grpSpPr/>
      <p:sp>
        <p:nvSpPr>
          <p:cNvPr id="2" name="Rectangle 1"/>
          <p:cNvSpPr/>
          <p:nvPr/>
        </p:nvSpPr>
        <p:spPr>
          <a:xfrm>
            <a:off x="0" y="0"/>
            <a:ext cx="210312" cy="6858000"/>
          </a:xfrm>
          <a:prstGeom prst="rect">
            <a:avLst/>
          </a:prstGeom>
          <a:solidFill>
            <a:srgbClr val="246E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92640" cy="274320"/>
          </a:xfrm>
          <a:prstGeom prst="rect">
            <a:avLst/>
          </a:prstGeom>
          <a:noFill/>
        </p:spPr>
        <p:txBody>
          <a:bodyPr wrap="square" lIns="27432" rIns="27432" tIns="18288" bIns="0">
            <a:spAutoFit/>
          </a:bodyPr>
          <a:lstStyle/>
          <a:p>
            <a:pPr>
              <a:spcAft>
                <a:spcPts val="800"/>
              </a:spcAft>
              <a:defRPr sz="1100" b="1">
                <a:solidFill>
                  <a:srgbClr val="246EC3"/>
                </a:solidFill>
                <a:latin typeface="DejaVu Sans"/>
              </a:defRPr>
            </a:pPr>
            <a:r>
              <a:t>VIRTUALIZATSIYA  /  TEXNIK KO‘RINISH</a:t>
            </a:r>
          </a:p>
        </p:txBody>
      </p:sp>
      <p:sp>
        <p:nvSpPr>
          <p:cNvPr id="4" name="TextBox 3"/>
          <p:cNvSpPr txBox="1"/>
          <p:nvPr/>
        </p:nvSpPr>
        <p:spPr>
          <a:xfrm>
            <a:off x="548640" y="877824"/>
            <a:ext cx="10515600" cy="1005840"/>
          </a:xfrm>
          <a:prstGeom prst="rect">
            <a:avLst/>
          </a:prstGeom>
          <a:noFill/>
        </p:spPr>
        <p:txBody>
          <a:bodyPr wrap="square" lIns="27432" rIns="27432" tIns="18288" bIns="0">
            <a:spAutoFit/>
          </a:bodyPr>
          <a:lstStyle/>
          <a:p>
            <a:pPr>
              <a:spcAft>
                <a:spcPts val="800"/>
              </a:spcAft>
              <a:defRPr sz="3000" b="1">
                <a:solidFill>
                  <a:srgbClr val="223B53"/>
                </a:solidFill>
                <a:latin typeface="DejaVu Sans"/>
              </a:defRPr>
            </a:pPr>
            <a:r>
              <a:t>Resurslar, snapshot va zaxira</a:t>
            </a:r>
          </a:p>
        </p:txBody>
      </p:sp>
      <p:sp>
        <p:nvSpPr>
          <p:cNvPr id="5" name="Rectangle 4"/>
          <p:cNvSpPr/>
          <p:nvPr/>
        </p:nvSpPr>
        <p:spPr>
          <a:xfrm>
            <a:off x="10954512" y="365760"/>
            <a:ext cx="667512" cy="667512"/>
          </a:xfrm>
          <a:prstGeom prst="rect">
            <a:avLst/>
          </a:prstGeom>
          <a:solidFill>
            <a:srgbClr val="EBF3FA"/>
          </a:solidFill>
          <a:ln>
            <a:solidFill>
              <a:srgbClr val="246E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36808" y="557784"/>
            <a:ext cx="502920" cy="274320"/>
          </a:xfrm>
          <a:prstGeom prst="rect">
            <a:avLst/>
          </a:prstGeom>
          <a:noFill/>
        </p:spPr>
        <p:txBody>
          <a:bodyPr wrap="square" lIns="27432" rIns="27432" tIns="18288" bIns="0">
            <a:spAutoFit/>
          </a:bodyPr>
          <a:lstStyle/>
          <a:p>
            <a:pPr>
              <a:spcAft>
                <a:spcPts val="800"/>
              </a:spcAft>
              <a:defRPr sz="1400" b="1">
                <a:solidFill>
                  <a:srgbClr val="246EC3"/>
                </a:solidFill>
                <a:latin typeface="DejaVu Sans"/>
              </a:defRPr>
            </a:pPr>
            <a:r>
              <a:t>08</a:t>
            </a:r>
          </a:p>
        </p:txBody>
      </p:sp>
      <p:sp>
        <p:nvSpPr>
          <p:cNvPr id="7" name="TextBox 6"/>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223B53"/>
                </a:solidFill>
                <a:latin typeface="DejaVu Sans"/>
              </a:defRPr>
            </a:pPr>
            <a:r>
              <a:t>BTST206   /   M05   /   2027–2028</a:t>
            </a:r>
          </a:p>
        </p:txBody>
      </p:sp>
      <p:sp>
        <p:nvSpPr>
          <p:cNvPr id="8" name="TextBox 7"/>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223B53"/>
                </a:solidFill>
                <a:latin typeface="DejaVu Sans"/>
              </a:defRPr>
            </a:pPr>
            <a:r>
              <a:t>08 / 13</a:t>
            </a:r>
          </a:p>
        </p:txBody>
      </p:sp>
      <p:sp>
        <p:nvSpPr>
          <p:cNvPr id="9" name="Rounded Rectangle 8"/>
          <p:cNvSpPr/>
          <p:nvPr/>
        </p:nvSpPr>
        <p:spPr>
          <a:xfrm>
            <a:off x="731520" y="2194560"/>
            <a:ext cx="5303520" cy="2999232"/>
          </a:xfrm>
          <a:prstGeom prst="roundRect">
            <a:avLst>
              <a:gd name="adj" fmla="val 8000"/>
            </a:avLst>
          </a:prstGeom>
          <a:solidFill>
            <a:srgbClr val="FFFFFF"/>
          </a:solidFill>
          <a:ln>
            <a:solidFill>
              <a:srgbClr val="246E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514600"/>
            <a:ext cx="4754880" cy="594360"/>
          </a:xfrm>
          <a:prstGeom prst="rect">
            <a:avLst/>
          </a:prstGeom>
          <a:noFill/>
        </p:spPr>
        <p:txBody>
          <a:bodyPr wrap="square" lIns="27432" rIns="27432" tIns="18288" bIns="0">
            <a:spAutoFit/>
          </a:bodyPr>
          <a:lstStyle/>
          <a:p>
            <a:pPr>
              <a:spcAft>
                <a:spcPts val="800"/>
              </a:spcAft>
              <a:defRPr sz="3000" b="1">
                <a:solidFill>
                  <a:srgbClr val="246EC3"/>
                </a:solidFill>
                <a:latin typeface="DejaVu Sans"/>
              </a:defRPr>
            </a:pPr>
            <a:r>
              <a:t>Snapshot</a:t>
            </a:r>
          </a:p>
        </p:txBody>
      </p:sp>
      <p:sp>
        <p:nvSpPr>
          <p:cNvPr id="11" name="TextBox 10"/>
          <p:cNvSpPr txBox="1"/>
          <p:nvPr/>
        </p:nvSpPr>
        <p:spPr>
          <a:xfrm>
            <a:off x="1005840" y="3474720"/>
            <a:ext cx="4709160" cy="1325880"/>
          </a:xfrm>
          <a:prstGeom prst="rect">
            <a:avLst/>
          </a:prstGeom>
          <a:noFill/>
        </p:spPr>
        <p:txBody>
          <a:bodyPr wrap="square" lIns="27432" rIns="27432" tIns="18288" bIns="0">
            <a:spAutoFit/>
          </a:bodyPr>
          <a:lstStyle/>
          <a:p>
            <a:pPr>
              <a:spcAft>
                <a:spcPts val="800"/>
              </a:spcAft>
              <a:defRPr sz="2400" b="0">
                <a:solidFill>
                  <a:srgbClr val="223B53"/>
                </a:solidFill>
                <a:latin typeface="DejaVu Sans"/>
              </a:defRPr>
            </a:pPr>
            <a:r>
              <a:t>Yangilanishdan oldingi tez holat nusxasi</a:t>
            </a:r>
          </a:p>
        </p:txBody>
      </p:sp>
      <p:sp>
        <p:nvSpPr>
          <p:cNvPr id="12" name="Rounded Rectangle 11"/>
          <p:cNvSpPr/>
          <p:nvPr/>
        </p:nvSpPr>
        <p:spPr>
          <a:xfrm>
            <a:off x="6309359" y="2194560"/>
            <a:ext cx="5303520" cy="2999232"/>
          </a:xfrm>
          <a:prstGeom prst="roundRect">
            <a:avLst>
              <a:gd name="adj" fmla="val 8000"/>
            </a:avLst>
          </a:prstGeom>
          <a:solidFill>
            <a:srgbClr val="FFFFFF"/>
          </a:solidFill>
          <a:ln>
            <a:solidFill>
              <a:srgbClr val="D58C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79" y="2514600"/>
            <a:ext cx="4754880" cy="594360"/>
          </a:xfrm>
          <a:prstGeom prst="rect">
            <a:avLst/>
          </a:prstGeom>
          <a:noFill/>
        </p:spPr>
        <p:txBody>
          <a:bodyPr wrap="square" lIns="27432" rIns="27432" tIns="18288" bIns="0">
            <a:spAutoFit/>
          </a:bodyPr>
          <a:lstStyle/>
          <a:p>
            <a:pPr>
              <a:spcAft>
                <a:spcPts val="800"/>
              </a:spcAft>
              <a:defRPr sz="3000" b="1">
                <a:solidFill>
                  <a:srgbClr val="D58C28"/>
                </a:solidFill>
                <a:latin typeface="DejaVu Sans"/>
              </a:defRPr>
            </a:pPr>
            <a:r>
              <a:t>Backup</a:t>
            </a:r>
          </a:p>
        </p:txBody>
      </p:sp>
      <p:sp>
        <p:nvSpPr>
          <p:cNvPr id="14" name="TextBox 13"/>
          <p:cNvSpPr txBox="1"/>
          <p:nvPr/>
        </p:nvSpPr>
        <p:spPr>
          <a:xfrm>
            <a:off x="6583679" y="3474720"/>
            <a:ext cx="4709160" cy="1325880"/>
          </a:xfrm>
          <a:prstGeom prst="rect">
            <a:avLst/>
          </a:prstGeom>
          <a:noFill/>
        </p:spPr>
        <p:txBody>
          <a:bodyPr wrap="square" lIns="27432" rIns="27432" tIns="18288" bIns="0">
            <a:spAutoFit/>
          </a:bodyPr>
          <a:lstStyle/>
          <a:p>
            <a:pPr>
              <a:spcAft>
                <a:spcPts val="800"/>
              </a:spcAft>
              <a:defRPr sz="2400" b="0">
                <a:solidFill>
                  <a:srgbClr val="223B53"/>
                </a:solidFill>
                <a:latin typeface="DejaVu Sans"/>
              </a:defRPr>
            </a:pPr>
            <a:r>
              <a:t>Boshqa nosozlik hududida saqlangan tiklash nusxasi</a:t>
            </a:r>
          </a:p>
        </p:txBody>
      </p:sp>
      <p:sp>
        <p:nvSpPr>
          <p:cNvPr id="15" name="TextBox 14"/>
          <p:cNvSpPr txBox="1"/>
          <p:nvPr/>
        </p:nvSpPr>
        <p:spPr>
          <a:xfrm>
            <a:off x="822960" y="5605272"/>
            <a:ext cx="10469880" cy="658368"/>
          </a:xfrm>
          <a:prstGeom prst="rect">
            <a:avLst/>
          </a:prstGeom>
          <a:noFill/>
        </p:spPr>
        <p:txBody>
          <a:bodyPr wrap="square" lIns="27432" rIns="27432" tIns="18288" bIns="0">
            <a:spAutoFit/>
          </a:bodyPr>
          <a:lstStyle/>
          <a:p>
            <a:pPr>
              <a:spcAft>
                <a:spcPts val="800"/>
              </a:spcAft>
              <a:defRPr sz="2500" b="1">
                <a:solidFill>
                  <a:srgbClr val="246EC3"/>
                </a:solidFill>
                <a:latin typeface="DejaVu Sans"/>
              </a:defRPr>
            </a:pPr>
            <a:r>
              <a:t>Zaxiraning foydasi tiklash sinovi bilan tasdiqlanadi.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BFD"/>
        </a:solidFill>
        <a:effectLst/>
      </p:bgPr>
    </p:bg>
    <p:spTree>
      <p:nvGrpSpPr>
        <p:cNvPr id="1" name=""/>
        <p:cNvGrpSpPr/>
        <p:nvPr/>
      </p:nvGrpSpPr>
      <p:grpSpPr/>
      <p:sp>
        <p:nvSpPr>
          <p:cNvPr id="2" name="Rectangle 1"/>
          <p:cNvSpPr/>
          <p:nvPr/>
        </p:nvSpPr>
        <p:spPr>
          <a:xfrm>
            <a:off x="0" y="0"/>
            <a:ext cx="210312" cy="6858000"/>
          </a:xfrm>
          <a:prstGeom prst="rect">
            <a:avLst/>
          </a:prstGeom>
          <a:solidFill>
            <a:srgbClr val="246E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92640" cy="274320"/>
          </a:xfrm>
          <a:prstGeom prst="rect">
            <a:avLst/>
          </a:prstGeom>
          <a:noFill/>
        </p:spPr>
        <p:txBody>
          <a:bodyPr wrap="square" lIns="27432" rIns="27432" tIns="18288" bIns="0">
            <a:spAutoFit/>
          </a:bodyPr>
          <a:lstStyle/>
          <a:p>
            <a:pPr>
              <a:spcAft>
                <a:spcPts val="800"/>
              </a:spcAft>
              <a:defRPr sz="1100" b="1">
                <a:solidFill>
                  <a:srgbClr val="246EC3"/>
                </a:solidFill>
                <a:latin typeface="DejaVu Sans"/>
              </a:defRPr>
            </a:pPr>
            <a:r>
              <a:t>VIRTUALIZATSIYA  /  TEXNIK KO‘RINISH</a:t>
            </a:r>
          </a:p>
        </p:txBody>
      </p:sp>
      <p:sp>
        <p:nvSpPr>
          <p:cNvPr id="4" name="TextBox 3"/>
          <p:cNvSpPr txBox="1"/>
          <p:nvPr/>
        </p:nvSpPr>
        <p:spPr>
          <a:xfrm>
            <a:off x="548640" y="877824"/>
            <a:ext cx="10515600" cy="1005840"/>
          </a:xfrm>
          <a:prstGeom prst="rect">
            <a:avLst/>
          </a:prstGeom>
          <a:noFill/>
        </p:spPr>
        <p:txBody>
          <a:bodyPr wrap="square" lIns="27432" rIns="27432" tIns="18288" bIns="0">
            <a:spAutoFit/>
          </a:bodyPr>
          <a:lstStyle/>
          <a:p>
            <a:pPr>
              <a:spcAft>
                <a:spcPts val="800"/>
              </a:spcAft>
              <a:defRPr sz="3000" b="1">
                <a:solidFill>
                  <a:srgbClr val="223B53"/>
                </a:solidFill>
                <a:latin typeface="DejaVu Sans"/>
              </a:defRPr>
            </a:pPr>
            <a:r>
              <a:t>Texnik sxema: asosiy bog‘lanishlar</a:t>
            </a:r>
          </a:p>
        </p:txBody>
      </p:sp>
      <p:sp>
        <p:nvSpPr>
          <p:cNvPr id="5" name="Rectangle 4"/>
          <p:cNvSpPr/>
          <p:nvPr/>
        </p:nvSpPr>
        <p:spPr>
          <a:xfrm>
            <a:off x="10954512" y="365760"/>
            <a:ext cx="667512" cy="667512"/>
          </a:xfrm>
          <a:prstGeom prst="rect">
            <a:avLst/>
          </a:prstGeom>
          <a:solidFill>
            <a:srgbClr val="EBF3FA"/>
          </a:solidFill>
          <a:ln>
            <a:solidFill>
              <a:srgbClr val="246E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36808" y="557784"/>
            <a:ext cx="502920" cy="274320"/>
          </a:xfrm>
          <a:prstGeom prst="rect">
            <a:avLst/>
          </a:prstGeom>
          <a:noFill/>
        </p:spPr>
        <p:txBody>
          <a:bodyPr wrap="square" lIns="27432" rIns="27432" tIns="18288" bIns="0">
            <a:spAutoFit/>
          </a:bodyPr>
          <a:lstStyle/>
          <a:p>
            <a:pPr>
              <a:spcAft>
                <a:spcPts val="800"/>
              </a:spcAft>
              <a:defRPr sz="1400" b="1">
                <a:solidFill>
                  <a:srgbClr val="246EC3"/>
                </a:solidFill>
                <a:latin typeface="DejaVu Sans"/>
              </a:defRPr>
            </a:pPr>
            <a:r>
              <a:t>09</a:t>
            </a:r>
          </a:p>
        </p:txBody>
      </p:sp>
      <p:sp>
        <p:nvSpPr>
          <p:cNvPr id="7" name="TextBox 6"/>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223B53"/>
                </a:solidFill>
                <a:latin typeface="DejaVu Sans"/>
              </a:defRPr>
            </a:pPr>
            <a:r>
              <a:t>BTST206   /   M05   /   2027–2028</a:t>
            </a:r>
          </a:p>
        </p:txBody>
      </p:sp>
      <p:sp>
        <p:nvSpPr>
          <p:cNvPr id="8" name="TextBox 7"/>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223B53"/>
                </a:solidFill>
                <a:latin typeface="DejaVu Sans"/>
              </a:defRPr>
            </a:pPr>
            <a:r>
              <a:t>09 / 13</a:t>
            </a:r>
          </a:p>
        </p:txBody>
      </p:sp>
      <p:cxnSp>
        <p:nvCxnSpPr>
          <p:cNvPr id="9" name="Connector 8"/>
          <p:cNvCxnSpPr/>
          <p:nvPr/>
        </p:nvCxnSpPr>
        <p:spPr>
          <a:xfrm>
            <a:off x="3474720" y="2651760"/>
            <a:ext cx="777240" cy="0"/>
          </a:xfrm>
          <a:prstGeom prst="line">
            <a:avLst/>
          </a:prstGeom>
          <a:ln w="25400">
            <a:solidFill>
              <a:srgbClr val="246EC3"/>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995160" y="2651760"/>
            <a:ext cx="777240" cy="0"/>
          </a:xfrm>
          <a:prstGeom prst="line">
            <a:avLst/>
          </a:prstGeom>
          <a:ln w="25400">
            <a:solidFill>
              <a:srgbClr val="246EC3"/>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3931920" y="3136391"/>
            <a:ext cx="1691640" cy="1161288"/>
          </a:xfrm>
          <a:prstGeom prst="line">
            <a:avLst/>
          </a:prstGeom>
          <a:ln w="25400">
            <a:solidFill>
              <a:srgbClr val="246EC3"/>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8229600" y="3136391"/>
            <a:ext cx="914400" cy="1161288"/>
          </a:xfrm>
          <a:prstGeom prst="line">
            <a:avLst/>
          </a:prstGeom>
          <a:ln w="25400">
            <a:solidFill>
              <a:srgbClr val="246EC3"/>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303520" y="4754879"/>
            <a:ext cx="1554480" cy="0"/>
          </a:xfrm>
          <a:prstGeom prst="line">
            <a:avLst/>
          </a:prstGeom>
          <a:ln w="25400">
            <a:solidFill>
              <a:srgbClr val="246EC3"/>
            </a:solidFill>
            <a:tailEnd type="triangle"/>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731520" y="2194560"/>
            <a:ext cx="2743200" cy="941832"/>
          </a:xfrm>
          <a:prstGeom prst="rect">
            <a:avLst/>
          </a:prstGeom>
          <a:solidFill>
            <a:srgbClr val="246E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1248" y="2331720"/>
            <a:ext cx="2523744" cy="685800"/>
          </a:xfrm>
          <a:prstGeom prst="rect">
            <a:avLst/>
          </a:prstGeom>
          <a:noFill/>
        </p:spPr>
        <p:txBody>
          <a:bodyPr wrap="square" lIns="27432" rIns="27432" tIns="18288" bIns="0">
            <a:spAutoFit/>
          </a:bodyPr>
          <a:lstStyle/>
          <a:p>
            <a:pPr>
              <a:spcAft>
                <a:spcPts val="800"/>
              </a:spcAft>
              <a:defRPr sz="1700" b="1">
                <a:solidFill>
                  <a:srgbClr val="FFFFFF"/>
                </a:solidFill>
                <a:latin typeface="DejaVu Sans"/>
              </a:defRPr>
            </a:pPr>
            <a:r>
              <a:t>Jismoniy uskuna</a:t>
            </a:r>
          </a:p>
        </p:txBody>
      </p:sp>
      <p:sp>
        <p:nvSpPr>
          <p:cNvPr id="16" name="Rectangle 15"/>
          <p:cNvSpPr/>
          <p:nvPr/>
        </p:nvSpPr>
        <p:spPr>
          <a:xfrm>
            <a:off x="4251960" y="2194560"/>
            <a:ext cx="2743200" cy="941832"/>
          </a:xfrm>
          <a:prstGeom prst="rect">
            <a:avLst/>
          </a:prstGeom>
          <a:solidFill>
            <a:srgbClr val="EB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61688" y="2331720"/>
            <a:ext cx="2523744" cy="685800"/>
          </a:xfrm>
          <a:prstGeom prst="rect">
            <a:avLst/>
          </a:prstGeom>
          <a:noFill/>
        </p:spPr>
        <p:txBody>
          <a:bodyPr wrap="square" lIns="27432" rIns="27432" tIns="18288" bIns="0">
            <a:spAutoFit/>
          </a:bodyPr>
          <a:lstStyle/>
          <a:p>
            <a:pPr>
              <a:spcAft>
                <a:spcPts val="800"/>
              </a:spcAft>
              <a:defRPr sz="1700" b="1">
                <a:solidFill>
                  <a:srgbClr val="223B53"/>
                </a:solidFill>
                <a:latin typeface="DejaVu Sans"/>
              </a:defRPr>
            </a:pPr>
            <a:r>
              <a:t>Gipervizor</a:t>
            </a:r>
          </a:p>
        </p:txBody>
      </p:sp>
      <p:sp>
        <p:nvSpPr>
          <p:cNvPr id="18" name="Rectangle 17"/>
          <p:cNvSpPr/>
          <p:nvPr/>
        </p:nvSpPr>
        <p:spPr>
          <a:xfrm>
            <a:off x="7772400" y="2194560"/>
            <a:ext cx="2743200" cy="941832"/>
          </a:xfrm>
          <a:prstGeom prst="rect">
            <a:avLst/>
          </a:prstGeom>
          <a:solidFill>
            <a:srgbClr val="EB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82127" y="2331720"/>
            <a:ext cx="2523744" cy="685800"/>
          </a:xfrm>
          <a:prstGeom prst="rect">
            <a:avLst/>
          </a:prstGeom>
          <a:noFill/>
        </p:spPr>
        <p:txBody>
          <a:bodyPr wrap="square" lIns="27432" rIns="27432" tIns="18288" bIns="0">
            <a:spAutoFit/>
          </a:bodyPr>
          <a:lstStyle/>
          <a:p>
            <a:pPr>
              <a:spcAft>
                <a:spcPts val="800"/>
              </a:spcAft>
              <a:defRPr sz="1700" b="1">
                <a:solidFill>
                  <a:srgbClr val="223B53"/>
                </a:solidFill>
                <a:latin typeface="DejaVu Sans"/>
              </a:defRPr>
            </a:pPr>
            <a:r>
              <a:t>VM 1 · Linux</a:t>
            </a:r>
          </a:p>
        </p:txBody>
      </p:sp>
      <p:sp>
        <p:nvSpPr>
          <p:cNvPr id="20" name="Rectangle 19"/>
          <p:cNvSpPr/>
          <p:nvPr/>
        </p:nvSpPr>
        <p:spPr>
          <a:xfrm>
            <a:off x="2560320" y="4297679"/>
            <a:ext cx="2743200" cy="941832"/>
          </a:xfrm>
          <a:prstGeom prst="rect">
            <a:avLst/>
          </a:prstGeom>
          <a:solidFill>
            <a:srgbClr val="EB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670048" y="4434840"/>
            <a:ext cx="2523744" cy="685800"/>
          </a:xfrm>
          <a:prstGeom prst="rect">
            <a:avLst/>
          </a:prstGeom>
          <a:noFill/>
        </p:spPr>
        <p:txBody>
          <a:bodyPr wrap="square" lIns="27432" rIns="27432" tIns="18288" bIns="0">
            <a:spAutoFit/>
          </a:bodyPr>
          <a:lstStyle/>
          <a:p>
            <a:pPr>
              <a:spcAft>
                <a:spcPts val="800"/>
              </a:spcAft>
              <a:defRPr sz="1700" b="1">
                <a:solidFill>
                  <a:srgbClr val="223B53"/>
                </a:solidFill>
                <a:latin typeface="DejaVu Sans"/>
              </a:defRPr>
            </a:pPr>
            <a:r>
              <a:t>VM 2 · boshqa OS</a:t>
            </a:r>
          </a:p>
        </p:txBody>
      </p:sp>
      <p:sp>
        <p:nvSpPr>
          <p:cNvPr id="22" name="Rectangle 21"/>
          <p:cNvSpPr/>
          <p:nvPr/>
        </p:nvSpPr>
        <p:spPr>
          <a:xfrm>
            <a:off x="6858000" y="4297679"/>
            <a:ext cx="2743200" cy="941832"/>
          </a:xfrm>
          <a:prstGeom prst="rect">
            <a:avLst/>
          </a:prstGeom>
          <a:solidFill>
            <a:srgbClr val="EB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67728" y="4434840"/>
            <a:ext cx="2523744" cy="685800"/>
          </a:xfrm>
          <a:prstGeom prst="rect">
            <a:avLst/>
          </a:prstGeom>
          <a:noFill/>
        </p:spPr>
        <p:txBody>
          <a:bodyPr wrap="square" lIns="27432" rIns="27432" tIns="18288" bIns="0">
            <a:spAutoFit/>
          </a:bodyPr>
          <a:lstStyle/>
          <a:p>
            <a:pPr>
              <a:spcAft>
                <a:spcPts val="800"/>
              </a:spcAft>
              <a:defRPr sz="1700" b="1">
                <a:solidFill>
                  <a:srgbClr val="223B53"/>
                </a:solidFill>
                <a:latin typeface="DejaVu Sans"/>
              </a:defRPr>
            </a:pPr>
            <a:r>
              <a:t>Ilovalar</a:t>
            </a:r>
          </a:p>
        </p:txBody>
      </p:sp>
      <p:sp>
        <p:nvSpPr>
          <p:cNvPr id="24" name="TextBox 23"/>
          <p:cNvSpPr txBox="1"/>
          <p:nvPr/>
        </p:nvSpPr>
        <p:spPr>
          <a:xfrm>
            <a:off x="731520" y="6080760"/>
            <a:ext cx="10698480" cy="274320"/>
          </a:xfrm>
          <a:prstGeom prst="rect">
            <a:avLst/>
          </a:prstGeom>
          <a:noFill/>
        </p:spPr>
        <p:txBody>
          <a:bodyPr wrap="square" lIns="27432" rIns="27432" tIns="18288" bIns="0">
            <a:spAutoFit/>
          </a:bodyPr>
          <a:lstStyle/>
          <a:p>
            <a:pPr>
              <a:spcAft>
                <a:spcPts val="800"/>
              </a:spcAft>
              <a:defRPr sz="1100" b="0">
                <a:solidFill>
                  <a:srgbClr val="223B53"/>
                </a:solidFill>
                <a:latin typeface="DejaVu Sans"/>
              </a:defRPr>
            </a:pPr>
            <a:r>
              <a:t>Soddalashtirilgan sxema: o‘qlar — asosiy murojaat yoki boshqaruv bog‘lanishi.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BFD"/>
        </a:solidFill>
        <a:effectLst/>
      </p:bgPr>
    </p:bg>
    <p:spTree>
      <p:nvGrpSpPr>
        <p:cNvPr id="1" name=""/>
        <p:cNvGrpSpPr/>
        <p:nvPr/>
      </p:nvGrpSpPr>
      <p:grpSpPr/>
      <p:sp>
        <p:nvSpPr>
          <p:cNvPr id="2" name="Rectangle 1"/>
          <p:cNvSpPr/>
          <p:nvPr/>
        </p:nvSpPr>
        <p:spPr>
          <a:xfrm>
            <a:off x="0" y="0"/>
            <a:ext cx="210312" cy="6858000"/>
          </a:xfrm>
          <a:prstGeom prst="rect">
            <a:avLst/>
          </a:prstGeom>
          <a:solidFill>
            <a:srgbClr val="246E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92640" cy="274320"/>
          </a:xfrm>
          <a:prstGeom prst="rect">
            <a:avLst/>
          </a:prstGeom>
          <a:noFill/>
        </p:spPr>
        <p:txBody>
          <a:bodyPr wrap="square" lIns="27432" rIns="27432" tIns="18288" bIns="0">
            <a:spAutoFit/>
          </a:bodyPr>
          <a:lstStyle/>
          <a:p>
            <a:pPr>
              <a:spcAft>
                <a:spcPts val="800"/>
              </a:spcAft>
              <a:defRPr sz="1100" b="1">
                <a:solidFill>
                  <a:srgbClr val="246EC3"/>
                </a:solidFill>
                <a:latin typeface="DejaVu Sans"/>
              </a:defRPr>
            </a:pPr>
            <a:r>
              <a:t>VIRTUALIZATSIYA  /  TEXNIK KO‘RINISH</a:t>
            </a:r>
          </a:p>
        </p:txBody>
      </p:sp>
      <p:sp>
        <p:nvSpPr>
          <p:cNvPr id="4" name="TextBox 3"/>
          <p:cNvSpPr txBox="1"/>
          <p:nvPr/>
        </p:nvSpPr>
        <p:spPr>
          <a:xfrm>
            <a:off x="548640" y="877824"/>
            <a:ext cx="10515600" cy="1005840"/>
          </a:xfrm>
          <a:prstGeom prst="rect">
            <a:avLst/>
          </a:prstGeom>
          <a:noFill/>
        </p:spPr>
        <p:txBody>
          <a:bodyPr wrap="square" lIns="27432" rIns="27432" tIns="18288" bIns="0">
            <a:spAutoFit/>
          </a:bodyPr>
          <a:lstStyle/>
          <a:p>
            <a:pPr>
              <a:spcAft>
                <a:spcPts val="800"/>
              </a:spcAft>
              <a:defRPr sz="3000" b="1">
                <a:solidFill>
                  <a:srgbClr val="223B53"/>
                </a:solidFill>
                <a:latin typeface="DejaVu Sans"/>
              </a:defRPr>
            </a:pPr>
            <a:r>
              <a:t>Universitet misoli</a:t>
            </a:r>
          </a:p>
        </p:txBody>
      </p:sp>
      <p:sp>
        <p:nvSpPr>
          <p:cNvPr id="5" name="Rectangle 4"/>
          <p:cNvSpPr/>
          <p:nvPr/>
        </p:nvSpPr>
        <p:spPr>
          <a:xfrm>
            <a:off x="10954512" y="365760"/>
            <a:ext cx="667512" cy="667512"/>
          </a:xfrm>
          <a:prstGeom prst="rect">
            <a:avLst/>
          </a:prstGeom>
          <a:solidFill>
            <a:srgbClr val="EBF3FA"/>
          </a:solidFill>
          <a:ln>
            <a:solidFill>
              <a:srgbClr val="246E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36808" y="557784"/>
            <a:ext cx="502920" cy="274320"/>
          </a:xfrm>
          <a:prstGeom prst="rect">
            <a:avLst/>
          </a:prstGeom>
          <a:noFill/>
        </p:spPr>
        <p:txBody>
          <a:bodyPr wrap="square" lIns="27432" rIns="27432" tIns="18288" bIns="0">
            <a:spAutoFit/>
          </a:bodyPr>
          <a:lstStyle/>
          <a:p>
            <a:pPr>
              <a:spcAft>
                <a:spcPts val="800"/>
              </a:spcAft>
              <a:defRPr sz="1400" b="1">
                <a:solidFill>
                  <a:srgbClr val="246EC3"/>
                </a:solidFill>
                <a:latin typeface="DejaVu Sans"/>
              </a:defRPr>
            </a:pPr>
            <a:r>
              <a:t>10</a:t>
            </a:r>
          </a:p>
        </p:txBody>
      </p:sp>
      <p:sp>
        <p:nvSpPr>
          <p:cNvPr id="7" name="TextBox 6"/>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223B53"/>
                </a:solidFill>
                <a:latin typeface="DejaVu Sans"/>
              </a:defRPr>
            </a:pPr>
            <a:r>
              <a:t>BTST206   /   M05   /   2027–2028</a:t>
            </a:r>
          </a:p>
        </p:txBody>
      </p:sp>
      <p:sp>
        <p:nvSpPr>
          <p:cNvPr id="8" name="TextBox 7"/>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223B53"/>
                </a:solidFill>
                <a:latin typeface="DejaVu Sans"/>
              </a:defRPr>
            </a:pPr>
            <a:r>
              <a:t>10 / 13</a:t>
            </a:r>
          </a:p>
        </p:txBody>
      </p:sp>
      <p:sp>
        <p:nvSpPr>
          <p:cNvPr id="9" name="TextBox 8"/>
          <p:cNvSpPr txBox="1"/>
          <p:nvPr/>
        </p:nvSpPr>
        <p:spPr>
          <a:xfrm>
            <a:off x="731520" y="1965960"/>
            <a:ext cx="10561320" cy="1005840"/>
          </a:xfrm>
          <a:prstGeom prst="rect">
            <a:avLst/>
          </a:prstGeom>
          <a:noFill/>
        </p:spPr>
        <p:txBody>
          <a:bodyPr wrap="square" lIns="27432" rIns="27432" tIns="18288" bIns="0">
            <a:spAutoFit/>
          </a:bodyPr>
          <a:lstStyle/>
          <a:p>
            <a:pPr>
              <a:spcAft>
                <a:spcPts val="800"/>
              </a:spcAft>
              <a:defRPr sz="2200" b="0">
                <a:solidFill>
                  <a:srgbClr val="223B53"/>
                </a:solidFill>
                <a:latin typeface="DejaVu Sans"/>
              </a:defRPr>
            </a:pPr>
            <a:r>
              <a:t>Universitetda kutubxona, portal va test tizimi uchun uchta alohida muhit kerak. Virtualizatsiya ularni bitta kuchli serverda mantiqiy ajratib ishlatishga imkon beradi.</a:t>
            </a:r>
          </a:p>
        </p:txBody>
      </p:sp>
      <p:sp>
        <p:nvSpPr>
          <p:cNvPr id="10" name="Rounded Rectangle 9"/>
          <p:cNvSpPr/>
          <p:nvPr/>
        </p:nvSpPr>
        <p:spPr>
          <a:xfrm>
            <a:off x="777240" y="3493008"/>
            <a:ext cx="3456432" cy="1005840"/>
          </a:xfrm>
          <a:prstGeom prst="roundRect">
            <a:avLst>
              <a:gd name="adj" fmla="val 8000"/>
            </a:avLst>
          </a:prstGeom>
          <a:solidFill>
            <a:srgbClr val="EBF3FA"/>
          </a:solidFill>
          <a:ln>
            <a:solidFill>
              <a:srgbClr val="246E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776472"/>
            <a:ext cx="3182112" cy="502920"/>
          </a:xfrm>
          <a:prstGeom prst="rect">
            <a:avLst/>
          </a:prstGeom>
          <a:noFill/>
        </p:spPr>
        <p:txBody>
          <a:bodyPr wrap="square" lIns="27432" rIns="27432" tIns="18288" bIns="0">
            <a:spAutoFit/>
          </a:bodyPr>
          <a:lstStyle/>
          <a:p>
            <a:pPr algn="ctr">
              <a:spcAft>
                <a:spcPts val="800"/>
              </a:spcAft>
              <a:defRPr sz="2300" b="1">
                <a:solidFill>
                  <a:srgbClr val="246EC3"/>
                </a:solidFill>
                <a:latin typeface="DejaVu Sans"/>
              </a:defRPr>
            </a:pPr>
            <a:r>
              <a:t>Kutubxona VM</a:t>
            </a:r>
          </a:p>
        </p:txBody>
      </p:sp>
      <p:sp>
        <p:nvSpPr>
          <p:cNvPr id="12" name="Rounded Rectangle 11"/>
          <p:cNvSpPr/>
          <p:nvPr/>
        </p:nvSpPr>
        <p:spPr>
          <a:xfrm>
            <a:off x="4480559" y="3493008"/>
            <a:ext cx="3456432" cy="1005840"/>
          </a:xfrm>
          <a:prstGeom prst="roundRect">
            <a:avLst>
              <a:gd name="adj" fmla="val 8000"/>
            </a:avLst>
          </a:prstGeom>
          <a:solidFill>
            <a:srgbClr val="EBF3FA"/>
          </a:solidFill>
          <a:ln>
            <a:solidFill>
              <a:srgbClr val="246E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17720" y="3776472"/>
            <a:ext cx="3182112" cy="502920"/>
          </a:xfrm>
          <a:prstGeom prst="rect">
            <a:avLst/>
          </a:prstGeom>
          <a:noFill/>
        </p:spPr>
        <p:txBody>
          <a:bodyPr wrap="square" lIns="27432" rIns="27432" tIns="18288" bIns="0">
            <a:spAutoFit/>
          </a:bodyPr>
          <a:lstStyle/>
          <a:p>
            <a:pPr algn="ctr">
              <a:spcAft>
                <a:spcPts val="800"/>
              </a:spcAft>
              <a:defRPr sz="2300" b="1">
                <a:solidFill>
                  <a:srgbClr val="246EC3"/>
                </a:solidFill>
                <a:latin typeface="DejaVu Sans"/>
              </a:defRPr>
            </a:pPr>
            <a:r>
              <a:t>Portal VM</a:t>
            </a:r>
          </a:p>
        </p:txBody>
      </p:sp>
      <p:sp>
        <p:nvSpPr>
          <p:cNvPr id="14" name="Rounded Rectangle 13"/>
          <p:cNvSpPr/>
          <p:nvPr/>
        </p:nvSpPr>
        <p:spPr>
          <a:xfrm>
            <a:off x="8183879" y="3493008"/>
            <a:ext cx="3456432" cy="1005840"/>
          </a:xfrm>
          <a:prstGeom prst="roundRect">
            <a:avLst>
              <a:gd name="adj" fmla="val 8000"/>
            </a:avLst>
          </a:prstGeom>
          <a:solidFill>
            <a:srgbClr val="EBF3FA"/>
          </a:solidFill>
          <a:ln>
            <a:solidFill>
              <a:srgbClr val="246E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3776472"/>
            <a:ext cx="3182112" cy="502920"/>
          </a:xfrm>
          <a:prstGeom prst="rect">
            <a:avLst/>
          </a:prstGeom>
          <a:noFill/>
        </p:spPr>
        <p:txBody>
          <a:bodyPr wrap="square" lIns="27432" rIns="27432" tIns="18288" bIns="0">
            <a:spAutoFit/>
          </a:bodyPr>
          <a:lstStyle/>
          <a:p>
            <a:pPr algn="ctr">
              <a:spcAft>
                <a:spcPts val="800"/>
              </a:spcAft>
              <a:defRPr sz="2300" b="1">
                <a:solidFill>
                  <a:srgbClr val="246EC3"/>
                </a:solidFill>
                <a:latin typeface="DejaVu Sans"/>
              </a:defRPr>
            </a:pPr>
            <a:r>
              <a:t>Test VM</a:t>
            </a:r>
          </a:p>
        </p:txBody>
      </p:sp>
      <p:sp>
        <p:nvSpPr>
          <p:cNvPr id="16" name="Rectangle 15"/>
          <p:cNvSpPr/>
          <p:nvPr/>
        </p:nvSpPr>
        <p:spPr>
          <a:xfrm>
            <a:off x="777240" y="5010912"/>
            <a:ext cx="10863072" cy="777240"/>
          </a:xfrm>
          <a:prstGeom prst="rect">
            <a:avLst/>
          </a:prstGeom>
          <a:solidFill>
            <a:srgbClr val="246E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5202936"/>
            <a:ext cx="10497312" cy="438912"/>
          </a:xfrm>
          <a:prstGeom prst="rect">
            <a:avLst/>
          </a:prstGeom>
          <a:noFill/>
        </p:spPr>
        <p:txBody>
          <a:bodyPr wrap="square" lIns="27432" rIns="27432" tIns="18288" bIns="0">
            <a:spAutoFit/>
          </a:bodyPr>
          <a:lstStyle/>
          <a:p>
            <a:pPr algn="ctr">
              <a:spcAft>
                <a:spcPts val="800"/>
              </a:spcAft>
              <a:defRPr sz="2100" b="1">
                <a:solidFill>
                  <a:srgbClr val="FFFFFF"/>
                </a:solidFill>
                <a:latin typeface="DejaVu Sans"/>
              </a:defRPr>
            </a:pPr>
            <a:r>
              <a:t>Bitta jismoniy server  /  resurslarni gipervizor taqsimlaydi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9FBFD"/>
        </a:solidFill>
        <a:effectLst/>
      </p:bgPr>
    </p:bg>
    <p:spTree>
      <p:nvGrpSpPr>
        <p:cNvPr id="1" name=""/>
        <p:cNvGrpSpPr/>
        <p:nvPr/>
      </p:nvGrpSpPr>
      <p:grpSpPr/>
      <p:sp>
        <p:nvSpPr>
          <p:cNvPr id="2" name="Rectangle 1"/>
          <p:cNvSpPr/>
          <p:nvPr/>
        </p:nvSpPr>
        <p:spPr>
          <a:xfrm>
            <a:off x="0" y="0"/>
            <a:ext cx="210312" cy="6858000"/>
          </a:xfrm>
          <a:prstGeom prst="rect">
            <a:avLst/>
          </a:prstGeom>
          <a:solidFill>
            <a:srgbClr val="246E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92640" cy="274320"/>
          </a:xfrm>
          <a:prstGeom prst="rect">
            <a:avLst/>
          </a:prstGeom>
          <a:noFill/>
        </p:spPr>
        <p:txBody>
          <a:bodyPr wrap="square" lIns="27432" rIns="27432" tIns="18288" bIns="0">
            <a:spAutoFit/>
          </a:bodyPr>
          <a:lstStyle/>
          <a:p>
            <a:pPr>
              <a:spcAft>
                <a:spcPts val="800"/>
              </a:spcAft>
              <a:defRPr sz="1100" b="1">
                <a:solidFill>
                  <a:srgbClr val="246EC3"/>
                </a:solidFill>
                <a:latin typeface="DejaVu Sans"/>
              </a:defRPr>
            </a:pPr>
            <a:r>
              <a:t>VIRTUALIZATSIYA  /  TEXNIK KO‘RINISH</a:t>
            </a:r>
          </a:p>
        </p:txBody>
      </p:sp>
      <p:sp>
        <p:nvSpPr>
          <p:cNvPr id="4" name="TextBox 3"/>
          <p:cNvSpPr txBox="1"/>
          <p:nvPr/>
        </p:nvSpPr>
        <p:spPr>
          <a:xfrm>
            <a:off x="548640" y="877824"/>
            <a:ext cx="10515600" cy="1005840"/>
          </a:xfrm>
          <a:prstGeom prst="rect">
            <a:avLst/>
          </a:prstGeom>
          <a:noFill/>
        </p:spPr>
        <p:txBody>
          <a:bodyPr wrap="square" lIns="27432" rIns="27432" tIns="18288" bIns="0">
            <a:spAutoFit/>
          </a:bodyPr>
          <a:lstStyle/>
          <a:p>
            <a:pPr>
              <a:spcAft>
                <a:spcPts val="800"/>
              </a:spcAft>
              <a:defRPr sz="3000" b="1">
                <a:solidFill>
                  <a:srgbClr val="223B53"/>
                </a:solidFill>
                <a:latin typeface="DejaVu Sans"/>
              </a:defRPr>
            </a:pPr>
            <a:r>
              <a:t>Keng tarqalgan noto‘g‘ri tushunchalar</a:t>
            </a:r>
          </a:p>
        </p:txBody>
      </p:sp>
      <p:sp>
        <p:nvSpPr>
          <p:cNvPr id="5" name="Rectangle 4"/>
          <p:cNvSpPr/>
          <p:nvPr/>
        </p:nvSpPr>
        <p:spPr>
          <a:xfrm>
            <a:off x="10954512" y="365760"/>
            <a:ext cx="667512" cy="667512"/>
          </a:xfrm>
          <a:prstGeom prst="rect">
            <a:avLst/>
          </a:prstGeom>
          <a:solidFill>
            <a:srgbClr val="EBF3FA"/>
          </a:solidFill>
          <a:ln>
            <a:solidFill>
              <a:srgbClr val="246E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36808" y="557784"/>
            <a:ext cx="502920" cy="274320"/>
          </a:xfrm>
          <a:prstGeom prst="rect">
            <a:avLst/>
          </a:prstGeom>
          <a:noFill/>
        </p:spPr>
        <p:txBody>
          <a:bodyPr wrap="square" lIns="27432" rIns="27432" tIns="18288" bIns="0">
            <a:spAutoFit/>
          </a:bodyPr>
          <a:lstStyle/>
          <a:p>
            <a:pPr>
              <a:spcAft>
                <a:spcPts val="800"/>
              </a:spcAft>
              <a:defRPr sz="1400" b="1">
                <a:solidFill>
                  <a:srgbClr val="246EC3"/>
                </a:solidFill>
                <a:latin typeface="DejaVu Sans"/>
              </a:defRPr>
            </a:pPr>
            <a:r>
              <a:t>11</a:t>
            </a:r>
          </a:p>
        </p:txBody>
      </p:sp>
      <p:sp>
        <p:nvSpPr>
          <p:cNvPr id="7" name="TextBox 6"/>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223B53"/>
                </a:solidFill>
                <a:latin typeface="DejaVu Sans"/>
              </a:defRPr>
            </a:pPr>
            <a:r>
              <a:t>BTST206   /   M05   /   2027–2028</a:t>
            </a:r>
          </a:p>
        </p:txBody>
      </p:sp>
      <p:sp>
        <p:nvSpPr>
          <p:cNvPr id="8" name="TextBox 7"/>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223B53"/>
                </a:solidFill>
                <a:latin typeface="DejaVu Sans"/>
              </a:defRPr>
            </a:pPr>
            <a:r>
              <a:t>11 / 13</a:t>
            </a:r>
          </a:p>
        </p:txBody>
      </p:sp>
      <p:sp>
        <p:nvSpPr>
          <p:cNvPr id="9" name="Oval 8"/>
          <p:cNvSpPr/>
          <p:nvPr/>
        </p:nvSpPr>
        <p:spPr>
          <a:xfrm>
            <a:off x="777240" y="2176272"/>
            <a:ext cx="384048" cy="384048"/>
          </a:xfrm>
          <a:prstGeom prst="ellipse">
            <a:avLst/>
          </a:prstGeom>
          <a:solidFill>
            <a:srgbClr val="D58C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2249424"/>
            <a:ext cx="219456" cy="210312"/>
          </a:xfrm>
          <a:prstGeom prst="rect">
            <a:avLst/>
          </a:prstGeom>
          <a:noFill/>
        </p:spPr>
        <p:txBody>
          <a:bodyPr wrap="square" lIns="27432" rIns="27432" tIns="18288" bIns="0">
            <a:spAutoFit/>
          </a:bodyPr>
          <a:lstStyle/>
          <a:p>
            <a:pPr>
              <a:spcAft>
                <a:spcPts val="800"/>
              </a:spcAft>
              <a:defRPr sz="1200" b="1">
                <a:solidFill>
                  <a:srgbClr val="FFFFFF"/>
                </a:solidFill>
                <a:latin typeface="DejaVu Sans"/>
              </a:defRPr>
            </a:pPr>
            <a:r>
              <a:t>!</a:t>
            </a:r>
          </a:p>
        </p:txBody>
      </p:sp>
      <p:sp>
        <p:nvSpPr>
          <p:cNvPr id="11" name="TextBox 10"/>
          <p:cNvSpPr txBox="1"/>
          <p:nvPr/>
        </p:nvSpPr>
        <p:spPr>
          <a:xfrm>
            <a:off x="1481328" y="2057400"/>
            <a:ext cx="9820656" cy="1024128"/>
          </a:xfrm>
          <a:prstGeom prst="rect">
            <a:avLst/>
          </a:prstGeom>
          <a:noFill/>
        </p:spPr>
        <p:txBody>
          <a:bodyPr wrap="square" lIns="27432" rIns="27432" tIns="18288" bIns="0">
            <a:spAutoFit/>
          </a:bodyPr>
          <a:lstStyle/>
          <a:p>
            <a:pPr>
              <a:spcAft>
                <a:spcPts val="800"/>
              </a:spcAft>
              <a:defRPr sz="2100" b="0">
                <a:solidFill>
                  <a:srgbClr val="223B53"/>
                </a:solidFill>
                <a:latin typeface="DejaVu Sans"/>
              </a:defRPr>
            </a:pPr>
            <a:r>
              <a:t>Ajratish kuchli bo‘lsa ham, gipervizor zaifligi yoki noto‘g‘ri sozlama xavfini butunlay yo‘q qilmaydi.</a:t>
            </a:r>
          </a:p>
        </p:txBody>
      </p:sp>
      <p:cxnSp>
        <p:nvCxnSpPr>
          <p:cNvPr id="12" name="Connector 11"/>
          <p:cNvCxnSpPr/>
          <p:nvPr/>
        </p:nvCxnSpPr>
        <p:spPr>
          <a:xfrm>
            <a:off x="1481328" y="3182112"/>
            <a:ext cx="9811512" cy="0"/>
          </a:xfrm>
          <a:prstGeom prst="line">
            <a:avLst/>
          </a:prstGeom>
          <a:ln w="12700">
            <a:solidFill>
              <a:srgbClr val="DCEAF1"/>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777240" y="3538728"/>
            <a:ext cx="384048" cy="384048"/>
          </a:xfrm>
          <a:prstGeom prst="ellipse">
            <a:avLst/>
          </a:prstGeom>
          <a:solidFill>
            <a:srgbClr val="D58C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3611880"/>
            <a:ext cx="219456" cy="210312"/>
          </a:xfrm>
          <a:prstGeom prst="rect">
            <a:avLst/>
          </a:prstGeom>
          <a:noFill/>
        </p:spPr>
        <p:txBody>
          <a:bodyPr wrap="square" lIns="27432" rIns="27432" tIns="18288" bIns="0">
            <a:spAutoFit/>
          </a:bodyPr>
          <a:lstStyle/>
          <a:p>
            <a:pPr>
              <a:spcAft>
                <a:spcPts val="800"/>
              </a:spcAft>
              <a:defRPr sz="1200" b="1">
                <a:solidFill>
                  <a:srgbClr val="FFFFFF"/>
                </a:solidFill>
                <a:latin typeface="DejaVu Sans"/>
              </a:defRPr>
            </a:pPr>
            <a:r>
              <a:t>!</a:t>
            </a:r>
          </a:p>
        </p:txBody>
      </p:sp>
      <p:sp>
        <p:nvSpPr>
          <p:cNvPr id="15" name="TextBox 14"/>
          <p:cNvSpPr txBox="1"/>
          <p:nvPr/>
        </p:nvSpPr>
        <p:spPr>
          <a:xfrm>
            <a:off x="1481328" y="3419856"/>
            <a:ext cx="9820656" cy="1024128"/>
          </a:xfrm>
          <a:prstGeom prst="rect">
            <a:avLst/>
          </a:prstGeom>
          <a:noFill/>
        </p:spPr>
        <p:txBody>
          <a:bodyPr wrap="square" lIns="27432" rIns="27432" tIns="18288" bIns="0">
            <a:spAutoFit/>
          </a:bodyPr>
          <a:lstStyle/>
          <a:p>
            <a:pPr>
              <a:spcAft>
                <a:spcPts val="800"/>
              </a:spcAft>
              <a:defRPr sz="2100" b="0">
                <a:solidFill>
                  <a:srgbClr val="223B53"/>
                </a:solidFill>
                <a:latin typeface="DejaVu Sans"/>
              </a:defRPr>
            </a:pPr>
            <a:r>
              <a:t>Host tizimining yuklamasi yoki qayta yuklanishi mehmon tizimga ham ta’sir qiladi.</a:t>
            </a:r>
          </a:p>
        </p:txBody>
      </p:sp>
      <p:cxnSp>
        <p:nvCxnSpPr>
          <p:cNvPr id="16" name="Connector 15"/>
          <p:cNvCxnSpPr/>
          <p:nvPr/>
        </p:nvCxnSpPr>
        <p:spPr>
          <a:xfrm>
            <a:off x="1481328" y="4544568"/>
            <a:ext cx="9811512" cy="0"/>
          </a:xfrm>
          <a:prstGeom prst="line">
            <a:avLst/>
          </a:prstGeom>
          <a:ln w="12700">
            <a:solidFill>
              <a:srgbClr val="DCEAF1"/>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777240" y="4901184"/>
            <a:ext cx="384048" cy="384048"/>
          </a:xfrm>
          <a:prstGeom prst="ellipse">
            <a:avLst/>
          </a:prstGeom>
          <a:solidFill>
            <a:srgbClr val="D58C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9536" y="4974336"/>
            <a:ext cx="219456" cy="210312"/>
          </a:xfrm>
          <a:prstGeom prst="rect">
            <a:avLst/>
          </a:prstGeom>
          <a:noFill/>
        </p:spPr>
        <p:txBody>
          <a:bodyPr wrap="square" lIns="27432" rIns="27432" tIns="18288" bIns="0">
            <a:spAutoFit/>
          </a:bodyPr>
          <a:lstStyle/>
          <a:p>
            <a:pPr>
              <a:spcAft>
                <a:spcPts val="800"/>
              </a:spcAft>
              <a:defRPr sz="1200" b="1">
                <a:solidFill>
                  <a:srgbClr val="FFFFFF"/>
                </a:solidFill>
                <a:latin typeface="DejaVu Sans"/>
              </a:defRPr>
            </a:pPr>
            <a:r>
              <a:t>!</a:t>
            </a:r>
          </a:p>
        </p:txBody>
      </p:sp>
      <p:sp>
        <p:nvSpPr>
          <p:cNvPr id="19" name="TextBox 18"/>
          <p:cNvSpPr txBox="1"/>
          <p:nvPr/>
        </p:nvSpPr>
        <p:spPr>
          <a:xfrm>
            <a:off x="1481328" y="4782312"/>
            <a:ext cx="9820656" cy="1024128"/>
          </a:xfrm>
          <a:prstGeom prst="rect">
            <a:avLst/>
          </a:prstGeom>
          <a:noFill/>
        </p:spPr>
        <p:txBody>
          <a:bodyPr wrap="square" lIns="27432" rIns="27432" tIns="18288" bIns="0">
            <a:spAutoFit/>
          </a:bodyPr>
          <a:lstStyle/>
          <a:p>
            <a:pPr>
              <a:spcAft>
                <a:spcPts val="800"/>
              </a:spcAft>
              <a:defRPr sz="2100" b="0">
                <a:solidFill>
                  <a:srgbClr val="223B53"/>
                </a:solidFill>
                <a:latin typeface="DejaVu Sans"/>
              </a:defRPr>
            </a:pPr>
            <a:r>
              <a:t>Uzoq saqlangan snapshot disk sarfi va unumdorlikka ta’sir qilishi mumkin.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9FBFD"/>
        </a:solidFill>
        <a:effectLst/>
      </p:bgPr>
    </p:bg>
    <p:spTree>
      <p:nvGrpSpPr>
        <p:cNvPr id="1" name=""/>
        <p:cNvGrpSpPr/>
        <p:nvPr/>
      </p:nvGrpSpPr>
      <p:grpSpPr/>
      <p:sp>
        <p:nvSpPr>
          <p:cNvPr id="2" name="Rectangle 1"/>
          <p:cNvSpPr/>
          <p:nvPr/>
        </p:nvSpPr>
        <p:spPr>
          <a:xfrm>
            <a:off x="0" y="0"/>
            <a:ext cx="210312" cy="6858000"/>
          </a:xfrm>
          <a:prstGeom prst="rect">
            <a:avLst/>
          </a:prstGeom>
          <a:solidFill>
            <a:srgbClr val="246E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92640" cy="274320"/>
          </a:xfrm>
          <a:prstGeom prst="rect">
            <a:avLst/>
          </a:prstGeom>
          <a:noFill/>
        </p:spPr>
        <p:txBody>
          <a:bodyPr wrap="square" lIns="27432" rIns="27432" tIns="18288" bIns="0">
            <a:spAutoFit/>
          </a:bodyPr>
          <a:lstStyle/>
          <a:p>
            <a:pPr>
              <a:spcAft>
                <a:spcPts val="800"/>
              </a:spcAft>
              <a:defRPr sz="1100" b="1">
                <a:solidFill>
                  <a:srgbClr val="246EC3"/>
                </a:solidFill>
                <a:latin typeface="DejaVu Sans"/>
              </a:defRPr>
            </a:pPr>
            <a:r>
              <a:t>VIRTUALIZATSIYA  /  TEXNIK KO‘RINISH</a:t>
            </a:r>
          </a:p>
        </p:txBody>
      </p:sp>
      <p:sp>
        <p:nvSpPr>
          <p:cNvPr id="4" name="TextBox 3"/>
          <p:cNvSpPr txBox="1"/>
          <p:nvPr/>
        </p:nvSpPr>
        <p:spPr>
          <a:xfrm>
            <a:off x="548640" y="877824"/>
            <a:ext cx="10515600" cy="1005840"/>
          </a:xfrm>
          <a:prstGeom prst="rect">
            <a:avLst/>
          </a:prstGeom>
          <a:noFill/>
        </p:spPr>
        <p:txBody>
          <a:bodyPr wrap="square" lIns="27432" rIns="27432" tIns="18288" bIns="0">
            <a:spAutoFit/>
          </a:bodyPr>
          <a:lstStyle/>
          <a:p>
            <a:pPr>
              <a:spcAft>
                <a:spcPts val="800"/>
              </a:spcAft>
              <a:defRPr sz="3000" b="1">
                <a:solidFill>
                  <a:srgbClr val="223B53"/>
                </a:solidFill>
                <a:latin typeface="DejaVu Sans"/>
              </a:defRPr>
            </a:pPr>
            <a:r>
              <a:t>Asosiy xulosalar</a:t>
            </a:r>
          </a:p>
        </p:txBody>
      </p:sp>
      <p:sp>
        <p:nvSpPr>
          <p:cNvPr id="5" name="Rectangle 4"/>
          <p:cNvSpPr/>
          <p:nvPr/>
        </p:nvSpPr>
        <p:spPr>
          <a:xfrm>
            <a:off x="10954512" y="365760"/>
            <a:ext cx="667512" cy="667512"/>
          </a:xfrm>
          <a:prstGeom prst="rect">
            <a:avLst/>
          </a:prstGeom>
          <a:solidFill>
            <a:srgbClr val="EBF3FA"/>
          </a:solidFill>
          <a:ln>
            <a:solidFill>
              <a:srgbClr val="246E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36808" y="557784"/>
            <a:ext cx="502920" cy="274320"/>
          </a:xfrm>
          <a:prstGeom prst="rect">
            <a:avLst/>
          </a:prstGeom>
          <a:noFill/>
        </p:spPr>
        <p:txBody>
          <a:bodyPr wrap="square" lIns="27432" rIns="27432" tIns="18288" bIns="0">
            <a:spAutoFit/>
          </a:bodyPr>
          <a:lstStyle/>
          <a:p>
            <a:pPr>
              <a:spcAft>
                <a:spcPts val="800"/>
              </a:spcAft>
              <a:defRPr sz="1400" b="1">
                <a:solidFill>
                  <a:srgbClr val="246EC3"/>
                </a:solidFill>
                <a:latin typeface="DejaVu Sans"/>
              </a:defRPr>
            </a:pPr>
            <a:r>
              <a:t>12</a:t>
            </a:r>
          </a:p>
        </p:txBody>
      </p:sp>
      <p:sp>
        <p:nvSpPr>
          <p:cNvPr id="7" name="TextBox 6"/>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223B53"/>
                </a:solidFill>
                <a:latin typeface="DejaVu Sans"/>
              </a:defRPr>
            </a:pPr>
            <a:r>
              <a:t>BTST206   /   M05   /   2027–2028</a:t>
            </a:r>
          </a:p>
        </p:txBody>
      </p:sp>
      <p:sp>
        <p:nvSpPr>
          <p:cNvPr id="8" name="TextBox 7"/>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223B53"/>
                </a:solidFill>
                <a:latin typeface="DejaVu Sans"/>
              </a:defRPr>
            </a:pPr>
            <a:r>
              <a:t>12 / 13</a:t>
            </a:r>
          </a:p>
        </p:txBody>
      </p:sp>
      <p:sp>
        <p:nvSpPr>
          <p:cNvPr id="9" name="Oval 8"/>
          <p:cNvSpPr/>
          <p:nvPr/>
        </p:nvSpPr>
        <p:spPr>
          <a:xfrm>
            <a:off x="777240" y="2148840"/>
            <a:ext cx="566928" cy="566928"/>
          </a:xfrm>
          <a:prstGeom prst="ellipse">
            <a:avLst/>
          </a:prstGeom>
          <a:solidFill>
            <a:srgbClr val="246E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276856"/>
            <a:ext cx="301752" cy="310896"/>
          </a:xfrm>
          <a:prstGeom prst="rect">
            <a:avLst/>
          </a:prstGeom>
          <a:noFill/>
        </p:spPr>
        <p:txBody>
          <a:bodyPr wrap="square" lIns="27432" rIns="27432" tIns="18288" bIns="0">
            <a:spAutoFit/>
          </a:bodyPr>
          <a:lstStyle/>
          <a:p>
            <a:pPr>
              <a:spcAft>
                <a:spcPts val="800"/>
              </a:spcAft>
              <a:defRPr sz="1600" b="1">
                <a:solidFill>
                  <a:srgbClr val="FFFFFF"/>
                </a:solidFill>
                <a:latin typeface="DejaVu Sans"/>
              </a:defRPr>
            </a:pPr>
            <a:r>
              <a:t>1</a:t>
            </a:r>
          </a:p>
        </p:txBody>
      </p:sp>
      <p:sp>
        <p:nvSpPr>
          <p:cNvPr id="11" name="TextBox 10"/>
          <p:cNvSpPr txBox="1"/>
          <p:nvPr/>
        </p:nvSpPr>
        <p:spPr>
          <a:xfrm>
            <a:off x="1673352" y="2130552"/>
            <a:ext cx="9628632" cy="1024128"/>
          </a:xfrm>
          <a:prstGeom prst="rect">
            <a:avLst/>
          </a:prstGeom>
          <a:noFill/>
        </p:spPr>
        <p:txBody>
          <a:bodyPr wrap="square" lIns="27432" rIns="27432" tIns="18288" bIns="0">
            <a:spAutoFit/>
          </a:bodyPr>
          <a:lstStyle/>
          <a:p>
            <a:pPr>
              <a:spcAft>
                <a:spcPts val="800"/>
              </a:spcAft>
              <a:defRPr sz="2500" b="1">
                <a:solidFill>
                  <a:srgbClr val="223B53"/>
                </a:solidFill>
                <a:latin typeface="DejaVu Sans"/>
              </a:defRPr>
            </a:pPr>
            <a:r>
              <a:t>Gipervizor bitta server resurslarini bir nechta VM ga ajratadi.</a:t>
            </a:r>
          </a:p>
        </p:txBody>
      </p:sp>
      <p:sp>
        <p:nvSpPr>
          <p:cNvPr id="12" name="Oval 11"/>
          <p:cNvSpPr/>
          <p:nvPr/>
        </p:nvSpPr>
        <p:spPr>
          <a:xfrm>
            <a:off x="777240" y="3493008"/>
            <a:ext cx="566928" cy="566928"/>
          </a:xfrm>
          <a:prstGeom prst="ellipse">
            <a:avLst/>
          </a:prstGeom>
          <a:solidFill>
            <a:srgbClr val="D58C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621024"/>
            <a:ext cx="301752" cy="310896"/>
          </a:xfrm>
          <a:prstGeom prst="rect">
            <a:avLst/>
          </a:prstGeom>
          <a:noFill/>
        </p:spPr>
        <p:txBody>
          <a:bodyPr wrap="square" lIns="27432" rIns="27432" tIns="18288" bIns="0">
            <a:spAutoFit/>
          </a:bodyPr>
          <a:lstStyle/>
          <a:p>
            <a:pPr>
              <a:spcAft>
                <a:spcPts val="800"/>
              </a:spcAft>
              <a:defRPr sz="1600" b="1">
                <a:solidFill>
                  <a:srgbClr val="FFFFFF"/>
                </a:solidFill>
                <a:latin typeface="DejaVu Sans"/>
              </a:defRPr>
            </a:pPr>
            <a:r>
              <a:t>2</a:t>
            </a:r>
          </a:p>
        </p:txBody>
      </p:sp>
      <p:sp>
        <p:nvSpPr>
          <p:cNvPr id="14" name="TextBox 13"/>
          <p:cNvSpPr txBox="1"/>
          <p:nvPr/>
        </p:nvSpPr>
        <p:spPr>
          <a:xfrm>
            <a:off x="1673352" y="3474720"/>
            <a:ext cx="9628632" cy="1024128"/>
          </a:xfrm>
          <a:prstGeom prst="rect">
            <a:avLst/>
          </a:prstGeom>
          <a:noFill/>
        </p:spPr>
        <p:txBody>
          <a:bodyPr wrap="square" lIns="27432" rIns="27432" tIns="18288" bIns="0">
            <a:spAutoFit/>
          </a:bodyPr>
          <a:lstStyle/>
          <a:p>
            <a:pPr>
              <a:spcAft>
                <a:spcPts val="800"/>
              </a:spcAft>
              <a:defRPr sz="2500" b="1">
                <a:solidFill>
                  <a:srgbClr val="223B53"/>
                </a:solidFill>
                <a:latin typeface="DejaVu Sans"/>
              </a:defRPr>
            </a:pPr>
            <a:r>
              <a:t>Type 1 uskuna ustida, Type 2 host operatsion tizimi ichida ishlaydi.</a:t>
            </a:r>
          </a:p>
        </p:txBody>
      </p:sp>
      <p:sp>
        <p:nvSpPr>
          <p:cNvPr id="15" name="Oval 14"/>
          <p:cNvSpPr/>
          <p:nvPr/>
        </p:nvSpPr>
        <p:spPr>
          <a:xfrm>
            <a:off x="777240" y="4837176"/>
            <a:ext cx="566928" cy="566928"/>
          </a:xfrm>
          <a:prstGeom prst="ellipse">
            <a:avLst/>
          </a:prstGeom>
          <a:solidFill>
            <a:srgbClr val="246E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965192"/>
            <a:ext cx="301752" cy="310896"/>
          </a:xfrm>
          <a:prstGeom prst="rect">
            <a:avLst/>
          </a:prstGeom>
          <a:noFill/>
        </p:spPr>
        <p:txBody>
          <a:bodyPr wrap="square" lIns="27432" rIns="27432" tIns="18288" bIns="0">
            <a:spAutoFit/>
          </a:bodyPr>
          <a:lstStyle/>
          <a:p>
            <a:pPr>
              <a:spcAft>
                <a:spcPts val="800"/>
              </a:spcAft>
              <a:defRPr sz="1600" b="1">
                <a:solidFill>
                  <a:srgbClr val="FFFFFF"/>
                </a:solidFill>
                <a:latin typeface="DejaVu Sans"/>
              </a:defRPr>
            </a:pPr>
            <a:r>
              <a:t>3</a:t>
            </a:r>
          </a:p>
        </p:txBody>
      </p:sp>
      <p:sp>
        <p:nvSpPr>
          <p:cNvPr id="17" name="TextBox 16"/>
          <p:cNvSpPr txBox="1"/>
          <p:nvPr/>
        </p:nvSpPr>
        <p:spPr>
          <a:xfrm>
            <a:off x="1673352" y="4818888"/>
            <a:ext cx="9628632" cy="1024128"/>
          </a:xfrm>
          <a:prstGeom prst="rect">
            <a:avLst/>
          </a:prstGeom>
          <a:noFill/>
        </p:spPr>
        <p:txBody>
          <a:bodyPr wrap="square" lIns="27432" rIns="27432" tIns="18288" bIns="0">
            <a:spAutoFit/>
          </a:bodyPr>
          <a:lstStyle/>
          <a:p>
            <a:pPr>
              <a:spcAft>
                <a:spcPts val="800"/>
              </a:spcAft>
              <a:defRPr sz="2500" b="1">
                <a:solidFill>
                  <a:srgbClr val="223B53"/>
                </a:solidFill>
                <a:latin typeface="DejaVu Sans"/>
              </a:defRPr>
            </a:pPr>
            <a:r>
              <a:t>Snapshot zaxira o‘rnini bosa olmaydi; tiklashni sinash kerak.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9FBFD"/>
        </a:solidFill>
        <a:effectLst/>
      </p:bgPr>
    </p:bg>
    <p:spTree>
      <p:nvGrpSpPr>
        <p:cNvPr id="1" name=""/>
        <p:cNvGrpSpPr/>
        <p:nvPr/>
      </p:nvGrpSpPr>
      <p:grpSpPr/>
      <p:sp>
        <p:nvSpPr>
          <p:cNvPr id="2" name="Rectangle 1"/>
          <p:cNvSpPr/>
          <p:nvPr/>
        </p:nvSpPr>
        <p:spPr>
          <a:xfrm>
            <a:off x="502920" y="548640"/>
            <a:ext cx="109728" cy="640080"/>
          </a:xfrm>
          <a:prstGeom prst="rect">
            <a:avLst/>
          </a:prstGeom>
          <a:solidFill>
            <a:srgbClr val="246E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94360"/>
            <a:ext cx="10789920" cy="777240"/>
          </a:xfrm>
          <a:prstGeom prst="rect">
            <a:avLst/>
          </a:prstGeom>
          <a:noFill/>
        </p:spPr>
        <p:txBody>
          <a:bodyPr wrap="square" lIns="27432" rIns="27432" tIns="18288" bIns="0">
            <a:spAutoFit/>
          </a:bodyPr>
          <a:lstStyle/>
          <a:p>
            <a:pPr>
              <a:spcAft>
                <a:spcPts val="800"/>
              </a:spcAft>
              <a:defRPr sz="2900" b="1">
                <a:solidFill>
                  <a:srgbClr val="223B53"/>
                </a:solidFill>
                <a:latin typeface="DejaVu Sans"/>
              </a:defRPr>
            </a:pPr>
            <a:r>
              <a:t>Manbalar va rasm manbasi</a:t>
            </a:r>
          </a:p>
        </p:txBody>
      </p:sp>
      <p:sp>
        <p:nvSpPr>
          <p:cNvPr id="4" name="TextBox 3"/>
          <p:cNvSpPr txBox="1"/>
          <p:nvPr/>
        </p:nvSpPr>
        <p:spPr>
          <a:xfrm>
            <a:off x="731520" y="1600200"/>
            <a:ext cx="10789920" cy="594360"/>
          </a:xfrm>
          <a:prstGeom prst="rect">
            <a:avLst/>
          </a:prstGeom>
          <a:noFill/>
        </p:spPr>
        <p:txBody>
          <a:bodyPr wrap="square" lIns="27432" rIns="27432" tIns="18288" bIns="0">
            <a:spAutoFit/>
          </a:bodyPr>
          <a:lstStyle/>
          <a:p>
            <a:pPr>
              <a:spcAft>
                <a:spcPts val="800"/>
              </a:spcAft>
              <a:defRPr sz="1700" b="0">
                <a:solidFill>
                  <a:srgbClr val="223B53"/>
                </a:solidFill>
                <a:latin typeface="DejaVu Sans"/>
              </a:defRPr>
            </a:pPr>
            <a:r>
              <a:t>Asos: BTST206, 2027–2028 sillabusi. Rasmiy texnik hujjatlar:</a:t>
            </a:r>
          </a:p>
        </p:txBody>
      </p:sp>
      <p:sp>
        <p:nvSpPr>
          <p:cNvPr id="5" name="TextBox 4"/>
          <p:cNvSpPr txBox="1"/>
          <p:nvPr/>
        </p:nvSpPr>
        <p:spPr>
          <a:xfrm>
            <a:off x="777240" y="2286000"/>
            <a:ext cx="10652760" cy="365760"/>
          </a:xfrm>
          <a:prstGeom prst="rect">
            <a:avLst/>
          </a:prstGeom>
          <a:noFill/>
        </p:spPr>
        <p:txBody>
          <a:bodyPr wrap="square" lIns="27432" rIns="27432" tIns="18288" bIns="0">
            <a:spAutoFit/>
          </a:bodyPr>
          <a:lstStyle/>
          <a:p>
            <a:pPr>
              <a:spcAft>
                <a:spcPts val="800"/>
              </a:spcAft>
              <a:defRPr sz="1300" b="0">
                <a:solidFill>
                  <a:srgbClr val="246EC3"/>
                </a:solidFill>
                <a:latin typeface="DejaVu Sans"/>
              </a:defRPr>
            </a:pPr>
            <a:r>
              <a:t>https://learn.microsoft.com/windows-server/virtualization/hyper-v/</a:t>
            </a:r>
          </a:p>
        </p:txBody>
      </p:sp>
      <p:sp>
        <p:nvSpPr>
          <p:cNvPr id="6" name="TextBox 5"/>
          <p:cNvSpPr txBox="1"/>
          <p:nvPr/>
        </p:nvSpPr>
        <p:spPr>
          <a:xfrm>
            <a:off x="777240" y="2715768"/>
            <a:ext cx="10652760" cy="365760"/>
          </a:xfrm>
          <a:prstGeom prst="rect">
            <a:avLst/>
          </a:prstGeom>
          <a:noFill/>
        </p:spPr>
        <p:txBody>
          <a:bodyPr wrap="square" lIns="27432" rIns="27432" tIns="18288" bIns="0">
            <a:spAutoFit/>
          </a:bodyPr>
          <a:lstStyle/>
          <a:p>
            <a:pPr>
              <a:spcAft>
                <a:spcPts val="800"/>
              </a:spcAft>
              <a:defRPr sz="1300" b="0">
                <a:solidFill>
                  <a:srgbClr val="246EC3"/>
                </a:solidFill>
                <a:latin typeface="DejaVu Sans"/>
              </a:defRPr>
            </a:pPr>
            <a:r>
              <a:t>https://www.linux-kvm.org/page/Main_Page</a:t>
            </a:r>
          </a:p>
        </p:txBody>
      </p:sp>
      <p:sp>
        <p:nvSpPr>
          <p:cNvPr id="7" name="TextBox 6"/>
          <p:cNvSpPr txBox="1"/>
          <p:nvPr/>
        </p:nvSpPr>
        <p:spPr>
          <a:xfrm>
            <a:off x="777240" y="4251960"/>
            <a:ext cx="10652760" cy="365760"/>
          </a:xfrm>
          <a:prstGeom prst="rect">
            <a:avLst/>
          </a:prstGeom>
          <a:noFill/>
        </p:spPr>
        <p:txBody>
          <a:bodyPr wrap="square" lIns="27432" rIns="27432" tIns="18288" bIns="0">
            <a:spAutoFit/>
          </a:bodyPr>
          <a:lstStyle/>
          <a:p>
            <a:pPr>
              <a:spcAft>
                <a:spcPts val="800"/>
              </a:spcAft>
              <a:defRPr sz="1200" b="1">
                <a:solidFill>
                  <a:srgbClr val="246EC3"/>
                </a:solidFill>
                <a:latin typeface="DejaVu Sans"/>
              </a:defRPr>
            </a:pPr>
            <a:r>
              <a:t>INTERNET RASMI</a:t>
            </a:r>
          </a:p>
        </p:txBody>
      </p:sp>
      <p:sp>
        <p:nvSpPr>
          <p:cNvPr id="8" name="TextBox 7"/>
          <p:cNvSpPr txBox="1"/>
          <p:nvPr/>
        </p:nvSpPr>
        <p:spPr>
          <a:xfrm>
            <a:off x="777240" y="4663440"/>
            <a:ext cx="10652760" cy="576072"/>
          </a:xfrm>
          <a:prstGeom prst="rect">
            <a:avLst/>
          </a:prstGeom>
          <a:noFill/>
        </p:spPr>
        <p:txBody>
          <a:bodyPr wrap="square" lIns="27432" rIns="27432" tIns="18288" bIns="0">
            <a:spAutoFit/>
          </a:bodyPr>
          <a:lstStyle/>
          <a:p>
            <a:pPr>
              <a:spcAft>
                <a:spcPts val="800"/>
              </a:spcAft>
              <a:defRPr sz="1400" b="0">
                <a:solidFill>
                  <a:srgbClr val="223B53"/>
                </a:solidFill>
                <a:latin typeface="DejaVu Sans"/>
              </a:defRPr>
            </a:pPr>
            <a:r>
              <a:t>slg74, old_dc_photos GitHub repository</a:t>
            </a:r>
          </a:p>
        </p:txBody>
      </p:sp>
      <p:sp>
        <p:nvSpPr>
          <p:cNvPr id="9" name="TextBox 8"/>
          <p:cNvSpPr txBox="1"/>
          <p:nvPr/>
        </p:nvSpPr>
        <p:spPr>
          <a:xfrm>
            <a:off x="777240" y="5285232"/>
            <a:ext cx="10652760" cy="640080"/>
          </a:xfrm>
          <a:prstGeom prst="rect">
            <a:avLst/>
          </a:prstGeom>
          <a:noFill/>
        </p:spPr>
        <p:txBody>
          <a:bodyPr wrap="square" lIns="27432" rIns="27432" tIns="18288" bIns="0">
            <a:spAutoFit/>
          </a:bodyPr>
          <a:lstStyle/>
          <a:p>
            <a:pPr>
              <a:spcAft>
                <a:spcPts val="800"/>
              </a:spcAft>
              <a:defRPr sz="1000" b="0">
                <a:solidFill>
                  <a:srgbClr val="223B53"/>
                </a:solidFill>
                <a:latin typeface="DejaVu Sans"/>
              </a:defRPr>
            </a:pPr>
            <a:r>
              <a:t>https://raw.githubusercontent.com/slg74/old_dc_photos/main/60453701456__6238F75C-E684-4CA5-AE06-C50C423F6CF8.JPG</a:t>
            </a:r>
          </a:p>
        </p:txBody>
      </p:sp>
      <p:sp>
        <p:nvSpPr>
          <p:cNvPr id="10" name="TextBox 9"/>
          <p:cNvSpPr txBox="1"/>
          <p:nvPr/>
        </p:nvSpPr>
        <p:spPr>
          <a:xfrm>
            <a:off x="777240" y="6035040"/>
            <a:ext cx="10652760" cy="320040"/>
          </a:xfrm>
          <a:prstGeom prst="rect">
            <a:avLst/>
          </a:prstGeom>
          <a:noFill/>
        </p:spPr>
        <p:txBody>
          <a:bodyPr wrap="square" lIns="27432" rIns="27432" tIns="18288" bIns="0">
            <a:spAutoFit/>
          </a:bodyPr>
          <a:lstStyle/>
          <a:p>
            <a:pPr>
              <a:spcAft>
                <a:spcPts val="800"/>
              </a:spcAft>
              <a:defRPr sz="1100" b="0">
                <a:solidFill>
                  <a:srgbClr val="223B53"/>
                </a:solidFill>
                <a:latin typeface="DejaVu Sans"/>
              </a:defRPr>
            </a:pPr>
            <a:r>
              <a:t>Barcha rasm manbalari va foydalanish izohlari: ASSET_SOURCES.md</a:t>
            </a:r>
          </a:p>
        </p:txBody>
      </p:sp>
      <p:sp>
        <p:nvSpPr>
          <p:cNvPr id="11" name="TextBox 10"/>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223B53"/>
                </a:solidFill>
                <a:latin typeface="DejaVu Sans"/>
              </a:defRPr>
            </a:pPr>
            <a:r>
              <a:t>BTST206   /   M05   /   2027–2028</a:t>
            </a:r>
          </a:p>
        </p:txBody>
      </p:sp>
      <p:sp>
        <p:nvSpPr>
          <p:cNvPr id="12" name="TextBox 11"/>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223B53"/>
                </a:solidFill>
                <a:latin typeface="DejaVu Sans"/>
              </a:defRPr>
            </a:pPr>
            <a:r>
              <a:t>13 / 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