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«Virtualizatsiya texnologiyalari» mavzusiga bag‘ishlanadi. Mavzuni murakkab atamalardan emas, kundalik ehtiyojdan boshlaymiz. Universitetda kutubxona, portal va test tizimi uchun uchta alohida muhit kerak. Virtualizatsiya ularni bitta kuchli serverda mantiqiy ajratib ishlatishga imkon beradi.</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virtualizatsiyaning mohiyati tushuntiriladi. 2-bo‘limda gipervizor va virtual mashina tushuntiriladi. 3-bo‘limda type 1 gipervizor tushuntiriladi. 4-bo‘limda type 2 gipervizor tushuntiriladi. 5-bo‘limda vmware, hyper-v va kvm tushuntiriladi. 6-bo‘limda resurslar, snapshot va zaxira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Virtualizatsiya CPU, xotira, disk va tarmoqni dasturiy boshqariladigan resurslarga aylantiradi. Har bir virtual mashina o‘z operatsion tizimiga ega bo‘lishi mumkin. Dastur o‘zini alohida kompyuterda ishlayotgandek tutadi.</a:t>
            </a:r>
          </a:p>
          <a:p/>
          <a:p>
            <a:r>
              <a:t>Gipervizor jismoniy resurslarni virtual mashinalar o‘rtasida taqsimlaydi. CPU uchun rejalashtirish, xotira ajratish va virtual qurilmalar bilan ishlash shu qatlam orqali bajariladi.</a:t>
            </a:r>
          </a:p>
          <a:p/>
          <a:p>
            <a:r>
              <a:t>Universitet misolida buni quyidagicha tasavvur qilamiz. Bitta serverda Linux asosidagi portal va boshqa operatsion tizimdagi eski dastur yonma-yon ishlashi mumkin. Bu misolda texnik atama real vazifa bilan bog‘lanadi: resursning nomini emas, nima uchun tanlanganini tushunish muhim.</a:t>
            </a:r>
          </a:p>
          <a:p/>
          <a:p>
            <a:r>
              <a:t>E’tibor beradigan chegara ham bor. Ajratish kuchli bo‘lsa ham, gipervizor zaifligi yoki noto‘g‘ri sozlama xavfini butunlay yo‘q qilmaydi.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Gipervizor virtual mashinalarni yaratish va ishga tushirish qatlamidir. VM tarkibida virtual CPU, xotira, disk, tarmoq adapteri va mehmon operatsion tizimi bo‘ladi. Host esa virtual mashinalarni olib boruvchi asosiy tizimdir.</a:t>
            </a:r>
          </a:p>
          <a:p/>
          <a:p>
            <a:r>
              <a:t>VM konfiguratsiyasi resurs chegaralarini belgilaydi. Mehmon operatsion tizimi odatdagi kompyuterdagidek yuklanadi va dasturlarni ishga tushiradi.</a:t>
            </a:r>
          </a:p>
          <a:p/>
          <a:p>
            <a:r>
              <a:t>Universitet misolida buni quyidagicha tasavvur qilamiz. Kutubxona tizimiga 2 vCPU va 4 GB xotira ajratilib, uning virtual diski alohida boshqariladi. Bu misolda texnik atama real vazifa bilan bog‘lanadi: resursning nomini emas, nima uchun tanlanganini tushunish muhim.</a:t>
            </a:r>
          </a:p>
          <a:p/>
          <a:p>
            <a:r>
              <a:t>E’tibor beradigan chegara ham bor. vCPU soni jismoniy yadro soniga to‘g‘ridan-to‘g‘ri teng emas; ishlash yuklama va taqsimlashga bog‘liq.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1 gipervizor server uskunasi bilan bevosita ishlaydi va ma’lumotlar markazlarida keng qo‘llanadi. Bunday arxitektura ko‘p virtual mashinalarni markazlashgan boshqarish uchun mos. Boshqaruv interfeysi alohida komponent bo‘lishi mumkin.</a:t>
            </a:r>
          </a:p>
          <a:p/>
          <a:p>
            <a:r>
              <a:t>Server yuklanganda gipervizor ishga tushadi. Uning ustida mehmon tizimlar ishlaydi. Boshqaruv vositasi orqali VM yaratish, ko‘chirish va kuzatish amalga oshiriladi.</a:t>
            </a:r>
          </a:p>
          <a:p/>
          <a:p>
            <a:r>
              <a:t>Universitet misolida buni quyidagicha tasavvur qilamiz. VMware ESXi va Hyper-V server virtualizatsiyasining mashhur misollaridir. Hyper-V da boshqaruv tizimi bo‘lsa ham arxitektura Type 1 hisoblanadi. Bu misolda texnik atama real vazifa bilan bog‘lanadi: resursning nomini emas, nima uchun tanlanganini tushunish muhim.</a:t>
            </a:r>
          </a:p>
          <a:p/>
          <a:p>
            <a:r>
              <a:t>E’tibor beradigan chegara ham bor. Gipervizor turi bilan butun mahsulotning litsenziya va boshqaruv imkoniyatlarini aralashtirmaslik kerak.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2 gipervizor host operatsion tizimi ichida dastur sifatida ishlaydi. U o‘rganish, tajriba va ish stansiyasida qo‘shimcha muhit yaratish uchun qulay. Uskunaga kirish host tizimi orqali amalga oshadi.</a:t>
            </a:r>
          </a:p>
          <a:p/>
          <a:p>
            <a:r>
              <a:t>Avval host operatsion tizimi yuklanadi. Keyin virtualizatsiya dasturi ochilib, virtual mashina ishga tushiriladi. Host va mehmon bir xil jismoniy resurslardan foydalanadi.</a:t>
            </a:r>
          </a:p>
          <a:p/>
          <a:p>
            <a:r>
              <a:t>Universitet misolida buni quyidagicha tasavvur qilamiz. Talaba o‘z noutbukida VirtualBox yordamida Linux virtual mashinasini ishga tushiradi. Bu misolda texnik atama real vazifa bilan bog‘lanadi: resursning nomini emas, nima uchun tanlanganini tushunish muhim.</a:t>
            </a:r>
          </a:p>
          <a:p/>
          <a:p>
            <a:r>
              <a:t>E’tibor beradigan chegara ham bor. Host tizimining yuklamasi yoki qayta yuklanishi mehmon tizimga ham ta’sir qiladi.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VMware virtualizatsiya va boshqaruv mahsulotlari oilasidir. Hyper-V Microsoft ekotizimi bilan bog‘liq. KVM esa Linux yadrosidagi virtualizatsiya mexanizmi bo‘lib, odatda QEMU va libvirt bilan ishlatiladi.</a:t>
            </a:r>
          </a:p>
          <a:p/>
          <a:p>
            <a:r>
              <a:t>Vositalar mehmon tizimlarni yuritish, virtual disk va tarmoqni boshqarish hamda kuzatuv imkoniyatlarini taqdim etadi. KVM Linux yadrosini gipervizor vazifasida ishlatadi.</a:t>
            </a:r>
          </a:p>
          <a:p/>
          <a:p>
            <a:r>
              <a:t>Universitet misolida buni quyidagicha tasavvur qilamiz. Linux serverlarida KVM, Microsoft infratuzilmasida Hyper-V tanlanishi mumkin; tanlov jamoa tajribasi va qo‘llab-quvvatlashga bog‘liq. Bu misolda texnik atama real vazifa bilan bog‘lanadi: resursning nomini emas, nima uchun tanlanganini tushunish muhim.</a:t>
            </a:r>
          </a:p>
          <a:p/>
          <a:p>
            <a:r>
              <a:t>E’tibor beradigan chegara ham bor. Barcha vositalarning funksiyasi va bepul imkoniyatlari bir xil deb qabul qilinmaydi.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VM resurslari haddan tashqari ko‘p taqsimlansa, xotira va disk bo‘yicha raqobat paydo bo‘ladi. Snapshot esa tizim holatini ma’lum vaqtda qayd etadi. U yangilanishdan oldin foydali, ammo mustaqil zaxira siyosati o‘rnini bosa olmaydi.</a:t>
            </a:r>
          </a:p>
          <a:p/>
          <a:p>
            <a:r>
              <a:t>CPU va xotira yuklamasi kuzatiladi. Virtual disklarning bo‘sh joyi tekshiriladi. Zaxira boshqa nosozlik hududida saqlanib, tiklash sinovi bilan tekshiriladi.</a:t>
            </a:r>
          </a:p>
          <a:p/>
          <a:p>
            <a:r>
              <a:t>Universitet misolida buni quyidagicha tasavvur qilamiz. Portal yangilanishidan oldin snapshot olinadi, kundalik zaxira esa boshqa saqlash tizimiga ko‘chiriladi. Bu misolda texnik atama real vazifa bilan bog‘lanadi: resursning nomini emas, nima uchun tanlanganini tushunish muhim.</a:t>
            </a:r>
          </a:p>
          <a:p/>
          <a:p>
            <a:r>
              <a:t>E’tibor beradigan chegara ham bor. Uzoq saqlangan snapshot disk sarfi va unumdorlikka ta’sir qilishi mumkin.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«Jismoniy uskuna» bilan «Gipervizor» o‘rtasida sxemada bog‘lanish ko‘rsatilgan. «Gipervizor» bilan «VM 1 · Linux» o‘rtasida sxemada bog‘lanish ko‘rsatilgan. «Gipervizor» bilan «VM 2 · boshqa OS» o‘rtasida sxemada bog‘lanish ko‘rsatilgan. «VM 1 · Linux» bilan «Ilovalar» o‘rtasida sxemada bog‘lanish ko‘rsatilgan. «VM 2 · boshqa OS» bilan «Ilovalar» o‘rtasida sxemada bog‘lanish ko‘rsatilgan.</a:t>
            </a:r>
          </a:p>
          <a:p/>
          <a:p>
            <a:r>
              <a:t>Bu bog‘lanishlarni barcha xizmatlarda bir xil buyruq yoki bir xil fizik kabel deb tushunmaymiz. Ayrim o‘qlar bajarilish ketma-ketligini, ayrimlari resursni boshqarish yoki unga kirish aloqasini anglatadi. VM konfiguratsiyasi resurs chegaralarini belgilaydi. Mehmon operatsion tizimi odatdagi kompyuterdagidek yuklanadi va dasturlarni ishga tushiradi.</a:t>
            </a:r>
          </a:p>
          <a:p/>
          <a:p>
            <a:r>
              <a:t>Sxemaning asosiy foydasi mas’uliyatlarni ajratib ko‘rsatishdir. Linux serverlarida KVM, Microsoft infratuzilmasida Hyper-V tanlanishi mumkin; tanlov jamoa tajribasi va qo‘llab-quvvatlashga bog‘liq.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Universitetda kutubxona, portal va test tizimi uchun uchta alohida muhit kerak. Virtualizatsiya ularni bitta kuchli serverda mantiqiy ajratib ishlatishga imkon beradi.</a:t>
            </a:r>
          </a:p>
          <a:p/>
          <a:p>
            <a:r>
              <a:t>Avval ehtiyoj aniqlanadi: kim tizimdan foydalanadi, qaysi ma’lumot bilan ishlanadi va qanday natija kutiladi. Bitta serverda Linux asosidagi portal va boshqa operatsion tizimdagi eski dastur yonma-yon ishlashi mumkin. Keyin texnik qismlar shu talabga mos tanlanadi. VMware ESXi va Hyper-V server virtualizatsiyasining mashhur misollaridir. Hyper-V da boshqaruv tizimi bo‘lsa ham arxitektura Type 1 hisoblanadi.</a:t>
            </a:r>
          </a:p>
          <a:p/>
          <a:p>
            <a:r>
              <a:t>Ishlash jarayonida faqat muvaffaqiyatli holat emas, xato va cheklovlar ham hisobga olinadi. Host tizimining yuklamasi yoki qayta yuklanishi mehmon tizimga ham ta’sir qiladi. Shu sababli jamoa talabni, ruxsatni va nosozlikdagi xatti-harakatni oldindan belgilaydi. Portal yangilanishidan oldin snapshot olinadi, kundalik zaxira esa boshqa saqlash tizimiga ko‘chiriladi.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Ajratish kuchli bo‘lsa ham, gipervizor zaifligi yoki noto‘g‘ri sozlama xavfini butunlay yo‘q qilmaydi. To‘g‘ri talqin quyidagicha: Virtualizatsiya CPU, xotira, disk va tarmoqni dasturiy boshqariladigan resurslarga aylantiradi. Har bir virtual mashina o‘z operatsion tizimiga ega bo‘lishi mumkin. Dastur o‘zini alohida kompyuterda ishlayotgandek tutadi.</a:t>
            </a:r>
          </a:p>
          <a:p/>
          <a:p>
            <a:r>
              <a:t>2. Host tizimining yuklamasi yoki qayta yuklanishi mehmon tizimga ham ta’sir qiladi. To‘g‘ri talqin quyidagicha: Type 2 gipervizor host operatsion tizimi ichida dastur sifatida ishlaydi. U o‘rganish, tajriba va ish stansiyasida qo‘shimcha muhit yaratish uchun qulay. Uskunaga kirish host tizimi orqali amalga oshadi.</a:t>
            </a:r>
          </a:p>
          <a:p/>
          <a:p>
            <a:r>
              <a:t>3. Uzoq saqlangan snapshot disk sarfi va unumdorlikka ta’sir qilishi mumkin. To‘g‘ri talqin quyidagicha: VM resurslari haddan tashqari ko‘p taqsimlansa, xotira va disk bo‘yicha raqobat paydo bo‘ladi. Snapshot esa tizim holatini ma’lum vaqtda qayd etadi. U yangilanishdan oldin foydali, ammo mustaqil zaxira siyosati o‘rnini bosa olmaydi.</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Bitta jismoniy serverda bir nechta mustaqil muhit — mavzuning umumiy mazmunini ifodalaydi.</a:t>
            </a:r>
          </a:p>
          <a:p/>
          <a:p>
            <a:r>
              <a:t>Asosiy tayanch fikr: Jismoniy resurslardan mantiqiy mashinalar yaratish. Gipervizor jismoniy resurslarni virtual mashinalar o‘rtasida taqsimlaydi. CPU uchun rejalashtirish, xotira ajratish va virtual qurilmalar bilan ishlash shu qatlam orqali bajariladi.</a:t>
            </a:r>
          </a:p>
          <a:p/>
          <a:p>
            <a:r>
              <a:t>Asosiy tayanch fikr: Virtualizatsiya qatlamini bevosita uskuna ustida yuritish. Server yuklanganda gipervizor ishga tushadi. Uning ustida mehmon tizimlar ishlaydi. Boshqaruv vositasi orqali VM yaratish, ko‘chirish va kuzatish amalga oshiriladi.</a:t>
            </a:r>
          </a:p>
          <a:p/>
          <a:p>
            <a:r>
              <a:t>Asosiy tayanch fikr: Vosita tanlash — ekotizim va talabga bog‘liq. Vositalar mehmon tizimlarni yuritish, virtual disk va tarmoqni boshqarish hamda kuzatuv imkoniyatlarini taqdim etadi. KVM Linux yadrosini gipervizor vazifasida ishlatadi.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ec-1c8f91bc-6381-4745-8533-c57166497063.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16636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594360"/>
            <a:ext cx="594360" cy="73152"/>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896112"/>
            <a:ext cx="4480560" cy="457200"/>
          </a:xfrm>
          <a:prstGeom prst="rect">
            <a:avLst/>
          </a:prstGeom>
          <a:noFill/>
        </p:spPr>
        <p:txBody>
          <a:bodyPr wrap="square" lIns="27432" rIns="27432" tIns="18288" bIns="0">
            <a:spAutoFit/>
          </a:bodyPr>
          <a:lstStyle/>
          <a:p>
            <a:pPr>
              <a:spcAft>
                <a:spcPts val="1000"/>
              </a:spcAft>
              <a:defRPr sz="1700" b="1">
                <a:solidFill>
                  <a:srgbClr val="1678D2"/>
                </a:solidFill>
                <a:latin typeface="DejaVu Sans"/>
              </a:defRPr>
            </a:pPr>
            <a:r>
              <a:t>M05  /  BTST206</a:t>
            </a:r>
          </a:p>
        </p:txBody>
      </p:sp>
      <p:sp>
        <p:nvSpPr>
          <p:cNvPr id="6" name="TextBox 5"/>
          <p:cNvSpPr txBox="1"/>
          <p:nvPr/>
        </p:nvSpPr>
        <p:spPr>
          <a:xfrm>
            <a:off x="548640" y="1737360"/>
            <a:ext cx="4480560" cy="2788920"/>
          </a:xfrm>
          <a:prstGeom prst="rect">
            <a:avLst/>
          </a:prstGeom>
          <a:noFill/>
        </p:spPr>
        <p:txBody>
          <a:bodyPr wrap="square" lIns="27432" rIns="27432" tIns="18288" bIns="0">
            <a:spAutoFit/>
          </a:bodyPr>
          <a:lstStyle/>
          <a:p>
            <a:pPr>
              <a:spcAft>
                <a:spcPts val="1000"/>
              </a:spcAft>
              <a:defRPr sz="3000" b="1">
                <a:solidFill>
                  <a:srgbClr val="15365B"/>
                </a:solidFill>
                <a:latin typeface="DejaVu Sans"/>
              </a:defRPr>
            </a:pPr>
            <a:r>
              <a:t>Virtualizatsiya texnologiyalari</a:t>
            </a:r>
          </a:p>
        </p:txBody>
      </p:sp>
      <p:sp>
        <p:nvSpPr>
          <p:cNvPr id="7" name="TextBox 6"/>
          <p:cNvSpPr txBox="1"/>
          <p:nvPr/>
        </p:nvSpPr>
        <p:spPr>
          <a:xfrm>
            <a:off x="548640" y="4800600"/>
            <a:ext cx="4434840" cy="914400"/>
          </a:xfrm>
          <a:prstGeom prst="rect">
            <a:avLst/>
          </a:prstGeom>
          <a:noFill/>
        </p:spPr>
        <p:txBody>
          <a:bodyPr wrap="square" lIns="27432" rIns="27432" tIns="18288" bIns="0">
            <a:spAutoFit/>
          </a:bodyPr>
          <a:lstStyle/>
          <a:p>
            <a:pPr>
              <a:spcAft>
                <a:spcPts val="1000"/>
              </a:spcAft>
              <a:defRPr sz="1900" b="0">
                <a:solidFill>
                  <a:srgbClr val="53687D"/>
                </a:solidFill>
                <a:latin typeface="DejaVu Sans"/>
              </a:defRPr>
            </a:pPr>
            <a:r>
              <a:t>Bitta jismoniy serverda bir nechta mustaqil muhit</a:t>
            </a:r>
          </a:p>
        </p:txBody>
      </p:sp>
      <p:sp>
        <p:nvSpPr>
          <p:cNvPr id="8" name="TextBox 7"/>
          <p:cNvSpPr txBox="1"/>
          <p:nvPr/>
        </p:nvSpPr>
        <p:spPr>
          <a:xfrm>
            <a:off x="548640" y="6217920"/>
            <a:ext cx="4480560" cy="365760"/>
          </a:xfrm>
          <a:prstGeom prst="rect">
            <a:avLst/>
          </a:prstGeom>
          <a:noFill/>
        </p:spPr>
        <p:txBody>
          <a:bodyPr wrap="square" lIns="27432" rIns="27432" tIns="18288" bIns="0">
            <a:spAutoFit/>
          </a:bodyPr>
          <a:lstStyle/>
          <a:p>
            <a:pPr>
              <a:spcAft>
                <a:spcPts val="1000"/>
              </a:spcAft>
              <a:defRPr sz="1100" b="0">
                <a:solidFill>
                  <a:srgbClr val="1678D2"/>
                </a:solidFill>
                <a:latin typeface="DejaVu Sans"/>
              </a:defRPr>
            </a:pPr>
            <a:r>
              <a:t>2027–2028  •  VIDEOMA’RUZA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M05 · O‘RGANISH TARTIBI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Bugungi mavzuning yo‘l xaritasi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02</a:t>
            </a:r>
          </a:p>
        </p:txBody>
      </p:sp>
      <p:sp>
        <p:nvSpPr>
          <p:cNvPr id="8" name="Rounded Rectangle 7"/>
          <p:cNvSpPr/>
          <p:nvPr/>
        </p:nvSpPr>
        <p:spPr>
          <a:xfrm>
            <a:off x="59436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01</a:t>
            </a:r>
          </a:p>
        </p:txBody>
      </p:sp>
      <p:sp>
        <p:nvSpPr>
          <p:cNvPr id="10" name="TextBox 9"/>
          <p:cNvSpPr txBox="1"/>
          <p:nvPr/>
        </p:nvSpPr>
        <p:spPr>
          <a:xfrm>
            <a:off x="138074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Virtualizatsiyaning mohiyati</a:t>
            </a:r>
          </a:p>
        </p:txBody>
      </p:sp>
      <p:sp>
        <p:nvSpPr>
          <p:cNvPr id="11" name="Rounded Rectangle 10"/>
          <p:cNvSpPr/>
          <p:nvPr/>
        </p:nvSpPr>
        <p:spPr>
          <a:xfrm>
            <a:off x="626364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02</a:t>
            </a:r>
          </a:p>
        </p:txBody>
      </p:sp>
      <p:sp>
        <p:nvSpPr>
          <p:cNvPr id="13" name="TextBox 12"/>
          <p:cNvSpPr txBox="1"/>
          <p:nvPr/>
        </p:nvSpPr>
        <p:spPr>
          <a:xfrm>
            <a:off x="705002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Gipervizor va virtual mashina</a:t>
            </a:r>
          </a:p>
        </p:txBody>
      </p:sp>
      <p:sp>
        <p:nvSpPr>
          <p:cNvPr id="14" name="Rounded Rectangle 13"/>
          <p:cNvSpPr/>
          <p:nvPr/>
        </p:nvSpPr>
        <p:spPr>
          <a:xfrm>
            <a:off x="59436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03</a:t>
            </a:r>
          </a:p>
        </p:txBody>
      </p:sp>
      <p:sp>
        <p:nvSpPr>
          <p:cNvPr id="16" name="TextBox 15"/>
          <p:cNvSpPr txBox="1"/>
          <p:nvPr/>
        </p:nvSpPr>
        <p:spPr>
          <a:xfrm>
            <a:off x="138074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Type 1 gipervizor</a:t>
            </a:r>
          </a:p>
        </p:txBody>
      </p:sp>
      <p:sp>
        <p:nvSpPr>
          <p:cNvPr id="17" name="Rounded Rectangle 16"/>
          <p:cNvSpPr/>
          <p:nvPr/>
        </p:nvSpPr>
        <p:spPr>
          <a:xfrm>
            <a:off x="626364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04</a:t>
            </a:r>
          </a:p>
        </p:txBody>
      </p:sp>
      <p:sp>
        <p:nvSpPr>
          <p:cNvPr id="19" name="TextBox 18"/>
          <p:cNvSpPr txBox="1"/>
          <p:nvPr/>
        </p:nvSpPr>
        <p:spPr>
          <a:xfrm>
            <a:off x="705002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Type 2 gipervizor</a:t>
            </a:r>
          </a:p>
        </p:txBody>
      </p:sp>
      <p:sp>
        <p:nvSpPr>
          <p:cNvPr id="20" name="Rounded Rectangle 19"/>
          <p:cNvSpPr/>
          <p:nvPr/>
        </p:nvSpPr>
        <p:spPr>
          <a:xfrm>
            <a:off x="59436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05</a:t>
            </a:r>
          </a:p>
        </p:txBody>
      </p:sp>
      <p:sp>
        <p:nvSpPr>
          <p:cNvPr id="22" name="TextBox 21"/>
          <p:cNvSpPr txBox="1"/>
          <p:nvPr/>
        </p:nvSpPr>
        <p:spPr>
          <a:xfrm>
            <a:off x="138074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VMware, Hyper-V va KVM</a:t>
            </a:r>
          </a:p>
        </p:txBody>
      </p:sp>
      <p:sp>
        <p:nvSpPr>
          <p:cNvPr id="23" name="Rounded Rectangle 22"/>
          <p:cNvSpPr/>
          <p:nvPr/>
        </p:nvSpPr>
        <p:spPr>
          <a:xfrm>
            <a:off x="626364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06</a:t>
            </a:r>
          </a:p>
        </p:txBody>
      </p:sp>
      <p:sp>
        <p:nvSpPr>
          <p:cNvPr id="25" name="TextBox 24"/>
          <p:cNvSpPr txBox="1"/>
          <p:nvPr/>
        </p:nvSpPr>
        <p:spPr>
          <a:xfrm>
            <a:off x="705002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Resurslar, snapshot va zaxira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M05 · ASOSIY TUSHUNCHA 1/6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Virtualizatsiyaning mohiyati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03</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Jismoniy resurslardan mantiqiy mashinalar yaratish.</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Bitta serverda Linux asosidagi portal va boshqa operatsion tizimdagi eski dastur yonma-yon ishlashi mumkin.</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M05 · ASOSIY TUSHUNCHA 2/6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Gipervizor va virtual mashina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04</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VM konfiguratsiyasi resurs chegaralarini belgilaydi.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vCPU soni jismoniy yadro soniga to‘g‘ridan-to‘g‘ri teng emas; ishlash yuklama va taqsimlashga bog‘liq.</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Gipervizor boshqaradi, VM esa ish muhitini beradi.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M05 · ASOSIY TUSHUNCHA 3/6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Type 1 gipervizor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05</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Virtualizatsiya qatlamini bevosita uskuna ustida yuritish.</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Type 1 gipervizor server uskunasi bilan bevosita ishlaydi va ma’lumotlar markazlarida keng qo‘llanadi.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M05 · ASOSIY TUSHUNCHA 4/6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Type 2 gipervizor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06</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Oddiy operatsion tizim ustida virtual mashina.</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Talaba o‘z noutbukida VirtualBox yordamida Linux virtual mashinasini ishga tushiradi.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M05 · ASOSIY TUSHUNCHA 5/6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VMware, Hyper-V va KVM</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07</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Vositalar mehmon tizimlarni yuritish, virtual disk va tarmoqni boshqarish hamda kuzatuv imkoniyatlarini taqdim etadi.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Barcha vositalarning funksiyasi va bepul imkoniyatlari bir xil deb qabul qilinmaydi.</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Vosita tanlash — ekotizim va talabga bog‘liq.</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M05 · ASOSIY TUSHUNCHA 6/6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Resurslar, snapshot va zaxira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08</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Snapshot — tez holat nusxasi; backup — tiklash strategiyasi.</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VM resurslari haddan tashqari ko‘p taqsimlansa, xotira va disk bo‘yicha raqobat paydo bo‘ladi.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M05 · ARXITEKTURA</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Texnik sxema: qismlar qanday bog‘lanadi?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09</a:t>
            </a:r>
          </a:p>
        </p:txBody>
      </p:sp>
      <p:cxnSp>
        <p:nvCxnSpPr>
          <p:cNvPr id="8" name="Connector 7"/>
          <p:cNvCxnSpPr/>
          <p:nvPr/>
        </p:nvCxnSpPr>
        <p:spPr>
          <a:xfrm>
            <a:off x="347472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9516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114800" y="3246120"/>
            <a:ext cx="150876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8046720" y="3246120"/>
            <a:ext cx="109728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486400" y="4956048"/>
            <a:ext cx="118872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31520" y="2286000"/>
            <a:ext cx="2743200" cy="960120"/>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392" y="2450592"/>
            <a:ext cx="2505456" cy="685800"/>
          </a:xfrm>
          <a:prstGeom prst="rect">
            <a:avLst/>
          </a:prstGeom>
          <a:noFill/>
        </p:spPr>
        <p:txBody>
          <a:bodyPr wrap="square" lIns="27432" rIns="27432" tIns="18288" bIns="0">
            <a:spAutoFit/>
          </a:bodyPr>
          <a:lstStyle/>
          <a:p>
            <a:pPr>
              <a:spcAft>
                <a:spcPts val="1000"/>
              </a:spcAft>
              <a:defRPr sz="1800" b="1">
                <a:solidFill>
                  <a:srgbClr val="FFFFFF"/>
                </a:solidFill>
                <a:latin typeface="DejaVu Sans"/>
              </a:defRPr>
            </a:pPr>
            <a:r>
              <a:t>Jismoniy uskuna</a:t>
            </a:r>
          </a:p>
        </p:txBody>
      </p:sp>
      <p:sp>
        <p:nvSpPr>
          <p:cNvPr id="15" name="Rounded Rectangle 14"/>
          <p:cNvSpPr/>
          <p:nvPr/>
        </p:nvSpPr>
        <p:spPr>
          <a:xfrm>
            <a:off x="425196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083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Gipervizor</a:t>
            </a:r>
          </a:p>
        </p:txBody>
      </p:sp>
      <p:sp>
        <p:nvSpPr>
          <p:cNvPr id="17" name="Rounded Rectangle 16"/>
          <p:cNvSpPr/>
          <p:nvPr/>
        </p:nvSpPr>
        <p:spPr>
          <a:xfrm>
            <a:off x="777240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9127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VM 1 · Linux</a:t>
            </a:r>
          </a:p>
        </p:txBody>
      </p:sp>
      <p:sp>
        <p:nvSpPr>
          <p:cNvPr id="19" name="Rounded Rectangle 18"/>
          <p:cNvSpPr/>
          <p:nvPr/>
        </p:nvSpPr>
        <p:spPr>
          <a:xfrm>
            <a:off x="274320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6207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VM 2 · boshqa OS</a:t>
            </a:r>
          </a:p>
        </p:txBody>
      </p:sp>
      <p:sp>
        <p:nvSpPr>
          <p:cNvPr id="21" name="Rounded Rectangle 20"/>
          <p:cNvSpPr/>
          <p:nvPr/>
        </p:nvSpPr>
        <p:spPr>
          <a:xfrm>
            <a:off x="667512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9399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Ilovalar</a:t>
            </a:r>
          </a:p>
        </p:txBody>
      </p:sp>
      <p:sp>
        <p:nvSpPr>
          <p:cNvPr id="23" name="TextBox 22"/>
          <p:cNvSpPr txBox="1"/>
          <p:nvPr/>
        </p:nvSpPr>
        <p:spPr>
          <a:xfrm>
            <a:off x="777240" y="5806440"/>
            <a:ext cx="10789920" cy="347472"/>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O‘qlar: asosiy bog‘lanish yoki boshqaruv yo‘nalishi. Sxema soddalashtirilgan.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M05 · O‘QITUVCHI BAYONI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Universitet portali misolida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10</a:t>
            </a:r>
          </a:p>
        </p:txBody>
      </p:sp>
      <p:sp>
        <p:nvSpPr>
          <p:cNvPr id="8" name="TextBox 7"/>
          <p:cNvSpPr txBox="1"/>
          <p:nvPr/>
        </p:nvSpPr>
        <p:spPr>
          <a:xfrm>
            <a:off x="658368" y="1920240"/>
            <a:ext cx="7040880" cy="150876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Universitetda kutubxona, portal va test tizimi uchun uchta alohida muhit kerak. Virtualizatsiya ularni bitta kuchli serverda mantiqiy ajratib ishlatishga imkon beradi.</a:t>
            </a:r>
          </a:p>
        </p:txBody>
      </p:sp>
      <p:sp>
        <p:nvSpPr>
          <p:cNvPr id="9" name="Rounded Rectangle 8"/>
          <p:cNvSpPr/>
          <p:nvPr/>
        </p:nvSpPr>
        <p:spPr>
          <a:xfrm>
            <a:off x="685800"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Jismoniy server</a:t>
            </a:r>
          </a:p>
        </p:txBody>
      </p:sp>
      <p:sp>
        <p:nvSpPr>
          <p:cNvPr id="11" name="Rounded Rectangle 10"/>
          <p:cNvSpPr/>
          <p:nvPr/>
        </p:nvSpPr>
        <p:spPr>
          <a:xfrm>
            <a:off x="3584448"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21608"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Gipervizor</a:t>
            </a:r>
          </a:p>
        </p:txBody>
      </p:sp>
      <p:sp>
        <p:nvSpPr>
          <p:cNvPr id="13" name="Rounded Rectangle 12"/>
          <p:cNvSpPr/>
          <p:nvPr/>
        </p:nvSpPr>
        <p:spPr>
          <a:xfrm>
            <a:off x="6483096"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0256"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Virtual mashinalar</a:t>
            </a:r>
          </a:p>
        </p:txBody>
      </p:sp>
      <p:sp>
        <p:nvSpPr>
          <p:cNvPr id="15" name="Rounded Rectangle 14"/>
          <p:cNvSpPr/>
          <p:nvPr/>
        </p:nvSpPr>
        <p:spPr>
          <a:xfrm>
            <a:off x="9381744"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18904"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Mehmon operatsion tizimi</a:t>
            </a:r>
          </a:p>
        </p:txBody>
      </p:sp>
      <p:sp>
        <p:nvSpPr>
          <p:cNvPr id="17" name="TextBox 16"/>
          <p:cNvSpPr txBox="1"/>
          <p:nvPr/>
        </p:nvSpPr>
        <p:spPr>
          <a:xfrm>
            <a:off x="713232" y="5632704"/>
            <a:ext cx="10789920" cy="365760"/>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Yuqoridagi bloklar — misolning tayanch qismlari; ular har doim chiziqli trafik yo‘li emas.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M05 · ANIQLIK KIRITAMIZ</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Ko‘p uchraydigan noto‘g‘ri xulosalar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11</a:t>
            </a:r>
          </a:p>
        </p:txBody>
      </p:sp>
      <p:sp>
        <p:nvSpPr>
          <p:cNvPr id="8" name="Rounded Rectangle 7"/>
          <p:cNvSpPr/>
          <p:nvPr/>
        </p:nvSpPr>
        <p:spPr>
          <a:xfrm>
            <a:off x="640080" y="1892807"/>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929384"/>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1</a:t>
            </a:r>
          </a:p>
        </p:txBody>
      </p:sp>
      <p:sp>
        <p:nvSpPr>
          <p:cNvPr id="10" name="TextBox 9"/>
          <p:cNvSpPr txBox="1"/>
          <p:nvPr/>
        </p:nvSpPr>
        <p:spPr>
          <a:xfrm>
            <a:off x="1353312" y="1892807"/>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Ajratish kuchli bo‘lsa ham, gipervizor zaifligi yoki noto‘g‘ri sozlama xavfini butunlay yo‘q qilmaydi.</a:t>
            </a:r>
          </a:p>
        </p:txBody>
      </p:sp>
      <p:sp>
        <p:nvSpPr>
          <p:cNvPr id="11" name="Rounded Rectangle 10"/>
          <p:cNvSpPr/>
          <p:nvPr/>
        </p:nvSpPr>
        <p:spPr>
          <a:xfrm>
            <a:off x="640080" y="3246120"/>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282696"/>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2</a:t>
            </a:r>
          </a:p>
        </p:txBody>
      </p:sp>
      <p:sp>
        <p:nvSpPr>
          <p:cNvPr id="13" name="TextBox 12"/>
          <p:cNvSpPr txBox="1"/>
          <p:nvPr/>
        </p:nvSpPr>
        <p:spPr>
          <a:xfrm>
            <a:off x="1353312" y="3246120"/>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Host tizimining yuklamasi yoki qayta yuklanishi mehmon tizimga ham ta’sir qiladi.</a:t>
            </a:r>
          </a:p>
        </p:txBody>
      </p:sp>
      <p:sp>
        <p:nvSpPr>
          <p:cNvPr id="14" name="Rounded Rectangle 13"/>
          <p:cNvSpPr/>
          <p:nvPr/>
        </p:nvSpPr>
        <p:spPr>
          <a:xfrm>
            <a:off x="640080" y="4599431"/>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636007"/>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3</a:t>
            </a:r>
          </a:p>
        </p:txBody>
      </p:sp>
      <p:sp>
        <p:nvSpPr>
          <p:cNvPr id="16" name="TextBox 15"/>
          <p:cNvSpPr txBox="1"/>
          <p:nvPr/>
        </p:nvSpPr>
        <p:spPr>
          <a:xfrm>
            <a:off x="1353312" y="4599431"/>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Uzoq saqlangan snapshot disk sarfi va unumdorlikka ta’sir qilishi mumkin.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M05 · YAKUN</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Mavzuning asosiy xulosalari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12</a:t>
            </a:r>
          </a:p>
        </p:txBody>
      </p:sp>
      <p:sp>
        <p:nvSpPr>
          <p:cNvPr id="8" name="Rounded Rectangle 7"/>
          <p:cNvSpPr/>
          <p:nvPr/>
        </p:nvSpPr>
        <p:spPr>
          <a:xfrm>
            <a:off x="640080"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01</a:t>
            </a:r>
          </a:p>
        </p:txBody>
      </p:sp>
      <p:sp>
        <p:nvSpPr>
          <p:cNvPr id="10" name="TextBox 9"/>
          <p:cNvSpPr txBox="1"/>
          <p:nvPr/>
        </p:nvSpPr>
        <p:spPr>
          <a:xfrm>
            <a:off x="859536"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Jismoniy resurslardan mantiqiy mashinalar yaratish.</a:t>
            </a:r>
          </a:p>
        </p:txBody>
      </p:sp>
      <p:sp>
        <p:nvSpPr>
          <p:cNvPr id="11" name="Rounded Rectangle 10"/>
          <p:cNvSpPr/>
          <p:nvPr/>
        </p:nvSpPr>
        <p:spPr>
          <a:xfrm>
            <a:off x="4498848"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02</a:t>
            </a:r>
          </a:p>
        </p:txBody>
      </p:sp>
      <p:sp>
        <p:nvSpPr>
          <p:cNvPr id="13" name="TextBox 12"/>
          <p:cNvSpPr txBox="1"/>
          <p:nvPr/>
        </p:nvSpPr>
        <p:spPr>
          <a:xfrm>
            <a:off x="4718304"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Virtualizatsiya qatlamini bevosita uskuna ustida yuritish.</a:t>
            </a:r>
          </a:p>
        </p:txBody>
      </p:sp>
      <p:sp>
        <p:nvSpPr>
          <p:cNvPr id="14" name="Rounded Rectangle 13"/>
          <p:cNvSpPr/>
          <p:nvPr/>
        </p:nvSpPr>
        <p:spPr>
          <a:xfrm>
            <a:off x="8357615"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77072"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03</a:t>
            </a:r>
          </a:p>
        </p:txBody>
      </p:sp>
      <p:sp>
        <p:nvSpPr>
          <p:cNvPr id="16" name="TextBox 15"/>
          <p:cNvSpPr txBox="1"/>
          <p:nvPr/>
        </p:nvSpPr>
        <p:spPr>
          <a:xfrm>
            <a:off x="8577072"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Vosita tanlash — ekotizim va talabga bog‘liq.</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M05 · QO‘SHIMCHA O‘QISH</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Manbalar va terminlar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13</a:t>
            </a:r>
          </a:p>
        </p:txBody>
      </p:sp>
      <p:sp>
        <p:nvSpPr>
          <p:cNvPr id="8" name="TextBox 7"/>
          <p:cNvSpPr txBox="1"/>
          <p:nvPr/>
        </p:nvSpPr>
        <p:spPr>
          <a:xfrm>
            <a:off x="685800" y="1920240"/>
            <a:ext cx="10789920" cy="822960"/>
          </a:xfrm>
          <a:prstGeom prst="rect">
            <a:avLst/>
          </a:prstGeom>
          <a:noFill/>
        </p:spPr>
        <p:txBody>
          <a:bodyPr wrap="square" lIns="27432" rIns="27432" tIns="18288" bIns="0">
            <a:spAutoFit/>
          </a:bodyPr>
          <a:lstStyle/>
          <a:p>
            <a:pPr>
              <a:spcAft>
                <a:spcPts val="1000"/>
              </a:spcAft>
              <a:defRPr sz="2100" b="1">
                <a:solidFill>
                  <a:srgbClr val="15365B"/>
                </a:solidFill>
                <a:latin typeface="DejaVu Sans"/>
              </a:defRPr>
            </a:pPr>
            <a:r>
              <a:t>Asos: BTST206 sillabusi, 2027–2028. M1–M18 ma’ruza bo‘limi.</a:t>
            </a:r>
          </a:p>
        </p:txBody>
      </p:sp>
      <p:sp>
        <p:nvSpPr>
          <p:cNvPr id="9" name="TextBox 8"/>
          <p:cNvSpPr txBox="1"/>
          <p:nvPr/>
        </p:nvSpPr>
        <p:spPr>
          <a:xfrm>
            <a:off x="713232" y="2926080"/>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https://learn.microsoft.com/windows-server/virtualization/hyper-v/</a:t>
            </a:r>
          </a:p>
        </p:txBody>
      </p:sp>
      <p:sp>
        <p:nvSpPr>
          <p:cNvPr id="10" name="TextBox 9"/>
          <p:cNvSpPr txBox="1"/>
          <p:nvPr/>
        </p:nvSpPr>
        <p:spPr>
          <a:xfrm>
            <a:off x="713232" y="3456432"/>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https://www.linux-kvm.org/page/Main_Page</a:t>
            </a:r>
          </a:p>
        </p:txBody>
      </p:sp>
      <p:sp>
        <p:nvSpPr>
          <p:cNvPr id="11" name="TextBox 10"/>
          <p:cNvSpPr txBox="1"/>
          <p:nvPr/>
        </p:nvSpPr>
        <p:spPr>
          <a:xfrm>
            <a:off x="713232" y="5650992"/>
            <a:ext cx="10789920" cy="502920"/>
          </a:xfrm>
          <a:prstGeom prst="rect">
            <a:avLst/>
          </a:prstGeom>
          <a:noFill/>
        </p:spPr>
        <p:txBody>
          <a:bodyPr wrap="square" lIns="27432" rIns="27432" tIns="18288" bIns="0">
            <a:spAutoFit/>
          </a:bodyPr>
          <a:lstStyle/>
          <a:p>
            <a:pPr>
              <a:spcAft>
                <a:spcPts val="1000"/>
              </a:spcAft>
              <a:defRPr sz="1600" b="0">
                <a:solidFill>
                  <a:srgbClr val="53687D"/>
                </a:solidFill>
                <a:latin typeface="DejaVu Sans"/>
              </a:defRPr>
            </a:pPr>
            <a:r>
              <a:t>Narx, limit va xizmat nomlarining amaldagi holati rasmiy hujjatlarda tekshiriladi.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