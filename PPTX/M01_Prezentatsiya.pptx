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aziz talabalar. Bugungi ma’ruzamiz «Bulutli hisoblash texnologiyalariga kirish» mavzusiga bag‘ishlanadi. Mavzuni murakkab atamalardan emas, kundalik ehtiyojdan boshlaymiz. Universitet qabul davrida ko‘p abituriyentga xizmat ko‘rsatadi. Oddiy kunlarda esa yuklama ancha past bo‘ladi. Bulut modeli portal quvvatini talabga qarab o‘zgartirishga yordam beradi.</a:t>
            </a:r>
          </a:p>
          <a:p/>
          <a:p>
            <a:r>
              <a:t>Biz avval asosiy tushunchalarni ajratamiz, keyin ularning ishlash tartibini sxemada ko‘ramiz. Maqsad xizmat nomlarini yodlash emas, ularning qaysi vazifani bajarishini va qayerda cheklanishini tushunishdir. Inglizcha atama uchraganda uning sodda o‘zbekcha ma’nosi bilan bog‘laymiz. Slayddagi qisqa jumlalar tayanch fikrlar bo‘lib, ularning batafsil izohi ushbu ma’ruza matnida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 oltita asosiy bo‘limdan iborat. 1-bo‘limda bulutli hisoblash nima? tushuntiriladi. 2-bo‘limda bulutning besh asosiy belgisi tushuntiriladi. 3-bo‘limda rivojlanish yo‘li tushuntiriladi. 4-bo‘limda an’anaviy tizim va bulut tushuntiriladi. 5-bo‘limda afzalliklar va cheklovlar tushuntiriladi. 6-bo‘limda hisob-kitob va mas’uliyat tushuntiriladi.</a:t>
            </a:r>
          </a:p>
          <a:p/>
          <a:p>
            <a:r>
              <a:t>Har bir bo‘limda bir xil fikrlash tartibidan foydalanamiz: tushuncha nimani anglatadi, qanday ishlaydi, universitet portalida qayerda ko‘rinadi va qaysi holatda ehtiyot bo‘lish kerak. Shundan keyin umumiy sxema barcha qismlarni bir-biriga bog‘laydi. Oxirida o‘qituvchi bayon qiladigan misol, chalkash tushunchalar va yakuniy xulosalar beriladi. Bu ketma-ketlik amaliy topshiriq emas, videodarsning tushuntirish rejasidir.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Bulut — ma’lumotlar havoda saqlanadi degani emas. Uning ortida real binolar, elektr ta’minoti, tarmoq va serverlar turadi. Farqi shundaki, foydalanuvchi bu uskunalarni sotib olish o‘rniga resursdan xizmat sifatida foydalanadi.</a:t>
            </a:r>
          </a:p>
          <a:p/>
          <a:p>
            <a:r>
              <a:t>Provayder resurslar havzasini tashkil qiladi. Mijoz boshqaruv paneli yoki API orqali kerakli quvvatni ajratadi. Dastur aynan shu ajratilgan resurslarda ishlaydi.</a:t>
            </a:r>
          </a:p>
          <a:p/>
          <a:p>
            <a:r>
              <a:t>Universitet misolida buni quyidagicha tasavvur qilamiz. Universitet virtual serverni bir necha daqiqada ishga tushirishi mumkin; jismoniy serverni sotib olish va yetkazishni kutish talab qilinmaydi. Bu misolda texnik atama real vazifa bilan bog‘lanadi: resursning nomini emas, nima uchun tanlanganini tushunish muhim.</a:t>
            </a:r>
          </a:p>
          <a:p/>
          <a:p>
            <a:r>
              <a:t>E’tibor beradigan chegara ham bor. Internetdagi har qanday veb-sayt avtomatik ravishda to‘liq bulut modeli hisoblanmaydi.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NIST ta’rifida bulutni besh belgi tavsiflaydi. Talab bo‘yicha o‘ziga xizmat ko‘rsatish resurs olishni tezlashtiradi. Keng tarmoq kirishi turli qurilmalardan foydalanishni anglatadi. Umumiy havza provayder quvvatni ko‘p mijoz o‘rtasida boshqarishini bildiradi.</a:t>
            </a:r>
          </a:p>
          <a:p/>
          <a:p>
            <a:r>
              <a:t>Tez elastiklik quvvatni ko‘paytirish va kamaytirishga imkon beradi. O‘lchanadigan xizmat esa sarflangan resurs hajmini hisobga oladi. Bu belgilar birgalikda bulut modelini shakllantiradi.</a:t>
            </a:r>
          </a:p>
          <a:p/>
          <a:p>
            <a:r>
              <a:t>Universitet misolida buni quyidagicha tasavvur qilamiz. Qabul portali yuklamasi oshganda serverlar soni ko‘payadi, trafik kamayganda ortiqcha nusxalar o‘chiriladi. Bu misolda texnik atama real vazifa bilan bog‘lanadi: resursning nomini emas, nima uchun tanlanganini tushunish muhim.</a:t>
            </a:r>
          </a:p>
          <a:p/>
          <a:p>
            <a:r>
              <a:t>E’tibor beradigan chegara ham bor. Elastiklik avtomatik bo‘lishi uchun tegishli siyosat, limit va ilova arxitekturasi kerak.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Bulut birdan paydo bo‘lmagan. Dastlab katta kompyuter quvvatidan bir nechta foydalanuvchi vaqtni bo‘lishish orqali foydalangan. Internet va virtualizatsiya rivojlanishi masofadagi resursni qulay xizmatga aylantirdi.</a:t>
            </a:r>
          </a:p>
          <a:p/>
          <a:p>
            <a:r>
              <a:t>2000-yillarda ommaviy bulut xizmatlari kengaydi. Keyin konteynerlar, boshqariladigan platformalar va serverless yondashuvlar dastur joylashtirishni yanada soddalashtirdi.</a:t>
            </a:r>
          </a:p>
          <a:p/>
          <a:p>
            <a:r>
              <a:t>Universitet misolida buni quyidagicha tasavvur qilamiz. Avval universitet har bir tizim uchun alohida server ajratgan bo‘lsa, keyin bitta kuchli serverda bir nechta virtual mashina ishlatishi mumkin bo‘ldi. Bu misolda texnik atama real vazifa bilan bog‘lanadi: resursning nomini emas, nima uchun tanlanganini tushunish muhim.</a:t>
            </a:r>
          </a:p>
          <a:p/>
          <a:p>
            <a:r>
              <a:t>E’tibor beradigan chegara ham bor. Bu bosqichlar bir-birini butunlay almashtirmaydi: bugun ham jismoniy server, virtual mashina va konteyner birga ishlaydi.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An’anaviy modelda tashkilot uskuna, joy, sovitish va xizmat ko‘rsatishga mas’ul bo‘ladi. Bulutda shu ishlarning bir qismi provayderga o‘tadi. Lekin ilova, ma’lumot va ruxsatlarni to‘g‘ri boshqarish mijoz zimmasida qoladi.</a:t>
            </a:r>
          </a:p>
          <a:p/>
          <a:p>
            <a:r>
              <a:t>Mahalliy tizim uchun quvvat odatda oldindan rejalashtiriladi. Bulutda esa resurs tezroq ajratiladi va foydalanish ko‘rsatkichlari asosida qayta ko‘rib chiqiladi.</a:t>
            </a:r>
          </a:p>
          <a:p/>
          <a:p>
            <a:r>
              <a:t>Universitet misolida buni quyidagicha tasavvur qilamiz. Mahalliy server kam ishlayotgan bo‘lsa ham xarajat davom etadi. Bulutdagi keraksiz virtual serverni o‘chirish hisoblash xarajatini kamaytirishi mumkin. Bu misolda texnik atama real vazifa bilan bog‘lanadi: resursning nomini emas, nima uchun tanlanganini tushunish muhim.</a:t>
            </a:r>
          </a:p>
          <a:p/>
          <a:p>
            <a:r>
              <a:t>E’tibor beradigan chegara ham bor. O‘chirilgan server diski, zaxirasi yoki statik IP manzili uchun to‘lov qolishi mumkin.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Bulutning foydasi tez ishga tushirish, turli hududlarda xizmat ko‘rsatish va katta boshlang‘ich xarajatni kamaytirishda ko‘rinadi. Cheklovlar esa tarmoqka bog‘liqlik, ma’lumot joylashuvi, xarajat nazorati va provayderga qaramlik bilan bog‘liq.</a:t>
            </a:r>
          </a:p>
          <a:p/>
          <a:p>
            <a:r>
              <a:t>Tanlashda faqat server narxi emas, trafik, saqlash, litsenziya, kuzatuv va xodimlar vaqti ham hisobga olinadi. Talabni tushunmasdan ko‘chirish foyda bermasligi mumkin.</a:t>
            </a:r>
          </a:p>
          <a:p/>
          <a:p>
            <a:r>
              <a:t>Universitet misolida buni quyidagicha tasavvur qilamiz. Fayllari juda ko‘p portalda tashqariga uzatiladigan trafik ayrim hisoblash resurslaridan qimmatroq tushishi mumkin. Bu misolda texnik atama real vazifa bilan bog‘lanadi: resursning nomini emas, nima uchun tanlanganini tushunish muhim.</a:t>
            </a:r>
          </a:p>
          <a:p/>
          <a:p>
            <a:r>
              <a:t>E’tibor beradigan chegara ham bor. Bulut har doim arzonroq yoki xavfsizroq degan mutlaq xulosa noto‘g‘ri.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Bulut xizmatlari ko‘pincha foydalanishga qarab hisoblanadi, lekin ayrim xizmatlarda minimal to‘lov yoki uzoq muddatli majburiyat bor. Shuning uchun jamoa resurs egasi va budjet chegarasini oldindan belgilashi kerak.</a:t>
            </a:r>
          </a:p>
          <a:p/>
          <a:p>
            <a:r>
              <a:t>Teglar yordamida xarajat loyiha bo‘yicha ajratiladi. Budjet ogohlantirishi sarfni ko‘rsatadi. Monitoring esa qaysi resurs ortiqcha yoki yetishmayotganini aniqlaydi.</a:t>
            </a:r>
          </a:p>
          <a:p/>
          <a:p>
            <a:r>
              <a:t>Universitet misolida buni quyidagicha tasavvur qilamiz. Universitet test serverini faqat ish vaqtida yoqib, kundalik sarfni kuzatadi. Ma’lumotlarning zaxirasi alohida siyosat bilan saqlanadi. Bu misolda texnik atama real vazifa bilan bog‘lanadi: resursning nomini emas, nima uchun tanlanganini tushunish muhim.</a:t>
            </a:r>
          </a:p>
          <a:p/>
          <a:p>
            <a:r>
              <a:t>E’tibor beradigan chegara ham bor. Budjet ogohlantirishi odatda resurslarni avtomatik to‘xtatmaydi; bunga alohida avtomatlashtirish kerak.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 mavzuni yaxlit sxemada ko‘ramiz. To‘rtburchaklar asosiy komponentlarni, o‘qlar esa ma’lumot, murojaat yoki boshqaruv bog‘lanishini ko‘rsatadi. Bu soddalashtirilgan ta’lim sxemasi: unda barcha xavfsizlik qoidalari, ichki protokollar va zaxira komponentlari alohida chizilmagan.</a:t>
            </a:r>
          </a:p>
          <a:p/>
          <a:p>
            <a:r>
              <a:t>«Foydalanuvchi» bilan «Tarmoq / API» o‘rtasida sxemada bog‘lanish ko‘rsatilgan. «Tarmoq / API» bilan «Hisoblash» o‘rtasida sxemada bog‘lanish ko‘rsatilgan. «Tarmoq / API» bilan «Saqlash» o‘rtasida sxemada bog‘lanish ko‘rsatilgan. «Provayder boshqaruvi» bilan «Hisoblash» o‘rtasida sxemada bog‘lanish ko‘rsatilgan. «Provayder boshqaruvi» bilan «Saqlash» o‘rtasida sxemada bog‘lanish ko‘rsatilgan.</a:t>
            </a:r>
          </a:p>
          <a:p/>
          <a:p>
            <a:r>
              <a:t>Bu bog‘lanishlarni barcha xizmatlarda bir xil buyruq yoki bir xil fizik kabel deb tushunmaymiz. Ayrim o‘qlar bajarilish ketma-ketligini, ayrimlari resursni boshqarish yoki unga kirish aloqasini anglatadi. Tez elastiklik quvvatni ko‘paytirish va kamaytirishga imkon beradi. O‘lchanadigan xizmat esa sarflangan resurs hajmini hisobga oladi. Bu belgilar birgalikda bulut modelini shakllantiradi.</a:t>
            </a:r>
          </a:p>
          <a:p/>
          <a:p>
            <a:r>
              <a:t>Sxemaning asosiy foydasi mas’uliyatlarni ajratib ko‘rsatishdir. Fayllari juda ko‘p portalda tashqariga uzatiladigan trafik ayrim hisoblash resurslaridan qimmatroq tushishi mumkin. Bir qismdagi o‘zgarish boshqasiga qanday ta’sir qilishini ko‘rish orqali murakkab tizimni kichik va tushunarli qismlarga ajratamiz.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Keling, nazariyani bitta izchil vaziyat bilan bog‘laymiz. Universitet qabul davrida ko‘p abituriyentga xizmat ko‘rsatadi. Oddiy kunlarda esa yuklama ancha past bo‘ladi. Bulut modeli portal quvvatini talabga qarab o‘zgartirishga yordam beradi.</a:t>
            </a:r>
          </a:p>
          <a:p/>
          <a:p>
            <a:r>
              <a:t>Avval ehtiyoj aniqlanadi: kim tizimdan foydalanadi, qaysi ma’lumot bilan ishlanadi va qanday natija kutiladi. Universitet virtual serverni bir necha daqiqada ishga tushirishi mumkin; jismoniy serverni sotib olish va yetkazishni kutish talab qilinmaydi. Keyin texnik qismlar shu talabga mos tanlanadi. Avval universitet har bir tizim uchun alohida server ajratgan bo‘lsa, keyin bitta kuchli serverda bir nechta virtual mashina ishlatishi mumkin bo‘ldi.</a:t>
            </a:r>
          </a:p>
          <a:p/>
          <a:p>
            <a:r>
              <a:t>Ishlash jarayonida faqat muvaffaqiyatli holat emas, xato va cheklovlar ham hisobga olinadi. O‘chirilgan server diski, zaxirasi yoki statik IP manzili uchun to‘lov qolishi mumkin. Shu sababli jamoa talabni, ruxsatni va nosozlikdagi xatti-harakatni oldindan belgilaydi. Universitet test serverini faqat ish vaqtida yoqib, kundalik sarfni kuzatadi. Ma’lumotlarning zaxirasi alohida siyosat bilan saqlanadi.</a:t>
            </a:r>
          </a:p>
          <a:p/>
          <a:p>
            <a:r>
              <a:t>Misolning xulosasi shuki, texnologiya alohida maqsad emas. U talabaga kerakli xizmatni sodda, xavfsiz va barqaror yetkazishga xizmat qiladi. Slayddagi tayanch qismlar ishni rejalashga yordam beradi; haqiqiy joylashtirishda esa aniq konfiguratsiya va amaldagi hujjatlar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 to‘g‘ri tushunish uchun uchta chegarani qayta ajratamiz.</a:t>
            </a:r>
          </a:p>
          <a:p/>
          <a:p>
            <a:r>
              <a:t>1. Internetdagi har qanday veb-sayt avtomatik ravishda to‘liq bulut modeli hisoblanmaydi. To‘g‘ri talqin quyidagicha: Bulut — ma’lumotlar havoda saqlanadi degani emas. Uning ortida real binolar, elektr ta’minoti, tarmoq va serverlar turadi. Farqi shundaki, foydalanuvchi bu uskunalarni sotib olish o‘rniga resursdan xizmat sifatida foydalanadi.</a:t>
            </a:r>
          </a:p>
          <a:p/>
          <a:p>
            <a:r>
              <a:t>2. O‘chirilgan server diski, zaxirasi yoki statik IP manzili uchun to‘lov qolishi mumkin. To‘g‘ri talqin quyidagicha: An’anaviy modelda tashkilot uskuna, joy, sovitish va xizmat ko‘rsatishga mas’ul bo‘ladi. Bulutda shu ishlarning bir qismi provayderga o‘tadi. Lekin ilova, ma’lumot va ruxsatlarni to‘g‘ri boshqarish mijoz zimmasida qoladi.</a:t>
            </a:r>
          </a:p>
          <a:p/>
          <a:p>
            <a:r>
              <a:t>3. Budjet ogohlantirishi odatda resurslarni avtomatik to‘xtatmaydi; bunga alohida avtomatlashtirish kerak. To‘g‘ri talqin quyidagicha: Bulut xizmatlari ko‘pincha foydalanishga qarab hisoblanadi, lekin ayrim xizmatlarda minimal to‘lov yoki uzoq muddatli majburiyat bor. Shuning uchun jamoa resurs egasi va budjet chegarasini oldindan belgilashi kerak.</a:t>
            </a:r>
          </a:p>
          <a:p/>
          <a:p>
            <a:r>
              <a:t>Bu izohlar texnologiyani rad etish uchun emas, undan o‘rinli foydalanish uchun kerak. Ta’rif, amaliy vazifa va shart birga o‘qilgandagina to‘g‘ri xulosa paydo bo‘ladi. Shuning uchun xizmat nomi yoki bitta imkoniyatga qarab butun tizim haqida umumiy hukm chiqarmaymiz.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Bugungi ma’ruzani yakunlaymiz. Hisoblash resursidan xizmat sifatida foydalanish — mavzuning umumiy mazmunini ifodalaydi.</a:t>
            </a:r>
          </a:p>
          <a:p/>
          <a:p>
            <a:r>
              <a:t>Asosiy tayanch fikr: Server, saqlash va tarmoq — talab bo‘yicha xizmat. Provayder resurslar havzasini tashkil qiladi. Mijoz boshqaruv paneli yoki API orqali kerakli quvvatni ajratadi. Dastur aynan shu ajratilgan resurslarda ishlaydi.</a:t>
            </a:r>
          </a:p>
          <a:p/>
          <a:p>
            <a:r>
              <a:t>Asosiy tayanch fikr: Vaqtni bo‘lishish → virtualizatsiya → ommaviy bulut. 2000-yillarda ommaviy bulut xizmatlari kengaydi. Keyin konteynerlar, boshqariladigan platformalar va serverless yondashuvlar dastur joylashtirishni yanada soddalashtirdi.</a:t>
            </a:r>
          </a:p>
          <a:p/>
          <a:p>
            <a:r>
              <a:t>Asosiy tayanch fikr: Tezlik va moslashuvchanlik — boshqaruv bilan birga. Tanlashda faqat server narxi emas, trafik, saqlash, litsenziya, kuzatuv va xodimlar vaqti ham hisobga olinadi. Talabni tushunmasdan ko‘chirish foyda bermasligi mumkin.</a:t>
            </a:r>
          </a:p>
          <a:p/>
          <a:p>
            <a:r>
              <a:t>Barcha bo‘limlarni universitet portali misoli orqali bog‘ladik. Endi atamalarni alohida so‘z sifatida emas, tizimdagi aniq vazifa sifatida ko‘rish mumkin. Arxitektura tanlashda talab, cheklov, xavfsizlik va xarajat birgalikda baholanadi. Mavzuni takrorlashda avval ta’rifni, keyin sxemani, so‘ng misol va chegaralarni ko‘zdan kechirish foydali. E’tiboringiz uchun rahmat.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mavzu foydalanuvchi taqdim etgan BTST206 sillabusidagi tegishli ma’ruza bo‘limi asosida tuzildi. Slaydda mavzuni chuqurroq o‘qish uchun rasmiy hujjatlarga havolalar ko‘rsatilgan. Xizmatlar yangilanib boradi, shuning uchun amaliy ish oldidan tanlangan versiya, region, tarif va limitlar tekshiriladi. Bu ma’ruzada maqsad o‘zgaruvchan raqamlarni yodlash emas, barqaror tamoyillarni tushunishdir.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ec-1c8f91bc-6381-4745-8533-c57166497063.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516636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94360"/>
            <a:ext cx="594360" cy="73152"/>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96112"/>
            <a:ext cx="4480560" cy="457200"/>
          </a:xfrm>
          <a:prstGeom prst="rect">
            <a:avLst/>
          </a:prstGeom>
          <a:noFill/>
        </p:spPr>
        <p:txBody>
          <a:bodyPr wrap="square" lIns="27432" rIns="27432" tIns="18288" bIns="0">
            <a:spAutoFit/>
          </a:bodyPr>
          <a:lstStyle/>
          <a:p>
            <a:pPr>
              <a:spcAft>
                <a:spcPts val="1000"/>
              </a:spcAft>
              <a:defRPr sz="1700" b="1">
                <a:solidFill>
                  <a:srgbClr val="1678D2"/>
                </a:solidFill>
                <a:latin typeface="DejaVu Sans"/>
              </a:defRPr>
            </a:pPr>
            <a:r>
              <a:t>M01  /  BTST206</a:t>
            </a:r>
          </a:p>
        </p:txBody>
      </p:sp>
      <p:sp>
        <p:nvSpPr>
          <p:cNvPr id="6" name="TextBox 5"/>
          <p:cNvSpPr txBox="1"/>
          <p:nvPr/>
        </p:nvSpPr>
        <p:spPr>
          <a:xfrm>
            <a:off x="548640" y="1737360"/>
            <a:ext cx="4480560" cy="2788920"/>
          </a:xfrm>
          <a:prstGeom prst="rect">
            <a:avLst/>
          </a:prstGeom>
          <a:noFill/>
        </p:spPr>
        <p:txBody>
          <a:bodyPr wrap="square" lIns="27432" rIns="27432" tIns="18288" bIns="0">
            <a:spAutoFit/>
          </a:bodyPr>
          <a:lstStyle/>
          <a:p>
            <a:pPr>
              <a:spcAft>
                <a:spcPts val="1000"/>
              </a:spcAft>
              <a:defRPr sz="3000" b="1">
                <a:solidFill>
                  <a:srgbClr val="15365B"/>
                </a:solidFill>
                <a:latin typeface="DejaVu Sans"/>
              </a:defRPr>
            </a:pPr>
            <a:r>
              <a:t>Bulutli hisoblash texnologiyalariga kirish</a:t>
            </a:r>
          </a:p>
        </p:txBody>
      </p:sp>
      <p:sp>
        <p:nvSpPr>
          <p:cNvPr id="7" name="TextBox 6"/>
          <p:cNvSpPr txBox="1"/>
          <p:nvPr/>
        </p:nvSpPr>
        <p:spPr>
          <a:xfrm>
            <a:off x="548640" y="4800600"/>
            <a:ext cx="4434840" cy="914400"/>
          </a:xfrm>
          <a:prstGeom prst="rect">
            <a:avLst/>
          </a:prstGeom>
          <a:noFill/>
        </p:spPr>
        <p:txBody>
          <a:bodyPr wrap="square" lIns="27432" rIns="27432" tIns="18288" bIns="0">
            <a:spAutoFit/>
          </a:bodyPr>
          <a:lstStyle/>
          <a:p>
            <a:pPr>
              <a:spcAft>
                <a:spcPts val="1000"/>
              </a:spcAft>
              <a:defRPr sz="1900" b="0">
                <a:solidFill>
                  <a:srgbClr val="53687D"/>
                </a:solidFill>
                <a:latin typeface="DejaVu Sans"/>
              </a:defRPr>
            </a:pPr>
            <a:r>
              <a:t>Hisoblash resursidan xizmat sifatida foydalanish</a:t>
            </a:r>
          </a:p>
        </p:txBody>
      </p:sp>
      <p:sp>
        <p:nvSpPr>
          <p:cNvPr id="8" name="TextBox 7"/>
          <p:cNvSpPr txBox="1"/>
          <p:nvPr/>
        </p:nvSpPr>
        <p:spPr>
          <a:xfrm>
            <a:off x="548640" y="6217920"/>
            <a:ext cx="4480560" cy="365760"/>
          </a:xfrm>
          <a:prstGeom prst="rect">
            <a:avLst/>
          </a:prstGeom>
          <a:noFill/>
        </p:spPr>
        <p:txBody>
          <a:bodyPr wrap="square" lIns="27432" rIns="27432" tIns="18288" bIns="0">
            <a:spAutoFit/>
          </a:bodyPr>
          <a:lstStyle/>
          <a:p>
            <a:pPr>
              <a:spcAft>
                <a:spcPts val="1000"/>
              </a:spcAft>
              <a:defRPr sz="1100" b="0">
                <a:solidFill>
                  <a:srgbClr val="1678D2"/>
                </a:solidFill>
                <a:latin typeface="DejaVu Sans"/>
              </a:defRPr>
            </a:pPr>
            <a:r>
              <a:t>2027–2028  •  VIDEOMA’RUZA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M01 · O‘RGANISH TARTIBI</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Bugungi mavzuning yo‘l xaritasi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02</a:t>
            </a:r>
          </a:p>
        </p:txBody>
      </p:sp>
      <p:sp>
        <p:nvSpPr>
          <p:cNvPr id="8" name="Rounded Rectangle 7"/>
          <p:cNvSpPr/>
          <p:nvPr/>
        </p:nvSpPr>
        <p:spPr>
          <a:xfrm>
            <a:off x="594360" y="1938528"/>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84832"/>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01</a:t>
            </a:r>
          </a:p>
        </p:txBody>
      </p:sp>
      <p:sp>
        <p:nvSpPr>
          <p:cNvPr id="10" name="TextBox 9"/>
          <p:cNvSpPr txBox="1"/>
          <p:nvPr/>
        </p:nvSpPr>
        <p:spPr>
          <a:xfrm>
            <a:off x="1380744" y="2057400"/>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Bulutli hisoblash nima?</a:t>
            </a:r>
          </a:p>
        </p:txBody>
      </p:sp>
      <p:sp>
        <p:nvSpPr>
          <p:cNvPr id="11" name="Rounded Rectangle 10"/>
          <p:cNvSpPr/>
          <p:nvPr/>
        </p:nvSpPr>
        <p:spPr>
          <a:xfrm>
            <a:off x="6263640" y="1938528"/>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84832"/>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02</a:t>
            </a:r>
          </a:p>
        </p:txBody>
      </p:sp>
      <p:sp>
        <p:nvSpPr>
          <p:cNvPr id="13" name="TextBox 12"/>
          <p:cNvSpPr txBox="1"/>
          <p:nvPr/>
        </p:nvSpPr>
        <p:spPr>
          <a:xfrm>
            <a:off x="7050024" y="2057400"/>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Bulutning besh asosiy belgisi</a:t>
            </a:r>
          </a:p>
        </p:txBody>
      </p:sp>
      <p:sp>
        <p:nvSpPr>
          <p:cNvPr id="14" name="Rounded Rectangle 13"/>
          <p:cNvSpPr/>
          <p:nvPr/>
        </p:nvSpPr>
        <p:spPr>
          <a:xfrm>
            <a:off x="594360" y="3246120"/>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92424"/>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03</a:t>
            </a:r>
          </a:p>
        </p:txBody>
      </p:sp>
      <p:sp>
        <p:nvSpPr>
          <p:cNvPr id="16" name="TextBox 15"/>
          <p:cNvSpPr txBox="1"/>
          <p:nvPr/>
        </p:nvSpPr>
        <p:spPr>
          <a:xfrm>
            <a:off x="1380744" y="3364991"/>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Rivojlanish yo‘li</a:t>
            </a:r>
          </a:p>
        </p:txBody>
      </p:sp>
      <p:sp>
        <p:nvSpPr>
          <p:cNvPr id="17" name="Rounded Rectangle 16"/>
          <p:cNvSpPr/>
          <p:nvPr/>
        </p:nvSpPr>
        <p:spPr>
          <a:xfrm>
            <a:off x="6263640" y="3246120"/>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392424"/>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04</a:t>
            </a:r>
          </a:p>
        </p:txBody>
      </p:sp>
      <p:sp>
        <p:nvSpPr>
          <p:cNvPr id="19" name="TextBox 18"/>
          <p:cNvSpPr txBox="1"/>
          <p:nvPr/>
        </p:nvSpPr>
        <p:spPr>
          <a:xfrm>
            <a:off x="7050024" y="3364991"/>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An’anaviy tizim va bulut</a:t>
            </a:r>
          </a:p>
        </p:txBody>
      </p:sp>
      <p:sp>
        <p:nvSpPr>
          <p:cNvPr id="20" name="Rounded Rectangle 19"/>
          <p:cNvSpPr/>
          <p:nvPr/>
        </p:nvSpPr>
        <p:spPr>
          <a:xfrm>
            <a:off x="594360" y="4553712"/>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700016"/>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05</a:t>
            </a:r>
          </a:p>
        </p:txBody>
      </p:sp>
      <p:sp>
        <p:nvSpPr>
          <p:cNvPr id="22" name="TextBox 21"/>
          <p:cNvSpPr txBox="1"/>
          <p:nvPr/>
        </p:nvSpPr>
        <p:spPr>
          <a:xfrm>
            <a:off x="1380744" y="4672584"/>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Afzalliklar va cheklovlar</a:t>
            </a:r>
          </a:p>
        </p:txBody>
      </p:sp>
      <p:sp>
        <p:nvSpPr>
          <p:cNvPr id="23" name="Rounded Rectangle 22"/>
          <p:cNvSpPr/>
          <p:nvPr/>
        </p:nvSpPr>
        <p:spPr>
          <a:xfrm>
            <a:off x="6263640" y="4553712"/>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4700016"/>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06</a:t>
            </a:r>
          </a:p>
        </p:txBody>
      </p:sp>
      <p:sp>
        <p:nvSpPr>
          <p:cNvPr id="25" name="TextBox 24"/>
          <p:cNvSpPr txBox="1"/>
          <p:nvPr/>
        </p:nvSpPr>
        <p:spPr>
          <a:xfrm>
            <a:off x="7050024" y="4672584"/>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Hisob-kitob va mas’uliyat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M01 · ASOSIY TUSHUNCHA 1/6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Bulutli hisoblash nima?</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03</a:t>
            </a:r>
          </a:p>
        </p:txBody>
      </p:sp>
      <p:sp>
        <p:nvSpPr>
          <p:cNvPr id="8" name="TextBox 7"/>
          <p:cNvSpPr txBox="1"/>
          <p:nvPr/>
        </p:nvSpPr>
        <p:spPr>
          <a:xfrm>
            <a:off x="594360" y="1865376"/>
            <a:ext cx="7086600" cy="1143000"/>
          </a:xfrm>
          <a:prstGeom prst="rect">
            <a:avLst/>
          </a:prstGeom>
          <a:noFill/>
        </p:spPr>
        <p:txBody>
          <a:bodyPr wrap="square" lIns="27432" rIns="27432" tIns="18288" bIns="0">
            <a:spAutoFit/>
          </a:bodyPr>
          <a:lstStyle/>
          <a:p>
            <a:pPr>
              <a:spcAft>
                <a:spcPts val="1000"/>
              </a:spcAft>
              <a:defRPr sz="3000" b="1">
                <a:solidFill>
                  <a:srgbClr val="1678D2"/>
                </a:solidFill>
                <a:latin typeface="DejaVu Sans"/>
              </a:defRPr>
            </a:pPr>
            <a:r>
              <a:t>Server, saqlash va tarmoq — talab bo‘yicha xizmat.</a:t>
            </a:r>
          </a:p>
        </p:txBody>
      </p:sp>
      <p:sp>
        <p:nvSpPr>
          <p:cNvPr id="9" name="Rounded Rectangle 8"/>
          <p:cNvSpPr/>
          <p:nvPr/>
        </p:nvSpPr>
        <p:spPr>
          <a:xfrm>
            <a:off x="594360" y="3337560"/>
            <a:ext cx="7040880" cy="203911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38728"/>
            <a:ext cx="6556248" cy="178308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Universitet virtual serverni bir necha daqiqada ishga tushirishi mumkin; jismoniy serverni sotib olish va yetkazishni kutish talab qilinmaydi.</a:t>
            </a:r>
          </a:p>
        </p:txBody>
      </p:sp>
      <p:sp>
        <p:nvSpPr>
          <p:cNvPr id="11" name="Rounded Rectangle 10"/>
          <p:cNvSpPr/>
          <p:nvPr/>
        </p:nvSpPr>
        <p:spPr>
          <a:xfrm>
            <a:off x="8183879" y="4965192"/>
            <a:ext cx="3063240" cy="14630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8321040" y="3120390"/>
            <a:ext cx="1042416" cy="217170"/>
          </a:xfrm>
          <a:custGeom>
            <a:avLst/>
            <a:gdLst/>
            <a:ahLst/>
            <a:cxnLst/>
            <a:rect l="l" t="t" r="r" b="b"/>
            <a:pathLst>
              <a:path w="1042416" h="217170">
                <a:moveTo>
                  <a:pt x="0" y="217170"/>
                </a:moveTo>
                <a:lnTo>
                  <a:pt x="825246" y="217170"/>
                </a:lnTo>
                <a:lnTo>
                  <a:pt x="1042416" y="0"/>
                </a:lnTo>
                <a:lnTo>
                  <a:pt x="21717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9146286" y="3120390"/>
            <a:ext cx="217170" cy="1780793"/>
          </a:xfrm>
          <a:custGeom>
            <a:avLst/>
            <a:gdLst/>
            <a:ahLst/>
            <a:cxnLst/>
            <a:rect l="l" t="t" r="r" b="b"/>
            <a:pathLst>
              <a:path w="217170" h="1780793">
                <a:moveTo>
                  <a:pt x="0" y="217170"/>
                </a:moveTo>
                <a:lnTo>
                  <a:pt x="217170" y="0"/>
                </a:lnTo>
                <a:lnTo>
                  <a:pt x="217170" y="1563624"/>
                </a:lnTo>
                <a:lnTo>
                  <a:pt x="0" y="178079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0" y="3337560"/>
            <a:ext cx="825246" cy="1563624"/>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407908" y="349392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94368" y="353735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07908" y="373715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94368" y="378058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07908" y="398038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94368" y="402381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07908" y="422361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94368" y="426704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07908" y="4466844"/>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94368" y="4510278"/>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9628632" y="2811779"/>
            <a:ext cx="1207008" cy="251460"/>
          </a:xfrm>
          <a:custGeom>
            <a:avLst/>
            <a:gdLst/>
            <a:ahLst/>
            <a:cxnLst/>
            <a:rect l="l" t="t" r="r" b="b"/>
            <a:pathLst>
              <a:path w="1207008" h="251460">
                <a:moveTo>
                  <a:pt x="0" y="251460"/>
                </a:moveTo>
                <a:lnTo>
                  <a:pt x="955548" y="251460"/>
                </a:lnTo>
                <a:lnTo>
                  <a:pt x="1207008" y="0"/>
                </a:lnTo>
                <a:lnTo>
                  <a:pt x="25146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10584180" y="2811779"/>
            <a:ext cx="251460" cy="2061973"/>
          </a:xfrm>
          <a:custGeom>
            <a:avLst/>
            <a:gdLst/>
            <a:ahLst/>
            <a:cxnLst/>
            <a:rect l="l" t="t" r="r" b="b"/>
            <a:pathLst>
              <a:path w="251460" h="2061973">
                <a:moveTo>
                  <a:pt x="0" y="251460"/>
                </a:moveTo>
                <a:lnTo>
                  <a:pt x="251460" y="0"/>
                </a:lnTo>
                <a:lnTo>
                  <a:pt x="251460" y="1810513"/>
                </a:lnTo>
                <a:lnTo>
                  <a:pt x="0" y="206197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28632" y="3063239"/>
            <a:ext cx="955547" cy="1810512"/>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29215" y="324429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292486" y="329458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29215" y="352592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292486" y="357621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29215" y="380756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292486" y="385785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729215" y="408919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92486" y="413948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729215" y="437083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292486" y="4421124"/>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loud 37"/>
          <p:cNvSpPr/>
          <p:nvPr/>
        </p:nvSpPr>
        <p:spPr>
          <a:xfrm>
            <a:off x="8668512" y="2103120"/>
            <a:ext cx="2286000" cy="1188720"/>
          </a:xfrm>
          <a:prstGeom prst="cloud">
            <a:avLst/>
          </a:prstGeom>
          <a:solidFill>
            <a:srgbClr val="D8F1FF"/>
          </a:solidFill>
          <a:ln>
            <a:solidFill>
              <a:srgbClr val="5CC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M01 · ASOSIY TUSHUNCHA 2/6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Bulutning besh asosiy belgisi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04</a:t>
            </a:r>
          </a:p>
        </p:txBody>
      </p:sp>
      <p:sp>
        <p:nvSpPr>
          <p:cNvPr id="8" name="Rounded Rectangle 7"/>
          <p:cNvSpPr/>
          <p:nvPr/>
        </p:nvSpPr>
        <p:spPr>
          <a:xfrm>
            <a:off x="59436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QANDAY ISHLAYDI?</a:t>
            </a:r>
          </a:p>
        </p:txBody>
      </p:sp>
      <p:sp>
        <p:nvSpPr>
          <p:cNvPr id="10" name="TextBox 9"/>
          <p:cNvSpPr txBox="1"/>
          <p:nvPr/>
        </p:nvSpPr>
        <p:spPr>
          <a:xfrm>
            <a:off x="82296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Tez elastiklik quvvatni ko‘paytirish va kamaytirishga imkon beradi.</a:t>
            </a:r>
          </a:p>
        </p:txBody>
      </p:sp>
      <p:sp>
        <p:nvSpPr>
          <p:cNvPr id="11" name="Rounded Rectangle 10"/>
          <p:cNvSpPr/>
          <p:nvPr/>
        </p:nvSpPr>
        <p:spPr>
          <a:xfrm>
            <a:off x="626364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ESDA SAQLANG</a:t>
            </a:r>
          </a:p>
        </p:txBody>
      </p:sp>
      <p:sp>
        <p:nvSpPr>
          <p:cNvPr id="13" name="TextBox 12"/>
          <p:cNvSpPr txBox="1"/>
          <p:nvPr/>
        </p:nvSpPr>
        <p:spPr>
          <a:xfrm>
            <a:off x="649224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Elastiklik avtomatik bo‘lishi uchun tegishli siyosat, limit va ilova arxitekturasi kerak.</a:t>
            </a:r>
          </a:p>
        </p:txBody>
      </p:sp>
      <p:sp>
        <p:nvSpPr>
          <p:cNvPr id="14" name="TextBox 13"/>
          <p:cNvSpPr txBox="1"/>
          <p:nvPr/>
        </p:nvSpPr>
        <p:spPr>
          <a:xfrm>
            <a:off x="640080" y="5742432"/>
            <a:ext cx="10881360" cy="3657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O‘ziga xizmat • tarmoq • umumiy havza • elastiklik • o‘lchash.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M01 · ASOSIY TUSHUNCHA 3/6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Rivojlanish yo‘li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05</a:t>
            </a:r>
          </a:p>
        </p:txBody>
      </p:sp>
      <p:sp>
        <p:nvSpPr>
          <p:cNvPr id="8" name="Rectangle 7"/>
          <p:cNvSpPr/>
          <p:nvPr/>
        </p:nvSpPr>
        <p:spPr>
          <a:xfrm>
            <a:off x="594360" y="2011680"/>
            <a:ext cx="100584" cy="333756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075688"/>
            <a:ext cx="9966960" cy="1280160"/>
          </a:xfrm>
          <a:prstGeom prst="rect">
            <a:avLst/>
          </a:prstGeom>
          <a:noFill/>
        </p:spPr>
        <p:txBody>
          <a:bodyPr wrap="square" lIns="27432" rIns="27432" tIns="18288" bIns="0">
            <a:spAutoFit/>
          </a:bodyPr>
          <a:lstStyle/>
          <a:p>
            <a:pPr>
              <a:spcAft>
                <a:spcPts val="1000"/>
              </a:spcAft>
              <a:defRPr sz="3200" b="1">
                <a:solidFill>
                  <a:srgbClr val="1678D2"/>
                </a:solidFill>
                <a:latin typeface="DejaVu Sans"/>
              </a:defRPr>
            </a:pPr>
            <a:r>
              <a:t>Vaqtni bo‘lishish → virtualizatsiya → ommaviy bulut.</a:t>
            </a:r>
          </a:p>
        </p:txBody>
      </p:sp>
      <p:sp>
        <p:nvSpPr>
          <p:cNvPr id="10" name="TextBox 9"/>
          <p:cNvSpPr txBox="1"/>
          <p:nvPr/>
        </p:nvSpPr>
        <p:spPr>
          <a:xfrm>
            <a:off x="960120" y="3712463"/>
            <a:ext cx="6629400" cy="1645920"/>
          </a:xfrm>
          <a:prstGeom prst="rect">
            <a:avLst/>
          </a:prstGeom>
          <a:noFill/>
        </p:spPr>
        <p:txBody>
          <a:bodyPr wrap="square" lIns="27432" rIns="27432" tIns="18288" bIns="0">
            <a:spAutoFit/>
          </a:bodyPr>
          <a:lstStyle/>
          <a:p>
            <a:pPr>
              <a:spcAft>
                <a:spcPts val="1000"/>
              </a:spcAft>
              <a:defRPr sz="2400" b="0">
                <a:solidFill>
                  <a:srgbClr val="15365B"/>
                </a:solidFill>
                <a:latin typeface="DejaVu Sans"/>
              </a:defRPr>
            </a:pPr>
            <a:r>
              <a:t>Bulut birdan paydo bo‘lmagan.</a:t>
            </a:r>
          </a:p>
        </p:txBody>
      </p:sp>
      <p:sp>
        <p:nvSpPr>
          <p:cNvPr id="11" name="Rounded Rectangle 10"/>
          <p:cNvSpPr/>
          <p:nvPr/>
        </p:nvSpPr>
        <p:spPr>
          <a:xfrm>
            <a:off x="8366760" y="3822191"/>
            <a:ext cx="2971800" cy="133502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4114800"/>
            <a:ext cx="2514600" cy="8229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TA’RIF → MISOL</a:t>
            </a:r>
          </a:p>
          <a:p>
            <a:pPr>
              <a:spcAft>
                <a:spcPts val="1000"/>
              </a:spcAft>
              <a:defRPr sz="1800" b="1">
                <a:solidFill>
                  <a:srgbClr val="1678D2"/>
                </a:solidFill>
                <a:latin typeface="DejaVu Sans"/>
              </a:defRPr>
            </a:pPr>
            <a:r>
              <a:t>→ CHEGARA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M01 · ASOSIY TUSHUNCHA 4/6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An’anaviy tizim va bulut</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06</a:t>
            </a:r>
          </a:p>
        </p:txBody>
      </p:sp>
      <p:sp>
        <p:nvSpPr>
          <p:cNvPr id="8" name="TextBox 7"/>
          <p:cNvSpPr txBox="1"/>
          <p:nvPr/>
        </p:nvSpPr>
        <p:spPr>
          <a:xfrm>
            <a:off x="594360" y="1865376"/>
            <a:ext cx="7086600" cy="1143000"/>
          </a:xfrm>
          <a:prstGeom prst="rect">
            <a:avLst/>
          </a:prstGeom>
          <a:noFill/>
        </p:spPr>
        <p:txBody>
          <a:bodyPr wrap="square" lIns="27432" rIns="27432" tIns="18288" bIns="0">
            <a:spAutoFit/>
          </a:bodyPr>
          <a:lstStyle/>
          <a:p>
            <a:pPr>
              <a:spcAft>
                <a:spcPts val="1000"/>
              </a:spcAft>
              <a:defRPr sz="3000" b="1">
                <a:solidFill>
                  <a:srgbClr val="1678D2"/>
                </a:solidFill>
                <a:latin typeface="DejaVu Sans"/>
              </a:defRPr>
            </a:pPr>
            <a:r>
              <a:t>Sotib olingan quvvat ↔ xizmat sifatidagi quvvat.</a:t>
            </a:r>
          </a:p>
        </p:txBody>
      </p:sp>
      <p:sp>
        <p:nvSpPr>
          <p:cNvPr id="9" name="Rounded Rectangle 8"/>
          <p:cNvSpPr/>
          <p:nvPr/>
        </p:nvSpPr>
        <p:spPr>
          <a:xfrm>
            <a:off x="594360" y="3337560"/>
            <a:ext cx="7040880" cy="203911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38728"/>
            <a:ext cx="6556248" cy="178308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Mahalliy server kam ishlayotgan bo‘lsa ham xarajat davom etadi.</a:t>
            </a:r>
          </a:p>
        </p:txBody>
      </p:sp>
      <p:sp>
        <p:nvSpPr>
          <p:cNvPr id="11" name="Rounded Rectangle 10"/>
          <p:cNvSpPr/>
          <p:nvPr/>
        </p:nvSpPr>
        <p:spPr>
          <a:xfrm>
            <a:off x="8183879" y="4965192"/>
            <a:ext cx="3063240" cy="14630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8321040" y="3120390"/>
            <a:ext cx="1042416" cy="217170"/>
          </a:xfrm>
          <a:custGeom>
            <a:avLst/>
            <a:gdLst/>
            <a:ahLst/>
            <a:cxnLst/>
            <a:rect l="l" t="t" r="r" b="b"/>
            <a:pathLst>
              <a:path w="1042416" h="217170">
                <a:moveTo>
                  <a:pt x="0" y="217170"/>
                </a:moveTo>
                <a:lnTo>
                  <a:pt x="825246" y="217170"/>
                </a:lnTo>
                <a:lnTo>
                  <a:pt x="1042416" y="0"/>
                </a:lnTo>
                <a:lnTo>
                  <a:pt x="21717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9146286" y="3120390"/>
            <a:ext cx="217170" cy="1780793"/>
          </a:xfrm>
          <a:custGeom>
            <a:avLst/>
            <a:gdLst/>
            <a:ahLst/>
            <a:cxnLst/>
            <a:rect l="l" t="t" r="r" b="b"/>
            <a:pathLst>
              <a:path w="217170" h="1780793">
                <a:moveTo>
                  <a:pt x="0" y="217170"/>
                </a:moveTo>
                <a:lnTo>
                  <a:pt x="217170" y="0"/>
                </a:lnTo>
                <a:lnTo>
                  <a:pt x="217170" y="1563624"/>
                </a:lnTo>
                <a:lnTo>
                  <a:pt x="0" y="178079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0" y="3337560"/>
            <a:ext cx="825246" cy="1563624"/>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407908" y="349392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94368" y="353735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07908" y="373715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94368" y="378058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07908" y="398038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94368" y="402381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07908" y="422361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94368" y="426704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07908" y="4466844"/>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94368" y="4510278"/>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9628632" y="2811779"/>
            <a:ext cx="1207008" cy="251460"/>
          </a:xfrm>
          <a:custGeom>
            <a:avLst/>
            <a:gdLst/>
            <a:ahLst/>
            <a:cxnLst/>
            <a:rect l="l" t="t" r="r" b="b"/>
            <a:pathLst>
              <a:path w="1207008" h="251460">
                <a:moveTo>
                  <a:pt x="0" y="251460"/>
                </a:moveTo>
                <a:lnTo>
                  <a:pt x="955548" y="251460"/>
                </a:lnTo>
                <a:lnTo>
                  <a:pt x="1207008" y="0"/>
                </a:lnTo>
                <a:lnTo>
                  <a:pt x="25146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10584180" y="2811779"/>
            <a:ext cx="251460" cy="2061973"/>
          </a:xfrm>
          <a:custGeom>
            <a:avLst/>
            <a:gdLst/>
            <a:ahLst/>
            <a:cxnLst/>
            <a:rect l="l" t="t" r="r" b="b"/>
            <a:pathLst>
              <a:path w="251460" h="2061973">
                <a:moveTo>
                  <a:pt x="0" y="251460"/>
                </a:moveTo>
                <a:lnTo>
                  <a:pt x="251460" y="0"/>
                </a:lnTo>
                <a:lnTo>
                  <a:pt x="251460" y="1810513"/>
                </a:lnTo>
                <a:lnTo>
                  <a:pt x="0" y="206197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28632" y="3063239"/>
            <a:ext cx="955547" cy="1810512"/>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29215" y="324429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292486" y="329458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29215" y="352592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292486" y="357621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29215" y="380756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292486" y="385785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729215" y="408919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92486" y="413948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729215" y="437083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292486" y="4421124"/>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loud 37"/>
          <p:cNvSpPr/>
          <p:nvPr/>
        </p:nvSpPr>
        <p:spPr>
          <a:xfrm>
            <a:off x="8668512" y="2103120"/>
            <a:ext cx="2286000" cy="1188720"/>
          </a:xfrm>
          <a:prstGeom prst="cloud">
            <a:avLst/>
          </a:prstGeom>
          <a:solidFill>
            <a:srgbClr val="D8F1FF"/>
          </a:solidFill>
          <a:ln>
            <a:solidFill>
              <a:srgbClr val="5CC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M01 · ASOSIY TUSHUNCHA 5/6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Afzalliklar va cheklovlar</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07</a:t>
            </a:r>
          </a:p>
        </p:txBody>
      </p:sp>
      <p:sp>
        <p:nvSpPr>
          <p:cNvPr id="8" name="Rounded Rectangle 7"/>
          <p:cNvSpPr/>
          <p:nvPr/>
        </p:nvSpPr>
        <p:spPr>
          <a:xfrm>
            <a:off x="59436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QANDAY ISHLAYDI?</a:t>
            </a:r>
          </a:p>
        </p:txBody>
      </p:sp>
      <p:sp>
        <p:nvSpPr>
          <p:cNvPr id="10" name="TextBox 9"/>
          <p:cNvSpPr txBox="1"/>
          <p:nvPr/>
        </p:nvSpPr>
        <p:spPr>
          <a:xfrm>
            <a:off x="82296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Tanlashda faqat server narxi emas, trafik, saqlash, litsenziya, kuzatuv va xodimlar vaqti ham hisobga olinadi.</a:t>
            </a:r>
          </a:p>
        </p:txBody>
      </p:sp>
      <p:sp>
        <p:nvSpPr>
          <p:cNvPr id="11" name="Rounded Rectangle 10"/>
          <p:cNvSpPr/>
          <p:nvPr/>
        </p:nvSpPr>
        <p:spPr>
          <a:xfrm>
            <a:off x="626364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ESDA SAQLANG</a:t>
            </a:r>
          </a:p>
        </p:txBody>
      </p:sp>
      <p:sp>
        <p:nvSpPr>
          <p:cNvPr id="13" name="TextBox 12"/>
          <p:cNvSpPr txBox="1"/>
          <p:nvPr/>
        </p:nvSpPr>
        <p:spPr>
          <a:xfrm>
            <a:off x="649224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Bulut har doim arzonroq yoki xavfsizroq degan mutlaq xulosa noto‘g‘ri.</a:t>
            </a:r>
          </a:p>
        </p:txBody>
      </p:sp>
      <p:sp>
        <p:nvSpPr>
          <p:cNvPr id="14" name="TextBox 13"/>
          <p:cNvSpPr txBox="1"/>
          <p:nvPr/>
        </p:nvSpPr>
        <p:spPr>
          <a:xfrm>
            <a:off x="640080" y="5742432"/>
            <a:ext cx="10881360" cy="3657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Tezlik va moslashuvchanlik — boshqaruv bilan birga.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M01 · ASOSIY TUSHUNCHA 6/6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Hisob-kitob va mas’uliyat</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08</a:t>
            </a:r>
          </a:p>
        </p:txBody>
      </p:sp>
      <p:sp>
        <p:nvSpPr>
          <p:cNvPr id="8" name="Rectangle 7"/>
          <p:cNvSpPr/>
          <p:nvPr/>
        </p:nvSpPr>
        <p:spPr>
          <a:xfrm>
            <a:off x="594360" y="2011680"/>
            <a:ext cx="100584" cy="333756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075688"/>
            <a:ext cx="9966960" cy="1280160"/>
          </a:xfrm>
          <a:prstGeom prst="rect">
            <a:avLst/>
          </a:prstGeom>
          <a:noFill/>
        </p:spPr>
        <p:txBody>
          <a:bodyPr wrap="square" lIns="27432" rIns="27432" tIns="18288" bIns="0">
            <a:spAutoFit/>
          </a:bodyPr>
          <a:lstStyle/>
          <a:p>
            <a:pPr>
              <a:spcAft>
                <a:spcPts val="1000"/>
              </a:spcAft>
              <a:defRPr sz="3200" b="1">
                <a:solidFill>
                  <a:srgbClr val="1678D2"/>
                </a:solidFill>
                <a:latin typeface="DejaVu Sans"/>
              </a:defRPr>
            </a:pPr>
            <a:r>
              <a:t>Resursni o‘lcha, egasini belgila, ortiqchasini o‘chir.</a:t>
            </a:r>
          </a:p>
        </p:txBody>
      </p:sp>
      <p:sp>
        <p:nvSpPr>
          <p:cNvPr id="10" name="TextBox 9"/>
          <p:cNvSpPr txBox="1"/>
          <p:nvPr/>
        </p:nvSpPr>
        <p:spPr>
          <a:xfrm>
            <a:off x="960120" y="3712463"/>
            <a:ext cx="6629400" cy="1645920"/>
          </a:xfrm>
          <a:prstGeom prst="rect">
            <a:avLst/>
          </a:prstGeom>
          <a:noFill/>
        </p:spPr>
        <p:txBody>
          <a:bodyPr wrap="square" lIns="27432" rIns="27432" tIns="18288" bIns="0">
            <a:spAutoFit/>
          </a:bodyPr>
          <a:lstStyle/>
          <a:p>
            <a:pPr>
              <a:spcAft>
                <a:spcPts val="1000"/>
              </a:spcAft>
              <a:defRPr sz="2400" b="0">
                <a:solidFill>
                  <a:srgbClr val="15365B"/>
                </a:solidFill>
                <a:latin typeface="DejaVu Sans"/>
              </a:defRPr>
            </a:pPr>
            <a:r>
              <a:t>Bulut xizmatlari ko‘pincha foydalanishga qarab hisoblanadi, lekin ayrim xizmatlarda minimal to‘lov yoki uzoq muddatli majburiyat bor.</a:t>
            </a:r>
          </a:p>
        </p:txBody>
      </p:sp>
      <p:sp>
        <p:nvSpPr>
          <p:cNvPr id="11" name="Rounded Rectangle 10"/>
          <p:cNvSpPr/>
          <p:nvPr/>
        </p:nvSpPr>
        <p:spPr>
          <a:xfrm>
            <a:off x="8366760" y="3822191"/>
            <a:ext cx="2971800" cy="133502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4114800"/>
            <a:ext cx="2514600" cy="8229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TA’RIF → MISOL</a:t>
            </a:r>
          </a:p>
          <a:p>
            <a:pPr>
              <a:spcAft>
                <a:spcPts val="1000"/>
              </a:spcAft>
              <a:defRPr sz="1800" b="1">
                <a:solidFill>
                  <a:srgbClr val="1678D2"/>
                </a:solidFill>
                <a:latin typeface="DejaVu Sans"/>
              </a:defRPr>
            </a:pPr>
            <a:r>
              <a:t>→ CHEGARA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M01 · ARXITEKTURA</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Texnik sxema: qismlar qanday bog‘lanadi?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09</a:t>
            </a:r>
          </a:p>
        </p:txBody>
      </p:sp>
      <p:cxnSp>
        <p:nvCxnSpPr>
          <p:cNvPr id="8" name="Connector 7"/>
          <p:cNvCxnSpPr/>
          <p:nvPr/>
        </p:nvCxnSpPr>
        <p:spPr>
          <a:xfrm>
            <a:off x="3474720" y="2761488"/>
            <a:ext cx="777240" cy="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995160" y="2761488"/>
            <a:ext cx="777240" cy="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114800" y="3246120"/>
            <a:ext cx="1508760" cy="123444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8046720" y="3246120"/>
            <a:ext cx="1097280" cy="123444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743200" y="4956048"/>
            <a:ext cx="6675120" cy="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1520" y="2286000"/>
            <a:ext cx="2743200" cy="960120"/>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50592"/>
            <a:ext cx="2505456" cy="685800"/>
          </a:xfrm>
          <a:prstGeom prst="rect">
            <a:avLst/>
          </a:prstGeom>
          <a:noFill/>
        </p:spPr>
        <p:txBody>
          <a:bodyPr wrap="square" lIns="27432" rIns="27432" tIns="18288" bIns="0">
            <a:spAutoFit/>
          </a:bodyPr>
          <a:lstStyle/>
          <a:p>
            <a:pPr>
              <a:spcAft>
                <a:spcPts val="1000"/>
              </a:spcAft>
              <a:defRPr sz="1800" b="1">
                <a:solidFill>
                  <a:srgbClr val="FFFFFF"/>
                </a:solidFill>
                <a:latin typeface="DejaVu Sans"/>
              </a:defRPr>
            </a:pPr>
            <a:r>
              <a:t>Foydalanuvchi</a:t>
            </a:r>
          </a:p>
        </p:txBody>
      </p:sp>
      <p:sp>
        <p:nvSpPr>
          <p:cNvPr id="15" name="Rounded Rectangle 14"/>
          <p:cNvSpPr/>
          <p:nvPr/>
        </p:nvSpPr>
        <p:spPr>
          <a:xfrm>
            <a:off x="4251960" y="228600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0832" y="245059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Tarmoq / API</a:t>
            </a:r>
          </a:p>
        </p:txBody>
      </p:sp>
      <p:sp>
        <p:nvSpPr>
          <p:cNvPr id="17" name="Rounded Rectangle 16"/>
          <p:cNvSpPr/>
          <p:nvPr/>
        </p:nvSpPr>
        <p:spPr>
          <a:xfrm>
            <a:off x="7772400" y="228600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91272" y="245059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Hisoblash</a:t>
            </a:r>
          </a:p>
        </p:txBody>
      </p:sp>
      <p:sp>
        <p:nvSpPr>
          <p:cNvPr id="19" name="Rounded Rectangle 18"/>
          <p:cNvSpPr/>
          <p:nvPr/>
        </p:nvSpPr>
        <p:spPr>
          <a:xfrm>
            <a:off x="2743200" y="448056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62072" y="464515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Saqlash</a:t>
            </a:r>
          </a:p>
        </p:txBody>
      </p:sp>
      <p:sp>
        <p:nvSpPr>
          <p:cNvPr id="21" name="Rounded Rectangle 20"/>
          <p:cNvSpPr/>
          <p:nvPr/>
        </p:nvSpPr>
        <p:spPr>
          <a:xfrm>
            <a:off x="6675120" y="448056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93992" y="464515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Provayder boshqaruvi</a:t>
            </a:r>
          </a:p>
        </p:txBody>
      </p:sp>
      <p:sp>
        <p:nvSpPr>
          <p:cNvPr id="23" name="TextBox 22"/>
          <p:cNvSpPr txBox="1"/>
          <p:nvPr/>
        </p:nvSpPr>
        <p:spPr>
          <a:xfrm>
            <a:off x="777240" y="5806440"/>
            <a:ext cx="10789920" cy="347472"/>
          </a:xfrm>
          <a:prstGeom prst="rect">
            <a:avLst/>
          </a:prstGeom>
          <a:noFill/>
        </p:spPr>
        <p:txBody>
          <a:bodyPr wrap="square" lIns="27432" rIns="27432" tIns="18288" bIns="0">
            <a:spAutoFit/>
          </a:bodyPr>
          <a:lstStyle/>
          <a:p>
            <a:pPr>
              <a:spcAft>
                <a:spcPts val="1000"/>
              </a:spcAft>
              <a:defRPr sz="1300" b="0">
                <a:solidFill>
                  <a:srgbClr val="53687D"/>
                </a:solidFill>
                <a:latin typeface="DejaVu Sans"/>
              </a:defRPr>
            </a:pPr>
            <a:r>
              <a:t>O‘qlar: asosiy bog‘lanish yoki boshqaruv yo‘nalishi. Sxema soddalashtirilgan.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M01 · O‘QITUVCHI BAYONI</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Universitet portali misolida</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10</a:t>
            </a:r>
          </a:p>
        </p:txBody>
      </p:sp>
      <p:sp>
        <p:nvSpPr>
          <p:cNvPr id="8" name="TextBox 7"/>
          <p:cNvSpPr txBox="1"/>
          <p:nvPr/>
        </p:nvSpPr>
        <p:spPr>
          <a:xfrm>
            <a:off x="658368" y="1920240"/>
            <a:ext cx="7040880" cy="1508760"/>
          </a:xfrm>
          <a:prstGeom prst="rect">
            <a:avLst/>
          </a:prstGeom>
          <a:noFill/>
        </p:spPr>
        <p:txBody>
          <a:bodyPr wrap="square" lIns="27432" rIns="27432" tIns="18288" bIns="0">
            <a:spAutoFit/>
          </a:bodyPr>
          <a:lstStyle/>
          <a:p>
            <a:pPr>
              <a:spcAft>
                <a:spcPts val="1000"/>
              </a:spcAft>
              <a:defRPr sz="2400" b="0">
                <a:solidFill>
                  <a:srgbClr val="15365B"/>
                </a:solidFill>
                <a:latin typeface="DejaVu Sans"/>
              </a:defRPr>
            </a:pPr>
            <a:r>
              <a:t>Universitet qabul davrida ko‘p abituriyentga xizmat ko‘rsatadi. Oddiy kunlarda esa yuklama ancha past bo‘ladi. Bulut modeli portal quvvatini talabga qarab o‘zgartirishga yordam beradi.</a:t>
            </a:r>
          </a:p>
        </p:txBody>
      </p:sp>
      <p:sp>
        <p:nvSpPr>
          <p:cNvPr id="9" name="Rounded Rectangle 8"/>
          <p:cNvSpPr/>
          <p:nvPr/>
        </p:nvSpPr>
        <p:spPr>
          <a:xfrm>
            <a:off x="685800"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Talaba</a:t>
            </a:r>
          </a:p>
        </p:txBody>
      </p:sp>
      <p:sp>
        <p:nvSpPr>
          <p:cNvPr id="11" name="Rounded Rectangle 10"/>
          <p:cNvSpPr/>
          <p:nvPr/>
        </p:nvSpPr>
        <p:spPr>
          <a:xfrm>
            <a:off x="3584448"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21608"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Internet</a:t>
            </a:r>
          </a:p>
        </p:txBody>
      </p:sp>
      <p:sp>
        <p:nvSpPr>
          <p:cNvPr id="13" name="Rounded Rectangle 12"/>
          <p:cNvSpPr/>
          <p:nvPr/>
        </p:nvSpPr>
        <p:spPr>
          <a:xfrm>
            <a:off x="6483096"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0256"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Bulut xizmati</a:t>
            </a:r>
          </a:p>
        </p:txBody>
      </p:sp>
      <p:sp>
        <p:nvSpPr>
          <p:cNvPr id="15" name="Rounded Rectangle 14"/>
          <p:cNvSpPr/>
          <p:nvPr/>
        </p:nvSpPr>
        <p:spPr>
          <a:xfrm>
            <a:off x="9381744"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18904"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Hisoblash va saqlash</a:t>
            </a:r>
          </a:p>
        </p:txBody>
      </p:sp>
      <p:sp>
        <p:nvSpPr>
          <p:cNvPr id="17" name="TextBox 16"/>
          <p:cNvSpPr txBox="1"/>
          <p:nvPr/>
        </p:nvSpPr>
        <p:spPr>
          <a:xfrm>
            <a:off x="713232" y="5632704"/>
            <a:ext cx="10789920" cy="365760"/>
          </a:xfrm>
          <a:prstGeom prst="rect">
            <a:avLst/>
          </a:prstGeom>
          <a:noFill/>
        </p:spPr>
        <p:txBody>
          <a:bodyPr wrap="square" lIns="27432" rIns="27432" tIns="18288" bIns="0">
            <a:spAutoFit/>
          </a:bodyPr>
          <a:lstStyle/>
          <a:p>
            <a:pPr>
              <a:spcAft>
                <a:spcPts val="1000"/>
              </a:spcAft>
              <a:defRPr sz="1300" b="0">
                <a:solidFill>
                  <a:srgbClr val="53687D"/>
                </a:solidFill>
                <a:latin typeface="DejaVu Sans"/>
              </a:defRPr>
            </a:pPr>
            <a:r>
              <a:t>Yuqoridagi bloklar — misolning tayanch qismlari; ular har doim chiziqli trafik yo‘li emas.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M01 · ANIQLIK KIRITAMIZ</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Ko‘p uchraydigan noto‘g‘ri xulosalar</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11</a:t>
            </a:r>
          </a:p>
        </p:txBody>
      </p:sp>
      <p:sp>
        <p:nvSpPr>
          <p:cNvPr id="8" name="Rounded Rectangle 7"/>
          <p:cNvSpPr/>
          <p:nvPr/>
        </p:nvSpPr>
        <p:spPr>
          <a:xfrm>
            <a:off x="640080" y="1892807"/>
            <a:ext cx="475488" cy="475488"/>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1929384"/>
            <a:ext cx="310896" cy="365760"/>
          </a:xfrm>
          <a:prstGeom prst="rect">
            <a:avLst/>
          </a:prstGeom>
          <a:noFill/>
        </p:spPr>
        <p:txBody>
          <a:bodyPr wrap="square" lIns="27432" rIns="27432" tIns="18288" bIns="0">
            <a:spAutoFit/>
          </a:bodyPr>
          <a:lstStyle/>
          <a:p>
            <a:pPr>
              <a:spcAft>
                <a:spcPts val="1000"/>
              </a:spcAft>
              <a:defRPr sz="1700" b="1">
                <a:solidFill>
                  <a:srgbClr val="FFFFFF"/>
                </a:solidFill>
                <a:latin typeface="DejaVu Sans"/>
              </a:defRPr>
            </a:pPr>
            <a:r>
              <a:t>1</a:t>
            </a:r>
          </a:p>
        </p:txBody>
      </p:sp>
      <p:sp>
        <p:nvSpPr>
          <p:cNvPr id="10" name="TextBox 9"/>
          <p:cNvSpPr txBox="1"/>
          <p:nvPr/>
        </p:nvSpPr>
        <p:spPr>
          <a:xfrm>
            <a:off x="1353312" y="1892807"/>
            <a:ext cx="10058400" cy="114300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Internetdagi har qanday veb-sayt avtomatik ravishda to‘liq bulut modeli hisoblanmaydi.</a:t>
            </a:r>
          </a:p>
        </p:txBody>
      </p:sp>
      <p:sp>
        <p:nvSpPr>
          <p:cNvPr id="11" name="Rounded Rectangle 10"/>
          <p:cNvSpPr/>
          <p:nvPr/>
        </p:nvSpPr>
        <p:spPr>
          <a:xfrm>
            <a:off x="640080" y="3246120"/>
            <a:ext cx="475488" cy="475488"/>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3282696"/>
            <a:ext cx="310896" cy="365760"/>
          </a:xfrm>
          <a:prstGeom prst="rect">
            <a:avLst/>
          </a:prstGeom>
          <a:noFill/>
        </p:spPr>
        <p:txBody>
          <a:bodyPr wrap="square" lIns="27432" rIns="27432" tIns="18288" bIns="0">
            <a:spAutoFit/>
          </a:bodyPr>
          <a:lstStyle/>
          <a:p>
            <a:pPr>
              <a:spcAft>
                <a:spcPts val="1000"/>
              </a:spcAft>
              <a:defRPr sz="1700" b="1">
                <a:solidFill>
                  <a:srgbClr val="FFFFFF"/>
                </a:solidFill>
                <a:latin typeface="DejaVu Sans"/>
              </a:defRPr>
            </a:pPr>
            <a:r>
              <a:t>2</a:t>
            </a:r>
          </a:p>
        </p:txBody>
      </p:sp>
      <p:sp>
        <p:nvSpPr>
          <p:cNvPr id="13" name="TextBox 12"/>
          <p:cNvSpPr txBox="1"/>
          <p:nvPr/>
        </p:nvSpPr>
        <p:spPr>
          <a:xfrm>
            <a:off x="1353312" y="3246120"/>
            <a:ext cx="10058400" cy="114300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O‘chirilgan server diski, zaxirasi yoki statik IP manzili uchun to‘lov qolishi mumkin.</a:t>
            </a:r>
          </a:p>
        </p:txBody>
      </p:sp>
      <p:sp>
        <p:nvSpPr>
          <p:cNvPr id="14" name="Rounded Rectangle 13"/>
          <p:cNvSpPr/>
          <p:nvPr/>
        </p:nvSpPr>
        <p:spPr>
          <a:xfrm>
            <a:off x="640080" y="4599431"/>
            <a:ext cx="475488" cy="475488"/>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 y="4636007"/>
            <a:ext cx="310896" cy="365760"/>
          </a:xfrm>
          <a:prstGeom prst="rect">
            <a:avLst/>
          </a:prstGeom>
          <a:noFill/>
        </p:spPr>
        <p:txBody>
          <a:bodyPr wrap="square" lIns="27432" rIns="27432" tIns="18288" bIns="0">
            <a:spAutoFit/>
          </a:bodyPr>
          <a:lstStyle/>
          <a:p>
            <a:pPr>
              <a:spcAft>
                <a:spcPts val="1000"/>
              </a:spcAft>
              <a:defRPr sz="1700" b="1">
                <a:solidFill>
                  <a:srgbClr val="FFFFFF"/>
                </a:solidFill>
                <a:latin typeface="DejaVu Sans"/>
              </a:defRPr>
            </a:pPr>
            <a:r>
              <a:t>3</a:t>
            </a:r>
          </a:p>
        </p:txBody>
      </p:sp>
      <p:sp>
        <p:nvSpPr>
          <p:cNvPr id="16" name="TextBox 15"/>
          <p:cNvSpPr txBox="1"/>
          <p:nvPr/>
        </p:nvSpPr>
        <p:spPr>
          <a:xfrm>
            <a:off x="1353312" y="4599431"/>
            <a:ext cx="10058400" cy="114300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Budjet ogohlantirishi odatda resurslarni avtomatik to‘xtatmaydi; bunga alohida avtomatlashtirish kerak.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M01 · YAKUN</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Mavzuning asosiy xulosalari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12</a:t>
            </a:r>
          </a:p>
        </p:txBody>
      </p:sp>
      <p:sp>
        <p:nvSpPr>
          <p:cNvPr id="8" name="Rounded Rectangle 7"/>
          <p:cNvSpPr/>
          <p:nvPr/>
        </p:nvSpPr>
        <p:spPr>
          <a:xfrm>
            <a:off x="640080" y="2075688"/>
            <a:ext cx="3611880" cy="343814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286000"/>
            <a:ext cx="3136392" cy="502920"/>
          </a:xfrm>
          <a:prstGeom prst="rect">
            <a:avLst/>
          </a:prstGeom>
          <a:noFill/>
        </p:spPr>
        <p:txBody>
          <a:bodyPr wrap="square" lIns="27432" rIns="27432" tIns="18288" bIns="0">
            <a:spAutoFit/>
          </a:bodyPr>
          <a:lstStyle/>
          <a:p>
            <a:pPr>
              <a:spcAft>
                <a:spcPts val="1000"/>
              </a:spcAft>
              <a:defRPr sz="3100" b="1">
                <a:solidFill>
                  <a:srgbClr val="1678D2"/>
                </a:solidFill>
                <a:latin typeface="DejaVu Sans"/>
              </a:defRPr>
            </a:pPr>
            <a:r>
              <a:t>01</a:t>
            </a:r>
          </a:p>
        </p:txBody>
      </p:sp>
      <p:sp>
        <p:nvSpPr>
          <p:cNvPr id="10" name="TextBox 9"/>
          <p:cNvSpPr txBox="1"/>
          <p:nvPr/>
        </p:nvSpPr>
        <p:spPr>
          <a:xfrm>
            <a:off x="859536" y="3090672"/>
            <a:ext cx="3136392" cy="2103120"/>
          </a:xfrm>
          <a:prstGeom prst="rect">
            <a:avLst/>
          </a:prstGeom>
          <a:noFill/>
        </p:spPr>
        <p:txBody>
          <a:bodyPr wrap="square" lIns="27432" rIns="27432" tIns="18288" bIns="0">
            <a:spAutoFit/>
          </a:bodyPr>
          <a:lstStyle/>
          <a:p>
            <a:pPr>
              <a:spcAft>
                <a:spcPts val="1000"/>
              </a:spcAft>
              <a:defRPr sz="2500" b="1">
                <a:solidFill>
                  <a:srgbClr val="15365B"/>
                </a:solidFill>
                <a:latin typeface="DejaVu Sans"/>
              </a:defRPr>
            </a:pPr>
            <a:r>
              <a:t>Server, saqlash va tarmoq — talab bo‘yicha xizmat.</a:t>
            </a:r>
          </a:p>
        </p:txBody>
      </p:sp>
      <p:sp>
        <p:nvSpPr>
          <p:cNvPr id="11" name="Rounded Rectangle 10"/>
          <p:cNvSpPr/>
          <p:nvPr/>
        </p:nvSpPr>
        <p:spPr>
          <a:xfrm>
            <a:off x="4498848" y="2075688"/>
            <a:ext cx="3611880" cy="343814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18304" y="2286000"/>
            <a:ext cx="3136392" cy="502920"/>
          </a:xfrm>
          <a:prstGeom prst="rect">
            <a:avLst/>
          </a:prstGeom>
          <a:noFill/>
        </p:spPr>
        <p:txBody>
          <a:bodyPr wrap="square" lIns="27432" rIns="27432" tIns="18288" bIns="0">
            <a:spAutoFit/>
          </a:bodyPr>
          <a:lstStyle/>
          <a:p>
            <a:pPr>
              <a:spcAft>
                <a:spcPts val="1000"/>
              </a:spcAft>
              <a:defRPr sz="3100" b="1">
                <a:solidFill>
                  <a:srgbClr val="1678D2"/>
                </a:solidFill>
                <a:latin typeface="DejaVu Sans"/>
              </a:defRPr>
            </a:pPr>
            <a:r>
              <a:t>02</a:t>
            </a:r>
          </a:p>
        </p:txBody>
      </p:sp>
      <p:sp>
        <p:nvSpPr>
          <p:cNvPr id="13" name="TextBox 12"/>
          <p:cNvSpPr txBox="1"/>
          <p:nvPr/>
        </p:nvSpPr>
        <p:spPr>
          <a:xfrm>
            <a:off x="4718304" y="3090672"/>
            <a:ext cx="3136392" cy="2103120"/>
          </a:xfrm>
          <a:prstGeom prst="rect">
            <a:avLst/>
          </a:prstGeom>
          <a:noFill/>
        </p:spPr>
        <p:txBody>
          <a:bodyPr wrap="square" lIns="27432" rIns="27432" tIns="18288" bIns="0">
            <a:spAutoFit/>
          </a:bodyPr>
          <a:lstStyle/>
          <a:p>
            <a:pPr>
              <a:spcAft>
                <a:spcPts val="1000"/>
              </a:spcAft>
              <a:defRPr sz="2500" b="1">
                <a:solidFill>
                  <a:srgbClr val="15365B"/>
                </a:solidFill>
                <a:latin typeface="DejaVu Sans"/>
              </a:defRPr>
            </a:pPr>
            <a:r>
              <a:t>Vaqtni bo‘lishish → virtualizatsiya → ommaviy bulut.</a:t>
            </a:r>
          </a:p>
        </p:txBody>
      </p:sp>
      <p:sp>
        <p:nvSpPr>
          <p:cNvPr id="14" name="Rounded Rectangle 13"/>
          <p:cNvSpPr/>
          <p:nvPr/>
        </p:nvSpPr>
        <p:spPr>
          <a:xfrm>
            <a:off x="8357615" y="2075688"/>
            <a:ext cx="3611880" cy="343814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77072" y="2286000"/>
            <a:ext cx="3136392" cy="502920"/>
          </a:xfrm>
          <a:prstGeom prst="rect">
            <a:avLst/>
          </a:prstGeom>
          <a:noFill/>
        </p:spPr>
        <p:txBody>
          <a:bodyPr wrap="square" lIns="27432" rIns="27432" tIns="18288" bIns="0">
            <a:spAutoFit/>
          </a:bodyPr>
          <a:lstStyle/>
          <a:p>
            <a:pPr>
              <a:spcAft>
                <a:spcPts val="1000"/>
              </a:spcAft>
              <a:defRPr sz="3100" b="1">
                <a:solidFill>
                  <a:srgbClr val="1678D2"/>
                </a:solidFill>
                <a:latin typeface="DejaVu Sans"/>
              </a:defRPr>
            </a:pPr>
            <a:r>
              <a:t>03</a:t>
            </a:r>
          </a:p>
        </p:txBody>
      </p:sp>
      <p:sp>
        <p:nvSpPr>
          <p:cNvPr id="16" name="TextBox 15"/>
          <p:cNvSpPr txBox="1"/>
          <p:nvPr/>
        </p:nvSpPr>
        <p:spPr>
          <a:xfrm>
            <a:off x="8577072" y="3090672"/>
            <a:ext cx="3136392" cy="2103120"/>
          </a:xfrm>
          <a:prstGeom prst="rect">
            <a:avLst/>
          </a:prstGeom>
          <a:noFill/>
        </p:spPr>
        <p:txBody>
          <a:bodyPr wrap="square" lIns="27432" rIns="27432" tIns="18288" bIns="0">
            <a:spAutoFit/>
          </a:bodyPr>
          <a:lstStyle/>
          <a:p>
            <a:pPr>
              <a:spcAft>
                <a:spcPts val="1000"/>
              </a:spcAft>
              <a:defRPr sz="2500" b="1">
                <a:solidFill>
                  <a:srgbClr val="15365B"/>
                </a:solidFill>
                <a:latin typeface="DejaVu Sans"/>
              </a:defRPr>
            </a:pPr>
            <a:r>
              <a:t>Tezlik va moslashuvchanlik — boshqaruv bilan birga.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M01 · QO‘SHIMCHA O‘QISH</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Manbalar va terminlar</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13</a:t>
            </a:r>
          </a:p>
        </p:txBody>
      </p:sp>
      <p:sp>
        <p:nvSpPr>
          <p:cNvPr id="8" name="TextBox 7"/>
          <p:cNvSpPr txBox="1"/>
          <p:nvPr/>
        </p:nvSpPr>
        <p:spPr>
          <a:xfrm>
            <a:off x="685800" y="1920240"/>
            <a:ext cx="10789920" cy="822960"/>
          </a:xfrm>
          <a:prstGeom prst="rect">
            <a:avLst/>
          </a:prstGeom>
          <a:noFill/>
        </p:spPr>
        <p:txBody>
          <a:bodyPr wrap="square" lIns="27432" rIns="27432" tIns="18288" bIns="0">
            <a:spAutoFit/>
          </a:bodyPr>
          <a:lstStyle/>
          <a:p>
            <a:pPr>
              <a:spcAft>
                <a:spcPts val="1000"/>
              </a:spcAft>
              <a:defRPr sz="2100" b="1">
                <a:solidFill>
                  <a:srgbClr val="15365B"/>
                </a:solidFill>
                <a:latin typeface="DejaVu Sans"/>
              </a:defRPr>
            </a:pPr>
            <a:r>
              <a:t>Asos: BTST206 sillabusi, 2027–2028. M1–M18 ma’ruza bo‘limi.</a:t>
            </a:r>
          </a:p>
        </p:txBody>
      </p:sp>
      <p:sp>
        <p:nvSpPr>
          <p:cNvPr id="9" name="TextBox 8"/>
          <p:cNvSpPr txBox="1"/>
          <p:nvPr/>
        </p:nvSpPr>
        <p:spPr>
          <a:xfrm>
            <a:off x="713232" y="2926080"/>
            <a:ext cx="10744200" cy="512064"/>
          </a:xfrm>
          <a:prstGeom prst="rect">
            <a:avLst/>
          </a:prstGeom>
          <a:noFill/>
        </p:spPr>
        <p:txBody>
          <a:bodyPr wrap="square" lIns="27432" rIns="27432" tIns="18288" bIns="0">
            <a:spAutoFit/>
          </a:bodyPr>
          <a:lstStyle/>
          <a:p>
            <a:pPr>
              <a:spcAft>
                <a:spcPts val="1000"/>
              </a:spcAft>
              <a:defRPr sz="1600" b="0">
                <a:solidFill>
                  <a:srgbClr val="1678D2"/>
                </a:solidFill>
                <a:latin typeface="DejaVu Sans"/>
              </a:defRPr>
            </a:pPr>
            <a:r>
              <a:t>https://csrc.nist.gov/pubs/sp/800/145/final</a:t>
            </a:r>
          </a:p>
        </p:txBody>
      </p:sp>
      <p:sp>
        <p:nvSpPr>
          <p:cNvPr id="10" name="TextBox 9"/>
          <p:cNvSpPr txBox="1"/>
          <p:nvPr/>
        </p:nvSpPr>
        <p:spPr>
          <a:xfrm>
            <a:off x="713232" y="3456432"/>
            <a:ext cx="10744200" cy="512064"/>
          </a:xfrm>
          <a:prstGeom prst="rect">
            <a:avLst/>
          </a:prstGeom>
          <a:noFill/>
        </p:spPr>
        <p:txBody>
          <a:bodyPr wrap="square" lIns="27432" rIns="27432" tIns="18288" bIns="0">
            <a:spAutoFit/>
          </a:bodyPr>
          <a:lstStyle/>
          <a:p>
            <a:pPr>
              <a:spcAft>
                <a:spcPts val="1000"/>
              </a:spcAft>
              <a:defRPr sz="1600" b="0">
                <a:solidFill>
                  <a:srgbClr val="1678D2"/>
                </a:solidFill>
                <a:latin typeface="DejaVu Sans"/>
              </a:defRPr>
            </a:pPr>
            <a:r>
              <a:t>https://docs.aws.amazon.com/whitepapers/latest/aws-overview/</a:t>
            </a:r>
          </a:p>
        </p:txBody>
      </p:sp>
      <p:sp>
        <p:nvSpPr>
          <p:cNvPr id="11" name="TextBox 10"/>
          <p:cNvSpPr txBox="1"/>
          <p:nvPr/>
        </p:nvSpPr>
        <p:spPr>
          <a:xfrm>
            <a:off x="713232" y="5650992"/>
            <a:ext cx="10789920" cy="502920"/>
          </a:xfrm>
          <a:prstGeom prst="rect">
            <a:avLst/>
          </a:prstGeom>
          <a:noFill/>
        </p:spPr>
        <p:txBody>
          <a:bodyPr wrap="square" lIns="27432" rIns="27432" tIns="18288" bIns="0">
            <a:spAutoFit/>
          </a:bodyPr>
          <a:lstStyle/>
          <a:p>
            <a:pPr>
              <a:spcAft>
                <a:spcPts val="1000"/>
              </a:spcAft>
              <a:defRPr sz="1600" b="0">
                <a:solidFill>
                  <a:srgbClr val="53687D"/>
                </a:solidFill>
                <a:latin typeface="DejaVu Sans"/>
              </a:defRPr>
            </a:pPr>
            <a:r>
              <a:t>Narx, limit va xizmat nomlarining amaldagi holati rasmiy hujjatlarda tekshiriladi.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