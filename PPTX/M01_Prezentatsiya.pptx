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«Bulutli hisoblash texnologiyalariga kirish» mavzusiga bag‘ishlanadi. Mavzuni murakkab atamalardan emas, kundalik ehtiyojdan boshlaymiz. Universitet qabul davrida ko‘p abituriyentga xizmat ko‘rsatadi. Oddiy kunlarda esa yuklama ancha past bo‘ladi. Bulut modeli portal quvvatini talabga qarab o‘zgartirishga yordam beradi.</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bulutli hisoblash nima? tushuntiriladi. 2-bo‘limda bulutning besh asosiy belgisi tushuntiriladi. 3-bo‘limda rivojlanish yo‘li tushuntiriladi. 4-bo‘limda an’anaviy tizim va bulut tushuntiriladi. 5-bo‘limda afzalliklar va cheklovlar tushuntiriladi. 6-bo‘limda hisob-kitob va mas’uliyat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 — ma’lumotlar havoda saqlanadi degani emas. Uning ortida real binolar, elektr ta’minoti, tarmoq va serverlar turadi. Farqi shundaki, foydalanuvchi bu uskunalarni sotib olish o‘rniga resursdan xizmat sifatida foydalanadi.</a:t>
            </a:r>
          </a:p>
          <a:p/>
          <a:p>
            <a:r>
              <a:t>Provayder resurslar havzasini tashkil qiladi. Mijoz boshqaruv paneli yoki API orqali kerakli quvvatni ajratadi. Dastur aynan shu ajratilgan resurslarda ishlaydi.</a:t>
            </a:r>
          </a:p>
          <a:p/>
          <a:p>
            <a:r>
              <a:t>Universitet misolida buni quyidagicha tasavvur qilamiz. Universitet virtual serverni bir necha daqiqada ishga tushirishi mumkin; jismoniy serverni sotib olish va yetkazishni kutish talab qilinmaydi. Bu misolda texnik atama real vazifa bilan bog‘lanadi: resursning nomini emas, nima uchun tanlanganini tushunish muhim.</a:t>
            </a:r>
          </a:p>
          <a:p/>
          <a:p>
            <a:r>
              <a:t>E’tibor beradigan chegara ham bor. Internetdagi har qanday veb-sayt avtomatik ravishda to‘liq bulut modeli hisoblanmaydi.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NIST ta’rifida bulutni besh belgi tavsiflaydi. Talab bo‘yicha o‘ziga xizmat ko‘rsatish resurs olishni tezlashtiradi. Keng tarmoq kirishi turli qurilmalardan foydalanishni anglatadi. Umumiy havza provayder quvvatni ko‘p mijoz o‘rtasida boshqarishini bildiradi.</a:t>
            </a:r>
          </a:p>
          <a:p/>
          <a:p>
            <a:r>
              <a:t>Tez elastiklik quvvatni ko‘paytirish va kamaytirishga imkon beradi. O‘lchanadigan xizmat esa sarflangan resurs hajmini hisobga oladi. Bu belgilar birgalikda bulut modelini shakllantiradi.</a:t>
            </a:r>
          </a:p>
          <a:p/>
          <a:p>
            <a:r>
              <a:t>Universitet misolida buni quyidagicha tasavvur qilamiz. Qabul portali yuklamasi oshganda serverlar soni ko‘payadi, trafik kamayganda ortiqcha nusxalar o‘chiriladi. Bu misolda texnik atama real vazifa bilan bog‘lanadi: resursning nomini emas, nima uchun tanlanganini tushunish muhim.</a:t>
            </a:r>
          </a:p>
          <a:p/>
          <a:p>
            <a:r>
              <a:t>E’tibor beradigan chegara ham bor. Elastiklik avtomatik bo‘lishi uchun tegishli siyosat, limit va ilova arxitekturasi kerak.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 birdan paydo bo‘lmagan. Dastlab katta kompyuter quvvatidan bir nechta foydalanuvchi vaqtni bo‘lishish orqali foydalangan. Internet va virtualizatsiya rivojlanishi masofadagi resursni qulay xizmatga aylantirdi.</a:t>
            </a:r>
          </a:p>
          <a:p/>
          <a:p>
            <a:r>
              <a:t>2000-yillarda ommaviy bulut xizmatlari kengaydi. Keyin konteynerlar, boshqariladigan platformalar va serverless yondashuvlar dastur joylashtirishni yanada soddalashtirdi.</a:t>
            </a:r>
          </a:p>
          <a:p/>
          <a:p>
            <a:r>
              <a:t>Universitet misolida buni quyidagicha tasavvur qilamiz. Avval universitet har bir tizim uchun alohida server ajratgan bo‘lsa, keyin bitta kuchli serverda bir nechta virtual mashina ishlatishi mumkin bo‘ldi. Bu misolda texnik atama real vazifa bilan bog‘lanadi: resursning nomini emas, nima uchun tanlanganini tushunish muhim.</a:t>
            </a:r>
          </a:p>
          <a:p/>
          <a:p>
            <a:r>
              <a:t>E’tibor beradigan chegara ham bor. Bu bosqichlar bir-birini butunlay almashtirmaydi: bugun ham jismoniy server, virtual mashina va konteyner birga ishlaydi.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An’anaviy modelda tashkilot uskuna, joy, sovitish va xizmat ko‘rsatishga mas’ul bo‘ladi. Bulutda shu ishlarning bir qismi provayderga o‘tadi. Lekin ilova, ma’lumot va ruxsatlarni to‘g‘ri boshqarish mijoz zimmasida qoladi.</a:t>
            </a:r>
          </a:p>
          <a:p/>
          <a:p>
            <a:r>
              <a:t>Mahalliy tizim uchun quvvat odatda oldindan rejalashtiriladi. Bulutda esa resurs tezroq ajratiladi va foydalanish ko‘rsatkichlari asosida qayta ko‘rib chiqiladi.</a:t>
            </a:r>
          </a:p>
          <a:p/>
          <a:p>
            <a:r>
              <a:t>Universitet misolida buni quyidagicha tasavvur qilamiz. Mahalliy server kam ishlayotgan bo‘lsa ham xarajat davom etadi. Bulutdagi keraksiz virtual serverni o‘chirish hisoblash xarajatini kamaytirishi mumkin. Bu misolda texnik atama real vazifa bilan bog‘lanadi: resursning nomini emas, nima uchun tanlanganini tushunish muhim.</a:t>
            </a:r>
          </a:p>
          <a:p/>
          <a:p>
            <a:r>
              <a:t>E’tibor beradigan chegara ham bor. O‘chirilgan server diski, zaxirasi yoki statik IP manzili uchun to‘lov qolishi mumkin.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Bulutning foydasi tez ishga tushirish, turli hududlarda xizmat ko‘rsatish va katta boshlang‘ich xarajatni kamaytirishda ko‘rinadi. Cheklovlar esa tarmoqka bog‘liqlik, ma’lumot joylashuvi, xarajat nazorati va provayderga qaramlik bilan bog‘liq.</a:t>
            </a:r>
          </a:p>
          <a:p/>
          <a:p>
            <a:r>
              <a:t>Tanlashda faqat server narxi emas, trafik, saqlash, litsenziya, kuzatuv va xodimlar vaqti ham hisobga olinadi. Talabni tushunmasdan ko‘chirish foyda bermasligi mumkin.</a:t>
            </a:r>
          </a:p>
          <a:p/>
          <a:p>
            <a:r>
              <a:t>Universitet misolida buni quyidagicha tasavvur qilamiz. Fayllari juda ko‘p portalda tashqariga uzatiladigan trafik ayrim hisoblash resurslaridan qimmatroq tushishi mumkin. Bu misolda texnik atama real vazifa bilan bog‘lanadi: resursning nomini emas, nima uchun tanlanganini tushunish muhim.</a:t>
            </a:r>
          </a:p>
          <a:p/>
          <a:p>
            <a:r>
              <a:t>E’tibor beradigan chegara ham bor. Bulut har doim arzonroq yoki xavfsizroq degan mutlaq xulosa noto‘g‘ri.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 xizmatlari ko‘pincha foydalanishga qarab hisoblanadi, lekin ayrim xizmatlarda minimal to‘lov yoki uzoq muddatli majburiyat bor. Shuning uchun jamoa resurs egasi va budjet chegarasini oldindan belgilashi kerak.</a:t>
            </a:r>
          </a:p>
          <a:p/>
          <a:p>
            <a:r>
              <a:t>Teglar yordamida xarajat loyiha bo‘yicha ajratiladi. Budjet ogohlantirishi sarfni ko‘rsatadi. Monitoring esa qaysi resurs ortiqcha yoki yetishmayotganini aniqlaydi.</a:t>
            </a:r>
          </a:p>
          <a:p/>
          <a:p>
            <a:r>
              <a:t>Universitet misolida buni quyidagicha tasavvur qilamiz. Universitet test serverini faqat ish vaqtida yoqib, kundalik sarfni kuzatadi. Ma’lumotlarning zaxirasi alohida siyosat bilan saqlanadi. Bu misolda texnik atama real vazifa bilan bog‘lanadi: resursning nomini emas, nima uchun tanlanganini tushunish muhim.</a:t>
            </a:r>
          </a:p>
          <a:p/>
          <a:p>
            <a:r>
              <a:t>E’tibor beradigan chegara ham bor. Budjet ogohlantirishi odatda resurslarni avtomatik to‘xtatmaydi; bunga alohida avtomatlashtirish kerak.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«Foydalanuvchi» bilan «Tarmoq / API» o‘rtasida sxemada bog‘lanish ko‘rsatilgan. «Tarmoq / API» bilan «Hisoblash» o‘rtasida sxemada bog‘lanish ko‘rsatilgan. «Tarmoq / API» bilan «Saqlash» o‘rtasida sxemada bog‘lanish ko‘rsatilgan. «Provayder boshqaruvi» bilan «Hisoblash» o‘rtasida sxemada bog‘lanish ko‘rsatilgan. «Provayder boshqaruvi» bilan «Saqlash» o‘rtasida sxemada bog‘lanish ko‘rsatilgan.</a:t>
            </a:r>
          </a:p>
          <a:p/>
          <a:p>
            <a:r>
              <a:t>Bu bog‘lanishlarni barcha xizmatlarda bir xil buyruq yoki bir xil fizik kabel deb tushunmaymiz. Ayrim o‘qlar bajarilish ketma-ketligini, ayrimlari resursni boshqarish yoki unga kirish aloqasini anglatadi. Tez elastiklik quvvatni ko‘paytirish va kamaytirishga imkon beradi. O‘lchanadigan xizmat esa sarflangan resurs hajmini hisobga oladi. Bu belgilar birgalikda bulut modelini shakllantiradi.</a:t>
            </a:r>
          </a:p>
          <a:p/>
          <a:p>
            <a:r>
              <a:t>Sxemaning asosiy foydasi mas’uliyatlarni ajratib ko‘rsatishdir. Fayllari juda ko‘p portalda tashqariga uzatiladigan trafik ayrim hisoblash resurslaridan qimmatroq tushishi mumkin.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Universitet qabul davrida ko‘p abituriyentga xizmat ko‘rsatadi. Oddiy kunlarda esa yuklama ancha past bo‘ladi. Bulut modeli portal quvvatini talabga qarab o‘zgartirishga yordam beradi.</a:t>
            </a:r>
          </a:p>
          <a:p/>
          <a:p>
            <a:r>
              <a:t>Avval ehtiyoj aniqlanadi: kim tizimdan foydalanadi, qaysi ma’lumot bilan ishlanadi va qanday natija kutiladi. Universitet virtual serverni bir necha daqiqada ishga tushirishi mumkin; jismoniy serverni sotib olish va yetkazishni kutish talab qilinmaydi. Keyin texnik qismlar shu talabga mos tanlanadi. Avval universitet har bir tizim uchun alohida server ajratgan bo‘lsa, keyin bitta kuchli serverda bir nechta virtual mashina ishlatishi mumkin bo‘ldi.</a:t>
            </a:r>
          </a:p>
          <a:p/>
          <a:p>
            <a:r>
              <a:t>Ishlash jarayonida faqat muvaffaqiyatli holat emas, xato va cheklovlar ham hisobga olinadi. O‘chirilgan server diski, zaxirasi yoki statik IP manzili uchun to‘lov qolishi mumkin. Shu sababli jamoa talabni, ruxsatni va nosozlikdagi xatti-harakatni oldindan belgilaydi. Universitet test serverini faqat ish vaqtida yoqib, kundalik sarfni kuzatadi. Ma’lumotlarning zaxirasi alohida siyosat bilan saqlanadi.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Internetdagi har qanday veb-sayt avtomatik ravishda to‘liq bulut modeli hisoblanmaydi. To‘g‘ri talqin quyidagicha: Bulut — ma’lumotlar havoda saqlanadi degani emas. Uning ortida real binolar, elektr ta’minoti, tarmoq va serverlar turadi. Farqi shundaki, foydalanuvchi bu uskunalarni sotib olish o‘rniga resursdan xizmat sifatida foydalanadi.</a:t>
            </a:r>
          </a:p>
          <a:p/>
          <a:p>
            <a:r>
              <a:t>2. O‘chirilgan server diski, zaxirasi yoki statik IP manzili uchun to‘lov qolishi mumkin. To‘g‘ri talqin quyidagicha: An’anaviy modelda tashkilot uskuna, joy, sovitish va xizmat ko‘rsatishga mas’ul bo‘ladi. Bulutda shu ishlarning bir qismi provayderga o‘tadi. Lekin ilova, ma’lumot va ruxsatlarni to‘g‘ri boshqarish mijoz zimmasida qoladi.</a:t>
            </a:r>
          </a:p>
          <a:p/>
          <a:p>
            <a:r>
              <a:t>3. Budjet ogohlantirishi odatda resurslarni avtomatik to‘xtatmaydi; bunga alohida avtomatlashtirish kerak. To‘g‘ri talqin quyidagicha: Bulut xizmatlari ko‘pincha foydalanishga qarab hisoblanadi, lekin ayrim xizmatlarda minimal to‘lov yoki uzoq muddatli majburiyat bor. Shuning uchun jamoa resurs egasi va budjet chegarasini oldindan belgilashi kerak.</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Hisoblash resursidan xizmat sifatida foydalanish — mavzuning umumiy mazmunini ifodalaydi.</a:t>
            </a:r>
          </a:p>
          <a:p/>
          <a:p>
            <a:r>
              <a:t>Asosiy tayanch fikr: Server, saqlash va tarmoq — talab bo‘yicha xizmat. Provayder resurslar havzasini tashkil qiladi. Mijoz boshqaruv paneli yoki API orqali kerakli quvvatni ajratadi. Dastur aynan shu ajratilgan resurslarda ishlaydi.</a:t>
            </a:r>
          </a:p>
          <a:p/>
          <a:p>
            <a:r>
              <a:t>Asosiy tayanch fikr: Vaqtni bo‘lishish → virtualizatsiya → ommaviy bulut. 2000-yillarda ommaviy bulut xizmatlari kengaydi. Keyin konteynerlar, boshqariladigan platformalar va serverless yondashuvlar dastur joylashtirishni yanada soddalashtirdi.</a:t>
            </a:r>
          </a:p>
          <a:p/>
          <a:p>
            <a:r>
              <a:t>Asosiy tayanch fikr: Tezlik va moslashuvchanlik — boshqaruv bilan birga. Tanlashda faqat server narxi emas, trafik, saqlash, litsenziya, kuzatuv va xodimlar vaqti ham hisobga olinadi. Talabni tushunmasdan ko‘chirish foyda bermasligi mumkin.</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8138160" y="0"/>
            <a:ext cx="4053535" cy="6858000"/>
          </a:xfrm>
          <a:prstGeom prst="rect">
            <a:avLst/>
          </a:prstGeom>
          <a:solidFill>
            <a:srgbClr val="EA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hoto2.jpg"/>
          <p:cNvPicPr>
            <a:picLocks noChangeAspect="1"/>
          </p:cNvPicPr>
          <p:nvPr/>
        </p:nvPicPr>
        <p:blipFill>
          <a:blip r:embed="rId2"/>
          <a:srcRect l="14318" r="14318"/>
          <a:stretch>
            <a:fillRect/>
          </a:stretch>
        </p:blipFill>
        <p:spPr>
          <a:xfrm>
            <a:off x="6748272" y="914400"/>
            <a:ext cx="4846320" cy="5093208"/>
          </a:xfrm>
          <a:prstGeom prst="rect">
            <a:avLst/>
          </a:prstGeom>
        </p:spPr>
      </p:pic>
      <p:sp>
        <p:nvSpPr>
          <p:cNvPr id="4" name="TextBox 3"/>
          <p:cNvSpPr txBox="1"/>
          <p:nvPr/>
        </p:nvSpPr>
        <p:spPr>
          <a:xfrm>
            <a:off x="658368" y="603504"/>
            <a:ext cx="5669280" cy="320040"/>
          </a:xfrm>
          <a:prstGeom prst="rect">
            <a:avLst/>
          </a:prstGeom>
          <a:noFill/>
        </p:spPr>
        <p:txBody>
          <a:bodyPr wrap="square" lIns="27432" rIns="27432" tIns="18288" bIns="0">
            <a:spAutoFit/>
          </a:bodyPr>
          <a:lstStyle/>
          <a:p>
            <a:pPr>
              <a:spcAft>
                <a:spcPts val="800"/>
              </a:spcAft>
              <a:defRPr sz="1200" b="1">
                <a:solidFill>
                  <a:srgbClr val="1976D2"/>
                </a:solidFill>
                <a:latin typeface="DejaVu Sans"/>
              </a:defRPr>
            </a:pPr>
            <a:r>
              <a:t>BTST206  /  01-MA’RUZA</a:t>
            </a:r>
          </a:p>
        </p:txBody>
      </p:sp>
      <p:sp>
        <p:nvSpPr>
          <p:cNvPr id="5" name="Rectangle 4"/>
          <p:cNvSpPr/>
          <p:nvPr/>
        </p:nvSpPr>
        <p:spPr>
          <a:xfrm>
            <a:off x="685800" y="1188720"/>
            <a:ext cx="731520" cy="73152"/>
          </a:xfrm>
          <a:prstGeom prst="rect">
            <a:avLst/>
          </a:prstGeom>
          <a:solidFill>
            <a:srgbClr val="10A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37360"/>
            <a:ext cx="5623560" cy="2560320"/>
          </a:xfrm>
          <a:prstGeom prst="rect">
            <a:avLst/>
          </a:prstGeom>
          <a:noFill/>
        </p:spPr>
        <p:txBody>
          <a:bodyPr wrap="square" lIns="27432" rIns="27432" tIns="18288" bIns="0">
            <a:spAutoFit/>
          </a:bodyPr>
          <a:lstStyle/>
          <a:p>
            <a:pPr>
              <a:spcAft>
                <a:spcPts val="800"/>
              </a:spcAft>
              <a:defRPr sz="3600" b="1">
                <a:solidFill>
                  <a:srgbClr val="17324C"/>
                </a:solidFill>
                <a:latin typeface="DejaVu Sans"/>
              </a:defRPr>
            </a:pPr>
            <a:r>
              <a:t>Bulutli hisoblash</a:t>
            </a:r>
          </a:p>
          <a:p>
            <a:pPr>
              <a:spcAft>
                <a:spcPts val="800"/>
              </a:spcAft>
              <a:defRPr sz="3600" b="1">
                <a:solidFill>
                  <a:srgbClr val="17324C"/>
                </a:solidFill>
                <a:latin typeface="DejaVu Sans"/>
              </a:defRPr>
            </a:pPr>
            <a:r>
              <a:t>texnologiyalariga</a:t>
            </a:r>
          </a:p>
          <a:p>
            <a:pPr>
              <a:spcAft>
                <a:spcPts val="800"/>
              </a:spcAft>
              <a:defRPr sz="3600" b="1">
                <a:solidFill>
                  <a:srgbClr val="17324C"/>
                </a:solidFill>
                <a:latin typeface="DejaVu Sans"/>
              </a:defRPr>
            </a:pPr>
            <a:r>
              <a:t>kirish</a:t>
            </a:r>
          </a:p>
        </p:txBody>
      </p:sp>
      <p:sp>
        <p:nvSpPr>
          <p:cNvPr id="7" name="TextBox 6"/>
          <p:cNvSpPr txBox="1"/>
          <p:nvPr/>
        </p:nvSpPr>
        <p:spPr>
          <a:xfrm>
            <a:off x="694944" y="4709160"/>
            <a:ext cx="5440680" cy="1051560"/>
          </a:xfrm>
          <a:prstGeom prst="rect">
            <a:avLst/>
          </a:prstGeom>
          <a:noFill/>
        </p:spPr>
        <p:txBody>
          <a:bodyPr wrap="square" lIns="27432" rIns="27432" tIns="18288" bIns="0">
            <a:spAutoFit/>
          </a:bodyPr>
          <a:lstStyle/>
          <a:p>
            <a:pPr>
              <a:spcAft>
                <a:spcPts val="800"/>
              </a:spcAft>
              <a:defRPr sz="2200" b="0">
                <a:solidFill>
                  <a:srgbClr val="42627B"/>
                </a:solidFill>
                <a:latin typeface="DejaVu Sans"/>
              </a:defRPr>
            </a:pPr>
            <a:r>
              <a:t>Hisoblash resursidan xizmat sifatida foydalanish</a:t>
            </a:r>
          </a:p>
        </p:txBody>
      </p:sp>
      <p:sp>
        <p:nvSpPr>
          <p:cNvPr id="8" name="TextBox 7"/>
          <p:cNvSpPr txBox="1"/>
          <p:nvPr/>
        </p:nvSpPr>
        <p:spPr>
          <a:xfrm>
            <a:off x="694944" y="6181344"/>
            <a:ext cx="5852160" cy="274320"/>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Talab bo‘yicha resurs • xizmat modeli • mas’uliyat</a:t>
            </a:r>
          </a:p>
        </p:txBody>
      </p:sp>
      <p:sp>
        <p:nvSpPr>
          <p:cNvPr id="9" name="TextBox 8"/>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567083"/>
                </a:solidFill>
                <a:latin typeface="DejaVu Sans"/>
              </a:defRPr>
            </a:pPr>
            <a:r>
              <a:t>BTST206   /   M01   /   2027–2028</a:t>
            </a:r>
          </a:p>
        </p:txBody>
      </p:sp>
      <p:sp>
        <p:nvSpPr>
          <p:cNvPr id="10" name="TextBox 9"/>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567083"/>
                </a:solidFill>
                <a:latin typeface="DejaVu Sans"/>
              </a:defRPr>
            </a:pPr>
            <a:r>
              <a:t>01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365760"/>
            <a:ext cx="9784080" cy="320040"/>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BULUT TEXNOLOGIYALARI  /  KIRISH</a:t>
            </a:r>
          </a:p>
        </p:txBody>
      </p:sp>
      <p:cxnSp>
        <p:nvCxnSpPr>
          <p:cNvPr id="3" name="Connector 2"/>
          <p:cNvCxnSpPr/>
          <p:nvPr/>
        </p:nvCxnSpPr>
        <p:spPr>
          <a:xfrm>
            <a:off x="640080" y="877824"/>
            <a:ext cx="10881360" cy="0"/>
          </a:xfrm>
          <a:prstGeom prst="line">
            <a:avLst/>
          </a:prstGeom>
          <a:ln w="12700">
            <a:solidFill>
              <a:srgbClr val="D4E8F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069848"/>
            <a:ext cx="10789920" cy="960120"/>
          </a:xfrm>
          <a:prstGeom prst="rect">
            <a:avLst/>
          </a:prstGeom>
          <a:noFill/>
        </p:spPr>
        <p:txBody>
          <a:bodyPr wrap="square" lIns="27432" rIns="27432" tIns="18288" bIns="0">
            <a:spAutoFit/>
          </a:bodyPr>
          <a:lstStyle/>
          <a:p>
            <a:pPr>
              <a:spcAft>
                <a:spcPts val="800"/>
              </a:spcAft>
              <a:defRPr sz="3000" b="1">
                <a:solidFill>
                  <a:srgbClr val="17324C"/>
                </a:solidFill>
                <a:latin typeface="DejaVu Sans"/>
              </a:defRPr>
            </a:pPr>
            <a:r>
              <a:t>Ma’ruza yo‘nalishi</a:t>
            </a:r>
          </a:p>
        </p:txBody>
      </p:sp>
      <p:sp>
        <p:nvSpPr>
          <p:cNvPr id="5" name="TextBox 4"/>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7324C"/>
                </a:solidFill>
                <a:latin typeface="DejaVu Sans"/>
              </a:defRPr>
            </a:pPr>
            <a:r>
              <a:t>BTST206   /   M01   /   2027–2028</a:t>
            </a:r>
          </a:p>
        </p:txBody>
      </p:sp>
      <p:sp>
        <p:nvSpPr>
          <p:cNvPr id="6" name="TextBox 5"/>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02 / 13</a:t>
            </a:r>
          </a:p>
        </p:txBody>
      </p:sp>
      <p:sp>
        <p:nvSpPr>
          <p:cNvPr id="7" name="TextBox 6"/>
          <p:cNvSpPr txBox="1"/>
          <p:nvPr/>
        </p:nvSpPr>
        <p:spPr>
          <a:xfrm>
            <a:off x="685800" y="2286000"/>
            <a:ext cx="2788920" cy="2057400"/>
          </a:xfrm>
          <a:prstGeom prst="rect">
            <a:avLst/>
          </a:prstGeom>
          <a:noFill/>
        </p:spPr>
        <p:txBody>
          <a:bodyPr wrap="square" lIns="27432" rIns="27432" tIns="18288" bIns="0">
            <a:spAutoFit/>
          </a:bodyPr>
          <a:lstStyle/>
          <a:p>
            <a:pPr>
              <a:spcAft>
                <a:spcPts val="800"/>
              </a:spcAft>
              <a:defRPr sz="3700" b="1">
                <a:solidFill>
                  <a:srgbClr val="1976D2"/>
                </a:solidFill>
                <a:latin typeface="DejaVu Sans"/>
              </a:defRPr>
            </a:pPr>
            <a:r>
              <a:t>6 ta</a:t>
            </a:r>
          </a:p>
          <a:p>
            <a:pPr>
              <a:spcAft>
                <a:spcPts val="800"/>
              </a:spcAft>
              <a:defRPr sz="3700" b="1">
                <a:solidFill>
                  <a:srgbClr val="1976D2"/>
                </a:solidFill>
                <a:latin typeface="DejaVu Sans"/>
              </a:defRPr>
            </a:pPr>
            <a:r>
              <a:t>asosiy</a:t>
            </a:r>
          </a:p>
          <a:p>
            <a:pPr>
              <a:spcAft>
                <a:spcPts val="800"/>
              </a:spcAft>
              <a:defRPr sz="3700" b="1">
                <a:solidFill>
                  <a:srgbClr val="1976D2"/>
                </a:solidFill>
                <a:latin typeface="DejaVu Sans"/>
              </a:defRPr>
            </a:pPr>
            <a:r>
              <a:t>tushuncha</a:t>
            </a:r>
          </a:p>
        </p:txBody>
      </p:sp>
      <p:sp>
        <p:nvSpPr>
          <p:cNvPr id="8" name="TextBox 7"/>
          <p:cNvSpPr txBox="1"/>
          <p:nvPr/>
        </p:nvSpPr>
        <p:spPr>
          <a:xfrm>
            <a:off x="3931920" y="2240280"/>
            <a:ext cx="502920" cy="365760"/>
          </a:xfrm>
          <a:prstGeom prst="rect">
            <a:avLst/>
          </a:prstGeom>
          <a:noFill/>
        </p:spPr>
        <p:txBody>
          <a:bodyPr wrap="square" lIns="27432" rIns="27432" tIns="18288" bIns="0">
            <a:spAutoFit/>
          </a:bodyPr>
          <a:lstStyle/>
          <a:p>
            <a:pPr>
              <a:spcAft>
                <a:spcPts val="800"/>
              </a:spcAft>
              <a:defRPr sz="1500" b="1">
                <a:solidFill>
                  <a:srgbClr val="10A5B3"/>
                </a:solidFill>
                <a:latin typeface="DejaVu Sans"/>
              </a:defRPr>
            </a:pPr>
            <a:r>
              <a:t>01</a:t>
            </a:r>
          </a:p>
        </p:txBody>
      </p:sp>
      <p:sp>
        <p:nvSpPr>
          <p:cNvPr id="9" name="TextBox 8"/>
          <p:cNvSpPr txBox="1"/>
          <p:nvPr/>
        </p:nvSpPr>
        <p:spPr>
          <a:xfrm>
            <a:off x="4572000" y="2240280"/>
            <a:ext cx="6903720" cy="457200"/>
          </a:xfrm>
          <a:prstGeom prst="rect">
            <a:avLst/>
          </a:prstGeom>
          <a:noFill/>
        </p:spPr>
        <p:txBody>
          <a:bodyPr wrap="square" lIns="27432" rIns="27432" tIns="18288" bIns="0">
            <a:spAutoFit/>
          </a:bodyPr>
          <a:lstStyle/>
          <a:p>
            <a:pPr>
              <a:spcAft>
                <a:spcPts val="800"/>
              </a:spcAft>
              <a:defRPr sz="2000" b="0">
                <a:solidFill>
                  <a:srgbClr val="17324C"/>
                </a:solidFill>
                <a:latin typeface="DejaVu Sans"/>
              </a:defRPr>
            </a:pPr>
            <a:r>
              <a:t>Bulutli hisoblash nima?</a:t>
            </a:r>
          </a:p>
        </p:txBody>
      </p:sp>
      <p:cxnSp>
        <p:nvCxnSpPr>
          <p:cNvPr id="10" name="Connector 9"/>
          <p:cNvCxnSpPr/>
          <p:nvPr/>
        </p:nvCxnSpPr>
        <p:spPr>
          <a:xfrm>
            <a:off x="4572000" y="2724912"/>
            <a:ext cx="6766560" cy="0"/>
          </a:xfrm>
          <a:prstGeom prst="line">
            <a:avLst/>
          </a:prstGeom>
          <a:ln w="12700">
            <a:solidFill>
              <a:srgbClr val="E7EFF5"/>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931920" y="2816352"/>
            <a:ext cx="502920" cy="365760"/>
          </a:xfrm>
          <a:prstGeom prst="rect">
            <a:avLst/>
          </a:prstGeom>
          <a:noFill/>
        </p:spPr>
        <p:txBody>
          <a:bodyPr wrap="square" lIns="27432" rIns="27432" tIns="18288" bIns="0">
            <a:spAutoFit/>
          </a:bodyPr>
          <a:lstStyle/>
          <a:p>
            <a:pPr>
              <a:spcAft>
                <a:spcPts val="800"/>
              </a:spcAft>
              <a:defRPr sz="1500" b="1">
                <a:solidFill>
                  <a:srgbClr val="10A5B3"/>
                </a:solidFill>
                <a:latin typeface="DejaVu Sans"/>
              </a:defRPr>
            </a:pPr>
            <a:r>
              <a:t>02</a:t>
            </a:r>
          </a:p>
        </p:txBody>
      </p:sp>
      <p:sp>
        <p:nvSpPr>
          <p:cNvPr id="12" name="TextBox 11"/>
          <p:cNvSpPr txBox="1"/>
          <p:nvPr/>
        </p:nvSpPr>
        <p:spPr>
          <a:xfrm>
            <a:off x="4572000" y="2816352"/>
            <a:ext cx="6903720" cy="457200"/>
          </a:xfrm>
          <a:prstGeom prst="rect">
            <a:avLst/>
          </a:prstGeom>
          <a:noFill/>
        </p:spPr>
        <p:txBody>
          <a:bodyPr wrap="square" lIns="27432" rIns="27432" tIns="18288" bIns="0">
            <a:spAutoFit/>
          </a:bodyPr>
          <a:lstStyle/>
          <a:p>
            <a:pPr>
              <a:spcAft>
                <a:spcPts val="800"/>
              </a:spcAft>
              <a:defRPr sz="2000" b="0">
                <a:solidFill>
                  <a:srgbClr val="17324C"/>
                </a:solidFill>
                <a:latin typeface="DejaVu Sans"/>
              </a:defRPr>
            </a:pPr>
            <a:r>
              <a:t>Bulutning besh asosiy belgisi</a:t>
            </a:r>
          </a:p>
        </p:txBody>
      </p:sp>
      <p:cxnSp>
        <p:nvCxnSpPr>
          <p:cNvPr id="13" name="Connector 12"/>
          <p:cNvCxnSpPr/>
          <p:nvPr/>
        </p:nvCxnSpPr>
        <p:spPr>
          <a:xfrm>
            <a:off x="4572000" y="3300984"/>
            <a:ext cx="6766560" cy="0"/>
          </a:xfrm>
          <a:prstGeom prst="line">
            <a:avLst/>
          </a:prstGeom>
          <a:ln w="12700">
            <a:solidFill>
              <a:srgbClr val="E7EFF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931920" y="3392424"/>
            <a:ext cx="502920" cy="365760"/>
          </a:xfrm>
          <a:prstGeom prst="rect">
            <a:avLst/>
          </a:prstGeom>
          <a:noFill/>
        </p:spPr>
        <p:txBody>
          <a:bodyPr wrap="square" lIns="27432" rIns="27432" tIns="18288" bIns="0">
            <a:spAutoFit/>
          </a:bodyPr>
          <a:lstStyle/>
          <a:p>
            <a:pPr>
              <a:spcAft>
                <a:spcPts val="800"/>
              </a:spcAft>
              <a:defRPr sz="1500" b="1">
                <a:solidFill>
                  <a:srgbClr val="10A5B3"/>
                </a:solidFill>
                <a:latin typeface="DejaVu Sans"/>
              </a:defRPr>
            </a:pPr>
            <a:r>
              <a:t>03</a:t>
            </a:r>
          </a:p>
        </p:txBody>
      </p:sp>
      <p:sp>
        <p:nvSpPr>
          <p:cNvPr id="15" name="TextBox 14"/>
          <p:cNvSpPr txBox="1"/>
          <p:nvPr/>
        </p:nvSpPr>
        <p:spPr>
          <a:xfrm>
            <a:off x="4572000" y="3392424"/>
            <a:ext cx="6903720" cy="457200"/>
          </a:xfrm>
          <a:prstGeom prst="rect">
            <a:avLst/>
          </a:prstGeom>
          <a:noFill/>
        </p:spPr>
        <p:txBody>
          <a:bodyPr wrap="square" lIns="27432" rIns="27432" tIns="18288" bIns="0">
            <a:spAutoFit/>
          </a:bodyPr>
          <a:lstStyle/>
          <a:p>
            <a:pPr>
              <a:spcAft>
                <a:spcPts val="800"/>
              </a:spcAft>
              <a:defRPr sz="2000" b="0">
                <a:solidFill>
                  <a:srgbClr val="17324C"/>
                </a:solidFill>
                <a:latin typeface="DejaVu Sans"/>
              </a:defRPr>
            </a:pPr>
            <a:r>
              <a:t>Rivojlanish yo‘li</a:t>
            </a:r>
          </a:p>
        </p:txBody>
      </p:sp>
      <p:cxnSp>
        <p:nvCxnSpPr>
          <p:cNvPr id="16" name="Connector 15"/>
          <p:cNvCxnSpPr/>
          <p:nvPr/>
        </p:nvCxnSpPr>
        <p:spPr>
          <a:xfrm>
            <a:off x="4572000" y="3877056"/>
            <a:ext cx="6766560" cy="0"/>
          </a:xfrm>
          <a:prstGeom prst="line">
            <a:avLst/>
          </a:prstGeom>
          <a:ln w="12700">
            <a:solidFill>
              <a:srgbClr val="E7EFF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931920" y="3968496"/>
            <a:ext cx="502920" cy="365760"/>
          </a:xfrm>
          <a:prstGeom prst="rect">
            <a:avLst/>
          </a:prstGeom>
          <a:noFill/>
        </p:spPr>
        <p:txBody>
          <a:bodyPr wrap="square" lIns="27432" rIns="27432" tIns="18288" bIns="0">
            <a:spAutoFit/>
          </a:bodyPr>
          <a:lstStyle/>
          <a:p>
            <a:pPr>
              <a:spcAft>
                <a:spcPts val="800"/>
              </a:spcAft>
              <a:defRPr sz="1500" b="1">
                <a:solidFill>
                  <a:srgbClr val="10A5B3"/>
                </a:solidFill>
                <a:latin typeface="DejaVu Sans"/>
              </a:defRPr>
            </a:pPr>
            <a:r>
              <a:t>04</a:t>
            </a:r>
          </a:p>
        </p:txBody>
      </p:sp>
      <p:sp>
        <p:nvSpPr>
          <p:cNvPr id="18" name="TextBox 17"/>
          <p:cNvSpPr txBox="1"/>
          <p:nvPr/>
        </p:nvSpPr>
        <p:spPr>
          <a:xfrm>
            <a:off x="4572000" y="3968496"/>
            <a:ext cx="6903720" cy="457200"/>
          </a:xfrm>
          <a:prstGeom prst="rect">
            <a:avLst/>
          </a:prstGeom>
          <a:noFill/>
        </p:spPr>
        <p:txBody>
          <a:bodyPr wrap="square" lIns="27432" rIns="27432" tIns="18288" bIns="0">
            <a:spAutoFit/>
          </a:bodyPr>
          <a:lstStyle/>
          <a:p>
            <a:pPr>
              <a:spcAft>
                <a:spcPts val="800"/>
              </a:spcAft>
              <a:defRPr sz="2000" b="0">
                <a:solidFill>
                  <a:srgbClr val="17324C"/>
                </a:solidFill>
                <a:latin typeface="DejaVu Sans"/>
              </a:defRPr>
            </a:pPr>
            <a:r>
              <a:t>An’anaviy tizim va bulut</a:t>
            </a:r>
          </a:p>
        </p:txBody>
      </p:sp>
      <p:cxnSp>
        <p:nvCxnSpPr>
          <p:cNvPr id="19" name="Connector 18"/>
          <p:cNvCxnSpPr/>
          <p:nvPr/>
        </p:nvCxnSpPr>
        <p:spPr>
          <a:xfrm>
            <a:off x="4572000" y="4453128"/>
            <a:ext cx="6766560" cy="0"/>
          </a:xfrm>
          <a:prstGeom prst="line">
            <a:avLst/>
          </a:prstGeom>
          <a:ln w="12700">
            <a:solidFill>
              <a:srgbClr val="E7EFF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931920" y="4544568"/>
            <a:ext cx="502920" cy="365760"/>
          </a:xfrm>
          <a:prstGeom prst="rect">
            <a:avLst/>
          </a:prstGeom>
          <a:noFill/>
        </p:spPr>
        <p:txBody>
          <a:bodyPr wrap="square" lIns="27432" rIns="27432" tIns="18288" bIns="0">
            <a:spAutoFit/>
          </a:bodyPr>
          <a:lstStyle/>
          <a:p>
            <a:pPr>
              <a:spcAft>
                <a:spcPts val="800"/>
              </a:spcAft>
              <a:defRPr sz="1500" b="1">
                <a:solidFill>
                  <a:srgbClr val="10A5B3"/>
                </a:solidFill>
                <a:latin typeface="DejaVu Sans"/>
              </a:defRPr>
            </a:pPr>
            <a:r>
              <a:t>05</a:t>
            </a:r>
          </a:p>
        </p:txBody>
      </p:sp>
      <p:sp>
        <p:nvSpPr>
          <p:cNvPr id="21" name="TextBox 20"/>
          <p:cNvSpPr txBox="1"/>
          <p:nvPr/>
        </p:nvSpPr>
        <p:spPr>
          <a:xfrm>
            <a:off x="4572000" y="4544568"/>
            <a:ext cx="6903720" cy="457200"/>
          </a:xfrm>
          <a:prstGeom prst="rect">
            <a:avLst/>
          </a:prstGeom>
          <a:noFill/>
        </p:spPr>
        <p:txBody>
          <a:bodyPr wrap="square" lIns="27432" rIns="27432" tIns="18288" bIns="0">
            <a:spAutoFit/>
          </a:bodyPr>
          <a:lstStyle/>
          <a:p>
            <a:pPr>
              <a:spcAft>
                <a:spcPts val="800"/>
              </a:spcAft>
              <a:defRPr sz="2000" b="0">
                <a:solidFill>
                  <a:srgbClr val="17324C"/>
                </a:solidFill>
                <a:latin typeface="DejaVu Sans"/>
              </a:defRPr>
            </a:pPr>
            <a:r>
              <a:t>Afzalliklar va cheklovlar</a:t>
            </a:r>
          </a:p>
        </p:txBody>
      </p:sp>
      <p:cxnSp>
        <p:nvCxnSpPr>
          <p:cNvPr id="22" name="Connector 21"/>
          <p:cNvCxnSpPr/>
          <p:nvPr/>
        </p:nvCxnSpPr>
        <p:spPr>
          <a:xfrm>
            <a:off x="4572000" y="5029200"/>
            <a:ext cx="6766560" cy="0"/>
          </a:xfrm>
          <a:prstGeom prst="line">
            <a:avLst/>
          </a:prstGeom>
          <a:ln w="12700">
            <a:solidFill>
              <a:srgbClr val="E7EFF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931920" y="5120640"/>
            <a:ext cx="502920" cy="365760"/>
          </a:xfrm>
          <a:prstGeom prst="rect">
            <a:avLst/>
          </a:prstGeom>
          <a:noFill/>
        </p:spPr>
        <p:txBody>
          <a:bodyPr wrap="square" lIns="27432" rIns="27432" tIns="18288" bIns="0">
            <a:spAutoFit/>
          </a:bodyPr>
          <a:lstStyle/>
          <a:p>
            <a:pPr>
              <a:spcAft>
                <a:spcPts val="800"/>
              </a:spcAft>
              <a:defRPr sz="1500" b="1">
                <a:solidFill>
                  <a:srgbClr val="10A5B3"/>
                </a:solidFill>
                <a:latin typeface="DejaVu Sans"/>
              </a:defRPr>
            </a:pPr>
            <a:r>
              <a:t>06</a:t>
            </a:r>
          </a:p>
        </p:txBody>
      </p:sp>
      <p:sp>
        <p:nvSpPr>
          <p:cNvPr id="24" name="TextBox 23"/>
          <p:cNvSpPr txBox="1"/>
          <p:nvPr/>
        </p:nvSpPr>
        <p:spPr>
          <a:xfrm>
            <a:off x="4572000" y="5120640"/>
            <a:ext cx="6903720" cy="457200"/>
          </a:xfrm>
          <a:prstGeom prst="rect">
            <a:avLst/>
          </a:prstGeom>
          <a:noFill/>
        </p:spPr>
        <p:txBody>
          <a:bodyPr wrap="square" lIns="27432" rIns="27432" tIns="18288" bIns="0">
            <a:spAutoFit/>
          </a:bodyPr>
          <a:lstStyle/>
          <a:p>
            <a:pPr>
              <a:spcAft>
                <a:spcPts val="800"/>
              </a:spcAft>
              <a:defRPr sz="2000" b="0">
                <a:solidFill>
                  <a:srgbClr val="17324C"/>
                </a:solidFill>
                <a:latin typeface="DejaVu Sans"/>
              </a:defRPr>
            </a:pPr>
            <a:r>
              <a:t>Hisob-kitob va mas’uliyat</a:t>
            </a:r>
          </a:p>
        </p:txBody>
      </p:sp>
      <p:cxnSp>
        <p:nvCxnSpPr>
          <p:cNvPr id="25" name="Connector 24"/>
          <p:cNvCxnSpPr/>
          <p:nvPr/>
        </p:nvCxnSpPr>
        <p:spPr>
          <a:xfrm>
            <a:off x="4572000" y="5605272"/>
            <a:ext cx="6766560" cy="0"/>
          </a:xfrm>
          <a:prstGeom prst="line">
            <a:avLst/>
          </a:prstGeom>
          <a:ln w="12700">
            <a:solidFill>
              <a:srgbClr val="E7EFF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365760"/>
            <a:ext cx="9784080" cy="320040"/>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BULUT TEXNOLOGIYALARI  /  KIRISH</a:t>
            </a:r>
          </a:p>
        </p:txBody>
      </p:sp>
      <p:cxnSp>
        <p:nvCxnSpPr>
          <p:cNvPr id="3" name="Connector 2"/>
          <p:cNvCxnSpPr/>
          <p:nvPr/>
        </p:nvCxnSpPr>
        <p:spPr>
          <a:xfrm>
            <a:off x="640080" y="877824"/>
            <a:ext cx="10881360" cy="0"/>
          </a:xfrm>
          <a:prstGeom prst="line">
            <a:avLst/>
          </a:prstGeom>
          <a:ln w="12700">
            <a:solidFill>
              <a:srgbClr val="D4E8F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069848"/>
            <a:ext cx="10789920" cy="960120"/>
          </a:xfrm>
          <a:prstGeom prst="rect">
            <a:avLst/>
          </a:prstGeom>
          <a:noFill/>
        </p:spPr>
        <p:txBody>
          <a:bodyPr wrap="square" lIns="27432" rIns="27432" tIns="18288" bIns="0">
            <a:spAutoFit/>
          </a:bodyPr>
          <a:lstStyle/>
          <a:p>
            <a:pPr>
              <a:spcAft>
                <a:spcPts val="800"/>
              </a:spcAft>
              <a:defRPr sz="3000" b="1">
                <a:solidFill>
                  <a:srgbClr val="17324C"/>
                </a:solidFill>
                <a:latin typeface="DejaVu Sans"/>
              </a:defRPr>
            </a:pPr>
            <a:r>
              <a:t>Bulutli hisoblash nima?</a:t>
            </a:r>
          </a:p>
        </p:txBody>
      </p:sp>
      <p:sp>
        <p:nvSpPr>
          <p:cNvPr id="5" name="TextBox 4"/>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7324C"/>
                </a:solidFill>
                <a:latin typeface="DejaVu Sans"/>
              </a:defRPr>
            </a:pPr>
            <a:r>
              <a:t>BTST206   /   M01   /   2027–2028</a:t>
            </a:r>
          </a:p>
        </p:txBody>
      </p:sp>
      <p:sp>
        <p:nvSpPr>
          <p:cNvPr id="6" name="TextBox 5"/>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03 / 13</a:t>
            </a:r>
          </a:p>
        </p:txBody>
      </p:sp>
      <p:sp>
        <p:nvSpPr>
          <p:cNvPr id="7" name="TextBox 6"/>
          <p:cNvSpPr txBox="1"/>
          <p:nvPr/>
        </p:nvSpPr>
        <p:spPr>
          <a:xfrm>
            <a:off x="685800" y="2221992"/>
            <a:ext cx="5532120" cy="1097280"/>
          </a:xfrm>
          <a:prstGeom prst="rect">
            <a:avLst/>
          </a:prstGeom>
          <a:noFill/>
        </p:spPr>
        <p:txBody>
          <a:bodyPr wrap="square" lIns="27432" rIns="27432" tIns="18288" bIns="0">
            <a:spAutoFit/>
          </a:bodyPr>
          <a:lstStyle/>
          <a:p>
            <a:pPr>
              <a:spcAft>
                <a:spcPts val="800"/>
              </a:spcAft>
              <a:defRPr sz="2800" b="1">
                <a:solidFill>
                  <a:srgbClr val="1976D2"/>
                </a:solidFill>
                <a:latin typeface="DejaVu Sans"/>
              </a:defRPr>
            </a:pPr>
            <a:r>
              <a:t>Server, saqlash va tarmoq — talab bo‘yicha xizmat.</a:t>
            </a:r>
          </a:p>
        </p:txBody>
      </p:sp>
      <p:sp>
        <p:nvSpPr>
          <p:cNvPr id="8" name="TextBox 7"/>
          <p:cNvSpPr txBox="1"/>
          <p:nvPr/>
        </p:nvSpPr>
        <p:spPr>
          <a:xfrm>
            <a:off x="685800" y="3502152"/>
            <a:ext cx="5440680" cy="1234440"/>
          </a:xfrm>
          <a:prstGeom prst="rect">
            <a:avLst/>
          </a:prstGeom>
          <a:noFill/>
        </p:spPr>
        <p:txBody>
          <a:bodyPr wrap="square" lIns="27432" rIns="27432" tIns="18288" bIns="0">
            <a:spAutoFit/>
          </a:bodyPr>
          <a:lstStyle/>
          <a:p>
            <a:pPr>
              <a:spcAft>
                <a:spcPts val="800"/>
              </a:spcAft>
              <a:defRPr sz="2200" b="0">
                <a:solidFill>
                  <a:srgbClr val="17324C"/>
                </a:solidFill>
                <a:latin typeface="DejaVu Sans"/>
              </a:defRPr>
            </a:pPr>
            <a:r>
              <a:t>Bulut ortida real serverlar, tarmoq, elektr va ma’lumotlar markazlari ishlaydi.</a:t>
            </a:r>
          </a:p>
        </p:txBody>
      </p:sp>
      <p:pic>
        <p:nvPicPr>
          <p:cNvPr id="9" name="Picture 8" descr="photo2.jpg"/>
          <p:cNvPicPr>
            <a:picLocks noChangeAspect="1"/>
          </p:cNvPicPr>
          <p:nvPr/>
        </p:nvPicPr>
        <p:blipFill>
          <a:blip r:embed="rId2"/>
          <a:srcRect t="4103" b="4103"/>
          <a:stretch>
            <a:fillRect/>
          </a:stretch>
        </p:blipFill>
        <p:spPr>
          <a:xfrm>
            <a:off x="6675120" y="2194560"/>
            <a:ext cx="4754880" cy="3273552"/>
          </a:xfrm>
          <a:prstGeom prst="rect">
            <a:avLst/>
          </a:prstGeom>
        </p:spPr>
      </p:pic>
      <p:sp>
        <p:nvSpPr>
          <p:cNvPr id="10" name="TextBox 9"/>
          <p:cNvSpPr txBox="1"/>
          <p:nvPr/>
        </p:nvSpPr>
        <p:spPr>
          <a:xfrm>
            <a:off x="6675120" y="5522976"/>
            <a:ext cx="4754880" cy="292608"/>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Internet manbasi: 13-slaydda</a:t>
            </a:r>
          </a:p>
        </p:txBody>
      </p:sp>
      <p:sp>
        <p:nvSpPr>
          <p:cNvPr id="11" name="Rounded Rectangle 10"/>
          <p:cNvSpPr/>
          <p:nvPr/>
        </p:nvSpPr>
        <p:spPr>
          <a:xfrm>
            <a:off x="685800" y="5166360"/>
            <a:ext cx="5440680" cy="1060704"/>
          </a:xfrm>
          <a:prstGeom prst="roundRect">
            <a:avLst>
              <a:gd name="adj" fmla="val 8000"/>
            </a:avLst>
          </a:prstGeom>
          <a:solidFill>
            <a:srgbClr val="EDF6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5257800"/>
            <a:ext cx="5111496" cy="256032"/>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ASOSIY FARQ</a:t>
            </a:r>
          </a:p>
        </p:txBody>
      </p:sp>
      <p:sp>
        <p:nvSpPr>
          <p:cNvPr id="13" name="TextBox 12"/>
          <p:cNvSpPr txBox="1"/>
          <p:nvPr/>
        </p:nvSpPr>
        <p:spPr>
          <a:xfrm>
            <a:off x="850392" y="5559552"/>
            <a:ext cx="5111496" cy="630936"/>
          </a:xfrm>
          <a:prstGeom prst="rect">
            <a:avLst/>
          </a:prstGeom>
          <a:noFill/>
        </p:spPr>
        <p:txBody>
          <a:bodyPr wrap="square" lIns="27432" rIns="27432" tIns="18288" bIns="0">
            <a:spAutoFit/>
          </a:bodyPr>
          <a:lstStyle/>
          <a:p>
            <a:pPr>
              <a:spcAft>
                <a:spcPts val="800"/>
              </a:spcAft>
              <a:defRPr sz="1800" b="0">
                <a:solidFill>
                  <a:srgbClr val="17324C"/>
                </a:solidFill>
                <a:latin typeface="DejaVu Sans"/>
              </a:defRPr>
            </a:pPr>
            <a:r>
              <a:t>Uskunani sotib olish o‘rniga resursdan foydalaniladi.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365760"/>
            <a:ext cx="9784080" cy="320040"/>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BULUT TEXNOLOGIYALARI  /  KIRISH</a:t>
            </a:r>
          </a:p>
        </p:txBody>
      </p:sp>
      <p:cxnSp>
        <p:nvCxnSpPr>
          <p:cNvPr id="3" name="Connector 2"/>
          <p:cNvCxnSpPr/>
          <p:nvPr/>
        </p:nvCxnSpPr>
        <p:spPr>
          <a:xfrm>
            <a:off x="640080" y="877824"/>
            <a:ext cx="10881360" cy="0"/>
          </a:xfrm>
          <a:prstGeom prst="line">
            <a:avLst/>
          </a:prstGeom>
          <a:ln w="12700">
            <a:solidFill>
              <a:srgbClr val="D4E8F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069848"/>
            <a:ext cx="10789920" cy="960120"/>
          </a:xfrm>
          <a:prstGeom prst="rect">
            <a:avLst/>
          </a:prstGeom>
          <a:noFill/>
        </p:spPr>
        <p:txBody>
          <a:bodyPr wrap="square" lIns="27432" rIns="27432" tIns="18288" bIns="0">
            <a:spAutoFit/>
          </a:bodyPr>
          <a:lstStyle/>
          <a:p>
            <a:pPr>
              <a:spcAft>
                <a:spcPts val="800"/>
              </a:spcAft>
              <a:defRPr sz="3000" b="1">
                <a:solidFill>
                  <a:srgbClr val="17324C"/>
                </a:solidFill>
                <a:latin typeface="DejaVu Sans"/>
              </a:defRPr>
            </a:pPr>
            <a:r>
              <a:t>Bulutning besh asosiy belgisi</a:t>
            </a:r>
          </a:p>
        </p:txBody>
      </p:sp>
      <p:sp>
        <p:nvSpPr>
          <p:cNvPr id="5" name="TextBox 4"/>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7324C"/>
                </a:solidFill>
                <a:latin typeface="DejaVu Sans"/>
              </a:defRPr>
            </a:pPr>
            <a:r>
              <a:t>BTST206   /   M01   /   2027–2028</a:t>
            </a:r>
          </a:p>
        </p:txBody>
      </p:sp>
      <p:sp>
        <p:nvSpPr>
          <p:cNvPr id="6" name="TextBox 5"/>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04 / 13</a:t>
            </a:r>
          </a:p>
        </p:txBody>
      </p:sp>
      <p:sp>
        <p:nvSpPr>
          <p:cNvPr id="7" name="Oval 6"/>
          <p:cNvSpPr/>
          <p:nvPr/>
        </p:nvSpPr>
        <p:spPr>
          <a:xfrm>
            <a:off x="1307592" y="2267712"/>
            <a:ext cx="640080" cy="640080"/>
          </a:xfrm>
          <a:prstGeom prst="ellipse">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99616" y="2423160"/>
            <a:ext cx="274320" cy="274320"/>
          </a:xfrm>
          <a:prstGeom prst="rect">
            <a:avLst/>
          </a:prstGeom>
          <a:noFill/>
        </p:spPr>
        <p:txBody>
          <a:bodyPr wrap="square" lIns="27432" rIns="27432" tIns="18288" bIns="0">
            <a:spAutoFit/>
          </a:bodyPr>
          <a:lstStyle/>
          <a:p>
            <a:pPr>
              <a:spcAft>
                <a:spcPts val="800"/>
              </a:spcAft>
              <a:defRPr sz="1700" b="1">
                <a:solidFill>
                  <a:srgbClr val="FFFFFF"/>
                </a:solidFill>
                <a:latin typeface="DejaVu Sans"/>
              </a:defRPr>
            </a:pPr>
            <a:r>
              <a:t>1</a:t>
            </a:r>
          </a:p>
        </p:txBody>
      </p:sp>
      <p:sp>
        <p:nvSpPr>
          <p:cNvPr id="9" name="TextBox 8"/>
          <p:cNvSpPr txBox="1"/>
          <p:nvPr/>
        </p:nvSpPr>
        <p:spPr>
          <a:xfrm>
            <a:off x="685800" y="3182112"/>
            <a:ext cx="1965960" cy="1005840"/>
          </a:xfrm>
          <a:prstGeom prst="rect">
            <a:avLst/>
          </a:prstGeom>
          <a:noFill/>
        </p:spPr>
        <p:txBody>
          <a:bodyPr wrap="square" lIns="27432" rIns="27432" tIns="18288" bIns="0">
            <a:spAutoFit/>
          </a:bodyPr>
          <a:lstStyle/>
          <a:p>
            <a:pPr algn="ctr">
              <a:spcAft>
                <a:spcPts val="800"/>
              </a:spcAft>
              <a:defRPr sz="2200" b="1">
                <a:solidFill>
                  <a:srgbClr val="17324C"/>
                </a:solidFill>
                <a:latin typeface="DejaVu Sans"/>
              </a:defRPr>
            </a:pPr>
            <a:r>
              <a:t>O‘ziga</a:t>
            </a:r>
          </a:p>
          <a:p>
            <a:pPr algn="ctr">
              <a:spcAft>
                <a:spcPts val="800"/>
              </a:spcAft>
              <a:defRPr sz="2200" b="1">
                <a:solidFill>
                  <a:srgbClr val="17324C"/>
                </a:solidFill>
                <a:latin typeface="DejaVu Sans"/>
              </a:defRPr>
            </a:pPr>
            <a:r>
              <a:t>xizmat</a:t>
            </a:r>
          </a:p>
        </p:txBody>
      </p:sp>
      <p:sp>
        <p:nvSpPr>
          <p:cNvPr id="10" name="Oval 9"/>
          <p:cNvSpPr/>
          <p:nvPr/>
        </p:nvSpPr>
        <p:spPr>
          <a:xfrm>
            <a:off x="3529584" y="2267712"/>
            <a:ext cx="640080" cy="640080"/>
          </a:xfrm>
          <a:prstGeom prst="ellipse">
            <a:avLst/>
          </a:prstGeom>
          <a:solidFill>
            <a:srgbClr val="10A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21608" y="2423160"/>
            <a:ext cx="274320" cy="274320"/>
          </a:xfrm>
          <a:prstGeom prst="rect">
            <a:avLst/>
          </a:prstGeom>
          <a:noFill/>
        </p:spPr>
        <p:txBody>
          <a:bodyPr wrap="square" lIns="27432" rIns="27432" tIns="18288" bIns="0">
            <a:spAutoFit/>
          </a:bodyPr>
          <a:lstStyle/>
          <a:p>
            <a:pPr>
              <a:spcAft>
                <a:spcPts val="800"/>
              </a:spcAft>
              <a:defRPr sz="1700" b="1">
                <a:solidFill>
                  <a:srgbClr val="FFFFFF"/>
                </a:solidFill>
                <a:latin typeface="DejaVu Sans"/>
              </a:defRPr>
            </a:pPr>
            <a:r>
              <a:t>2</a:t>
            </a:r>
          </a:p>
        </p:txBody>
      </p:sp>
      <p:sp>
        <p:nvSpPr>
          <p:cNvPr id="12" name="TextBox 11"/>
          <p:cNvSpPr txBox="1"/>
          <p:nvPr/>
        </p:nvSpPr>
        <p:spPr>
          <a:xfrm>
            <a:off x="2907792" y="3182112"/>
            <a:ext cx="1965960" cy="1005840"/>
          </a:xfrm>
          <a:prstGeom prst="rect">
            <a:avLst/>
          </a:prstGeom>
          <a:noFill/>
        </p:spPr>
        <p:txBody>
          <a:bodyPr wrap="square" lIns="27432" rIns="27432" tIns="18288" bIns="0">
            <a:spAutoFit/>
          </a:bodyPr>
          <a:lstStyle/>
          <a:p>
            <a:pPr algn="ctr">
              <a:spcAft>
                <a:spcPts val="800"/>
              </a:spcAft>
              <a:defRPr sz="2200" b="1">
                <a:solidFill>
                  <a:srgbClr val="17324C"/>
                </a:solidFill>
                <a:latin typeface="DejaVu Sans"/>
              </a:defRPr>
            </a:pPr>
            <a:r>
              <a:t>Tarmoq</a:t>
            </a:r>
          </a:p>
          <a:p>
            <a:pPr algn="ctr">
              <a:spcAft>
                <a:spcPts val="800"/>
              </a:spcAft>
              <a:defRPr sz="2200" b="1">
                <a:solidFill>
                  <a:srgbClr val="17324C"/>
                </a:solidFill>
                <a:latin typeface="DejaVu Sans"/>
              </a:defRPr>
            </a:pPr>
            <a:r>
              <a:t>orqali kirish</a:t>
            </a:r>
          </a:p>
        </p:txBody>
      </p:sp>
      <p:sp>
        <p:nvSpPr>
          <p:cNvPr id="13" name="Oval 12"/>
          <p:cNvSpPr/>
          <p:nvPr/>
        </p:nvSpPr>
        <p:spPr>
          <a:xfrm>
            <a:off x="5751576" y="2267712"/>
            <a:ext cx="640080" cy="640080"/>
          </a:xfrm>
          <a:prstGeom prst="ellipse">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0" y="2423160"/>
            <a:ext cx="274320" cy="274320"/>
          </a:xfrm>
          <a:prstGeom prst="rect">
            <a:avLst/>
          </a:prstGeom>
          <a:noFill/>
        </p:spPr>
        <p:txBody>
          <a:bodyPr wrap="square" lIns="27432" rIns="27432" tIns="18288" bIns="0">
            <a:spAutoFit/>
          </a:bodyPr>
          <a:lstStyle/>
          <a:p>
            <a:pPr>
              <a:spcAft>
                <a:spcPts val="800"/>
              </a:spcAft>
              <a:defRPr sz="1700" b="1">
                <a:solidFill>
                  <a:srgbClr val="FFFFFF"/>
                </a:solidFill>
                <a:latin typeface="DejaVu Sans"/>
              </a:defRPr>
            </a:pPr>
            <a:r>
              <a:t>3</a:t>
            </a:r>
          </a:p>
        </p:txBody>
      </p:sp>
      <p:sp>
        <p:nvSpPr>
          <p:cNvPr id="15" name="TextBox 14"/>
          <p:cNvSpPr txBox="1"/>
          <p:nvPr/>
        </p:nvSpPr>
        <p:spPr>
          <a:xfrm>
            <a:off x="5129784" y="3182112"/>
            <a:ext cx="1965960" cy="1005840"/>
          </a:xfrm>
          <a:prstGeom prst="rect">
            <a:avLst/>
          </a:prstGeom>
          <a:noFill/>
        </p:spPr>
        <p:txBody>
          <a:bodyPr wrap="square" lIns="27432" rIns="27432" tIns="18288" bIns="0">
            <a:spAutoFit/>
          </a:bodyPr>
          <a:lstStyle/>
          <a:p>
            <a:pPr algn="ctr">
              <a:spcAft>
                <a:spcPts val="800"/>
              </a:spcAft>
              <a:defRPr sz="2200" b="1">
                <a:solidFill>
                  <a:srgbClr val="17324C"/>
                </a:solidFill>
                <a:latin typeface="DejaVu Sans"/>
              </a:defRPr>
            </a:pPr>
            <a:r>
              <a:t>Umumiy</a:t>
            </a:r>
          </a:p>
          <a:p>
            <a:pPr algn="ctr">
              <a:spcAft>
                <a:spcPts val="800"/>
              </a:spcAft>
              <a:defRPr sz="2200" b="1">
                <a:solidFill>
                  <a:srgbClr val="17324C"/>
                </a:solidFill>
                <a:latin typeface="DejaVu Sans"/>
              </a:defRPr>
            </a:pPr>
            <a:r>
              <a:t>resurs havzasi</a:t>
            </a:r>
          </a:p>
        </p:txBody>
      </p:sp>
      <p:sp>
        <p:nvSpPr>
          <p:cNvPr id="16" name="Oval 15"/>
          <p:cNvSpPr/>
          <p:nvPr/>
        </p:nvSpPr>
        <p:spPr>
          <a:xfrm>
            <a:off x="7973568" y="2267712"/>
            <a:ext cx="640080" cy="640080"/>
          </a:xfrm>
          <a:prstGeom prst="ellipse">
            <a:avLst/>
          </a:prstGeom>
          <a:solidFill>
            <a:srgbClr val="10A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2" y="2423160"/>
            <a:ext cx="274320" cy="274320"/>
          </a:xfrm>
          <a:prstGeom prst="rect">
            <a:avLst/>
          </a:prstGeom>
          <a:noFill/>
        </p:spPr>
        <p:txBody>
          <a:bodyPr wrap="square" lIns="27432" rIns="27432" tIns="18288" bIns="0">
            <a:spAutoFit/>
          </a:bodyPr>
          <a:lstStyle/>
          <a:p>
            <a:pPr>
              <a:spcAft>
                <a:spcPts val="800"/>
              </a:spcAft>
              <a:defRPr sz="1700" b="1">
                <a:solidFill>
                  <a:srgbClr val="FFFFFF"/>
                </a:solidFill>
                <a:latin typeface="DejaVu Sans"/>
              </a:defRPr>
            </a:pPr>
            <a:r>
              <a:t>4</a:t>
            </a:r>
          </a:p>
        </p:txBody>
      </p:sp>
      <p:sp>
        <p:nvSpPr>
          <p:cNvPr id="18" name="TextBox 17"/>
          <p:cNvSpPr txBox="1"/>
          <p:nvPr/>
        </p:nvSpPr>
        <p:spPr>
          <a:xfrm>
            <a:off x="7351776" y="3182112"/>
            <a:ext cx="1965960" cy="1005840"/>
          </a:xfrm>
          <a:prstGeom prst="rect">
            <a:avLst/>
          </a:prstGeom>
          <a:noFill/>
        </p:spPr>
        <p:txBody>
          <a:bodyPr wrap="square" lIns="27432" rIns="27432" tIns="18288" bIns="0">
            <a:spAutoFit/>
          </a:bodyPr>
          <a:lstStyle/>
          <a:p>
            <a:pPr algn="ctr">
              <a:spcAft>
                <a:spcPts val="800"/>
              </a:spcAft>
              <a:defRPr sz="2200" b="1">
                <a:solidFill>
                  <a:srgbClr val="17324C"/>
                </a:solidFill>
                <a:latin typeface="DejaVu Sans"/>
              </a:defRPr>
            </a:pPr>
            <a:r>
              <a:t>Tez</a:t>
            </a:r>
          </a:p>
          <a:p>
            <a:pPr algn="ctr">
              <a:spcAft>
                <a:spcPts val="800"/>
              </a:spcAft>
              <a:defRPr sz="2200" b="1">
                <a:solidFill>
                  <a:srgbClr val="17324C"/>
                </a:solidFill>
                <a:latin typeface="DejaVu Sans"/>
              </a:defRPr>
            </a:pPr>
            <a:r>
              <a:t>elastiklik</a:t>
            </a:r>
          </a:p>
        </p:txBody>
      </p:sp>
      <p:sp>
        <p:nvSpPr>
          <p:cNvPr id="19" name="Oval 18"/>
          <p:cNvSpPr/>
          <p:nvPr/>
        </p:nvSpPr>
        <p:spPr>
          <a:xfrm>
            <a:off x="10195560" y="2267712"/>
            <a:ext cx="640080" cy="640080"/>
          </a:xfrm>
          <a:prstGeom prst="ellipse">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87584" y="2423160"/>
            <a:ext cx="274320" cy="274320"/>
          </a:xfrm>
          <a:prstGeom prst="rect">
            <a:avLst/>
          </a:prstGeom>
          <a:noFill/>
        </p:spPr>
        <p:txBody>
          <a:bodyPr wrap="square" lIns="27432" rIns="27432" tIns="18288" bIns="0">
            <a:spAutoFit/>
          </a:bodyPr>
          <a:lstStyle/>
          <a:p>
            <a:pPr>
              <a:spcAft>
                <a:spcPts val="800"/>
              </a:spcAft>
              <a:defRPr sz="1700" b="1">
                <a:solidFill>
                  <a:srgbClr val="FFFFFF"/>
                </a:solidFill>
                <a:latin typeface="DejaVu Sans"/>
              </a:defRPr>
            </a:pPr>
            <a:r>
              <a:t>5</a:t>
            </a:r>
          </a:p>
        </p:txBody>
      </p:sp>
      <p:sp>
        <p:nvSpPr>
          <p:cNvPr id="21" name="TextBox 20"/>
          <p:cNvSpPr txBox="1"/>
          <p:nvPr/>
        </p:nvSpPr>
        <p:spPr>
          <a:xfrm>
            <a:off x="9573768" y="3182112"/>
            <a:ext cx="1965960" cy="1005840"/>
          </a:xfrm>
          <a:prstGeom prst="rect">
            <a:avLst/>
          </a:prstGeom>
          <a:noFill/>
        </p:spPr>
        <p:txBody>
          <a:bodyPr wrap="square" lIns="27432" rIns="27432" tIns="18288" bIns="0">
            <a:spAutoFit/>
          </a:bodyPr>
          <a:lstStyle/>
          <a:p>
            <a:pPr algn="ctr">
              <a:spcAft>
                <a:spcPts val="800"/>
              </a:spcAft>
              <a:defRPr sz="2200" b="1">
                <a:solidFill>
                  <a:srgbClr val="17324C"/>
                </a:solidFill>
                <a:latin typeface="DejaVu Sans"/>
              </a:defRPr>
            </a:pPr>
            <a:r>
              <a:t>Sarflanish</a:t>
            </a:r>
          </a:p>
          <a:p>
            <a:pPr algn="ctr">
              <a:spcAft>
                <a:spcPts val="800"/>
              </a:spcAft>
              <a:defRPr sz="2200" b="1">
                <a:solidFill>
                  <a:srgbClr val="17324C"/>
                </a:solidFill>
                <a:latin typeface="DejaVu Sans"/>
              </a:defRPr>
            </a:pPr>
            <a:r>
              <a:t>hisobi</a:t>
            </a:r>
          </a:p>
        </p:txBody>
      </p:sp>
      <p:sp>
        <p:nvSpPr>
          <p:cNvPr id="22" name="Rounded Rectangle 21"/>
          <p:cNvSpPr/>
          <p:nvPr/>
        </p:nvSpPr>
        <p:spPr>
          <a:xfrm>
            <a:off x="685800" y="4663440"/>
            <a:ext cx="10789920" cy="1371600"/>
          </a:xfrm>
          <a:prstGeom prst="roundRect">
            <a:avLst>
              <a:gd name="adj" fmla="val 8000"/>
            </a:avLst>
          </a:prstGeom>
          <a:solidFill>
            <a:srgbClr val="EDF6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 y="4782312"/>
            <a:ext cx="10460736" cy="256032"/>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ELASTIKLIK MISOLI</a:t>
            </a:r>
          </a:p>
        </p:txBody>
      </p:sp>
      <p:sp>
        <p:nvSpPr>
          <p:cNvPr id="24" name="TextBox 23"/>
          <p:cNvSpPr txBox="1"/>
          <p:nvPr/>
        </p:nvSpPr>
        <p:spPr>
          <a:xfrm>
            <a:off x="850392" y="5102352"/>
            <a:ext cx="10460736" cy="868680"/>
          </a:xfrm>
          <a:prstGeom prst="rect">
            <a:avLst/>
          </a:prstGeom>
          <a:noFill/>
        </p:spPr>
        <p:txBody>
          <a:bodyPr wrap="square" lIns="27432" rIns="27432" tIns="18288" bIns="0">
            <a:spAutoFit/>
          </a:bodyPr>
          <a:lstStyle/>
          <a:p>
            <a:pPr>
              <a:spcAft>
                <a:spcPts val="800"/>
              </a:spcAft>
              <a:defRPr sz="2000" b="0">
                <a:solidFill>
                  <a:srgbClr val="17324C"/>
                </a:solidFill>
                <a:latin typeface="DejaVu Sans"/>
              </a:defRPr>
            </a:pPr>
            <a:r>
              <a:t>Qabul paytida server nusxalari ko‘payadi, yuklama pasayganda kamayadi.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365760"/>
            <a:ext cx="9784080" cy="320040"/>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BULUT TEXNOLOGIYALARI  /  KIRISH</a:t>
            </a:r>
          </a:p>
        </p:txBody>
      </p:sp>
      <p:cxnSp>
        <p:nvCxnSpPr>
          <p:cNvPr id="3" name="Connector 2"/>
          <p:cNvCxnSpPr/>
          <p:nvPr/>
        </p:nvCxnSpPr>
        <p:spPr>
          <a:xfrm>
            <a:off x="640080" y="877824"/>
            <a:ext cx="10881360" cy="0"/>
          </a:xfrm>
          <a:prstGeom prst="line">
            <a:avLst/>
          </a:prstGeom>
          <a:ln w="12700">
            <a:solidFill>
              <a:srgbClr val="D4E8F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069848"/>
            <a:ext cx="10789920" cy="960120"/>
          </a:xfrm>
          <a:prstGeom prst="rect">
            <a:avLst/>
          </a:prstGeom>
          <a:noFill/>
        </p:spPr>
        <p:txBody>
          <a:bodyPr wrap="square" lIns="27432" rIns="27432" tIns="18288" bIns="0">
            <a:spAutoFit/>
          </a:bodyPr>
          <a:lstStyle/>
          <a:p>
            <a:pPr>
              <a:spcAft>
                <a:spcPts val="800"/>
              </a:spcAft>
              <a:defRPr sz="3000" b="1">
                <a:solidFill>
                  <a:srgbClr val="17324C"/>
                </a:solidFill>
                <a:latin typeface="DejaVu Sans"/>
              </a:defRPr>
            </a:pPr>
            <a:r>
              <a:t>Rivojlanish yo‘li</a:t>
            </a:r>
          </a:p>
        </p:txBody>
      </p:sp>
      <p:sp>
        <p:nvSpPr>
          <p:cNvPr id="5" name="TextBox 4"/>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7324C"/>
                </a:solidFill>
                <a:latin typeface="DejaVu Sans"/>
              </a:defRPr>
            </a:pPr>
            <a:r>
              <a:t>BTST206   /   M01   /   2027–2028</a:t>
            </a:r>
          </a:p>
        </p:txBody>
      </p:sp>
      <p:sp>
        <p:nvSpPr>
          <p:cNvPr id="6" name="TextBox 5"/>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05 / 13</a:t>
            </a:r>
          </a:p>
        </p:txBody>
      </p:sp>
      <p:cxnSp>
        <p:nvCxnSpPr>
          <p:cNvPr id="7" name="Connector 6"/>
          <p:cNvCxnSpPr/>
          <p:nvPr/>
        </p:nvCxnSpPr>
        <p:spPr>
          <a:xfrm>
            <a:off x="1188720" y="2926080"/>
            <a:ext cx="9509760" cy="0"/>
          </a:xfrm>
          <a:prstGeom prst="line">
            <a:avLst/>
          </a:prstGeom>
          <a:ln w="50800">
            <a:solidFill>
              <a:srgbClr val="B3D9EC"/>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05840" y="2670048"/>
            <a:ext cx="502920" cy="502920"/>
          </a:xfrm>
          <a:prstGeom prst="ellipse">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566160"/>
            <a:ext cx="2560320" cy="868680"/>
          </a:xfrm>
          <a:prstGeom prst="rect">
            <a:avLst/>
          </a:prstGeom>
          <a:noFill/>
        </p:spPr>
        <p:txBody>
          <a:bodyPr wrap="square" lIns="27432" rIns="27432" tIns="18288" bIns="0">
            <a:spAutoFit/>
          </a:bodyPr>
          <a:lstStyle/>
          <a:p>
            <a:pPr>
              <a:spcAft>
                <a:spcPts val="800"/>
              </a:spcAft>
              <a:defRPr sz="2200" b="1">
                <a:solidFill>
                  <a:srgbClr val="17324C"/>
                </a:solidFill>
                <a:latin typeface="DejaVu Sans"/>
              </a:defRPr>
            </a:pPr>
            <a:r>
              <a:t>Vaqtni bo‘lishish</a:t>
            </a:r>
          </a:p>
        </p:txBody>
      </p:sp>
      <p:sp>
        <p:nvSpPr>
          <p:cNvPr id="10" name="TextBox 9"/>
          <p:cNvSpPr txBox="1"/>
          <p:nvPr/>
        </p:nvSpPr>
        <p:spPr>
          <a:xfrm>
            <a:off x="731520" y="4608576"/>
            <a:ext cx="2560320" cy="1051560"/>
          </a:xfrm>
          <a:prstGeom prst="rect">
            <a:avLst/>
          </a:prstGeom>
          <a:noFill/>
        </p:spPr>
        <p:txBody>
          <a:bodyPr wrap="square" lIns="27432" rIns="27432" tIns="18288" bIns="0">
            <a:spAutoFit/>
          </a:bodyPr>
          <a:lstStyle/>
          <a:p>
            <a:pPr>
              <a:spcAft>
                <a:spcPts val="800"/>
              </a:spcAft>
              <a:defRPr sz="2000" b="0">
                <a:solidFill>
                  <a:srgbClr val="42627B"/>
                </a:solidFill>
                <a:latin typeface="DejaVu Sans"/>
              </a:defRPr>
            </a:pPr>
            <a:r>
              <a:t>Bitta quvvat — ko‘p foydalanuvchi</a:t>
            </a:r>
          </a:p>
        </p:txBody>
      </p:sp>
      <p:sp>
        <p:nvSpPr>
          <p:cNvPr id="11" name="Oval 10"/>
          <p:cNvSpPr/>
          <p:nvPr/>
        </p:nvSpPr>
        <p:spPr>
          <a:xfrm>
            <a:off x="3840480" y="2670048"/>
            <a:ext cx="502920" cy="502920"/>
          </a:xfrm>
          <a:prstGeom prst="ellipse">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3566160"/>
            <a:ext cx="2560320" cy="868680"/>
          </a:xfrm>
          <a:prstGeom prst="rect">
            <a:avLst/>
          </a:prstGeom>
          <a:noFill/>
        </p:spPr>
        <p:txBody>
          <a:bodyPr wrap="square" lIns="27432" rIns="27432" tIns="18288" bIns="0">
            <a:spAutoFit/>
          </a:bodyPr>
          <a:lstStyle/>
          <a:p>
            <a:pPr>
              <a:spcAft>
                <a:spcPts val="800"/>
              </a:spcAft>
              <a:defRPr sz="2200" b="1">
                <a:solidFill>
                  <a:srgbClr val="17324C"/>
                </a:solidFill>
                <a:latin typeface="DejaVu Sans"/>
              </a:defRPr>
            </a:pPr>
            <a:r>
              <a:t>Virtualizatsiya</a:t>
            </a:r>
          </a:p>
        </p:txBody>
      </p:sp>
      <p:sp>
        <p:nvSpPr>
          <p:cNvPr id="13" name="TextBox 12"/>
          <p:cNvSpPr txBox="1"/>
          <p:nvPr/>
        </p:nvSpPr>
        <p:spPr>
          <a:xfrm>
            <a:off x="3566160" y="4608576"/>
            <a:ext cx="2560320" cy="1051560"/>
          </a:xfrm>
          <a:prstGeom prst="rect">
            <a:avLst/>
          </a:prstGeom>
          <a:noFill/>
        </p:spPr>
        <p:txBody>
          <a:bodyPr wrap="square" lIns="27432" rIns="27432" tIns="18288" bIns="0">
            <a:spAutoFit/>
          </a:bodyPr>
          <a:lstStyle/>
          <a:p>
            <a:pPr>
              <a:spcAft>
                <a:spcPts val="800"/>
              </a:spcAft>
              <a:defRPr sz="2000" b="0">
                <a:solidFill>
                  <a:srgbClr val="42627B"/>
                </a:solidFill>
                <a:latin typeface="DejaVu Sans"/>
              </a:defRPr>
            </a:pPr>
            <a:r>
              <a:t>Bitta server — bir nechta VM</a:t>
            </a:r>
          </a:p>
        </p:txBody>
      </p:sp>
      <p:sp>
        <p:nvSpPr>
          <p:cNvPr id="14" name="Oval 13"/>
          <p:cNvSpPr/>
          <p:nvPr/>
        </p:nvSpPr>
        <p:spPr>
          <a:xfrm>
            <a:off x="6675120" y="2670048"/>
            <a:ext cx="502920" cy="502920"/>
          </a:xfrm>
          <a:prstGeom prst="ellipse">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3566160"/>
            <a:ext cx="2560320" cy="868680"/>
          </a:xfrm>
          <a:prstGeom prst="rect">
            <a:avLst/>
          </a:prstGeom>
          <a:noFill/>
        </p:spPr>
        <p:txBody>
          <a:bodyPr wrap="square" lIns="27432" rIns="27432" tIns="18288" bIns="0">
            <a:spAutoFit/>
          </a:bodyPr>
          <a:lstStyle/>
          <a:p>
            <a:pPr>
              <a:spcAft>
                <a:spcPts val="800"/>
              </a:spcAft>
              <a:defRPr sz="2200" b="1">
                <a:solidFill>
                  <a:srgbClr val="17324C"/>
                </a:solidFill>
                <a:latin typeface="DejaVu Sans"/>
              </a:defRPr>
            </a:pPr>
            <a:r>
              <a:t>Ommaviy bulut</a:t>
            </a:r>
          </a:p>
        </p:txBody>
      </p:sp>
      <p:sp>
        <p:nvSpPr>
          <p:cNvPr id="16" name="TextBox 15"/>
          <p:cNvSpPr txBox="1"/>
          <p:nvPr/>
        </p:nvSpPr>
        <p:spPr>
          <a:xfrm>
            <a:off x="6400800" y="4608576"/>
            <a:ext cx="2560320" cy="1051560"/>
          </a:xfrm>
          <a:prstGeom prst="rect">
            <a:avLst/>
          </a:prstGeom>
          <a:noFill/>
        </p:spPr>
        <p:txBody>
          <a:bodyPr wrap="square" lIns="27432" rIns="27432" tIns="18288" bIns="0">
            <a:spAutoFit/>
          </a:bodyPr>
          <a:lstStyle/>
          <a:p>
            <a:pPr>
              <a:spcAft>
                <a:spcPts val="800"/>
              </a:spcAft>
              <a:defRPr sz="2000" b="0">
                <a:solidFill>
                  <a:srgbClr val="42627B"/>
                </a:solidFill>
                <a:latin typeface="DejaVu Sans"/>
              </a:defRPr>
            </a:pPr>
            <a:r>
              <a:t>Internet orqali xizmat</a:t>
            </a:r>
          </a:p>
        </p:txBody>
      </p:sp>
      <p:sp>
        <p:nvSpPr>
          <p:cNvPr id="17" name="Oval 16"/>
          <p:cNvSpPr/>
          <p:nvPr/>
        </p:nvSpPr>
        <p:spPr>
          <a:xfrm>
            <a:off x="9509760" y="2670048"/>
            <a:ext cx="502920" cy="502920"/>
          </a:xfrm>
          <a:prstGeom prst="ellipse">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0" y="3566160"/>
            <a:ext cx="2560320" cy="868680"/>
          </a:xfrm>
          <a:prstGeom prst="rect">
            <a:avLst/>
          </a:prstGeom>
          <a:noFill/>
        </p:spPr>
        <p:txBody>
          <a:bodyPr wrap="square" lIns="27432" rIns="27432" tIns="18288" bIns="0">
            <a:spAutoFit/>
          </a:bodyPr>
          <a:lstStyle/>
          <a:p>
            <a:pPr>
              <a:spcAft>
                <a:spcPts val="800"/>
              </a:spcAft>
              <a:defRPr sz="2200" b="1">
                <a:solidFill>
                  <a:srgbClr val="17324C"/>
                </a:solidFill>
                <a:latin typeface="DejaVu Sans"/>
              </a:defRPr>
            </a:pPr>
            <a:r>
              <a:t>Cloud-native</a:t>
            </a:r>
          </a:p>
        </p:txBody>
      </p:sp>
      <p:sp>
        <p:nvSpPr>
          <p:cNvPr id="19" name="TextBox 18"/>
          <p:cNvSpPr txBox="1"/>
          <p:nvPr/>
        </p:nvSpPr>
        <p:spPr>
          <a:xfrm>
            <a:off x="9235440" y="4608576"/>
            <a:ext cx="2560320" cy="1051560"/>
          </a:xfrm>
          <a:prstGeom prst="rect">
            <a:avLst/>
          </a:prstGeom>
          <a:noFill/>
        </p:spPr>
        <p:txBody>
          <a:bodyPr wrap="square" lIns="27432" rIns="27432" tIns="18288" bIns="0">
            <a:spAutoFit/>
          </a:bodyPr>
          <a:lstStyle/>
          <a:p>
            <a:pPr>
              <a:spcAft>
                <a:spcPts val="800"/>
              </a:spcAft>
              <a:defRPr sz="2000" b="0">
                <a:solidFill>
                  <a:srgbClr val="42627B"/>
                </a:solidFill>
                <a:latin typeface="DejaVu Sans"/>
              </a:defRPr>
            </a:pPr>
            <a:r>
              <a:t>Konteyner va boshqariladigan platforma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365760"/>
            <a:ext cx="9784080" cy="320040"/>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BULUT TEXNOLOGIYALARI  /  KIRISH</a:t>
            </a:r>
          </a:p>
        </p:txBody>
      </p:sp>
      <p:cxnSp>
        <p:nvCxnSpPr>
          <p:cNvPr id="3" name="Connector 2"/>
          <p:cNvCxnSpPr/>
          <p:nvPr/>
        </p:nvCxnSpPr>
        <p:spPr>
          <a:xfrm>
            <a:off x="640080" y="877824"/>
            <a:ext cx="10881360" cy="0"/>
          </a:xfrm>
          <a:prstGeom prst="line">
            <a:avLst/>
          </a:prstGeom>
          <a:ln w="12700">
            <a:solidFill>
              <a:srgbClr val="D4E8F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069848"/>
            <a:ext cx="10789920" cy="960120"/>
          </a:xfrm>
          <a:prstGeom prst="rect">
            <a:avLst/>
          </a:prstGeom>
          <a:noFill/>
        </p:spPr>
        <p:txBody>
          <a:bodyPr wrap="square" lIns="27432" rIns="27432" tIns="18288" bIns="0">
            <a:spAutoFit/>
          </a:bodyPr>
          <a:lstStyle/>
          <a:p>
            <a:pPr>
              <a:spcAft>
                <a:spcPts val="800"/>
              </a:spcAft>
              <a:defRPr sz="3000" b="1">
                <a:solidFill>
                  <a:srgbClr val="17324C"/>
                </a:solidFill>
                <a:latin typeface="DejaVu Sans"/>
              </a:defRPr>
            </a:pPr>
            <a:r>
              <a:t>An’anaviy tizim va bulut</a:t>
            </a:r>
          </a:p>
        </p:txBody>
      </p:sp>
      <p:sp>
        <p:nvSpPr>
          <p:cNvPr id="5" name="TextBox 4"/>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7324C"/>
                </a:solidFill>
                <a:latin typeface="DejaVu Sans"/>
              </a:defRPr>
            </a:pPr>
            <a:r>
              <a:t>BTST206   /   M01   /   2027–2028</a:t>
            </a:r>
          </a:p>
        </p:txBody>
      </p:sp>
      <p:sp>
        <p:nvSpPr>
          <p:cNvPr id="6" name="TextBox 5"/>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06 / 13</a:t>
            </a:r>
          </a:p>
        </p:txBody>
      </p:sp>
      <p:sp>
        <p:nvSpPr>
          <p:cNvPr id="7" name="Rounded Rectangle 6"/>
          <p:cNvSpPr/>
          <p:nvPr/>
        </p:nvSpPr>
        <p:spPr>
          <a:xfrm>
            <a:off x="685800" y="2212848"/>
            <a:ext cx="5257800" cy="3584448"/>
          </a:xfrm>
          <a:prstGeom prst="roundRect">
            <a:avLst>
              <a:gd name="adj" fmla="val 8000"/>
            </a:avLst>
          </a:prstGeom>
          <a:solidFill>
            <a:srgbClr val="EDF6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505456"/>
            <a:ext cx="4709160" cy="594360"/>
          </a:xfrm>
          <a:prstGeom prst="rect">
            <a:avLst/>
          </a:prstGeom>
          <a:noFill/>
        </p:spPr>
        <p:txBody>
          <a:bodyPr wrap="square" lIns="27432" rIns="27432" tIns="18288" bIns="0">
            <a:spAutoFit/>
          </a:bodyPr>
          <a:lstStyle/>
          <a:p>
            <a:pPr>
              <a:spcAft>
                <a:spcPts val="800"/>
              </a:spcAft>
              <a:defRPr sz="2600" b="1">
                <a:solidFill>
                  <a:srgbClr val="1976D2"/>
                </a:solidFill>
                <a:latin typeface="DejaVu Sans"/>
              </a:defRPr>
            </a:pPr>
            <a:r>
              <a:t>An’anaviy tizim</a:t>
            </a:r>
          </a:p>
        </p:txBody>
      </p:sp>
      <p:sp>
        <p:nvSpPr>
          <p:cNvPr id="9" name="TextBox 8"/>
          <p:cNvSpPr txBox="1"/>
          <p:nvPr/>
        </p:nvSpPr>
        <p:spPr>
          <a:xfrm>
            <a:off x="960120" y="3273552"/>
            <a:ext cx="4709160" cy="1115568"/>
          </a:xfrm>
          <a:prstGeom prst="rect">
            <a:avLst/>
          </a:prstGeom>
          <a:noFill/>
        </p:spPr>
        <p:txBody>
          <a:bodyPr wrap="square" lIns="27432" rIns="27432" tIns="18288" bIns="0">
            <a:spAutoFit/>
          </a:bodyPr>
          <a:lstStyle/>
          <a:p>
            <a:pPr>
              <a:spcAft>
                <a:spcPts val="800"/>
              </a:spcAft>
              <a:defRPr sz="2300" b="0">
                <a:solidFill>
                  <a:srgbClr val="17324C"/>
                </a:solidFill>
                <a:latin typeface="DejaVu Sans"/>
              </a:defRPr>
            </a:pPr>
            <a:r>
              <a:t>Uskuna, joy va xizmatni tashkilot boshqaradi.</a:t>
            </a:r>
          </a:p>
        </p:txBody>
      </p:sp>
      <p:sp>
        <p:nvSpPr>
          <p:cNvPr id="10" name="TextBox 9"/>
          <p:cNvSpPr txBox="1"/>
          <p:nvPr/>
        </p:nvSpPr>
        <p:spPr>
          <a:xfrm>
            <a:off x="960120" y="4663440"/>
            <a:ext cx="4709160" cy="841248"/>
          </a:xfrm>
          <a:prstGeom prst="rect">
            <a:avLst/>
          </a:prstGeom>
          <a:noFill/>
        </p:spPr>
        <p:txBody>
          <a:bodyPr wrap="square" lIns="27432" rIns="27432" tIns="18288" bIns="0">
            <a:spAutoFit/>
          </a:bodyPr>
          <a:lstStyle/>
          <a:p>
            <a:pPr>
              <a:spcAft>
                <a:spcPts val="800"/>
              </a:spcAft>
              <a:defRPr sz="2100" b="1">
                <a:solidFill>
                  <a:srgbClr val="17324C"/>
                </a:solidFill>
                <a:latin typeface="DejaVu Sans"/>
              </a:defRPr>
            </a:pPr>
            <a:r>
              <a:t>Quvvat oldindan rejalashtiriladi.</a:t>
            </a:r>
          </a:p>
        </p:txBody>
      </p:sp>
      <p:sp>
        <p:nvSpPr>
          <p:cNvPr id="11" name="Rounded Rectangle 10"/>
          <p:cNvSpPr/>
          <p:nvPr/>
        </p:nvSpPr>
        <p:spPr>
          <a:xfrm>
            <a:off x="6217920" y="2212848"/>
            <a:ext cx="5257800" cy="3584448"/>
          </a:xfrm>
          <a:prstGeom prst="roundRect">
            <a:avLst>
              <a:gd name="adj" fmla="val 8000"/>
            </a:avLst>
          </a:prstGeom>
          <a:solidFill>
            <a:srgbClr val="EA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505456"/>
            <a:ext cx="4709160" cy="594360"/>
          </a:xfrm>
          <a:prstGeom prst="rect">
            <a:avLst/>
          </a:prstGeom>
          <a:noFill/>
        </p:spPr>
        <p:txBody>
          <a:bodyPr wrap="square" lIns="27432" rIns="27432" tIns="18288" bIns="0">
            <a:spAutoFit/>
          </a:bodyPr>
          <a:lstStyle/>
          <a:p>
            <a:pPr>
              <a:spcAft>
                <a:spcPts val="800"/>
              </a:spcAft>
              <a:defRPr sz="2600" b="1">
                <a:solidFill>
                  <a:srgbClr val="1976D2"/>
                </a:solidFill>
                <a:latin typeface="DejaVu Sans"/>
              </a:defRPr>
            </a:pPr>
            <a:r>
              <a:t>Bulut modeli</a:t>
            </a:r>
          </a:p>
        </p:txBody>
      </p:sp>
      <p:sp>
        <p:nvSpPr>
          <p:cNvPr id="13" name="TextBox 12"/>
          <p:cNvSpPr txBox="1"/>
          <p:nvPr/>
        </p:nvSpPr>
        <p:spPr>
          <a:xfrm>
            <a:off x="6492240" y="3273552"/>
            <a:ext cx="4709160" cy="1115568"/>
          </a:xfrm>
          <a:prstGeom prst="rect">
            <a:avLst/>
          </a:prstGeom>
          <a:noFill/>
        </p:spPr>
        <p:txBody>
          <a:bodyPr wrap="square" lIns="27432" rIns="27432" tIns="18288" bIns="0">
            <a:spAutoFit/>
          </a:bodyPr>
          <a:lstStyle/>
          <a:p>
            <a:pPr>
              <a:spcAft>
                <a:spcPts val="800"/>
              </a:spcAft>
              <a:defRPr sz="2300" b="0">
                <a:solidFill>
                  <a:srgbClr val="17324C"/>
                </a:solidFill>
                <a:latin typeface="DejaVu Sans"/>
              </a:defRPr>
            </a:pPr>
            <a:r>
              <a:t>Jismoniy infratuzilmaning bir qismini provayder yuritadi.</a:t>
            </a:r>
          </a:p>
        </p:txBody>
      </p:sp>
      <p:sp>
        <p:nvSpPr>
          <p:cNvPr id="14" name="TextBox 13"/>
          <p:cNvSpPr txBox="1"/>
          <p:nvPr/>
        </p:nvSpPr>
        <p:spPr>
          <a:xfrm>
            <a:off x="6492240" y="4663440"/>
            <a:ext cx="4709160" cy="841248"/>
          </a:xfrm>
          <a:prstGeom prst="rect">
            <a:avLst/>
          </a:prstGeom>
          <a:noFill/>
        </p:spPr>
        <p:txBody>
          <a:bodyPr wrap="square" lIns="27432" rIns="27432" tIns="18288" bIns="0">
            <a:spAutoFit/>
          </a:bodyPr>
          <a:lstStyle/>
          <a:p>
            <a:pPr>
              <a:spcAft>
                <a:spcPts val="800"/>
              </a:spcAft>
              <a:defRPr sz="2100" b="1">
                <a:solidFill>
                  <a:srgbClr val="17324C"/>
                </a:solidFill>
                <a:latin typeface="DejaVu Sans"/>
              </a:defRPr>
            </a:pPr>
            <a:r>
              <a:t>Resurs talabga mos ajratiladi.</a:t>
            </a:r>
          </a:p>
        </p:txBody>
      </p:sp>
      <p:sp>
        <p:nvSpPr>
          <p:cNvPr id="15" name="TextBox 14"/>
          <p:cNvSpPr txBox="1"/>
          <p:nvPr/>
        </p:nvSpPr>
        <p:spPr>
          <a:xfrm>
            <a:off x="731520" y="6007608"/>
            <a:ext cx="10515600" cy="274320"/>
          </a:xfrm>
          <a:prstGeom prst="rect">
            <a:avLst/>
          </a:prstGeom>
          <a:noFill/>
        </p:spPr>
        <p:txBody>
          <a:bodyPr wrap="square" lIns="27432" rIns="27432" tIns="18288" bIns="0">
            <a:spAutoFit/>
          </a:bodyPr>
          <a:lstStyle/>
          <a:p>
            <a:pPr>
              <a:spcAft>
                <a:spcPts val="800"/>
              </a:spcAft>
              <a:defRPr sz="1700" b="0">
                <a:solidFill>
                  <a:srgbClr val="17324C"/>
                </a:solidFill>
                <a:latin typeface="DejaVu Sans"/>
              </a:defRPr>
            </a:pPr>
            <a:r>
              <a:t>Ikkalasida ham ilova, ma’lumot va ruxsatlarni boshqarish zarur.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365760"/>
            <a:ext cx="9784080" cy="320040"/>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BULUT TEXNOLOGIYALARI  /  KIRISH</a:t>
            </a:r>
          </a:p>
        </p:txBody>
      </p:sp>
      <p:cxnSp>
        <p:nvCxnSpPr>
          <p:cNvPr id="3" name="Connector 2"/>
          <p:cNvCxnSpPr/>
          <p:nvPr/>
        </p:nvCxnSpPr>
        <p:spPr>
          <a:xfrm>
            <a:off x="640080" y="877824"/>
            <a:ext cx="10881360" cy="0"/>
          </a:xfrm>
          <a:prstGeom prst="line">
            <a:avLst/>
          </a:prstGeom>
          <a:ln w="12700">
            <a:solidFill>
              <a:srgbClr val="D4E8F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069848"/>
            <a:ext cx="10789920" cy="960120"/>
          </a:xfrm>
          <a:prstGeom prst="rect">
            <a:avLst/>
          </a:prstGeom>
          <a:noFill/>
        </p:spPr>
        <p:txBody>
          <a:bodyPr wrap="square" lIns="27432" rIns="27432" tIns="18288" bIns="0">
            <a:spAutoFit/>
          </a:bodyPr>
          <a:lstStyle/>
          <a:p>
            <a:pPr>
              <a:spcAft>
                <a:spcPts val="800"/>
              </a:spcAft>
              <a:defRPr sz="3000" b="1">
                <a:solidFill>
                  <a:srgbClr val="17324C"/>
                </a:solidFill>
                <a:latin typeface="DejaVu Sans"/>
              </a:defRPr>
            </a:pPr>
            <a:r>
              <a:t>Afzalliklar va cheklovlar</a:t>
            </a:r>
          </a:p>
        </p:txBody>
      </p:sp>
      <p:sp>
        <p:nvSpPr>
          <p:cNvPr id="5" name="TextBox 4"/>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7324C"/>
                </a:solidFill>
                <a:latin typeface="DejaVu Sans"/>
              </a:defRPr>
            </a:pPr>
            <a:r>
              <a:t>BTST206   /   M01   /   2027–2028</a:t>
            </a:r>
          </a:p>
        </p:txBody>
      </p:sp>
      <p:sp>
        <p:nvSpPr>
          <p:cNvPr id="6" name="TextBox 5"/>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07 / 13</a:t>
            </a:r>
          </a:p>
        </p:txBody>
      </p:sp>
      <p:sp>
        <p:nvSpPr>
          <p:cNvPr id="7" name="TextBox 6"/>
          <p:cNvSpPr txBox="1"/>
          <p:nvPr/>
        </p:nvSpPr>
        <p:spPr>
          <a:xfrm>
            <a:off x="685800" y="2176272"/>
            <a:ext cx="10698480" cy="731520"/>
          </a:xfrm>
          <a:prstGeom prst="rect">
            <a:avLst/>
          </a:prstGeom>
          <a:noFill/>
        </p:spPr>
        <p:txBody>
          <a:bodyPr wrap="square" lIns="27432" rIns="27432" tIns="18288" bIns="0">
            <a:spAutoFit/>
          </a:bodyPr>
          <a:lstStyle/>
          <a:p>
            <a:pPr>
              <a:spcAft>
                <a:spcPts val="800"/>
              </a:spcAft>
              <a:defRPr sz="2700" b="1">
                <a:solidFill>
                  <a:srgbClr val="1976D2"/>
                </a:solidFill>
                <a:latin typeface="DejaVu Sans"/>
              </a:defRPr>
            </a:pPr>
            <a:r>
              <a:t>Tezlik va moslashuvchanlik — boshqaruv bilan birga.</a:t>
            </a:r>
          </a:p>
        </p:txBody>
      </p:sp>
      <p:sp>
        <p:nvSpPr>
          <p:cNvPr id="8" name="Rectangle 7"/>
          <p:cNvSpPr/>
          <p:nvPr/>
        </p:nvSpPr>
        <p:spPr>
          <a:xfrm>
            <a:off x="685800" y="3136392"/>
            <a:ext cx="64008" cy="2606040"/>
          </a:xfrm>
          <a:prstGeom prst="rect">
            <a:avLst/>
          </a:prstGeom>
          <a:solidFill>
            <a:srgbClr val="10A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3136392"/>
            <a:ext cx="4937760" cy="365760"/>
          </a:xfrm>
          <a:prstGeom prst="rect">
            <a:avLst/>
          </a:prstGeom>
          <a:noFill/>
        </p:spPr>
        <p:txBody>
          <a:bodyPr wrap="square" lIns="27432" rIns="27432" tIns="18288" bIns="0">
            <a:spAutoFit/>
          </a:bodyPr>
          <a:lstStyle/>
          <a:p>
            <a:pPr>
              <a:spcAft>
                <a:spcPts val="800"/>
              </a:spcAft>
              <a:defRPr sz="1400" b="1">
                <a:solidFill>
                  <a:srgbClr val="10A5B3"/>
                </a:solidFill>
                <a:latin typeface="DejaVu Sans"/>
              </a:defRPr>
            </a:pPr>
            <a:r>
              <a:t>FOYDA</a:t>
            </a:r>
          </a:p>
        </p:txBody>
      </p:sp>
      <p:sp>
        <p:nvSpPr>
          <p:cNvPr id="10" name="TextBox 9"/>
          <p:cNvSpPr txBox="1"/>
          <p:nvPr/>
        </p:nvSpPr>
        <p:spPr>
          <a:xfrm>
            <a:off x="905256" y="3767328"/>
            <a:ext cx="4892040" cy="1874519"/>
          </a:xfrm>
          <a:prstGeom prst="rect">
            <a:avLst/>
          </a:prstGeom>
          <a:noFill/>
        </p:spPr>
        <p:txBody>
          <a:bodyPr wrap="square" lIns="27432" rIns="27432" tIns="18288" bIns="0">
            <a:spAutoFit/>
          </a:bodyPr>
          <a:lstStyle/>
          <a:p>
            <a:pPr>
              <a:spcAft>
                <a:spcPts val="800"/>
              </a:spcAft>
              <a:defRPr sz="2300" b="0">
                <a:solidFill>
                  <a:srgbClr val="17324C"/>
                </a:solidFill>
                <a:latin typeface="DejaVu Sans"/>
              </a:defRPr>
            </a:pPr>
            <a:r>
              <a:t>Tez ishga tushirish</a:t>
            </a:r>
          </a:p>
          <a:p>
            <a:pPr>
              <a:spcAft>
                <a:spcPts val="800"/>
              </a:spcAft>
              <a:defRPr sz="2300" b="0">
                <a:solidFill>
                  <a:srgbClr val="17324C"/>
                </a:solidFill>
                <a:latin typeface="DejaVu Sans"/>
              </a:defRPr>
            </a:pPr>
            <a:r>
              <a:t>Moslashuvchan quvvat</a:t>
            </a:r>
          </a:p>
          <a:p>
            <a:pPr>
              <a:spcAft>
                <a:spcPts val="800"/>
              </a:spcAft>
              <a:defRPr sz="2300" b="0">
                <a:solidFill>
                  <a:srgbClr val="17324C"/>
                </a:solidFill>
                <a:latin typeface="DejaVu Sans"/>
              </a:defRPr>
            </a:pPr>
            <a:r>
              <a:t>Katta boshlang‘ich xarajatni kamaytirish</a:t>
            </a:r>
          </a:p>
        </p:txBody>
      </p:sp>
      <p:sp>
        <p:nvSpPr>
          <p:cNvPr id="11" name="Rectangle 10"/>
          <p:cNvSpPr/>
          <p:nvPr/>
        </p:nvSpPr>
        <p:spPr>
          <a:xfrm>
            <a:off x="6217920" y="3136392"/>
            <a:ext cx="64008" cy="260604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7376" y="3136392"/>
            <a:ext cx="4937760" cy="365760"/>
          </a:xfrm>
          <a:prstGeom prst="rect">
            <a:avLst/>
          </a:prstGeom>
          <a:noFill/>
        </p:spPr>
        <p:txBody>
          <a:bodyPr wrap="square" lIns="27432" rIns="27432" tIns="18288" bIns="0">
            <a:spAutoFit/>
          </a:bodyPr>
          <a:lstStyle/>
          <a:p>
            <a:pPr>
              <a:spcAft>
                <a:spcPts val="800"/>
              </a:spcAft>
              <a:defRPr sz="1400" b="1">
                <a:solidFill>
                  <a:srgbClr val="1976D2"/>
                </a:solidFill>
                <a:latin typeface="DejaVu Sans"/>
              </a:defRPr>
            </a:pPr>
            <a:r>
              <a:t>E’TIBOR TALAB QILADI</a:t>
            </a:r>
          </a:p>
        </p:txBody>
      </p:sp>
      <p:sp>
        <p:nvSpPr>
          <p:cNvPr id="13" name="TextBox 12"/>
          <p:cNvSpPr txBox="1"/>
          <p:nvPr/>
        </p:nvSpPr>
        <p:spPr>
          <a:xfrm>
            <a:off x="6437376" y="3767328"/>
            <a:ext cx="4892040" cy="1874519"/>
          </a:xfrm>
          <a:prstGeom prst="rect">
            <a:avLst/>
          </a:prstGeom>
          <a:noFill/>
        </p:spPr>
        <p:txBody>
          <a:bodyPr wrap="square" lIns="27432" rIns="27432" tIns="18288" bIns="0">
            <a:spAutoFit/>
          </a:bodyPr>
          <a:lstStyle/>
          <a:p>
            <a:pPr>
              <a:spcAft>
                <a:spcPts val="800"/>
              </a:spcAft>
              <a:defRPr sz="2300" b="0">
                <a:solidFill>
                  <a:srgbClr val="17324C"/>
                </a:solidFill>
                <a:latin typeface="DejaVu Sans"/>
              </a:defRPr>
            </a:pPr>
            <a:r>
              <a:t>Tarmoqqa bog‘liqlik</a:t>
            </a:r>
          </a:p>
          <a:p>
            <a:pPr>
              <a:spcAft>
                <a:spcPts val="800"/>
              </a:spcAft>
              <a:defRPr sz="2300" b="0">
                <a:solidFill>
                  <a:srgbClr val="17324C"/>
                </a:solidFill>
                <a:latin typeface="DejaVu Sans"/>
              </a:defRPr>
            </a:pPr>
            <a:r>
              <a:t>Xarajat va ma’lumot joylashuvi</a:t>
            </a:r>
          </a:p>
          <a:p>
            <a:pPr>
              <a:spcAft>
                <a:spcPts val="800"/>
              </a:spcAft>
              <a:defRPr sz="2300" b="0">
                <a:solidFill>
                  <a:srgbClr val="17324C"/>
                </a:solidFill>
                <a:latin typeface="DejaVu Sans"/>
              </a:defRPr>
            </a:pPr>
            <a:r>
              <a:t>Provayderga qaramlik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365760"/>
            <a:ext cx="9784080" cy="320040"/>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BULUT TEXNOLOGIYALARI  /  KIRISH</a:t>
            </a:r>
          </a:p>
        </p:txBody>
      </p:sp>
      <p:cxnSp>
        <p:nvCxnSpPr>
          <p:cNvPr id="3" name="Connector 2"/>
          <p:cNvCxnSpPr/>
          <p:nvPr/>
        </p:nvCxnSpPr>
        <p:spPr>
          <a:xfrm>
            <a:off x="640080" y="877824"/>
            <a:ext cx="10881360" cy="0"/>
          </a:xfrm>
          <a:prstGeom prst="line">
            <a:avLst/>
          </a:prstGeom>
          <a:ln w="12700">
            <a:solidFill>
              <a:srgbClr val="D4E8F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069848"/>
            <a:ext cx="10789920" cy="960120"/>
          </a:xfrm>
          <a:prstGeom prst="rect">
            <a:avLst/>
          </a:prstGeom>
          <a:noFill/>
        </p:spPr>
        <p:txBody>
          <a:bodyPr wrap="square" lIns="27432" rIns="27432" tIns="18288" bIns="0">
            <a:spAutoFit/>
          </a:bodyPr>
          <a:lstStyle/>
          <a:p>
            <a:pPr>
              <a:spcAft>
                <a:spcPts val="800"/>
              </a:spcAft>
              <a:defRPr sz="3000" b="1">
                <a:solidFill>
                  <a:srgbClr val="17324C"/>
                </a:solidFill>
                <a:latin typeface="DejaVu Sans"/>
              </a:defRPr>
            </a:pPr>
            <a:r>
              <a:t>Hisob-kitob va mas’uliyat</a:t>
            </a:r>
          </a:p>
        </p:txBody>
      </p:sp>
      <p:sp>
        <p:nvSpPr>
          <p:cNvPr id="5" name="TextBox 4"/>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7324C"/>
                </a:solidFill>
                <a:latin typeface="DejaVu Sans"/>
              </a:defRPr>
            </a:pPr>
            <a:r>
              <a:t>BTST206   /   M01   /   2027–2028</a:t>
            </a:r>
          </a:p>
        </p:txBody>
      </p:sp>
      <p:sp>
        <p:nvSpPr>
          <p:cNvPr id="6" name="TextBox 5"/>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08 / 13</a:t>
            </a:r>
          </a:p>
        </p:txBody>
      </p:sp>
      <p:sp>
        <p:nvSpPr>
          <p:cNvPr id="7" name="Rounded Rectangle 6"/>
          <p:cNvSpPr/>
          <p:nvPr/>
        </p:nvSpPr>
        <p:spPr>
          <a:xfrm>
            <a:off x="731520" y="2468880"/>
            <a:ext cx="2482596" cy="1417320"/>
          </a:xfrm>
          <a:prstGeom prst="roundRect">
            <a:avLst>
              <a:gd name="adj" fmla="val 8000"/>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697480"/>
            <a:ext cx="2244852" cy="1097280"/>
          </a:xfrm>
          <a:prstGeom prst="rect">
            <a:avLst/>
          </a:prstGeom>
          <a:noFill/>
        </p:spPr>
        <p:txBody>
          <a:bodyPr wrap="square" lIns="27432" rIns="27432" tIns="18288" bIns="0">
            <a:spAutoFit/>
          </a:bodyPr>
          <a:lstStyle/>
          <a:p>
            <a:pPr algn="ctr">
              <a:spcAft>
                <a:spcPts val="800"/>
              </a:spcAft>
              <a:defRPr sz="2000" b="1">
                <a:solidFill>
                  <a:srgbClr val="FFFFFF"/>
                </a:solidFill>
                <a:latin typeface="DejaVu Sans"/>
              </a:defRPr>
            </a:pPr>
            <a:r>
              <a:t>O‘lchash</a:t>
            </a:r>
          </a:p>
        </p:txBody>
      </p:sp>
      <p:cxnSp>
        <p:nvCxnSpPr>
          <p:cNvPr id="9" name="Connector 8"/>
          <p:cNvCxnSpPr/>
          <p:nvPr/>
        </p:nvCxnSpPr>
        <p:spPr>
          <a:xfrm>
            <a:off x="3232403" y="3177540"/>
            <a:ext cx="210313" cy="0"/>
          </a:xfrm>
          <a:prstGeom prst="line">
            <a:avLst/>
          </a:prstGeom>
          <a:ln w="25400">
            <a:solidFill>
              <a:srgbClr val="1976D2"/>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0148" y="2468880"/>
            <a:ext cx="2482596" cy="1417320"/>
          </a:xfrm>
          <a:prstGeom prst="roundRect">
            <a:avLst>
              <a:gd name="adj" fmla="val 8000"/>
            </a:avLst>
          </a:prstGeom>
          <a:solidFill>
            <a:srgbClr val="EDF6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89020" y="2697480"/>
            <a:ext cx="2244852" cy="1097280"/>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Egasini belgilash</a:t>
            </a:r>
          </a:p>
        </p:txBody>
      </p:sp>
      <p:cxnSp>
        <p:nvCxnSpPr>
          <p:cNvPr id="12" name="Connector 11"/>
          <p:cNvCxnSpPr/>
          <p:nvPr/>
        </p:nvCxnSpPr>
        <p:spPr>
          <a:xfrm>
            <a:off x="5971031" y="3177540"/>
            <a:ext cx="210313" cy="0"/>
          </a:xfrm>
          <a:prstGeom prst="line">
            <a:avLst/>
          </a:prstGeom>
          <a:ln w="25400">
            <a:solidFill>
              <a:srgbClr val="1976D2"/>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208776" y="2468880"/>
            <a:ext cx="2482596" cy="1417320"/>
          </a:xfrm>
          <a:prstGeom prst="roundRect">
            <a:avLst>
              <a:gd name="adj" fmla="val 8000"/>
            </a:avLst>
          </a:prstGeom>
          <a:solidFill>
            <a:srgbClr val="EDF6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27648" y="2697480"/>
            <a:ext cx="2244852" cy="1097280"/>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Budjetni kuzatish</a:t>
            </a:r>
          </a:p>
        </p:txBody>
      </p:sp>
      <p:cxnSp>
        <p:nvCxnSpPr>
          <p:cNvPr id="15" name="Connector 14"/>
          <p:cNvCxnSpPr/>
          <p:nvPr/>
        </p:nvCxnSpPr>
        <p:spPr>
          <a:xfrm>
            <a:off x="8709659" y="3177540"/>
            <a:ext cx="210313" cy="0"/>
          </a:xfrm>
          <a:prstGeom prst="line">
            <a:avLst/>
          </a:prstGeom>
          <a:ln w="25400">
            <a:solidFill>
              <a:srgbClr val="1976D2"/>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947404" y="2468880"/>
            <a:ext cx="2482596" cy="1417320"/>
          </a:xfrm>
          <a:prstGeom prst="roundRect">
            <a:avLst>
              <a:gd name="adj" fmla="val 8000"/>
            </a:avLst>
          </a:prstGeom>
          <a:solidFill>
            <a:srgbClr val="EDF6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6276" y="2697480"/>
            <a:ext cx="2244852" cy="1097280"/>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Ortiqchani o‘chirish</a:t>
            </a:r>
          </a:p>
        </p:txBody>
      </p:sp>
      <p:sp>
        <p:nvSpPr>
          <p:cNvPr id="18" name="TextBox 17"/>
          <p:cNvSpPr txBox="1"/>
          <p:nvPr/>
        </p:nvSpPr>
        <p:spPr>
          <a:xfrm>
            <a:off x="731520" y="4297680"/>
            <a:ext cx="10607040" cy="731520"/>
          </a:xfrm>
          <a:prstGeom prst="rect">
            <a:avLst/>
          </a:prstGeom>
          <a:noFill/>
        </p:spPr>
        <p:txBody>
          <a:bodyPr wrap="square" lIns="27432" rIns="27432" tIns="18288" bIns="0">
            <a:spAutoFit/>
          </a:bodyPr>
          <a:lstStyle/>
          <a:p>
            <a:pPr>
              <a:spcAft>
                <a:spcPts val="800"/>
              </a:spcAft>
              <a:defRPr sz="2500" b="1">
                <a:solidFill>
                  <a:srgbClr val="17324C"/>
                </a:solidFill>
                <a:latin typeface="DejaVu Sans"/>
              </a:defRPr>
            </a:pPr>
            <a:r>
              <a:t>Hisobga faqat server emas, disk, zaxira va trafik ham kiradi.</a:t>
            </a:r>
          </a:p>
        </p:txBody>
      </p:sp>
      <p:sp>
        <p:nvSpPr>
          <p:cNvPr id="19" name="Rounded Rectangle 18"/>
          <p:cNvSpPr/>
          <p:nvPr/>
        </p:nvSpPr>
        <p:spPr>
          <a:xfrm>
            <a:off x="731520" y="5257800"/>
            <a:ext cx="10607040" cy="960120"/>
          </a:xfrm>
          <a:prstGeom prst="roundRect">
            <a:avLst>
              <a:gd name="adj" fmla="val 8000"/>
            </a:avLst>
          </a:prstGeom>
          <a:solidFill>
            <a:srgbClr val="EDF6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422392"/>
            <a:ext cx="1463040" cy="749808"/>
          </a:xfrm>
          <a:prstGeom prst="rect">
            <a:avLst/>
          </a:prstGeom>
          <a:noFill/>
        </p:spPr>
        <p:txBody>
          <a:bodyPr wrap="square" lIns="27432" rIns="27432" tIns="18288" bIns="0">
            <a:spAutoFit/>
          </a:bodyPr>
          <a:lstStyle/>
          <a:p>
            <a:pPr>
              <a:spcAft>
                <a:spcPts val="800"/>
              </a:spcAft>
              <a:defRPr sz="1000" b="1">
                <a:solidFill>
                  <a:srgbClr val="1976D2"/>
                </a:solidFill>
                <a:latin typeface="DejaVu Sans"/>
              </a:defRPr>
            </a:pPr>
            <a:r>
              <a:t>ESLATMA</a:t>
            </a:r>
          </a:p>
        </p:txBody>
      </p:sp>
      <p:sp>
        <p:nvSpPr>
          <p:cNvPr id="21" name="TextBox 20"/>
          <p:cNvSpPr txBox="1"/>
          <p:nvPr/>
        </p:nvSpPr>
        <p:spPr>
          <a:xfrm>
            <a:off x="2523744" y="5376672"/>
            <a:ext cx="8650224" cy="804672"/>
          </a:xfrm>
          <a:prstGeom prst="rect">
            <a:avLst/>
          </a:prstGeom>
          <a:noFill/>
        </p:spPr>
        <p:txBody>
          <a:bodyPr wrap="square" lIns="27432" rIns="27432" tIns="18288" bIns="0">
            <a:spAutoFit/>
          </a:bodyPr>
          <a:lstStyle/>
          <a:p>
            <a:pPr>
              <a:spcAft>
                <a:spcPts val="800"/>
              </a:spcAft>
              <a:defRPr sz="2000" b="0">
                <a:solidFill>
                  <a:srgbClr val="17324C"/>
                </a:solidFill>
                <a:latin typeface="DejaVu Sans"/>
              </a:defRPr>
            </a:pPr>
            <a:r>
              <a:t>Budjet ogohlantirishi odatda resurslarni avtomatik to‘xtatmaydi.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365760"/>
            <a:ext cx="9784080" cy="320040"/>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BULUT TEXNOLOGIYALARI  /  KIRISH</a:t>
            </a:r>
          </a:p>
        </p:txBody>
      </p:sp>
      <p:cxnSp>
        <p:nvCxnSpPr>
          <p:cNvPr id="3" name="Connector 2"/>
          <p:cNvCxnSpPr/>
          <p:nvPr/>
        </p:nvCxnSpPr>
        <p:spPr>
          <a:xfrm>
            <a:off x="640080" y="877824"/>
            <a:ext cx="10881360" cy="0"/>
          </a:xfrm>
          <a:prstGeom prst="line">
            <a:avLst/>
          </a:prstGeom>
          <a:ln w="12700">
            <a:solidFill>
              <a:srgbClr val="D4E8F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069848"/>
            <a:ext cx="10789920" cy="960120"/>
          </a:xfrm>
          <a:prstGeom prst="rect">
            <a:avLst/>
          </a:prstGeom>
          <a:noFill/>
        </p:spPr>
        <p:txBody>
          <a:bodyPr wrap="square" lIns="27432" rIns="27432" tIns="18288" bIns="0">
            <a:spAutoFit/>
          </a:bodyPr>
          <a:lstStyle/>
          <a:p>
            <a:pPr>
              <a:spcAft>
                <a:spcPts val="800"/>
              </a:spcAft>
              <a:defRPr sz="3000" b="1">
                <a:solidFill>
                  <a:srgbClr val="17324C"/>
                </a:solidFill>
                <a:latin typeface="DejaVu Sans"/>
              </a:defRPr>
            </a:pPr>
            <a:r>
              <a:t>Texnik sxema: asosiy bog‘lanishlar</a:t>
            </a:r>
          </a:p>
        </p:txBody>
      </p:sp>
      <p:sp>
        <p:nvSpPr>
          <p:cNvPr id="5" name="TextBox 4"/>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7324C"/>
                </a:solidFill>
                <a:latin typeface="DejaVu Sans"/>
              </a:defRPr>
            </a:pPr>
            <a:r>
              <a:t>BTST206   /   M01   /   2027–2028</a:t>
            </a:r>
          </a:p>
        </p:txBody>
      </p:sp>
      <p:sp>
        <p:nvSpPr>
          <p:cNvPr id="6" name="TextBox 5"/>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09 / 13</a:t>
            </a:r>
          </a:p>
        </p:txBody>
      </p:sp>
      <p:cxnSp>
        <p:nvCxnSpPr>
          <p:cNvPr id="7" name="Connector 6"/>
          <p:cNvCxnSpPr/>
          <p:nvPr/>
        </p:nvCxnSpPr>
        <p:spPr>
          <a:xfrm>
            <a:off x="3474720" y="2651760"/>
            <a:ext cx="777240" cy="0"/>
          </a:xfrm>
          <a:prstGeom prst="line">
            <a:avLst/>
          </a:prstGeom>
          <a:ln w="25400">
            <a:solidFill>
              <a:srgbClr val="1976D2"/>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95160" y="2651760"/>
            <a:ext cx="777240" cy="0"/>
          </a:xfrm>
          <a:prstGeom prst="line">
            <a:avLst/>
          </a:prstGeom>
          <a:ln w="25400">
            <a:solidFill>
              <a:srgbClr val="1976D2"/>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3931920" y="3136391"/>
            <a:ext cx="1691640" cy="1161288"/>
          </a:xfrm>
          <a:prstGeom prst="line">
            <a:avLst/>
          </a:prstGeom>
          <a:ln w="25400">
            <a:solidFill>
              <a:srgbClr val="1976D2"/>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229600" y="3136391"/>
            <a:ext cx="914400" cy="1161288"/>
          </a:xfrm>
          <a:prstGeom prst="line">
            <a:avLst/>
          </a:prstGeom>
          <a:ln w="25400">
            <a:solidFill>
              <a:srgbClr val="1976D2"/>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5303520" y="4754879"/>
            <a:ext cx="1554480" cy="0"/>
          </a:xfrm>
          <a:prstGeom prst="line">
            <a:avLst/>
          </a:prstGeom>
          <a:ln w="25400">
            <a:solidFill>
              <a:srgbClr val="1976D2"/>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31520" y="2194560"/>
            <a:ext cx="2743200" cy="941832"/>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2331720"/>
            <a:ext cx="2523744" cy="685800"/>
          </a:xfrm>
          <a:prstGeom prst="rect">
            <a:avLst/>
          </a:prstGeom>
          <a:noFill/>
        </p:spPr>
        <p:txBody>
          <a:bodyPr wrap="square" lIns="27432" rIns="27432" tIns="18288" bIns="0">
            <a:spAutoFit/>
          </a:bodyPr>
          <a:lstStyle/>
          <a:p>
            <a:pPr>
              <a:spcAft>
                <a:spcPts val="800"/>
              </a:spcAft>
              <a:defRPr sz="1700" b="1">
                <a:solidFill>
                  <a:srgbClr val="FFFFFF"/>
                </a:solidFill>
                <a:latin typeface="DejaVu Sans"/>
              </a:defRPr>
            </a:pPr>
            <a:r>
              <a:t>Foydalanuvchi</a:t>
            </a:r>
          </a:p>
        </p:txBody>
      </p:sp>
      <p:sp>
        <p:nvSpPr>
          <p:cNvPr id="14" name="Rectangle 13"/>
          <p:cNvSpPr/>
          <p:nvPr/>
        </p:nvSpPr>
        <p:spPr>
          <a:xfrm>
            <a:off x="4251960" y="2194560"/>
            <a:ext cx="2743200" cy="941832"/>
          </a:xfrm>
          <a:prstGeom prst="rect">
            <a:avLst/>
          </a:prstGeom>
          <a:solidFill>
            <a:srgbClr val="EDF6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61688" y="2331720"/>
            <a:ext cx="2523744" cy="685800"/>
          </a:xfrm>
          <a:prstGeom prst="rect">
            <a:avLst/>
          </a:prstGeom>
          <a:noFill/>
        </p:spPr>
        <p:txBody>
          <a:bodyPr wrap="square" lIns="27432" rIns="27432" tIns="18288" bIns="0">
            <a:spAutoFit/>
          </a:bodyPr>
          <a:lstStyle/>
          <a:p>
            <a:pPr>
              <a:spcAft>
                <a:spcPts val="800"/>
              </a:spcAft>
              <a:defRPr sz="1700" b="1">
                <a:solidFill>
                  <a:srgbClr val="17324C"/>
                </a:solidFill>
                <a:latin typeface="DejaVu Sans"/>
              </a:defRPr>
            </a:pPr>
            <a:r>
              <a:t>Tarmoq / API</a:t>
            </a:r>
          </a:p>
        </p:txBody>
      </p:sp>
      <p:sp>
        <p:nvSpPr>
          <p:cNvPr id="16" name="Rectangle 15"/>
          <p:cNvSpPr/>
          <p:nvPr/>
        </p:nvSpPr>
        <p:spPr>
          <a:xfrm>
            <a:off x="7772400" y="2194560"/>
            <a:ext cx="2743200" cy="941832"/>
          </a:xfrm>
          <a:prstGeom prst="rect">
            <a:avLst/>
          </a:prstGeom>
          <a:solidFill>
            <a:srgbClr val="EDF6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82127" y="2331720"/>
            <a:ext cx="2523744" cy="685800"/>
          </a:xfrm>
          <a:prstGeom prst="rect">
            <a:avLst/>
          </a:prstGeom>
          <a:noFill/>
        </p:spPr>
        <p:txBody>
          <a:bodyPr wrap="square" lIns="27432" rIns="27432" tIns="18288" bIns="0">
            <a:spAutoFit/>
          </a:bodyPr>
          <a:lstStyle/>
          <a:p>
            <a:pPr>
              <a:spcAft>
                <a:spcPts val="800"/>
              </a:spcAft>
              <a:defRPr sz="1700" b="1">
                <a:solidFill>
                  <a:srgbClr val="17324C"/>
                </a:solidFill>
                <a:latin typeface="DejaVu Sans"/>
              </a:defRPr>
            </a:pPr>
            <a:r>
              <a:t>Hisoblash</a:t>
            </a:r>
          </a:p>
        </p:txBody>
      </p:sp>
      <p:sp>
        <p:nvSpPr>
          <p:cNvPr id="18" name="Rectangle 17"/>
          <p:cNvSpPr/>
          <p:nvPr/>
        </p:nvSpPr>
        <p:spPr>
          <a:xfrm>
            <a:off x="2560320" y="4297679"/>
            <a:ext cx="2743200" cy="941832"/>
          </a:xfrm>
          <a:prstGeom prst="rect">
            <a:avLst/>
          </a:prstGeom>
          <a:solidFill>
            <a:srgbClr val="EDF6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70048" y="4434840"/>
            <a:ext cx="2523744" cy="685800"/>
          </a:xfrm>
          <a:prstGeom prst="rect">
            <a:avLst/>
          </a:prstGeom>
          <a:noFill/>
        </p:spPr>
        <p:txBody>
          <a:bodyPr wrap="square" lIns="27432" rIns="27432" tIns="18288" bIns="0">
            <a:spAutoFit/>
          </a:bodyPr>
          <a:lstStyle/>
          <a:p>
            <a:pPr>
              <a:spcAft>
                <a:spcPts val="800"/>
              </a:spcAft>
              <a:defRPr sz="1700" b="1">
                <a:solidFill>
                  <a:srgbClr val="17324C"/>
                </a:solidFill>
                <a:latin typeface="DejaVu Sans"/>
              </a:defRPr>
            </a:pPr>
            <a:r>
              <a:t>Saqlash</a:t>
            </a:r>
          </a:p>
        </p:txBody>
      </p:sp>
      <p:sp>
        <p:nvSpPr>
          <p:cNvPr id="20" name="Rectangle 19"/>
          <p:cNvSpPr/>
          <p:nvPr/>
        </p:nvSpPr>
        <p:spPr>
          <a:xfrm>
            <a:off x="6858000" y="4297679"/>
            <a:ext cx="2743200" cy="941832"/>
          </a:xfrm>
          <a:prstGeom prst="rect">
            <a:avLst/>
          </a:prstGeom>
          <a:solidFill>
            <a:srgbClr val="EDF6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67728" y="4434840"/>
            <a:ext cx="2523744" cy="685800"/>
          </a:xfrm>
          <a:prstGeom prst="rect">
            <a:avLst/>
          </a:prstGeom>
          <a:noFill/>
        </p:spPr>
        <p:txBody>
          <a:bodyPr wrap="square" lIns="27432" rIns="27432" tIns="18288" bIns="0">
            <a:spAutoFit/>
          </a:bodyPr>
          <a:lstStyle/>
          <a:p>
            <a:pPr>
              <a:spcAft>
                <a:spcPts val="800"/>
              </a:spcAft>
              <a:defRPr sz="1700" b="1">
                <a:solidFill>
                  <a:srgbClr val="17324C"/>
                </a:solidFill>
                <a:latin typeface="DejaVu Sans"/>
              </a:defRPr>
            </a:pPr>
            <a:r>
              <a:t>Provayder boshqaruvi</a:t>
            </a:r>
          </a:p>
        </p:txBody>
      </p:sp>
      <p:sp>
        <p:nvSpPr>
          <p:cNvPr id="22" name="TextBox 21"/>
          <p:cNvSpPr txBox="1"/>
          <p:nvPr/>
        </p:nvSpPr>
        <p:spPr>
          <a:xfrm>
            <a:off x="731520" y="6080760"/>
            <a:ext cx="10698480" cy="274320"/>
          </a:xfrm>
          <a:prstGeom prst="rect">
            <a:avLst/>
          </a:prstGeom>
          <a:noFill/>
        </p:spPr>
        <p:txBody>
          <a:bodyPr wrap="square" lIns="27432" rIns="27432" tIns="18288" bIns="0">
            <a:spAutoFit/>
          </a:bodyPr>
          <a:lstStyle/>
          <a:p>
            <a:pPr>
              <a:spcAft>
                <a:spcPts val="800"/>
              </a:spcAft>
              <a:defRPr sz="1100" b="0">
                <a:solidFill>
                  <a:srgbClr val="17324C"/>
                </a:solidFill>
                <a:latin typeface="DejaVu Sans"/>
              </a:defRPr>
            </a:pPr>
            <a:r>
              <a:t>Soddalashtirilgan sxema: o‘qlar — asosiy murojaat yoki boshqaruv bog‘lanishi.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365760"/>
            <a:ext cx="9784080" cy="320040"/>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BULUT TEXNOLOGIYALARI  /  KIRISH</a:t>
            </a:r>
          </a:p>
        </p:txBody>
      </p:sp>
      <p:cxnSp>
        <p:nvCxnSpPr>
          <p:cNvPr id="3" name="Connector 2"/>
          <p:cNvCxnSpPr/>
          <p:nvPr/>
        </p:nvCxnSpPr>
        <p:spPr>
          <a:xfrm>
            <a:off x="640080" y="877824"/>
            <a:ext cx="10881360" cy="0"/>
          </a:xfrm>
          <a:prstGeom prst="line">
            <a:avLst/>
          </a:prstGeom>
          <a:ln w="12700">
            <a:solidFill>
              <a:srgbClr val="D4E8F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069848"/>
            <a:ext cx="10789920" cy="960120"/>
          </a:xfrm>
          <a:prstGeom prst="rect">
            <a:avLst/>
          </a:prstGeom>
          <a:noFill/>
        </p:spPr>
        <p:txBody>
          <a:bodyPr wrap="square" lIns="27432" rIns="27432" tIns="18288" bIns="0">
            <a:spAutoFit/>
          </a:bodyPr>
          <a:lstStyle/>
          <a:p>
            <a:pPr>
              <a:spcAft>
                <a:spcPts val="800"/>
              </a:spcAft>
              <a:defRPr sz="3000" b="1">
                <a:solidFill>
                  <a:srgbClr val="17324C"/>
                </a:solidFill>
                <a:latin typeface="DejaVu Sans"/>
              </a:defRPr>
            </a:pPr>
            <a:r>
              <a:t>Universitet misoli</a:t>
            </a:r>
          </a:p>
        </p:txBody>
      </p:sp>
      <p:sp>
        <p:nvSpPr>
          <p:cNvPr id="5" name="TextBox 4"/>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7324C"/>
                </a:solidFill>
                <a:latin typeface="DejaVu Sans"/>
              </a:defRPr>
            </a:pPr>
            <a:r>
              <a:t>BTST206   /   M01   /   2027–2028</a:t>
            </a:r>
          </a:p>
        </p:txBody>
      </p:sp>
      <p:sp>
        <p:nvSpPr>
          <p:cNvPr id="6" name="TextBox 5"/>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10 / 13</a:t>
            </a:r>
          </a:p>
        </p:txBody>
      </p:sp>
      <p:sp>
        <p:nvSpPr>
          <p:cNvPr id="7" name="TextBox 6"/>
          <p:cNvSpPr txBox="1"/>
          <p:nvPr/>
        </p:nvSpPr>
        <p:spPr>
          <a:xfrm>
            <a:off x="731520" y="2240280"/>
            <a:ext cx="2816352" cy="1828800"/>
          </a:xfrm>
          <a:prstGeom prst="rect">
            <a:avLst/>
          </a:prstGeom>
          <a:noFill/>
        </p:spPr>
        <p:txBody>
          <a:bodyPr wrap="square" lIns="27432" rIns="27432" tIns="18288" bIns="0">
            <a:spAutoFit/>
          </a:bodyPr>
          <a:lstStyle/>
          <a:p>
            <a:pPr>
              <a:spcAft>
                <a:spcPts val="800"/>
              </a:spcAft>
              <a:defRPr sz="4100" b="1">
                <a:solidFill>
                  <a:srgbClr val="1976D2"/>
                </a:solidFill>
                <a:latin typeface="DejaVu Sans"/>
              </a:defRPr>
            </a:pPr>
            <a:r>
              <a:t>Qabul</a:t>
            </a:r>
          </a:p>
          <a:p>
            <a:pPr>
              <a:spcAft>
                <a:spcPts val="800"/>
              </a:spcAft>
              <a:defRPr sz="4100" b="1">
                <a:solidFill>
                  <a:srgbClr val="1976D2"/>
                </a:solidFill>
                <a:latin typeface="DejaVu Sans"/>
              </a:defRPr>
            </a:pPr>
            <a:r>
              <a:t>portali</a:t>
            </a:r>
          </a:p>
        </p:txBody>
      </p:sp>
      <p:sp>
        <p:nvSpPr>
          <p:cNvPr id="8" name="TextBox 7"/>
          <p:cNvSpPr txBox="1"/>
          <p:nvPr/>
        </p:nvSpPr>
        <p:spPr>
          <a:xfrm>
            <a:off x="3977639" y="2240280"/>
            <a:ext cx="7315200" cy="1737360"/>
          </a:xfrm>
          <a:prstGeom prst="rect">
            <a:avLst/>
          </a:prstGeom>
          <a:noFill/>
        </p:spPr>
        <p:txBody>
          <a:bodyPr wrap="square" lIns="27432" rIns="27432" tIns="18288" bIns="0">
            <a:spAutoFit/>
          </a:bodyPr>
          <a:lstStyle/>
          <a:p>
            <a:pPr>
              <a:spcAft>
                <a:spcPts val="800"/>
              </a:spcAft>
              <a:defRPr sz="2400" b="0">
                <a:solidFill>
                  <a:srgbClr val="17324C"/>
                </a:solidFill>
                <a:latin typeface="DejaVu Sans"/>
              </a:defRPr>
            </a:pPr>
            <a:r>
              <a:t>Universitet qabul davrida ko‘p abituriyentga xizmat ko‘rsatadi. Oddiy kunlarda esa yuklama ancha past bo‘ladi. Bulut modeli portal quvvatini talabga qarab o‘zgartirishga yordam beradi.</a:t>
            </a:r>
          </a:p>
        </p:txBody>
      </p:sp>
      <p:sp>
        <p:nvSpPr>
          <p:cNvPr id="9" name="Rounded Rectangle 8"/>
          <p:cNvSpPr/>
          <p:nvPr/>
        </p:nvSpPr>
        <p:spPr>
          <a:xfrm>
            <a:off x="3977639" y="4608576"/>
            <a:ext cx="7315200" cy="1399032"/>
          </a:xfrm>
          <a:prstGeom prst="roundRect">
            <a:avLst>
              <a:gd name="adj" fmla="val 8000"/>
            </a:avLst>
          </a:prstGeom>
          <a:solidFill>
            <a:srgbClr val="EDF6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42231" y="4727448"/>
            <a:ext cx="6986016" cy="256032"/>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TALABGA MOSLASHUV</a:t>
            </a:r>
          </a:p>
        </p:txBody>
      </p:sp>
      <p:sp>
        <p:nvSpPr>
          <p:cNvPr id="11" name="TextBox 10"/>
          <p:cNvSpPr txBox="1"/>
          <p:nvPr/>
        </p:nvSpPr>
        <p:spPr>
          <a:xfrm>
            <a:off x="4142231" y="5047488"/>
            <a:ext cx="6986016" cy="896112"/>
          </a:xfrm>
          <a:prstGeom prst="rect">
            <a:avLst/>
          </a:prstGeom>
          <a:noFill/>
        </p:spPr>
        <p:txBody>
          <a:bodyPr wrap="square" lIns="27432" rIns="27432" tIns="18288" bIns="0">
            <a:spAutoFit/>
          </a:bodyPr>
          <a:lstStyle/>
          <a:p>
            <a:pPr>
              <a:spcAft>
                <a:spcPts val="800"/>
              </a:spcAft>
              <a:defRPr sz="2000" b="0">
                <a:solidFill>
                  <a:srgbClr val="17324C"/>
                </a:solidFill>
                <a:latin typeface="DejaVu Sans"/>
              </a:defRPr>
            </a:pPr>
            <a:r>
              <a:t>Oddiy kun — kamroq quvvat. Qabul davri — ko‘proq quvvat.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365760"/>
            <a:ext cx="9784080" cy="320040"/>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BULUT TEXNOLOGIYALARI  /  KIRISH</a:t>
            </a:r>
          </a:p>
        </p:txBody>
      </p:sp>
      <p:cxnSp>
        <p:nvCxnSpPr>
          <p:cNvPr id="3" name="Connector 2"/>
          <p:cNvCxnSpPr/>
          <p:nvPr/>
        </p:nvCxnSpPr>
        <p:spPr>
          <a:xfrm>
            <a:off x="640080" y="877824"/>
            <a:ext cx="10881360" cy="0"/>
          </a:xfrm>
          <a:prstGeom prst="line">
            <a:avLst/>
          </a:prstGeom>
          <a:ln w="12700">
            <a:solidFill>
              <a:srgbClr val="D4E8F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069848"/>
            <a:ext cx="10789920" cy="960120"/>
          </a:xfrm>
          <a:prstGeom prst="rect">
            <a:avLst/>
          </a:prstGeom>
          <a:noFill/>
        </p:spPr>
        <p:txBody>
          <a:bodyPr wrap="square" lIns="27432" rIns="27432" tIns="18288" bIns="0">
            <a:spAutoFit/>
          </a:bodyPr>
          <a:lstStyle/>
          <a:p>
            <a:pPr>
              <a:spcAft>
                <a:spcPts val="800"/>
              </a:spcAft>
              <a:defRPr sz="3000" b="1">
                <a:solidFill>
                  <a:srgbClr val="17324C"/>
                </a:solidFill>
                <a:latin typeface="DejaVu Sans"/>
              </a:defRPr>
            </a:pPr>
            <a:r>
              <a:t>Keng tarqalgan noto‘g‘ri tushunchalar</a:t>
            </a:r>
          </a:p>
        </p:txBody>
      </p:sp>
      <p:sp>
        <p:nvSpPr>
          <p:cNvPr id="5" name="TextBox 4"/>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7324C"/>
                </a:solidFill>
                <a:latin typeface="DejaVu Sans"/>
              </a:defRPr>
            </a:pPr>
            <a:r>
              <a:t>BTST206   /   M01   /   2027–2028</a:t>
            </a:r>
          </a:p>
        </p:txBody>
      </p:sp>
      <p:sp>
        <p:nvSpPr>
          <p:cNvPr id="6" name="TextBox 5"/>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11 / 13</a:t>
            </a:r>
          </a:p>
        </p:txBody>
      </p:sp>
      <p:sp>
        <p:nvSpPr>
          <p:cNvPr id="7" name="Oval 6"/>
          <p:cNvSpPr/>
          <p:nvPr/>
        </p:nvSpPr>
        <p:spPr>
          <a:xfrm>
            <a:off x="777240" y="2176272"/>
            <a:ext cx="384048" cy="384048"/>
          </a:xfrm>
          <a:prstGeom prst="ellipse">
            <a:avLst/>
          </a:prstGeom>
          <a:solidFill>
            <a:srgbClr val="10A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249424"/>
            <a:ext cx="219456" cy="210312"/>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a:t>
            </a:r>
          </a:p>
        </p:txBody>
      </p:sp>
      <p:sp>
        <p:nvSpPr>
          <p:cNvPr id="9" name="TextBox 8"/>
          <p:cNvSpPr txBox="1"/>
          <p:nvPr/>
        </p:nvSpPr>
        <p:spPr>
          <a:xfrm>
            <a:off x="1481328" y="2057400"/>
            <a:ext cx="9820656" cy="1024128"/>
          </a:xfrm>
          <a:prstGeom prst="rect">
            <a:avLst/>
          </a:prstGeom>
          <a:noFill/>
        </p:spPr>
        <p:txBody>
          <a:bodyPr wrap="square" lIns="27432" rIns="27432" tIns="18288" bIns="0">
            <a:spAutoFit/>
          </a:bodyPr>
          <a:lstStyle/>
          <a:p>
            <a:pPr>
              <a:spcAft>
                <a:spcPts val="800"/>
              </a:spcAft>
              <a:defRPr sz="2100" b="0">
                <a:solidFill>
                  <a:srgbClr val="17324C"/>
                </a:solidFill>
                <a:latin typeface="DejaVu Sans"/>
              </a:defRPr>
            </a:pPr>
            <a:r>
              <a:t>Internetdagi har qanday veb-sayt avtomatik ravishda to‘liq bulut modeli hisoblanmaydi.</a:t>
            </a:r>
          </a:p>
        </p:txBody>
      </p:sp>
      <p:cxnSp>
        <p:nvCxnSpPr>
          <p:cNvPr id="10" name="Connector 9"/>
          <p:cNvCxnSpPr/>
          <p:nvPr/>
        </p:nvCxnSpPr>
        <p:spPr>
          <a:xfrm>
            <a:off x="1481328" y="3182112"/>
            <a:ext cx="9811512" cy="0"/>
          </a:xfrm>
          <a:prstGeom prst="line">
            <a:avLst/>
          </a:prstGeom>
          <a:ln w="12700">
            <a:solidFill>
              <a:srgbClr val="DCEAF1"/>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777240" y="3538728"/>
            <a:ext cx="384048" cy="384048"/>
          </a:xfrm>
          <a:prstGeom prst="ellipse">
            <a:avLst/>
          </a:prstGeom>
          <a:solidFill>
            <a:srgbClr val="10A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611880"/>
            <a:ext cx="219456" cy="210312"/>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a:t>
            </a:r>
          </a:p>
        </p:txBody>
      </p:sp>
      <p:sp>
        <p:nvSpPr>
          <p:cNvPr id="13" name="TextBox 12"/>
          <p:cNvSpPr txBox="1"/>
          <p:nvPr/>
        </p:nvSpPr>
        <p:spPr>
          <a:xfrm>
            <a:off x="1481328" y="3419856"/>
            <a:ext cx="9820656" cy="1024128"/>
          </a:xfrm>
          <a:prstGeom prst="rect">
            <a:avLst/>
          </a:prstGeom>
          <a:noFill/>
        </p:spPr>
        <p:txBody>
          <a:bodyPr wrap="square" lIns="27432" rIns="27432" tIns="18288" bIns="0">
            <a:spAutoFit/>
          </a:bodyPr>
          <a:lstStyle/>
          <a:p>
            <a:pPr>
              <a:spcAft>
                <a:spcPts val="800"/>
              </a:spcAft>
              <a:defRPr sz="2100" b="0">
                <a:solidFill>
                  <a:srgbClr val="17324C"/>
                </a:solidFill>
                <a:latin typeface="DejaVu Sans"/>
              </a:defRPr>
            </a:pPr>
            <a:r>
              <a:t>O‘chirilgan server diski, zaxirasi yoki statik IP manzili uchun to‘lov qolishi mumkin.</a:t>
            </a:r>
          </a:p>
        </p:txBody>
      </p:sp>
      <p:cxnSp>
        <p:nvCxnSpPr>
          <p:cNvPr id="14" name="Connector 13"/>
          <p:cNvCxnSpPr/>
          <p:nvPr/>
        </p:nvCxnSpPr>
        <p:spPr>
          <a:xfrm>
            <a:off x="1481328" y="4544568"/>
            <a:ext cx="9811512" cy="0"/>
          </a:xfrm>
          <a:prstGeom prst="line">
            <a:avLst/>
          </a:prstGeom>
          <a:ln w="12700">
            <a:solidFill>
              <a:srgbClr val="DCEAF1"/>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77240" y="4901184"/>
            <a:ext cx="384048" cy="384048"/>
          </a:xfrm>
          <a:prstGeom prst="ellipse">
            <a:avLst/>
          </a:prstGeom>
          <a:solidFill>
            <a:srgbClr val="10A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4974336"/>
            <a:ext cx="219456" cy="210312"/>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a:t>
            </a:r>
          </a:p>
        </p:txBody>
      </p:sp>
      <p:sp>
        <p:nvSpPr>
          <p:cNvPr id="17" name="TextBox 16"/>
          <p:cNvSpPr txBox="1"/>
          <p:nvPr/>
        </p:nvSpPr>
        <p:spPr>
          <a:xfrm>
            <a:off x="1481328" y="4782312"/>
            <a:ext cx="9820656" cy="1024128"/>
          </a:xfrm>
          <a:prstGeom prst="rect">
            <a:avLst/>
          </a:prstGeom>
          <a:noFill/>
        </p:spPr>
        <p:txBody>
          <a:bodyPr wrap="square" lIns="27432" rIns="27432" tIns="18288" bIns="0">
            <a:spAutoFit/>
          </a:bodyPr>
          <a:lstStyle/>
          <a:p>
            <a:pPr>
              <a:spcAft>
                <a:spcPts val="800"/>
              </a:spcAft>
              <a:defRPr sz="2100" b="0">
                <a:solidFill>
                  <a:srgbClr val="17324C"/>
                </a:solidFill>
                <a:latin typeface="DejaVu Sans"/>
              </a:defRPr>
            </a:pPr>
            <a:r>
              <a:t>Budjet ogohlantirishi odatda resurslarni avtomatik to‘xtatmaydi; bunga alohida avtomatlashtirish kerak.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21792" y="365760"/>
            <a:ext cx="9784080" cy="320040"/>
          </a:xfrm>
          <a:prstGeom prst="rect">
            <a:avLst/>
          </a:prstGeom>
          <a:noFill/>
        </p:spPr>
        <p:txBody>
          <a:bodyPr wrap="square" lIns="27432" rIns="27432" tIns="18288" bIns="0">
            <a:spAutoFit/>
          </a:bodyPr>
          <a:lstStyle/>
          <a:p>
            <a:pPr>
              <a:spcAft>
                <a:spcPts val="800"/>
              </a:spcAft>
              <a:defRPr sz="1100" b="1">
                <a:solidFill>
                  <a:srgbClr val="1976D2"/>
                </a:solidFill>
                <a:latin typeface="DejaVu Sans"/>
              </a:defRPr>
            </a:pPr>
            <a:r>
              <a:t>BULUT TEXNOLOGIYALARI  /  KIRISH</a:t>
            </a:r>
          </a:p>
        </p:txBody>
      </p:sp>
      <p:cxnSp>
        <p:nvCxnSpPr>
          <p:cNvPr id="3" name="Connector 2"/>
          <p:cNvCxnSpPr/>
          <p:nvPr/>
        </p:nvCxnSpPr>
        <p:spPr>
          <a:xfrm>
            <a:off x="640080" y="877824"/>
            <a:ext cx="10881360" cy="0"/>
          </a:xfrm>
          <a:prstGeom prst="line">
            <a:avLst/>
          </a:prstGeom>
          <a:ln w="12700">
            <a:solidFill>
              <a:srgbClr val="D4E8F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069848"/>
            <a:ext cx="10789920" cy="960120"/>
          </a:xfrm>
          <a:prstGeom prst="rect">
            <a:avLst/>
          </a:prstGeom>
          <a:noFill/>
        </p:spPr>
        <p:txBody>
          <a:bodyPr wrap="square" lIns="27432" rIns="27432" tIns="18288" bIns="0">
            <a:spAutoFit/>
          </a:bodyPr>
          <a:lstStyle/>
          <a:p>
            <a:pPr>
              <a:spcAft>
                <a:spcPts val="800"/>
              </a:spcAft>
              <a:defRPr sz="3000" b="1">
                <a:solidFill>
                  <a:srgbClr val="17324C"/>
                </a:solidFill>
                <a:latin typeface="DejaVu Sans"/>
              </a:defRPr>
            </a:pPr>
            <a:r>
              <a:t>Asosiy xulosalar</a:t>
            </a:r>
          </a:p>
        </p:txBody>
      </p:sp>
      <p:sp>
        <p:nvSpPr>
          <p:cNvPr id="5" name="TextBox 4"/>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7324C"/>
                </a:solidFill>
                <a:latin typeface="DejaVu Sans"/>
              </a:defRPr>
            </a:pPr>
            <a:r>
              <a:t>BTST206   /   M01   /   2027–2028</a:t>
            </a:r>
          </a:p>
        </p:txBody>
      </p:sp>
      <p:sp>
        <p:nvSpPr>
          <p:cNvPr id="6" name="TextBox 5"/>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12 / 13</a:t>
            </a:r>
          </a:p>
        </p:txBody>
      </p:sp>
      <p:sp>
        <p:nvSpPr>
          <p:cNvPr id="7" name="Oval 6"/>
          <p:cNvSpPr/>
          <p:nvPr/>
        </p:nvSpPr>
        <p:spPr>
          <a:xfrm>
            <a:off x="777240" y="2148840"/>
            <a:ext cx="566928" cy="566928"/>
          </a:xfrm>
          <a:prstGeom prst="ellipse">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276856"/>
            <a:ext cx="301752" cy="310896"/>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1</a:t>
            </a:r>
          </a:p>
        </p:txBody>
      </p:sp>
      <p:sp>
        <p:nvSpPr>
          <p:cNvPr id="9" name="TextBox 8"/>
          <p:cNvSpPr txBox="1"/>
          <p:nvPr/>
        </p:nvSpPr>
        <p:spPr>
          <a:xfrm>
            <a:off x="1673352" y="2130552"/>
            <a:ext cx="9628632" cy="1024128"/>
          </a:xfrm>
          <a:prstGeom prst="rect">
            <a:avLst/>
          </a:prstGeom>
          <a:noFill/>
        </p:spPr>
        <p:txBody>
          <a:bodyPr wrap="square" lIns="27432" rIns="27432" tIns="18288" bIns="0">
            <a:spAutoFit/>
          </a:bodyPr>
          <a:lstStyle/>
          <a:p>
            <a:pPr>
              <a:spcAft>
                <a:spcPts val="800"/>
              </a:spcAft>
              <a:defRPr sz="2500" b="1">
                <a:solidFill>
                  <a:srgbClr val="17324C"/>
                </a:solidFill>
                <a:latin typeface="DejaVu Sans"/>
              </a:defRPr>
            </a:pPr>
            <a:r>
              <a:t>Bulut — real resurslardan talab bo‘yicha xizmat sifatida foydalanish.</a:t>
            </a:r>
          </a:p>
        </p:txBody>
      </p:sp>
      <p:sp>
        <p:nvSpPr>
          <p:cNvPr id="10" name="Oval 9"/>
          <p:cNvSpPr/>
          <p:nvPr/>
        </p:nvSpPr>
        <p:spPr>
          <a:xfrm>
            <a:off x="777240" y="3493008"/>
            <a:ext cx="566928" cy="566928"/>
          </a:xfrm>
          <a:prstGeom prst="ellipse">
            <a:avLst/>
          </a:prstGeom>
          <a:solidFill>
            <a:srgbClr val="10A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3621024"/>
            <a:ext cx="301752" cy="310896"/>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2</a:t>
            </a:r>
          </a:p>
        </p:txBody>
      </p:sp>
      <p:sp>
        <p:nvSpPr>
          <p:cNvPr id="12" name="TextBox 11"/>
          <p:cNvSpPr txBox="1"/>
          <p:nvPr/>
        </p:nvSpPr>
        <p:spPr>
          <a:xfrm>
            <a:off x="1673352" y="3474720"/>
            <a:ext cx="9628632" cy="1024128"/>
          </a:xfrm>
          <a:prstGeom prst="rect">
            <a:avLst/>
          </a:prstGeom>
          <a:noFill/>
        </p:spPr>
        <p:txBody>
          <a:bodyPr wrap="square" lIns="27432" rIns="27432" tIns="18288" bIns="0">
            <a:spAutoFit/>
          </a:bodyPr>
          <a:lstStyle/>
          <a:p>
            <a:pPr>
              <a:spcAft>
                <a:spcPts val="800"/>
              </a:spcAft>
              <a:defRPr sz="2500" b="1">
                <a:solidFill>
                  <a:srgbClr val="17324C"/>
                </a:solidFill>
                <a:latin typeface="DejaVu Sans"/>
              </a:defRPr>
            </a:pPr>
            <a:r>
              <a:t>Elastiklik va o‘lchash tezlik hamda xarajat nazoratini birlashtiradi.</a:t>
            </a:r>
          </a:p>
        </p:txBody>
      </p:sp>
      <p:sp>
        <p:nvSpPr>
          <p:cNvPr id="13" name="Oval 12"/>
          <p:cNvSpPr/>
          <p:nvPr/>
        </p:nvSpPr>
        <p:spPr>
          <a:xfrm>
            <a:off x="777240" y="4837176"/>
            <a:ext cx="566928" cy="566928"/>
          </a:xfrm>
          <a:prstGeom prst="ellipse">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965192"/>
            <a:ext cx="301752" cy="310896"/>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3</a:t>
            </a:r>
          </a:p>
        </p:txBody>
      </p:sp>
      <p:sp>
        <p:nvSpPr>
          <p:cNvPr id="15" name="TextBox 14"/>
          <p:cNvSpPr txBox="1"/>
          <p:nvPr/>
        </p:nvSpPr>
        <p:spPr>
          <a:xfrm>
            <a:off x="1673352" y="4818888"/>
            <a:ext cx="9628632" cy="1024128"/>
          </a:xfrm>
          <a:prstGeom prst="rect">
            <a:avLst/>
          </a:prstGeom>
          <a:noFill/>
        </p:spPr>
        <p:txBody>
          <a:bodyPr wrap="square" lIns="27432" rIns="27432" tIns="18288" bIns="0">
            <a:spAutoFit/>
          </a:bodyPr>
          <a:lstStyle/>
          <a:p>
            <a:pPr>
              <a:spcAft>
                <a:spcPts val="800"/>
              </a:spcAft>
              <a:defRPr sz="2500" b="1">
                <a:solidFill>
                  <a:srgbClr val="17324C"/>
                </a:solidFill>
                <a:latin typeface="DejaVu Sans"/>
              </a:defRPr>
            </a:pPr>
            <a:r>
              <a:t>Ilova, ma’lumot, ruxsat va budjetni boshqarish zarur.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548640"/>
            <a:ext cx="109728" cy="6400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94360"/>
            <a:ext cx="10789920" cy="777240"/>
          </a:xfrm>
          <a:prstGeom prst="rect">
            <a:avLst/>
          </a:prstGeom>
          <a:noFill/>
        </p:spPr>
        <p:txBody>
          <a:bodyPr wrap="square" lIns="27432" rIns="27432" tIns="18288" bIns="0">
            <a:spAutoFit/>
          </a:bodyPr>
          <a:lstStyle/>
          <a:p>
            <a:pPr>
              <a:spcAft>
                <a:spcPts val="800"/>
              </a:spcAft>
              <a:defRPr sz="2900" b="1">
                <a:solidFill>
                  <a:srgbClr val="17324C"/>
                </a:solidFill>
                <a:latin typeface="DejaVu Sans"/>
              </a:defRPr>
            </a:pPr>
            <a:r>
              <a:t>Manbalar va rasm manbasi</a:t>
            </a:r>
          </a:p>
        </p:txBody>
      </p:sp>
      <p:sp>
        <p:nvSpPr>
          <p:cNvPr id="4" name="TextBox 3"/>
          <p:cNvSpPr txBox="1"/>
          <p:nvPr/>
        </p:nvSpPr>
        <p:spPr>
          <a:xfrm>
            <a:off x="731520" y="1600200"/>
            <a:ext cx="10789920" cy="594360"/>
          </a:xfrm>
          <a:prstGeom prst="rect">
            <a:avLst/>
          </a:prstGeom>
          <a:noFill/>
        </p:spPr>
        <p:txBody>
          <a:bodyPr wrap="square" lIns="27432" rIns="27432" tIns="18288" bIns="0">
            <a:spAutoFit/>
          </a:bodyPr>
          <a:lstStyle/>
          <a:p>
            <a:pPr>
              <a:spcAft>
                <a:spcPts val="800"/>
              </a:spcAft>
              <a:defRPr sz="1700" b="0">
                <a:solidFill>
                  <a:srgbClr val="17324C"/>
                </a:solidFill>
                <a:latin typeface="DejaVu Sans"/>
              </a:defRPr>
            </a:pPr>
            <a:r>
              <a:t>Asos: BTST206, 2027–2028 sillabusi. Rasmiy texnik hujjatlar:</a:t>
            </a:r>
          </a:p>
        </p:txBody>
      </p:sp>
      <p:sp>
        <p:nvSpPr>
          <p:cNvPr id="5" name="TextBox 4"/>
          <p:cNvSpPr txBox="1"/>
          <p:nvPr/>
        </p:nvSpPr>
        <p:spPr>
          <a:xfrm>
            <a:off x="777240" y="2286000"/>
            <a:ext cx="10652760" cy="365760"/>
          </a:xfrm>
          <a:prstGeom prst="rect">
            <a:avLst/>
          </a:prstGeom>
          <a:noFill/>
        </p:spPr>
        <p:txBody>
          <a:bodyPr wrap="square" lIns="27432" rIns="27432" tIns="18288" bIns="0">
            <a:spAutoFit/>
          </a:bodyPr>
          <a:lstStyle/>
          <a:p>
            <a:pPr>
              <a:spcAft>
                <a:spcPts val="800"/>
              </a:spcAft>
              <a:defRPr sz="1300" b="0">
                <a:solidFill>
                  <a:srgbClr val="1976D2"/>
                </a:solidFill>
                <a:latin typeface="DejaVu Sans"/>
              </a:defRPr>
            </a:pPr>
            <a:r>
              <a:t>https://csrc.nist.gov/pubs/sp/800/145/final</a:t>
            </a:r>
          </a:p>
        </p:txBody>
      </p:sp>
      <p:sp>
        <p:nvSpPr>
          <p:cNvPr id="6" name="TextBox 5"/>
          <p:cNvSpPr txBox="1"/>
          <p:nvPr/>
        </p:nvSpPr>
        <p:spPr>
          <a:xfrm>
            <a:off x="777240" y="2715768"/>
            <a:ext cx="10652760" cy="365760"/>
          </a:xfrm>
          <a:prstGeom prst="rect">
            <a:avLst/>
          </a:prstGeom>
          <a:noFill/>
        </p:spPr>
        <p:txBody>
          <a:bodyPr wrap="square" lIns="27432" rIns="27432" tIns="18288" bIns="0">
            <a:spAutoFit/>
          </a:bodyPr>
          <a:lstStyle/>
          <a:p>
            <a:pPr>
              <a:spcAft>
                <a:spcPts val="800"/>
              </a:spcAft>
              <a:defRPr sz="1300" b="0">
                <a:solidFill>
                  <a:srgbClr val="1976D2"/>
                </a:solidFill>
                <a:latin typeface="DejaVu Sans"/>
              </a:defRPr>
            </a:pPr>
            <a:r>
              <a:t>https://docs.aws.amazon.com/whitepapers/latest/aws-overview/</a:t>
            </a:r>
          </a:p>
        </p:txBody>
      </p:sp>
      <p:sp>
        <p:nvSpPr>
          <p:cNvPr id="7" name="TextBox 6"/>
          <p:cNvSpPr txBox="1"/>
          <p:nvPr/>
        </p:nvSpPr>
        <p:spPr>
          <a:xfrm>
            <a:off x="777240" y="4251960"/>
            <a:ext cx="10652760" cy="365760"/>
          </a:xfrm>
          <a:prstGeom prst="rect">
            <a:avLst/>
          </a:prstGeom>
          <a:noFill/>
        </p:spPr>
        <p:txBody>
          <a:bodyPr wrap="square" lIns="27432" rIns="27432" tIns="18288" bIns="0">
            <a:spAutoFit/>
          </a:bodyPr>
          <a:lstStyle/>
          <a:p>
            <a:pPr>
              <a:spcAft>
                <a:spcPts val="800"/>
              </a:spcAft>
              <a:defRPr sz="1200" b="1">
                <a:solidFill>
                  <a:srgbClr val="1976D2"/>
                </a:solidFill>
                <a:latin typeface="DejaVu Sans"/>
              </a:defRPr>
            </a:pPr>
            <a:r>
              <a:t>INTERNET RASMI</a:t>
            </a:r>
          </a:p>
        </p:txBody>
      </p:sp>
      <p:sp>
        <p:nvSpPr>
          <p:cNvPr id="8" name="TextBox 7"/>
          <p:cNvSpPr txBox="1"/>
          <p:nvPr/>
        </p:nvSpPr>
        <p:spPr>
          <a:xfrm>
            <a:off x="777240" y="4663440"/>
            <a:ext cx="10652760" cy="576072"/>
          </a:xfrm>
          <a:prstGeom prst="rect">
            <a:avLst/>
          </a:prstGeom>
          <a:noFill/>
        </p:spPr>
        <p:txBody>
          <a:bodyPr wrap="square" lIns="27432" rIns="27432" tIns="18288" bIns="0">
            <a:spAutoFit/>
          </a:bodyPr>
          <a:lstStyle/>
          <a:p>
            <a:pPr>
              <a:spcAft>
                <a:spcPts val="800"/>
              </a:spcAft>
              <a:defRPr sz="1400" b="0">
                <a:solidFill>
                  <a:srgbClr val="17324C"/>
                </a:solidFill>
                <a:latin typeface="DejaVu Sans"/>
              </a:defRPr>
            </a:pPr>
            <a:r>
              <a:t>slg74, old_dc_photos GitHub repository</a:t>
            </a:r>
          </a:p>
        </p:txBody>
      </p:sp>
      <p:sp>
        <p:nvSpPr>
          <p:cNvPr id="9" name="TextBox 8"/>
          <p:cNvSpPr txBox="1"/>
          <p:nvPr/>
        </p:nvSpPr>
        <p:spPr>
          <a:xfrm>
            <a:off x="777240" y="5285232"/>
            <a:ext cx="10652760" cy="64008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https://raw.githubusercontent.com/slg74/old_dc_photos/main/IMG_0184.jpg</a:t>
            </a:r>
          </a:p>
        </p:txBody>
      </p:sp>
      <p:sp>
        <p:nvSpPr>
          <p:cNvPr id="10" name="TextBox 9"/>
          <p:cNvSpPr txBox="1"/>
          <p:nvPr/>
        </p:nvSpPr>
        <p:spPr>
          <a:xfrm>
            <a:off x="777240" y="6035040"/>
            <a:ext cx="10652760" cy="320040"/>
          </a:xfrm>
          <a:prstGeom prst="rect">
            <a:avLst/>
          </a:prstGeom>
          <a:noFill/>
        </p:spPr>
        <p:txBody>
          <a:bodyPr wrap="square" lIns="27432" rIns="27432" tIns="18288" bIns="0">
            <a:spAutoFit/>
          </a:bodyPr>
          <a:lstStyle/>
          <a:p>
            <a:pPr>
              <a:spcAft>
                <a:spcPts val="800"/>
              </a:spcAft>
              <a:defRPr sz="1100" b="0">
                <a:solidFill>
                  <a:srgbClr val="17324C"/>
                </a:solidFill>
                <a:latin typeface="DejaVu Sans"/>
              </a:defRPr>
            </a:pPr>
            <a:r>
              <a:t>Barcha rasm manbalari va foydalanish izohlari: ASSET_SOURCES.md</a:t>
            </a:r>
          </a:p>
        </p:txBody>
      </p:sp>
      <p:sp>
        <p:nvSpPr>
          <p:cNvPr id="11" name="TextBox 10"/>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7324C"/>
                </a:solidFill>
                <a:latin typeface="DejaVu Sans"/>
              </a:defRPr>
            </a:pPr>
            <a:r>
              <a:t>BTST206   /   M01   /   2027–2028</a:t>
            </a:r>
          </a:p>
        </p:txBody>
      </p:sp>
      <p:sp>
        <p:nvSpPr>
          <p:cNvPr id="12" name="TextBox 11"/>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7324C"/>
                </a:solidFill>
                <a:latin typeface="DejaVu Sans"/>
              </a:defRPr>
            </a:pPr>
            <a: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