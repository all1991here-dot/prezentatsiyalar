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«Konteyner texnologiyalari» mavzusiga bag‘ishlanadi. Mavzuni murakkab atamalardan emas, kundalik ehtiyojdan boshlaymiz. Portal dasturchining kompyuterida ishlaydi, serverda esa kutubxona versiyasi sabab xato beradi. Konteynerlash ilova muhitini bir xil paketda yetkazish orqali bunday farqlarni kamaytiradi.</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konteynerlash nima? tushuntiriladi. 2-bo‘limda docker arxitekturasi tushuntiriladi. 3-bo‘limda image va container farqi tushuntiriladi. 4-bo‘limda dockerfile va qatlamlar tushuntiriladi. 5-bo‘limda registry va versiyalash tushuntiriladi. 6-bo‘limda vm bilan taqqoslash va xavfsizlik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Konteyner operatsion tizim jarayonlarini ajratib ishlatish usulidir. U odatda host yadrosini ulashadi, ammo fayl tizimi, jarayonlar va resurs chegaralari bo‘yicha alohida muhit ko‘radi. Shuning uchun VM ga qaraganda yengilroq bo‘lishi mumkin.</a:t>
            </a:r>
          </a:p>
          <a:p/>
          <a:p>
            <a:r>
              <a:t>Linux da namespaces ko‘rinishlarni ajratadi, cgroups esa resurs sarfini boshqarishga yordam beradi. Konteyner bajarilish muhiti tayyor image asosida jarayonni ishga tushiradi.</a:t>
            </a:r>
          </a:p>
          <a:p/>
          <a:p>
            <a:r>
              <a:t>Universitet misolida buni quyidagicha tasavvur qilamiz. Portal kodi va uning kutubxonalari bitta image ga joylanib, test va ishlab chiqarish muhitiga bir xil yetkaziladi. Bu misolda texnik atama real vazifa bilan bog‘lanadi: resursning nomini emas, nima uchun tanlanganini tushunish muhim.</a:t>
            </a:r>
          </a:p>
          <a:p/>
          <a:p>
            <a:r>
              <a:t>E’tibor beradigan chegara ham bor. Konteyner to‘liq mustaqil yadroga ega virtual mashina emas.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Docker buyruq satri klienti foydalanuvchi ko‘rsatmasini Docker Engine ga yuboradi. Engine image larni boshqaradi, konteynerlarni yaratadi va tarmoq hamda volume larni ulaydi. Registry image larni saqlash va tarqatish uchun xizmat qiladi.</a:t>
            </a:r>
          </a:p>
          <a:p/>
          <a:p>
            <a:r>
              <a:t>Docker build tayyorlash jarayonini bajaradi. Docker pull image ni registry dan oladi. Docker run shu image asosida yangi konteynerni ishga tushiradi.</a:t>
            </a:r>
          </a:p>
          <a:p/>
          <a:p>
            <a:r>
              <a:t>Universitet misolida buni quyidagicha tasavvur qilamiz. Dasturchi image ni yaratib registry ga jo‘natadi; server shu versiyani yuklab olib konteynerni ishga tushiradi. Bu misolda texnik atama real vazifa bilan bog‘lanadi: resursning nomini emas, nima uchun tanlanganini tushunish muhim.</a:t>
            </a:r>
          </a:p>
          <a:p/>
          <a:p>
            <a:r>
              <a:t>E’tibor beradigan chegara ham bor. Docker boshqaruv soketiga kirish katta vakolat berishi mumkin; uni himoyasiz ochib qo‘yish xavfli.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ilova fayllari va metadata qatlamlaridan tuzilgan o‘qishga mo‘ljallangan andozadir. Container shu andozadan yaratilgan bajarilish holatidir. Bir image dan ko‘p konteyner yaratish mumkin.</a:t>
            </a:r>
          </a:p>
          <a:p/>
          <a:p>
            <a:r>
              <a:t>Konteynerga yoziladigan qatlam qo‘shiladi. Konteyner o‘chirilsa, undagi vaqtinchalik yozuvlar ham yo‘qolishi mumkin. Doimiy ma’lumot volume yoki tashqi xizmatda saqlanadi.</a:t>
            </a:r>
          </a:p>
          <a:p/>
          <a:p>
            <a:r>
              <a:t>Universitet misolida buni quyidagicha tasavvur qilamiz. Bitta portal image idan uchta nusxa ishga tushadi. Ularning barchasi umumiy tashqi bazaga ulanadi. Bu misolda texnik atama real vazifa bilan bog‘lanadi: resursning nomini emas, nima uchun tanlanganini tushunish muhim.</a:t>
            </a:r>
          </a:p>
          <a:p/>
          <a:p>
            <a:r>
              <a:t>E’tibor beradigan chegara ham bor. Image ichiga maxfiy parol yoki foydalanuvchining doimiy fayllarini joylashtirish to‘g‘ri yondashuv emas.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Dockerfile bazaviy image, ish katalogi, kerakli fayllar va boshlang‘ich buyruqni ko‘rsatadi. Har bir mos qadam image qatlamini hosil qilishi mumkin. Qurilish keshi takroriy tayyorlashni tezlashtiradi.</a:t>
            </a:r>
          </a:p>
          <a:p/>
          <a:p>
            <a:r>
              <a:t>Avval ishonchli bazaviy image tanlanadi. Bog‘liqliklar o‘rnatiladi, kod nusxalanadi va ilovani ishga tushirish buyrug‘i beriladi. Multi-stage build yakuniy hajmni kichraytirishga yordam beradi.</a:t>
            </a:r>
          </a:p>
          <a:p/>
          <a:p>
            <a:r>
              <a:t>Universitet misolida buni quyidagicha tasavvur qilamiz. Python portal uchun bazaviy muhit olinadi, requirements fayli o‘rnatiladi va dastur kodi qo‘shiladi. Bu misolda texnik atama real vazifa bilan bog‘lanadi: resursning nomini emas, nima uchun tanlanganini tushunish muhim.</a:t>
            </a:r>
          </a:p>
          <a:p/>
          <a:p>
            <a:r>
              <a:t>E’tibor beradigan chegara ham bor. Versiyasiz latest tegiga tayanish takrorlanuvchanlikni pasaytiradi; muhim muhitda versiya yoki digest belgilanadi.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Registry image larni jamoa va muhitlar orasida uzatadi. Repository bitta ilova tasvirlari to‘plamini, tag esa tushunarli nomini bildiradi. Digest esa image mazmunini aniq belgilovchi identifikatordir.</a:t>
            </a:r>
          </a:p>
          <a:p/>
          <a:p>
            <a:r>
              <a:t>CI jarayoni image yaratib, uni registry ga jo‘natadi. Joylashtirish tizimi sinovdan o‘tgan versiyani oladi. Ruxsatlar kim o‘qishi va kim yozishini belgilaydi.</a:t>
            </a:r>
          </a:p>
          <a:p/>
          <a:p>
            <a:r>
              <a:t>Universitet misolida buni quyidagicha tasavvur qilamiz. portal:1.4 tegi jamoa uchun qulay nom, digest esa aynan qaysi tasvir ishga tushganini aniqlashga yordam beradi. Bu misolda texnik atama real vazifa bilan bog‘lanadi: resursning nomini emas, nima uchun tanlanganini tushunish muhim.</a:t>
            </a:r>
          </a:p>
          <a:p/>
          <a:p>
            <a:r>
              <a:t>E’tibor beradigan chegara ham bor. Teg o‘zgarishi mumkin; muhim joylashtirishlarda o‘zgarmas identifikator afzal.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VM to‘liq mehmon operatsion tizimini olib yuradi, konteyner esa ko‘proq ilova jarayoniga e’tibor beradi. Konteyner tez ishga tushishi va kichikroq bo‘lishi mumkin. Izolyatsiya chegarasi va operatsion tizim mosligi esa alohida baholanadi.</a:t>
            </a:r>
          </a:p>
          <a:p/>
          <a:p>
            <a:r>
              <a:t>Root bo‘lmagan foydalanuvchi, minimal image, resurs limiti va zaiflik tekshiruvi xavfni kamaytiradi. Sirlar image ga qo‘shilmasdan, xavfsiz mexanizm orqali uzatiladi.</a:t>
            </a:r>
          </a:p>
          <a:p/>
          <a:p>
            <a:r>
              <a:t>Universitet misolida buni quyidagicha tasavvur qilamiz. Universitet portalining konteyneriga faqat kerakli port va katalog ochiladi; baza paroli alohida sir sifatida beriladi. Bu misolda texnik atama real vazifa bilan bog‘lanadi: resursning nomini emas, nima uchun tanlanganini tushunish muhim.</a:t>
            </a:r>
          </a:p>
          <a:p/>
          <a:p>
            <a:r>
              <a:t>E’tibor beradigan chegara ham bor. Konteynerlashning o‘zi ilovani avtomatik xavfsiz yoki istalgan operatsion tizimda mos qilmaydi.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«Dockerfile» bilan «Image yaratish» o‘rtasida sxemada bog‘lanish ko‘rsatilgan. «Image yaratish» bilan «Registry» o‘rtasida sxemada bog‘lanish ko‘rsatilgan. «Registry» bilan «Container A» o‘rtasida sxemada bog‘lanish ko‘rsatilgan. «Registry» bilan «Container B» o‘rtasida sxemada bog‘lanish ko‘rsatilgan.</a:t>
            </a:r>
          </a:p>
          <a:p/>
          <a:p>
            <a:r>
              <a:t>Bu bog‘lanishlarni barcha xizmatlarda bir xil buyruq yoki bir xil fizik kabel deb tushunmaymiz. Ayrim o‘qlar bajarilish ketma-ketligini, ayrimlari resursni boshqarish yoki unga kirish aloqasini anglatadi. Docker build tayyorlash jarayonini bajaradi. Docker pull image ni registry dan oladi. Docker run shu image asosida yangi konteynerni ishga tushiradi.</a:t>
            </a:r>
          </a:p>
          <a:p/>
          <a:p>
            <a:r>
              <a:t>Sxemaning asosiy foydasi mas’uliyatlarni ajratib ko‘rsatishdir. portal:1.4 tegi jamoa uchun qulay nom, digest esa aynan qaysi tasvir ishga tushganini aniqlashga yordam beradi.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Portal dasturchining kompyuterida ishlaydi, serverda esa kutubxona versiyasi sabab xato beradi. Konteynerlash ilova muhitini bir xil paketda yetkazish orqali bunday farqlarni kamaytiradi.</a:t>
            </a:r>
          </a:p>
          <a:p/>
          <a:p>
            <a:r>
              <a:t>Avval ehtiyoj aniqlanadi: kim tizimdan foydalanadi, qaysi ma’lumot bilan ishlanadi va qanday natija kutiladi. Portal kodi va uning kutubxonalari bitta image ga joylanib, test va ishlab chiqarish muhitiga bir xil yetkaziladi. Keyin texnik qismlar shu talabga mos tanlanadi. Bitta portal image idan uchta nusxa ishga tushadi. Ularning barchasi umumiy tashqi bazaga ulanadi.</a:t>
            </a:r>
          </a:p>
          <a:p/>
          <a:p>
            <a:r>
              <a:t>Ishlash jarayonida faqat muvaffaqiyatli holat emas, xato va cheklovlar ham hisobga olinadi. Versiyasiz latest tegiga tayanish takrorlanuvchanlikni pasaytiradi; muhim muhitda versiya yoki digest belgilanadi. Shu sababli jamoa talabni, ruxsatni va nosozlikdagi xatti-harakatni oldindan belgilaydi. Universitet portalining konteyneriga faqat kerakli port va katalog ochiladi; baza paroli alohida sir sifatida beriladi.</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Konteyner to‘liq mustaqil yadroga ega virtual mashina emas. To‘g‘ri talqin quyidagicha: Konteyner operatsion tizim jarayonlarini ajratib ishlatish usulidir. U odatda host yadrosini ulashadi, ammo fayl tizimi, jarayonlar va resurs chegaralari bo‘yicha alohida muhit ko‘radi. Shuning uchun VM ga qaraganda yengilroq bo‘lishi mumkin.</a:t>
            </a:r>
          </a:p>
          <a:p/>
          <a:p>
            <a:r>
              <a:t>2. Versiyasiz latest tegiga tayanish takrorlanuvchanlikni pasaytiradi; muhim muhitda versiya yoki digest belgilanadi. To‘g‘ri talqin quyidagicha: Dockerfile bazaviy image, ish katalogi, kerakli fayllar va boshlang‘ich buyruqni ko‘rsatadi. Har bir mos qadam image qatlamini hosil qilishi mumkin. Qurilish keshi takroriy tayyorlashni tezlashtiradi.</a:t>
            </a:r>
          </a:p>
          <a:p/>
          <a:p>
            <a:r>
              <a:t>3. Konteynerlashning o‘zi ilovani avtomatik xavfsiz yoki istalgan operatsion tizimda mos qilmaydi. To‘g‘ri talqin quyidagicha: VM to‘liq mehmon operatsion tizimini olib yuradi, konteyner esa ko‘proq ilova jarayoniga e’tibor beradi. Konteyner tez ishga tushishi va kichikroq bo‘lishi mumkin. Izolyatsiya chegarasi va operatsion tizim mosligi esa alohida baholanadi.</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Ilovani bog‘liqliklari bilan ixcham paketlash — mavzuning umumiy mazmunini ifodalaydi.</a:t>
            </a:r>
          </a:p>
          <a:p/>
          <a:p>
            <a:r>
              <a:t>Asosiy tayanch fikr: Ilova va bog‘liqliklar ajratilgan jarayonlarda ishlaydi. Linux da namespaces ko‘rinishlarni ajratadi, cgroups esa resurs sarfini boshqarishga yordam beradi. Konteyner bajarilish muhiti tayyor image asosida jarayonni ishga tushiradi.</a:t>
            </a:r>
          </a:p>
          <a:p/>
          <a:p>
            <a:r>
              <a:t>Asosiy tayanch fikr: Image — andoza; container — ishlayotgan nusxa. Konteynerga yoziladigan qatlam qo‘shiladi. Konteyner o‘chirilsa, undagi vaqtinchalik yozuvlar ham yo‘qolishi mumkin. Doimiy ma’lumot volume yoki tashqi xizmatda saqlanadi.</a:t>
            </a:r>
          </a:p>
          <a:p/>
          <a:p>
            <a:r>
              <a:t>Asosiy tayanch fikr: Image larni saqlash va aniq nusxani tarqatish. CI jarayoni image yaratib, uni registry ga jo‘natadi. Joylashtirish tizimi sinovdan o‘tgan versiyani oladi. Ruxsatlar kim o‘qishi va kim yozishini belgilaydi.</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ec-1c8f91bc-6381-4745-8533-c57166497063.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516636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94360"/>
            <a:ext cx="594360" cy="73152"/>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96112"/>
            <a:ext cx="4480560" cy="457200"/>
          </a:xfrm>
          <a:prstGeom prst="rect">
            <a:avLst/>
          </a:prstGeom>
          <a:noFill/>
        </p:spPr>
        <p:txBody>
          <a:bodyPr wrap="square" lIns="27432" rIns="27432" tIns="18288" bIns="0">
            <a:spAutoFit/>
          </a:bodyPr>
          <a:lstStyle/>
          <a:p>
            <a:pPr>
              <a:spcAft>
                <a:spcPts val="1000"/>
              </a:spcAft>
              <a:defRPr sz="1700" b="1">
                <a:solidFill>
                  <a:srgbClr val="1678D2"/>
                </a:solidFill>
                <a:latin typeface="DejaVu Sans"/>
              </a:defRPr>
            </a:pPr>
            <a:r>
              <a:t>M06  /  BTST206</a:t>
            </a:r>
          </a:p>
        </p:txBody>
      </p:sp>
      <p:sp>
        <p:nvSpPr>
          <p:cNvPr id="6" name="TextBox 5"/>
          <p:cNvSpPr txBox="1"/>
          <p:nvPr/>
        </p:nvSpPr>
        <p:spPr>
          <a:xfrm>
            <a:off x="548640" y="1737360"/>
            <a:ext cx="4480560" cy="2788920"/>
          </a:xfrm>
          <a:prstGeom prst="rect">
            <a:avLst/>
          </a:prstGeom>
          <a:noFill/>
        </p:spPr>
        <p:txBody>
          <a:bodyPr wrap="square" lIns="27432" rIns="27432" tIns="18288" bIns="0">
            <a:spAutoFit/>
          </a:bodyPr>
          <a:lstStyle/>
          <a:p>
            <a:pPr>
              <a:spcAft>
                <a:spcPts val="1000"/>
              </a:spcAft>
              <a:defRPr sz="3000" b="1">
                <a:solidFill>
                  <a:srgbClr val="15365B"/>
                </a:solidFill>
                <a:latin typeface="DejaVu Sans"/>
              </a:defRPr>
            </a:pPr>
            <a:r>
              <a:t>Konteyner texnologiyalari</a:t>
            </a:r>
          </a:p>
        </p:txBody>
      </p:sp>
      <p:sp>
        <p:nvSpPr>
          <p:cNvPr id="7" name="TextBox 6"/>
          <p:cNvSpPr txBox="1"/>
          <p:nvPr/>
        </p:nvSpPr>
        <p:spPr>
          <a:xfrm>
            <a:off x="548640" y="4800600"/>
            <a:ext cx="4434840" cy="914400"/>
          </a:xfrm>
          <a:prstGeom prst="rect">
            <a:avLst/>
          </a:prstGeom>
          <a:noFill/>
        </p:spPr>
        <p:txBody>
          <a:bodyPr wrap="square" lIns="27432" rIns="27432" tIns="18288" bIns="0">
            <a:spAutoFit/>
          </a:bodyPr>
          <a:lstStyle/>
          <a:p>
            <a:pPr>
              <a:spcAft>
                <a:spcPts val="1000"/>
              </a:spcAft>
              <a:defRPr sz="1900" b="0">
                <a:solidFill>
                  <a:srgbClr val="53687D"/>
                </a:solidFill>
                <a:latin typeface="DejaVu Sans"/>
              </a:defRPr>
            </a:pPr>
            <a:r>
              <a:t>Ilovani bog‘liqliklari bilan ixcham paketlash</a:t>
            </a:r>
          </a:p>
        </p:txBody>
      </p:sp>
      <p:sp>
        <p:nvSpPr>
          <p:cNvPr id="8" name="TextBox 7"/>
          <p:cNvSpPr txBox="1"/>
          <p:nvPr/>
        </p:nvSpPr>
        <p:spPr>
          <a:xfrm>
            <a:off x="548640" y="6217920"/>
            <a:ext cx="4480560" cy="365760"/>
          </a:xfrm>
          <a:prstGeom prst="rect">
            <a:avLst/>
          </a:prstGeom>
          <a:noFill/>
        </p:spPr>
        <p:txBody>
          <a:bodyPr wrap="square" lIns="27432" rIns="27432" tIns="18288" bIns="0">
            <a:spAutoFit/>
          </a:bodyPr>
          <a:lstStyle/>
          <a:p>
            <a:pPr>
              <a:spcAft>
                <a:spcPts val="1000"/>
              </a:spcAft>
              <a:defRPr sz="1100" b="0">
                <a:solidFill>
                  <a:srgbClr val="1678D2"/>
                </a:solidFill>
                <a:latin typeface="DejaVu Sans"/>
              </a:defRPr>
            </a:pPr>
            <a:r>
              <a:t>2027–2028  •  VIDEOMA’RUZA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M06 · O‘RGANISH TARTIBI</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Bugungi mavzuning yo‘l xaritasi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02</a:t>
            </a:r>
          </a:p>
        </p:txBody>
      </p:sp>
      <p:sp>
        <p:nvSpPr>
          <p:cNvPr id="8" name="Rounded Rectangle 7"/>
          <p:cNvSpPr/>
          <p:nvPr/>
        </p:nvSpPr>
        <p:spPr>
          <a:xfrm>
            <a:off x="594360" y="1938528"/>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84832"/>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01</a:t>
            </a:r>
          </a:p>
        </p:txBody>
      </p:sp>
      <p:sp>
        <p:nvSpPr>
          <p:cNvPr id="10" name="TextBox 9"/>
          <p:cNvSpPr txBox="1"/>
          <p:nvPr/>
        </p:nvSpPr>
        <p:spPr>
          <a:xfrm>
            <a:off x="1380744" y="2057400"/>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Konteynerlash nima?</a:t>
            </a:r>
          </a:p>
        </p:txBody>
      </p:sp>
      <p:sp>
        <p:nvSpPr>
          <p:cNvPr id="11" name="Rounded Rectangle 10"/>
          <p:cNvSpPr/>
          <p:nvPr/>
        </p:nvSpPr>
        <p:spPr>
          <a:xfrm>
            <a:off x="6263640" y="1938528"/>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84832"/>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02</a:t>
            </a:r>
          </a:p>
        </p:txBody>
      </p:sp>
      <p:sp>
        <p:nvSpPr>
          <p:cNvPr id="13" name="TextBox 12"/>
          <p:cNvSpPr txBox="1"/>
          <p:nvPr/>
        </p:nvSpPr>
        <p:spPr>
          <a:xfrm>
            <a:off x="7050024" y="2057400"/>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Docker arxitekturasi</a:t>
            </a:r>
          </a:p>
        </p:txBody>
      </p:sp>
      <p:sp>
        <p:nvSpPr>
          <p:cNvPr id="14" name="Rounded Rectangle 13"/>
          <p:cNvSpPr/>
          <p:nvPr/>
        </p:nvSpPr>
        <p:spPr>
          <a:xfrm>
            <a:off x="594360" y="3246120"/>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92424"/>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03</a:t>
            </a:r>
          </a:p>
        </p:txBody>
      </p:sp>
      <p:sp>
        <p:nvSpPr>
          <p:cNvPr id="16" name="TextBox 15"/>
          <p:cNvSpPr txBox="1"/>
          <p:nvPr/>
        </p:nvSpPr>
        <p:spPr>
          <a:xfrm>
            <a:off x="1380744" y="3364991"/>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Image va Container farqi</a:t>
            </a:r>
          </a:p>
        </p:txBody>
      </p:sp>
      <p:sp>
        <p:nvSpPr>
          <p:cNvPr id="17" name="Rounded Rectangle 16"/>
          <p:cNvSpPr/>
          <p:nvPr/>
        </p:nvSpPr>
        <p:spPr>
          <a:xfrm>
            <a:off x="6263640" y="3246120"/>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392424"/>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04</a:t>
            </a:r>
          </a:p>
        </p:txBody>
      </p:sp>
      <p:sp>
        <p:nvSpPr>
          <p:cNvPr id="19" name="TextBox 18"/>
          <p:cNvSpPr txBox="1"/>
          <p:nvPr/>
        </p:nvSpPr>
        <p:spPr>
          <a:xfrm>
            <a:off x="7050024" y="3364991"/>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Dockerfile va qatlamlar</a:t>
            </a:r>
          </a:p>
        </p:txBody>
      </p:sp>
      <p:sp>
        <p:nvSpPr>
          <p:cNvPr id="20" name="Rounded Rectangle 19"/>
          <p:cNvSpPr/>
          <p:nvPr/>
        </p:nvSpPr>
        <p:spPr>
          <a:xfrm>
            <a:off x="594360" y="4553712"/>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700016"/>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05</a:t>
            </a:r>
          </a:p>
        </p:txBody>
      </p:sp>
      <p:sp>
        <p:nvSpPr>
          <p:cNvPr id="22" name="TextBox 21"/>
          <p:cNvSpPr txBox="1"/>
          <p:nvPr/>
        </p:nvSpPr>
        <p:spPr>
          <a:xfrm>
            <a:off x="1380744" y="4672584"/>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Registry va versiyalash</a:t>
            </a:r>
          </a:p>
        </p:txBody>
      </p:sp>
      <p:sp>
        <p:nvSpPr>
          <p:cNvPr id="23" name="Rounded Rectangle 22"/>
          <p:cNvSpPr/>
          <p:nvPr/>
        </p:nvSpPr>
        <p:spPr>
          <a:xfrm>
            <a:off x="6263640" y="4553712"/>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4700016"/>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06</a:t>
            </a:r>
          </a:p>
        </p:txBody>
      </p:sp>
      <p:sp>
        <p:nvSpPr>
          <p:cNvPr id="25" name="TextBox 24"/>
          <p:cNvSpPr txBox="1"/>
          <p:nvPr/>
        </p:nvSpPr>
        <p:spPr>
          <a:xfrm>
            <a:off x="7050024" y="4672584"/>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VM bilan taqqoslash va xavfsizlik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M06 · ASOSIY TUSHUNCHA 1/6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Konteynerlash nima?</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03</a:t>
            </a:r>
          </a:p>
        </p:txBody>
      </p:sp>
      <p:sp>
        <p:nvSpPr>
          <p:cNvPr id="8" name="TextBox 7"/>
          <p:cNvSpPr txBox="1"/>
          <p:nvPr/>
        </p:nvSpPr>
        <p:spPr>
          <a:xfrm>
            <a:off x="594360" y="1865376"/>
            <a:ext cx="7086600" cy="1143000"/>
          </a:xfrm>
          <a:prstGeom prst="rect">
            <a:avLst/>
          </a:prstGeom>
          <a:noFill/>
        </p:spPr>
        <p:txBody>
          <a:bodyPr wrap="square" lIns="27432" rIns="27432" tIns="18288" bIns="0">
            <a:spAutoFit/>
          </a:bodyPr>
          <a:lstStyle/>
          <a:p>
            <a:pPr>
              <a:spcAft>
                <a:spcPts val="1000"/>
              </a:spcAft>
              <a:defRPr sz="3000" b="1">
                <a:solidFill>
                  <a:srgbClr val="1678D2"/>
                </a:solidFill>
                <a:latin typeface="DejaVu Sans"/>
              </a:defRPr>
            </a:pPr>
            <a:r>
              <a:t>Ilova va bog‘liqliklar ajratilgan jarayonlarda ishlaydi.</a:t>
            </a:r>
          </a:p>
        </p:txBody>
      </p:sp>
      <p:sp>
        <p:nvSpPr>
          <p:cNvPr id="9" name="Rounded Rectangle 8"/>
          <p:cNvSpPr/>
          <p:nvPr/>
        </p:nvSpPr>
        <p:spPr>
          <a:xfrm>
            <a:off x="594360" y="3337560"/>
            <a:ext cx="7040880" cy="203911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38728"/>
            <a:ext cx="6556248" cy="178308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Portal kodi va uning kutubxonalari bitta image ga joylanib, test va ishlab chiqarish muhitiga bir xil yetkaziladi.</a:t>
            </a:r>
          </a:p>
        </p:txBody>
      </p:sp>
      <p:sp>
        <p:nvSpPr>
          <p:cNvPr id="11" name="Rounded Rectangle 10"/>
          <p:cNvSpPr/>
          <p:nvPr/>
        </p:nvSpPr>
        <p:spPr>
          <a:xfrm>
            <a:off x="8183879" y="4965192"/>
            <a:ext cx="3063240" cy="14630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8321040" y="3120390"/>
            <a:ext cx="1042416" cy="217170"/>
          </a:xfrm>
          <a:custGeom>
            <a:avLst/>
            <a:gdLst/>
            <a:ahLst/>
            <a:cxnLst/>
            <a:rect l="l" t="t" r="r" b="b"/>
            <a:pathLst>
              <a:path w="1042416" h="217170">
                <a:moveTo>
                  <a:pt x="0" y="217170"/>
                </a:moveTo>
                <a:lnTo>
                  <a:pt x="825246" y="217170"/>
                </a:lnTo>
                <a:lnTo>
                  <a:pt x="1042416" y="0"/>
                </a:lnTo>
                <a:lnTo>
                  <a:pt x="21717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9146286" y="3120390"/>
            <a:ext cx="217170" cy="1780793"/>
          </a:xfrm>
          <a:custGeom>
            <a:avLst/>
            <a:gdLst/>
            <a:ahLst/>
            <a:cxnLst/>
            <a:rect l="l" t="t" r="r" b="b"/>
            <a:pathLst>
              <a:path w="217170" h="1780793">
                <a:moveTo>
                  <a:pt x="0" y="217170"/>
                </a:moveTo>
                <a:lnTo>
                  <a:pt x="217170" y="0"/>
                </a:lnTo>
                <a:lnTo>
                  <a:pt x="217170" y="1563624"/>
                </a:lnTo>
                <a:lnTo>
                  <a:pt x="0" y="178079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3337560"/>
            <a:ext cx="825246" cy="1563624"/>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407908" y="349392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94368" y="353735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07908" y="373715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94368" y="378058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07908" y="398038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94368" y="402381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07908" y="422361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94368" y="426704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07908" y="4466844"/>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94368" y="4510278"/>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9628632" y="2811779"/>
            <a:ext cx="1207008" cy="251460"/>
          </a:xfrm>
          <a:custGeom>
            <a:avLst/>
            <a:gdLst/>
            <a:ahLst/>
            <a:cxnLst/>
            <a:rect l="l" t="t" r="r" b="b"/>
            <a:pathLst>
              <a:path w="1207008" h="251460">
                <a:moveTo>
                  <a:pt x="0" y="251460"/>
                </a:moveTo>
                <a:lnTo>
                  <a:pt x="955548" y="251460"/>
                </a:lnTo>
                <a:lnTo>
                  <a:pt x="1207008" y="0"/>
                </a:lnTo>
                <a:lnTo>
                  <a:pt x="25146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10584180" y="2811779"/>
            <a:ext cx="251460" cy="2061973"/>
          </a:xfrm>
          <a:custGeom>
            <a:avLst/>
            <a:gdLst/>
            <a:ahLst/>
            <a:cxnLst/>
            <a:rect l="l" t="t" r="r" b="b"/>
            <a:pathLst>
              <a:path w="251460" h="2061973">
                <a:moveTo>
                  <a:pt x="0" y="251460"/>
                </a:moveTo>
                <a:lnTo>
                  <a:pt x="251460" y="0"/>
                </a:lnTo>
                <a:lnTo>
                  <a:pt x="251460" y="1810513"/>
                </a:lnTo>
                <a:lnTo>
                  <a:pt x="0" y="206197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28632" y="3063239"/>
            <a:ext cx="955547" cy="1810512"/>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29215" y="324429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292486" y="329458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29215" y="352592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292486" y="357621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29215" y="380756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292486" y="385785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729215" y="408919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92486" y="413948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729215" y="437083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292486" y="4421124"/>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loud 37"/>
          <p:cNvSpPr/>
          <p:nvPr/>
        </p:nvSpPr>
        <p:spPr>
          <a:xfrm>
            <a:off x="8668512" y="2103120"/>
            <a:ext cx="2286000" cy="1188720"/>
          </a:xfrm>
          <a:prstGeom prst="cloud">
            <a:avLst/>
          </a:prstGeom>
          <a:solidFill>
            <a:srgbClr val="D8F1FF"/>
          </a:solidFill>
          <a:ln>
            <a:solidFill>
              <a:srgbClr val="5CC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M06 · ASOSIY TUSHUNCHA 2/6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Docker arxitekturasi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04</a:t>
            </a:r>
          </a:p>
        </p:txBody>
      </p:sp>
      <p:sp>
        <p:nvSpPr>
          <p:cNvPr id="8" name="Rounded Rectangle 7"/>
          <p:cNvSpPr/>
          <p:nvPr/>
        </p:nvSpPr>
        <p:spPr>
          <a:xfrm>
            <a:off x="59436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QANDAY ISHLAYDI?</a:t>
            </a:r>
          </a:p>
        </p:txBody>
      </p:sp>
      <p:sp>
        <p:nvSpPr>
          <p:cNvPr id="10" name="TextBox 9"/>
          <p:cNvSpPr txBox="1"/>
          <p:nvPr/>
        </p:nvSpPr>
        <p:spPr>
          <a:xfrm>
            <a:off x="82296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Docker build tayyorlash jarayonini bajaradi.</a:t>
            </a:r>
          </a:p>
        </p:txBody>
      </p:sp>
      <p:sp>
        <p:nvSpPr>
          <p:cNvPr id="11" name="Rounded Rectangle 10"/>
          <p:cNvSpPr/>
          <p:nvPr/>
        </p:nvSpPr>
        <p:spPr>
          <a:xfrm>
            <a:off x="626364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ESDA SAQLANG</a:t>
            </a:r>
          </a:p>
        </p:txBody>
      </p:sp>
      <p:sp>
        <p:nvSpPr>
          <p:cNvPr id="13" name="TextBox 12"/>
          <p:cNvSpPr txBox="1"/>
          <p:nvPr/>
        </p:nvSpPr>
        <p:spPr>
          <a:xfrm>
            <a:off x="649224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Docker boshqaruv soketiga kirish katta vakolat berishi mumkin; uni himoyasiz ochib qo‘yish xavfli.</a:t>
            </a:r>
          </a:p>
        </p:txBody>
      </p:sp>
      <p:sp>
        <p:nvSpPr>
          <p:cNvPr id="14" name="TextBox 13"/>
          <p:cNvSpPr txBox="1"/>
          <p:nvPr/>
        </p:nvSpPr>
        <p:spPr>
          <a:xfrm>
            <a:off x="640080" y="5742432"/>
            <a:ext cx="10881360" cy="3657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Client → Docker Engine → konteynerlar.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M06 · ASOSIY TUSHUNCHA 3/6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Image va Container farqi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05</a:t>
            </a:r>
          </a:p>
        </p:txBody>
      </p:sp>
      <p:sp>
        <p:nvSpPr>
          <p:cNvPr id="8" name="Rectangle 7"/>
          <p:cNvSpPr/>
          <p:nvPr/>
        </p:nvSpPr>
        <p:spPr>
          <a:xfrm>
            <a:off x="594360" y="2011680"/>
            <a:ext cx="100584" cy="333756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075688"/>
            <a:ext cx="9966960" cy="1280160"/>
          </a:xfrm>
          <a:prstGeom prst="rect">
            <a:avLst/>
          </a:prstGeom>
          <a:noFill/>
        </p:spPr>
        <p:txBody>
          <a:bodyPr wrap="square" lIns="27432" rIns="27432" tIns="18288" bIns="0">
            <a:spAutoFit/>
          </a:bodyPr>
          <a:lstStyle/>
          <a:p>
            <a:pPr>
              <a:spcAft>
                <a:spcPts val="1000"/>
              </a:spcAft>
              <a:defRPr sz="3200" b="1">
                <a:solidFill>
                  <a:srgbClr val="1678D2"/>
                </a:solidFill>
                <a:latin typeface="DejaVu Sans"/>
              </a:defRPr>
            </a:pPr>
            <a:r>
              <a:t>Image — andoza; container — ishlayotgan nusxa.</a:t>
            </a:r>
          </a:p>
        </p:txBody>
      </p:sp>
      <p:sp>
        <p:nvSpPr>
          <p:cNvPr id="10" name="TextBox 9"/>
          <p:cNvSpPr txBox="1"/>
          <p:nvPr/>
        </p:nvSpPr>
        <p:spPr>
          <a:xfrm>
            <a:off x="960120" y="3712463"/>
            <a:ext cx="6629400" cy="164592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Image ilova fayllari va metadata qatlamlaridan tuzilgan o‘qishga mo‘ljallangan andozadir.</a:t>
            </a:r>
          </a:p>
        </p:txBody>
      </p:sp>
      <p:sp>
        <p:nvSpPr>
          <p:cNvPr id="11" name="Rounded Rectangle 10"/>
          <p:cNvSpPr/>
          <p:nvPr/>
        </p:nvSpPr>
        <p:spPr>
          <a:xfrm>
            <a:off x="8366760" y="3822191"/>
            <a:ext cx="2971800" cy="133502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4114800"/>
            <a:ext cx="2514600" cy="8229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TA’RIF → MISOL</a:t>
            </a:r>
          </a:p>
          <a:p>
            <a:pPr>
              <a:spcAft>
                <a:spcPts val="1000"/>
              </a:spcAft>
              <a:defRPr sz="1800" b="1">
                <a:solidFill>
                  <a:srgbClr val="1678D2"/>
                </a:solidFill>
                <a:latin typeface="DejaVu Sans"/>
              </a:defRPr>
            </a:pPr>
            <a:r>
              <a:t>→ CHEGARA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M06 · ASOSIY TUSHUNCHA 4/6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Dockerfile va qatlamlar</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06</a:t>
            </a:r>
          </a:p>
        </p:txBody>
      </p:sp>
      <p:sp>
        <p:nvSpPr>
          <p:cNvPr id="8" name="TextBox 7"/>
          <p:cNvSpPr txBox="1"/>
          <p:nvPr/>
        </p:nvSpPr>
        <p:spPr>
          <a:xfrm>
            <a:off x="594360" y="1865376"/>
            <a:ext cx="7086600" cy="1143000"/>
          </a:xfrm>
          <a:prstGeom prst="rect">
            <a:avLst/>
          </a:prstGeom>
          <a:noFill/>
        </p:spPr>
        <p:txBody>
          <a:bodyPr wrap="square" lIns="27432" rIns="27432" tIns="18288" bIns="0">
            <a:spAutoFit/>
          </a:bodyPr>
          <a:lstStyle/>
          <a:p>
            <a:pPr>
              <a:spcAft>
                <a:spcPts val="1000"/>
              </a:spcAft>
              <a:defRPr sz="3000" b="1">
                <a:solidFill>
                  <a:srgbClr val="1678D2"/>
                </a:solidFill>
                <a:latin typeface="DejaVu Sans"/>
              </a:defRPr>
            </a:pPr>
            <a:r>
              <a:t>Image yaratish qadamlari matnda yoziladi.</a:t>
            </a:r>
          </a:p>
        </p:txBody>
      </p:sp>
      <p:sp>
        <p:nvSpPr>
          <p:cNvPr id="9" name="Rounded Rectangle 8"/>
          <p:cNvSpPr/>
          <p:nvPr/>
        </p:nvSpPr>
        <p:spPr>
          <a:xfrm>
            <a:off x="594360" y="3337560"/>
            <a:ext cx="7040880" cy="203911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38728"/>
            <a:ext cx="6556248" cy="178308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Python portal uchun bazaviy muhit olinadi, requirements fayli o‘rnatiladi va dastur kodi qo‘shiladi.</a:t>
            </a:r>
          </a:p>
        </p:txBody>
      </p:sp>
      <p:sp>
        <p:nvSpPr>
          <p:cNvPr id="11" name="Rounded Rectangle 10"/>
          <p:cNvSpPr/>
          <p:nvPr/>
        </p:nvSpPr>
        <p:spPr>
          <a:xfrm>
            <a:off x="8183879" y="4965192"/>
            <a:ext cx="3063240" cy="14630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8321040" y="3120390"/>
            <a:ext cx="1042416" cy="217170"/>
          </a:xfrm>
          <a:custGeom>
            <a:avLst/>
            <a:gdLst/>
            <a:ahLst/>
            <a:cxnLst/>
            <a:rect l="l" t="t" r="r" b="b"/>
            <a:pathLst>
              <a:path w="1042416" h="217170">
                <a:moveTo>
                  <a:pt x="0" y="217170"/>
                </a:moveTo>
                <a:lnTo>
                  <a:pt x="825246" y="217170"/>
                </a:lnTo>
                <a:lnTo>
                  <a:pt x="1042416" y="0"/>
                </a:lnTo>
                <a:lnTo>
                  <a:pt x="21717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9146286" y="3120390"/>
            <a:ext cx="217170" cy="1780793"/>
          </a:xfrm>
          <a:custGeom>
            <a:avLst/>
            <a:gdLst/>
            <a:ahLst/>
            <a:cxnLst/>
            <a:rect l="l" t="t" r="r" b="b"/>
            <a:pathLst>
              <a:path w="217170" h="1780793">
                <a:moveTo>
                  <a:pt x="0" y="217170"/>
                </a:moveTo>
                <a:lnTo>
                  <a:pt x="217170" y="0"/>
                </a:lnTo>
                <a:lnTo>
                  <a:pt x="217170" y="1563624"/>
                </a:lnTo>
                <a:lnTo>
                  <a:pt x="0" y="178079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3337560"/>
            <a:ext cx="825246" cy="1563624"/>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407908" y="349392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94368" y="353735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07908" y="373715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94368" y="378058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07908" y="398038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94368" y="402381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07908" y="422361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94368" y="426704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07908" y="4466844"/>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94368" y="4510278"/>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9628632" y="2811779"/>
            <a:ext cx="1207008" cy="251460"/>
          </a:xfrm>
          <a:custGeom>
            <a:avLst/>
            <a:gdLst/>
            <a:ahLst/>
            <a:cxnLst/>
            <a:rect l="l" t="t" r="r" b="b"/>
            <a:pathLst>
              <a:path w="1207008" h="251460">
                <a:moveTo>
                  <a:pt x="0" y="251460"/>
                </a:moveTo>
                <a:lnTo>
                  <a:pt x="955548" y="251460"/>
                </a:lnTo>
                <a:lnTo>
                  <a:pt x="1207008" y="0"/>
                </a:lnTo>
                <a:lnTo>
                  <a:pt x="25146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10584180" y="2811779"/>
            <a:ext cx="251460" cy="2061973"/>
          </a:xfrm>
          <a:custGeom>
            <a:avLst/>
            <a:gdLst/>
            <a:ahLst/>
            <a:cxnLst/>
            <a:rect l="l" t="t" r="r" b="b"/>
            <a:pathLst>
              <a:path w="251460" h="2061973">
                <a:moveTo>
                  <a:pt x="0" y="251460"/>
                </a:moveTo>
                <a:lnTo>
                  <a:pt x="251460" y="0"/>
                </a:lnTo>
                <a:lnTo>
                  <a:pt x="251460" y="1810513"/>
                </a:lnTo>
                <a:lnTo>
                  <a:pt x="0" y="206197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28632" y="3063239"/>
            <a:ext cx="955547" cy="1810512"/>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29215" y="324429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292486" y="329458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29215" y="352592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292486" y="357621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29215" y="380756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292486" y="385785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729215" y="408919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92486" y="413948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729215" y="437083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292486" y="4421124"/>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loud 37"/>
          <p:cNvSpPr/>
          <p:nvPr/>
        </p:nvSpPr>
        <p:spPr>
          <a:xfrm>
            <a:off x="8668512" y="2103120"/>
            <a:ext cx="2286000" cy="1188720"/>
          </a:xfrm>
          <a:prstGeom prst="cloud">
            <a:avLst/>
          </a:prstGeom>
          <a:solidFill>
            <a:srgbClr val="D8F1FF"/>
          </a:solidFill>
          <a:ln>
            <a:solidFill>
              <a:srgbClr val="5CC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M06 · ASOSIY TUSHUNCHA 5/6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Registry va versiyalash</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07</a:t>
            </a:r>
          </a:p>
        </p:txBody>
      </p:sp>
      <p:sp>
        <p:nvSpPr>
          <p:cNvPr id="8" name="Rounded Rectangle 7"/>
          <p:cNvSpPr/>
          <p:nvPr/>
        </p:nvSpPr>
        <p:spPr>
          <a:xfrm>
            <a:off x="59436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QANDAY ISHLAYDI?</a:t>
            </a:r>
          </a:p>
        </p:txBody>
      </p:sp>
      <p:sp>
        <p:nvSpPr>
          <p:cNvPr id="10" name="TextBox 9"/>
          <p:cNvSpPr txBox="1"/>
          <p:nvPr/>
        </p:nvSpPr>
        <p:spPr>
          <a:xfrm>
            <a:off x="82296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CI jarayoni image yaratib, uni registry ga jo‘natadi.</a:t>
            </a:r>
          </a:p>
        </p:txBody>
      </p:sp>
      <p:sp>
        <p:nvSpPr>
          <p:cNvPr id="11" name="Rounded Rectangle 10"/>
          <p:cNvSpPr/>
          <p:nvPr/>
        </p:nvSpPr>
        <p:spPr>
          <a:xfrm>
            <a:off x="626364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ESDA SAQLANG</a:t>
            </a:r>
          </a:p>
        </p:txBody>
      </p:sp>
      <p:sp>
        <p:nvSpPr>
          <p:cNvPr id="13" name="TextBox 12"/>
          <p:cNvSpPr txBox="1"/>
          <p:nvPr/>
        </p:nvSpPr>
        <p:spPr>
          <a:xfrm>
            <a:off x="649224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Teg o‘zgarishi mumkin; muhim joylashtirishlarda o‘zgarmas identifikator afzal.</a:t>
            </a:r>
          </a:p>
        </p:txBody>
      </p:sp>
      <p:sp>
        <p:nvSpPr>
          <p:cNvPr id="14" name="TextBox 13"/>
          <p:cNvSpPr txBox="1"/>
          <p:nvPr/>
        </p:nvSpPr>
        <p:spPr>
          <a:xfrm>
            <a:off x="640080" y="5742432"/>
            <a:ext cx="10881360" cy="3657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Image larni saqlash va aniq nusxani tarqatish.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M06 · ASOSIY TUSHUNCHA 6/6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VM bilan taqqoslash va xavfsizlik</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08</a:t>
            </a:r>
          </a:p>
        </p:txBody>
      </p:sp>
      <p:sp>
        <p:nvSpPr>
          <p:cNvPr id="8" name="Rectangle 7"/>
          <p:cNvSpPr/>
          <p:nvPr/>
        </p:nvSpPr>
        <p:spPr>
          <a:xfrm>
            <a:off x="594360" y="2011680"/>
            <a:ext cx="100584" cy="333756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075688"/>
            <a:ext cx="9966960" cy="1280160"/>
          </a:xfrm>
          <a:prstGeom prst="rect">
            <a:avLst/>
          </a:prstGeom>
          <a:noFill/>
        </p:spPr>
        <p:txBody>
          <a:bodyPr wrap="square" lIns="27432" rIns="27432" tIns="18288" bIns="0">
            <a:spAutoFit/>
          </a:bodyPr>
          <a:lstStyle/>
          <a:p>
            <a:pPr>
              <a:spcAft>
                <a:spcPts val="1000"/>
              </a:spcAft>
              <a:defRPr sz="3200" b="1">
                <a:solidFill>
                  <a:srgbClr val="1678D2"/>
                </a:solidFill>
                <a:latin typeface="DejaVu Sans"/>
              </a:defRPr>
            </a:pPr>
            <a:r>
              <a:t>VM yadro ajratadi; konteyner host yadrosini ulashadi.</a:t>
            </a:r>
          </a:p>
        </p:txBody>
      </p:sp>
      <p:sp>
        <p:nvSpPr>
          <p:cNvPr id="10" name="TextBox 9"/>
          <p:cNvSpPr txBox="1"/>
          <p:nvPr/>
        </p:nvSpPr>
        <p:spPr>
          <a:xfrm>
            <a:off x="960120" y="3712463"/>
            <a:ext cx="6629400" cy="164592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VM to‘liq mehmon operatsion tizimini olib yuradi, konteyner esa ko‘proq ilova jarayoniga e’tibor beradi.</a:t>
            </a:r>
          </a:p>
        </p:txBody>
      </p:sp>
      <p:sp>
        <p:nvSpPr>
          <p:cNvPr id="11" name="Rounded Rectangle 10"/>
          <p:cNvSpPr/>
          <p:nvPr/>
        </p:nvSpPr>
        <p:spPr>
          <a:xfrm>
            <a:off x="8366760" y="3822191"/>
            <a:ext cx="2971800" cy="133502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4114800"/>
            <a:ext cx="2514600" cy="8229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TA’RIF → MISOL</a:t>
            </a:r>
          </a:p>
          <a:p>
            <a:pPr>
              <a:spcAft>
                <a:spcPts val="1000"/>
              </a:spcAft>
              <a:defRPr sz="1800" b="1">
                <a:solidFill>
                  <a:srgbClr val="1678D2"/>
                </a:solidFill>
                <a:latin typeface="DejaVu Sans"/>
              </a:defRPr>
            </a:pPr>
            <a:r>
              <a:t>→ CHEGARA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M06 · ARXITEKTURA</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Texnik sxema: qismlar qanday bog‘lanadi?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09</a:t>
            </a:r>
          </a:p>
        </p:txBody>
      </p:sp>
      <p:cxnSp>
        <p:nvCxnSpPr>
          <p:cNvPr id="8" name="Connector 7"/>
          <p:cNvCxnSpPr/>
          <p:nvPr/>
        </p:nvCxnSpPr>
        <p:spPr>
          <a:xfrm>
            <a:off x="3474720" y="2761488"/>
            <a:ext cx="777240" cy="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995160" y="2761488"/>
            <a:ext cx="777240" cy="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114800" y="3246120"/>
            <a:ext cx="5029200" cy="123444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8046720" y="3246120"/>
            <a:ext cx="1097280" cy="123444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31520" y="2286000"/>
            <a:ext cx="2743200" cy="960120"/>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50592"/>
            <a:ext cx="2505456" cy="685800"/>
          </a:xfrm>
          <a:prstGeom prst="rect">
            <a:avLst/>
          </a:prstGeom>
          <a:noFill/>
        </p:spPr>
        <p:txBody>
          <a:bodyPr wrap="square" lIns="27432" rIns="27432" tIns="18288" bIns="0">
            <a:spAutoFit/>
          </a:bodyPr>
          <a:lstStyle/>
          <a:p>
            <a:pPr>
              <a:spcAft>
                <a:spcPts val="1000"/>
              </a:spcAft>
              <a:defRPr sz="1800" b="1">
                <a:solidFill>
                  <a:srgbClr val="FFFFFF"/>
                </a:solidFill>
                <a:latin typeface="DejaVu Sans"/>
              </a:defRPr>
            </a:pPr>
            <a:r>
              <a:t>Dockerfile</a:t>
            </a:r>
          </a:p>
        </p:txBody>
      </p:sp>
      <p:sp>
        <p:nvSpPr>
          <p:cNvPr id="14" name="Rounded Rectangle 13"/>
          <p:cNvSpPr/>
          <p:nvPr/>
        </p:nvSpPr>
        <p:spPr>
          <a:xfrm>
            <a:off x="4251960" y="228600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0832" y="245059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Image yaratish</a:t>
            </a:r>
          </a:p>
        </p:txBody>
      </p:sp>
      <p:sp>
        <p:nvSpPr>
          <p:cNvPr id="16" name="Rounded Rectangle 15"/>
          <p:cNvSpPr/>
          <p:nvPr/>
        </p:nvSpPr>
        <p:spPr>
          <a:xfrm>
            <a:off x="7772400" y="228600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91272" y="245059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Registry</a:t>
            </a:r>
          </a:p>
        </p:txBody>
      </p:sp>
      <p:sp>
        <p:nvSpPr>
          <p:cNvPr id="18" name="Rounded Rectangle 17"/>
          <p:cNvSpPr/>
          <p:nvPr/>
        </p:nvSpPr>
        <p:spPr>
          <a:xfrm>
            <a:off x="2743200" y="448056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62072" y="464515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Container A</a:t>
            </a:r>
          </a:p>
        </p:txBody>
      </p:sp>
      <p:sp>
        <p:nvSpPr>
          <p:cNvPr id="20" name="Rounded Rectangle 19"/>
          <p:cNvSpPr/>
          <p:nvPr/>
        </p:nvSpPr>
        <p:spPr>
          <a:xfrm>
            <a:off x="6675120" y="448056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93992" y="464515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Container B</a:t>
            </a:r>
          </a:p>
        </p:txBody>
      </p:sp>
      <p:sp>
        <p:nvSpPr>
          <p:cNvPr id="22" name="TextBox 21"/>
          <p:cNvSpPr txBox="1"/>
          <p:nvPr/>
        </p:nvSpPr>
        <p:spPr>
          <a:xfrm>
            <a:off x="777240" y="5806440"/>
            <a:ext cx="10789920" cy="347472"/>
          </a:xfrm>
          <a:prstGeom prst="rect">
            <a:avLst/>
          </a:prstGeom>
          <a:noFill/>
        </p:spPr>
        <p:txBody>
          <a:bodyPr wrap="square" lIns="27432" rIns="27432" tIns="18288" bIns="0">
            <a:spAutoFit/>
          </a:bodyPr>
          <a:lstStyle/>
          <a:p>
            <a:pPr>
              <a:spcAft>
                <a:spcPts val="1000"/>
              </a:spcAft>
              <a:defRPr sz="1300" b="0">
                <a:solidFill>
                  <a:srgbClr val="53687D"/>
                </a:solidFill>
                <a:latin typeface="DejaVu Sans"/>
              </a:defRPr>
            </a:pPr>
            <a:r>
              <a:t>O‘qlar: asosiy bog‘lanish yoki boshqaruv yo‘nalishi. Sxema soddalashtirilgan.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M06 · O‘QITUVCHI BAYONI</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Universitet portali misolida</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10</a:t>
            </a:r>
          </a:p>
        </p:txBody>
      </p:sp>
      <p:sp>
        <p:nvSpPr>
          <p:cNvPr id="8" name="TextBox 7"/>
          <p:cNvSpPr txBox="1"/>
          <p:nvPr/>
        </p:nvSpPr>
        <p:spPr>
          <a:xfrm>
            <a:off x="658368" y="1920240"/>
            <a:ext cx="7040880" cy="150876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Portal dasturchining kompyuterida ishlaydi, serverda esa kutubxona versiyasi sabab xato beradi. Konteynerlash ilova muhitini bir xil paketda yetkazish orqali bunday farqlarni kamaytiradi.</a:t>
            </a:r>
          </a:p>
        </p:txBody>
      </p:sp>
      <p:sp>
        <p:nvSpPr>
          <p:cNvPr id="9" name="Rounded Rectangle 8"/>
          <p:cNvSpPr/>
          <p:nvPr/>
        </p:nvSpPr>
        <p:spPr>
          <a:xfrm>
            <a:off x="685800"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Dockerfile</a:t>
            </a:r>
          </a:p>
        </p:txBody>
      </p:sp>
      <p:sp>
        <p:nvSpPr>
          <p:cNvPr id="11" name="Rounded Rectangle 10"/>
          <p:cNvSpPr/>
          <p:nvPr/>
        </p:nvSpPr>
        <p:spPr>
          <a:xfrm>
            <a:off x="3584448"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1608"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Image</a:t>
            </a:r>
          </a:p>
        </p:txBody>
      </p:sp>
      <p:sp>
        <p:nvSpPr>
          <p:cNvPr id="13" name="Rounded Rectangle 12"/>
          <p:cNvSpPr/>
          <p:nvPr/>
        </p:nvSpPr>
        <p:spPr>
          <a:xfrm>
            <a:off x="6483096"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0256"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Registry</a:t>
            </a:r>
          </a:p>
        </p:txBody>
      </p:sp>
      <p:sp>
        <p:nvSpPr>
          <p:cNvPr id="15" name="Rounded Rectangle 14"/>
          <p:cNvSpPr/>
          <p:nvPr/>
        </p:nvSpPr>
        <p:spPr>
          <a:xfrm>
            <a:off x="9381744"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18904"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Container</a:t>
            </a:r>
          </a:p>
        </p:txBody>
      </p:sp>
      <p:sp>
        <p:nvSpPr>
          <p:cNvPr id="17" name="TextBox 16"/>
          <p:cNvSpPr txBox="1"/>
          <p:nvPr/>
        </p:nvSpPr>
        <p:spPr>
          <a:xfrm>
            <a:off x="713232" y="5632704"/>
            <a:ext cx="10789920" cy="365760"/>
          </a:xfrm>
          <a:prstGeom prst="rect">
            <a:avLst/>
          </a:prstGeom>
          <a:noFill/>
        </p:spPr>
        <p:txBody>
          <a:bodyPr wrap="square" lIns="27432" rIns="27432" tIns="18288" bIns="0">
            <a:spAutoFit/>
          </a:bodyPr>
          <a:lstStyle/>
          <a:p>
            <a:pPr>
              <a:spcAft>
                <a:spcPts val="1000"/>
              </a:spcAft>
              <a:defRPr sz="1300" b="0">
                <a:solidFill>
                  <a:srgbClr val="53687D"/>
                </a:solidFill>
                <a:latin typeface="DejaVu Sans"/>
              </a:defRPr>
            </a:pPr>
            <a:r>
              <a:t>Yuqoridagi bloklar — misolning tayanch qismlari; ular har doim chiziqli trafik yo‘li emas.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M06 · ANIQLIK KIRITAMIZ</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Ko‘p uchraydigan noto‘g‘ri xulosalar</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11</a:t>
            </a:r>
          </a:p>
        </p:txBody>
      </p:sp>
      <p:sp>
        <p:nvSpPr>
          <p:cNvPr id="8" name="Rounded Rectangle 7"/>
          <p:cNvSpPr/>
          <p:nvPr/>
        </p:nvSpPr>
        <p:spPr>
          <a:xfrm>
            <a:off x="640080" y="1892807"/>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1929384"/>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1</a:t>
            </a:r>
          </a:p>
        </p:txBody>
      </p:sp>
      <p:sp>
        <p:nvSpPr>
          <p:cNvPr id="10" name="TextBox 9"/>
          <p:cNvSpPr txBox="1"/>
          <p:nvPr/>
        </p:nvSpPr>
        <p:spPr>
          <a:xfrm>
            <a:off x="1353312" y="1892807"/>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Konteyner to‘liq mustaqil yadroga ega virtual mashina emas.</a:t>
            </a:r>
          </a:p>
        </p:txBody>
      </p:sp>
      <p:sp>
        <p:nvSpPr>
          <p:cNvPr id="11" name="Rounded Rectangle 10"/>
          <p:cNvSpPr/>
          <p:nvPr/>
        </p:nvSpPr>
        <p:spPr>
          <a:xfrm>
            <a:off x="640080" y="3246120"/>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3282696"/>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2</a:t>
            </a:r>
          </a:p>
        </p:txBody>
      </p:sp>
      <p:sp>
        <p:nvSpPr>
          <p:cNvPr id="13" name="TextBox 12"/>
          <p:cNvSpPr txBox="1"/>
          <p:nvPr/>
        </p:nvSpPr>
        <p:spPr>
          <a:xfrm>
            <a:off x="1353312" y="3246120"/>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Versiyasiz latest tegiga tayanish takrorlanuvchanlikni pasaytiradi; muhim muhitda versiya yoki digest belgilanadi.</a:t>
            </a:r>
          </a:p>
        </p:txBody>
      </p:sp>
      <p:sp>
        <p:nvSpPr>
          <p:cNvPr id="14" name="Rounded Rectangle 13"/>
          <p:cNvSpPr/>
          <p:nvPr/>
        </p:nvSpPr>
        <p:spPr>
          <a:xfrm>
            <a:off x="640080" y="4599431"/>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 y="4636007"/>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3</a:t>
            </a:r>
          </a:p>
        </p:txBody>
      </p:sp>
      <p:sp>
        <p:nvSpPr>
          <p:cNvPr id="16" name="TextBox 15"/>
          <p:cNvSpPr txBox="1"/>
          <p:nvPr/>
        </p:nvSpPr>
        <p:spPr>
          <a:xfrm>
            <a:off x="1353312" y="4599431"/>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Konteynerlashning o‘zi ilovani avtomatik xavfsiz yoki istalgan operatsion tizimda mos qilmaydi.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M06 · YAKUN</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Mavzuning asosiy xulosalari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12</a:t>
            </a:r>
          </a:p>
        </p:txBody>
      </p:sp>
      <p:sp>
        <p:nvSpPr>
          <p:cNvPr id="8" name="Rounded Rectangle 7"/>
          <p:cNvSpPr/>
          <p:nvPr/>
        </p:nvSpPr>
        <p:spPr>
          <a:xfrm>
            <a:off x="640080"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01</a:t>
            </a:r>
          </a:p>
        </p:txBody>
      </p:sp>
      <p:sp>
        <p:nvSpPr>
          <p:cNvPr id="10" name="TextBox 9"/>
          <p:cNvSpPr txBox="1"/>
          <p:nvPr/>
        </p:nvSpPr>
        <p:spPr>
          <a:xfrm>
            <a:off x="859536"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Ilova va bog‘liqliklar ajratilgan jarayonlarda ishlaydi.</a:t>
            </a:r>
          </a:p>
        </p:txBody>
      </p:sp>
      <p:sp>
        <p:nvSpPr>
          <p:cNvPr id="11" name="Rounded Rectangle 10"/>
          <p:cNvSpPr/>
          <p:nvPr/>
        </p:nvSpPr>
        <p:spPr>
          <a:xfrm>
            <a:off x="4498848"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18304"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02</a:t>
            </a:r>
          </a:p>
        </p:txBody>
      </p:sp>
      <p:sp>
        <p:nvSpPr>
          <p:cNvPr id="13" name="TextBox 12"/>
          <p:cNvSpPr txBox="1"/>
          <p:nvPr/>
        </p:nvSpPr>
        <p:spPr>
          <a:xfrm>
            <a:off x="4718304"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Image — andoza; container — ishlayotgan nusxa.</a:t>
            </a:r>
          </a:p>
        </p:txBody>
      </p:sp>
      <p:sp>
        <p:nvSpPr>
          <p:cNvPr id="14" name="Rounded Rectangle 13"/>
          <p:cNvSpPr/>
          <p:nvPr/>
        </p:nvSpPr>
        <p:spPr>
          <a:xfrm>
            <a:off x="8357615"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77072"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03</a:t>
            </a:r>
          </a:p>
        </p:txBody>
      </p:sp>
      <p:sp>
        <p:nvSpPr>
          <p:cNvPr id="16" name="TextBox 15"/>
          <p:cNvSpPr txBox="1"/>
          <p:nvPr/>
        </p:nvSpPr>
        <p:spPr>
          <a:xfrm>
            <a:off x="8577072"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Image larni saqlash va aniq nusxani tarqatish.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M06 · QO‘SHIMCHA O‘QISH</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Manbalar va terminlar</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13</a:t>
            </a:r>
          </a:p>
        </p:txBody>
      </p:sp>
      <p:sp>
        <p:nvSpPr>
          <p:cNvPr id="8" name="TextBox 7"/>
          <p:cNvSpPr txBox="1"/>
          <p:nvPr/>
        </p:nvSpPr>
        <p:spPr>
          <a:xfrm>
            <a:off x="685800" y="1920240"/>
            <a:ext cx="10789920" cy="822960"/>
          </a:xfrm>
          <a:prstGeom prst="rect">
            <a:avLst/>
          </a:prstGeom>
          <a:noFill/>
        </p:spPr>
        <p:txBody>
          <a:bodyPr wrap="square" lIns="27432" rIns="27432" tIns="18288" bIns="0">
            <a:spAutoFit/>
          </a:bodyPr>
          <a:lstStyle/>
          <a:p>
            <a:pPr>
              <a:spcAft>
                <a:spcPts val="1000"/>
              </a:spcAft>
              <a:defRPr sz="2100" b="1">
                <a:solidFill>
                  <a:srgbClr val="15365B"/>
                </a:solidFill>
                <a:latin typeface="DejaVu Sans"/>
              </a:defRPr>
            </a:pPr>
            <a:r>
              <a:t>Asos: BTST206 sillabusi, 2027–2028. M1–M18 ma’ruza bo‘limi.</a:t>
            </a:r>
          </a:p>
        </p:txBody>
      </p:sp>
      <p:sp>
        <p:nvSpPr>
          <p:cNvPr id="9" name="TextBox 8"/>
          <p:cNvSpPr txBox="1"/>
          <p:nvPr/>
        </p:nvSpPr>
        <p:spPr>
          <a:xfrm>
            <a:off x="713232" y="2926080"/>
            <a:ext cx="10744200" cy="512064"/>
          </a:xfrm>
          <a:prstGeom prst="rect">
            <a:avLst/>
          </a:prstGeom>
          <a:noFill/>
        </p:spPr>
        <p:txBody>
          <a:bodyPr wrap="square" lIns="27432" rIns="27432" tIns="18288" bIns="0">
            <a:spAutoFit/>
          </a:bodyPr>
          <a:lstStyle/>
          <a:p>
            <a:pPr>
              <a:spcAft>
                <a:spcPts val="1000"/>
              </a:spcAft>
              <a:defRPr sz="1600" b="0">
                <a:solidFill>
                  <a:srgbClr val="1678D2"/>
                </a:solidFill>
                <a:latin typeface="DejaVu Sans"/>
              </a:defRPr>
            </a:pPr>
            <a:r>
              <a:t>https://docs.docker.com/get-started/docker-overview/</a:t>
            </a:r>
          </a:p>
        </p:txBody>
      </p:sp>
      <p:sp>
        <p:nvSpPr>
          <p:cNvPr id="10" name="TextBox 9"/>
          <p:cNvSpPr txBox="1"/>
          <p:nvPr/>
        </p:nvSpPr>
        <p:spPr>
          <a:xfrm>
            <a:off x="713232" y="3456432"/>
            <a:ext cx="10744200" cy="512064"/>
          </a:xfrm>
          <a:prstGeom prst="rect">
            <a:avLst/>
          </a:prstGeom>
          <a:noFill/>
        </p:spPr>
        <p:txBody>
          <a:bodyPr wrap="square" lIns="27432" rIns="27432" tIns="18288" bIns="0">
            <a:spAutoFit/>
          </a:bodyPr>
          <a:lstStyle/>
          <a:p>
            <a:pPr>
              <a:spcAft>
                <a:spcPts val="1000"/>
              </a:spcAft>
              <a:defRPr sz="1600" b="0">
                <a:solidFill>
                  <a:srgbClr val="1678D2"/>
                </a:solidFill>
                <a:latin typeface="DejaVu Sans"/>
              </a:defRPr>
            </a:pPr>
            <a:r>
              <a:t>https://docs.docker.com/build/concepts/dockerfile/</a:t>
            </a:r>
          </a:p>
        </p:txBody>
      </p:sp>
      <p:sp>
        <p:nvSpPr>
          <p:cNvPr id="11" name="TextBox 10"/>
          <p:cNvSpPr txBox="1"/>
          <p:nvPr/>
        </p:nvSpPr>
        <p:spPr>
          <a:xfrm>
            <a:off x="713232" y="5650992"/>
            <a:ext cx="10789920" cy="502920"/>
          </a:xfrm>
          <a:prstGeom prst="rect">
            <a:avLst/>
          </a:prstGeom>
          <a:noFill/>
        </p:spPr>
        <p:txBody>
          <a:bodyPr wrap="square" lIns="27432" rIns="27432" tIns="18288" bIns="0">
            <a:spAutoFit/>
          </a:bodyPr>
          <a:lstStyle/>
          <a:p>
            <a:pPr>
              <a:spcAft>
                <a:spcPts val="1000"/>
              </a:spcAft>
              <a:defRPr sz="1600" b="0">
                <a:solidFill>
                  <a:srgbClr val="53687D"/>
                </a:solidFill>
                <a:latin typeface="DejaVu Sans"/>
              </a:defRPr>
            </a:pPr>
            <a:r>
              <a:t>Narx, limit va xizmat nomlarining amaldagi holati rasmiy hujjatlarda tekshiriladi.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