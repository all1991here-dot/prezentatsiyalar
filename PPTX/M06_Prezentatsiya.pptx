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«Konteyner texnologiyalari» mavzusiga bag‘ishlanadi. Mavzuni murakkab atamalardan emas, kundalik ehtiyojdan boshlaymiz. Portal dasturchining kompyuterida ishlaydi, serverda esa kutubxona versiyasi sabab xato beradi. Konteynerlash ilova muhitini bir xil paketda yetkazish orqali bunday farqlarni kamaytiradi.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konteynerlash nima? tushuntiriladi. 2-bo‘limda docker arxitekturasi tushuntiriladi. 3-bo‘limda image va container farqi tushuntiriladi. 4-bo‘limda dockerfile va qatlamlar tushuntiriladi. 5-bo‘limda registry va versiyalash tushuntiriladi. 6-bo‘limda vm bilan taqqoslash va xavfsizlik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Konteyner operatsion tizim jarayonlarini ajratib ishlatish usulidir. U odatda host yadrosini ulashadi, ammo fayl tizimi, jarayonlar va resurs chegaralari bo‘yicha alohida muhit ko‘radi. Shuning uchun VM ga qaraganda yengilroq bo‘lishi mumkin.</a:t>
            </a:r>
          </a:p>
          <a:p/>
          <a:p>
            <a:r>
              <a:t>Linux da namespaces ko‘rinishlarni ajratadi, cgroups esa resurs sarfini boshqarishga yordam beradi. Konteyner bajarilish muhiti tayyor image asosida jarayonni ishga tushiradi.</a:t>
            </a:r>
          </a:p>
          <a:p/>
          <a:p>
            <a:r>
              <a:t>Universitet misolida buni quyidagicha tasavvur qilamiz. Portal kodi va uning kutubxonalari bitta image ga joylanib, test va ishlab chiqarish muhitiga bir xil yetkaziladi. Bu misolda texnik atama real vazifa bilan bog‘lanadi: resursning nomini emas, nima uchun tanlanganini tushunish muhim.</a:t>
            </a:r>
          </a:p>
          <a:p/>
          <a:p>
            <a:r>
              <a:t>E’tibor beradigan chegara ham bor. Konteyner to‘liq mustaqil yadroga ega virtual mashina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Docker buyruq satri klienti foydalanuvchi ko‘rsatmasini Docker Engine ga yuboradi. Engine image larni boshqaradi, konteynerlarni yaratadi va tarmoq hamda volume larni ulaydi. Registry image larni saqlash va tarqatish uchun xizmat qiladi.</a:t>
            </a:r>
          </a:p>
          <a:p/>
          <a:p>
            <a:r>
              <a:t>Docker build tayyorlash jarayonini bajaradi. Docker pull image ni registry dan oladi. Docker run shu image asosida yangi konteynerni ishga tushiradi.</a:t>
            </a:r>
          </a:p>
          <a:p/>
          <a:p>
            <a:r>
              <a:t>Universitet misolida buni quyidagicha tasavvur qilamiz. Dasturchi image ni yaratib registry ga jo‘natadi; server shu versiyani yuklab olib konteynerni ishga tushiradi. Bu misolda texnik atama real vazifa bilan bog‘lanadi: resursning nomini emas, nima uchun tanlanganini tushunish muhim.</a:t>
            </a:r>
          </a:p>
          <a:p/>
          <a:p>
            <a:r>
              <a:t>E’tibor beradigan chegara ham bor. Docker boshqaruv soketiga kirish katta vakolat berishi mumkin; uni himoyasiz ochib qo‘yish xavfli.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ilova fayllari va metadata qatlamlaridan tuzilgan o‘qishga mo‘ljallangan andozadir. Container shu andozadan yaratilgan bajarilish holatidir. Bir image dan ko‘p konteyner yaratish mumkin.</a:t>
            </a:r>
          </a:p>
          <a:p/>
          <a:p>
            <a:r>
              <a:t>Konteynerga yoziladigan qatlam qo‘shiladi. Konteyner o‘chirilsa, undagi vaqtinchalik yozuvlar ham yo‘qolishi mumkin. Doimiy ma’lumot volume yoki tashqi xizmatda saqlanadi.</a:t>
            </a:r>
          </a:p>
          <a:p/>
          <a:p>
            <a:r>
              <a:t>Universitet misolida buni quyidagicha tasavvur qilamiz. Bitta portal image idan uchta nusxa ishga tushadi. Ularning barchasi umumiy tashqi bazaga ulanadi. Bu misolda texnik atama real vazifa bilan bog‘lanadi: resursning nomini emas, nima uchun tanlanganini tushunish muhim.</a:t>
            </a:r>
          </a:p>
          <a:p/>
          <a:p>
            <a:r>
              <a:t>E’tibor beradigan chegara ham bor. Image ichiga maxfiy parol yoki foydalanuvchining doimiy fayllarini joylashtirish to‘g‘ri yondashuv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Dockerfile bazaviy image, ish katalogi, kerakli fayllar va boshlang‘ich buyruqni ko‘rsatadi. Har bir mos qadam image qatlamini hosil qilishi mumkin. Qurilish keshi takroriy tayyorlashni tezlashtiradi.</a:t>
            </a:r>
          </a:p>
          <a:p/>
          <a:p>
            <a:r>
              <a:t>Avval ishonchli bazaviy image tanlanadi. Bog‘liqliklar o‘rnatiladi, kod nusxalanadi va ilovani ishga tushirish buyrug‘i beriladi. Multi-stage build yakuniy hajmni kichraytirishga yordam beradi.</a:t>
            </a:r>
          </a:p>
          <a:p/>
          <a:p>
            <a:r>
              <a:t>Universitet misolida buni quyidagicha tasavvur qilamiz. Python portal uchun bazaviy muhit olinadi, requirements fayli o‘rnatiladi va dastur kodi qo‘shiladi. Bu misolda texnik atama real vazifa bilan bog‘lanadi: resursning nomini emas, nima uchun tanlanganini tushunish muhim.</a:t>
            </a:r>
          </a:p>
          <a:p/>
          <a:p>
            <a:r>
              <a:t>E’tibor beradigan chegara ham bor. Versiyasiz latest tegiga tayanish takrorlanuvchanlikni pasaytiradi; muhim muhitda versiya yoki digest belgilanadi.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Registry image larni jamoa va muhitlar orasida uzatadi. Repository bitta ilova tasvirlari to‘plamini, tag esa tushunarli nomini bildiradi. Digest esa image mazmunini aniq belgilovchi identifikatordir.</a:t>
            </a:r>
          </a:p>
          <a:p/>
          <a:p>
            <a:r>
              <a:t>CI jarayoni image yaratib, uni registry ga jo‘natadi. Joylashtirish tizimi sinovdan o‘tgan versiyani oladi. Ruxsatlar kim o‘qishi va kim yozishini belgilaydi.</a:t>
            </a:r>
          </a:p>
          <a:p/>
          <a:p>
            <a:r>
              <a:t>Universitet misolida buni quyidagicha tasavvur qilamiz. portal:1.4 tegi jamoa uchun qulay nom, digest esa aynan qaysi tasvir ishga tushganini aniqlashga yordam beradi. Bu misolda texnik atama real vazifa bilan bog‘lanadi: resursning nomini emas, nima uchun tanlanganini tushunish muhim.</a:t>
            </a:r>
          </a:p>
          <a:p/>
          <a:p>
            <a:r>
              <a:t>E’tibor beradigan chegara ham bor. Teg o‘zgarishi mumkin; muhim joylashtirishlarda o‘zgarmas identifikator afzal.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VM to‘liq mehmon operatsion tizimini olib yuradi, konteyner esa ko‘proq ilova jarayoniga e’tibor beradi. Konteyner tez ishga tushishi va kichikroq bo‘lishi mumkin. Izolyatsiya chegarasi va operatsion tizim mosligi esa alohida baholanadi.</a:t>
            </a:r>
          </a:p>
          <a:p/>
          <a:p>
            <a:r>
              <a:t>Root bo‘lmagan foydalanuvchi, minimal image, resurs limiti va zaiflik tekshiruvi xavfni kamaytiradi. Sirlar image ga qo‘shilmasdan, xavfsiz mexanizm orqali uzatiladi.</a:t>
            </a:r>
          </a:p>
          <a:p/>
          <a:p>
            <a:r>
              <a:t>Universitet misolida buni quyidagicha tasavvur qilamiz. Universitet portalining konteyneriga faqat kerakli port va katalog ochiladi; baza paroli alohida sir sifatida beriladi. Bu misolda texnik atama real vazifa bilan bog‘lanadi: resursning nomini emas, nima uchun tanlanganini tushunish muhim.</a:t>
            </a:r>
          </a:p>
          <a:p/>
          <a:p>
            <a:r>
              <a:t>E’tibor beradigan chegara ham bor. Konteynerlashning o‘zi ilovani avtomatik xavfsiz yoki istalgan operatsion tizimda mos qilmaydi.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«Dockerfile» bilan «Image yaratish» o‘rtasida sxemada bog‘lanish ko‘rsatilgan. «Image yaratish» bilan «Registry» o‘rtasida sxemada bog‘lanish ko‘rsatilgan. «Registry» bilan «Container A» o‘rtasida sxemada bog‘lanish ko‘rsatilgan. «Registry» bilan «Container B» o‘rtasida sxemada bog‘lanish ko‘rsatilgan.</a:t>
            </a:r>
          </a:p>
          <a:p/>
          <a:p>
            <a:r>
              <a:t>Bu bog‘lanishlarni barcha xizmatlarda bir xil buyruq yoki bir xil fizik kabel deb tushunmaymiz. Ayrim o‘qlar bajarilish ketma-ketligini, ayrimlari resursni boshqarish yoki unga kirish aloqasini anglatadi. Docker build tayyorlash jarayonini bajaradi. Docker pull image ni registry dan oladi. Docker run shu image asosida yangi konteynerni ishga tushiradi.</a:t>
            </a:r>
          </a:p>
          <a:p/>
          <a:p>
            <a:r>
              <a:t>Sxemaning asosiy foydasi mas’uliyatlarni ajratib ko‘rsatishdir. portal:1.4 tegi jamoa uchun qulay nom, digest esa aynan qaysi tasvir ishga tushganini aniqlashga yordam beradi.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Portal dasturchining kompyuterida ishlaydi, serverda esa kutubxona versiyasi sabab xato beradi. Konteynerlash ilova muhitini bir xil paketda yetkazish orqali bunday farqlarni kamaytiradi.</a:t>
            </a:r>
          </a:p>
          <a:p/>
          <a:p>
            <a:r>
              <a:t>Avval ehtiyoj aniqlanadi: kim tizimdan foydalanadi, qaysi ma’lumot bilan ishlanadi va qanday natija kutiladi. Portal kodi va uning kutubxonalari bitta image ga joylanib, test va ishlab chiqarish muhitiga bir xil yetkaziladi. Keyin texnik qismlar shu talabga mos tanlanadi. Bitta portal image idan uchta nusxa ishga tushadi. Ularning barchasi umumiy tashqi bazaga ulanadi.</a:t>
            </a:r>
          </a:p>
          <a:p/>
          <a:p>
            <a:r>
              <a:t>Ishlash jarayonida faqat muvaffaqiyatli holat emas, xato va cheklovlar ham hisobga olinadi. Versiyasiz latest tegiga tayanish takrorlanuvchanlikni pasaytiradi; muhim muhitda versiya yoki digest belgilanadi. Shu sababli jamoa talabni, ruxsatni va nosozlikdagi xatti-harakatni oldindan belgilaydi. Universitet portalining konteyneriga faqat kerakli port va katalog ochiladi; baza paroli alohida sir sifatida beriladi.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Konteyner to‘liq mustaqil yadroga ega virtual mashina emas. To‘g‘ri talqin quyidagicha: Konteyner operatsion tizim jarayonlarini ajratib ishlatish usulidir. U odatda host yadrosini ulashadi, ammo fayl tizimi, jarayonlar va resurs chegaralari bo‘yicha alohida muhit ko‘radi. Shuning uchun VM ga qaraganda yengilroq bo‘lishi mumkin.</a:t>
            </a:r>
          </a:p>
          <a:p/>
          <a:p>
            <a:r>
              <a:t>2. Versiyasiz latest tegiga tayanish takrorlanuvchanlikni pasaytiradi; muhim muhitda versiya yoki digest belgilanadi. To‘g‘ri talqin quyidagicha: Dockerfile bazaviy image, ish katalogi, kerakli fayllar va boshlang‘ich buyruqni ko‘rsatadi. Har bir mos qadam image qatlamini hosil qilishi mumkin. Qurilish keshi takroriy tayyorlashni tezlashtiradi.</a:t>
            </a:r>
          </a:p>
          <a:p/>
          <a:p>
            <a:r>
              <a:t>3. Konteynerlashning o‘zi ilovani avtomatik xavfsiz yoki istalgan operatsion tizimda mos qilmaydi. To‘g‘ri talqin quyidagicha: VM to‘liq mehmon operatsion tizimini olib yuradi, konteyner esa ko‘proq ilova jarayoniga e’tibor beradi. Konteyner tez ishga tushishi va kichikroq bo‘lishi mumkin. Izolyatsiya chegarasi va operatsion tizim mosligi esa alohida baholanadi.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Ilovani bog‘liqliklari bilan ixcham paketlash — mavzuning umumiy mazmunini ifodalaydi.</a:t>
            </a:r>
          </a:p>
          <a:p/>
          <a:p>
            <a:r>
              <a:t>Asosiy tayanch fikr: Ilova va bog‘liqliklar ajratilgan jarayonlarda ishlaydi. Linux da namespaces ko‘rinishlarni ajratadi, cgroups esa resurs sarfini boshqarishga yordam beradi. Konteyner bajarilish muhiti tayyor image asosida jarayonni ishga tushiradi.</a:t>
            </a:r>
          </a:p>
          <a:p/>
          <a:p>
            <a:r>
              <a:t>Asosiy tayanch fikr: Image — andoza; container — ishlayotgan nusxa. Konteynerga yoziladigan qatlam qo‘shiladi. Konteyner o‘chirilsa, undagi vaqtinchalik yozuvlar ham yo‘qolishi mumkin. Doimiy ma’lumot volume yoki tashqi xizmatda saqlanadi.</a:t>
            </a:r>
          </a:p>
          <a:p/>
          <a:p>
            <a:r>
              <a:t>Asosiy tayanch fikr: Image larni saqlash va aniq nusxani tarqatish. CI jarayoni image yaratib, uni registry ga jo‘natadi. Joylashtirish tizimi sinovdan o‘tgan versiyani oladi. Ruxsatlar kim o‘qishi va kim yozishini belgilaydi.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6199632"/>
            <a:ext cx="12191695" cy="658368"/>
          </a:xfrm>
          <a:prstGeom prst="rect">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 y="603504"/>
            <a:ext cx="9966960" cy="320040"/>
          </a:xfrm>
          <a:prstGeom prst="rect">
            <a:avLst/>
          </a:prstGeom>
          <a:noFill/>
        </p:spPr>
        <p:txBody>
          <a:bodyPr wrap="square" lIns="27432" rIns="27432" tIns="18288" bIns="0">
            <a:spAutoFit/>
          </a:bodyPr>
          <a:lstStyle/>
          <a:p>
            <a:pPr>
              <a:spcAft>
                <a:spcPts val="800"/>
              </a:spcAft>
              <a:defRPr sz="1200" b="1">
                <a:solidFill>
                  <a:srgbClr val="13A6B4"/>
                </a:solidFill>
                <a:latin typeface="DejaVu Sans"/>
              </a:defRPr>
            </a:pPr>
            <a:r>
              <a:t>06  /  ILOVANI BIR XIL MUHITDA YETKAZISH</a:t>
            </a:r>
          </a:p>
        </p:txBody>
      </p:sp>
      <p:sp>
        <p:nvSpPr>
          <p:cNvPr id="4" name="TextBox 3"/>
          <p:cNvSpPr txBox="1"/>
          <p:nvPr/>
        </p:nvSpPr>
        <p:spPr>
          <a:xfrm>
            <a:off x="658368" y="1508760"/>
            <a:ext cx="6858000" cy="2194560"/>
          </a:xfrm>
          <a:prstGeom prst="rect">
            <a:avLst/>
          </a:prstGeom>
          <a:noFill/>
        </p:spPr>
        <p:txBody>
          <a:bodyPr wrap="square" lIns="27432" rIns="27432" tIns="18288" bIns="0">
            <a:spAutoFit/>
          </a:bodyPr>
          <a:lstStyle/>
          <a:p>
            <a:pPr>
              <a:spcAft>
                <a:spcPts val="800"/>
              </a:spcAft>
              <a:defRPr sz="4100" b="1">
                <a:solidFill>
                  <a:srgbClr val="203A58"/>
                </a:solidFill>
                <a:latin typeface="DejaVu Sans"/>
              </a:defRPr>
            </a:pPr>
            <a:r>
              <a:t>Konteyner</a:t>
            </a:r>
          </a:p>
          <a:p>
            <a:pPr>
              <a:spcAft>
                <a:spcPts val="800"/>
              </a:spcAft>
              <a:defRPr sz="4100" b="1">
                <a:solidFill>
                  <a:srgbClr val="203A58"/>
                </a:solidFill>
                <a:latin typeface="DejaVu Sans"/>
              </a:defRPr>
            </a:pPr>
            <a:r>
              <a:t>texnologiyalari</a:t>
            </a:r>
          </a:p>
        </p:txBody>
      </p:sp>
      <p:sp>
        <p:nvSpPr>
          <p:cNvPr id="5" name="TextBox 4"/>
          <p:cNvSpPr txBox="1"/>
          <p:nvPr/>
        </p:nvSpPr>
        <p:spPr>
          <a:xfrm>
            <a:off x="713232" y="3950208"/>
            <a:ext cx="6126480" cy="914400"/>
          </a:xfrm>
          <a:prstGeom prst="rect">
            <a:avLst/>
          </a:prstGeom>
          <a:noFill/>
        </p:spPr>
        <p:txBody>
          <a:bodyPr wrap="square" lIns="27432" rIns="27432" tIns="18288" bIns="0">
            <a:spAutoFit/>
          </a:bodyPr>
          <a:lstStyle/>
          <a:p>
            <a:pPr>
              <a:spcAft>
                <a:spcPts val="800"/>
              </a:spcAft>
              <a:defRPr sz="2500" b="0">
                <a:solidFill>
                  <a:srgbClr val="42647D"/>
                </a:solidFill>
                <a:latin typeface="DejaVu Sans"/>
              </a:defRPr>
            </a:pPr>
            <a:r>
              <a:t>Ilovani bog‘liqliklari bilan ixcham paketlash</a:t>
            </a:r>
          </a:p>
        </p:txBody>
      </p:sp>
      <p:pic>
        <p:nvPicPr>
          <p:cNvPr id="6" name="Picture 5" descr="docker_architecture.png"/>
          <p:cNvPicPr>
            <a:picLocks noChangeAspect="1"/>
          </p:cNvPicPr>
          <p:nvPr/>
        </p:nvPicPr>
        <p:blipFill>
          <a:blip r:embed="rId2"/>
          <a:stretch>
            <a:fillRect/>
          </a:stretch>
        </p:blipFill>
        <p:spPr>
          <a:xfrm>
            <a:off x="7863840" y="1091829"/>
            <a:ext cx="3657600" cy="1931141"/>
          </a:xfrm>
          <a:prstGeom prst="rect">
            <a:avLst/>
          </a:prstGeom>
        </p:spPr>
      </p:pic>
      <p:sp>
        <p:nvSpPr>
          <p:cNvPr id="7" name="Cube 6"/>
          <p:cNvSpPr/>
          <p:nvPr/>
        </p:nvSpPr>
        <p:spPr>
          <a:xfrm>
            <a:off x="7818120" y="3703320"/>
            <a:ext cx="1417320" cy="1097280"/>
          </a:xfrm>
          <a:prstGeom prst="cube">
            <a:avLst/>
          </a:prstGeom>
          <a:solidFill>
            <a:srgbClr val="6FA9E4"/>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ube 7"/>
          <p:cNvSpPr/>
          <p:nvPr/>
        </p:nvSpPr>
        <p:spPr>
          <a:xfrm>
            <a:off x="9372600" y="3703320"/>
            <a:ext cx="1417320" cy="1097280"/>
          </a:xfrm>
          <a:prstGeom prst="cube">
            <a:avLst/>
          </a:prstGeom>
          <a:solidFill>
            <a:srgbClr val="60C6C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ube 8"/>
          <p:cNvSpPr/>
          <p:nvPr/>
        </p:nvSpPr>
        <p:spPr>
          <a:xfrm>
            <a:off x="8595360" y="4892040"/>
            <a:ext cx="1417320" cy="1097280"/>
          </a:xfrm>
          <a:prstGeom prst="cube">
            <a:avLst/>
          </a:prstGeom>
          <a:solidFill>
            <a:srgbClr val="A6C5F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532120"/>
            <a:ext cx="6080760" cy="365760"/>
          </a:xfrm>
          <a:prstGeom prst="rect">
            <a:avLst/>
          </a:prstGeom>
          <a:noFill/>
        </p:spPr>
        <p:txBody>
          <a:bodyPr wrap="square" lIns="27432" rIns="27432" tIns="18288" bIns="0">
            <a:spAutoFit/>
          </a:bodyPr>
          <a:lstStyle/>
          <a:p>
            <a:pPr>
              <a:spcAft>
                <a:spcPts val="800"/>
              </a:spcAft>
              <a:defRPr sz="1200" b="1">
                <a:solidFill>
                  <a:srgbClr val="2566C9"/>
                </a:solidFill>
                <a:latin typeface="DejaVu Sans"/>
              </a:defRPr>
            </a:pPr>
            <a:r>
              <a:t>KOD  +  BOG‘LIQLIK  +  TAKRORLANUVCHAN MUHIT</a:t>
            </a:r>
          </a:p>
        </p:txBody>
      </p:sp>
      <p:sp>
        <p:nvSpPr>
          <p:cNvPr id="11" name="TextBox 10"/>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567083"/>
                </a:solidFill>
                <a:latin typeface="DejaVu Sans"/>
              </a:defRPr>
            </a:pPr>
            <a:r>
              <a:t>BTST206   /   M06   /   2027–2028</a:t>
            </a:r>
          </a:p>
        </p:txBody>
      </p:sp>
      <p:sp>
        <p:nvSpPr>
          <p:cNvPr id="12" name="TextBox 11"/>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567083"/>
                </a:solidFill>
                <a:latin typeface="DejaVu Sans"/>
              </a:defRPr>
            </a:pPr>
            <a:r>
              <a:t>01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365760"/>
            <a:ext cx="393192" cy="393192"/>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7552" y="758952"/>
            <a:ext cx="210312" cy="210312"/>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44752" y="374904"/>
            <a:ext cx="10030968" cy="987552"/>
          </a:xfrm>
          <a:prstGeom prst="rect">
            <a:avLst/>
          </a:prstGeom>
          <a:noFill/>
        </p:spPr>
        <p:txBody>
          <a:bodyPr wrap="square" lIns="27432" rIns="27432" tIns="18288" bIns="0">
            <a:spAutoFit/>
          </a:bodyPr>
          <a:lstStyle/>
          <a:p>
            <a:pPr>
              <a:spcAft>
                <a:spcPts val="800"/>
              </a:spcAft>
              <a:defRPr sz="3000" b="1">
                <a:solidFill>
                  <a:srgbClr val="203A58"/>
                </a:solidFill>
                <a:latin typeface="DejaVu Sans"/>
              </a:defRPr>
            </a:pPr>
            <a:r>
              <a:t>Ma’ruza yo‘nalishi</a:t>
            </a:r>
          </a:p>
        </p:txBody>
      </p:sp>
      <p:cxnSp>
        <p:nvCxnSpPr>
          <p:cNvPr id="5" name="Connector 4"/>
          <p:cNvCxnSpPr/>
          <p:nvPr/>
        </p:nvCxnSpPr>
        <p:spPr>
          <a:xfrm>
            <a:off x="1463040" y="1536192"/>
            <a:ext cx="10058400" cy="0"/>
          </a:xfrm>
          <a:prstGeom prst="line">
            <a:avLst/>
          </a:prstGeom>
          <a:ln w="12700">
            <a:solidFill>
              <a:srgbClr val="A4DCE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02 / 13</a:t>
            </a:r>
          </a:p>
        </p:txBody>
      </p:sp>
      <p:sp>
        <p:nvSpPr>
          <p:cNvPr id="8" name="Cube 7"/>
          <p:cNvSpPr/>
          <p:nvPr/>
        </p:nvSpPr>
        <p:spPr>
          <a:xfrm>
            <a:off x="640080" y="2048256"/>
            <a:ext cx="658368" cy="658368"/>
          </a:xfrm>
          <a:prstGeom prst="cube">
            <a:avLst/>
          </a:prstGeom>
          <a:solidFill>
            <a:srgbClr val="2566C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435607" y="2066544"/>
            <a:ext cx="2743200" cy="1517904"/>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91056" y="2231136"/>
            <a:ext cx="2377440" cy="1097280"/>
          </a:xfrm>
          <a:prstGeom prst="rect">
            <a:avLst/>
          </a:prstGeom>
          <a:noFill/>
        </p:spPr>
        <p:txBody>
          <a:bodyPr wrap="square" lIns="27432" rIns="27432" tIns="18288" bIns="0">
            <a:spAutoFit/>
          </a:bodyPr>
          <a:lstStyle/>
          <a:p>
            <a:pPr>
              <a:spcAft>
                <a:spcPts val="800"/>
              </a:spcAft>
              <a:defRPr sz="2000" b="1">
                <a:solidFill>
                  <a:srgbClr val="203A58"/>
                </a:solidFill>
                <a:latin typeface="DejaVu Sans"/>
              </a:defRPr>
            </a:pPr>
            <a:r>
              <a:t>Konteynerlash nima?</a:t>
            </a:r>
          </a:p>
        </p:txBody>
      </p:sp>
      <p:sp>
        <p:nvSpPr>
          <p:cNvPr id="11" name="Cube 10"/>
          <p:cNvSpPr/>
          <p:nvPr/>
        </p:nvSpPr>
        <p:spPr>
          <a:xfrm>
            <a:off x="4389120" y="2048256"/>
            <a:ext cx="658368" cy="658368"/>
          </a:xfrm>
          <a:prstGeom prst="cube">
            <a:avLst/>
          </a:prstGeom>
          <a:solidFill>
            <a:srgbClr val="13A6B4"/>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84648" y="2066544"/>
            <a:ext cx="2743200" cy="1517904"/>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40096" y="2231136"/>
            <a:ext cx="2377440" cy="1097280"/>
          </a:xfrm>
          <a:prstGeom prst="rect">
            <a:avLst/>
          </a:prstGeom>
          <a:noFill/>
        </p:spPr>
        <p:txBody>
          <a:bodyPr wrap="square" lIns="27432" rIns="27432" tIns="18288" bIns="0">
            <a:spAutoFit/>
          </a:bodyPr>
          <a:lstStyle/>
          <a:p>
            <a:pPr>
              <a:spcAft>
                <a:spcPts val="800"/>
              </a:spcAft>
              <a:defRPr sz="2000" b="1">
                <a:solidFill>
                  <a:srgbClr val="203A58"/>
                </a:solidFill>
                <a:latin typeface="DejaVu Sans"/>
              </a:defRPr>
            </a:pPr>
            <a:r>
              <a:t>Docker arxitekturasi</a:t>
            </a:r>
          </a:p>
        </p:txBody>
      </p:sp>
      <p:sp>
        <p:nvSpPr>
          <p:cNvPr id="14" name="Cube 13"/>
          <p:cNvSpPr/>
          <p:nvPr/>
        </p:nvSpPr>
        <p:spPr>
          <a:xfrm>
            <a:off x="8138159" y="2048256"/>
            <a:ext cx="658368" cy="658368"/>
          </a:xfrm>
          <a:prstGeom prst="cube">
            <a:avLst/>
          </a:prstGeom>
          <a:solidFill>
            <a:srgbClr val="2566C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933687" y="2066544"/>
            <a:ext cx="2743200" cy="1517904"/>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89135" y="2231136"/>
            <a:ext cx="2377440" cy="1097280"/>
          </a:xfrm>
          <a:prstGeom prst="rect">
            <a:avLst/>
          </a:prstGeom>
          <a:noFill/>
        </p:spPr>
        <p:txBody>
          <a:bodyPr wrap="square" lIns="27432" rIns="27432" tIns="18288" bIns="0">
            <a:spAutoFit/>
          </a:bodyPr>
          <a:lstStyle/>
          <a:p>
            <a:pPr>
              <a:spcAft>
                <a:spcPts val="800"/>
              </a:spcAft>
              <a:defRPr sz="2000" b="1">
                <a:solidFill>
                  <a:srgbClr val="203A58"/>
                </a:solidFill>
                <a:latin typeface="DejaVu Sans"/>
              </a:defRPr>
            </a:pPr>
            <a:r>
              <a:t>Image va Container farqi</a:t>
            </a:r>
          </a:p>
        </p:txBody>
      </p:sp>
      <p:sp>
        <p:nvSpPr>
          <p:cNvPr id="17" name="Cube 16"/>
          <p:cNvSpPr/>
          <p:nvPr/>
        </p:nvSpPr>
        <p:spPr>
          <a:xfrm>
            <a:off x="640080" y="3968496"/>
            <a:ext cx="658368" cy="658368"/>
          </a:xfrm>
          <a:prstGeom prst="cube">
            <a:avLst/>
          </a:prstGeom>
          <a:solidFill>
            <a:srgbClr val="13A6B4"/>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35607" y="3986783"/>
            <a:ext cx="2743200" cy="1517904"/>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91056" y="4151376"/>
            <a:ext cx="2377440" cy="1097280"/>
          </a:xfrm>
          <a:prstGeom prst="rect">
            <a:avLst/>
          </a:prstGeom>
          <a:noFill/>
        </p:spPr>
        <p:txBody>
          <a:bodyPr wrap="square" lIns="27432" rIns="27432" tIns="18288" bIns="0">
            <a:spAutoFit/>
          </a:bodyPr>
          <a:lstStyle/>
          <a:p>
            <a:pPr>
              <a:spcAft>
                <a:spcPts val="800"/>
              </a:spcAft>
              <a:defRPr sz="2000" b="1">
                <a:solidFill>
                  <a:srgbClr val="203A58"/>
                </a:solidFill>
                <a:latin typeface="DejaVu Sans"/>
              </a:defRPr>
            </a:pPr>
            <a:r>
              <a:t>Dockerfile va qatlamlar</a:t>
            </a:r>
          </a:p>
        </p:txBody>
      </p:sp>
      <p:sp>
        <p:nvSpPr>
          <p:cNvPr id="20" name="Cube 19"/>
          <p:cNvSpPr/>
          <p:nvPr/>
        </p:nvSpPr>
        <p:spPr>
          <a:xfrm>
            <a:off x="4389120" y="3968496"/>
            <a:ext cx="658368" cy="658368"/>
          </a:xfrm>
          <a:prstGeom prst="cube">
            <a:avLst/>
          </a:prstGeom>
          <a:solidFill>
            <a:srgbClr val="2566C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84648" y="3986783"/>
            <a:ext cx="2743200" cy="1517904"/>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40096" y="4151376"/>
            <a:ext cx="2377440" cy="1097280"/>
          </a:xfrm>
          <a:prstGeom prst="rect">
            <a:avLst/>
          </a:prstGeom>
          <a:noFill/>
        </p:spPr>
        <p:txBody>
          <a:bodyPr wrap="square" lIns="27432" rIns="27432" tIns="18288" bIns="0">
            <a:spAutoFit/>
          </a:bodyPr>
          <a:lstStyle/>
          <a:p>
            <a:pPr>
              <a:spcAft>
                <a:spcPts val="800"/>
              </a:spcAft>
              <a:defRPr sz="2000" b="1">
                <a:solidFill>
                  <a:srgbClr val="203A58"/>
                </a:solidFill>
                <a:latin typeface="DejaVu Sans"/>
              </a:defRPr>
            </a:pPr>
            <a:r>
              <a:t>Registry va versiyalash</a:t>
            </a:r>
          </a:p>
        </p:txBody>
      </p:sp>
      <p:sp>
        <p:nvSpPr>
          <p:cNvPr id="23" name="Cube 22"/>
          <p:cNvSpPr/>
          <p:nvPr/>
        </p:nvSpPr>
        <p:spPr>
          <a:xfrm>
            <a:off x="8138159" y="3968496"/>
            <a:ext cx="658368" cy="658368"/>
          </a:xfrm>
          <a:prstGeom prst="cube">
            <a:avLst/>
          </a:prstGeom>
          <a:solidFill>
            <a:srgbClr val="13A6B4"/>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933687" y="3986783"/>
            <a:ext cx="2743200" cy="1517904"/>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5" y="4151376"/>
            <a:ext cx="2377440" cy="1097280"/>
          </a:xfrm>
          <a:prstGeom prst="rect">
            <a:avLst/>
          </a:prstGeom>
          <a:noFill/>
        </p:spPr>
        <p:txBody>
          <a:bodyPr wrap="square" lIns="27432" rIns="27432" tIns="18288" bIns="0">
            <a:spAutoFit/>
          </a:bodyPr>
          <a:lstStyle/>
          <a:p>
            <a:pPr>
              <a:spcAft>
                <a:spcPts val="800"/>
              </a:spcAft>
              <a:defRPr sz="2000" b="1">
                <a:solidFill>
                  <a:srgbClr val="203A58"/>
                </a:solidFill>
                <a:latin typeface="DejaVu Sans"/>
              </a:defRPr>
            </a:pPr>
            <a:r>
              <a:t>VM bilan taqqoslash va xavfsizlik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365760"/>
            <a:ext cx="393192" cy="393192"/>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7552" y="758952"/>
            <a:ext cx="210312" cy="210312"/>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44752" y="374904"/>
            <a:ext cx="10030968" cy="987552"/>
          </a:xfrm>
          <a:prstGeom prst="rect">
            <a:avLst/>
          </a:prstGeom>
          <a:noFill/>
        </p:spPr>
        <p:txBody>
          <a:bodyPr wrap="square" lIns="27432" rIns="27432" tIns="18288" bIns="0">
            <a:spAutoFit/>
          </a:bodyPr>
          <a:lstStyle/>
          <a:p>
            <a:pPr>
              <a:spcAft>
                <a:spcPts val="800"/>
              </a:spcAft>
              <a:defRPr sz="3000" b="1">
                <a:solidFill>
                  <a:srgbClr val="203A58"/>
                </a:solidFill>
                <a:latin typeface="DejaVu Sans"/>
              </a:defRPr>
            </a:pPr>
            <a:r>
              <a:t>Konteynerlash nima?</a:t>
            </a:r>
          </a:p>
        </p:txBody>
      </p:sp>
      <p:cxnSp>
        <p:nvCxnSpPr>
          <p:cNvPr id="5" name="Connector 4"/>
          <p:cNvCxnSpPr/>
          <p:nvPr/>
        </p:nvCxnSpPr>
        <p:spPr>
          <a:xfrm>
            <a:off x="1463040" y="1536192"/>
            <a:ext cx="10058400" cy="0"/>
          </a:xfrm>
          <a:prstGeom prst="line">
            <a:avLst/>
          </a:prstGeom>
          <a:ln w="12700">
            <a:solidFill>
              <a:srgbClr val="A4DCE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03 / 13</a:t>
            </a:r>
          </a:p>
        </p:txBody>
      </p:sp>
      <p:sp>
        <p:nvSpPr>
          <p:cNvPr id="8" name="TextBox 7"/>
          <p:cNvSpPr txBox="1"/>
          <p:nvPr/>
        </p:nvSpPr>
        <p:spPr>
          <a:xfrm>
            <a:off x="731520" y="1965960"/>
            <a:ext cx="5577840" cy="1051560"/>
          </a:xfrm>
          <a:prstGeom prst="rect">
            <a:avLst/>
          </a:prstGeom>
          <a:noFill/>
        </p:spPr>
        <p:txBody>
          <a:bodyPr wrap="square" lIns="27432" rIns="27432" tIns="18288" bIns="0">
            <a:spAutoFit/>
          </a:bodyPr>
          <a:lstStyle/>
          <a:p>
            <a:pPr>
              <a:spcAft>
                <a:spcPts val="800"/>
              </a:spcAft>
              <a:defRPr sz="2700" b="1">
                <a:solidFill>
                  <a:srgbClr val="2566C9"/>
                </a:solidFill>
                <a:latin typeface="DejaVu Sans"/>
              </a:defRPr>
            </a:pPr>
            <a:r>
              <a:t>Ilova va bog‘liqliklar ajratilgan jarayonlarda ishlaydi.</a:t>
            </a:r>
          </a:p>
        </p:txBody>
      </p:sp>
      <p:sp>
        <p:nvSpPr>
          <p:cNvPr id="9" name="TextBox 8"/>
          <p:cNvSpPr txBox="1"/>
          <p:nvPr/>
        </p:nvSpPr>
        <p:spPr>
          <a:xfrm>
            <a:off x="731520" y="3337560"/>
            <a:ext cx="5440680" cy="1316736"/>
          </a:xfrm>
          <a:prstGeom prst="rect">
            <a:avLst/>
          </a:prstGeom>
          <a:noFill/>
        </p:spPr>
        <p:txBody>
          <a:bodyPr wrap="square" lIns="27432" rIns="27432" tIns="18288" bIns="0">
            <a:spAutoFit/>
          </a:bodyPr>
          <a:lstStyle/>
          <a:p>
            <a:pPr>
              <a:spcAft>
                <a:spcPts val="800"/>
              </a:spcAft>
              <a:defRPr sz="2300" b="0">
                <a:solidFill>
                  <a:srgbClr val="203A58"/>
                </a:solidFill>
                <a:latin typeface="DejaVu Sans"/>
              </a:defRPr>
            </a:pPr>
            <a:r>
              <a:t>Konteyner odatda host yadrosini ulashadi. Jarayonlar va fayl tizimi esa ajratiladi.</a:t>
            </a:r>
          </a:p>
        </p:txBody>
      </p:sp>
      <p:pic>
        <p:nvPicPr>
          <p:cNvPr id="10" name="Picture 9" descr="docker_architecture.png"/>
          <p:cNvPicPr>
            <a:picLocks noChangeAspect="1"/>
          </p:cNvPicPr>
          <p:nvPr/>
        </p:nvPicPr>
        <p:blipFill>
          <a:blip r:embed="rId2"/>
          <a:stretch>
            <a:fillRect/>
          </a:stretch>
        </p:blipFill>
        <p:spPr>
          <a:xfrm>
            <a:off x="6720840" y="2156749"/>
            <a:ext cx="4663440" cy="2462205"/>
          </a:xfrm>
          <a:prstGeom prst="rect">
            <a:avLst/>
          </a:prstGeom>
        </p:spPr>
      </p:pic>
      <p:sp>
        <p:nvSpPr>
          <p:cNvPr id="11" name="TextBox 10"/>
          <p:cNvSpPr txBox="1"/>
          <p:nvPr/>
        </p:nvSpPr>
        <p:spPr>
          <a:xfrm>
            <a:off x="6720840" y="4837176"/>
            <a:ext cx="4663440" cy="292608"/>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Internet manbasi: 13-slaydda</a:t>
            </a:r>
          </a:p>
        </p:txBody>
      </p:sp>
      <p:sp>
        <p:nvSpPr>
          <p:cNvPr id="12" name="Rounded Rectangle 11"/>
          <p:cNvSpPr/>
          <p:nvPr/>
        </p:nvSpPr>
        <p:spPr>
          <a:xfrm>
            <a:off x="731520" y="5184648"/>
            <a:ext cx="10607040" cy="978408"/>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5349240"/>
            <a:ext cx="1463040" cy="768096"/>
          </a:xfrm>
          <a:prstGeom prst="rect">
            <a:avLst/>
          </a:prstGeom>
          <a:noFill/>
        </p:spPr>
        <p:txBody>
          <a:bodyPr wrap="square" lIns="27432" rIns="27432" tIns="18288" bIns="0">
            <a:spAutoFit/>
          </a:bodyPr>
          <a:lstStyle/>
          <a:p>
            <a:pPr>
              <a:spcAft>
                <a:spcPts val="800"/>
              </a:spcAft>
              <a:defRPr sz="1000" b="1">
                <a:solidFill>
                  <a:srgbClr val="2566C9"/>
                </a:solidFill>
                <a:latin typeface="DejaVu Sans"/>
              </a:defRPr>
            </a:pPr>
            <a:r>
              <a:t>MISOL</a:t>
            </a:r>
          </a:p>
        </p:txBody>
      </p:sp>
      <p:sp>
        <p:nvSpPr>
          <p:cNvPr id="14" name="TextBox 13"/>
          <p:cNvSpPr txBox="1"/>
          <p:nvPr/>
        </p:nvSpPr>
        <p:spPr>
          <a:xfrm>
            <a:off x="2523744" y="5303520"/>
            <a:ext cx="8650224" cy="822960"/>
          </a:xfrm>
          <a:prstGeom prst="rect">
            <a:avLst/>
          </a:prstGeom>
          <a:noFill/>
        </p:spPr>
        <p:txBody>
          <a:bodyPr wrap="square" lIns="27432" rIns="27432" tIns="18288" bIns="0">
            <a:spAutoFit/>
          </a:bodyPr>
          <a:lstStyle/>
          <a:p>
            <a:pPr>
              <a:spcAft>
                <a:spcPts val="800"/>
              </a:spcAft>
              <a:defRPr sz="2000" b="0">
                <a:solidFill>
                  <a:srgbClr val="203A58"/>
                </a:solidFill>
                <a:latin typeface="DejaVu Sans"/>
              </a:defRPr>
            </a:pPr>
            <a:r>
              <a:t>Image — kod va bog‘liqliklarni test hamda serverga bir xil yetkazish usuli.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365760"/>
            <a:ext cx="393192" cy="393192"/>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7552" y="758952"/>
            <a:ext cx="210312" cy="210312"/>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44752" y="374904"/>
            <a:ext cx="10030968" cy="987552"/>
          </a:xfrm>
          <a:prstGeom prst="rect">
            <a:avLst/>
          </a:prstGeom>
          <a:noFill/>
        </p:spPr>
        <p:txBody>
          <a:bodyPr wrap="square" lIns="27432" rIns="27432" tIns="18288" bIns="0">
            <a:spAutoFit/>
          </a:bodyPr>
          <a:lstStyle/>
          <a:p>
            <a:pPr>
              <a:spcAft>
                <a:spcPts val="800"/>
              </a:spcAft>
              <a:defRPr sz="3000" b="1">
                <a:solidFill>
                  <a:srgbClr val="203A58"/>
                </a:solidFill>
                <a:latin typeface="DejaVu Sans"/>
              </a:defRPr>
            </a:pPr>
            <a:r>
              <a:t>Docker arxitekturasi</a:t>
            </a:r>
          </a:p>
        </p:txBody>
      </p:sp>
      <p:cxnSp>
        <p:nvCxnSpPr>
          <p:cNvPr id="5" name="Connector 4"/>
          <p:cNvCxnSpPr/>
          <p:nvPr/>
        </p:nvCxnSpPr>
        <p:spPr>
          <a:xfrm>
            <a:off x="1463040" y="1536192"/>
            <a:ext cx="10058400" cy="0"/>
          </a:xfrm>
          <a:prstGeom prst="line">
            <a:avLst/>
          </a:prstGeom>
          <a:ln w="12700">
            <a:solidFill>
              <a:srgbClr val="A4DCE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04 / 13</a:t>
            </a:r>
          </a:p>
        </p:txBody>
      </p:sp>
      <p:sp>
        <p:nvSpPr>
          <p:cNvPr id="8" name="Rounded Rectangle 7"/>
          <p:cNvSpPr/>
          <p:nvPr/>
        </p:nvSpPr>
        <p:spPr>
          <a:xfrm>
            <a:off x="731520" y="2331720"/>
            <a:ext cx="3395471" cy="1280160"/>
          </a:xfrm>
          <a:prstGeom prst="roundRect">
            <a:avLst>
              <a:gd name="adj" fmla="val 8000"/>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560320"/>
            <a:ext cx="3157728" cy="960119"/>
          </a:xfrm>
          <a:prstGeom prst="rect">
            <a:avLst/>
          </a:prstGeom>
          <a:noFill/>
        </p:spPr>
        <p:txBody>
          <a:bodyPr wrap="square" lIns="27432" rIns="27432" tIns="18288" bIns="0">
            <a:spAutoFit/>
          </a:bodyPr>
          <a:lstStyle/>
          <a:p>
            <a:pPr algn="ctr">
              <a:spcAft>
                <a:spcPts val="800"/>
              </a:spcAft>
              <a:defRPr sz="2000" b="1">
                <a:solidFill>
                  <a:srgbClr val="FFFFFF"/>
                </a:solidFill>
                <a:latin typeface="DejaVu Sans"/>
              </a:defRPr>
            </a:pPr>
            <a:r>
              <a:t>Docker Client</a:t>
            </a:r>
          </a:p>
        </p:txBody>
      </p:sp>
      <p:cxnSp>
        <p:nvCxnSpPr>
          <p:cNvPr id="10" name="Connector 9"/>
          <p:cNvCxnSpPr/>
          <p:nvPr/>
        </p:nvCxnSpPr>
        <p:spPr>
          <a:xfrm>
            <a:off x="4145279" y="2971800"/>
            <a:ext cx="210312" cy="0"/>
          </a:xfrm>
          <a:prstGeom prst="line">
            <a:avLst/>
          </a:prstGeom>
          <a:ln w="25400">
            <a:solidFill>
              <a:srgbClr val="2566C9"/>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83024" y="2331720"/>
            <a:ext cx="3395471" cy="1280160"/>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1896" y="2560320"/>
            <a:ext cx="3157728" cy="960119"/>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Docker Engine</a:t>
            </a:r>
          </a:p>
        </p:txBody>
      </p:sp>
      <p:cxnSp>
        <p:nvCxnSpPr>
          <p:cNvPr id="13" name="Connector 12"/>
          <p:cNvCxnSpPr/>
          <p:nvPr/>
        </p:nvCxnSpPr>
        <p:spPr>
          <a:xfrm>
            <a:off x="7796783" y="2971800"/>
            <a:ext cx="210312" cy="0"/>
          </a:xfrm>
          <a:prstGeom prst="line">
            <a:avLst/>
          </a:prstGeom>
          <a:ln w="25400">
            <a:solidFill>
              <a:srgbClr val="2566C9"/>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034528" y="2331720"/>
            <a:ext cx="3395471" cy="1280160"/>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3400" y="2560320"/>
            <a:ext cx="3157728" cy="960119"/>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Konteynerlar</a:t>
            </a:r>
          </a:p>
        </p:txBody>
      </p:sp>
      <p:sp>
        <p:nvSpPr>
          <p:cNvPr id="16" name="Rounded Rectangle 15"/>
          <p:cNvSpPr/>
          <p:nvPr/>
        </p:nvSpPr>
        <p:spPr>
          <a:xfrm>
            <a:off x="4114800" y="4251960"/>
            <a:ext cx="3840480" cy="822960"/>
          </a:xfrm>
          <a:prstGeom prst="roundRect">
            <a:avLst>
              <a:gd name="adj" fmla="val 8000"/>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4443984"/>
            <a:ext cx="3474720" cy="457200"/>
          </a:xfrm>
          <a:prstGeom prst="rect">
            <a:avLst/>
          </a:prstGeom>
          <a:noFill/>
        </p:spPr>
        <p:txBody>
          <a:bodyPr wrap="square" lIns="27432" rIns="27432" tIns="18288" bIns="0">
            <a:spAutoFit/>
          </a:bodyPr>
          <a:lstStyle/>
          <a:p>
            <a:pPr algn="ctr">
              <a:spcAft>
                <a:spcPts val="800"/>
              </a:spcAft>
              <a:defRPr sz="2100" b="1">
                <a:solidFill>
                  <a:srgbClr val="FFFFFF"/>
                </a:solidFill>
                <a:latin typeface="DejaVu Sans"/>
              </a:defRPr>
            </a:pPr>
            <a:r>
              <a:t>Registry: image ombori</a:t>
            </a:r>
          </a:p>
        </p:txBody>
      </p:sp>
      <p:cxnSp>
        <p:nvCxnSpPr>
          <p:cNvPr id="18" name="Connector 17"/>
          <p:cNvCxnSpPr/>
          <p:nvPr/>
        </p:nvCxnSpPr>
        <p:spPr>
          <a:xfrm flipV="1">
            <a:off x="6035040" y="3639312"/>
            <a:ext cx="0" cy="621792"/>
          </a:xfrm>
          <a:prstGeom prst="line">
            <a:avLst/>
          </a:prstGeom>
          <a:ln w="25400">
            <a:solidFill>
              <a:srgbClr val="13A6B4"/>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5504688"/>
            <a:ext cx="10607040" cy="640080"/>
          </a:xfrm>
          <a:prstGeom prst="rect">
            <a:avLst/>
          </a:prstGeom>
          <a:noFill/>
        </p:spPr>
        <p:txBody>
          <a:bodyPr wrap="square" lIns="27432" rIns="27432" tIns="18288" bIns="0">
            <a:spAutoFit/>
          </a:bodyPr>
          <a:lstStyle/>
          <a:p>
            <a:pPr>
              <a:spcAft>
                <a:spcPts val="800"/>
              </a:spcAft>
              <a:defRPr sz="2200" b="1">
                <a:solidFill>
                  <a:srgbClr val="203A58"/>
                </a:solidFill>
                <a:latin typeface="DejaVu Sans"/>
              </a:defRPr>
            </a:pPr>
            <a:r>
              <a:t>build — tayyorlash    pull — olish    run — ishga tushirish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365760"/>
            <a:ext cx="393192" cy="393192"/>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7552" y="758952"/>
            <a:ext cx="210312" cy="210312"/>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44752" y="374904"/>
            <a:ext cx="10030968" cy="987552"/>
          </a:xfrm>
          <a:prstGeom prst="rect">
            <a:avLst/>
          </a:prstGeom>
          <a:noFill/>
        </p:spPr>
        <p:txBody>
          <a:bodyPr wrap="square" lIns="27432" rIns="27432" tIns="18288" bIns="0">
            <a:spAutoFit/>
          </a:bodyPr>
          <a:lstStyle/>
          <a:p>
            <a:pPr>
              <a:spcAft>
                <a:spcPts val="800"/>
              </a:spcAft>
              <a:defRPr sz="3000" b="1">
                <a:solidFill>
                  <a:srgbClr val="203A58"/>
                </a:solidFill>
                <a:latin typeface="DejaVu Sans"/>
              </a:defRPr>
            </a:pPr>
            <a:r>
              <a:t>Image va Container farqi</a:t>
            </a:r>
          </a:p>
        </p:txBody>
      </p:sp>
      <p:cxnSp>
        <p:nvCxnSpPr>
          <p:cNvPr id="5" name="Connector 4"/>
          <p:cNvCxnSpPr/>
          <p:nvPr/>
        </p:nvCxnSpPr>
        <p:spPr>
          <a:xfrm>
            <a:off x="1463040" y="1536192"/>
            <a:ext cx="10058400" cy="0"/>
          </a:xfrm>
          <a:prstGeom prst="line">
            <a:avLst/>
          </a:prstGeom>
          <a:ln w="12700">
            <a:solidFill>
              <a:srgbClr val="A4DCE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05 / 13</a:t>
            </a:r>
          </a:p>
        </p:txBody>
      </p:sp>
      <p:sp>
        <p:nvSpPr>
          <p:cNvPr id="8" name="Cube 7"/>
          <p:cNvSpPr/>
          <p:nvPr/>
        </p:nvSpPr>
        <p:spPr>
          <a:xfrm>
            <a:off x="914400" y="2395728"/>
            <a:ext cx="1874519" cy="1508760"/>
          </a:xfrm>
          <a:prstGeom prst="cube">
            <a:avLst/>
          </a:prstGeom>
          <a:solidFill>
            <a:srgbClr val="6FA9E4"/>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215384"/>
            <a:ext cx="2468880" cy="457200"/>
          </a:xfrm>
          <a:prstGeom prst="rect">
            <a:avLst/>
          </a:prstGeom>
          <a:noFill/>
        </p:spPr>
        <p:txBody>
          <a:bodyPr wrap="square" lIns="27432" rIns="27432" tIns="18288" bIns="0">
            <a:spAutoFit/>
          </a:bodyPr>
          <a:lstStyle/>
          <a:p>
            <a:pPr algn="ctr">
              <a:spcAft>
                <a:spcPts val="800"/>
              </a:spcAft>
              <a:defRPr sz="2300" b="1">
                <a:solidFill>
                  <a:srgbClr val="2566C9"/>
                </a:solidFill>
                <a:latin typeface="DejaVu Sans"/>
              </a:defRPr>
            </a:pPr>
            <a:r>
              <a:t>IMAGE</a:t>
            </a:r>
          </a:p>
        </p:txBody>
      </p:sp>
      <p:sp>
        <p:nvSpPr>
          <p:cNvPr id="10" name="TextBox 9"/>
          <p:cNvSpPr txBox="1"/>
          <p:nvPr/>
        </p:nvSpPr>
        <p:spPr>
          <a:xfrm>
            <a:off x="777240" y="4901184"/>
            <a:ext cx="2560320" cy="749808"/>
          </a:xfrm>
          <a:prstGeom prst="rect">
            <a:avLst/>
          </a:prstGeom>
          <a:noFill/>
        </p:spPr>
        <p:txBody>
          <a:bodyPr wrap="square" lIns="27432" rIns="27432" tIns="18288" bIns="0">
            <a:spAutoFit/>
          </a:bodyPr>
          <a:lstStyle/>
          <a:p>
            <a:pPr algn="ctr">
              <a:spcAft>
                <a:spcPts val="800"/>
              </a:spcAft>
              <a:defRPr sz="2100" b="0">
                <a:solidFill>
                  <a:srgbClr val="203A58"/>
                </a:solidFill>
                <a:latin typeface="DejaVu Sans"/>
              </a:defRPr>
            </a:pPr>
            <a:r>
              <a:t>O‘qiladigan andoza</a:t>
            </a:r>
          </a:p>
        </p:txBody>
      </p:sp>
      <p:cxnSp>
        <p:nvCxnSpPr>
          <p:cNvPr id="11" name="Connector 10"/>
          <p:cNvCxnSpPr/>
          <p:nvPr/>
        </p:nvCxnSpPr>
        <p:spPr>
          <a:xfrm>
            <a:off x="2926080" y="3127248"/>
            <a:ext cx="1143000" cy="0"/>
          </a:xfrm>
          <a:prstGeom prst="line">
            <a:avLst/>
          </a:prstGeom>
          <a:ln w="19050">
            <a:solidFill>
              <a:srgbClr val="A4CDE3"/>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69080" y="2084831"/>
            <a:ext cx="5623560" cy="0"/>
          </a:xfrm>
          <a:prstGeom prst="line">
            <a:avLst/>
          </a:prstGeom>
          <a:ln w="19050">
            <a:solidFill>
              <a:srgbClr val="A4CDE3"/>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069080" y="2084831"/>
            <a:ext cx="0" cy="1042417"/>
          </a:xfrm>
          <a:prstGeom prst="line">
            <a:avLst/>
          </a:prstGeom>
          <a:ln w="19050">
            <a:solidFill>
              <a:srgbClr val="A4CDE3"/>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340096" y="2084831"/>
            <a:ext cx="0" cy="374905"/>
          </a:xfrm>
          <a:prstGeom prst="line">
            <a:avLst/>
          </a:prstGeom>
          <a:ln w="15240">
            <a:solidFill>
              <a:srgbClr val="A4CDE3"/>
            </a:solidFill>
            <a:tailEnd type="triangle"/>
          </a:ln>
        </p:spPr>
        <p:style>
          <a:lnRef idx="2">
            <a:schemeClr val="accent1"/>
          </a:lnRef>
          <a:fillRef idx="0">
            <a:schemeClr val="accent1"/>
          </a:fillRef>
          <a:effectRef idx="1">
            <a:schemeClr val="accent1"/>
          </a:effectRef>
          <a:fontRef idx="minor">
            <a:schemeClr val="tx1"/>
          </a:fontRef>
        </p:style>
      </p:cxnSp>
      <p:sp>
        <p:nvSpPr>
          <p:cNvPr id="15" name="Cube 14"/>
          <p:cNvSpPr/>
          <p:nvPr/>
        </p:nvSpPr>
        <p:spPr>
          <a:xfrm>
            <a:off x="4590288" y="2468880"/>
            <a:ext cx="1508760" cy="1234440"/>
          </a:xfrm>
          <a:prstGeom prst="cube">
            <a:avLst/>
          </a:prstGeom>
          <a:solidFill>
            <a:srgbClr val="69C6CD"/>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7" y="4224528"/>
            <a:ext cx="1828800" cy="640080"/>
          </a:xfrm>
          <a:prstGeom prst="rect">
            <a:avLst/>
          </a:prstGeom>
          <a:noFill/>
        </p:spPr>
        <p:txBody>
          <a:bodyPr wrap="square" lIns="27432" rIns="27432" tIns="18288" bIns="0">
            <a:spAutoFit/>
          </a:bodyPr>
          <a:lstStyle/>
          <a:p>
            <a:pPr algn="ctr">
              <a:spcAft>
                <a:spcPts val="800"/>
              </a:spcAft>
              <a:defRPr sz="1900" b="1">
                <a:solidFill>
                  <a:srgbClr val="13A6B4"/>
                </a:solidFill>
                <a:latin typeface="DejaVu Sans"/>
              </a:defRPr>
            </a:pPr>
            <a:r>
              <a:t>Container 1</a:t>
            </a:r>
          </a:p>
        </p:txBody>
      </p:sp>
      <p:cxnSp>
        <p:nvCxnSpPr>
          <p:cNvPr id="17" name="Connector 16"/>
          <p:cNvCxnSpPr/>
          <p:nvPr/>
        </p:nvCxnSpPr>
        <p:spPr>
          <a:xfrm>
            <a:off x="7516367" y="2084831"/>
            <a:ext cx="0" cy="374905"/>
          </a:xfrm>
          <a:prstGeom prst="line">
            <a:avLst/>
          </a:prstGeom>
          <a:ln w="15240">
            <a:solidFill>
              <a:srgbClr val="A4CDE3"/>
            </a:solidFill>
            <a:tailEnd type="triangle"/>
          </a:ln>
        </p:spPr>
        <p:style>
          <a:lnRef idx="2">
            <a:schemeClr val="accent1"/>
          </a:lnRef>
          <a:fillRef idx="0">
            <a:schemeClr val="accent1"/>
          </a:fillRef>
          <a:effectRef idx="1">
            <a:schemeClr val="accent1"/>
          </a:effectRef>
          <a:fontRef idx="minor">
            <a:schemeClr val="tx1"/>
          </a:fontRef>
        </p:style>
      </p:cxnSp>
      <p:sp>
        <p:nvSpPr>
          <p:cNvPr id="18" name="Cube 17"/>
          <p:cNvSpPr/>
          <p:nvPr/>
        </p:nvSpPr>
        <p:spPr>
          <a:xfrm>
            <a:off x="6766559" y="2468880"/>
            <a:ext cx="1508760" cy="1234440"/>
          </a:xfrm>
          <a:prstGeom prst="cube">
            <a:avLst/>
          </a:prstGeom>
          <a:solidFill>
            <a:srgbClr val="69C6CD"/>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399" y="4224528"/>
            <a:ext cx="1828800" cy="640080"/>
          </a:xfrm>
          <a:prstGeom prst="rect">
            <a:avLst/>
          </a:prstGeom>
          <a:noFill/>
        </p:spPr>
        <p:txBody>
          <a:bodyPr wrap="square" lIns="27432" rIns="27432" tIns="18288" bIns="0">
            <a:spAutoFit/>
          </a:bodyPr>
          <a:lstStyle/>
          <a:p>
            <a:pPr algn="ctr">
              <a:spcAft>
                <a:spcPts val="800"/>
              </a:spcAft>
              <a:defRPr sz="1900" b="1">
                <a:solidFill>
                  <a:srgbClr val="13A6B4"/>
                </a:solidFill>
                <a:latin typeface="DejaVu Sans"/>
              </a:defRPr>
            </a:pPr>
            <a:r>
              <a:t>Container 2</a:t>
            </a:r>
          </a:p>
        </p:txBody>
      </p:sp>
      <p:cxnSp>
        <p:nvCxnSpPr>
          <p:cNvPr id="20" name="Connector 19"/>
          <p:cNvCxnSpPr/>
          <p:nvPr/>
        </p:nvCxnSpPr>
        <p:spPr>
          <a:xfrm>
            <a:off x="9692640" y="2084831"/>
            <a:ext cx="0" cy="374905"/>
          </a:xfrm>
          <a:prstGeom prst="line">
            <a:avLst/>
          </a:prstGeom>
          <a:ln w="15240">
            <a:solidFill>
              <a:srgbClr val="A4CDE3"/>
            </a:solidFill>
            <a:tailEnd type="triangle"/>
          </a:ln>
        </p:spPr>
        <p:style>
          <a:lnRef idx="2">
            <a:schemeClr val="accent1"/>
          </a:lnRef>
          <a:fillRef idx="0">
            <a:schemeClr val="accent1"/>
          </a:fillRef>
          <a:effectRef idx="1">
            <a:schemeClr val="accent1"/>
          </a:effectRef>
          <a:fontRef idx="minor">
            <a:schemeClr val="tx1"/>
          </a:fontRef>
        </p:style>
      </p:cxnSp>
      <p:sp>
        <p:nvSpPr>
          <p:cNvPr id="21" name="Cube 20"/>
          <p:cNvSpPr/>
          <p:nvPr/>
        </p:nvSpPr>
        <p:spPr>
          <a:xfrm>
            <a:off x="8942832" y="2468880"/>
            <a:ext cx="1508760" cy="1234440"/>
          </a:xfrm>
          <a:prstGeom prst="cube">
            <a:avLst/>
          </a:prstGeom>
          <a:solidFill>
            <a:srgbClr val="69C6CD"/>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05672" y="4224528"/>
            <a:ext cx="1828800" cy="640080"/>
          </a:xfrm>
          <a:prstGeom prst="rect">
            <a:avLst/>
          </a:prstGeom>
          <a:noFill/>
        </p:spPr>
        <p:txBody>
          <a:bodyPr wrap="square" lIns="27432" rIns="27432" tIns="18288" bIns="0">
            <a:spAutoFit/>
          </a:bodyPr>
          <a:lstStyle/>
          <a:p>
            <a:pPr algn="ctr">
              <a:spcAft>
                <a:spcPts val="800"/>
              </a:spcAft>
              <a:defRPr sz="1900" b="1">
                <a:solidFill>
                  <a:srgbClr val="13A6B4"/>
                </a:solidFill>
                <a:latin typeface="DejaVu Sans"/>
              </a:defRPr>
            </a:pPr>
            <a:r>
              <a:t>Container 3</a:t>
            </a:r>
          </a:p>
        </p:txBody>
      </p:sp>
      <p:sp>
        <p:nvSpPr>
          <p:cNvPr id="23" name="TextBox 22"/>
          <p:cNvSpPr txBox="1"/>
          <p:nvPr/>
        </p:nvSpPr>
        <p:spPr>
          <a:xfrm>
            <a:off x="4617720" y="5257800"/>
            <a:ext cx="6217920" cy="731520"/>
          </a:xfrm>
          <a:prstGeom prst="rect">
            <a:avLst/>
          </a:prstGeom>
          <a:noFill/>
        </p:spPr>
        <p:txBody>
          <a:bodyPr wrap="square" lIns="27432" rIns="27432" tIns="18288" bIns="0">
            <a:spAutoFit/>
          </a:bodyPr>
          <a:lstStyle/>
          <a:p>
            <a:pPr>
              <a:spcAft>
                <a:spcPts val="800"/>
              </a:spcAft>
              <a:defRPr sz="2400" b="1">
                <a:solidFill>
                  <a:srgbClr val="203A58"/>
                </a:solidFill>
                <a:latin typeface="DejaVu Sans"/>
              </a:defRPr>
            </a:pPr>
            <a:r>
              <a:t>Bir image dan ko‘p ishlaydigan nusxa yaratiladi.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365760"/>
            <a:ext cx="393192" cy="393192"/>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7552" y="758952"/>
            <a:ext cx="210312" cy="210312"/>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44752" y="374904"/>
            <a:ext cx="10030968" cy="987552"/>
          </a:xfrm>
          <a:prstGeom prst="rect">
            <a:avLst/>
          </a:prstGeom>
          <a:noFill/>
        </p:spPr>
        <p:txBody>
          <a:bodyPr wrap="square" lIns="27432" rIns="27432" tIns="18288" bIns="0">
            <a:spAutoFit/>
          </a:bodyPr>
          <a:lstStyle/>
          <a:p>
            <a:pPr>
              <a:spcAft>
                <a:spcPts val="800"/>
              </a:spcAft>
              <a:defRPr sz="3000" b="1">
                <a:solidFill>
                  <a:srgbClr val="203A58"/>
                </a:solidFill>
                <a:latin typeface="DejaVu Sans"/>
              </a:defRPr>
            </a:pPr>
            <a:r>
              <a:t>Dockerfile va qatlamlar</a:t>
            </a:r>
          </a:p>
        </p:txBody>
      </p:sp>
      <p:cxnSp>
        <p:nvCxnSpPr>
          <p:cNvPr id="5" name="Connector 4"/>
          <p:cNvCxnSpPr/>
          <p:nvPr/>
        </p:nvCxnSpPr>
        <p:spPr>
          <a:xfrm>
            <a:off x="1463040" y="1536192"/>
            <a:ext cx="10058400" cy="0"/>
          </a:xfrm>
          <a:prstGeom prst="line">
            <a:avLst/>
          </a:prstGeom>
          <a:ln w="12700">
            <a:solidFill>
              <a:srgbClr val="A4DCE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06 / 13</a:t>
            </a:r>
          </a:p>
        </p:txBody>
      </p:sp>
      <p:sp>
        <p:nvSpPr>
          <p:cNvPr id="8" name="Rounded Rectangle 7"/>
          <p:cNvSpPr/>
          <p:nvPr/>
        </p:nvSpPr>
        <p:spPr>
          <a:xfrm>
            <a:off x="731520" y="1993392"/>
            <a:ext cx="5120640" cy="3904487"/>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267712"/>
            <a:ext cx="1645920" cy="457200"/>
          </a:xfrm>
          <a:prstGeom prst="rect">
            <a:avLst/>
          </a:prstGeom>
          <a:noFill/>
        </p:spPr>
        <p:txBody>
          <a:bodyPr wrap="square" lIns="27432" rIns="27432" tIns="18288" bIns="0">
            <a:spAutoFit/>
          </a:bodyPr>
          <a:lstStyle/>
          <a:p>
            <a:pPr>
              <a:spcAft>
                <a:spcPts val="800"/>
              </a:spcAft>
              <a:defRPr sz="2100" b="1">
                <a:solidFill>
                  <a:srgbClr val="2566C9"/>
                </a:solidFill>
                <a:latin typeface="DejaVu Sans"/>
              </a:defRPr>
            </a:pPr>
            <a:r>
              <a:t>FROM</a:t>
            </a:r>
          </a:p>
        </p:txBody>
      </p:sp>
      <p:sp>
        <p:nvSpPr>
          <p:cNvPr id="10" name="TextBox 9"/>
          <p:cNvSpPr txBox="1"/>
          <p:nvPr/>
        </p:nvSpPr>
        <p:spPr>
          <a:xfrm>
            <a:off x="2788920" y="2267712"/>
            <a:ext cx="2743200" cy="594360"/>
          </a:xfrm>
          <a:prstGeom prst="rect">
            <a:avLst/>
          </a:prstGeom>
          <a:noFill/>
        </p:spPr>
        <p:txBody>
          <a:bodyPr wrap="square" lIns="27432" rIns="27432" tIns="18288" bIns="0">
            <a:spAutoFit/>
          </a:bodyPr>
          <a:lstStyle/>
          <a:p>
            <a:pPr>
              <a:spcAft>
                <a:spcPts val="800"/>
              </a:spcAft>
              <a:defRPr sz="2000" b="0">
                <a:solidFill>
                  <a:srgbClr val="203A58"/>
                </a:solidFill>
                <a:latin typeface="DejaVu Sans"/>
              </a:defRPr>
            </a:pPr>
            <a:r>
              <a:t>Bazaviy image</a:t>
            </a:r>
          </a:p>
        </p:txBody>
      </p:sp>
      <p:sp>
        <p:nvSpPr>
          <p:cNvPr id="11" name="TextBox 10"/>
          <p:cNvSpPr txBox="1"/>
          <p:nvPr/>
        </p:nvSpPr>
        <p:spPr>
          <a:xfrm>
            <a:off x="978408" y="3090672"/>
            <a:ext cx="1645920" cy="457200"/>
          </a:xfrm>
          <a:prstGeom prst="rect">
            <a:avLst/>
          </a:prstGeom>
          <a:noFill/>
        </p:spPr>
        <p:txBody>
          <a:bodyPr wrap="square" lIns="27432" rIns="27432" tIns="18288" bIns="0">
            <a:spAutoFit/>
          </a:bodyPr>
          <a:lstStyle/>
          <a:p>
            <a:pPr>
              <a:spcAft>
                <a:spcPts val="800"/>
              </a:spcAft>
              <a:defRPr sz="2100" b="1">
                <a:solidFill>
                  <a:srgbClr val="2566C9"/>
                </a:solidFill>
                <a:latin typeface="DejaVu Sans"/>
              </a:defRPr>
            </a:pPr>
            <a:r>
              <a:t>WORKDIR</a:t>
            </a:r>
          </a:p>
        </p:txBody>
      </p:sp>
      <p:sp>
        <p:nvSpPr>
          <p:cNvPr id="12" name="TextBox 11"/>
          <p:cNvSpPr txBox="1"/>
          <p:nvPr/>
        </p:nvSpPr>
        <p:spPr>
          <a:xfrm>
            <a:off x="2788920" y="3090672"/>
            <a:ext cx="2743200" cy="594360"/>
          </a:xfrm>
          <a:prstGeom prst="rect">
            <a:avLst/>
          </a:prstGeom>
          <a:noFill/>
        </p:spPr>
        <p:txBody>
          <a:bodyPr wrap="square" lIns="27432" rIns="27432" tIns="18288" bIns="0">
            <a:spAutoFit/>
          </a:bodyPr>
          <a:lstStyle/>
          <a:p>
            <a:pPr>
              <a:spcAft>
                <a:spcPts val="800"/>
              </a:spcAft>
              <a:defRPr sz="2000" b="0">
                <a:solidFill>
                  <a:srgbClr val="203A58"/>
                </a:solidFill>
                <a:latin typeface="DejaVu Sans"/>
              </a:defRPr>
            </a:pPr>
            <a:r>
              <a:t>Ish katalogi</a:t>
            </a:r>
          </a:p>
        </p:txBody>
      </p:sp>
      <p:sp>
        <p:nvSpPr>
          <p:cNvPr id="13" name="TextBox 12"/>
          <p:cNvSpPr txBox="1"/>
          <p:nvPr/>
        </p:nvSpPr>
        <p:spPr>
          <a:xfrm>
            <a:off x="978408" y="3913632"/>
            <a:ext cx="1645920" cy="457200"/>
          </a:xfrm>
          <a:prstGeom prst="rect">
            <a:avLst/>
          </a:prstGeom>
          <a:noFill/>
        </p:spPr>
        <p:txBody>
          <a:bodyPr wrap="square" lIns="27432" rIns="27432" tIns="18288" bIns="0">
            <a:spAutoFit/>
          </a:bodyPr>
          <a:lstStyle/>
          <a:p>
            <a:pPr>
              <a:spcAft>
                <a:spcPts val="800"/>
              </a:spcAft>
              <a:defRPr sz="2100" b="1">
                <a:solidFill>
                  <a:srgbClr val="2566C9"/>
                </a:solidFill>
                <a:latin typeface="DejaVu Sans"/>
              </a:defRPr>
            </a:pPr>
            <a:r>
              <a:t>COPY / RUN</a:t>
            </a:r>
          </a:p>
        </p:txBody>
      </p:sp>
      <p:sp>
        <p:nvSpPr>
          <p:cNvPr id="14" name="TextBox 13"/>
          <p:cNvSpPr txBox="1"/>
          <p:nvPr/>
        </p:nvSpPr>
        <p:spPr>
          <a:xfrm>
            <a:off x="2788920" y="3913632"/>
            <a:ext cx="2743200" cy="594360"/>
          </a:xfrm>
          <a:prstGeom prst="rect">
            <a:avLst/>
          </a:prstGeom>
          <a:noFill/>
        </p:spPr>
        <p:txBody>
          <a:bodyPr wrap="square" lIns="27432" rIns="27432" tIns="18288" bIns="0">
            <a:spAutoFit/>
          </a:bodyPr>
          <a:lstStyle/>
          <a:p>
            <a:pPr>
              <a:spcAft>
                <a:spcPts val="800"/>
              </a:spcAft>
              <a:defRPr sz="2000" b="0">
                <a:solidFill>
                  <a:srgbClr val="203A58"/>
                </a:solidFill>
                <a:latin typeface="DejaVu Sans"/>
              </a:defRPr>
            </a:pPr>
            <a:r>
              <a:t>Fayl va bog‘liqliklar</a:t>
            </a:r>
          </a:p>
        </p:txBody>
      </p:sp>
      <p:sp>
        <p:nvSpPr>
          <p:cNvPr id="15" name="TextBox 14"/>
          <p:cNvSpPr txBox="1"/>
          <p:nvPr/>
        </p:nvSpPr>
        <p:spPr>
          <a:xfrm>
            <a:off x="978408" y="4736592"/>
            <a:ext cx="1645920" cy="457200"/>
          </a:xfrm>
          <a:prstGeom prst="rect">
            <a:avLst/>
          </a:prstGeom>
          <a:noFill/>
        </p:spPr>
        <p:txBody>
          <a:bodyPr wrap="square" lIns="27432" rIns="27432" tIns="18288" bIns="0">
            <a:spAutoFit/>
          </a:bodyPr>
          <a:lstStyle/>
          <a:p>
            <a:pPr>
              <a:spcAft>
                <a:spcPts val="800"/>
              </a:spcAft>
              <a:defRPr sz="2100" b="1">
                <a:solidFill>
                  <a:srgbClr val="2566C9"/>
                </a:solidFill>
                <a:latin typeface="DejaVu Sans"/>
              </a:defRPr>
            </a:pPr>
            <a:r>
              <a:t>CMD</a:t>
            </a:r>
          </a:p>
        </p:txBody>
      </p:sp>
      <p:sp>
        <p:nvSpPr>
          <p:cNvPr id="16" name="TextBox 15"/>
          <p:cNvSpPr txBox="1"/>
          <p:nvPr/>
        </p:nvSpPr>
        <p:spPr>
          <a:xfrm>
            <a:off x="2788920" y="4736592"/>
            <a:ext cx="2743200" cy="594360"/>
          </a:xfrm>
          <a:prstGeom prst="rect">
            <a:avLst/>
          </a:prstGeom>
          <a:noFill/>
        </p:spPr>
        <p:txBody>
          <a:bodyPr wrap="square" lIns="27432" rIns="27432" tIns="18288" bIns="0">
            <a:spAutoFit/>
          </a:bodyPr>
          <a:lstStyle/>
          <a:p>
            <a:pPr>
              <a:spcAft>
                <a:spcPts val="800"/>
              </a:spcAft>
              <a:defRPr sz="2000" b="0">
                <a:solidFill>
                  <a:srgbClr val="203A58"/>
                </a:solidFill>
                <a:latin typeface="DejaVu Sans"/>
              </a:defRPr>
            </a:pPr>
            <a:r>
              <a:t>Boshlang‘ich buyruq</a:t>
            </a:r>
          </a:p>
        </p:txBody>
      </p:sp>
      <p:sp>
        <p:nvSpPr>
          <p:cNvPr id="17" name="TextBox 16"/>
          <p:cNvSpPr txBox="1"/>
          <p:nvPr/>
        </p:nvSpPr>
        <p:spPr>
          <a:xfrm>
            <a:off x="6400800" y="2103120"/>
            <a:ext cx="4937760" cy="731520"/>
          </a:xfrm>
          <a:prstGeom prst="rect">
            <a:avLst/>
          </a:prstGeom>
          <a:noFill/>
        </p:spPr>
        <p:txBody>
          <a:bodyPr wrap="square" lIns="27432" rIns="27432" tIns="18288" bIns="0">
            <a:spAutoFit/>
          </a:bodyPr>
          <a:lstStyle/>
          <a:p>
            <a:pPr>
              <a:spcAft>
                <a:spcPts val="800"/>
              </a:spcAft>
              <a:defRPr sz="2700" b="1">
                <a:solidFill>
                  <a:srgbClr val="2566C9"/>
                </a:solidFill>
                <a:latin typeface="DejaVu Sans"/>
              </a:defRPr>
            </a:pPr>
            <a:r>
              <a:t>Qatlamlar va kesh</a:t>
            </a:r>
          </a:p>
        </p:txBody>
      </p:sp>
      <p:sp>
        <p:nvSpPr>
          <p:cNvPr id="18" name="TextBox 17"/>
          <p:cNvSpPr txBox="1"/>
          <p:nvPr/>
        </p:nvSpPr>
        <p:spPr>
          <a:xfrm>
            <a:off x="6400800" y="3154680"/>
            <a:ext cx="4937760" cy="1078992"/>
          </a:xfrm>
          <a:prstGeom prst="rect">
            <a:avLst/>
          </a:prstGeom>
          <a:noFill/>
        </p:spPr>
        <p:txBody>
          <a:bodyPr wrap="square" lIns="27432" rIns="27432" tIns="18288" bIns="0">
            <a:spAutoFit/>
          </a:bodyPr>
          <a:lstStyle/>
          <a:p>
            <a:pPr>
              <a:spcAft>
                <a:spcPts val="800"/>
              </a:spcAft>
              <a:defRPr sz="2300" b="0">
                <a:solidFill>
                  <a:srgbClr val="203A58"/>
                </a:solidFill>
                <a:latin typeface="DejaVu Sans"/>
              </a:defRPr>
            </a:pPr>
            <a:r>
              <a:t>O‘zgarmagan qadamlar qayta ishlatilishi qurilishni tezlashtiradi.</a:t>
            </a:r>
          </a:p>
        </p:txBody>
      </p:sp>
      <p:sp>
        <p:nvSpPr>
          <p:cNvPr id="19" name="TextBox 18"/>
          <p:cNvSpPr txBox="1"/>
          <p:nvPr/>
        </p:nvSpPr>
        <p:spPr>
          <a:xfrm>
            <a:off x="6400800" y="4754880"/>
            <a:ext cx="4937760" cy="1097280"/>
          </a:xfrm>
          <a:prstGeom prst="rect">
            <a:avLst/>
          </a:prstGeom>
          <a:noFill/>
        </p:spPr>
        <p:txBody>
          <a:bodyPr wrap="square" lIns="27432" rIns="27432" tIns="18288" bIns="0">
            <a:spAutoFit/>
          </a:bodyPr>
          <a:lstStyle/>
          <a:p>
            <a:pPr>
              <a:spcAft>
                <a:spcPts val="800"/>
              </a:spcAft>
              <a:defRPr sz="2200" b="1">
                <a:solidFill>
                  <a:srgbClr val="13A6B4"/>
                </a:solidFill>
                <a:latin typeface="DejaVu Sans"/>
              </a:defRPr>
            </a:pPr>
            <a:r>
              <a:t>Multi-stage build yakuniy image hajmini kamaytiradi.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365760"/>
            <a:ext cx="393192" cy="393192"/>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7552" y="758952"/>
            <a:ext cx="210312" cy="210312"/>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44752" y="374904"/>
            <a:ext cx="10030968" cy="987552"/>
          </a:xfrm>
          <a:prstGeom prst="rect">
            <a:avLst/>
          </a:prstGeom>
          <a:noFill/>
        </p:spPr>
        <p:txBody>
          <a:bodyPr wrap="square" lIns="27432" rIns="27432" tIns="18288" bIns="0">
            <a:spAutoFit/>
          </a:bodyPr>
          <a:lstStyle/>
          <a:p>
            <a:pPr>
              <a:spcAft>
                <a:spcPts val="800"/>
              </a:spcAft>
              <a:defRPr sz="3000" b="1">
                <a:solidFill>
                  <a:srgbClr val="203A58"/>
                </a:solidFill>
                <a:latin typeface="DejaVu Sans"/>
              </a:defRPr>
            </a:pPr>
            <a:r>
              <a:t>Registry va versiyalash</a:t>
            </a:r>
          </a:p>
        </p:txBody>
      </p:sp>
      <p:cxnSp>
        <p:nvCxnSpPr>
          <p:cNvPr id="5" name="Connector 4"/>
          <p:cNvCxnSpPr/>
          <p:nvPr/>
        </p:nvCxnSpPr>
        <p:spPr>
          <a:xfrm>
            <a:off x="1463040" y="1536192"/>
            <a:ext cx="10058400" cy="0"/>
          </a:xfrm>
          <a:prstGeom prst="line">
            <a:avLst/>
          </a:prstGeom>
          <a:ln w="12700">
            <a:solidFill>
              <a:srgbClr val="A4DCE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07 / 13</a:t>
            </a:r>
          </a:p>
        </p:txBody>
      </p:sp>
      <p:sp>
        <p:nvSpPr>
          <p:cNvPr id="8" name="Rounded Rectangle 7"/>
          <p:cNvSpPr/>
          <p:nvPr/>
        </p:nvSpPr>
        <p:spPr>
          <a:xfrm>
            <a:off x="731520" y="2194560"/>
            <a:ext cx="3395471" cy="1353312"/>
          </a:xfrm>
          <a:prstGeom prst="roundRect">
            <a:avLst>
              <a:gd name="adj" fmla="val 8000"/>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423160"/>
            <a:ext cx="3157728" cy="1033271"/>
          </a:xfrm>
          <a:prstGeom prst="rect">
            <a:avLst/>
          </a:prstGeom>
          <a:noFill/>
        </p:spPr>
        <p:txBody>
          <a:bodyPr wrap="square" lIns="27432" rIns="27432" tIns="18288" bIns="0">
            <a:spAutoFit/>
          </a:bodyPr>
          <a:lstStyle/>
          <a:p>
            <a:pPr algn="ctr">
              <a:spcAft>
                <a:spcPts val="800"/>
              </a:spcAft>
              <a:defRPr sz="2000" b="1">
                <a:solidFill>
                  <a:srgbClr val="FFFFFF"/>
                </a:solidFill>
                <a:latin typeface="DejaVu Sans"/>
              </a:defRPr>
            </a:pPr>
            <a:r>
              <a:t>CI yaratadi</a:t>
            </a:r>
          </a:p>
        </p:txBody>
      </p:sp>
      <p:cxnSp>
        <p:nvCxnSpPr>
          <p:cNvPr id="10" name="Connector 9"/>
          <p:cNvCxnSpPr/>
          <p:nvPr/>
        </p:nvCxnSpPr>
        <p:spPr>
          <a:xfrm>
            <a:off x="4145279" y="2871215"/>
            <a:ext cx="210312" cy="0"/>
          </a:xfrm>
          <a:prstGeom prst="line">
            <a:avLst/>
          </a:prstGeom>
          <a:ln w="25400">
            <a:solidFill>
              <a:srgbClr val="2566C9"/>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83024" y="2194560"/>
            <a:ext cx="3395471" cy="135331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1896" y="2423160"/>
            <a:ext cx="3157728" cy="1033271"/>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Registry saqlaydi</a:t>
            </a:r>
          </a:p>
        </p:txBody>
      </p:sp>
      <p:cxnSp>
        <p:nvCxnSpPr>
          <p:cNvPr id="13" name="Connector 12"/>
          <p:cNvCxnSpPr/>
          <p:nvPr/>
        </p:nvCxnSpPr>
        <p:spPr>
          <a:xfrm>
            <a:off x="7796783" y="2871215"/>
            <a:ext cx="210312" cy="0"/>
          </a:xfrm>
          <a:prstGeom prst="line">
            <a:avLst/>
          </a:prstGeom>
          <a:ln w="25400">
            <a:solidFill>
              <a:srgbClr val="2566C9"/>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034528" y="2194560"/>
            <a:ext cx="3395471" cy="135331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3400" y="2423160"/>
            <a:ext cx="3157728" cy="1033271"/>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Server oladi</a:t>
            </a:r>
          </a:p>
        </p:txBody>
      </p:sp>
      <p:sp>
        <p:nvSpPr>
          <p:cNvPr id="16" name="Rounded Rectangle 15"/>
          <p:cNvSpPr/>
          <p:nvPr/>
        </p:nvSpPr>
        <p:spPr>
          <a:xfrm>
            <a:off x="777240" y="4096512"/>
            <a:ext cx="5120640" cy="1645920"/>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4297680"/>
            <a:ext cx="4709160" cy="457200"/>
          </a:xfrm>
          <a:prstGeom prst="rect">
            <a:avLst/>
          </a:prstGeom>
          <a:noFill/>
        </p:spPr>
        <p:txBody>
          <a:bodyPr wrap="square" lIns="27432" rIns="27432" tIns="18288" bIns="0">
            <a:spAutoFit/>
          </a:bodyPr>
          <a:lstStyle/>
          <a:p>
            <a:pPr>
              <a:spcAft>
                <a:spcPts val="800"/>
              </a:spcAft>
              <a:defRPr sz="2500" b="1">
                <a:solidFill>
                  <a:srgbClr val="2566C9"/>
                </a:solidFill>
                <a:latin typeface="DejaVu Sans"/>
              </a:defRPr>
            </a:pPr>
            <a:r>
              <a:t>Tag: portal:1.4</a:t>
            </a:r>
          </a:p>
        </p:txBody>
      </p:sp>
      <p:sp>
        <p:nvSpPr>
          <p:cNvPr id="18" name="TextBox 17"/>
          <p:cNvSpPr txBox="1"/>
          <p:nvPr/>
        </p:nvSpPr>
        <p:spPr>
          <a:xfrm>
            <a:off x="987552" y="4965192"/>
            <a:ext cx="4709160" cy="502920"/>
          </a:xfrm>
          <a:prstGeom prst="rect">
            <a:avLst/>
          </a:prstGeom>
          <a:noFill/>
        </p:spPr>
        <p:txBody>
          <a:bodyPr wrap="square" lIns="27432" rIns="27432" tIns="18288" bIns="0">
            <a:spAutoFit/>
          </a:bodyPr>
          <a:lstStyle/>
          <a:p>
            <a:pPr>
              <a:spcAft>
                <a:spcPts val="800"/>
              </a:spcAft>
              <a:defRPr sz="2100" b="0">
                <a:solidFill>
                  <a:srgbClr val="203A58"/>
                </a:solidFill>
                <a:latin typeface="DejaVu Sans"/>
              </a:defRPr>
            </a:pPr>
            <a:r>
              <a:t>Qulay nom; o‘zgarishi mumkin.</a:t>
            </a:r>
          </a:p>
        </p:txBody>
      </p:sp>
      <p:sp>
        <p:nvSpPr>
          <p:cNvPr id="19" name="Rounded Rectangle 18"/>
          <p:cNvSpPr/>
          <p:nvPr/>
        </p:nvSpPr>
        <p:spPr>
          <a:xfrm>
            <a:off x="6263640" y="4096512"/>
            <a:ext cx="5120640" cy="1645920"/>
          </a:xfrm>
          <a:prstGeom prst="roundRect">
            <a:avLst>
              <a:gd name="adj" fmla="val 8000"/>
            </a:avLst>
          </a:prstGeom>
          <a:solidFill>
            <a:srgbClr val="EDF1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297680"/>
            <a:ext cx="4709160" cy="457200"/>
          </a:xfrm>
          <a:prstGeom prst="rect">
            <a:avLst/>
          </a:prstGeom>
          <a:noFill/>
        </p:spPr>
        <p:txBody>
          <a:bodyPr wrap="square" lIns="27432" rIns="27432" tIns="18288" bIns="0">
            <a:spAutoFit/>
          </a:bodyPr>
          <a:lstStyle/>
          <a:p>
            <a:pPr>
              <a:spcAft>
                <a:spcPts val="800"/>
              </a:spcAft>
              <a:defRPr sz="2200" b="1">
                <a:solidFill>
                  <a:srgbClr val="2566C9"/>
                </a:solidFill>
                <a:latin typeface="DejaVu Sans"/>
              </a:defRPr>
            </a:pPr>
            <a:r>
              <a:t>Digest: mazmun identifikatori</a:t>
            </a:r>
          </a:p>
        </p:txBody>
      </p:sp>
      <p:sp>
        <p:nvSpPr>
          <p:cNvPr id="21" name="TextBox 20"/>
          <p:cNvSpPr txBox="1"/>
          <p:nvPr/>
        </p:nvSpPr>
        <p:spPr>
          <a:xfrm>
            <a:off x="6473952" y="4965192"/>
            <a:ext cx="4709160" cy="502920"/>
          </a:xfrm>
          <a:prstGeom prst="rect">
            <a:avLst/>
          </a:prstGeom>
          <a:noFill/>
        </p:spPr>
        <p:txBody>
          <a:bodyPr wrap="square" lIns="27432" rIns="27432" tIns="18288" bIns="0">
            <a:spAutoFit/>
          </a:bodyPr>
          <a:lstStyle/>
          <a:p>
            <a:pPr>
              <a:spcAft>
                <a:spcPts val="800"/>
              </a:spcAft>
              <a:defRPr sz="2000" b="0">
                <a:solidFill>
                  <a:srgbClr val="203A58"/>
                </a:solidFill>
                <a:latin typeface="DejaVu Sans"/>
              </a:defRPr>
            </a:pPr>
            <a:r>
              <a:t>Aynan qaysi image ekanini ko‘rsatadi.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365760"/>
            <a:ext cx="393192" cy="393192"/>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7552" y="758952"/>
            <a:ext cx="210312" cy="210312"/>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44752" y="374904"/>
            <a:ext cx="10030968" cy="987552"/>
          </a:xfrm>
          <a:prstGeom prst="rect">
            <a:avLst/>
          </a:prstGeom>
          <a:noFill/>
        </p:spPr>
        <p:txBody>
          <a:bodyPr wrap="square" lIns="27432" rIns="27432" tIns="18288" bIns="0">
            <a:spAutoFit/>
          </a:bodyPr>
          <a:lstStyle/>
          <a:p>
            <a:pPr>
              <a:spcAft>
                <a:spcPts val="800"/>
              </a:spcAft>
              <a:defRPr sz="3000" b="1">
                <a:solidFill>
                  <a:srgbClr val="203A58"/>
                </a:solidFill>
                <a:latin typeface="DejaVu Sans"/>
              </a:defRPr>
            </a:pPr>
            <a:r>
              <a:t>VM bilan taqqoslash va xavfsizlik</a:t>
            </a:r>
          </a:p>
        </p:txBody>
      </p:sp>
      <p:cxnSp>
        <p:nvCxnSpPr>
          <p:cNvPr id="5" name="Connector 4"/>
          <p:cNvCxnSpPr/>
          <p:nvPr/>
        </p:nvCxnSpPr>
        <p:spPr>
          <a:xfrm>
            <a:off x="1463040" y="1536192"/>
            <a:ext cx="10058400" cy="0"/>
          </a:xfrm>
          <a:prstGeom prst="line">
            <a:avLst/>
          </a:prstGeom>
          <a:ln w="12700">
            <a:solidFill>
              <a:srgbClr val="A4DCE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08 / 13</a:t>
            </a:r>
          </a:p>
        </p:txBody>
      </p:sp>
      <p:sp>
        <p:nvSpPr>
          <p:cNvPr id="8" name="Rounded Rectangle 7"/>
          <p:cNvSpPr/>
          <p:nvPr/>
        </p:nvSpPr>
        <p:spPr>
          <a:xfrm>
            <a:off x="731520" y="1993392"/>
            <a:ext cx="5303520" cy="2615184"/>
          </a:xfrm>
          <a:prstGeom prst="roundRect">
            <a:avLst>
              <a:gd name="adj" fmla="val 8000"/>
            </a:avLst>
          </a:prstGeom>
          <a:solidFill>
            <a:srgbClr val="EE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286000"/>
            <a:ext cx="4809744" cy="594360"/>
          </a:xfrm>
          <a:prstGeom prst="rect">
            <a:avLst/>
          </a:prstGeom>
          <a:noFill/>
        </p:spPr>
        <p:txBody>
          <a:bodyPr wrap="square" lIns="27432" rIns="27432" tIns="18288" bIns="0">
            <a:spAutoFit/>
          </a:bodyPr>
          <a:lstStyle/>
          <a:p>
            <a:pPr>
              <a:spcAft>
                <a:spcPts val="800"/>
              </a:spcAft>
              <a:defRPr sz="2700" b="1">
                <a:solidFill>
                  <a:srgbClr val="2566C9"/>
                </a:solidFill>
                <a:latin typeface="DejaVu Sans"/>
              </a:defRPr>
            </a:pPr>
            <a:r>
              <a:t>Virtual mashina</a:t>
            </a:r>
          </a:p>
        </p:txBody>
      </p:sp>
      <p:sp>
        <p:nvSpPr>
          <p:cNvPr id="10" name="TextBox 9"/>
          <p:cNvSpPr txBox="1"/>
          <p:nvPr/>
        </p:nvSpPr>
        <p:spPr>
          <a:xfrm>
            <a:off x="978408" y="3246120"/>
            <a:ext cx="4800600" cy="1051560"/>
          </a:xfrm>
          <a:prstGeom prst="rect">
            <a:avLst/>
          </a:prstGeom>
          <a:noFill/>
        </p:spPr>
        <p:txBody>
          <a:bodyPr wrap="square" lIns="27432" rIns="27432" tIns="18288" bIns="0">
            <a:spAutoFit/>
          </a:bodyPr>
          <a:lstStyle/>
          <a:p>
            <a:pPr>
              <a:spcAft>
                <a:spcPts val="800"/>
              </a:spcAft>
              <a:defRPr sz="2400" b="0">
                <a:solidFill>
                  <a:srgbClr val="203A58"/>
                </a:solidFill>
                <a:latin typeface="DejaVu Sans"/>
              </a:defRPr>
            </a:pPr>
            <a:r>
              <a:t>Mehmon operatsion tizimi</a:t>
            </a:r>
          </a:p>
          <a:p>
            <a:pPr>
              <a:spcAft>
                <a:spcPts val="800"/>
              </a:spcAft>
              <a:defRPr sz="2400" b="0">
                <a:solidFill>
                  <a:srgbClr val="203A58"/>
                </a:solidFill>
                <a:latin typeface="DejaVu Sans"/>
              </a:defRPr>
            </a:pPr>
            <a:r>
              <a:t>va o‘z yadrosi bor.</a:t>
            </a:r>
          </a:p>
        </p:txBody>
      </p:sp>
      <p:sp>
        <p:nvSpPr>
          <p:cNvPr id="11" name="Rounded Rectangle 10"/>
          <p:cNvSpPr/>
          <p:nvPr/>
        </p:nvSpPr>
        <p:spPr>
          <a:xfrm>
            <a:off x="6309359" y="1993392"/>
            <a:ext cx="5303520" cy="2615184"/>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286000"/>
            <a:ext cx="4809744" cy="594360"/>
          </a:xfrm>
          <a:prstGeom prst="rect">
            <a:avLst/>
          </a:prstGeom>
          <a:noFill/>
        </p:spPr>
        <p:txBody>
          <a:bodyPr wrap="square" lIns="27432" rIns="27432" tIns="18288" bIns="0">
            <a:spAutoFit/>
          </a:bodyPr>
          <a:lstStyle/>
          <a:p>
            <a:pPr>
              <a:spcAft>
                <a:spcPts val="800"/>
              </a:spcAft>
              <a:defRPr sz="2700" b="1">
                <a:solidFill>
                  <a:srgbClr val="13A6B4"/>
                </a:solidFill>
                <a:latin typeface="DejaVu Sans"/>
              </a:defRPr>
            </a:pPr>
            <a:r>
              <a:t>Konteyner</a:t>
            </a:r>
          </a:p>
        </p:txBody>
      </p:sp>
      <p:sp>
        <p:nvSpPr>
          <p:cNvPr id="13" name="TextBox 12"/>
          <p:cNvSpPr txBox="1"/>
          <p:nvPr/>
        </p:nvSpPr>
        <p:spPr>
          <a:xfrm>
            <a:off x="6556248" y="3246120"/>
            <a:ext cx="4800600" cy="1051560"/>
          </a:xfrm>
          <a:prstGeom prst="rect">
            <a:avLst/>
          </a:prstGeom>
          <a:noFill/>
        </p:spPr>
        <p:txBody>
          <a:bodyPr wrap="square" lIns="27432" rIns="27432" tIns="18288" bIns="0">
            <a:spAutoFit/>
          </a:bodyPr>
          <a:lstStyle/>
          <a:p>
            <a:pPr>
              <a:spcAft>
                <a:spcPts val="800"/>
              </a:spcAft>
              <a:defRPr sz="2400" b="0">
                <a:solidFill>
                  <a:srgbClr val="203A58"/>
                </a:solidFill>
                <a:latin typeface="DejaVu Sans"/>
              </a:defRPr>
            </a:pPr>
            <a:r>
              <a:t>Host yadrosini ulashadi;</a:t>
            </a:r>
          </a:p>
          <a:p>
            <a:pPr>
              <a:spcAft>
                <a:spcPts val="800"/>
              </a:spcAft>
              <a:defRPr sz="2400" b="0">
                <a:solidFill>
                  <a:srgbClr val="203A58"/>
                </a:solidFill>
                <a:latin typeface="DejaVu Sans"/>
              </a:defRPr>
            </a:pPr>
            <a:r>
              <a:t>jarayonlar ajratiladi.</a:t>
            </a:r>
          </a:p>
        </p:txBody>
      </p:sp>
      <p:sp>
        <p:nvSpPr>
          <p:cNvPr id="14" name="TextBox 13"/>
          <p:cNvSpPr txBox="1"/>
          <p:nvPr/>
        </p:nvSpPr>
        <p:spPr>
          <a:xfrm>
            <a:off x="804672" y="5074920"/>
            <a:ext cx="10424160" cy="822960"/>
          </a:xfrm>
          <a:prstGeom prst="rect">
            <a:avLst/>
          </a:prstGeom>
          <a:noFill/>
        </p:spPr>
        <p:txBody>
          <a:bodyPr wrap="square" lIns="27432" rIns="27432" tIns="18288" bIns="0">
            <a:spAutoFit/>
          </a:bodyPr>
          <a:lstStyle/>
          <a:p>
            <a:pPr>
              <a:spcAft>
                <a:spcPts val="800"/>
              </a:spcAft>
              <a:defRPr sz="2300" b="1">
                <a:solidFill>
                  <a:srgbClr val="203A58"/>
                </a:solidFill>
                <a:latin typeface="DejaVu Sans"/>
              </a:defRPr>
            </a:pPr>
            <a:r>
              <a:t>Minimal image • root bo‘lmagan foydalanuvchi • resurs limiti • sirlarni alohida uzatish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365760"/>
            <a:ext cx="393192" cy="393192"/>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7552" y="758952"/>
            <a:ext cx="210312" cy="210312"/>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44752" y="374904"/>
            <a:ext cx="10030968" cy="987552"/>
          </a:xfrm>
          <a:prstGeom prst="rect">
            <a:avLst/>
          </a:prstGeom>
          <a:noFill/>
        </p:spPr>
        <p:txBody>
          <a:bodyPr wrap="square" lIns="27432" rIns="27432" tIns="18288" bIns="0">
            <a:spAutoFit/>
          </a:bodyPr>
          <a:lstStyle/>
          <a:p>
            <a:pPr>
              <a:spcAft>
                <a:spcPts val="800"/>
              </a:spcAft>
              <a:defRPr sz="3000" b="1">
                <a:solidFill>
                  <a:srgbClr val="203A58"/>
                </a:solidFill>
                <a:latin typeface="DejaVu Sans"/>
              </a:defRPr>
            </a:pPr>
            <a:r>
              <a:t>Texnik sxema: asosiy bog‘lanishlar</a:t>
            </a:r>
          </a:p>
        </p:txBody>
      </p:sp>
      <p:cxnSp>
        <p:nvCxnSpPr>
          <p:cNvPr id="5" name="Connector 4"/>
          <p:cNvCxnSpPr/>
          <p:nvPr/>
        </p:nvCxnSpPr>
        <p:spPr>
          <a:xfrm>
            <a:off x="1463040" y="1536192"/>
            <a:ext cx="10058400" cy="0"/>
          </a:xfrm>
          <a:prstGeom prst="line">
            <a:avLst/>
          </a:prstGeom>
          <a:ln w="12700">
            <a:solidFill>
              <a:srgbClr val="A4DCE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09 / 13</a:t>
            </a:r>
          </a:p>
        </p:txBody>
      </p:sp>
      <p:cxnSp>
        <p:nvCxnSpPr>
          <p:cNvPr id="8" name="Connector 7"/>
          <p:cNvCxnSpPr/>
          <p:nvPr/>
        </p:nvCxnSpPr>
        <p:spPr>
          <a:xfrm>
            <a:off x="3474720" y="2651760"/>
            <a:ext cx="777240" cy="0"/>
          </a:xfrm>
          <a:prstGeom prst="line">
            <a:avLst/>
          </a:prstGeom>
          <a:ln w="25400">
            <a:solidFill>
              <a:srgbClr val="2566C9"/>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651760"/>
            <a:ext cx="777240" cy="0"/>
          </a:xfrm>
          <a:prstGeom prst="line">
            <a:avLst/>
          </a:prstGeom>
          <a:ln w="25400">
            <a:solidFill>
              <a:srgbClr val="2566C9"/>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3749039" y="3136391"/>
            <a:ext cx="5394961" cy="1115569"/>
          </a:xfrm>
          <a:prstGeom prst="line">
            <a:avLst/>
          </a:prstGeom>
          <a:ln w="25400">
            <a:solidFill>
              <a:srgbClr val="2566C9"/>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366760" y="3136391"/>
            <a:ext cx="777240" cy="1115569"/>
          </a:xfrm>
          <a:prstGeom prst="line">
            <a:avLst/>
          </a:prstGeom>
          <a:ln w="25400">
            <a:solidFill>
              <a:srgbClr val="2566C9"/>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1520" y="2194560"/>
            <a:ext cx="2743200" cy="941832"/>
          </a:xfrm>
          <a:prstGeom prst="roundRect">
            <a:avLst>
              <a:gd name="adj" fmla="val 8000"/>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2331720"/>
            <a:ext cx="2523744" cy="685800"/>
          </a:xfrm>
          <a:prstGeom prst="rect">
            <a:avLst/>
          </a:prstGeom>
          <a:noFill/>
        </p:spPr>
        <p:txBody>
          <a:bodyPr wrap="square" lIns="27432" rIns="27432" tIns="18288" bIns="0">
            <a:spAutoFit/>
          </a:bodyPr>
          <a:lstStyle/>
          <a:p>
            <a:pPr>
              <a:spcAft>
                <a:spcPts val="800"/>
              </a:spcAft>
              <a:defRPr sz="1700" b="1">
                <a:solidFill>
                  <a:srgbClr val="FFFFFF"/>
                </a:solidFill>
                <a:latin typeface="DejaVu Sans"/>
              </a:defRPr>
            </a:pPr>
            <a:r>
              <a:t>Dockerfile</a:t>
            </a:r>
          </a:p>
        </p:txBody>
      </p:sp>
      <p:sp>
        <p:nvSpPr>
          <p:cNvPr id="14" name="Rounded Rectangle 13"/>
          <p:cNvSpPr/>
          <p:nvPr/>
        </p:nvSpPr>
        <p:spPr>
          <a:xfrm>
            <a:off x="4251960" y="2194560"/>
            <a:ext cx="2743200" cy="94183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61688" y="2331720"/>
            <a:ext cx="2523744" cy="685800"/>
          </a:xfrm>
          <a:prstGeom prst="rect">
            <a:avLst/>
          </a:prstGeom>
          <a:noFill/>
        </p:spPr>
        <p:txBody>
          <a:bodyPr wrap="square" lIns="27432" rIns="27432" tIns="18288" bIns="0">
            <a:spAutoFit/>
          </a:bodyPr>
          <a:lstStyle/>
          <a:p>
            <a:pPr>
              <a:spcAft>
                <a:spcPts val="800"/>
              </a:spcAft>
              <a:defRPr sz="1700" b="1">
                <a:solidFill>
                  <a:srgbClr val="203A58"/>
                </a:solidFill>
                <a:latin typeface="DejaVu Sans"/>
              </a:defRPr>
            </a:pPr>
            <a:r>
              <a:t>Image yaratish</a:t>
            </a:r>
          </a:p>
        </p:txBody>
      </p:sp>
      <p:sp>
        <p:nvSpPr>
          <p:cNvPr id="16" name="Rounded Rectangle 15"/>
          <p:cNvSpPr/>
          <p:nvPr/>
        </p:nvSpPr>
        <p:spPr>
          <a:xfrm>
            <a:off x="7772400" y="2194560"/>
            <a:ext cx="2743200" cy="94183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82127" y="2331720"/>
            <a:ext cx="2523744" cy="685800"/>
          </a:xfrm>
          <a:prstGeom prst="rect">
            <a:avLst/>
          </a:prstGeom>
          <a:noFill/>
        </p:spPr>
        <p:txBody>
          <a:bodyPr wrap="square" lIns="27432" rIns="27432" tIns="18288" bIns="0">
            <a:spAutoFit/>
          </a:bodyPr>
          <a:lstStyle/>
          <a:p>
            <a:pPr>
              <a:spcAft>
                <a:spcPts val="800"/>
              </a:spcAft>
              <a:defRPr sz="1700" b="1">
                <a:solidFill>
                  <a:srgbClr val="203A58"/>
                </a:solidFill>
                <a:latin typeface="DejaVu Sans"/>
              </a:defRPr>
            </a:pPr>
            <a:r>
              <a:t>Registry</a:t>
            </a:r>
          </a:p>
        </p:txBody>
      </p:sp>
      <p:sp>
        <p:nvSpPr>
          <p:cNvPr id="18" name="Rounded Rectangle 17"/>
          <p:cNvSpPr/>
          <p:nvPr/>
        </p:nvSpPr>
        <p:spPr>
          <a:xfrm>
            <a:off x="2377440" y="4251960"/>
            <a:ext cx="2743200" cy="94183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87168" y="4389120"/>
            <a:ext cx="2523744" cy="685800"/>
          </a:xfrm>
          <a:prstGeom prst="rect">
            <a:avLst/>
          </a:prstGeom>
          <a:noFill/>
        </p:spPr>
        <p:txBody>
          <a:bodyPr wrap="square" lIns="27432" rIns="27432" tIns="18288" bIns="0">
            <a:spAutoFit/>
          </a:bodyPr>
          <a:lstStyle/>
          <a:p>
            <a:pPr>
              <a:spcAft>
                <a:spcPts val="800"/>
              </a:spcAft>
              <a:defRPr sz="1700" b="1">
                <a:solidFill>
                  <a:srgbClr val="203A58"/>
                </a:solidFill>
                <a:latin typeface="DejaVu Sans"/>
              </a:defRPr>
            </a:pPr>
            <a:r>
              <a:t>Container A</a:t>
            </a:r>
          </a:p>
        </p:txBody>
      </p:sp>
      <p:sp>
        <p:nvSpPr>
          <p:cNvPr id="20" name="Rounded Rectangle 19"/>
          <p:cNvSpPr/>
          <p:nvPr/>
        </p:nvSpPr>
        <p:spPr>
          <a:xfrm>
            <a:off x="6995160" y="4251960"/>
            <a:ext cx="2743200" cy="94183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04888" y="4389120"/>
            <a:ext cx="2523744" cy="685800"/>
          </a:xfrm>
          <a:prstGeom prst="rect">
            <a:avLst/>
          </a:prstGeom>
          <a:noFill/>
        </p:spPr>
        <p:txBody>
          <a:bodyPr wrap="square" lIns="27432" rIns="27432" tIns="18288" bIns="0">
            <a:spAutoFit/>
          </a:bodyPr>
          <a:lstStyle/>
          <a:p>
            <a:pPr>
              <a:spcAft>
                <a:spcPts val="800"/>
              </a:spcAft>
              <a:defRPr sz="1700" b="1">
                <a:solidFill>
                  <a:srgbClr val="203A58"/>
                </a:solidFill>
                <a:latin typeface="DejaVu Sans"/>
              </a:defRPr>
            </a:pPr>
            <a:r>
              <a:t>Container B</a:t>
            </a:r>
          </a:p>
        </p:txBody>
      </p:sp>
      <p:sp>
        <p:nvSpPr>
          <p:cNvPr id="22" name="TextBox 21"/>
          <p:cNvSpPr txBox="1"/>
          <p:nvPr/>
        </p:nvSpPr>
        <p:spPr>
          <a:xfrm>
            <a:off x="731520" y="6080760"/>
            <a:ext cx="10698480" cy="274320"/>
          </a:xfrm>
          <a:prstGeom prst="rect">
            <a:avLst/>
          </a:prstGeom>
          <a:noFill/>
        </p:spPr>
        <p:txBody>
          <a:bodyPr wrap="square" lIns="27432" rIns="27432" tIns="18288" bIns="0">
            <a:spAutoFit/>
          </a:bodyPr>
          <a:lstStyle/>
          <a:p>
            <a:pPr>
              <a:spcAft>
                <a:spcPts val="800"/>
              </a:spcAft>
              <a:defRPr sz="1100" b="0">
                <a:solidFill>
                  <a:srgbClr val="203A58"/>
                </a:solidFill>
                <a:latin typeface="DejaVu Sans"/>
              </a:defRPr>
            </a:pPr>
            <a:r>
              <a:t>Soddalashtirilgan sxema: o‘qlar — asosiy murojaat yoki boshqaruv bog‘lanishi.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365760"/>
            <a:ext cx="393192" cy="393192"/>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7552" y="758952"/>
            <a:ext cx="210312" cy="210312"/>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44752" y="374904"/>
            <a:ext cx="10030968" cy="987552"/>
          </a:xfrm>
          <a:prstGeom prst="rect">
            <a:avLst/>
          </a:prstGeom>
          <a:noFill/>
        </p:spPr>
        <p:txBody>
          <a:bodyPr wrap="square" lIns="27432" rIns="27432" tIns="18288" bIns="0">
            <a:spAutoFit/>
          </a:bodyPr>
          <a:lstStyle/>
          <a:p>
            <a:pPr>
              <a:spcAft>
                <a:spcPts val="800"/>
              </a:spcAft>
              <a:defRPr sz="3000" b="1">
                <a:solidFill>
                  <a:srgbClr val="203A58"/>
                </a:solidFill>
                <a:latin typeface="DejaVu Sans"/>
              </a:defRPr>
            </a:pPr>
            <a:r>
              <a:t>Universitet misoli</a:t>
            </a:r>
          </a:p>
        </p:txBody>
      </p:sp>
      <p:cxnSp>
        <p:nvCxnSpPr>
          <p:cNvPr id="5" name="Connector 4"/>
          <p:cNvCxnSpPr/>
          <p:nvPr/>
        </p:nvCxnSpPr>
        <p:spPr>
          <a:xfrm>
            <a:off x="1463040" y="1536192"/>
            <a:ext cx="10058400" cy="0"/>
          </a:xfrm>
          <a:prstGeom prst="line">
            <a:avLst/>
          </a:prstGeom>
          <a:ln w="12700">
            <a:solidFill>
              <a:srgbClr val="A4DCE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10 / 13</a:t>
            </a:r>
          </a:p>
        </p:txBody>
      </p:sp>
      <p:sp>
        <p:nvSpPr>
          <p:cNvPr id="8" name="TextBox 7"/>
          <p:cNvSpPr txBox="1"/>
          <p:nvPr/>
        </p:nvSpPr>
        <p:spPr>
          <a:xfrm>
            <a:off x="777240" y="1965960"/>
            <a:ext cx="10561320" cy="1170432"/>
          </a:xfrm>
          <a:prstGeom prst="rect">
            <a:avLst/>
          </a:prstGeom>
          <a:noFill/>
        </p:spPr>
        <p:txBody>
          <a:bodyPr wrap="square" lIns="27432" rIns="27432" tIns="18288" bIns="0">
            <a:spAutoFit/>
          </a:bodyPr>
          <a:lstStyle/>
          <a:p>
            <a:pPr>
              <a:spcAft>
                <a:spcPts val="800"/>
              </a:spcAft>
              <a:defRPr sz="2300" b="0">
                <a:solidFill>
                  <a:srgbClr val="203A58"/>
                </a:solidFill>
                <a:latin typeface="DejaVu Sans"/>
              </a:defRPr>
            </a:pPr>
            <a:r>
              <a:t>Portal dasturchining kompyuterida ishlaydi, serverda esa kutubxona versiyasi sabab xato beradi. Konteynerlash ilova muhitini bir xil paketda yetkazish orqali bunday farqlarni kamaytiradi.</a:t>
            </a:r>
          </a:p>
        </p:txBody>
      </p:sp>
      <p:sp>
        <p:nvSpPr>
          <p:cNvPr id="9" name="Rounded Rectangle 8"/>
          <p:cNvSpPr/>
          <p:nvPr/>
        </p:nvSpPr>
        <p:spPr>
          <a:xfrm>
            <a:off x="731520" y="3749039"/>
            <a:ext cx="2482596" cy="1307592"/>
          </a:xfrm>
          <a:prstGeom prst="roundRect">
            <a:avLst>
              <a:gd name="adj" fmla="val 8000"/>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977639"/>
            <a:ext cx="2244852" cy="987552"/>
          </a:xfrm>
          <a:prstGeom prst="rect">
            <a:avLst/>
          </a:prstGeom>
          <a:noFill/>
        </p:spPr>
        <p:txBody>
          <a:bodyPr wrap="square" lIns="27432" rIns="27432" tIns="18288" bIns="0">
            <a:spAutoFit/>
          </a:bodyPr>
          <a:lstStyle/>
          <a:p>
            <a:pPr algn="ctr">
              <a:spcAft>
                <a:spcPts val="800"/>
              </a:spcAft>
              <a:defRPr sz="2000" b="1">
                <a:solidFill>
                  <a:srgbClr val="FFFFFF"/>
                </a:solidFill>
                <a:latin typeface="DejaVu Sans"/>
              </a:defRPr>
            </a:pPr>
            <a:r>
              <a:t>Dasturchi</a:t>
            </a:r>
          </a:p>
          <a:p>
            <a:pPr algn="ctr">
              <a:spcAft>
                <a:spcPts val="800"/>
              </a:spcAft>
              <a:defRPr sz="2000" b="1">
                <a:solidFill>
                  <a:srgbClr val="FFFFFF"/>
                </a:solidFill>
                <a:latin typeface="DejaVu Sans"/>
              </a:defRPr>
            </a:pPr>
            <a:r>
              <a:t>kompyuteri</a:t>
            </a:r>
          </a:p>
        </p:txBody>
      </p:sp>
      <p:cxnSp>
        <p:nvCxnSpPr>
          <p:cNvPr id="11" name="Connector 10"/>
          <p:cNvCxnSpPr/>
          <p:nvPr/>
        </p:nvCxnSpPr>
        <p:spPr>
          <a:xfrm>
            <a:off x="3232403" y="4402836"/>
            <a:ext cx="210313" cy="0"/>
          </a:xfrm>
          <a:prstGeom prst="line">
            <a:avLst/>
          </a:prstGeom>
          <a:ln w="25400">
            <a:solidFill>
              <a:srgbClr val="2566C9"/>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70148" y="3749039"/>
            <a:ext cx="2482596" cy="130759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89020" y="3977639"/>
            <a:ext cx="2244852" cy="987552"/>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Bitta image</a:t>
            </a:r>
          </a:p>
        </p:txBody>
      </p:sp>
      <p:cxnSp>
        <p:nvCxnSpPr>
          <p:cNvPr id="14" name="Connector 13"/>
          <p:cNvCxnSpPr/>
          <p:nvPr/>
        </p:nvCxnSpPr>
        <p:spPr>
          <a:xfrm>
            <a:off x="5971031" y="4402836"/>
            <a:ext cx="210313" cy="0"/>
          </a:xfrm>
          <a:prstGeom prst="line">
            <a:avLst/>
          </a:prstGeom>
          <a:ln w="25400">
            <a:solidFill>
              <a:srgbClr val="2566C9"/>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08776" y="3749039"/>
            <a:ext cx="2482596" cy="130759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3977639"/>
            <a:ext cx="2244852" cy="987552"/>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Test muhiti</a:t>
            </a:r>
          </a:p>
        </p:txBody>
      </p:sp>
      <p:cxnSp>
        <p:nvCxnSpPr>
          <p:cNvPr id="17" name="Connector 16"/>
          <p:cNvCxnSpPr/>
          <p:nvPr/>
        </p:nvCxnSpPr>
        <p:spPr>
          <a:xfrm>
            <a:off x="8709659" y="4402836"/>
            <a:ext cx="210313" cy="0"/>
          </a:xfrm>
          <a:prstGeom prst="line">
            <a:avLst/>
          </a:prstGeom>
          <a:ln w="25400">
            <a:solidFill>
              <a:srgbClr val="2566C9"/>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947404" y="3749039"/>
            <a:ext cx="2482596" cy="130759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66276" y="3977639"/>
            <a:ext cx="2244852" cy="987552"/>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Server</a:t>
            </a:r>
          </a:p>
        </p:txBody>
      </p:sp>
      <p:sp>
        <p:nvSpPr>
          <p:cNvPr id="20" name="TextBox 19"/>
          <p:cNvSpPr txBox="1"/>
          <p:nvPr/>
        </p:nvSpPr>
        <p:spPr>
          <a:xfrm>
            <a:off x="822960" y="5669280"/>
            <a:ext cx="10424160" cy="457200"/>
          </a:xfrm>
          <a:prstGeom prst="rect">
            <a:avLst/>
          </a:prstGeom>
          <a:noFill/>
        </p:spPr>
        <p:txBody>
          <a:bodyPr wrap="square" lIns="27432" rIns="27432" tIns="18288" bIns="0">
            <a:spAutoFit/>
          </a:bodyPr>
          <a:lstStyle/>
          <a:p>
            <a:pPr>
              <a:spcAft>
                <a:spcPts val="800"/>
              </a:spcAft>
              <a:defRPr sz="2200" b="1">
                <a:solidFill>
                  <a:srgbClr val="13A6B4"/>
                </a:solidFill>
                <a:latin typeface="DejaVu Sans"/>
              </a:defRPr>
            </a:pPr>
            <a:r>
              <a:t>Bir xil paket muhitlar orasidagi farqlarni kamaytiradi.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365760"/>
            <a:ext cx="393192" cy="393192"/>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7552" y="758952"/>
            <a:ext cx="210312" cy="210312"/>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44752" y="374904"/>
            <a:ext cx="10030968" cy="987552"/>
          </a:xfrm>
          <a:prstGeom prst="rect">
            <a:avLst/>
          </a:prstGeom>
          <a:noFill/>
        </p:spPr>
        <p:txBody>
          <a:bodyPr wrap="square" lIns="27432" rIns="27432" tIns="18288" bIns="0">
            <a:spAutoFit/>
          </a:bodyPr>
          <a:lstStyle/>
          <a:p>
            <a:pPr>
              <a:spcAft>
                <a:spcPts val="800"/>
              </a:spcAft>
              <a:defRPr sz="3000" b="1">
                <a:solidFill>
                  <a:srgbClr val="203A58"/>
                </a:solidFill>
                <a:latin typeface="DejaVu Sans"/>
              </a:defRPr>
            </a:pPr>
            <a:r>
              <a:t>Keng tarqalgan noto‘g‘ri tushunchalar</a:t>
            </a:r>
          </a:p>
        </p:txBody>
      </p:sp>
      <p:cxnSp>
        <p:nvCxnSpPr>
          <p:cNvPr id="5" name="Connector 4"/>
          <p:cNvCxnSpPr/>
          <p:nvPr/>
        </p:nvCxnSpPr>
        <p:spPr>
          <a:xfrm>
            <a:off x="1463040" y="1536192"/>
            <a:ext cx="10058400" cy="0"/>
          </a:xfrm>
          <a:prstGeom prst="line">
            <a:avLst/>
          </a:prstGeom>
          <a:ln w="12700">
            <a:solidFill>
              <a:srgbClr val="A4DCE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11 / 13</a:t>
            </a:r>
          </a:p>
        </p:txBody>
      </p:sp>
      <p:sp>
        <p:nvSpPr>
          <p:cNvPr id="8" name="Rounded Rectangle 7"/>
          <p:cNvSpPr/>
          <p:nvPr/>
        </p:nvSpPr>
        <p:spPr>
          <a:xfrm>
            <a:off x="758952" y="2002536"/>
            <a:ext cx="10652760" cy="117043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167128"/>
            <a:ext cx="502920" cy="457200"/>
          </a:xfrm>
          <a:prstGeom prst="rect">
            <a:avLst/>
          </a:prstGeom>
          <a:noFill/>
        </p:spPr>
        <p:txBody>
          <a:bodyPr wrap="square" lIns="27432" rIns="27432" tIns="18288" bIns="0">
            <a:spAutoFit/>
          </a:bodyPr>
          <a:lstStyle/>
          <a:p>
            <a:pPr>
              <a:spcAft>
                <a:spcPts val="800"/>
              </a:spcAft>
              <a:defRPr sz="1700" b="1">
                <a:solidFill>
                  <a:srgbClr val="2566C9"/>
                </a:solidFill>
                <a:latin typeface="DejaVu Sans"/>
              </a:defRPr>
            </a:pPr>
            <a:r>
              <a:t>01</a:t>
            </a:r>
          </a:p>
        </p:txBody>
      </p:sp>
      <p:sp>
        <p:nvSpPr>
          <p:cNvPr id="10" name="TextBox 9"/>
          <p:cNvSpPr txBox="1"/>
          <p:nvPr/>
        </p:nvSpPr>
        <p:spPr>
          <a:xfrm>
            <a:off x="1719072" y="2148840"/>
            <a:ext cx="9372600" cy="914400"/>
          </a:xfrm>
          <a:prstGeom prst="rect">
            <a:avLst/>
          </a:prstGeom>
          <a:noFill/>
        </p:spPr>
        <p:txBody>
          <a:bodyPr wrap="square" lIns="27432" rIns="27432" tIns="18288" bIns="0">
            <a:spAutoFit/>
          </a:bodyPr>
          <a:lstStyle/>
          <a:p>
            <a:pPr>
              <a:spcAft>
                <a:spcPts val="800"/>
              </a:spcAft>
              <a:defRPr sz="2100" b="0">
                <a:solidFill>
                  <a:srgbClr val="203A58"/>
                </a:solidFill>
                <a:latin typeface="DejaVu Sans"/>
              </a:defRPr>
            </a:pPr>
            <a:r>
              <a:t>Konteyner to‘liq mustaqil yadroga ega virtual mashina emas.</a:t>
            </a:r>
          </a:p>
        </p:txBody>
      </p:sp>
      <p:sp>
        <p:nvSpPr>
          <p:cNvPr id="11" name="Rounded Rectangle 10"/>
          <p:cNvSpPr/>
          <p:nvPr/>
        </p:nvSpPr>
        <p:spPr>
          <a:xfrm>
            <a:off x="758952" y="3401568"/>
            <a:ext cx="10652760" cy="117043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3566160"/>
            <a:ext cx="502920" cy="457200"/>
          </a:xfrm>
          <a:prstGeom prst="rect">
            <a:avLst/>
          </a:prstGeom>
          <a:noFill/>
        </p:spPr>
        <p:txBody>
          <a:bodyPr wrap="square" lIns="27432" rIns="27432" tIns="18288" bIns="0">
            <a:spAutoFit/>
          </a:bodyPr>
          <a:lstStyle/>
          <a:p>
            <a:pPr>
              <a:spcAft>
                <a:spcPts val="800"/>
              </a:spcAft>
              <a:defRPr sz="1700" b="1">
                <a:solidFill>
                  <a:srgbClr val="2566C9"/>
                </a:solidFill>
                <a:latin typeface="DejaVu Sans"/>
              </a:defRPr>
            </a:pPr>
            <a:r>
              <a:t>02</a:t>
            </a:r>
          </a:p>
        </p:txBody>
      </p:sp>
      <p:sp>
        <p:nvSpPr>
          <p:cNvPr id="13" name="TextBox 12"/>
          <p:cNvSpPr txBox="1"/>
          <p:nvPr/>
        </p:nvSpPr>
        <p:spPr>
          <a:xfrm>
            <a:off x="1719072" y="3547872"/>
            <a:ext cx="9372600" cy="914400"/>
          </a:xfrm>
          <a:prstGeom prst="rect">
            <a:avLst/>
          </a:prstGeom>
          <a:noFill/>
        </p:spPr>
        <p:txBody>
          <a:bodyPr wrap="square" lIns="27432" rIns="27432" tIns="18288" bIns="0">
            <a:spAutoFit/>
          </a:bodyPr>
          <a:lstStyle/>
          <a:p>
            <a:pPr>
              <a:spcAft>
                <a:spcPts val="800"/>
              </a:spcAft>
              <a:defRPr sz="2100" b="0">
                <a:solidFill>
                  <a:srgbClr val="203A58"/>
                </a:solidFill>
                <a:latin typeface="DejaVu Sans"/>
              </a:defRPr>
            </a:pPr>
            <a:r>
              <a:t>Versiyasiz latest tegiga tayanish takrorlanuvchanlikni pasaytiradi; muhim muhitda versiya yoki digest belgilanadi.</a:t>
            </a:r>
          </a:p>
        </p:txBody>
      </p:sp>
      <p:sp>
        <p:nvSpPr>
          <p:cNvPr id="14" name="Rounded Rectangle 13"/>
          <p:cNvSpPr/>
          <p:nvPr/>
        </p:nvSpPr>
        <p:spPr>
          <a:xfrm>
            <a:off x="758952" y="4800600"/>
            <a:ext cx="10652760" cy="1170432"/>
          </a:xfrm>
          <a:prstGeom prst="roundRect">
            <a:avLst>
              <a:gd name="adj" fmla="val 8000"/>
            </a:avLst>
          </a:prstGeom>
          <a:solidFill>
            <a:srgbClr val="EC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965192"/>
            <a:ext cx="502920" cy="457200"/>
          </a:xfrm>
          <a:prstGeom prst="rect">
            <a:avLst/>
          </a:prstGeom>
          <a:noFill/>
        </p:spPr>
        <p:txBody>
          <a:bodyPr wrap="square" lIns="27432" rIns="27432" tIns="18288" bIns="0">
            <a:spAutoFit/>
          </a:bodyPr>
          <a:lstStyle/>
          <a:p>
            <a:pPr>
              <a:spcAft>
                <a:spcPts val="800"/>
              </a:spcAft>
              <a:defRPr sz="1700" b="1">
                <a:solidFill>
                  <a:srgbClr val="2566C9"/>
                </a:solidFill>
                <a:latin typeface="DejaVu Sans"/>
              </a:defRPr>
            </a:pPr>
            <a:r>
              <a:t>03</a:t>
            </a:r>
          </a:p>
        </p:txBody>
      </p:sp>
      <p:sp>
        <p:nvSpPr>
          <p:cNvPr id="16" name="TextBox 15"/>
          <p:cNvSpPr txBox="1"/>
          <p:nvPr/>
        </p:nvSpPr>
        <p:spPr>
          <a:xfrm>
            <a:off x="1719072" y="4946904"/>
            <a:ext cx="9372600" cy="914400"/>
          </a:xfrm>
          <a:prstGeom prst="rect">
            <a:avLst/>
          </a:prstGeom>
          <a:noFill/>
        </p:spPr>
        <p:txBody>
          <a:bodyPr wrap="square" lIns="27432" rIns="27432" tIns="18288" bIns="0">
            <a:spAutoFit/>
          </a:bodyPr>
          <a:lstStyle/>
          <a:p>
            <a:pPr>
              <a:spcAft>
                <a:spcPts val="800"/>
              </a:spcAft>
              <a:defRPr sz="2100" b="0">
                <a:solidFill>
                  <a:srgbClr val="203A58"/>
                </a:solidFill>
                <a:latin typeface="DejaVu Sans"/>
              </a:defRPr>
            </a:pPr>
            <a:r>
              <a:t>Konteynerlashning o‘zi ilovani avtomatik xavfsiz yoki istalgan operatsion tizimda mos qilmaydi.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365760"/>
            <a:ext cx="393192" cy="393192"/>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7552" y="758952"/>
            <a:ext cx="210312" cy="210312"/>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44752" y="374904"/>
            <a:ext cx="10030968" cy="987552"/>
          </a:xfrm>
          <a:prstGeom prst="rect">
            <a:avLst/>
          </a:prstGeom>
          <a:noFill/>
        </p:spPr>
        <p:txBody>
          <a:bodyPr wrap="square" lIns="27432" rIns="27432" tIns="18288" bIns="0">
            <a:spAutoFit/>
          </a:bodyPr>
          <a:lstStyle/>
          <a:p>
            <a:pPr>
              <a:spcAft>
                <a:spcPts val="800"/>
              </a:spcAft>
              <a:defRPr sz="3000" b="1">
                <a:solidFill>
                  <a:srgbClr val="203A58"/>
                </a:solidFill>
                <a:latin typeface="DejaVu Sans"/>
              </a:defRPr>
            </a:pPr>
            <a:r>
              <a:t>Asosiy xulosalar</a:t>
            </a:r>
          </a:p>
        </p:txBody>
      </p:sp>
      <p:cxnSp>
        <p:nvCxnSpPr>
          <p:cNvPr id="5" name="Connector 4"/>
          <p:cNvCxnSpPr/>
          <p:nvPr/>
        </p:nvCxnSpPr>
        <p:spPr>
          <a:xfrm>
            <a:off x="1463040" y="1536192"/>
            <a:ext cx="10058400" cy="0"/>
          </a:xfrm>
          <a:prstGeom prst="line">
            <a:avLst/>
          </a:prstGeom>
          <a:ln w="12700">
            <a:solidFill>
              <a:srgbClr val="A4DCE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12 / 13</a:t>
            </a:r>
          </a:p>
        </p:txBody>
      </p:sp>
      <p:sp>
        <p:nvSpPr>
          <p:cNvPr id="8" name="Rectangle 7"/>
          <p:cNvSpPr/>
          <p:nvPr/>
        </p:nvSpPr>
        <p:spPr>
          <a:xfrm>
            <a:off x="777240" y="2148840"/>
            <a:ext cx="566928" cy="566928"/>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276856"/>
            <a:ext cx="301752" cy="310896"/>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1</a:t>
            </a:r>
          </a:p>
        </p:txBody>
      </p:sp>
      <p:sp>
        <p:nvSpPr>
          <p:cNvPr id="10" name="TextBox 9"/>
          <p:cNvSpPr txBox="1"/>
          <p:nvPr/>
        </p:nvSpPr>
        <p:spPr>
          <a:xfrm>
            <a:off x="1673352" y="2130552"/>
            <a:ext cx="9628632" cy="1024128"/>
          </a:xfrm>
          <a:prstGeom prst="rect">
            <a:avLst/>
          </a:prstGeom>
          <a:noFill/>
        </p:spPr>
        <p:txBody>
          <a:bodyPr wrap="square" lIns="27432" rIns="27432" tIns="18288" bIns="0">
            <a:spAutoFit/>
          </a:bodyPr>
          <a:lstStyle/>
          <a:p>
            <a:pPr>
              <a:spcAft>
                <a:spcPts val="800"/>
              </a:spcAft>
              <a:defRPr sz="2500" b="1">
                <a:solidFill>
                  <a:srgbClr val="203A58"/>
                </a:solidFill>
                <a:latin typeface="DejaVu Sans"/>
              </a:defRPr>
            </a:pPr>
            <a:r>
              <a:t>Image — andoza; container — ishlayotgan nusxa.</a:t>
            </a:r>
          </a:p>
        </p:txBody>
      </p:sp>
      <p:sp>
        <p:nvSpPr>
          <p:cNvPr id="11" name="Rectangle 10"/>
          <p:cNvSpPr/>
          <p:nvPr/>
        </p:nvSpPr>
        <p:spPr>
          <a:xfrm>
            <a:off x="777240" y="3493008"/>
            <a:ext cx="566928" cy="566928"/>
          </a:xfrm>
          <a:prstGeom prst="rect">
            <a:avLst/>
          </a:prstGeom>
          <a:solidFill>
            <a:srgbClr val="13A6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21024"/>
            <a:ext cx="301752" cy="310896"/>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2</a:t>
            </a:r>
          </a:p>
        </p:txBody>
      </p:sp>
      <p:sp>
        <p:nvSpPr>
          <p:cNvPr id="13" name="TextBox 12"/>
          <p:cNvSpPr txBox="1"/>
          <p:nvPr/>
        </p:nvSpPr>
        <p:spPr>
          <a:xfrm>
            <a:off x="1673352" y="3474720"/>
            <a:ext cx="9628632" cy="1024128"/>
          </a:xfrm>
          <a:prstGeom prst="rect">
            <a:avLst/>
          </a:prstGeom>
          <a:noFill/>
        </p:spPr>
        <p:txBody>
          <a:bodyPr wrap="square" lIns="27432" rIns="27432" tIns="18288" bIns="0">
            <a:spAutoFit/>
          </a:bodyPr>
          <a:lstStyle/>
          <a:p>
            <a:pPr>
              <a:spcAft>
                <a:spcPts val="800"/>
              </a:spcAft>
              <a:defRPr sz="2500" b="1">
                <a:solidFill>
                  <a:srgbClr val="203A58"/>
                </a:solidFill>
                <a:latin typeface="DejaVu Sans"/>
              </a:defRPr>
            </a:pPr>
            <a:r>
              <a:t>Dockerfile qurishni, registry aniq versiyani tarqatishni tashkil qiladi.</a:t>
            </a:r>
          </a:p>
        </p:txBody>
      </p:sp>
      <p:sp>
        <p:nvSpPr>
          <p:cNvPr id="14" name="Rectangle 13"/>
          <p:cNvSpPr/>
          <p:nvPr/>
        </p:nvSpPr>
        <p:spPr>
          <a:xfrm>
            <a:off x="777240" y="4837176"/>
            <a:ext cx="566928" cy="566928"/>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965192"/>
            <a:ext cx="301752" cy="310896"/>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3</a:t>
            </a:r>
          </a:p>
        </p:txBody>
      </p:sp>
      <p:sp>
        <p:nvSpPr>
          <p:cNvPr id="16" name="TextBox 15"/>
          <p:cNvSpPr txBox="1"/>
          <p:nvPr/>
        </p:nvSpPr>
        <p:spPr>
          <a:xfrm>
            <a:off x="1673352" y="4818888"/>
            <a:ext cx="9628632" cy="1024128"/>
          </a:xfrm>
          <a:prstGeom prst="rect">
            <a:avLst/>
          </a:prstGeom>
          <a:noFill/>
        </p:spPr>
        <p:txBody>
          <a:bodyPr wrap="square" lIns="27432" rIns="27432" tIns="18288" bIns="0">
            <a:spAutoFit/>
          </a:bodyPr>
          <a:lstStyle/>
          <a:p>
            <a:pPr>
              <a:spcAft>
                <a:spcPts val="800"/>
              </a:spcAft>
              <a:defRPr sz="2500" b="1">
                <a:solidFill>
                  <a:srgbClr val="203A58"/>
                </a:solidFill>
                <a:latin typeface="DejaVu Sans"/>
              </a:defRPr>
            </a:pPr>
            <a:r>
              <a:t>Konteyner host yadrosini ulashadi; xavfsizlik alohida sozlanadi.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548640"/>
            <a:ext cx="109728" cy="640080"/>
          </a:xfrm>
          <a:prstGeom prst="rect">
            <a:avLst/>
          </a:prstGeom>
          <a:solidFill>
            <a:srgbClr val="256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94360"/>
            <a:ext cx="10789920" cy="777240"/>
          </a:xfrm>
          <a:prstGeom prst="rect">
            <a:avLst/>
          </a:prstGeom>
          <a:noFill/>
        </p:spPr>
        <p:txBody>
          <a:bodyPr wrap="square" lIns="27432" rIns="27432" tIns="18288" bIns="0">
            <a:spAutoFit/>
          </a:bodyPr>
          <a:lstStyle/>
          <a:p>
            <a:pPr>
              <a:spcAft>
                <a:spcPts val="800"/>
              </a:spcAft>
              <a:defRPr sz="2900" b="1">
                <a:solidFill>
                  <a:srgbClr val="203A58"/>
                </a:solidFill>
                <a:latin typeface="DejaVu Sans"/>
              </a:defRPr>
            </a:pPr>
            <a:r>
              <a:t>Manbalar va rasm manbasi</a:t>
            </a:r>
          </a:p>
        </p:txBody>
      </p:sp>
      <p:sp>
        <p:nvSpPr>
          <p:cNvPr id="4" name="TextBox 3"/>
          <p:cNvSpPr txBox="1"/>
          <p:nvPr/>
        </p:nvSpPr>
        <p:spPr>
          <a:xfrm>
            <a:off x="731520" y="1600200"/>
            <a:ext cx="10789920" cy="594360"/>
          </a:xfrm>
          <a:prstGeom prst="rect">
            <a:avLst/>
          </a:prstGeom>
          <a:noFill/>
        </p:spPr>
        <p:txBody>
          <a:bodyPr wrap="square" lIns="27432" rIns="27432" tIns="18288" bIns="0">
            <a:spAutoFit/>
          </a:bodyPr>
          <a:lstStyle/>
          <a:p>
            <a:pPr>
              <a:spcAft>
                <a:spcPts val="800"/>
              </a:spcAft>
              <a:defRPr sz="1700" b="0">
                <a:solidFill>
                  <a:srgbClr val="203A58"/>
                </a:solidFill>
                <a:latin typeface="DejaVu Sans"/>
              </a:defRPr>
            </a:pPr>
            <a:r>
              <a:t>Asos: BTST206, 2027–2028 sillabusi. Rasmiy texnik hujjatlar:</a:t>
            </a:r>
          </a:p>
        </p:txBody>
      </p:sp>
      <p:sp>
        <p:nvSpPr>
          <p:cNvPr id="5" name="TextBox 4"/>
          <p:cNvSpPr txBox="1"/>
          <p:nvPr/>
        </p:nvSpPr>
        <p:spPr>
          <a:xfrm>
            <a:off x="777240" y="2286000"/>
            <a:ext cx="10652760" cy="365760"/>
          </a:xfrm>
          <a:prstGeom prst="rect">
            <a:avLst/>
          </a:prstGeom>
          <a:noFill/>
        </p:spPr>
        <p:txBody>
          <a:bodyPr wrap="square" lIns="27432" rIns="27432" tIns="18288" bIns="0">
            <a:spAutoFit/>
          </a:bodyPr>
          <a:lstStyle/>
          <a:p>
            <a:pPr>
              <a:spcAft>
                <a:spcPts val="800"/>
              </a:spcAft>
              <a:defRPr sz="1300" b="0">
                <a:solidFill>
                  <a:srgbClr val="2566C9"/>
                </a:solidFill>
                <a:latin typeface="DejaVu Sans"/>
              </a:defRPr>
            </a:pPr>
            <a:r>
              <a:t>https://docs.docker.com/get-started/docker-overview/</a:t>
            </a:r>
          </a:p>
        </p:txBody>
      </p:sp>
      <p:sp>
        <p:nvSpPr>
          <p:cNvPr id="6" name="TextBox 5"/>
          <p:cNvSpPr txBox="1"/>
          <p:nvPr/>
        </p:nvSpPr>
        <p:spPr>
          <a:xfrm>
            <a:off x="777240" y="2715768"/>
            <a:ext cx="10652760" cy="365760"/>
          </a:xfrm>
          <a:prstGeom prst="rect">
            <a:avLst/>
          </a:prstGeom>
          <a:noFill/>
        </p:spPr>
        <p:txBody>
          <a:bodyPr wrap="square" lIns="27432" rIns="27432" tIns="18288" bIns="0">
            <a:spAutoFit/>
          </a:bodyPr>
          <a:lstStyle/>
          <a:p>
            <a:pPr>
              <a:spcAft>
                <a:spcPts val="800"/>
              </a:spcAft>
              <a:defRPr sz="1300" b="0">
                <a:solidFill>
                  <a:srgbClr val="2566C9"/>
                </a:solidFill>
                <a:latin typeface="DejaVu Sans"/>
              </a:defRPr>
            </a:pPr>
            <a:r>
              <a:t>https://docs.docker.com/build/concepts/dockerfile/</a:t>
            </a:r>
          </a:p>
        </p:txBody>
      </p:sp>
      <p:sp>
        <p:nvSpPr>
          <p:cNvPr id="7" name="TextBox 6"/>
          <p:cNvSpPr txBox="1"/>
          <p:nvPr/>
        </p:nvSpPr>
        <p:spPr>
          <a:xfrm>
            <a:off x="777240" y="4251960"/>
            <a:ext cx="10652760" cy="365760"/>
          </a:xfrm>
          <a:prstGeom prst="rect">
            <a:avLst/>
          </a:prstGeom>
          <a:noFill/>
        </p:spPr>
        <p:txBody>
          <a:bodyPr wrap="square" lIns="27432" rIns="27432" tIns="18288" bIns="0">
            <a:spAutoFit/>
          </a:bodyPr>
          <a:lstStyle/>
          <a:p>
            <a:pPr>
              <a:spcAft>
                <a:spcPts val="800"/>
              </a:spcAft>
              <a:defRPr sz="1200" b="1">
                <a:solidFill>
                  <a:srgbClr val="2566C9"/>
                </a:solidFill>
                <a:latin typeface="DejaVu Sans"/>
              </a:defRPr>
            </a:pPr>
            <a:r>
              <a:t>INTERNET RASMI</a:t>
            </a:r>
          </a:p>
        </p:txBody>
      </p:sp>
      <p:sp>
        <p:nvSpPr>
          <p:cNvPr id="8" name="TextBox 7"/>
          <p:cNvSpPr txBox="1"/>
          <p:nvPr/>
        </p:nvSpPr>
        <p:spPr>
          <a:xfrm>
            <a:off x="777240" y="4663440"/>
            <a:ext cx="10652760" cy="576072"/>
          </a:xfrm>
          <a:prstGeom prst="rect">
            <a:avLst/>
          </a:prstGeom>
          <a:noFill/>
        </p:spPr>
        <p:txBody>
          <a:bodyPr wrap="square" lIns="27432" rIns="27432" tIns="18288" bIns="0">
            <a:spAutoFit/>
          </a:bodyPr>
          <a:lstStyle/>
          <a:p>
            <a:pPr>
              <a:spcAft>
                <a:spcPts val="800"/>
              </a:spcAft>
              <a:defRPr sz="1400" b="0">
                <a:solidFill>
                  <a:srgbClr val="203A58"/>
                </a:solidFill>
                <a:latin typeface="DejaVu Sans"/>
              </a:defRPr>
            </a:pPr>
            <a:r>
              <a:t>Docker Documentation</a:t>
            </a:r>
          </a:p>
        </p:txBody>
      </p:sp>
      <p:sp>
        <p:nvSpPr>
          <p:cNvPr id="9" name="TextBox 8"/>
          <p:cNvSpPr txBox="1"/>
          <p:nvPr/>
        </p:nvSpPr>
        <p:spPr>
          <a:xfrm>
            <a:off x="777240" y="5285232"/>
            <a:ext cx="10652760" cy="64008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https://raw.githubusercontent.com/docker/docs/main/content/get-started/images/docker-architecture.webp</a:t>
            </a:r>
          </a:p>
        </p:txBody>
      </p:sp>
      <p:sp>
        <p:nvSpPr>
          <p:cNvPr id="10" name="TextBox 9"/>
          <p:cNvSpPr txBox="1"/>
          <p:nvPr/>
        </p:nvSpPr>
        <p:spPr>
          <a:xfrm>
            <a:off x="777240" y="6035040"/>
            <a:ext cx="10652760" cy="320040"/>
          </a:xfrm>
          <a:prstGeom prst="rect">
            <a:avLst/>
          </a:prstGeom>
          <a:noFill/>
        </p:spPr>
        <p:txBody>
          <a:bodyPr wrap="square" lIns="27432" rIns="27432" tIns="18288" bIns="0">
            <a:spAutoFit/>
          </a:bodyPr>
          <a:lstStyle/>
          <a:p>
            <a:pPr>
              <a:spcAft>
                <a:spcPts val="800"/>
              </a:spcAft>
              <a:defRPr sz="1100" b="0">
                <a:solidFill>
                  <a:srgbClr val="203A58"/>
                </a:solidFill>
                <a:latin typeface="DejaVu Sans"/>
              </a:defRPr>
            </a:pPr>
            <a:r>
              <a:t>Barcha rasm manbalari va foydalanish izohlari: ASSET_SOURCES.md</a:t>
            </a:r>
          </a:p>
        </p:txBody>
      </p:sp>
      <p:sp>
        <p:nvSpPr>
          <p:cNvPr id="11" name="TextBox 10"/>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203A58"/>
                </a:solidFill>
                <a:latin typeface="DejaVu Sans"/>
              </a:defRPr>
            </a:pPr>
            <a:r>
              <a:t>BTST206   /   M06   /   2027–2028</a:t>
            </a:r>
          </a:p>
        </p:txBody>
      </p:sp>
      <p:sp>
        <p:nvSpPr>
          <p:cNvPr id="12" name="TextBox 11"/>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203A58"/>
                </a:solidFill>
                <a:latin typeface="DejaVu Sans"/>
              </a:defRPr>
            </a:pPr>
            <a: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