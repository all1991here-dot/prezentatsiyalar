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«Monitoring, observability va optimallashtirish» mavzusiga bag‘ishlanadi. Mavzuni murakkab atamalardan emas, kundalik ehtiyojdan boshlaymiz. Portal ochiladi, lekin baholar sahifasi sekin ishlaydi. Faqat CPU grafigi yetarli emas: so‘rovning qaysi bosqichi kechikayotganini va bu foydalanuvchiga qanday ta’sir qilayotganini topish kerak.</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monitoring va observability tushuntiriladi. 2-bo‘limda metrics, logs va traces tushuntiriladi. 3-bo‘limda xizmat sifati va percentillar tushuntiriladi. 4-bo‘limda alerting va hodisaga javob tushuntiriladi. 5-bo‘limda auto scaling va unumdorlik tushuntiriladi. 6-bo‘limda xarajatni optimallashtirish va finops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oldindan tanlangan ko‘rsatkichlar va shartlarni kuzatadi. Observability tashqi signallar orqali tizimning ichki holatini tushunish imkoniyatidir. Murakkab tizimda yangi savollarga javob berish uchun signallar bog‘langan bo‘lishi kerak.</a:t>
            </a:r>
          </a:p>
          <a:p/>
          <a:p>
            <a:r>
              <a:t>Ilova tegishli metrika, log va trace ma’lumotlarini chiqaradi. Ular vaqt, xizmat va so‘rov identifikatori orqali bog‘lanadi. Tahlil faqat chiroyli dashboard bilan cheklanmaydi.</a:t>
            </a:r>
          </a:p>
          <a:p/>
          <a:p>
            <a:r>
              <a:t>Universitet misolida buni quyidagicha tasavvur qilamiz. CPU past bo‘lsa ham baza kutishi sabab javob sekinlashganini trace ko‘rsatishi mumkin. Bu misolda texnik atama real vazifa bilan bog‘lanadi: resursning nomini emas, nima uchun tanlanganini tushunish muhim.</a:t>
            </a:r>
          </a:p>
          <a:p/>
          <a:p>
            <a:r>
              <a:t>E’tibor beradigan chegara ham bor. Ko‘p ma’lumot yig‘ishning o‘zi tizimni kuzatiladigan qilmaydi; ma’lumot sifati va kontekst zarur.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Metrika vaqt bo‘yicha sonli o‘lchovdir. Log alohida hodisa haqidagi yozuvdir. Trace esa so‘rovning bir nechta xizmat bo‘ylab o‘tgan yo‘lini span lar orqali ko‘rsatadi. Ular bir-birini to‘ldiradi.</a:t>
            </a:r>
          </a:p>
          <a:p/>
          <a:p>
            <a:r>
              <a:t>Metrika muammo borligini ko‘rsatadi, trace kechikkan komponentni topadi, log esa ayni hodisaning tafsilotini beradi. Correlation ID ma’lumotlarni birlashtiradi.</a:t>
            </a:r>
          </a:p>
          <a:p/>
          <a:p>
            <a:r>
              <a:t>Universitet misolida buni quyidagicha tasavvur qilamiz. Xato foizi oshadi, trace baza span i cho‘zilganini ko‘rsatadi, log esa ulanish havzasi to‘lganini bildiradi. Bu misolda texnik atama real vazifa bilan bog‘lanadi: resursning nomini emas, nima uchun tanlanganini tushunish muhim.</a:t>
            </a:r>
          </a:p>
          <a:p/>
          <a:p>
            <a:r>
              <a:t>E’tibor beradigan chegara ham bor. Log ga parol, token yoki ortiqcha shaxsiy ma’lumot yozilmasligi kerak.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Javob vaqti, so‘rovlar soni, xatolar ulushi va resurs to‘yinganligi foydali asosiy signallardir. O‘rtacha vaqt ayrim foydalanuvchilardagi juda sekin javobni yashirishi mumkin. p95 kabi percentillar taqsimotni yaxshiroq ko‘rsatadi.</a:t>
            </a:r>
          </a:p>
          <a:p/>
          <a:p>
            <a:r>
              <a:t>p95 bir davrdagi o‘lchovlarning 95 foizi shu qiymatdan oshmaganini bildiradi. SLI kuzatiladigan sifat ko‘rsatkichi, SLO esa uning maqsad darajasidir.</a:t>
            </a:r>
          </a:p>
          <a:p/>
          <a:p>
            <a:r>
              <a:t>Universitet misolida buni quyidagicha tasavvur qilamiz. O‘rtacha javob 200 ms bo‘lsa ham p95 2 soniya chiqsa, ayrim foydalanuvchilar ancha ko‘p kutmoqda. Bu misolda texnik atama real vazifa bilan bog‘lanadi: resursning nomini emas, nima uchun tanlanganini tushunish muhim.</a:t>
            </a:r>
          </a:p>
          <a:p/>
          <a:p>
            <a:r>
              <a:t>E’tibor beradigan chegara ham bor. p95 vaqtning 95 foizida hamma uchun javob shu darajada degani emas; u tanlangan kuzatuvlar to‘plamiga tegishli.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 foydalanuvchi tajribasiga yoki yaqin xavfga bog‘langan bo‘lishi kerak. Haddan tashqari ko‘p foydasiz signal muhim ogohlantirishni e’tibordan chetda qoldiradi. Mas’ul shaxs va qisqa javob tartibi belgilanadi.</a:t>
            </a:r>
          </a:p>
          <a:p/>
          <a:p>
            <a:r>
              <a:t>Chegara va davomiylik tanlanadi, shovqin kamaytiriladi, ogohlantirish kerakli kanalga yuboriladi. Runbook tekshirish va xavfsiz tiklash qadamlarini bayon qiladi.</a:t>
            </a:r>
          </a:p>
          <a:p/>
          <a:p>
            <a:r>
              <a:t>Universitet misolida buni quyidagicha tasavvur qilamiz. Besh daqiqa davomida xato ulushi maqsaddan oshsa, navbatchi jamoa ogohlantiriladi. Bu misolda texnik atama real vazifa bilan bog‘lanadi: resursning nomini emas, nima uchun tanlanganini tushunish muhim.</a:t>
            </a:r>
          </a:p>
          <a:p/>
          <a:p>
            <a:r>
              <a:t>E’tibor beradigan chegara ham bor. Har bir qisqa CPU ko‘tarilishi favqulodda holat emas; xizmatga ta’siri baholanadi.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Avtomatik masshtablash yuklamaga qarab resursni o‘zgartiradi. Ammo sekin SQL so‘rovi yoki cheklangan tashqi API faqat ilova nusxalarini ko‘paytirish bilan tuzalmasligi mumkin. Kuzatuv qaysi resursni o‘zgartirish kerakligini ko‘rsatadi.</a:t>
            </a:r>
          </a:p>
          <a:p/>
          <a:p>
            <a:r>
              <a:t>Minimum va maksimum quvvat, nishon metrika va barqarorlashish davri belgilanadi. Sinovdan so‘ng javob vaqti va xarajat qayta o‘lchanadi.</a:t>
            </a:r>
          </a:p>
          <a:p/>
          <a:p>
            <a:r>
              <a:t>Universitet misolida buni quyidagicha tasavvur qilamiz. Navbat uzunlashsa ishchilar soni oshiriladi; baza ulanishi cheklansa avval havza va so‘rovlar optimallashtiriladi. Bu misolda texnik atama real vazifa bilan bog‘lanadi: resursning nomini emas, nima uchun tanlanganini tushunish muhim.</a:t>
            </a:r>
          </a:p>
          <a:p/>
          <a:p>
            <a:r>
              <a:t>E’tibor beradigan chegara ham bor. Noto‘g‘ri metrika ko‘paytirish va kamaytirishning beqaror tebranishiga sabab bo‘lishi mumkin.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Xarajat boshqaruvi texnik va moliyaviy hamkorlikni talab qiladi. Resurslarga loyiha va egani bildiruvchi teglar qo‘yiladi. Ishlatilmayotgan resurs, ortiqcha quvvat, qimmat saqlash sinfi va trafik aniqlanadi.</a:t>
            </a:r>
          </a:p>
          <a:p/>
          <a:p>
            <a:r>
              <a:t>Avval foydalanish o‘lchanadi, keyin rightsizing qilinadi. Test muhitiga jadval beriladi. Uzoq muddatli chegirma faqat barqaror ehtiyoj tasdiqlangandan keyin baholanadi.</a:t>
            </a:r>
          </a:p>
          <a:p/>
          <a:p>
            <a:r>
              <a:t>Universitet misolida buni quyidagicha tasavvur qilamiz. Tunda ishlamaydigan test serveri to‘xtatiladi, lekin kerakli diski va zaxirasi saqlanadi; qolgan sarf ham hisoblanadi. Bu misolda texnik atama real vazifa bilan bog‘lanadi: resursning nomini emas, nima uchun tanlanganini tushunish muhim.</a:t>
            </a:r>
          </a:p>
          <a:p/>
          <a:p>
            <a:r>
              <a:t>E’tibor beradigan chegara ham bor. Arzonlashtirish mavjudlik va xavfsizlik talablarini buzmasligi kerak; budjet alert i avtomatik xarajat chegarasi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«Ilova» bilan «Metrics / logs» o‘rtasida sxemada bog‘lanish ko‘rsatilgan. «Ilova» bilan «Traces» o‘rtasida sxemada bog‘lanish ko‘rsatilgan. «Metrics / logs» bilan «Tahlil / alert» o‘rtasida sxemada bog‘lanish ko‘rsatilgan. «Traces» bilan «Tahlil / alert» o‘rtasida sxemada bog‘lanish ko‘rsatilgan. «Tahlil / alert» bilan «Optimallashtirish» o‘rtasida sxemada bog‘lanish ko‘rsatilgan.</a:t>
            </a:r>
          </a:p>
          <a:p/>
          <a:p>
            <a:r>
              <a:t>Bu bog‘lanishlarni barcha xizmatlarda bir xil buyruq yoki bir xil fizik kabel deb tushunmaymiz. Ayrim o‘qlar bajarilish ketma-ketligini, ayrimlari resursni boshqarish yoki unga kirish aloqasini anglatadi. Metrika muammo borligini ko‘rsatadi, trace kechikkan komponentni topadi, log esa ayni hodisaning tafsilotini beradi. Correlation ID ma’lumotlarni birlashtiradi.</a:t>
            </a:r>
          </a:p>
          <a:p/>
          <a:p>
            <a:r>
              <a:t>Sxemaning asosiy foydasi mas’uliyatlarni ajratib ko‘rsatishdir. Navbat uzunlashsa ishchilar soni oshiriladi; baza ulanishi cheklansa avval havza va so‘rovlar optimallashtiriladi.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Portal ochiladi, lekin baholar sahifasi sekin ishlaydi. Faqat CPU grafigi yetarli emas: so‘rovning qaysi bosqichi kechikayotganini va bu foydalanuvchiga qanday ta’sir qilayotganini topish kerak.</a:t>
            </a:r>
          </a:p>
          <a:p/>
          <a:p>
            <a:r>
              <a:t>Avval ehtiyoj aniqlanadi: kim tizimdan foydalanadi, qaysi ma’lumot bilan ishlanadi va qanday natija kutiladi. CPU past bo‘lsa ham baza kutishi sabab javob sekinlashganini trace ko‘rsatishi mumkin. Keyin texnik qismlar shu talabga mos tanlanadi. O‘rtacha javob 200 ms bo‘lsa ham p95 2 soniya chiqsa, ayrim foydalanuvchilar ancha ko‘p kutmoqda.</a:t>
            </a:r>
          </a:p>
          <a:p/>
          <a:p>
            <a:r>
              <a:t>Ishlash jarayonida faqat muvaffaqiyatli holat emas, xato va cheklovlar ham hisobga olinadi. Har bir qisqa CPU ko‘tarilishi favqulodda holat emas; xizmatga ta’siri baholanadi. Shu sababli jamoa talabni, ruxsatni va nosozlikdagi xatti-harakatni oldindan belgilaydi. Tunda ishlamaydigan test serveri to‘xtatiladi, lekin kerakli diski va zaxirasi saqlanadi; qolgan sarf ham hisoblanadi.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Ko‘p ma’lumot yig‘ishning o‘zi tizimni kuzatiladigan qilmaydi; ma’lumot sifati va kontekst zarur. To‘g‘ri talqin quyidagicha: Monitoring oldindan tanlangan ko‘rsatkichlar va shartlarni kuzatadi. Observability tashqi signallar orqali tizimning ichki holatini tushunish imkoniyatidir. Murakkab tizimda yangi savollarga javob berish uchun signallar bog‘langan bo‘lishi kerak.</a:t>
            </a:r>
          </a:p>
          <a:p/>
          <a:p>
            <a:r>
              <a:t>2. Har bir qisqa CPU ko‘tarilishi favqulodda holat emas; xizmatga ta’siri baholanadi. To‘g‘ri talqin quyidagicha: Alert foydalanuvchi tajribasiga yoki yaqin xavfga bog‘langan bo‘lishi kerak. Haddan tashqari ko‘p foydasiz signal muhim ogohlantirishni e’tibordan chetda qoldiradi. Mas’ul shaxs va qisqa javob tartibi belgilanadi.</a:t>
            </a:r>
          </a:p>
          <a:p/>
          <a:p>
            <a:r>
              <a:t>3. Arzonlashtirish mavjudlik va xavfsizlik talablarini buzmasligi kerak; budjet alert i avtomatik xarajat chegarasi emas. To‘g‘ri talqin quyidagicha: Xarajat boshqaruvi texnik va moliyaviy hamkorlikni talab qiladi. Resurslarga loyiha va egani bildiruvchi teglar qo‘yiladi. Ishlatilmayotgan resurs, ortiqcha quvvat, qimmat saqlash sinfi va trafik aniqlanadi.</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Tizim holatini tushunish va xarajatni boshqarish — mavzuning umumiy mazmunini ifodalaydi.</a:t>
            </a:r>
          </a:p>
          <a:p/>
          <a:p>
            <a:r>
              <a:t>Asosiy tayanch fikr: Kuzatish — holat; tushuntirish — sababga yo‘l. Ilova tegishli metrika, log va trace ma’lumotlarini chiqaradi. Ular vaqt, xizmat va so‘rov identifikatori orqali bog‘lanadi. Tahlil faqat chiroyli dashboard bilan cheklanmaydi.</a:t>
            </a:r>
          </a:p>
          <a:p/>
          <a:p>
            <a:r>
              <a:t>Asosiy tayanch fikr: Latency, traffic, errors, saturation. p95 bir davrdagi o‘lchovlarning 95 foizi shu qiymatdan oshmaganini bildiradi. SLI kuzatiladigan sifat ko‘rsatkichi, SLO esa uning maqsad darajasidir.</a:t>
            </a:r>
          </a:p>
          <a:p/>
          <a:p>
            <a:r>
              <a:t>Asosiy tayanch fikr: Avval tor joyni toping, keyin quvvat qo‘shing. Minimum va maksimum quvvat, nishon metrika va barqarorlashish davri belgilanadi. Sinovdan so‘ng javob vaqti va xarajat qayta o‘lchanadi.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0" y="0"/>
            <a:ext cx="438912" cy="6858000"/>
          </a:xfrm>
          <a:prstGeom prst="rect">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 y="630936"/>
            <a:ext cx="7406640" cy="411480"/>
          </a:xfrm>
          <a:prstGeom prst="rect">
            <a:avLst/>
          </a:prstGeom>
          <a:noFill/>
        </p:spPr>
        <p:txBody>
          <a:bodyPr wrap="square" lIns="27432" rIns="27432" tIns="18288" bIns="0">
            <a:spAutoFit/>
          </a:bodyPr>
          <a:lstStyle/>
          <a:p>
            <a:pPr>
              <a:spcAft>
                <a:spcPts val="800"/>
              </a:spcAft>
              <a:defRPr sz="1500" b="1">
                <a:solidFill>
                  <a:srgbClr val="00856A"/>
                </a:solidFill>
                <a:latin typeface="DejaVu Sans"/>
              </a:defRPr>
            </a:pPr>
            <a:r>
              <a:t>17   /   TIZIM KUZATUVI</a:t>
            </a:r>
          </a:p>
        </p:txBody>
      </p:sp>
      <p:sp>
        <p:nvSpPr>
          <p:cNvPr id="4" name="TextBox 3"/>
          <p:cNvSpPr txBox="1"/>
          <p:nvPr/>
        </p:nvSpPr>
        <p:spPr>
          <a:xfrm>
            <a:off x="850392" y="1444752"/>
            <a:ext cx="7406640" cy="2057400"/>
          </a:xfrm>
          <a:prstGeom prst="rect">
            <a:avLst/>
          </a:prstGeom>
          <a:noFill/>
        </p:spPr>
        <p:txBody>
          <a:bodyPr wrap="square" lIns="27432" rIns="27432" tIns="18288" bIns="0">
            <a:spAutoFit/>
          </a:bodyPr>
          <a:lstStyle/>
          <a:p>
            <a:pPr>
              <a:spcAft>
                <a:spcPts val="800"/>
              </a:spcAft>
              <a:defRPr sz="3500" b="1">
                <a:solidFill>
                  <a:srgbClr val="163B46"/>
                </a:solidFill>
                <a:latin typeface="DejaVu Sans"/>
              </a:defRPr>
            </a:pPr>
            <a:r>
              <a:t>Monitoring,</a:t>
            </a:r>
          </a:p>
          <a:p>
            <a:pPr>
              <a:spcAft>
                <a:spcPts val="800"/>
              </a:spcAft>
              <a:defRPr sz="3500" b="1">
                <a:solidFill>
                  <a:srgbClr val="163B46"/>
                </a:solidFill>
                <a:latin typeface="DejaVu Sans"/>
              </a:defRPr>
            </a:pPr>
            <a:r>
              <a:t>observability va</a:t>
            </a:r>
          </a:p>
          <a:p>
            <a:pPr>
              <a:spcAft>
                <a:spcPts val="800"/>
              </a:spcAft>
              <a:defRPr sz="3500" b="1">
                <a:solidFill>
                  <a:srgbClr val="163B46"/>
                </a:solidFill>
                <a:latin typeface="DejaVu Sans"/>
              </a:defRPr>
            </a:pPr>
            <a:r>
              <a:t>optimallashtirish</a:t>
            </a:r>
          </a:p>
        </p:txBody>
      </p:sp>
      <p:sp>
        <p:nvSpPr>
          <p:cNvPr id="5" name="TextBox 4"/>
          <p:cNvSpPr txBox="1"/>
          <p:nvPr/>
        </p:nvSpPr>
        <p:spPr>
          <a:xfrm>
            <a:off x="877824" y="4069080"/>
            <a:ext cx="7086600" cy="914400"/>
          </a:xfrm>
          <a:prstGeom prst="rect">
            <a:avLst/>
          </a:prstGeom>
          <a:noFill/>
        </p:spPr>
        <p:txBody>
          <a:bodyPr wrap="square" lIns="27432" rIns="27432" tIns="18288" bIns="0">
            <a:spAutoFit/>
          </a:bodyPr>
          <a:lstStyle/>
          <a:p>
            <a:pPr>
              <a:spcAft>
                <a:spcPts val="800"/>
              </a:spcAft>
              <a:defRPr sz="2400" b="0">
                <a:solidFill>
                  <a:srgbClr val="163B46"/>
                </a:solidFill>
                <a:latin typeface="DejaVu Sans"/>
              </a:defRPr>
            </a:pPr>
            <a:r>
              <a:t>Tizim holatini tushunish va xarajatni boshqarish</a:t>
            </a:r>
          </a:p>
        </p:txBody>
      </p:sp>
      <p:pic>
        <p:nvPicPr>
          <p:cNvPr id="6" name="Picture 5" descr="M17_prometheus.png"/>
          <p:cNvPicPr>
            <a:picLocks noChangeAspect="1"/>
          </p:cNvPicPr>
          <p:nvPr/>
        </p:nvPicPr>
        <p:blipFill>
          <a:blip r:embed="rId2"/>
          <a:stretch>
            <a:fillRect/>
          </a:stretch>
        </p:blipFill>
        <p:spPr>
          <a:xfrm>
            <a:off x="8613648" y="1399032"/>
            <a:ext cx="2194560" cy="2194560"/>
          </a:xfrm>
          <a:prstGeom prst="rect">
            <a:avLst/>
          </a:prstGeom>
        </p:spPr>
      </p:pic>
      <p:sp>
        <p:nvSpPr>
          <p:cNvPr id="7" name="Rounded Rectangle 6"/>
          <p:cNvSpPr/>
          <p:nvPr/>
        </p:nvSpPr>
        <p:spPr>
          <a:xfrm>
            <a:off x="877824" y="5349240"/>
            <a:ext cx="3419856" cy="868680"/>
          </a:xfrm>
          <a:prstGeom prst="roundRect">
            <a:avLst>
              <a:gd name="adj" fmla="val 8000"/>
            </a:avLst>
          </a:prstGeom>
          <a:solidFill>
            <a:srgbClr val="FFFFFF"/>
          </a:solidFill>
          <a:ln>
            <a:solidFill>
              <a:srgbClr val="D6E7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468112"/>
            <a:ext cx="1353312" cy="393192"/>
          </a:xfrm>
          <a:prstGeom prst="rect">
            <a:avLst/>
          </a:prstGeom>
          <a:noFill/>
        </p:spPr>
        <p:txBody>
          <a:bodyPr wrap="square" lIns="27432" rIns="27432" tIns="18288" bIns="0">
            <a:spAutoFit/>
          </a:bodyPr>
          <a:lstStyle/>
          <a:p>
            <a:pPr>
              <a:spcAft>
                <a:spcPts val="800"/>
              </a:spcAft>
              <a:defRPr sz="2100" b="1">
                <a:solidFill>
                  <a:srgbClr val="00856A"/>
                </a:solidFill>
                <a:latin typeface="DejaVu Sans"/>
              </a:defRPr>
            </a:pPr>
            <a:r>
              <a:t>Metrics</a:t>
            </a:r>
          </a:p>
        </p:txBody>
      </p:sp>
      <p:sp>
        <p:nvSpPr>
          <p:cNvPr id="9" name="TextBox 8"/>
          <p:cNvSpPr txBox="1"/>
          <p:nvPr/>
        </p:nvSpPr>
        <p:spPr>
          <a:xfrm>
            <a:off x="2414015" y="5486400"/>
            <a:ext cx="1691640" cy="402336"/>
          </a:xfrm>
          <a:prstGeom prst="rect">
            <a:avLst/>
          </a:prstGeom>
          <a:noFill/>
        </p:spPr>
        <p:txBody>
          <a:bodyPr wrap="square" lIns="27432" rIns="27432" tIns="18288" bIns="0">
            <a:spAutoFit/>
          </a:bodyPr>
          <a:lstStyle/>
          <a:p>
            <a:pPr>
              <a:spcAft>
                <a:spcPts val="800"/>
              </a:spcAft>
              <a:defRPr sz="1800" b="0">
                <a:solidFill>
                  <a:srgbClr val="163B46"/>
                </a:solidFill>
                <a:latin typeface="DejaVu Sans"/>
              </a:defRPr>
            </a:pPr>
            <a:r>
              <a:t>Raqamlar</a:t>
            </a:r>
          </a:p>
        </p:txBody>
      </p:sp>
      <p:sp>
        <p:nvSpPr>
          <p:cNvPr id="10" name="Rounded Rectangle 9"/>
          <p:cNvSpPr/>
          <p:nvPr/>
        </p:nvSpPr>
        <p:spPr>
          <a:xfrm>
            <a:off x="4553712" y="5349240"/>
            <a:ext cx="3419856" cy="868680"/>
          </a:xfrm>
          <a:prstGeom prst="roundRect">
            <a:avLst>
              <a:gd name="adj" fmla="val 8000"/>
            </a:avLst>
          </a:prstGeom>
          <a:solidFill>
            <a:srgbClr val="FFFFFF"/>
          </a:solidFill>
          <a:ln>
            <a:solidFill>
              <a:srgbClr val="D6E7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27448" y="5468112"/>
            <a:ext cx="1353312" cy="393192"/>
          </a:xfrm>
          <a:prstGeom prst="rect">
            <a:avLst/>
          </a:prstGeom>
          <a:noFill/>
        </p:spPr>
        <p:txBody>
          <a:bodyPr wrap="square" lIns="27432" rIns="27432" tIns="18288" bIns="0">
            <a:spAutoFit/>
          </a:bodyPr>
          <a:lstStyle/>
          <a:p>
            <a:pPr>
              <a:spcAft>
                <a:spcPts val="800"/>
              </a:spcAft>
              <a:defRPr sz="2100" b="1">
                <a:solidFill>
                  <a:srgbClr val="00856A"/>
                </a:solidFill>
                <a:latin typeface="DejaVu Sans"/>
              </a:defRPr>
            </a:pPr>
            <a:r>
              <a:t>Logs</a:t>
            </a:r>
          </a:p>
        </p:txBody>
      </p:sp>
      <p:sp>
        <p:nvSpPr>
          <p:cNvPr id="12" name="TextBox 11"/>
          <p:cNvSpPr txBox="1"/>
          <p:nvPr/>
        </p:nvSpPr>
        <p:spPr>
          <a:xfrm>
            <a:off x="6089903" y="5486400"/>
            <a:ext cx="1691640" cy="402336"/>
          </a:xfrm>
          <a:prstGeom prst="rect">
            <a:avLst/>
          </a:prstGeom>
          <a:noFill/>
        </p:spPr>
        <p:txBody>
          <a:bodyPr wrap="square" lIns="27432" rIns="27432" tIns="18288" bIns="0">
            <a:spAutoFit/>
          </a:bodyPr>
          <a:lstStyle/>
          <a:p>
            <a:pPr>
              <a:spcAft>
                <a:spcPts val="800"/>
              </a:spcAft>
              <a:defRPr sz="1800" b="0">
                <a:solidFill>
                  <a:srgbClr val="163B46"/>
                </a:solidFill>
                <a:latin typeface="DejaVu Sans"/>
              </a:defRPr>
            </a:pPr>
            <a:r>
              <a:t>Hodisalar</a:t>
            </a:r>
          </a:p>
        </p:txBody>
      </p:sp>
      <p:sp>
        <p:nvSpPr>
          <p:cNvPr id="13" name="Rounded Rectangle 12"/>
          <p:cNvSpPr/>
          <p:nvPr/>
        </p:nvSpPr>
        <p:spPr>
          <a:xfrm>
            <a:off x="8229600" y="5349240"/>
            <a:ext cx="3419856" cy="868680"/>
          </a:xfrm>
          <a:prstGeom prst="roundRect">
            <a:avLst>
              <a:gd name="adj" fmla="val 8000"/>
            </a:avLst>
          </a:prstGeom>
          <a:solidFill>
            <a:srgbClr val="FFFFFF"/>
          </a:solidFill>
          <a:ln>
            <a:solidFill>
              <a:srgbClr val="D6E7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03336" y="5468112"/>
            <a:ext cx="1353312" cy="393192"/>
          </a:xfrm>
          <a:prstGeom prst="rect">
            <a:avLst/>
          </a:prstGeom>
          <a:noFill/>
        </p:spPr>
        <p:txBody>
          <a:bodyPr wrap="square" lIns="27432" rIns="27432" tIns="18288" bIns="0">
            <a:spAutoFit/>
          </a:bodyPr>
          <a:lstStyle/>
          <a:p>
            <a:pPr>
              <a:spcAft>
                <a:spcPts val="800"/>
              </a:spcAft>
              <a:defRPr sz="2100" b="1">
                <a:solidFill>
                  <a:srgbClr val="00856A"/>
                </a:solidFill>
                <a:latin typeface="DejaVu Sans"/>
              </a:defRPr>
            </a:pPr>
            <a:r>
              <a:t>Traces</a:t>
            </a:r>
          </a:p>
        </p:txBody>
      </p:sp>
      <p:sp>
        <p:nvSpPr>
          <p:cNvPr id="15" name="TextBox 14"/>
          <p:cNvSpPr txBox="1"/>
          <p:nvPr/>
        </p:nvSpPr>
        <p:spPr>
          <a:xfrm>
            <a:off x="9765792" y="5486400"/>
            <a:ext cx="1691640" cy="402336"/>
          </a:xfrm>
          <a:prstGeom prst="rect">
            <a:avLst/>
          </a:prstGeom>
          <a:noFill/>
        </p:spPr>
        <p:txBody>
          <a:bodyPr wrap="square" lIns="27432" rIns="27432" tIns="18288" bIns="0">
            <a:spAutoFit/>
          </a:bodyPr>
          <a:lstStyle/>
          <a:p>
            <a:pPr>
              <a:spcAft>
                <a:spcPts val="800"/>
              </a:spcAft>
              <a:defRPr sz="1800" b="0">
                <a:solidFill>
                  <a:srgbClr val="163B46"/>
                </a:solidFill>
                <a:latin typeface="DejaVu Sans"/>
              </a:defRPr>
            </a:pPr>
            <a:r>
              <a:t>So‘rov yo‘li</a:t>
            </a:r>
          </a:p>
        </p:txBody>
      </p:sp>
      <p:sp>
        <p:nvSpPr>
          <p:cNvPr id="16" name="TextBox 15"/>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7" name="TextBox 16"/>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01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0" y="0"/>
            <a:ext cx="438912" cy="6858000"/>
          </a:xfrm>
          <a:prstGeom prst="rect">
            <a:avLst/>
          </a:prstGeom>
          <a:solidFill>
            <a:srgbClr val="E5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 y="1188720"/>
            <a:ext cx="173736" cy="173736"/>
          </a:xfrm>
          <a:prstGeom prst="roundRect">
            <a:avLst>
              <a:gd name="adj" fmla="val 8000"/>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 y="1901952"/>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 y="2615184"/>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8016" y="3328415"/>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8016" y="4041648"/>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8016" y="475488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93192"/>
            <a:ext cx="10515600" cy="1042415"/>
          </a:xfrm>
          <a:prstGeom prst="rect">
            <a:avLst/>
          </a:prstGeom>
          <a:noFill/>
        </p:spPr>
        <p:txBody>
          <a:bodyPr wrap="square" lIns="27432" rIns="27432" tIns="18288" bIns="0">
            <a:spAutoFit/>
          </a:bodyPr>
          <a:lstStyle/>
          <a:p>
            <a:pPr>
              <a:spcAft>
                <a:spcPts val="800"/>
              </a:spcAft>
              <a:defRPr sz="2900" b="1">
                <a:solidFill>
                  <a:srgbClr val="163B46"/>
                </a:solidFill>
                <a:latin typeface="DejaVu Sans"/>
              </a:defRPr>
            </a:pPr>
            <a:r>
              <a:t>Dashboard tarkibi: olti mavzu</a:t>
            </a:r>
          </a:p>
        </p:txBody>
      </p:sp>
      <p:sp>
        <p:nvSpPr>
          <p:cNvPr id="10" name="Oval 9"/>
          <p:cNvSpPr/>
          <p:nvPr/>
        </p:nvSpPr>
        <p:spPr>
          <a:xfrm>
            <a:off x="10780776" y="192024"/>
            <a:ext cx="91440" cy="91440"/>
          </a:xfrm>
          <a:prstGeom prst="ellipse">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36224" y="137160"/>
            <a:ext cx="676656" cy="201168"/>
          </a:xfrm>
          <a:prstGeom prst="rect">
            <a:avLst/>
          </a:prstGeom>
          <a:noFill/>
        </p:spPr>
        <p:txBody>
          <a:bodyPr wrap="square" lIns="27432" rIns="27432" tIns="18288" bIns="0">
            <a:spAutoFit/>
          </a:bodyPr>
          <a:lstStyle/>
          <a:p>
            <a:pPr>
              <a:spcAft>
                <a:spcPts val="800"/>
              </a:spcAft>
              <a:defRPr sz="800" b="1">
                <a:solidFill>
                  <a:srgbClr val="00856A"/>
                </a:solidFill>
                <a:latin typeface="DejaVu Sans"/>
              </a:defRPr>
            </a:pPr>
            <a:r>
              <a:t>LIVE</a:t>
            </a:r>
          </a:p>
        </p:txBody>
      </p:sp>
      <p:cxnSp>
        <p:nvCxnSpPr>
          <p:cNvPr id="12" name="Connector 11"/>
          <p:cNvCxnSpPr/>
          <p:nvPr/>
        </p:nvCxnSpPr>
        <p:spPr>
          <a:xfrm>
            <a:off x="832104" y="1426464"/>
            <a:ext cx="10570464" cy="0"/>
          </a:xfrm>
          <a:prstGeom prst="line">
            <a:avLst/>
          </a:prstGeom>
          <a:ln w="12700">
            <a:solidFill>
              <a:srgbClr val="C7DED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4" name="TextBox 13"/>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02 / 13</a:t>
            </a:r>
          </a:p>
        </p:txBody>
      </p:sp>
      <p:sp>
        <p:nvSpPr>
          <p:cNvPr id="15" name="Rounded Rectangle 14"/>
          <p:cNvSpPr/>
          <p:nvPr/>
        </p:nvSpPr>
        <p:spPr>
          <a:xfrm>
            <a:off x="832104" y="1792224"/>
            <a:ext cx="3392424" cy="1746504"/>
          </a:xfrm>
          <a:prstGeom prst="roundRect">
            <a:avLst>
              <a:gd name="adj" fmla="val 8000"/>
            </a:avLst>
          </a:prstGeom>
          <a:solidFill>
            <a:srgbClr val="FFFFFF"/>
          </a:solidFill>
          <a:ln>
            <a:solidFill>
              <a:srgbClr val="D2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1911095"/>
            <a:ext cx="3017520" cy="411480"/>
          </a:xfrm>
          <a:prstGeom prst="rect">
            <a:avLst/>
          </a:prstGeom>
          <a:noFill/>
        </p:spPr>
        <p:txBody>
          <a:bodyPr wrap="square" lIns="27432" rIns="27432" tIns="18288" bIns="0">
            <a:spAutoFit/>
          </a:bodyPr>
          <a:lstStyle/>
          <a:p>
            <a:pPr>
              <a:spcAft>
                <a:spcPts val="800"/>
              </a:spcAft>
              <a:defRPr sz="2500" b="1">
                <a:solidFill>
                  <a:srgbClr val="00856A"/>
                </a:solidFill>
                <a:latin typeface="DejaVu Sans"/>
              </a:defRPr>
            </a:pPr>
            <a:r>
              <a:t>01</a:t>
            </a:r>
          </a:p>
        </p:txBody>
      </p:sp>
      <p:sp>
        <p:nvSpPr>
          <p:cNvPr id="17" name="TextBox 16"/>
          <p:cNvSpPr txBox="1"/>
          <p:nvPr/>
        </p:nvSpPr>
        <p:spPr>
          <a:xfrm>
            <a:off x="1014984" y="2514600"/>
            <a:ext cx="3017520" cy="896112"/>
          </a:xfrm>
          <a:prstGeom prst="rect">
            <a:avLst/>
          </a:prstGeom>
          <a:noFill/>
        </p:spPr>
        <p:txBody>
          <a:bodyPr wrap="square" lIns="27432" rIns="27432" tIns="18288" bIns="0">
            <a:spAutoFit/>
          </a:bodyPr>
          <a:lstStyle/>
          <a:p>
            <a:pPr>
              <a:spcAft>
                <a:spcPts val="800"/>
              </a:spcAft>
              <a:defRPr sz="2200" b="1">
                <a:solidFill>
                  <a:srgbClr val="163B46"/>
                </a:solidFill>
                <a:latin typeface="DejaVu Sans"/>
              </a:defRPr>
            </a:pPr>
            <a:r>
              <a:t>Monitoring va observability</a:t>
            </a:r>
          </a:p>
        </p:txBody>
      </p:sp>
      <p:sp>
        <p:nvSpPr>
          <p:cNvPr id="18" name="Rounded Rectangle 17"/>
          <p:cNvSpPr/>
          <p:nvPr/>
        </p:nvSpPr>
        <p:spPr>
          <a:xfrm>
            <a:off x="4453128" y="1792224"/>
            <a:ext cx="3392424" cy="1746504"/>
          </a:xfrm>
          <a:prstGeom prst="roundRect">
            <a:avLst>
              <a:gd name="adj" fmla="val 8000"/>
            </a:avLst>
          </a:prstGeom>
          <a:solidFill>
            <a:srgbClr val="FFFFFF"/>
          </a:solidFill>
          <a:ln>
            <a:solidFill>
              <a:srgbClr val="D2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6008" y="1911095"/>
            <a:ext cx="3017520" cy="411480"/>
          </a:xfrm>
          <a:prstGeom prst="rect">
            <a:avLst/>
          </a:prstGeom>
          <a:noFill/>
        </p:spPr>
        <p:txBody>
          <a:bodyPr wrap="square" lIns="27432" rIns="27432" tIns="18288" bIns="0">
            <a:spAutoFit/>
          </a:bodyPr>
          <a:lstStyle/>
          <a:p>
            <a:pPr>
              <a:spcAft>
                <a:spcPts val="800"/>
              </a:spcAft>
              <a:defRPr sz="2500" b="1">
                <a:solidFill>
                  <a:srgbClr val="2575C4"/>
                </a:solidFill>
                <a:latin typeface="DejaVu Sans"/>
              </a:defRPr>
            </a:pPr>
            <a:r>
              <a:t>02</a:t>
            </a:r>
          </a:p>
        </p:txBody>
      </p:sp>
      <p:sp>
        <p:nvSpPr>
          <p:cNvPr id="20" name="TextBox 19"/>
          <p:cNvSpPr txBox="1"/>
          <p:nvPr/>
        </p:nvSpPr>
        <p:spPr>
          <a:xfrm>
            <a:off x="4636008" y="2514600"/>
            <a:ext cx="3017520" cy="896112"/>
          </a:xfrm>
          <a:prstGeom prst="rect">
            <a:avLst/>
          </a:prstGeom>
          <a:noFill/>
        </p:spPr>
        <p:txBody>
          <a:bodyPr wrap="square" lIns="27432" rIns="27432" tIns="18288" bIns="0">
            <a:spAutoFit/>
          </a:bodyPr>
          <a:lstStyle/>
          <a:p>
            <a:pPr>
              <a:spcAft>
                <a:spcPts val="800"/>
              </a:spcAft>
              <a:defRPr sz="2200" b="1">
                <a:solidFill>
                  <a:srgbClr val="163B46"/>
                </a:solidFill>
                <a:latin typeface="DejaVu Sans"/>
              </a:defRPr>
            </a:pPr>
            <a:r>
              <a:t>Metrics, logs va traces</a:t>
            </a:r>
          </a:p>
        </p:txBody>
      </p:sp>
      <p:sp>
        <p:nvSpPr>
          <p:cNvPr id="21" name="Rounded Rectangle 20"/>
          <p:cNvSpPr/>
          <p:nvPr/>
        </p:nvSpPr>
        <p:spPr>
          <a:xfrm>
            <a:off x="8074152" y="1792224"/>
            <a:ext cx="3392424" cy="1746504"/>
          </a:xfrm>
          <a:prstGeom prst="roundRect">
            <a:avLst>
              <a:gd name="adj" fmla="val 8000"/>
            </a:avLst>
          </a:prstGeom>
          <a:solidFill>
            <a:srgbClr val="FFFFFF"/>
          </a:solidFill>
          <a:ln>
            <a:solidFill>
              <a:srgbClr val="D2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1911095"/>
            <a:ext cx="3017520" cy="411480"/>
          </a:xfrm>
          <a:prstGeom prst="rect">
            <a:avLst/>
          </a:prstGeom>
          <a:noFill/>
        </p:spPr>
        <p:txBody>
          <a:bodyPr wrap="square" lIns="27432" rIns="27432" tIns="18288" bIns="0">
            <a:spAutoFit/>
          </a:bodyPr>
          <a:lstStyle/>
          <a:p>
            <a:pPr>
              <a:spcAft>
                <a:spcPts val="800"/>
              </a:spcAft>
              <a:defRPr sz="2500" b="1">
                <a:solidFill>
                  <a:srgbClr val="00856A"/>
                </a:solidFill>
                <a:latin typeface="DejaVu Sans"/>
              </a:defRPr>
            </a:pPr>
            <a:r>
              <a:t>03</a:t>
            </a:r>
          </a:p>
        </p:txBody>
      </p:sp>
      <p:sp>
        <p:nvSpPr>
          <p:cNvPr id="23" name="TextBox 22"/>
          <p:cNvSpPr txBox="1"/>
          <p:nvPr/>
        </p:nvSpPr>
        <p:spPr>
          <a:xfrm>
            <a:off x="8257031" y="2514600"/>
            <a:ext cx="3017520" cy="896112"/>
          </a:xfrm>
          <a:prstGeom prst="rect">
            <a:avLst/>
          </a:prstGeom>
          <a:noFill/>
        </p:spPr>
        <p:txBody>
          <a:bodyPr wrap="square" lIns="27432" rIns="27432" tIns="18288" bIns="0">
            <a:spAutoFit/>
          </a:bodyPr>
          <a:lstStyle/>
          <a:p>
            <a:pPr>
              <a:spcAft>
                <a:spcPts val="800"/>
              </a:spcAft>
              <a:defRPr sz="2200" b="1">
                <a:solidFill>
                  <a:srgbClr val="163B46"/>
                </a:solidFill>
                <a:latin typeface="DejaVu Sans"/>
              </a:defRPr>
            </a:pPr>
            <a:r>
              <a:t>Xizmat sifati va percentillar</a:t>
            </a:r>
          </a:p>
        </p:txBody>
      </p:sp>
      <p:sp>
        <p:nvSpPr>
          <p:cNvPr id="24" name="Rounded Rectangle 23"/>
          <p:cNvSpPr/>
          <p:nvPr/>
        </p:nvSpPr>
        <p:spPr>
          <a:xfrm>
            <a:off x="832104" y="3822191"/>
            <a:ext cx="3392424" cy="1746504"/>
          </a:xfrm>
          <a:prstGeom prst="roundRect">
            <a:avLst>
              <a:gd name="adj" fmla="val 8000"/>
            </a:avLst>
          </a:prstGeom>
          <a:solidFill>
            <a:srgbClr val="FFFFFF"/>
          </a:solidFill>
          <a:ln>
            <a:solidFill>
              <a:srgbClr val="D2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3941063"/>
            <a:ext cx="3017520" cy="411480"/>
          </a:xfrm>
          <a:prstGeom prst="rect">
            <a:avLst/>
          </a:prstGeom>
          <a:noFill/>
        </p:spPr>
        <p:txBody>
          <a:bodyPr wrap="square" lIns="27432" rIns="27432" tIns="18288" bIns="0">
            <a:spAutoFit/>
          </a:bodyPr>
          <a:lstStyle/>
          <a:p>
            <a:pPr>
              <a:spcAft>
                <a:spcPts val="800"/>
              </a:spcAft>
              <a:defRPr sz="2500" b="1">
                <a:solidFill>
                  <a:srgbClr val="2575C4"/>
                </a:solidFill>
                <a:latin typeface="DejaVu Sans"/>
              </a:defRPr>
            </a:pPr>
            <a:r>
              <a:t>04</a:t>
            </a:r>
          </a:p>
        </p:txBody>
      </p:sp>
      <p:sp>
        <p:nvSpPr>
          <p:cNvPr id="26" name="TextBox 25"/>
          <p:cNvSpPr txBox="1"/>
          <p:nvPr/>
        </p:nvSpPr>
        <p:spPr>
          <a:xfrm>
            <a:off x="1014984" y="4544568"/>
            <a:ext cx="3017520" cy="896112"/>
          </a:xfrm>
          <a:prstGeom prst="rect">
            <a:avLst/>
          </a:prstGeom>
          <a:noFill/>
        </p:spPr>
        <p:txBody>
          <a:bodyPr wrap="square" lIns="27432" rIns="27432" tIns="18288" bIns="0">
            <a:spAutoFit/>
          </a:bodyPr>
          <a:lstStyle/>
          <a:p>
            <a:pPr>
              <a:spcAft>
                <a:spcPts val="800"/>
              </a:spcAft>
              <a:defRPr sz="2200" b="1">
                <a:solidFill>
                  <a:srgbClr val="163B46"/>
                </a:solidFill>
                <a:latin typeface="DejaVu Sans"/>
              </a:defRPr>
            </a:pPr>
            <a:r>
              <a:t>Alerting va hodisaga javob</a:t>
            </a:r>
          </a:p>
        </p:txBody>
      </p:sp>
      <p:sp>
        <p:nvSpPr>
          <p:cNvPr id="27" name="Rounded Rectangle 26"/>
          <p:cNvSpPr/>
          <p:nvPr/>
        </p:nvSpPr>
        <p:spPr>
          <a:xfrm>
            <a:off x="4453128" y="3822191"/>
            <a:ext cx="3392424" cy="1746504"/>
          </a:xfrm>
          <a:prstGeom prst="roundRect">
            <a:avLst>
              <a:gd name="adj" fmla="val 8000"/>
            </a:avLst>
          </a:prstGeom>
          <a:solidFill>
            <a:srgbClr val="FFFFFF"/>
          </a:solidFill>
          <a:ln>
            <a:solidFill>
              <a:srgbClr val="D2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8" y="3941063"/>
            <a:ext cx="3017520" cy="411480"/>
          </a:xfrm>
          <a:prstGeom prst="rect">
            <a:avLst/>
          </a:prstGeom>
          <a:noFill/>
        </p:spPr>
        <p:txBody>
          <a:bodyPr wrap="square" lIns="27432" rIns="27432" tIns="18288" bIns="0">
            <a:spAutoFit/>
          </a:bodyPr>
          <a:lstStyle/>
          <a:p>
            <a:pPr>
              <a:spcAft>
                <a:spcPts val="800"/>
              </a:spcAft>
              <a:defRPr sz="2500" b="1">
                <a:solidFill>
                  <a:srgbClr val="00856A"/>
                </a:solidFill>
                <a:latin typeface="DejaVu Sans"/>
              </a:defRPr>
            </a:pPr>
            <a:r>
              <a:t>05</a:t>
            </a:r>
          </a:p>
        </p:txBody>
      </p:sp>
      <p:sp>
        <p:nvSpPr>
          <p:cNvPr id="29" name="TextBox 28"/>
          <p:cNvSpPr txBox="1"/>
          <p:nvPr/>
        </p:nvSpPr>
        <p:spPr>
          <a:xfrm>
            <a:off x="4636008" y="4544568"/>
            <a:ext cx="3017520" cy="896112"/>
          </a:xfrm>
          <a:prstGeom prst="rect">
            <a:avLst/>
          </a:prstGeom>
          <a:noFill/>
        </p:spPr>
        <p:txBody>
          <a:bodyPr wrap="square" lIns="27432" rIns="27432" tIns="18288" bIns="0">
            <a:spAutoFit/>
          </a:bodyPr>
          <a:lstStyle/>
          <a:p>
            <a:pPr>
              <a:spcAft>
                <a:spcPts val="800"/>
              </a:spcAft>
              <a:defRPr sz="2200" b="1">
                <a:solidFill>
                  <a:srgbClr val="163B46"/>
                </a:solidFill>
                <a:latin typeface="DejaVu Sans"/>
              </a:defRPr>
            </a:pPr>
            <a:r>
              <a:t>Auto Scaling va unumdorlik</a:t>
            </a:r>
          </a:p>
        </p:txBody>
      </p:sp>
      <p:sp>
        <p:nvSpPr>
          <p:cNvPr id="30" name="Rounded Rectangle 29"/>
          <p:cNvSpPr/>
          <p:nvPr/>
        </p:nvSpPr>
        <p:spPr>
          <a:xfrm>
            <a:off x="8074152" y="3822191"/>
            <a:ext cx="3392424" cy="1746504"/>
          </a:xfrm>
          <a:prstGeom prst="roundRect">
            <a:avLst>
              <a:gd name="adj" fmla="val 8000"/>
            </a:avLst>
          </a:prstGeom>
          <a:solidFill>
            <a:srgbClr val="FFFFFF"/>
          </a:solidFill>
          <a:ln>
            <a:solidFill>
              <a:srgbClr val="D2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7031" y="3941063"/>
            <a:ext cx="3017520" cy="411480"/>
          </a:xfrm>
          <a:prstGeom prst="rect">
            <a:avLst/>
          </a:prstGeom>
          <a:noFill/>
        </p:spPr>
        <p:txBody>
          <a:bodyPr wrap="square" lIns="27432" rIns="27432" tIns="18288" bIns="0">
            <a:spAutoFit/>
          </a:bodyPr>
          <a:lstStyle/>
          <a:p>
            <a:pPr>
              <a:spcAft>
                <a:spcPts val="800"/>
              </a:spcAft>
              <a:defRPr sz="2500" b="1">
                <a:solidFill>
                  <a:srgbClr val="2575C4"/>
                </a:solidFill>
                <a:latin typeface="DejaVu Sans"/>
              </a:defRPr>
            </a:pPr>
            <a:r>
              <a:t>06</a:t>
            </a:r>
          </a:p>
        </p:txBody>
      </p:sp>
      <p:sp>
        <p:nvSpPr>
          <p:cNvPr id="32" name="TextBox 31"/>
          <p:cNvSpPr txBox="1"/>
          <p:nvPr/>
        </p:nvSpPr>
        <p:spPr>
          <a:xfrm>
            <a:off x="8257031" y="4544568"/>
            <a:ext cx="3017520" cy="896112"/>
          </a:xfrm>
          <a:prstGeom prst="rect">
            <a:avLst/>
          </a:prstGeom>
          <a:noFill/>
        </p:spPr>
        <p:txBody>
          <a:bodyPr wrap="square" lIns="27432" rIns="27432" tIns="18288" bIns="0">
            <a:spAutoFit/>
          </a:bodyPr>
          <a:lstStyle/>
          <a:p>
            <a:pPr>
              <a:spcAft>
                <a:spcPts val="800"/>
              </a:spcAft>
              <a:defRPr sz="2200" b="1">
                <a:solidFill>
                  <a:srgbClr val="163B46"/>
                </a:solidFill>
                <a:latin typeface="DejaVu Sans"/>
              </a:defRPr>
            </a:pPr>
            <a:r>
              <a:t>Xarajatni optimallashtirish va FinOps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0" y="0"/>
            <a:ext cx="438912" cy="6858000"/>
          </a:xfrm>
          <a:prstGeom prst="rect">
            <a:avLst/>
          </a:prstGeom>
          <a:solidFill>
            <a:srgbClr val="E5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 y="118872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 y="1901952"/>
            <a:ext cx="173736" cy="173736"/>
          </a:xfrm>
          <a:prstGeom prst="roundRect">
            <a:avLst>
              <a:gd name="adj" fmla="val 8000"/>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 y="2615184"/>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8016" y="3328415"/>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8016" y="4041648"/>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8016" y="475488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93192"/>
            <a:ext cx="10515600" cy="1042415"/>
          </a:xfrm>
          <a:prstGeom prst="rect">
            <a:avLst/>
          </a:prstGeom>
          <a:noFill/>
        </p:spPr>
        <p:txBody>
          <a:bodyPr wrap="square" lIns="27432" rIns="27432" tIns="18288" bIns="0">
            <a:spAutoFit/>
          </a:bodyPr>
          <a:lstStyle/>
          <a:p>
            <a:pPr>
              <a:spcAft>
                <a:spcPts val="800"/>
              </a:spcAft>
              <a:defRPr sz="2900" b="1">
                <a:solidFill>
                  <a:srgbClr val="163B46"/>
                </a:solidFill>
                <a:latin typeface="DejaVu Sans"/>
              </a:defRPr>
            </a:pPr>
            <a:r>
              <a:t>Monitoring va observability</a:t>
            </a:r>
          </a:p>
        </p:txBody>
      </p:sp>
      <p:sp>
        <p:nvSpPr>
          <p:cNvPr id="10" name="Oval 9"/>
          <p:cNvSpPr/>
          <p:nvPr/>
        </p:nvSpPr>
        <p:spPr>
          <a:xfrm>
            <a:off x="10780776" y="192024"/>
            <a:ext cx="91440" cy="91440"/>
          </a:xfrm>
          <a:prstGeom prst="ellipse">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36224" y="137160"/>
            <a:ext cx="676656" cy="201168"/>
          </a:xfrm>
          <a:prstGeom prst="rect">
            <a:avLst/>
          </a:prstGeom>
          <a:noFill/>
        </p:spPr>
        <p:txBody>
          <a:bodyPr wrap="square" lIns="27432" rIns="27432" tIns="18288" bIns="0">
            <a:spAutoFit/>
          </a:bodyPr>
          <a:lstStyle/>
          <a:p>
            <a:pPr>
              <a:spcAft>
                <a:spcPts val="800"/>
              </a:spcAft>
              <a:defRPr sz="800" b="1">
                <a:solidFill>
                  <a:srgbClr val="00856A"/>
                </a:solidFill>
                <a:latin typeface="DejaVu Sans"/>
              </a:defRPr>
            </a:pPr>
            <a:r>
              <a:t>LIVE</a:t>
            </a:r>
          </a:p>
        </p:txBody>
      </p:sp>
      <p:cxnSp>
        <p:nvCxnSpPr>
          <p:cNvPr id="12" name="Connector 11"/>
          <p:cNvCxnSpPr/>
          <p:nvPr/>
        </p:nvCxnSpPr>
        <p:spPr>
          <a:xfrm>
            <a:off x="832104" y="1426464"/>
            <a:ext cx="10570464" cy="0"/>
          </a:xfrm>
          <a:prstGeom prst="line">
            <a:avLst/>
          </a:prstGeom>
          <a:ln w="12700">
            <a:solidFill>
              <a:srgbClr val="C7DED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4" name="TextBox 13"/>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03 / 13</a:t>
            </a:r>
          </a:p>
        </p:txBody>
      </p:sp>
      <p:sp>
        <p:nvSpPr>
          <p:cNvPr id="15" name="Rounded Rectangle 14"/>
          <p:cNvSpPr/>
          <p:nvPr/>
        </p:nvSpPr>
        <p:spPr>
          <a:xfrm>
            <a:off x="841248" y="1783080"/>
            <a:ext cx="6400800" cy="3502152"/>
          </a:xfrm>
          <a:prstGeom prst="roundRect">
            <a:avLst>
              <a:gd name="adj" fmla="val 8000"/>
            </a:avLst>
          </a:prstGeom>
          <a:solidFill>
            <a:srgbClr val="FFFFFF"/>
          </a:solidFill>
          <a:ln>
            <a:solidFill>
              <a:srgbClr val="D2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2002536"/>
            <a:ext cx="5943600" cy="1051560"/>
          </a:xfrm>
          <a:prstGeom prst="rect">
            <a:avLst/>
          </a:prstGeom>
          <a:noFill/>
        </p:spPr>
        <p:txBody>
          <a:bodyPr wrap="square" lIns="27432" rIns="27432" tIns="18288" bIns="0">
            <a:spAutoFit/>
          </a:bodyPr>
          <a:lstStyle/>
          <a:p>
            <a:pPr>
              <a:spcAft>
                <a:spcPts val="800"/>
              </a:spcAft>
              <a:defRPr sz="2800" b="1">
                <a:solidFill>
                  <a:srgbClr val="163B46"/>
                </a:solidFill>
                <a:latin typeface="DejaVu Sans"/>
              </a:defRPr>
            </a:pPr>
            <a:r>
              <a:t>Kuzatish — holat; tushuntirish — sababga yo‘l.</a:t>
            </a:r>
          </a:p>
        </p:txBody>
      </p:sp>
      <p:sp>
        <p:nvSpPr>
          <p:cNvPr id="17" name="TextBox 16"/>
          <p:cNvSpPr txBox="1"/>
          <p:nvPr/>
        </p:nvSpPr>
        <p:spPr>
          <a:xfrm>
            <a:off x="1069848" y="3429000"/>
            <a:ext cx="5943600" cy="1536192"/>
          </a:xfrm>
          <a:prstGeom prst="rect">
            <a:avLst/>
          </a:prstGeom>
          <a:noFill/>
        </p:spPr>
        <p:txBody>
          <a:bodyPr wrap="square" lIns="27432" rIns="27432" tIns="18288" bIns="0">
            <a:spAutoFit/>
          </a:bodyPr>
          <a:lstStyle/>
          <a:p>
            <a:pPr>
              <a:spcAft>
                <a:spcPts val="800"/>
              </a:spcAft>
              <a:defRPr sz="2200" b="0">
                <a:solidFill>
                  <a:srgbClr val="163B46"/>
                </a:solidFill>
                <a:latin typeface="DejaVu Sans"/>
              </a:defRPr>
            </a:pPr>
            <a:r>
              <a:t>Monitoring oldindan tanlangan ko‘rsatkichlar va shartlarni kuzatadi.</a:t>
            </a:r>
          </a:p>
        </p:txBody>
      </p:sp>
      <p:sp>
        <p:nvSpPr>
          <p:cNvPr id="18" name="Rounded Rectangle 17"/>
          <p:cNvSpPr/>
          <p:nvPr/>
        </p:nvSpPr>
        <p:spPr>
          <a:xfrm>
            <a:off x="7543800" y="1783080"/>
            <a:ext cx="3813048" cy="3502152"/>
          </a:xfrm>
          <a:prstGeom prst="roundRect">
            <a:avLst>
              <a:gd name="adj" fmla="val 8000"/>
            </a:avLst>
          </a:prstGeom>
          <a:solidFill>
            <a:srgbClr val="FFFFFF"/>
          </a:solidFill>
          <a:ln>
            <a:solidFill>
              <a:srgbClr val="D2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17_prometheus.png"/>
          <p:cNvPicPr>
            <a:picLocks noChangeAspect="1"/>
          </p:cNvPicPr>
          <p:nvPr/>
        </p:nvPicPr>
        <p:blipFill>
          <a:blip r:embed="rId2"/>
          <a:stretch>
            <a:fillRect/>
          </a:stretch>
        </p:blipFill>
        <p:spPr>
          <a:xfrm>
            <a:off x="8508492" y="2029968"/>
            <a:ext cx="1783080" cy="1783080"/>
          </a:xfrm>
          <a:prstGeom prst="rect">
            <a:avLst/>
          </a:prstGeom>
        </p:spPr>
      </p:pic>
      <p:sp>
        <p:nvSpPr>
          <p:cNvPr id="20" name="TextBox 19"/>
          <p:cNvSpPr txBox="1"/>
          <p:nvPr/>
        </p:nvSpPr>
        <p:spPr>
          <a:xfrm>
            <a:off x="7772400" y="4151376"/>
            <a:ext cx="3337560" cy="859536"/>
          </a:xfrm>
          <a:prstGeom prst="rect">
            <a:avLst/>
          </a:prstGeom>
          <a:noFill/>
        </p:spPr>
        <p:txBody>
          <a:bodyPr wrap="square" lIns="27432" rIns="27432" tIns="18288" bIns="0">
            <a:spAutoFit/>
          </a:bodyPr>
          <a:lstStyle/>
          <a:p>
            <a:pPr>
              <a:spcAft>
                <a:spcPts val="800"/>
              </a:spcAft>
              <a:defRPr sz="2200" b="1">
                <a:solidFill>
                  <a:srgbClr val="00856A"/>
                </a:solidFill>
                <a:latin typeface="DejaVu Sans"/>
              </a:defRPr>
            </a:pPr>
            <a:r>
              <a:t>Prometheus — metrikalar ekotizimi.</a:t>
            </a:r>
          </a:p>
        </p:txBody>
      </p:sp>
      <p:sp>
        <p:nvSpPr>
          <p:cNvPr id="21" name="Rounded Rectangle 20"/>
          <p:cNvSpPr/>
          <p:nvPr/>
        </p:nvSpPr>
        <p:spPr>
          <a:xfrm>
            <a:off x="841248" y="5641848"/>
            <a:ext cx="10515600" cy="621792"/>
          </a:xfrm>
          <a:prstGeom prst="roundRect">
            <a:avLst>
              <a:gd name="adj" fmla="val 8000"/>
            </a:avLst>
          </a:prstGeom>
          <a:solidFill>
            <a:srgbClr val="E9F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7552" y="5733288"/>
            <a:ext cx="10222992" cy="466344"/>
          </a:xfrm>
          <a:prstGeom prst="rect">
            <a:avLst/>
          </a:prstGeom>
          <a:noFill/>
        </p:spPr>
        <p:txBody>
          <a:bodyPr wrap="square" lIns="27432" rIns="27432" tIns="18288" bIns="0">
            <a:spAutoFit/>
          </a:bodyPr>
          <a:lstStyle/>
          <a:p>
            <a:pPr>
              <a:spcAft>
                <a:spcPts val="800"/>
              </a:spcAft>
              <a:defRPr sz="1700" b="0">
                <a:solidFill>
                  <a:srgbClr val="163B46"/>
                </a:solidFill>
                <a:latin typeface="DejaVu Sans"/>
              </a:defRPr>
            </a:pPr>
            <a:r>
              <a:t>Ko‘p ma’lumot yig‘ishning o‘zi tizimni kuzatiladigan qilmaydi; ma’lumot sifati va kontekst zarur.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0" y="0"/>
            <a:ext cx="438912" cy="6858000"/>
          </a:xfrm>
          <a:prstGeom prst="rect">
            <a:avLst/>
          </a:prstGeom>
          <a:solidFill>
            <a:srgbClr val="E5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 y="118872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 y="1901952"/>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 y="2615184"/>
            <a:ext cx="173736" cy="173736"/>
          </a:xfrm>
          <a:prstGeom prst="roundRect">
            <a:avLst>
              <a:gd name="adj" fmla="val 8000"/>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8016" y="3328415"/>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8016" y="4041648"/>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8016" y="475488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93192"/>
            <a:ext cx="10515600" cy="1042415"/>
          </a:xfrm>
          <a:prstGeom prst="rect">
            <a:avLst/>
          </a:prstGeom>
          <a:noFill/>
        </p:spPr>
        <p:txBody>
          <a:bodyPr wrap="square" lIns="27432" rIns="27432" tIns="18288" bIns="0">
            <a:spAutoFit/>
          </a:bodyPr>
          <a:lstStyle/>
          <a:p>
            <a:pPr>
              <a:spcAft>
                <a:spcPts val="800"/>
              </a:spcAft>
              <a:defRPr sz="2900" b="1">
                <a:solidFill>
                  <a:srgbClr val="163B46"/>
                </a:solidFill>
                <a:latin typeface="DejaVu Sans"/>
              </a:defRPr>
            </a:pPr>
            <a:r>
              <a:t>Metrics, logs va traces</a:t>
            </a:r>
          </a:p>
        </p:txBody>
      </p:sp>
      <p:sp>
        <p:nvSpPr>
          <p:cNvPr id="10" name="Oval 9"/>
          <p:cNvSpPr/>
          <p:nvPr/>
        </p:nvSpPr>
        <p:spPr>
          <a:xfrm>
            <a:off x="10780776" y="192024"/>
            <a:ext cx="91440" cy="91440"/>
          </a:xfrm>
          <a:prstGeom prst="ellipse">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36224" y="137160"/>
            <a:ext cx="676656" cy="201168"/>
          </a:xfrm>
          <a:prstGeom prst="rect">
            <a:avLst/>
          </a:prstGeom>
          <a:noFill/>
        </p:spPr>
        <p:txBody>
          <a:bodyPr wrap="square" lIns="27432" rIns="27432" tIns="18288" bIns="0">
            <a:spAutoFit/>
          </a:bodyPr>
          <a:lstStyle/>
          <a:p>
            <a:pPr>
              <a:spcAft>
                <a:spcPts val="800"/>
              </a:spcAft>
              <a:defRPr sz="800" b="1">
                <a:solidFill>
                  <a:srgbClr val="00856A"/>
                </a:solidFill>
                <a:latin typeface="DejaVu Sans"/>
              </a:defRPr>
            </a:pPr>
            <a:r>
              <a:t>LIVE</a:t>
            </a:r>
          </a:p>
        </p:txBody>
      </p:sp>
      <p:cxnSp>
        <p:nvCxnSpPr>
          <p:cNvPr id="12" name="Connector 11"/>
          <p:cNvCxnSpPr/>
          <p:nvPr/>
        </p:nvCxnSpPr>
        <p:spPr>
          <a:xfrm>
            <a:off x="832104" y="1426464"/>
            <a:ext cx="10570464" cy="0"/>
          </a:xfrm>
          <a:prstGeom prst="line">
            <a:avLst/>
          </a:prstGeom>
          <a:ln w="12700">
            <a:solidFill>
              <a:srgbClr val="C7DED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4" name="TextBox 13"/>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04 / 13</a:t>
            </a:r>
          </a:p>
        </p:txBody>
      </p:sp>
      <p:sp>
        <p:nvSpPr>
          <p:cNvPr id="15" name="Rounded Rectangle 14"/>
          <p:cNvSpPr/>
          <p:nvPr/>
        </p:nvSpPr>
        <p:spPr>
          <a:xfrm>
            <a:off x="841248" y="1801368"/>
            <a:ext cx="3392424" cy="20756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947672"/>
            <a:ext cx="3026664" cy="365760"/>
          </a:xfrm>
          <a:prstGeom prst="rect">
            <a:avLst/>
          </a:prstGeom>
          <a:noFill/>
        </p:spPr>
        <p:txBody>
          <a:bodyPr wrap="square" lIns="27432" rIns="27432" tIns="18288" bIns="0">
            <a:spAutoFit/>
          </a:bodyPr>
          <a:lstStyle/>
          <a:p>
            <a:pPr>
              <a:spcAft>
                <a:spcPts val="800"/>
              </a:spcAft>
              <a:defRPr sz="1400" b="1">
                <a:solidFill>
                  <a:srgbClr val="00856A"/>
                </a:solidFill>
                <a:latin typeface="DejaVu Sans"/>
              </a:defRPr>
            </a:pPr>
            <a:r>
              <a:t>METRICS</a:t>
            </a:r>
          </a:p>
        </p:txBody>
      </p:sp>
      <p:sp>
        <p:nvSpPr>
          <p:cNvPr id="17" name="TextBox 16"/>
          <p:cNvSpPr txBox="1"/>
          <p:nvPr/>
        </p:nvSpPr>
        <p:spPr>
          <a:xfrm>
            <a:off x="1024128" y="2423160"/>
            <a:ext cx="3026664" cy="1344168"/>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Vaqt bo‘yicha sonli o‘lchov</a:t>
            </a:r>
          </a:p>
        </p:txBody>
      </p:sp>
      <p:sp>
        <p:nvSpPr>
          <p:cNvPr id="18" name="Rounded Rectangle 17"/>
          <p:cNvSpPr/>
          <p:nvPr/>
        </p:nvSpPr>
        <p:spPr>
          <a:xfrm>
            <a:off x="4453128" y="1801368"/>
            <a:ext cx="3392424" cy="20756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6008" y="1947672"/>
            <a:ext cx="3026664" cy="365760"/>
          </a:xfrm>
          <a:prstGeom prst="rect">
            <a:avLst/>
          </a:prstGeom>
          <a:noFill/>
        </p:spPr>
        <p:txBody>
          <a:bodyPr wrap="square" lIns="27432" rIns="27432" tIns="18288" bIns="0">
            <a:spAutoFit/>
          </a:bodyPr>
          <a:lstStyle/>
          <a:p>
            <a:pPr>
              <a:spcAft>
                <a:spcPts val="800"/>
              </a:spcAft>
              <a:defRPr sz="1400" b="1">
                <a:solidFill>
                  <a:srgbClr val="2575C4"/>
                </a:solidFill>
                <a:latin typeface="DejaVu Sans"/>
              </a:defRPr>
            </a:pPr>
            <a:r>
              <a:t>LOGS</a:t>
            </a:r>
          </a:p>
        </p:txBody>
      </p:sp>
      <p:sp>
        <p:nvSpPr>
          <p:cNvPr id="20" name="TextBox 19"/>
          <p:cNvSpPr txBox="1"/>
          <p:nvPr/>
        </p:nvSpPr>
        <p:spPr>
          <a:xfrm>
            <a:off x="4636008" y="2423160"/>
            <a:ext cx="3026664" cy="1344168"/>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Alohida hodisa yozuvi</a:t>
            </a:r>
          </a:p>
        </p:txBody>
      </p:sp>
      <p:sp>
        <p:nvSpPr>
          <p:cNvPr id="21" name="Rounded Rectangle 20"/>
          <p:cNvSpPr/>
          <p:nvPr/>
        </p:nvSpPr>
        <p:spPr>
          <a:xfrm>
            <a:off x="8065008" y="1801368"/>
            <a:ext cx="3392424" cy="20756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7888" y="1947672"/>
            <a:ext cx="3026664" cy="365760"/>
          </a:xfrm>
          <a:prstGeom prst="rect">
            <a:avLst/>
          </a:prstGeom>
          <a:noFill/>
        </p:spPr>
        <p:txBody>
          <a:bodyPr wrap="square" lIns="27432" rIns="27432" tIns="18288" bIns="0">
            <a:spAutoFit/>
          </a:bodyPr>
          <a:lstStyle/>
          <a:p>
            <a:pPr>
              <a:spcAft>
                <a:spcPts val="800"/>
              </a:spcAft>
              <a:defRPr sz="1400" b="1">
                <a:solidFill>
                  <a:srgbClr val="00856A"/>
                </a:solidFill>
                <a:latin typeface="DejaVu Sans"/>
              </a:defRPr>
            </a:pPr>
            <a:r>
              <a:t>TRACES</a:t>
            </a:r>
          </a:p>
        </p:txBody>
      </p:sp>
      <p:sp>
        <p:nvSpPr>
          <p:cNvPr id="23" name="TextBox 22"/>
          <p:cNvSpPr txBox="1"/>
          <p:nvPr/>
        </p:nvSpPr>
        <p:spPr>
          <a:xfrm>
            <a:off x="8247888" y="2423160"/>
            <a:ext cx="3026664" cy="1344168"/>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Xizmatlar bo‘ylab so‘rov yo‘li</a:t>
            </a:r>
          </a:p>
        </p:txBody>
      </p:sp>
      <p:sp>
        <p:nvSpPr>
          <p:cNvPr id="24" name="Rounded Rectangle 23"/>
          <p:cNvSpPr/>
          <p:nvPr/>
        </p:nvSpPr>
        <p:spPr>
          <a:xfrm>
            <a:off x="841248" y="4251960"/>
            <a:ext cx="10515600" cy="1024128"/>
          </a:xfrm>
          <a:prstGeom prst="roundRect">
            <a:avLst>
              <a:gd name="adj" fmla="val 8000"/>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471416"/>
            <a:ext cx="10085832" cy="731520"/>
          </a:xfrm>
          <a:prstGeom prst="rect">
            <a:avLst/>
          </a:prstGeom>
          <a:noFill/>
        </p:spPr>
        <p:txBody>
          <a:bodyPr wrap="square" lIns="27432" rIns="27432" tIns="18288" bIns="0">
            <a:spAutoFit/>
          </a:bodyPr>
          <a:lstStyle/>
          <a:p>
            <a:pPr>
              <a:spcAft>
                <a:spcPts val="800"/>
              </a:spcAft>
              <a:defRPr sz="2400" b="1">
                <a:solidFill>
                  <a:srgbClr val="163B46"/>
                </a:solidFill>
                <a:latin typeface="DejaVu Sans"/>
              </a:defRPr>
            </a:pPr>
            <a:r>
              <a:t>Correlation ID — bir so‘rovga tegishli signallarni bog‘lovchi identifikator.</a:t>
            </a:r>
          </a:p>
        </p:txBody>
      </p:sp>
      <p:sp>
        <p:nvSpPr>
          <p:cNvPr id="26" name="Rounded Rectangle 25"/>
          <p:cNvSpPr/>
          <p:nvPr/>
        </p:nvSpPr>
        <p:spPr>
          <a:xfrm>
            <a:off x="841248" y="5641848"/>
            <a:ext cx="10515600" cy="621792"/>
          </a:xfrm>
          <a:prstGeom prst="roundRect">
            <a:avLst>
              <a:gd name="adj" fmla="val 8000"/>
            </a:avLst>
          </a:prstGeom>
          <a:solidFill>
            <a:srgbClr val="E9F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5733288"/>
            <a:ext cx="10222992" cy="466344"/>
          </a:xfrm>
          <a:prstGeom prst="rect">
            <a:avLst/>
          </a:prstGeom>
          <a:noFill/>
        </p:spPr>
        <p:txBody>
          <a:bodyPr wrap="square" lIns="27432" rIns="27432" tIns="18288" bIns="0">
            <a:spAutoFit/>
          </a:bodyPr>
          <a:lstStyle/>
          <a:p>
            <a:pPr>
              <a:spcAft>
                <a:spcPts val="800"/>
              </a:spcAft>
              <a:defRPr sz="1700" b="0">
                <a:solidFill>
                  <a:srgbClr val="163B46"/>
                </a:solidFill>
                <a:latin typeface="DejaVu Sans"/>
              </a:defRPr>
            </a:pPr>
            <a:r>
              <a:t>Log ga parol, token yoki ortiqcha shaxsiy ma’lumot yozilmasligi kerak.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0" y="0"/>
            <a:ext cx="438912" cy="6858000"/>
          </a:xfrm>
          <a:prstGeom prst="rect">
            <a:avLst/>
          </a:prstGeom>
          <a:solidFill>
            <a:srgbClr val="E5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 y="118872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 y="1901952"/>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 y="2615184"/>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8016" y="3328415"/>
            <a:ext cx="173736" cy="173736"/>
          </a:xfrm>
          <a:prstGeom prst="roundRect">
            <a:avLst>
              <a:gd name="adj" fmla="val 8000"/>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8016" y="4041648"/>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8016" y="475488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93192"/>
            <a:ext cx="10515600" cy="1042415"/>
          </a:xfrm>
          <a:prstGeom prst="rect">
            <a:avLst/>
          </a:prstGeom>
          <a:noFill/>
        </p:spPr>
        <p:txBody>
          <a:bodyPr wrap="square" lIns="27432" rIns="27432" tIns="18288" bIns="0">
            <a:spAutoFit/>
          </a:bodyPr>
          <a:lstStyle/>
          <a:p>
            <a:pPr>
              <a:spcAft>
                <a:spcPts val="800"/>
              </a:spcAft>
              <a:defRPr sz="2900" b="1">
                <a:solidFill>
                  <a:srgbClr val="163B46"/>
                </a:solidFill>
                <a:latin typeface="DejaVu Sans"/>
              </a:defRPr>
            </a:pPr>
            <a:r>
              <a:t>Xizmat sifati va percentillar</a:t>
            </a:r>
          </a:p>
        </p:txBody>
      </p:sp>
      <p:sp>
        <p:nvSpPr>
          <p:cNvPr id="10" name="Oval 9"/>
          <p:cNvSpPr/>
          <p:nvPr/>
        </p:nvSpPr>
        <p:spPr>
          <a:xfrm>
            <a:off x="10780776" y="192024"/>
            <a:ext cx="91440" cy="91440"/>
          </a:xfrm>
          <a:prstGeom prst="ellipse">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36224" y="137160"/>
            <a:ext cx="676656" cy="201168"/>
          </a:xfrm>
          <a:prstGeom prst="rect">
            <a:avLst/>
          </a:prstGeom>
          <a:noFill/>
        </p:spPr>
        <p:txBody>
          <a:bodyPr wrap="square" lIns="27432" rIns="27432" tIns="18288" bIns="0">
            <a:spAutoFit/>
          </a:bodyPr>
          <a:lstStyle/>
          <a:p>
            <a:pPr>
              <a:spcAft>
                <a:spcPts val="800"/>
              </a:spcAft>
              <a:defRPr sz="800" b="1">
                <a:solidFill>
                  <a:srgbClr val="00856A"/>
                </a:solidFill>
                <a:latin typeface="DejaVu Sans"/>
              </a:defRPr>
            </a:pPr>
            <a:r>
              <a:t>LIVE</a:t>
            </a:r>
          </a:p>
        </p:txBody>
      </p:sp>
      <p:cxnSp>
        <p:nvCxnSpPr>
          <p:cNvPr id="12" name="Connector 11"/>
          <p:cNvCxnSpPr/>
          <p:nvPr/>
        </p:nvCxnSpPr>
        <p:spPr>
          <a:xfrm>
            <a:off x="832104" y="1426464"/>
            <a:ext cx="10570464" cy="0"/>
          </a:xfrm>
          <a:prstGeom prst="line">
            <a:avLst/>
          </a:prstGeom>
          <a:ln w="12700">
            <a:solidFill>
              <a:srgbClr val="C7DED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4" name="TextBox 13"/>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05 / 13</a:t>
            </a:r>
          </a:p>
        </p:txBody>
      </p:sp>
      <p:sp>
        <p:nvSpPr>
          <p:cNvPr id="15" name="Rounded Rectangle 14"/>
          <p:cNvSpPr/>
          <p:nvPr/>
        </p:nvSpPr>
        <p:spPr>
          <a:xfrm>
            <a:off x="841248" y="1792224"/>
            <a:ext cx="36576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1938528"/>
            <a:ext cx="3291840" cy="365760"/>
          </a:xfrm>
          <a:prstGeom prst="rect">
            <a:avLst/>
          </a:prstGeom>
          <a:noFill/>
        </p:spPr>
        <p:txBody>
          <a:bodyPr wrap="square" lIns="27432" rIns="27432" tIns="18288" bIns="0">
            <a:spAutoFit/>
          </a:bodyPr>
          <a:lstStyle/>
          <a:p>
            <a:pPr>
              <a:spcAft>
                <a:spcPts val="800"/>
              </a:spcAft>
              <a:defRPr sz="1400" b="1">
                <a:solidFill>
                  <a:srgbClr val="2575C4"/>
                </a:solidFill>
                <a:latin typeface="DejaVu Sans"/>
              </a:defRPr>
            </a:pPr>
            <a:r>
              <a:t>XIZMAT SIFATI</a:t>
            </a:r>
          </a:p>
        </p:txBody>
      </p:sp>
      <p:sp>
        <p:nvSpPr>
          <p:cNvPr id="17" name="TextBox 16"/>
          <p:cNvSpPr txBox="1"/>
          <p:nvPr/>
        </p:nvSpPr>
        <p:spPr>
          <a:xfrm>
            <a:off x="1024128" y="2414016"/>
            <a:ext cx="3291840" cy="2761487"/>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Latency, traffic, errors, saturation.</a:t>
            </a:r>
          </a:p>
        </p:txBody>
      </p:sp>
      <p:sp>
        <p:nvSpPr>
          <p:cNvPr id="18" name="Rounded Rectangle 17"/>
          <p:cNvSpPr/>
          <p:nvPr/>
        </p:nvSpPr>
        <p:spPr>
          <a:xfrm>
            <a:off x="4800600" y="1792224"/>
            <a:ext cx="6565392" cy="3493008"/>
          </a:xfrm>
          <a:prstGeom prst="roundRect">
            <a:avLst>
              <a:gd name="adj" fmla="val 8000"/>
            </a:avLst>
          </a:prstGeom>
          <a:solidFill>
            <a:srgbClr val="FFFFFF"/>
          </a:solidFill>
          <a:ln>
            <a:solidFill>
              <a:srgbClr val="D2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8344" y="1993392"/>
            <a:ext cx="6071616" cy="365760"/>
          </a:xfrm>
          <a:prstGeom prst="rect">
            <a:avLst/>
          </a:prstGeom>
          <a:noFill/>
        </p:spPr>
        <p:txBody>
          <a:bodyPr wrap="square" lIns="27432" rIns="27432" tIns="18288" bIns="0">
            <a:spAutoFit/>
          </a:bodyPr>
          <a:lstStyle/>
          <a:p>
            <a:pPr>
              <a:spcAft>
                <a:spcPts val="800"/>
              </a:spcAft>
              <a:defRPr sz="1800" b="1">
                <a:solidFill>
                  <a:srgbClr val="163B46"/>
                </a:solidFill>
                <a:latin typeface="DejaVu Sans"/>
              </a:defRPr>
            </a:pPr>
            <a:r>
              <a:t>Javob vaqti: sxematik misol</a:t>
            </a:r>
          </a:p>
        </p:txBody>
      </p:sp>
      <p:cxnSp>
        <p:nvCxnSpPr>
          <p:cNvPr id="20" name="Connector 19"/>
          <p:cNvCxnSpPr/>
          <p:nvPr/>
        </p:nvCxnSpPr>
        <p:spPr>
          <a:xfrm>
            <a:off x="5257800" y="4160520"/>
            <a:ext cx="5394960" cy="0"/>
          </a:xfrm>
          <a:prstGeom prst="line">
            <a:avLst/>
          </a:prstGeom>
          <a:ln w="12700">
            <a:solidFill>
              <a:srgbClr val="B7D6D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257800" y="2743200"/>
            <a:ext cx="0" cy="1417320"/>
          </a:xfrm>
          <a:prstGeom prst="line">
            <a:avLst/>
          </a:prstGeom>
          <a:ln w="12700">
            <a:solidFill>
              <a:srgbClr val="B7D6D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257800" y="3802919"/>
            <a:ext cx="539496" cy="89400"/>
          </a:xfrm>
          <a:prstGeom prst="line">
            <a:avLst/>
          </a:prstGeom>
          <a:ln w="31750">
            <a:solidFill>
              <a:srgbClr val="2575C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97296" y="3802919"/>
            <a:ext cx="539496" cy="89400"/>
          </a:xfrm>
          <a:prstGeom prst="line">
            <a:avLst/>
          </a:prstGeom>
          <a:ln w="31750">
            <a:solidFill>
              <a:srgbClr val="2575C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336792" y="3802919"/>
            <a:ext cx="539496" cy="89400"/>
          </a:xfrm>
          <a:prstGeom prst="line">
            <a:avLst/>
          </a:prstGeom>
          <a:ln w="31750">
            <a:solidFill>
              <a:srgbClr val="2575C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876288" y="3802919"/>
            <a:ext cx="539495" cy="89400"/>
          </a:xfrm>
          <a:prstGeom prst="line">
            <a:avLst/>
          </a:prstGeom>
          <a:ln w="31750">
            <a:solidFill>
              <a:srgbClr val="2575C4"/>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7415783" y="3802919"/>
            <a:ext cx="539496" cy="89400"/>
          </a:xfrm>
          <a:prstGeom prst="line">
            <a:avLst/>
          </a:prstGeom>
          <a:ln w="31750">
            <a:solidFill>
              <a:srgbClr val="2575C4"/>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7955279" y="3624118"/>
            <a:ext cx="539497" cy="178801"/>
          </a:xfrm>
          <a:prstGeom prst="line">
            <a:avLst/>
          </a:prstGeom>
          <a:ln w="31750">
            <a:solidFill>
              <a:srgbClr val="2575C4"/>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494776" y="2998317"/>
            <a:ext cx="539496" cy="625801"/>
          </a:xfrm>
          <a:prstGeom prst="line">
            <a:avLst/>
          </a:prstGeom>
          <a:ln w="31750">
            <a:solidFill>
              <a:srgbClr val="2575C4"/>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34272" y="2998317"/>
            <a:ext cx="539496" cy="804602"/>
          </a:xfrm>
          <a:prstGeom prst="line">
            <a:avLst/>
          </a:prstGeom>
          <a:ln w="31750">
            <a:solidFill>
              <a:srgbClr val="2575C4"/>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573768" y="3802919"/>
            <a:ext cx="539496" cy="89400"/>
          </a:xfrm>
          <a:prstGeom prst="line">
            <a:avLst/>
          </a:prstGeom>
          <a:ln w="31750">
            <a:solidFill>
              <a:srgbClr val="2575C4"/>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0113264" y="3802919"/>
            <a:ext cx="539496" cy="89400"/>
          </a:xfrm>
          <a:prstGeom prst="line">
            <a:avLst/>
          </a:prstGeom>
          <a:ln w="31750">
            <a:solidFill>
              <a:srgbClr val="2575C4"/>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074920" y="4489704"/>
            <a:ext cx="5943600" cy="566928"/>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O‘rtacha qiymat uzoq kutishlarni yashirishi mumkin.</a:t>
            </a:r>
          </a:p>
        </p:txBody>
      </p:sp>
      <p:sp>
        <p:nvSpPr>
          <p:cNvPr id="33" name="Rounded Rectangle 32"/>
          <p:cNvSpPr/>
          <p:nvPr/>
        </p:nvSpPr>
        <p:spPr>
          <a:xfrm>
            <a:off x="841248" y="5641848"/>
            <a:ext cx="10515600" cy="621792"/>
          </a:xfrm>
          <a:prstGeom prst="roundRect">
            <a:avLst>
              <a:gd name="adj" fmla="val 8000"/>
            </a:avLst>
          </a:prstGeom>
          <a:solidFill>
            <a:srgbClr val="E9F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5733288"/>
            <a:ext cx="10222992" cy="466344"/>
          </a:xfrm>
          <a:prstGeom prst="rect">
            <a:avLst/>
          </a:prstGeom>
          <a:noFill/>
        </p:spPr>
        <p:txBody>
          <a:bodyPr wrap="square" lIns="27432" rIns="27432" tIns="18288" bIns="0">
            <a:spAutoFit/>
          </a:bodyPr>
          <a:lstStyle/>
          <a:p>
            <a:pPr>
              <a:spcAft>
                <a:spcPts val="800"/>
              </a:spcAft>
              <a:defRPr sz="1700" b="0">
                <a:solidFill>
                  <a:srgbClr val="163B46"/>
                </a:solidFill>
                <a:latin typeface="DejaVu Sans"/>
              </a:defRPr>
            </a:pPr>
            <a:r>
              <a:t>p95 vaqtning 95 foizida hamma uchun javob shu darajada degani emas; u tanlangan kuzatuvlar to‘plamiga tegishli.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0" y="0"/>
            <a:ext cx="438912" cy="6858000"/>
          </a:xfrm>
          <a:prstGeom prst="rect">
            <a:avLst/>
          </a:prstGeom>
          <a:solidFill>
            <a:srgbClr val="E5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 y="118872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 y="1901952"/>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 y="2615184"/>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8016" y="3328415"/>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8016" y="4041648"/>
            <a:ext cx="173736" cy="173736"/>
          </a:xfrm>
          <a:prstGeom prst="roundRect">
            <a:avLst>
              <a:gd name="adj" fmla="val 8000"/>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8016" y="475488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93192"/>
            <a:ext cx="10515600" cy="1042415"/>
          </a:xfrm>
          <a:prstGeom prst="rect">
            <a:avLst/>
          </a:prstGeom>
          <a:noFill/>
        </p:spPr>
        <p:txBody>
          <a:bodyPr wrap="square" lIns="27432" rIns="27432" tIns="18288" bIns="0">
            <a:spAutoFit/>
          </a:bodyPr>
          <a:lstStyle/>
          <a:p>
            <a:pPr>
              <a:spcAft>
                <a:spcPts val="800"/>
              </a:spcAft>
              <a:defRPr sz="2900" b="1">
                <a:solidFill>
                  <a:srgbClr val="163B46"/>
                </a:solidFill>
                <a:latin typeface="DejaVu Sans"/>
              </a:defRPr>
            </a:pPr>
            <a:r>
              <a:t>Alerting va hodisaga javob</a:t>
            </a:r>
          </a:p>
        </p:txBody>
      </p:sp>
      <p:sp>
        <p:nvSpPr>
          <p:cNvPr id="10" name="Oval 9"/>
          <p:cNvSpPr/>
          <p:nvPr/>
        </p:nvSpPr>
        <p:spPr>
          <a:xfrm>
            <a:off x="10780776" y="192024"/>
            <a:ext cx="91440" cy="91440"/>
          </a:xfrm>
          <a:prstGeom prst="ellipse">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36224" y="137160"/>
            <a:ext cx="676656" cy="201168"/>
          </a:xfrm>
          <a:prstGeom prst="rect">
            <a:avLst/>
          </a:prstGeom>
          <a:noFill/>
        </p:spPr>
        <p:txBody>
          <a:bodyPr wrap="square" lIns="27432" rIns="27432" tIns="18288" bIns="0">
            <a:spAutoFit/>
          </a:bodyPr>
          <a:lstStyle/>
          <a:p>
            <a:pPr>
              <a:spcAft>
                <a:spcPts val="800"/>
              </a:spcAft>
              <a:defRPr sz="800" b="1">
                <a:solidFill>
                  <a:srgbClr val="00856A"/>
                </a:solidFill>
                <a:latin typeface="DejaVu Sans"/>
              </a:defRPr>
            </a:pPr>
            <a:r>
              <a:t>LIVE</a:t>
            </a:r>
          </a:p>
        </p:txBody>
      </p:sp>
      <p:cxnSp>
        <p:nvCxnSpPr>
          <p:cNvPr id="12" name="Connector 11"/>
          <p:cNvCxnSpPr/>
          <p:nvPr/>
        </p:nvCxnSpPr>
        <p:spPr>
          <a:xfrm>
            <a:off x="832104" y="1426464"/>
            <a:ext cx="10570464" cy="0"/>
          </a:xfrm>
          <a:prstGeom prst="line">
            <a:avLst/>
          </a:prstGeom>
          <a:ln w="12700">
            <a:solidFill>
              <a:srgbClr val="C7DED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4" name="TextBox 13"/>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06 / 13</a:t>
            </a:r>
          </a:p>
        </p:txBody>
      </p:sp>
      <p:sp>
        <p:nvSpPr>
          <p:cNvPr id="15" name="Rounded Rectangle 14"/>
          <p:cNvSpPr/>
          <p:nvPr/>
        </p:nvSpPr>
        <p:spPr>
          <a:xfrm>
            <a:off x="841248" y="1792224"/>
            <a:ext cx="10515600" cy="987552"/>
          </a:xfrm>
          <a:prstGeom prst="roundRect">
            <a:avLst>
              <a:gd name="adj" fmla="val 8000"/>
            </a:avLst>
          </a:prstGeom>
          <a:solidFill>
            <a:srgbClr val="FFF5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1965960"/>
            <a:ext cx="10030968" cy="676656"/>
          </a:xfrm>
          <a:prstGeom prst="rect">
            <a:avLst/>
          </a:prstGeom>
          <a:noFill/>
        </p:spPr>
        <p:txBody>
          <a:bodyPr wrap="square" lIns="27432" rIns="27432" tIns="18288" bIns="0">
            <a:spAutoFit/>
          </a:bodyPr>
          <a:lstStyle/>
          <a:p>
            <a:pPr>
              <a:spcAft>
                <a:spcPts val="800"/>
              </a:spcAft>
              <a:defRPr sz="2700" b="1">
                <a:solidFill>
                  <a:srgbClr val="163B46"/>
                </a:solidFill>
                <a:latin typeface="DejaVu Sans"/>
              </a:defRPr>
            </a:pPr>
            <a:r>
              <a:t>Ogohlantirish aniq muammo va aniq egaga ega bo‘lsin.</a:t>
            </a:r>
          </a:p>
        </p:txBody>
      </p:sp>
      <p:sp>
        <p:nvSpPr>
          <p:cNvPr id="17" name="Rounded Rectangle 16"/>
          <p:cNvSpPr/>
          <p:nvPr/>
        </p:nvSpPr>
        <p:spPr>
          <a:xfrm>
            <a:off x="841248" y="3163824"/>
            <a:ext cx="3392424" cy="2103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310128"/>
            <a:ext cx="3026664" cy="365760"/>
          </a:xfrm>
          <a:prstGeom prst="rect">
            <a:avLst/>
          </a:prstGeom>
          <a:noFill/>
        </p:spPr>
        <p:txBody>
          <a:bodyPr wrap="square" lIns="27432" rIns="27432" tIns="18288" bIns="0">
            <a:spAutoFit/>
          </a:bodyPr>
          <a:lstStyle/>
          <a:p>
            <a:pPr>
              <a:spcAft>
                <a:spcPts val="800"/>
              </a:spcAft>
              <a:defRPr sz="1400" b="1">
                <a:solidFill>
                  <a:srgbClr val="00856A"/>
                </a:solidFill>
                <a:latin typeface="DejaVu Sans"/>
              </a:defRPr>
            </a:pPr>
            <a:r>
              <a:t>Shart</a:t>
            </a:r>
          </a:p>
        </p:txBody>
      </p:sp>
      <p:sp>
        <p:nvSpPr>
          <p:cNvPr id="19" name="TextBox 18"/>
          <p:cNvSpPr txBox="1"/>
          <p:nvPr/>
        </p:nvSpPr>
        <p:spPr>
          <a:xfrm>
            <a:off x="1024128" y="3785615"/>
            <a:ext cx="3026664" cy="1371599"/>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Muammo nimadan bilinadi?</a:t>
            </a:r>
          </a:p>
        </p:txBody>
      </p:sp>
      <p:sp>
        <p:nvSpPr>
          <p:cNvPr id="20" name="Rounded Rectangle 19"/>
          <p:cNvSpPr/>
          <p:nvPr/>
        </p:nvSpPr>
        <p:spPr>
          <a:xfrm>
            <a:off x="4453128" y="3163824"/>
            <a:ext cx="3392424" cy="2103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36008" y="3310128"/>
            <a:ext cx="3026664" cy="365760"/>
          </a:xfrm>
          <a:prstGeom prst="rect">
            <a:avLst/>
          </a:prstGeom>
          <a:noFill/>
        </p:spPr>
        <p:txBody>
          <a:bodyPr wrap="square" lIns="27432" rIns="27432" tIns="18288" bIns="0">
            <a:spAutoFit/>
          </a:bodyPr>
          <a:lstStyle/>
          <a:p>
            <a:pPr>
              <a:spcAft>
                <a:spcPts val="800"/>
              </a:spcAft>
              <a:defRPr sz="1400" b="1">
                <a:solidFill>
                  <a:srgbClr val="00856A"/>
                </a:solidFill>
                <a:latin typeface="DejaVu Sans"/>
              </a:defRPr>
            </a:pPr>
            <a:r>
              <a:t>Ega</a:t>
            </a:r>
          </a:p>
        </p:txBody>
      </p:sp>
      <p:sp>
        <p:nvSpPr>
          <p:cNvPr id="22" name="TextBox 21"/>
          <p:cNvSpPr txBox="1"/>
          <p:nvPr/>
        </p:nvSpPr>
        <p:spPr>
          <a:xfrm>
            <a:off x="4636008" y="3785615"/>
            <a:ext cx="3026664" cy="1371599"/>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Kim javob beradi?</a:t>
            </a:r>
          </a:p>
        </p:txBody>
      </p:sp>
      <p:sp>
        <p:nvSpPr>
          <p:cNvPr id="23" name="Rounded Rectangle 22"/>
          <p:cNvSpPr/>
          <p:nvPr/>
        </p:nvSpPr>
        <p:spPr>
          <a:xfrm>
            <a:off x="8065008" y="3163824"/>
            <a:ext cx="3392424" cy="2103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47888" y="3310128"/>
            <a:ext cx="3026664" cy="365760"/>
          </a:xfrm>
          <a:prstGeom prst="rect">
            <a:avLst/>
          </a:prstGeom>
          <a:noFill/>
        </p:spPr>
        <p:txBody>
          <a:bodyPr wrap="square" lIns="27432" rIns="27432" tIns="18288" bIns="0">
            <a:spAutoFit/>
          </a:bodyPr>
          <a:lstStyle/>
          <a:p>
            <a:pPr>
              <a:spcAft>
                <a:spcPts val="800"/>
              </a:spcAft>
              <a:defRPr sz="1400" b="1">
                <a:solidFill>
                  <a:srgbClr val="00856A"/>
                </a:solidFill>
                <a:latin typeface="DejaVu Sans"/>
              </a:defRPr>
            </a:pPr>
            <a:r>
              <a:t>Runbook</a:t>
            </a:r>
          </a:p>
        </p:txBody>
      </p:sp>
      <p:sp>
        <p:nvSpPr>
          <p:cNvPr id="25" name="TextBox 24"/>
          <p:cNvSpPr txBox="1"/>
          <p:nvPr/>
        </p:nvSpPr>
        <p:spPr>
          <a:xfrm>
            <a:off x="8247888" y="3785615"/>
            <a:ext cx="3026664" cy="1371599"/>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Qanday tekshiriladi?</a:t>
            </a:r>
          </a:p>
        </p:txBody>
      </p:sp>
      <p:sp>
        <p:nvSpPr>
          <p:cNvPr id="26" name="Rounded Rectangle 25"/>
          <p:cNvSpPr/>
          <p:nvPr/>
        </p:nvSpPr>
        <p:spPr>
          <a:xfrm>
            <a:off x="841248" y="5641848"/>
            <a:ext cx="10515600" cy="621792"/>
          </a:xfrm>
          <a:prstGeom prst="roundRect">
            <a:avLst>
              <a:gd name="adj" fmla="val 8000"/>
            </a:avLst>
          </a:prstGeom>
          <a:solidFill>
            <a:srgbClr val="E9F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5733288"/>
            <a:ext cx="10222992" cy="466344"/>
          </a:xfrm>
          <a:prstGeom prst="rect">
            <a:avLst/>
          </a:prstGeom>
          <a:noFill/>
        </p:spPr>
        <p:txBody>
          <a:bodyPr wrap="square" lIns="27432" rIns="27432" tIns="18288" bIns="0">
            <a:spAutoFit/>
          </a:bodyPr>
          <a:lstStyle/>
          <a:p>
            <a:pPr>
              <a:spcAft>
                <a:spcPts val="800"/>
              </a:spcAft>
              <a:defRPr sz="1700" b="0">
                <a:solidFill>
                  <a:srgbClr val="163B46"/>
                </a:solidFill>
                <a:latin typeface="DejaVu Sans"/>
              </a:defRPr>
            </a:pPr>
            <a:r>
              <a:t>Har bir qisqa CPU ko‘tarilishi favqulodda holat emas; xizmatga ta’siri baholanadi.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0" y="0"/>
            <a:ext cx="438912" cy="6858000"/>
          </a:xfrm>
          <a:prstGeom prst="rect">
            <a:avLst/>
          </a:prstGeom>
          <a:solidFill>
            <a:srgbClr val="E5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 y="118872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 y="1901952"/>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 y="2615184"/>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8016" y="3328415"/>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8016" y="4041648"/>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8016" y="4754880"/>
            <a:ext cx="173736" cy="173736"/>
          </a:xfrm>
          <a:prstGeom prst="roundRect">
            <a:avLst>
              <a:gd name="adj" fmla="val 8000"/>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93192"/>
            <a:ext cx="10515600" cy="1042415"/>
          </a:xfrm>
          <a:prstGeom prst="rect">
            <a:avLst/>
          </a:prstGeom>
          <a:noFill/>
        </p:spPr>
        <p:txBody>
          <a:bodyPr wrap="square" lIns="27432" rIns="27432" tIns="18288" bIns="0">
            <a:spAutoFit/>
          </a:bodyPr>
          <a:lstStyle/>
          <a:p>
            <a:pPr>
              <a:spcAft>
                <a:spcPts val="800"/>
              </a:spcAft>
              <a:defRPr sz="2900" b="1">
                <a:solidFill>
                  <a:srgbClr val="163B46"/>
                </a:solidFill>
                <a:latin typeface="DejaVu Sans"/>
              </a:defRPr>
            </a:pPr>
            <a:r>
              <a:t>Auto Scaling va unumdorlik</a:t>
            </a:r>
          </a:p>
        </p:txBody>
      </p:sp>
      <p:sp>
        <p:nvSpPr>
          <p:cNvPr id="10" name="Oval 9"/>
          <p:cNvSpPr/>
          <p:nvPr/>
        </p:nvSpPr>
        <p:spPr>
          <a:xfrm>
            <a:off x="10780776" y="192024"/>
            <a:ext cx="91440" cy="91440"/>
          </a:xfrm>
          <a:prstGeom prst="ellipse">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36224" y="137160"/>
            <a:ext cx="676656" cy="201168"/>
          </a:xfrm>
          <a:prstGeom prst="rect">
            <a:avLst/>
          </a:prstGeom>
          <a:noFill/>
        </p:spPr>
        <p:txBody>
          <a:bodyPr wrap="square" lIns="27432" rIns="27432" tIns="18288" bIns="0">
            <a:spAutoFit/>
          </a:bodyPr>
          <a:lstStyle/>
          <a:p>
            <a:pPr>
              <a:spcAft>
                <a:spcPts val="800"/>
              </a:spcAft>
              <a:defRPr sz="800" b="1">
                <a:solidFill>
                  <a:srgbClr val="00856A"/>
                </a:solidFill>
                <a:latin typeface="DejaVu Sans"/>
              </a:defRPr>
            </a:pPr>
            <a:r>
              <a:t>LIVE</a:t>
            </a:r>
          </a:p>
        </p:txBody>
      </p:sp>
      <p:cxnSp>
        <p:nvCxnSpPr>
          <p:cNvPr id="12" name="Connector 11"/>
          <p:cNvCxnSpPr/>
          <p:nvPr/>
        </p:nvCxnSpPr>
        <p:spPr>
          <a:xfrm>
            <a:off x="832104" y="1426464"/>
            <a:ext cx="10570464" cy="0"/>
          </a:xfrm>
          <a:prstGeom prst="line">
            <a:avLst/>
          </a:prstGeom>
          <a:ln w="12700">
            <a:solidFill>
              <a:srgbClr val="C7DED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4" name="TextBox 13"/>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07 / 13</a:t>
            </a:r>
          </a:p>
        </p:txBody>
      </p:sp>
      <p:sp>
        <p:nvSpPr>
          <p:cNvPr id="15" name="TextBox 14"/>
          <p:cNvSpPr txBox="1"/>
          <p:nvPr/>
        </p:nvSpPr>
        <p:spPr>
          <a:xfrm>
            <a:off x="877824" y="1819656"/>
            <a:ext cx="10405872" cy="950976"/>
          </a:xfrm>
          <a:prstGeom prst="rect">
            <a:avLst/>
          </a:prstGeom>
          <a:noFill/>
        </p:spPr>
        <p:txBody>
          <a:bodyPr wrap="square" lIns="27432" rIns="27432" tIns="18288" bIns="0">
            <a:spAutoFit/>
          </a:bodyPr>
          <a:lstStyle/>
          <a:p>
            <a:pPr>
              <a:spcAft>
                <a:spcPts val="800"/>
              </a:spcAft>
              <a:defRPr sz="2800" b="1">
                <a:solidFill>
                  <a:srgbClr val="163B46"/>
                </a:solidFill>
                <a:latin typeface="DejaVu Sans"/>
              </a:defRPr>
            </a:pPr>
            <a:r>
              <a:t>Avval tor joyni toping, keyin quvvat qo‘shing.</a:t>
            </a:r>
          </a:p>
        </p:txBody>
      </p:sp>
      <p:sp>
        <p:nvSpPr>
          <p:cNvPr id="16" name="Rounded Rectangle 15"/>
          <p:cNvSpPr/>
          <p:nvPr/>
        </p:nvSpPr>
        <p:spPr>
          <a:xfrm>
            <a:off x="841248" y="3081528"/>
            <a:ext cx="5020056" cy="2212848"/>
          </a:xfrm>
          <a:prstGeom prst="roundRect">
            <a:avLst>
              <a:gd name="adj" fmla="val 8000"/>
            </a:avLst>
          </a:prstGeom>
          <a:solidFill>
            <a:srgbClr val="FFFFFF"/>
          </a:solidFill>
          <a:ln>
            <a:solidFill>
              <a:srgbClr val="D2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9848" y="3282696"/>
            <a:ext cx="4572000" cy="1783080"/>
          </a:xfrm>
          <a:prstGeom prst="rect">
            <a:avLst/>
          </a:prstGeom>
          <a:noFill/>
        </p:spPr>
        <p:txBody>
          <a:bodyPr wrap="square" lIns="27432" rIns="27432" tIns="18288" bIns="0">
            <a:spAutoFit/>
          </a:bodyPr>
          <a:lstStyle/>
          <a:p>
            <a:pPr>
              <a:spcAft>
                <a:spcPts val="800"/>
              </a:spcAft>
              <a:defRPr sz="2200" b="0">
                <a:solidFill>
                  <a:srgbClr val="163B46"/>
                </a:solidFill>
                <a:latin typeface="DejaVu Sans"/>
              </a:defRPr>
            </a:pPr>
            <a:r>
              <a:t>Minimum va maksimum quvvat, nishon metrika va barqarorlashish davri belgilanadi.</a:t>
            </a:r>
          </a:p>
        </p:txBody>
      </p:sp>
      <p:sp>
        <p:nvSpPr>
          <p:cNvPr id="18" name="Rounded Rectangle 17"/>
          <p:cNvSpPr/>
          <p:nvPr/>
        </p:nvSpPr>
        <p:spPr>
          <a:xfrm>
            <a:off x="6190488" y="3081528"/>
            <a:ext cx="5175504" cy="2212848"/>
          </a:xfrm>
          <a:prstGeom prst="roundRect">
            <a:avLst>
              <a:gd name="adj" fmla="val 8000"/>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9088" y="3282696"/>
            <a:ext cx="4700016" cy="1783080"/>
          </a:xfrm>
          <a:prstGeom prst="rect">
            <a:avLst/>
          </a:prstGeom>
          <a:noFill/>
        </p:spPr>
        <p:txBody>
          <a:bodyPr wrap="square" lIns="27432" rIns="27432" tIns="18288" bIns="0">
            <a:spAutoFit/>
          </a:bodyPr>
          <a:lstStyle/>
          <a:p>
            <a:pPr>
              <a:spcAft>
                <a:spcPts val="800"/>
              </a:spcAft>
              <a:defRPr sz="2200" b="0">
                <a:solidFill>
                  <a:srgbClr val="163B46"/>
                </a:solidFill>
                <a:latin typeface="DejaVu Sans"/>
              </a:defRPr>
            </a:pPr>
            <a:r>
              <a:t>Navbat uzunlashsa ishchilar soni oshiriladi; baza ulanishi cheklansa avval havza va so‘rovlar optimallashtiriladi.</a:t>
            </a:r>
          </a:p>
        </p:txBody>
      </p:sp>
      <p:sp>
        <p:nvSpPr>
          <p:cNvPr id="20" name="Rounded Rectangle 19"/>
          <p:cNvSpPr/>
          <p:nvPr/>
        </p:nvSpPr>
        <p:spPr>
          <a:xfrm>
            <a:off x="841248" y="5641848"/>
            <a:ext cx="10515600" cy="621792"/>
          </a:xfrm>
          <a:prstGeom prst="roundRect">
            <a:avLst>
              <a:gd name="adj" fmla="val 8000"/>
            </a:avLst>
          </a:prstGeom>
          <a:solidFill>
            <a:srgbClr val="E9F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5733288"/>
            <a:ext cx="10222992" cy="466344"/>
          </a:xfrm>
          <a:prstGeom prst="rect">
            <a:avLst/>
          </a:prstGeom>
          <a:noFill/>
        </p:spPr>
        <p:txBody>
          <a:bodyPr wrap="square" lIns="27432" rIns="27432" tIns="18288" bIns="0">
            <a:spAutoFit/>
          </a:bodyPr>
          <a:lstStyle/>
          <a:p>
            <a:pPr>
              <a:spcAft>
                <a:spcPts val="800"/>
              </a:spcAft>
              <a:defRPr sz="1700" b="0">
                <a:solidFill>
                  <a:srgbClr val="163B46"/>
                </a:solidFill>
                <a:latin typeface="DejaVu Sans"/>
              </a:defRPr>
            </a:pPr>
            <a:r>
              <a:t>Noto‘g‘ri metrika ko‘paytirish va kamaytirishning beqaror tebranishiga sabab bo‘lishi mumkin.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0" y="0"/>
            <a:ext cx="438912" cy="6858000"/>
          </a:xfrm>
          <a:prstGeom prst="rect">
            <a:avLst/>
          </a:prstGeom>
          <a:solidFill>
            <a:srgbClr val="E5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 y="1188720"/>
            <a:ext cx="173736" cy="173736"/>
          </a:xfrm>
          <a:prstGeom prst="roundRect">
            <a:avLst>
              <a:gd name="adj" fmla="val 8000"/>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 y="1901952"/>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 y="2615184"/>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8016" y="3328415"/>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8016" y="4041648"/>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8016" y="475488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93192"/>
            <a:ext cx="10515600" cy="1042415"/>
          </a:xfrm>
          <a:prstGeom prst="rect">
            <a:avLst/>
          </a:prstGeom>
          <a:noFill/>
        </p:spPr>
        <p:txBody>
          <a:bodyPr wrap="square" lIns="27432" rIns="27432" tIns="18288" bIns="0">
            <a:spAutoFit/>
          </a:bodyPr>
          <a:lstStyle/>
          <a:p>
            <a:pPr>
              <a:spcAft>
                <a:spcPts val="800"/>
              </a:spcAft>
              <a:defRPr sz="2900" b="1">
                <a:solidFill>
                  <a:srgbClr val="163B46"/>
                </a:solidFill>
                <a:latin typeface="DejaVu Sans"/>
              </a:defRPr>
            </a:pPr>
            <a:r>
              <a:t>Xarajatni optimallashtirish va FinOps</a:t>
            </a:r>
          </a:p>
        </p:txBody>
      </p:sp>
      <p:sp>
        <p:nvSpPr>
          <p:cNvPr id="10" name="Oval 9"/>
          <p:cNvSpPr/>
          <p:nvPr/>
        </p:nvSpPr>
        <p:spPr>
          <a:xfrm>
            <a:off x="10780776" y="192024"/>
            <a:ext cx="91440" cy="91440"/>
          </a:xfrm>
          <a:prstGeom prst="ellipse">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36224" y="137160"/>
            <a:ext cx="676656" cy="201168"/>
          </a:xfrm>
          <a:prstGeom prst="rect">
            <a:avLst/>
          </a:prstGeom>
          <a:noFill/>
        </p:spPr>
        <p:txBody>
          <a:bodyPr wrap="square" lIns="27432" rIns="27432" tIns="18288" bIns="0">
            <a:spAutoFit/>
          </a:bodyPr>
          <a:lstStyle/>
          <a:p>
            <a:pPr>
              <a:spcAft>
                <a:spcPts val="800"/>
              </a:spcAft>
              <a:defRPr sz="800" b="1">
                <a:solidFill>
                  <a:srgbClr val="00856A"/>
                </a:solidFill>
                <a:latin typeface="DejaVu Sans"/>
              </a:defRPr>
            </a:pPr>
            <a:r>
              <a:t>LIVE</a:t>
            </a:r>
          </a:p>
        </p:txBody>
      </p:sp>
      <p:cxnSp>
        <p:nvCxnSpPr>
          <p:cNvPr id="12" name="Connector 11"/>
          <p:cNvCxnSpPr/>
          <p:nvPr/>
        </p:nvCxnSpPr>
        <p:spPr>
          <a:xfrm>
            <a:off x="832104" y="1426464"/>
            <a:ext cx="10570464" cy="0"/>
          </a:xfrm>
          <a:prstGeom prst="line">
            <a:avLst/>
          </a:prstGeom>
          <a:ln w="12700">
            <a:solidFill>
              <a:srgbClr val="C7DED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4" name="TextBox 13"/>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08 / 13</a:t>
            </a:r>
          </a:p>
        </p:txBody>
      </p:sp>
      <p:sp>
        <p:nvSpPr>
          <p:cNvPr id="15" name="TextBox 14"/>
          <p:cNvSpPr txBox="1"/>
          <p:nvPr/>
        </p:nvSpPr>
        <p:spPr>
          <a:xfrm>
            <a:off x="877824" y="1819656"/>
            <a:ext cx="10405872" cy="950976"/>
          </a:xfrm>
          <a:prstGeom prst="rect">
            <a:avLst/>
          </a:prstGeom>
          <a:noFill/>
        </p:spPr>
        <p:txBody>
          <a:bodyPr wrap="square" lIns="27432" rIns="27432" tIns="18288" bIns="0">
            <a:spAutoFit/>
          </a:bodyPr>
          <a:lstStyle/>
          <a:p>
            <a:pPr>
              <a:spcAft>
                <a:spcPts val="800"/>
              </a:spcAft>
              <a:defRPr sz="2800" b="1">
                <a:solidFill>
                  <a:srgbClr val="163B46"/>
                </a:solidFill>
                <a:latin typeface="DejaVu Sans"/>
              </a:defRPr>
            </a:pPr>
            <a:r>
              <a:t>Ko‘rinuvchanlik → egalik → to‘g‘ri o‘lcham → takroriy tekshiruv.</a:t>
            </a:r>
          </a:p>
        </p:txBody>
      </p:sp>
      <p:sp>
        <p:nvSpPr>
          <p:cNvPr id="16" name="Rounded Rectangle 15"/>
          <p:cNvSpPr/>
          <p:nvPr/>
        </p:nvSpPr>
        <p:spPr>
          <a:xfrm>
            <a:off x="841248" y="3081528"/>
            <a:ext cx="5020056" cy="2212848"/>
          </a:xfrm>
          <a:prstGeom prst="roundRect">
            <a:avLst>
              <a:gd name="adj" fmla="val 8000"/>
            </a:avLst>
          </a:prstGeom>
          <a:solidFill>
            <a:srgbClr val="FFFFFF"/>
          </a:solidFill>
          <a:ln>
            <a:solidFill>
              <a:srgbClr val="D2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9848" y="3282696"/>
            <a:ext cx="4572000" cy="1783080"/>
          </a:xfrm>
          <a:prstGeom prst="rect">
            <a:avLst/>
          </a:prstGeom>
          <a:noFill/>
        </p:spPr>
        <p:txBody>
          <a:bodyPr wrap="square" lIns="27432" rIns="27432" tIns="18288" bIns="0">
            <a:spAutoFit/>
          </a:bodyPr>
          <a:lstStyle/>
          <a:p>
            <a:pPr>
              <a:spcAft>
                <a:spcPts val="800"/>
              </a:spcAft>
              <a:defRPr sz="2200" b="0">
                <a:solidFill>
                  <a:srgbClr val="163B46"/>
                </a:solidFill>
                <a:latin typeface="DejaVu Sans"/>
              </a:defRPr>
            </a:pPr>
            <a:r>
              <a:t>Avval foydalanish o‘lchanadi, keyin rightsizing qilinadi. Test muhitiga jadval beriladi.</a:t>
            </a:r>
          </a:p>
        </p:txBody>
      </p:sp>
      <p:sp>
        <p:nvSpPr>
          <p:cNvPr id="18" name="Rounded Rectangle 17"/>
          <p:cNvSpPr/>
          <p:nvPr/>
        </p:nvSpPr>
        <p:spPr>
          <a:xfrm>
            <a:off x="6190488" y="3081528"/>
            <a:ext cx="5175504" cy="2212848"/>
          </a:xfrm>
          <a:prstGeom prst="roundRect">
            <a:avLst>
              <a:gd name="adj" fmla="val 8000"/>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9088" y="3282696"/>
            <a:ext cx="4700016" cy="1783080"/>
          </a:xfrm>
          <a:prstGeom prst="rect">
            <a:avLst/>
          </a:prstGeom>
          <a:noFill/>
        </p:spPr>
        <p:txBody>
          <a:bodyPr wrap="square" lIns="27432" rIns="27432" tIns="18288" bIns="0">
            <a:spAutoFit/>
          </a:bodyPr>
          <a:lstStyle/>
          <a:p>
            <a:pPr>
              <a:spcAft>
                <a:spcPts val="800"/>
              </a:spcAft>
              <a:defRPr sz="2200" b="0">
                <a:solidFill>
                  <a:srgbClr val="163B46"/>
                </a:solidFill>
                <a:latin typeface="DejaVu Sans"/>
              </a:defRPr>
            </a:pPr>
            <a:r>
              <a:t>Tunda ishlamaydigan test serveri to‘xtatiladi, lekin kerakli diski va zaxirasi saqlanadi; qolgan sarf ham hisoblanadi.</a:t>
            </a:r>
          </a:p>
        </p:txBody>
      </p:sp>
      <p:sp>
        <p:nvSpPr>
          <p:cNvPr id="20" name="Rounded Rectangle 19"/>
          <p:cNvSpPr/>
          <p:nvPr/>
        </p:nvSpPr>
        <p:spPr>
          <a:xfrm>
            <a:off x="841248" y="5641848"/>
            <a:ext cx="10515600" cy="621792"/>
          </a:xfrm>
          <a:prstGeom prst="roundRect">
            <a:avLst>
              <a:gd name="adj" fmla="val 8000"/>
            </a:avLst>
          </a:prstGeom>
          <a:solidFill>
            <a:srgbClr val="E9F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5733288"/>
            <a:ext cx="10222992" cy="466344"/>
          </a:xfrm>
          <a:prstGeom prst="rect">
            <a:avLst/>
          </a:prstGeom>
          <a:noFill/>
        </p:spPr>
        <p:txBody>
          <a:bodyPr wrap="square" lIns="27432" rIns="27432" tIns="18288" bIns="0">
            <a:spAutoFit/>
          </a:bodyPr>
          <a:lstStyle/>
          <a:p>
            <a:pPr>
              <a:spcAft>
                <a:spcPts val="800"/>
              </a:spcAft>
              <a:defRPr sz="1700" b="0">
                <a:solidFill>
                  <a:srgbClr val="163B46"/>
                </a:solidFill>
                <a:latin typeface="DejaVu Sans"/>
              </a:defRPr>
            </a:pPr>
            <a:r>
              <a:t>Arzonlashtirish mavjudlik va xavfsizlik talablarini buzmasligi kerak; budjet alert i avtomatik xarajat chegarasi emas.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0" y="0"/>
            <a:ext cx="438912" cy="6858000"/>
          </a:xfrm>
          <a:prstGeom prst="rect">
            <a:avLst/>
          </a:prstGeom>
          <a:solidFill>
            <a:srgbClr val="E5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 y="118872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 y="1901952"/>
            <a:ext cx="173736" cy="173736"/>
          </a:xfrm>
          <a:prstGeom prst="roundRect">
            <a:avLst>
              <a:gd name="adj" fmla="val 8000"/>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 y="2615184"/>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8016" y="3328415"/>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8016" y="4041648"/>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8016" y="475488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93192"/>
            <a:ext cx="10515600" cy="1042415"/>
          </a:xfrm>
          <a:prstGeom prst="rect">
            <a:avLst/>
          </a:prstGeom>
          <a:noFill/>
        </p:spPr>
        <p:txBody>
          <a:bodyPr wrap="square" lIns="27432" rIns="27432" tIns="18288" bIns="0">
            <a:spAutoFit/>
          </a:bodyPr>
          <a:lstStyle/>
          <a:p>
            <a:pPr>
              <a:spcAft>
                <a:spcPts val="800"/>
              </a:spcAft>
              <a:defRPr sz="2900" b="1">
                <a:solidFill>
                  <a:srgbClr val="163B46"/>
                </a:solidFill>
                <a:latin typeface="DejaVu Sans"/>
              </a:defRPr>
            </a:pPr>
            <a:r>
              <a:t>Signaldan qarorgacha: kuzatuv oqimi</a:t>
            </a:r>
          </a:p>
        </p:txBody>
      </p:sp>
      <p:sp>
        <p:nvSpPr>
          <p:cNvPr id="10" name="Oval 9"/>
          <p:cNvSpPr/>
          <p:nvPr/>
        </p:nvSpPr>
        <p:spPr>
          <a:xfrm>
            <a:off x="10780776" y="192024"/>
            <a:ext cx="91440" cy="91440"/>
          </a:xfrm>
          <a:prstGeom prst="ellipse">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36224" y="137160"/>
            <a:ext cx="676656" cy="201168"/>
          </a:xfrm>
          <a:prstGeom prst="rect">
            <a:avLst/>
          </a:prstGeom>
          <a:noFill/>
        </p:spPr>
        <p:txBody>
          <a:bodyPr wrap="square" lIns="27432" rIns="27432" tIns="18288" bIns="0">
            <a:spAutoFit/>
          </a:bodyPr>
          <a:lstStyle/>
          <a:p>
            <a:pPr>
              <a:spcAft>
                <a:spcPts val="800"/>
              </a:spcAft>
              <a:defRPr sz="800" b="1">
                <a:solidFill>
                  <a:srgbClr val="00856A"/>
                </a:solidFill>
                <a:latin typeface="DejaVu Sans"/>
              </a:defRPr>
            </a:pPr>
            <a:r>
              <a:t>LIVE</a:t>
            </a:r>
          </a:p>
        </p:txBody>
      </p:sp>
      <p:cxnSp>
        <p:nvCxnSpPr>
          <p:cNvPr id="12" name="Connector 11"/>
          <p:cNvCxnSpPr/>
          <p:nvPr/>
        </p:nvCxnSpPr>
        <p:spPr>
          <a:xfrm>
            <a:off x="832104" y="1426464"/>
            <a:ext cx="10570464" cy="0"/>
          </a:xfrm>
          <a:prstGeom prst="line">
            <a:avLst/>
          </a:prstGeom>
          <a:ln w="12700">
            <a:solidFill>
              <a:srgbClr val="C7DED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4" name="TextBox 13"/>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09 / 13</a:t>
            </a:r>
          </a:p>
        </p:txBody>
      </p:sp>
      <p:cxnSp>
        <p:nvCxnSpPr>
          <p:cNvPr id="15" name="Connector 14"/>
          <p:cNvCxnSpPr/>
          <p:nvPr/>
        </p:nvCxnSpPr>
        <p:spPr>
          <a:xfrm>
            <a:off x="3474720" y="2331720"/>
            <a:ext cx="777240" cy="0"/>
          </a:xfrm>
          <a:prstGeom prst="line">
            <a:avLst/>
          </a:prstGeom>
          <a:ln w="25400">
            <a:solidFill>
              <a:srgbClr val="00856A"/>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74720" y="2331720"/>
            <a:ext cx="4297680" cy="0"/>
          </a:xfrm>
          <a:prstGeom prst="line">
            <a:avLst/>
          </a:prstGeom>
          <a:ln w="25400">
            <a:solidFill>
              <a:srgbClr val="00856A"/>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3931920" y="2816352"/>
            <a:ext cx="1691640" cy="1161287"/>
          </a:xfrm>
          <a:prstGeom prst="line">
            <a:avLst/>
          </a:prstGeom>
          <a:ln w="25400">
            <a:solidFill>
              <a:srgbClr val="00856A"/>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3931920" y="2816352"/>
            <a:ext cx="5212080" cy="1161287"/>
          </a:xfrm>
          <a:prstGeom prst="line">
            <a:avLst/>
          </a:prstGeom>
          <a:ln w="25400">
            <a:solidFill>
              <a:srgbClr val="00856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03520" y="4434840"/>
            <a:ext cx="1554480" cy="0"/>
          </a:xfrm>
          <a:prstGeom prst="line">
            <a:avLst/>
          </a:prstGeom>
          <a:ln w="25400">
            <a:solidFill>
              <a:srgbClr val="00856A"/>
            </a:solidFill>
            <a:tailEnd type="triangle"/>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31520" y="1874519"/>
            <a:ext cx="2743200" cy="941832"/>
          </a:xfrm>
          <a:prstGeom prst="rect">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2011679"/>
            <a:ext cx="2523744" cy="685800"/>
          </a:xfrm>
          <a:prstGeom prst="rect">
            <a:avLst/>
          </a:prstGeom>
          <a:noFill/>
        </p:spPr>
        <p:txBody>
          <a:bodyPr wrap="square" lIns="27432" rIns="27432" tIns="18288" bIns="0">
            <a:spAutoFit/>
          </a:bodyPr>
          <a:lstStyle/>
          <a:p>
            <a:pPr>
              <a:spcAft>
                <a:spcPts val="800"/>
              </a:spcAft>
              <a:defRPr sz="1700" b="1">
                <a:solidFill>
                  <a:srgbClr val="FFFFFF"/>
                </a:solidFill>
                <a:latin typeface="DejaVu Sans"/>
              </a:defRPr>
            </a:pPr>
            <a:r>
              <a:t>Ilova</a:t>
            </a:r>
          </a:p>
        </p:txBody>
      </p:sp>
      <p:sp>
        <p:nvSpPr>
          <p:cNvPr id="22" name="Rectangle 21"/>
          <p:cNvSpPr/>
          <p:nvPr/>
        </p:nvSpPr>
        <p:spPr>
          <a:xfrm>
            <a:off x="4251960" y="1874519"/>
            <a:ext cx="2743200" cy="941832"/>
          </a:xfrm>
          <a:prstGeom prst="rect">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61688" y="2011679"/>
            <a:ext cx="2523744" cy="685800"/>
          </a:xfrm>
          <a:prstGeom prst="rect">
            <a:avLst/>
          </a:prstGeom>
          <a:noFill/>
        </p:spPr>
        <p:txBody>
          <a:bodyPr wrap="square" lIns="27432" rIns="27432" tIns="18288" bIns="0">
            <a:spAutoFit/>
          </a:bodyPr>
          <a:lstStyle/>
          <a:p>
            <a:pPr>
              <a:spcAft>
                <a:spcPts val="800"/>
              </a:spcAft>
              <a:defRPr sz="1700" b="1">
                <a:solidFill>
                  <a:srgbClr val="163B46"/>
                </a:solidFill>
                <a:latin typeface="DejaVu Sans"/>
              </a:defRPr>
            </a:pPr>
            <a:r>
              <a:t>Metrics / logs</a:t>
            </a:r>
          </a:p>
        </p:txBody>
      </p:sp>
      <p:sp>
        <p:nvSpPr>
          <p:cNvPr id="24" name="Rectangle 23"/>
          <p:cNvSpPr/>
          <p:nvPr/>
        </p:nvSpPr>
        <p:spPr>
          <a:xfrm>
            <a:off x="7772400" y="1874519"/>
            <a:ext cx="2743200" cy="941832"/>
          </a:xfrm>
          <a:prstGeom prst="rect">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82127" y="2011679"/>
            <a:ext cx="2523744" cy="685800"/>
          </a:xfrm>
          <a:prstGeom prst="rect">
            <a:avLst/>
          </a:prstGeom>
          <a:noFill/>
        </p:spPr>
        <p:txBody>
          <a:bodyPr wrap="square" lIns="27432" rIns="27432" tIns="18288" bIns="0">
            <a:spAutoFit/>
          </a:bodyPr>
          <a:lstStyle/>
          <a:p>
            <a:pPr>
              <a:spcAft>
                <a:spcPts val="800"/>
              </a:spcAft>
              <a:defRPr sz="1700" b="1">
                <a:solidFill>
                  <a:srgbClr val="163B46"/>
                </a:solidFill>
                <a:latin typeface="DejaVu Sans"/>
              </a:defRPr>
            </a:pPr>
            <a:r>
              <a:t>Traces</a:t>
            </a:r>
          </a:p>
        </p:txBody>
      </p:sp>
      <p:sp>
        <p:nvSpPr>
          <p:cNvPr id="26" name="Rectangle 25"/>
          <p:cNvSpPr/>
          <p:nvPr/>
        </p:nvSpPr>
        <p:spPr>
          <a:xfrm>
            <a:off x="2560320" y="3977639"/>
            <a:ext cx="2743200" cy="941832"/>
          </a:xfrm>
          <a:prstGeom prst="rect">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70048" y="4114800"/>
            <a:ext cx="2523744" cy="685800"/>
          </a:xfrm>
          <a:prstGeom prst="rect">
            <a:avLst/>
          </a:prstGeom>
          <a:noFill/>
        </p:spPr>
        <p:txBody>
          <a:bodyPr wrap="square" lIns="27432" rIns="27432" tIns="18288" bIns="0">
            <a:spAutoFit/>
          </a:bodyPr>
          <a:lstStyle/>
          <a:p>
            <a:pPr>
              <a:spcAft>
                <a:spcPts val="800"/>
              </a:spcAft>
              <a:defRPr sz="1700" b="1">
                <a:solidFill>
                  <a:srgbClr val="163B46"/>
                </a:solidFill>
                <a:latin typeface="DejaVu Sans"/>
              </a:defRPr>
            </a:pPr>
            <a:r>
              <a:t>Tahlil / alert</a:t>
            </a:r>
          </a:p>
        </p:txBody>
      </p:sp>
      <p:sp>
        <p:nvSpPr>
          <p:cNvPr id="28" name="Rectangle 27"/>
          <p:cNvSpPr/>
          <p:nvPr/>
        </p:nvSpPr>
        <p:spPr>
          <a:xfrm>
            <a:off x="6858000" y="3977639"/>
            <a:ext cx="2743200" cy="941832"/>
          </a:xfrm>
          <a:prstGeom prst="rect">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4114800"/>
            <a:ext cx="2523744" cy="685800"/>
          </a:xfrm>
          <a:prstGeom prst="rect">
            <a:avLst/>
          </a:prstGeom>
          <a:noFill/>
        </p:spPr>
        <p:txBody>
          <a:bodyPr wrap="square" lIns="27432" rIns="27432" tIns="18288" bIns="0">
            <a:spAutoFit/>
          </a:bodyPr>
          <a:lstStyle/>
          <a:p>
            <a:pPr>
              <a:spcAft>
                <a:spcPts val="800"/>
              </a:spcAft>
              <a:defRPr sz="1700" b="1">
                <a:solidFill>
                  <a:srgbClr val="163B46"/>
                </a:solidFill>
                <a:latin typeface="DejaVu Sans"/>
              </a:defRPr>
            </a:pPr>
            <a:r>
              <a:t>Optimallashtirish</a:t>
            </a:r>
          </a:p>
        </p:txBody>
      </p:sp>
      <p:sp>
        <p:nvSpPr>
          <p:cNvPr id="30" name="TextBox 29"/>
          <p:cNvSpPr txBox="1"/>
          <p:nvPr/>
        </p:nvSpPr>
        <p:spPr>
          <a:xfrm>
            <a:off x="731520" y="6080760"/>
            <a:ext cx="10698480" cy="274320"/>
          </a:xfrm>
          <a:prstGeom prst="rect">
            <a:avLst/>
          </a:prstGeom>
          <a:noFill/>
        </p:spPr>
        <p:txBody>
          <a:bodyPr wrap="square" lIns="27432" rIns="27432" tIns="18288" bIns="0">
            <a:spAutoFit/>
          </a:bodyPr>
          <a:lstStyle/>
          <a:p>
            <a:pPr>
              <a:spcAft>
                <a:spcPts val="800"/>
              </a:spcAft>
              <a:defRPr sz="1100" b="0">
                <a:solidFill>
                  <a:srgbClr val="163B46"/>
                </a:solidFill>
                <a:latin typeface="DejaVu Sans"/>
              </a:defRPr>
            </a:pPr>
            <a:r>
              <a:t>Soddalashtirilgan sxema: o‘qlar — asosiy murojaat yoki boshqaruv bog‘lanishi.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0" y="0"/>
            <a:ext cx="438912" cy="6858000"/>
          </a:xfrm>
          <a:prstGeom prst="rect">
            <a:avLst/>
          </a:prstGeom>
          <a:solidFill>
            <a:srgbClr val="E5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 y="118872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 y="1901952"/>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 y="2615184"/>
            <a:ext cx="173736" cy="173736"/>
          </a:xfrm>
          <a:prstGeom prst="roundRect">
            <a:avLst>
              <a:gd name="adj" fmla="val 8000"/>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8016" y="3328415"/>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8016" y="4041648"/>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8016" y="475488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93192"/>
            <a:ext cx="10515600" cy="1042415"/>
          </a:xfrm>
          <a:prstGeom prst="rect">
            <a:avLst/>
          </a:prstGeom>
          <a:noFill/>
        </p:spPr>
        <p:txBody>
          <a:bodyPr wrap="square" lIns="27432" rIns="27432" tIns="18288" bIns="0">
            <a:spAutoFit/>
          </a:bodyPr>
          <a:lstStyle/>
          <a:p>
            <a:pPr>
              <a:spcAft>
                <a:spcPts val="800"/>
              </a:spcAft>
              <a:defRPr sz="2900" b="1">
                <a:solidFill>
                  <a:srgbClr val="163B46"/>
                </a:solidFill>
                <a:latin typeface="DejaVu Sans"/>
              </a:defRPr>
            </a:pPr>
            <a:r>
              <a:t>Universitet misoli: portal nega sekin?</a:t>
            </a:r>
          </a:p>
        </p:txBody>
      </p:sp>
      <p:sp>
        <p:nvSpPr>
          <p:cNvPr id="10" name="Oval 9"/>
          <p:cNvSpPr/>
          <p:nvPr/>
        </p:nvSpPr>
        <p:spPr>
          <a:xfrm>
            <a:off x="10780776" y="192024"/>
            <a:ext cx="91440" cy="91440"/>
          </a:xfrm>
          <a:prstGeom prst="ellipse">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36224" y="137160"/>
            <a:ext cx="676656" cy="201168"/>
          </a:xfrm>
          <a:prstGeom prst="rect">
            <a:avLst/>
          </a:prstGeom>
          <a:noFill/>
        </p:spPr>
        <p:txBody>
          <a:bodyPr wrap="square" lIns="27432" rIns="27432" tIns="18288" bIns="0">
            <a:spAutoFit/>
          </a:bodyPr>
          <a:lstStyle/>
          <a:p>
            <a:pPr>
              <a:spcAft>
                <a:spcPts val="800"/>
              </a:spcAft>
              <a:defRPr sz="800" b="1">
                <a:solidFill>
                  <a:srgbClr val="00856A"/>
                </a:solidFill>
                <a:latin typeface="DejaVu Sans"/>
              </a:defRPr>
            </a:pPr>
            <a:r>
              <a:t>LIVE</a:t>
            </a:r>
          </a:p>
        </p:txBody>
      </p:sp>
      <p:cxnSp>
        <p:nvCxnSpPr>
          <p:cNvPr id="12" name="Connector 11"/>
          <p:cNvCxnSpPr/>
          <p:nvPr/>
        </p:nvCxnSpPr>
        <p:spPr>
          <a:xfrm>
            <a:off x="832104" y="1426464"/>
            <a:ext cx="10570464" cy="0"/>
          </a:xfrm>
          <a:prstGeom prst="line">
            <a:avLst/>
          </a:prstGeom>
          <a:ln w="12700">
            <a:solidFill>
              <a:srgbClr val="C7DED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4" name="TextBox 13"/>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10 / 13</a:t>
            </a:r>
          </a:p>
        </p:txBody>
      </p:sp>
      <p:sp>
        <p:nvSpPr>
          <p:cNvPr id="15" name="Rounded Rectangle 14"/>
          <p:cNvSpPr/>
          <p:nvPr/>
        </p:nvSpPr>
        <p:spPr>
          <a:xfrm>
            <a:off x="841248" y="1783080"/>
            <a:ext cx="6400800" cy="4069080"/>
          </a:xfrm>
          <a:prstGeom prst="roundRect">
            <a:avLst>
              <a:gd name="adj" fmla="val 8000"/>
            </a:avLst>
          </a:prstGeom>
          <a:solidFill>
            <a:srgbClr val="FFFFFF"/>
          </a:solidFill>
          <a:ln>
            <a:solidFill>
              <a:srgbClr val="D2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039112"/>
            <a:ext cx="5879592" cy="3410712"/>
          </a:xfrm>
          <a:prstGeom prst="rect">
            <a:avLst/>
          </a:prstGeom>
          <a:noFill/>
        </p:spPr>
        <p:txBody>
          <a:bodyPr wrap="square" lIns="27432" rIns="27432" tIns="18288" bIns="0">
            <a:spAutoFit/>
          </a:bodyPr>
          <a:lstStyle/>
          <a:p>
            <a:pPr>
              <a:spcAft>
                <a:spcPts val="800"/>
              </a:spcAft>
              <a:defRPr sz="2700" b="0">
                <a:solidFill>
                  <a:srgbClr val="163B46"/>
                </a:solidFill>
                <a:latin typeface="DejaVu Sans"/>
              </a:defRPr>
            </a:pPr>
            <a:r>
              <a:t>Portal ochiladi, lekin baholar sahifasi sekin ishlaydi. Faqat CPU grafigi yetarli emas: so‘rovning qaysi bosqichi kechikayotganini va bu foydalanuvchiga qanday ta’sir qilayotganini topish kerak.</a:t>
            </a:r>
          </a:p>
        </p:txBody>
      </p:sp>
      <p:sp>
        <p:nvSpPr>
          <p:cNvPr id="17" name="Rounded Rectangle 16"/>
          <p:cNvSpPr/>
          <p:nvPr/>
        </p:nvSpPr>
        <p:spPr>
          <a:xfrm>
            <a:off x="7571231" y="1783080"/>
            <a:ext cx="3794760" cy="18105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1" y="1929384"/>
            <a:ext cx="3429000" cy="365760"/>
          </a:xfrm>
          <a:prstGeom prst="rect">
            <a:avLst/>
          </a:prstGeom>
          <a:noFill/>
        </p:spPr>
        <p:txBody>
          <a:bodyPr wrap="square" lIns="27432" rIns="27432" tIns="18288" bIns="0">
            <a:spAutoFit/>
          </a:bodyPr>
          <a:lstStyle/>
          <a:p>
            <a:pPr>
              <a:spcAft>
                <a:spcPts val="800"/>
              </a:spcAft>
              <a:defRPr sz="1400" b="1">
                <a:solidFill>
                  <a:srgbClr val="00856A"/>
                </a:solidFill>
                <a:latin typeface="DejaVu Sans"/>
              </a:defRPr>
            </a:pPr>
            <a:r>
              <a:t>CPU PAST</a:t>
            </a:r>
          </a:p>
        </p:txBody>
      </p:sp>
      <p:sp>
        <p:nvSpPr>
          <p:cNvPr id="19" name="TextBox 18"/>
          <p:cNvSpPr txBox="1"/>
          <p:nvPr/>
        </p:nvSpPr>
        <p:spPr>
          <a:xfrm>
            <a:off x="7754111" y="2404872"/>
            <a:ext cx="3429000" cy="1078992"/>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Muammo yo‘q degani emas.</a:t>
            </a:r>
          </a:p>
        </p:txBody>
      </p:sp>
      <p:sp>
        <p:nvSpPr>
          <p:cNvPr id="20" name="Rounded Rectangle 19"/>
          <p:cNvSpPr/>
          <p:nvPr/>
        </p:nvSpPr>
        <p:spPr>
          <a:xfrm>
            <a:off x="7571231" y="3886200"/>
            <a:ext cx="379476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54111" y="4032504"/>
            <a:ext cx="3429000" cy="365760"/>
          </a:xfrm>
          <a:prstGeom prst="rect">
            <a:avLst/>
          </a:prstGeom>
          <a:noFill/>
        </p:spPr>
        <p:txBody>
          <a:bodyPr wrap="square" lIns="27432" rIns="27432" tIns="18288" bIns="0">
            <a:spAutoFit/>
          </a:bodyPr>
          <a:lstStyle/>
          <a:p>
            <a:pPr>
              <a:spcAft>
                <a:spcPts val="800"/>
              </a:spcAft>
              <a:defRPr sz="1400" b="1">
                <a:solidFill>
                  <a:srgbClr val="2575C4"/>
                </a:solidFill>
                <a:latin typeface="DejaVu Sans"/>
              </a:defRPr>
            </a:pPr>
            <a:r>
              <a:t>TRACE</a:t>
            </a:r>
          </a:p>
        </p:txBody>
      </p:sp>
      <p:sp>
        <p:nvSpPr>
          <p:cNvPr id="22" name="TextBox 21"/>
          <p:cNvSpPr txBox="1"/>
          <p:nvPr/>
        </p:nvSpPr>
        <p:spPr>
          <a:xfrm>
            <a:off x="7754111" y="4507992"/>
            <a:ext cx="3429000" cy="1234439"/>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Baza kutishini topishga yordam beradi.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0" y="0"/>
            <a:ext cx="438912" cy="6858000"/>
          </a:xfrm>
          <a:prstGeom prst="rect">
            <a:avLst/>
          </a:prstGeom>
          <a:solidFill>
            <a:srgbClr val="E5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 y="118872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 y="1901952"/>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 y="2615184"/>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8016" y="3328415"/>
            <a:ext cx="173736" cy="173736"/>
          </a:xfrm>
          <a:prstGeom prst="roundRect">
            <a:avLst>
              <a:gd name="adj" fmla="val 8000"/>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8016" y="4041648"/>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8016" y="475488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93192"/>
            <a:ext cx="10515600" cy="1042415"/>
          </a:xfrm>
          <a:prstGeom prst="rect">
            <a:avLst/>
          </a:prstGeom>
          <a:noFill/>
        </p:spPr>
        <p:txBody>
          <a:bodyPr wrap="square" lIns="27432" rIns="27432" tIns="18288" bIns="0">
            <a:spAutoFit/>
          </a:bodyPr>
          <a:lstStyle/>
          <a:p>
            <a:pPr>
              <a:spcAft>
                <a:spcPts val="800"/>
              </a:spcAft>
              <a:defRPr sz="2900" b="1">
                <a:solidFill>
                  <a:srgbClr val="163B46"/>
                </a:solidFill>
                <a:latin typeface="DejaVu Sans"/>
              </a:defRPr>
            </a:pPr>
            <a:r>
              <a:t>Kuzatuvdagi uchta noto‘g‘ri taxmin</a:t>
            </a:r>
          </a:p>
        </p:txBody>
      </p:sp>
      <p:sp>
        <p:nvSpPr>
          <p:cNvPr id="10" name="Oval 9"/>
          <p:cNvSpPr/>
          <p:nvPr/>
        </p:nvSpPr>
        <p:spPr>
          <a:xfrm>
            <a:off x="10780776" y="192024"/>
            <a:ext cx="91440" cy="91440"/>
          </a:xfrm>
          <a:prstGeom prst="ellipse">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36224" y="137160"/>
            <a:ext cx="676656" cy="201168"/>
          </a:xfrm>
          <a:prstGeom prst="rect">
            <a:avLst/>
          </a:prstGeom>
          <a:noFill/>
        </p:spPr>
        <p:txBody>
          <a:bodyPr wrap="square" lIns="27432" rIns="27432" tIns="18288" bIns="0">
            <a:spAutoFit/>
          </a:bodyPr>
          <a:lstStyle/>
          <a:p>
            <a:pPr>
              <a:spcAft>
                <a:spcPts val="800"/>
              </a:spcAft>
              <a:defRPr sz="800" b="1">
                <a:solidFill>
                  <a:srgbClr val="00856A"/>
                </a:solidFill>
                <a:latin typeface="DejaVu Sans"/>
              </a:defRPr>
            </a:pPr>
            <a:r>
              <a:t>LIVE</a:t>
            </a:r>
          </a:p>
        </p:txBody>
      </p:sp>
      <p:cxnSp>
        <p:nvCxnSpPr>
          <p:cNvPr id="12" name="Connector 11"/>
          <p:cNvCxnSpPr/>
          <p:nvPr/>
        </p:nvCxnSpPr>
        <p:spPr>
          <a:xfrm>
            <a:off x="832104" y="1426464"/>
            <a:ext cx="10570464" cy="0"/>
          </a:xfrm>
          <a:prstGeom prst="line">
            <a:avLst/>
          </a:prstGeom>
          <a:ln w="12700">
            <a:solidFill>
              <a:srgbClr val="C7DED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4" name="TextBox 13"/>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11 / 13</a:t>
            </a:r>
          </a:p>
        </p:txBody>
      </p:sp>
      <p:sp>
        <p:nvSpPr>
          <p:cNvPr id="15" name="Rectangle 14"/>
          <p:cNvSpPr/>
          <p:nvPr/>
        </p:nvSpPr>
        <p:spPr>
          <a:xfrm>
            <a:off x="731520" y="1737360"/>
            <a:ext cx="512064" cy="1152144"/>
          </a:xfrm>
          <a:prstGeom prst="rect">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1920240"/>
            <a:ext cx="384048" cy="457200"/>
          </a:xfrm>
          <a:prstGeom prst="rect">
            <a:avLst/>
          </a:prstGeom>
          <a:noFill/>
        </p:spPr>
        <p:txBody>
          <a:bodyPr wrap="square" lIns="27432" rIns="27432" tIns="18288" bIns="0">
            <a:spAutoFit/>
          </a:bodyPr>
          <a:lstStyle/>
          <a:p>
            <a:pPr>
              <a:spcAft>
                <a:spcPts val="800"/>
              </a:spcAft>
              <a:defRPr sz="2400" b="1">
                <a:solidFill>
                  <a:srgbClr val="FFFFFF"/>
                </a:solidFill>
                <a:latin typeface="DejaVu Sans"/>
              </a:defRPr>
            </a:pPr>
            <a:r>
              <a:t>1</a:t>
            </a:r>
          </a:p>
        </p:txBody>
      </p:sp>
      <p:sp>
        <p:nvSpPr>
          <p:cNvPr id="17" name="TextBox 16"/>
          <p:cNvSpPr txBox="1"/>
          <p:nvPr/>
        </p:nvSpPr>
        <p:spPr>
          <a:xfrm>
            <a:off x="1444752" y="1773936"/>
            <a:ext cx="3063240" cy="1124712"/>
          </a:xfrm>
          <a:prstGeom prst="rect">
            <a:avLst/>
          </a:prstGeom>
          <a:noFill/>
        </p:spPr>
        <p:txBody>
          <a:bodyPr wrap="square" lIns="27432" rIns="27432" tIns="18288" bIns="0">
            <a:spAutoFit/>
          </a:bodyPr>
          <a:lstStyle/>
          <a:p>
            <a:pPr>
              <a:spcAft>
                <a:spcPts val="800"/>
              </a:spcAft>
              <a:defRPr sz="2100" b="1">
                <a:solidFill>
                  <a:srgbClr val="163B46"/>
                </a:solidFill>
                <a:latin typeface="DejaVu Sans"/>
              </a:defRPr>
            </a:pPr>
            <a:r>
              <a:t>Monitoring va observability</a:t>
            </a:r>
          </a:p>
        </p:txBody>
      </p:sp>
      <p:sp>
        <p:nvSpPr>
          <p:cNvPr id="18" name="Rounded Rectangle 17"/>
          <p:cNvSpPr/>
          <p:nvPr/>
        </p:nvSpPr>
        <p:spPr>
          <a:xfrm>
            <a:off x="4599432" y="1737360"/>
            <a:ext cx="6812280" cy="1170432"/>
          </a:xfrm>
          <a:prstGeom prst="roundRect">
            <a:avLst>
              <a:gd name="adj" fmla="val 8000"/>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82312" y="1856231"/>
            <a:ext cx="6428232" cy="987552"/>
          </a:xfrm>
          <a:prstGeom prst="rect">
            <a:avLst/>
          </a:prstGeom>
          <a:noFill/>
        </p:spPr>
        <p:txBody>
          <a:bodyPr wrap="square" lIns="27432" rIns="27432" tIns="18288" bIns="0">
            <a:spAutoFit/>
          </a:bodyPr>
          <a:lstStyle/>
          <a:p>
            <a:pPr>
              <a:spcAft>
                <a:spcPts val="800"/>
              </a:spcAft>
              <a:defRPr sz="2000" b="0">
                <a:solidFill>
                  <a:srgbClr val="163B46"/>
                </a:solidFill>
                <a:latin typeface="DejaVu Sans"/>
              </a:defRPr>
            </a:pPr>
            <a:r>
              <a:t>Ko‘p ma’lumot yig‘ishning o‘zi tizimni kuzatiladigan qilmaydi; ma’lumot sifati va kontekst zarur.</a:t>
            </a:r>
          </a:p>
        </p:txBody>
      </p:sp>
      <p:sp>
        <p:nvSpPr>
          <p:cNvPr id="20" name="Rectangle 19"/>
          <p:cNvSpPr/>
          <p:nvPr/>
        </p:nvSpPr>
        <p:spPr>
          <a:xfrm>
            <a:off x="731520" y="3154680"/>
            <a:ext cx="512064" cy="1152144"/>
          </a:xfrm>
          <a:prstGeom prst="rect">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3337560"/>
            <a:ext cx="384048" cy="457200"/>
          </a:xfrm>
          <a:prstGeom prst="rect">
            <a:avLst/>
          </a:prstGeom>
          <a:noFill/>
        </p:spPr>
        <p:txBody>
          <a:bodyPr wrap="square" lIns="27432" rIns="27432" tIns="18288" bIns="0">
            <a:spAutoFit/>
          </a:bodyPr>
          <a:lstStyle/>
          <a:p>
            <a:pPr>
              <a:spcAft>
                <a:spcPts val="800"/>
              </a:spcAft>
              <a:defRPr sz="2400" b="1">
                <a:solidFill>
                  <a:srgbClr val="FFFFFF"/>
                </a:solidFill>
                <a:latin typeface="DejaVu Sans"/>
              </a:defRPr>
            </a:pPr>
            <a:r>
              <a:t>2</a:t>
            </a:r>
          </a:p>
        </p:txBody>
      </p:sp>
      <p:sp>
        <p:nvSpPr>
          <p:cNvPr id="22" name="TextBox 21"/>
          <p:cNvSpPr txBox="1"/>
          <p:nvPr/>
        </p:nvSpPr>
        <p:spPr>
          <a:xfrm>
            <a:off x="1444752" y="3191256"/>
            <a:ext cx="3063240" cy="1124712"/>
          </a:xfrm>
          <a:prstGeom prst="rect">
            <a:avLst/>
          </a:prstGeom>
          <a:noFill/>
        </p:spPr>
        <p:txBody>
          <a:bodyPr wrap="square" lIns="27432" rIns="27432" tIns="18288" bIns="0">
            <a:spAutoFit/>
          </a:bodyPr>
          <a:lstStyle/>
          <a:p>
            <a:pPr>
              <a:spcAft>
                <a:spcPts val="800"/>
              </a:spcAft>
              <a:defRPr sz="2100" b="1">
                <a:solidFill>
                  <a:srgbClr val="163B46"/>
                </a:solidFill>
                <a:latin typeface="DejaVu Sans"/>
              </a:defRPr>
            </a:pPr>
            <a:r>
              <a:t>Xizmat sifati va percentillar</a:t>
            </a:r>
          </a:p>
        </p:txBody>
      </p:sp>
      <p:sp>
        <p:nvSpPr>
          <p:cNvPr id="23" name="Rounded Rectangle 22"/>
          <p:cNvSpPr/>
          <p:nvPr/>
        </p:nvSpPr>
        <p:spPr>
          <a:xfrm>
            <a:off x="4599432" y="3154680"/>
            <a:ext cx="6812280" cy="1170432"/>
          </a:xfrm>
          <a:prstGeom prst="roundRect">
            <a:avLst>
              <a:gd name="adj" fmla="val 8000"/>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2312" y="3273552"/>
            <a:ext cx="6428232" cy="987552"/>
          </a:xfrm>
          <a:prstGeom prst="rect">
            <a:avLst/>
          </a:prstGeom>
          <a:noFill/>
        </p:spPr>
        <p:txBody>
          <a:bodyPr wrap="square" lIns="27432" rIns="27432" tIns="18288" bIns="0">
            <a:spAutoFit/>
          </a:bodyPr>
          <a:lstStyle/>
          <a:p>
            <a:pPr>
              <a:spcAft>
                <a:spcPts val="800"/>
              </a:spcAft>
              <a:defRPr sz="2000" b="0">
                <a:solidFill>
                  <a:srgbClr val="163B46"/>
                </a:solidFill>
                <a:latin typeface="DejaVu Sans"/>
              </a:defRPr>
            </a:pPr>
            <a:r>
              <a:t>p95 vaqtning 95 foizida hamma uchun javob shu darajada degani emas; u tanlangan kuzatuvlar to‘plamiga tegishli.</a:t>
            </a:r>
          </a:p>
        </p:txBody>
      </p:sp>
      <p:sp>
        <p:nvSpPr>
          <p:cNvPr id="25" name="Rectangle 24"/>
          <p:cNvSpPr/>
          <p:nvPr/>
        </p:nvSpPr>
        <p:spPr>
          <a:xfrm>
            <a:off x="731520" y="4572000"/>
            <a:ext cx="512064" cy="1152144"/>
          </a:xfrm>
          <a:prstGeom prst="rect">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 y="4754880"/>
            <a:ext cx="384048" cy="457200"/>
          </a:xfrm>
          <a:prstGeom prst="rect">
            <a:avLst/>
          </a:prstGeom>
          <a:noFill/>
        </p:spPr>
        <p:txBody>
          <a:bodyPr wrap="square" lIns="27432" rIns="27432" tIns="18288" bIns="0">
            <a:spAutoFit/>
          </a:bodyPr>
          <a:lstStyle/>
          <a:p>
            <a:pPr>
              <a:spcAft>
                <a:spcPts val="800"/>
              </a:spcAft>
              <a:defRPr sz="2400" b="1">
                <a:solidFill>
                  <a:srgbClr val="FFFFFF"/>
                </a:solidFill>
                <a:latin typeface="DejaVu Sans"/>
              </a:defRPr>
            </a:pPr>
            <a:r>
              <a:t>3</a:t>
            </a:r>
          </a:p>
        </p:txBody>
      </p:sp>
      <p:sp>
        <p:nvSpPr>
          <p:cNvPr id="27" name="TextBox 26"/>
          <p:cNvSpPr txBox="1"/>
          <p:nvPr/>
        </p:nvSpPr>
        <p:spPr>
          <a:xfrm>
            <a:off x="1444752" y="4608576"/>
            <a:ext cx="3063240" cy="1124712"/>
          </a:xfrm>
          <a:prstGeom prst="rect">
            <a:avLst/>
          </a:prstGeom>
          <a:noFill/>
        </p:spPr>
        <p:txBody>
          <a:bodyPr wrap="square" lIns="27432" rIns="27432" tIns="18288" bIns="0">
            <a:spAutoFit/>
          </a:bodyPr>
          <a:lstStyle/>
          <a:p>
            <a:pPr>
              <a:spcAft>
                <a:spcPts val="800"/>
              </a:spcAft>
              <a:defRPr sz="2100" b="1">
                <a:solidFill>
                  <a:srgbClr val="163B46"/>
                </a:solidFill>
                <a:latin typeface="DejaVu Sans"/>
              </a:defRPr>
            </a:pPr>
            <a:r>
              <a:t>Auto Scaling va unumdorlik</a:t>
            </a:r>
          </a:p>
        </p:txBody>
      </p:sp>
      <p:sp>
        <p:nvSpPr>
          <p:cNvPr id="28" name="Rounded Rectangle 27"/>
          <p:cNvSpPr/>
          <p:nvPr/>
        </p:nvSpPr>
        <p:spPr>
          <a:xfrm>
            <a:off x="4599432" y="4572000"/>
            <a:ext cx="6812280" cy="1170432"/>
          </a:xfrm>
          <a:prstGeom prst="roundRect">
            <a:avLst>
              <a:gd name="adj" fmla="val 8000"/>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82312" y="4690872"/>
            <a:ext cx="6428232" cy="987552"/>
          </a:xfrm>
          <a:prstGeom prst="rect">
            <a:avLst/>
          </a:prstGeom>
          <a:noFill/>
        </p:spPr>
        <p:txBody>
          <a:bodyPr wrap="square" lIns="27432" rIns="27432" tIns="18288" bIns="0">
            <a:spAutoFit/>
          </a:bodyPr>
          <a:lstStyle/>
          <a:p>
            <a:pPr>
              <a:spcAft>
                <a:spcPts val="800"/>
              </a:spcAft>
              <a:defRPr sz="2000" b="0">
                <a:solidFill>
                  <a:srgbClr val="163B46"/>
                </a:solidFill>
                <a:latin typeface="DejaVu Sans"/>
              </a:defRPr>
            </a:pPr>
            <a:r>
              <a:t>Noto‘g‘ri metrika ko‘paytirish va kamaytirishning beqaror tebranishiga sabab bo‘lishi mumkin.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0" y="0"/>
            <a:ext cx="438912" cy="6858000"/>
          </a:xfrm>
          <a:prstGeom prst="rect">
            <a:avLst/>
          </a:prstGeom>
          <a:solidFill>
            <a:srgbClr val="E5F1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 y="118872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 y="1901952"/>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 y="2615184"/>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8016" y="3328415"/>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8016" y="4041648"/>
            <a:ext cx="173736" cy="173736"/>
          </a:xfrm>
          <a:prstGeom prst="roundRect">
            <a:avLst>
              <a:gd name="adj" fmla="val 8000"/>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28016" y="4754880"/>
            <a:ext cx="173736" cy="173736"/>
          </a:xfrm>
          <a:prstGeom prst="roundRect">
            <a:avLst>
              <a:gd name="adj" fmla="val 8000"/>
            </a:avLst>
          </a:prstGeom>
          <a:solidFill>
            <a:srgbClr val="ABCA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93192"/>
            <a:ext cx="10515600" cy="1042415"/>
          </a:xfrm>
          <a:prstGeom prst="rect">
            <a:avLst/>
          </a:prstGeom>
          <a:noFill/>
        </p:spPr>
        <p:txBody>
          <a:bodyPr wrap="square" lIns="27432" rIns="27432" tIns="18288" bIns="0">
            <a:spAutoFit/>
          </a:bodyPr>
          <a:lstStyle/>
          <a:p>
            <a:pPr>
              <a:spcAft>
                <a:spcPts val="800"/>
              </a:spcAft>
              <a:defRPr sz="2900" b="1">
                <a:solidFill>
                  <a:srgbClr val="163B46"/>
                </a:solidFill>
                <a:latin typeface="DejaVu Sans"/>
              </a:defRPr>
            </a:pPr>
            <a:r>
              <a:t>O‘lchang, sababini toping, qayta tekshiring</a:t>
            </a:r>
          </a:p>
        </p:txBody>
      </p:sp>
      <p:sp>
        <p:nvSpPr>
          <p:cNvPr id="10" name="Oval 9"/>
          <p:cNvSpPr/>
          <p:nvPr/>
        </p:nvSpPr>
        <p:spPr>
          <a:xfrm>
            <a:off x="10780776" y="192024"/>
            <a:ext cx="91440" cy="91440"/>
          </a:xfrm>
          <a:prstGeom prst="ellipse">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36224" y="137160"/>
            <a:ext cx="676656" cy="201168"/>
          </a:xfrm>
          <a:prstGeom prst="rect">
            <a:avLst/>
          </a:prstGeom>
          <a:noFill/>
        </p:spPr>
        <p:txBody>
          <a:bodyPr wrap="square" lIns="27432" rIns="27432" tIns="18288" bIns="0">
            <a:spAutoFit/>
          </a:bodyPr>
          <a:lstStyle/>
          <a:p>
            <a:pPr>
              <a:spcAft>
                <a:spcPts val="800"/>
              </a:spcAft>
              <a:defRPr sz="800" b="1">
                <a:solidFill>
                  <a:srgbClr val="00856A"/>
                </a:solidFill>
                <a:latin typeface="DejaVu Sans"/>
              </a:defRPr>
            </a:pPr>
            <a:r>
              <a:t>LIVE</a:t>
            </a:r>
          </a:p>
        </p:txBody>
      </p:sp>
      <p:cxnSp>
        <p:nvCxnSpPr>
          <p:cNvPr id="12" name="Connector 11"/>
          <p:cNvCxnSpPr/>
          <p:nvPr/>
        </p:nvCxnSpPr>
        <p:spPr>
          <a:xfrm>
            <a:off x="832104" y="1426464"/>
            <a:ext cx="10570464" cy="0"/>
          </a:xfrm>
          <a:prstGeom prst="line">
            <a:avLst/>
          </a:prstGeom>
          <a:ln w="12700">
            <a:solidFill>
              <a:srgbClr val="C7DED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4" name="TextBox 13"/>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12 / 13</a:t>
            </a:r>
          </a:p>
        </p:txBody>
      </p:sp>
      <p:sp>
        <p:nvSpPr>
          <p:cNvPr id="15" name="Rounded Rectangle 14"/>
          <p:cNvSpPr/>
          <p:nvPr/>
        </p:nvSpPr>
        <p:spPr>
          <a:xfrm>
            <a:off x="731520" y="1874519"/>
            <a:ext cx="3465576" cy="3611880"/>
          </a:xfrm>
          <a:prstGeom prst="roundRect">
            <a:avLst>
              <a:gd name="adj" fmla="val 8000"/>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029968"/>
            <a:ext cx="3072384" cy="502920"/>
          </a:xfrm>
          <a:prstGeom prst="rect">
            <a:avLst/>
          </a:prstGeom>
          <a:noFill/>
        </p:spPr>
        <p:txBody>
          <a:bodyPr wrap="square" lIns="27432" rIns="27432" tIns="18288" bIns="0">
            <a:spAutoFit/>
          </a:bodyPr>
          <a:lstStyle/>
          <a:p>
            <a:pPr>
              <a:spcAft>
                <a:spcPts val="800"/>
              </a:spcAft>
              <a:defRPr sz="3200" b="1">
                <a:solidFill>
                  <a:srgbClr val="00856A"/>
                </a:solidFill>
                <a:latin typeface="DejaVu Sans"/>
              </a:defRPr>
            </a:pPr>
            <a:r>
              <a:t>01</a:t>
            </a:r>
          </a:p>
        </p:txBody>
      </p:sp>
      <p:sp>
        <p:nvSpPr>
          <p:cNvPr id="17" name="TextBox 16"/>
          <p:cNvSpPr txBox="1"/>
          <p:nvPr/>
        </p:nvSpPr>
        <p:spPr>
          <a:xfrm>
            <a:off x="923544" y="2788920"/>
            <a:ext cx="3072384" cy="1042415"/>
          </a:xfrm>
          <a:prstGeom prst="rect">
            <a:avLst/>
          </a:prstGeom>
          <a:noFill/>
        </p:spPr>
        <p:txBody>
          <a:bodyPr wrap="square" lIns="27432" rIns="27432" tIns="18288" bIns="0">
            <a:spAutoFit/>
          </a:bodyPr>
          <a:lstStyle/>
          <a:p>
            <a:pPr>
              <a:spcAft>
                <a:spcPts val="800"/>
              </a:spcAft>
              <a:defRPr sz="2400" b="1">
                <a:solidFill>
                  <a:srgbClr val="163B46"/>
                </a:solidFill>
                <a:latin typeface="DejaVu Sans"/>
              </a:defRPr>
            </a:pPr>
            <a:r>
              <a:t>Monitoring va observability</a:t>
            </a:r>
          </a:p>
        </p:txBody>
      </p:sp>
      <p:sp>
        <p:nvSpPr>
          <p:cNvPr id="18" name="TextBox 17"/>
          <p:cNvSpPr txBox="1"/>
          <p:nvPr/>
        </p:nvSpPr>
        <p:spPr>
          <a:xfrm>
            <a:off x="923544" y="4087368"/>
            <a:ext cx="3072384" cy="1234440"/>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Kuzatish — holat; tushuntirish — sababga yo‘l.</a:t>
            </a:r>
          </a:p>
        </p:txBody>
      </p:sp>
      <p:sp>
        <p:nvSpPr>
          <p:cNvPr id="19" name="Rounded Rectangle 18"/>
          <p:cNvSpPr/>
          <p:nvPr/>
        </p:nvSpPr>
        <p:spPr>
          <a:xfrm>
            <a:off x="4425696" y="1874519"/>
            <a:ext cx="3465576" cy="3611880"/>
          </a:xfrm>
          <a:prstGeom prst="roundRect">
            <a:avLst>
              <a:gd name="adj" fmla="val 8000"/>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2029968"/>
            <a:ext cx="3072384" cy="502920"/>
          </a:xfrm>
          <a:prstGeom prst="rect">
            <a:avLst/>
          </a:prstGeom>
          <a:noFill/>
        </p:spPr>
        <p:txBody>
          <a:bodyPr wrap="square" lIns="27432" rIns="27432" tIns="18288" bIns="0">
            <a:spAutoFit/>
          </a:bodyPr>
          <a:lstStyle/>
          <a:p>
            <a:pPr>
              <a:spcAft>
                <a:spcPts val="800"/>
              </a:spcAft>
              <a:defRPr sz="3200" b="1">
                <a:solidFill>
                  <a:srgbClr val="00856A"/>
                </a:solidFill>
                <a:latin typeface="DejaVu Sans"/>
              </a:defRPr>
            </a:pPr>
            <a:r>
              <a:t>02</a:t>
            </a:r>
          </a:p>
        </p:txBody>
      </p:sp>
      <p:sp>
        <p:nvSpPr>
          <p:cNvPr id="21" name="TextBox 20"/>
          <p:cNvSpPr txBox="1"/>
          <p:nvPr/>
        </p:nvSpPr>
        <p:spPr>
          <a:xfrm>
            <a:off x="4617720" y="2788920"/>
            <a:ext cx="3072384" cy="1042415"/>
          </a:xfrm>
          <a:prstGeom prst="rect">
            <a:avLst/>
          </a:prstGeom>
          <a:noFill/>
        </p:spPr>
        <p:txBody>
          <a:bodyPr wrap="square" lIns="27432" rIns="27432" tIns="18288" bIns="0">
            <a:spAutoFit/>
          </a:bodyPr>
          <a:lstStyle/>
          <a:p>
            <a:pPr>
              <a:spcAft>
                <a:spcPts val="800"/>
              </a:spcAft>
              <a:defRPr sz="2400" b="1">
                <a:solidFill>
                  <a:srgbClr val="163B46"/>
                </a:solidFill>
                <a:latin typeface="DejaVu Sans"/>
              </a:defRPr>
            </a:pPr>
            <a:r>
              <a:t>Xizmat sifati va percentillar</a:t>
            </a:r>
          </a:p>
        </p:txBody>
      </p:sp>
      <p:sp>
        <p:nvSpPr>
          <p:cNvPr id="22" name="TextBox 21"/>
          <p:cNvSpPr txBox="1"/>
          <p:nvPr/>
        </p:nvSpPr>
        <p:spPr>
          <a:xfrm>
            <a:off x="4617720" y="4087368"/>
            <a:ext cx="3072384" cy="1234440"/>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Latency, traffic, errors, saturation.</a:t>
            </a:r>
          </a:p>
        </p:txBody>
      </p:sp>
      <p:sp>
        <p:nvSpPr>
          <p:cNvPr id="23" name="Rounded Rectangle 22"/>
          <p:cNvSpPr/>
          <p:nvPr/>
        </p:nvSpPr>
        <p:spPr>
          <a:xfrm>
            <a:off x="8119872" y="1874519"/>
            <a:ext cx="3465576" cy="3611880"/>
          </a:xfrm>
          <a:prstGeom prst="roundRect">
            <a:avLst>
              <a:gd name="adj" fmla="val 8000"/>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11896" y="2029968"/>
            <a:ext cx="3072384" cy="502920"/>
          </a:xfrm>
          <a:prstGeom prst="rect">
            <a:avLst/>
          </a:prstGeom>
          <a:noFill/>
        </p:spPr>
        <p:txBody>
          <a:bodyPr wrap="square" lIns="27432" rIns="27432" tIns="18288" bIns="0">
            <a:spAutoFit/>
          </a:bodyPr>
          <a:lstStyle/>
          <a:p>
            <a:pPr>
              <a:spcAft>
                <a:spcPts val="800"/>
              </a:spcAft>
              <a:defRPr sz="3200" b="1">
                <a:solidFill>
                  <a:srgbClr val="00856A"/>
                </a:solidFill>
                <a:latin typeface="DejaVu Sans"/>
              </a:defRPr>
            </a:pPr>
            <a:r>
              <a:t>03</a:t>
            </a:r>
          </a:p>
        </p:txBody>
      </p:sp>
      <p:sp>
        <p:nvSpPr>
          <p:cNvPr id="25" name="TextBox 24"/>
          <p:cNvSpPr txBox="1"/>
          <p:nvPr/>
        </p:nvSpPr>
        <p:spPr>
          <a:xfrm>
            <a:off x="8311896" y="2788920"/>
            <a:ext cx="3072384" cy="1042415"/>
          </a:xfrm>
          <a:prstGeom prst="rect">
            <a:avLst/>
          </a:prstGeom>
          <a:noFill/>
        </p:spPr>
        <p:txBody>
          <a:bodyPr wrap="square" lIns="27432" rIns="27432" tIns="18288" bIns="0">
            <a:spAutoFit/>
          </a:bodyPr>
          <a:lstStyle/>
          <a:p>
            <a:pPr>
              <a:spcAft>
                <a:spcPts val="800"/>
              </a:spcAft>
              <a:defRPr sz="2400" b="1">
                <a:solidFill>
                  <a:srgbClr val="163B46"/>
                </a:solidFill>
                <a:latin typeface="DejaVu Sans"/>
              </a:defRPr>
            </a:pPr>
            <a:r>
              <a:t>Auto Scaling va unumdorlik</a:t>
            </a:r>
          </a:p>
        </p:txBody>
      </p:sp>
      <p:sp>
        <p:nvSpPr>
          <p:cNvPr id="26" name="TextBox 25"/>
          <p:cNvSpPr txBox="1"/>
          <p:nvPr/>
        </p:nvSpPr>
        <p:spPr>
          <a:xfrm>
            <a:off x="8311896" y="4087368"/>
            <a:ext cx="3072384" cy="1234440"/>
          </a:xfrm>
          <a:prstGeom prst="rect">
            <a:avLst/>
          </a:prstGeom>
          <a:noFill/>
        </p:spPr>
        <p:txBody>
          <a:bodyPr wrap="square" lIns="27432" rIns="27432" tIns="18288" bIns="0">
            <a:spAutoFit/>
          </a:bodyPr>
          <a:lstStyle/>
          <a:p>
            <a:pPr>
              <a:spcAft>
                <a:spcPts val="800"/>
              </a:spcAft>
              <a:defRPr sz="2100" b="0">
                <a:solidFill>
                  <a:srgbClr val="163B46"/>
                </a:solidFill>
                <a:latin typeface="DejaVu Sans"/>
              </a:defRPr>
            </a:pPr>
            <a:r>
              <a:t>Avval tor joyni toping, keyin quvvat qo‘shing.</a:t>
            </a:r>
          </a:p>
        </p:txBody>
      </p:sp>
      <p:sp>
        <p:nvSpPr>
          <p:cNvPr id="27" name="Rounded Rectangle 26"/>
          <p:cNvSpPr/>
          <p:nvPr/>
        </p:nvSpPr>
        <p:spPr>
          <a:xfrm>
            <a:off x="731520" y="5641848"/>
            <a:ext cx="10698480" cy="621792"/>
          </a:xfrm>
          <a:prstGeom prst="roundRect">
            <a:avLst>
              <a:gd name="adj" fmla="val 8000"/>
            </a:avLst>
          </a:prstGeom>
          <a:solidFill>
            <a:srgbClr val="ED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 y="5733288"/>
            <a:ext cx="10405872" cy="466344"/>
          </a:xfrm>
          <a:prstGeom prst="rect">
            <a:avLst/>
          </a:prstGeom>
          <a:noFill/>
        </p:spPr>
        <p:txBody>
          <a:bodyPr wrap="square" lIns="27432" rIns="27432" tIns="18288" bIns="0">
            <a:spAutoFit/>
          </a:bodyPr>
          <a:lstStyle/>
          <a:p>
            <a:pPr>
              <a:spcAft>
                <a:spcPts val="800"/>
              </a:spcAft>
              <a:defRPr sz="1700" b="0">
                <a:solidFill>
                  <a:srgbClr val="163B46"/>
                </a:solidFill>
                <a:latin typeface="DejaVu Sans"/>
              </a:defRPr>
            </a:pPr>
            <a:r>
              <a:t>Asosiy mezon: xizmatni tanlashda xavfsizlik, mavjudlik va xarajatni birga baholang.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AF9"/>
        </a:solidFill>
        <a:effectLst/>
      </p:bgPr>
    </p:bg>
    <p:spTree>
      <p:nvGrpSpPr>
        <p:cNvPr id="1" name=""/>
        <p:cNvGrpSpPr/>
        <p:nvPr/>
      </p:nvGrpSpPr>
      <p:grpSpPr/>
      <p:sp>
        <p:nvSpPr>
          <p:cNvPr id="2" name="Rectangle 1"/>
          <p:cNvSpPr/>
          <p:nvPr/>
        </p:nvSpPr>
        <p:spPr>
          <a:xfrm>
            <a:off x="502920" y="548640"/>
            <a:ext cx="109728" cy="640080"/>
          </a:xfrm>
          <a:prstGeom prst="rect">
            <a:avLst/>
          </a:prstGeom>
          <a:solidFill>
            <a:srgbClr val="008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94360"/>
            <a:ext cx="10789920" cy="777240"/>
          </a:xfrm>
          <a:prstGeom prst="rect">
            <a:avLst/>
          </a:prstGeom>
          <a:noFill/>
        </p:spPr>
        <p:txBody>
          <a:bodyPr wrap="square" lIns="27432" rIns="27432" tIns="18288" bIns="0">
            <a:spAutoFit/>
          </a:bodyPr>
          <a:lstStyle/>
          <a:p>
            <a:pPr>
              <a:spcAft>
                <a:spcPts val="800"/>
              </a:spcAft>
              <a:defRPr sz="2900" b="1">
                <a:solidFill>
                  <a:srgbClr val="163B46"/>
                </a:solidFill>
                <a:latin typeface="DejaVu Sans"/>
              </a:defRPr>
            </a:pPr>
            <a:r>
              <a:t>Manbalar va rasm manbasi</a:t>
            </a:r>
          </a:p>
        </p:txBody>
      </p:sp>
      <p:sp>
        <p:nvSpPr>
          <p:cNvPr id="4" name="TextBox 3"/>
          <p:cNvSpPr txBox="1"/>
          <p:nvPr/>
        </p:nvSpPr>
        <p:spPr>
          <a:xfrm>
            <a:off x="731520" y="1600200"/>
            <a:ext cx="10789920" cy="594360"/>
          </a:xfrm>
          <a:prstGeom prst="rect">
            <a:avLst/>
          </a:prstGeom>
          <a:noFill/>
        </p:spPr>
        <p:txBody>
          <a:bodyPr wrap="square" lIns="27432" rIns="27432" tIns="18288" bIns="0">
            <a:spAutoFit/>
          </a:bodyPr>
          <a:lstStyle/>
          <a:p>
            <a:pPr>
              <a:spcAft>
                <a:spcPts val="800"/>
              </a:spcAft>
              <a:defRPr sz="1700" b="0">
                <a:solidFill>
                  <a:srgbClr val="163B46"/>
                </a:solidFill>
                <a:latin typeface="DejaVu Sans"/>
              </a:defRPr>
            </a:pPr>
            <a:r>
              <a:t>Asos: BTST206, 2027–2028 sillabusi. Rasmiy texnik hujjatlar:</a:t>
            </a:r>
          </a:p>
        </p:txBody>
      </p:sp>
      <p:sp>
        <p:nvSpPr>
          <p:cNvPr id="5" name="TextBox 4"/>
          <p:cNvSpPr txBox="1"/>
          <p:nvPr/>
        </p:nvSpPr>
        <p:spPr>
          <a:xfrm>
            <a:off x="777240" y="2286000"/>
            <a:ext cx="10652760" cy="365760"/>
          </a:xfrm>
          <a:prstGeom prst="rect">
            <a:avLst/>
          </a:prstGeom>
          <a:noFill/>
        </p:spPr>
        <p:txBody>
          <a:bodyPr wrap="square" lIns="27432" rIns="27432" tIns="18288" bIns="0">
            <a:spAutoFit/>
          </a:bodyPr>
          <a:lstStyle/>
          <a:p>
            <a:pPr>
              <a:spcAft>
                <a:spcPts val="800"/>
              </a:spcAft>
              <a:defRPr sz="1300" b="0">
                <a:solidFill>
                  <a:srgbClr val="00856A"/>
                </a:solidFill>
                <a:latin typeface="DejaVu Sans"/>
              </a:defRPr>
            </a:pPr>
            <a:r>
              <a:t>https://opentelemetry.io/docs/concepts/observability-primer/</a:t>
            </a:r>
          </a:p>
        </p:txBody>
      </p:sp>
      <p:sp>
        <p:nvSpPr>
          <p:cNvPr id="6" name="TextBox 5"/>
          <p:cNvSpPr txBox="1"/>
          <p:nvPr/>
        </p:nvSpPr>
        <p:spPr>
          <a:xfrm>
            <a:off x="777240" y="2715768"/>
            <a:ext cx="10652760" cy="365760"/>
          </a:xfrm>
          <a:prstGeom prst="rect">
            <a:avLst/>
          </a:prstGeom>
          <a:noFill/>
        </p:spPr>
        <p:txBody>
          <a:bodyPr wrap="square" lIns="27432" rIns="27432" tIns="18288" bIns="0">
            <a:spAutoFit/>
          </a:bodyPr>
          <a:lstStyle/>
          <a:p>
            <a:pPr>
              <a:spcAft>
                <a:spcPts val="800"/>
              </a:spcAft>
              <a:defRPr sz="1300" b="0">
                <a:solidFill>
                  <a:srgbClr val="00856A"/>
                </a:solidFill>
                <a:latin typeface="DejaVu Sans"/>
              </a:defRPr>
            </a:pPr>
            <a:r>
              <a:t>https://sre.google/sre-book/monitoring-distributed-systems/</a:t>
            </a:r>
          </a:p>
        </p:txBody>
      </p:sp>
      <p:sp>
        <p:nvSpPr>
          <p:cNvPr id="7" name="TextBox 6"/>
          <p:cNvSpPr txBox="1"/>
          <p:nvPr/>
        </p:nvSpPr>
        <p:spPr>
          <a:xfrm>
            <a:off x="777240" y="3145536"/>
            <a:ext cx="10652760" cy="365760"/>
          </a:xfrm>
          <a:prstGeom prst="rect">
            <a:avLst/>
          </a:prstGeom>
          <a:noFill/>
        </p:spPr>
        <p:txBody>
          <a:bodyPr wrap="square" lIns="27432" rIns="27432" tIns="18288" bIns="0">
            <a:spAutoFit/>
          </a:bodyPr>
          <a:lstStyle/>
          <a:p>
            <a:pPr>
              <a:spcAft>
                <a:spcPts val="800"/>
              </a:spcAft>
              <a:defRPr sz="1300" b="0">
                <a:solidFill>
                  <a:srgbClr val="00856A"/>
                </a:solidFill>
                <a:latin typeface="DejaVu Sans"/>
              </a:defRPr>
            </a:pPr>
            <a:r>
              <a:t>https://www.finops.org/framework/</a:t>
            </a:r>
          </a:p>
        </p:txBody>
      </p:sp>
      <p:sp>
        <p:nvSpPr>
          <p:cNvPr id="8" name="TextBox 7"/>
          <p:cNvSpPr txBox="1"/>
          <p:nvPr/>
        </p:nvSpPr>
        <p:spPr>
          <a:xfrm>
            <a:off x="777240" y="4251960"/>
            <a:ext cx="10652760" cy="365760"/>
          </a:xfrm>
          <a:prstGeom prst="rect">
            <a:avLst/>
          </a:prstGeom>
          <a:noFill/>
        </p:spPr>
        <p:txBody>
          <a:bodyPr wrap="square" lIns="27432" rIns="27432" tIns="18288" bIns="0">
            <a:spAutoFit/>
          </a:bodyPr>
          <a:lstStyle/>
          <a:p>
            <a:pPr>
              <a:spcAft>
                <a:spcPts val="800"/>
              </a:spcAft>
              <a:defRPr sz="1200" b="1">
                <a:solidFill>
                  <a:srgbClr val="00856A"/>
                </a:solidFill>
                <a:latin typeface="DejaVu Sans"/>
              </a:defRPr>
            </a:pPr>
            <a:r>
              <a:t>INTERNET RASMI</a:t>
            </a:r>
          </a:p>
        </p:txBody>
      </p:sp>
      <p:sp>
        <p:nvSpPr>
          <p:cNvPr id="9" name="TextBox 8"/>
          <p:cNvSpPr txBox="1"/>
          <p:nvPr/>
        </p:nvSpPr>
        <p:spPr>
          <a:xfrm>
            <a:off x="777240" y="4663440"/>
            <a:ext cx="10652760" cy="576072"/>
          </a:xfrm>
          <a:prstGeom prst="rect">
            <a:avLst/>
          </a:prstGeom>
          <a:noFill/>
        </p:spPr>
        <p:txBody>
          <a:bodyPr wrap="square" lIns="27432" rIns="27432" tIns="18288" bIns="0">
            <a:spAutoFit/>
          </a:bodyPr>
          <a:lstStyle/>
          <a:p>
            <a:pPr>
              <a:spcAft>
                <a:spcPts val="800"/>
              </a:spcAft>
              <a:defRPr sz="1400" b="0">
                <a:solidFill>
                  <a:srgbClr val="163B46"/>
                </a:solidFill>
                <a:latin typeface="DejaVu Sans"/>
              </a:defRPr>
            </a:pPr>
            <a:r>
              <a:t>Prometheus / CNCF official artwork</a:t>
            </a:r>
          </a:p>
        </p:txBody>
      </p:sp>
      <p:sp>
        <p:nvSpPr>
          <p:cNvPr id="10" name="TextBox 9"/>
          <p:cNvSpPr txBox="1"/>
          <p:nvPr/>
        </p:nvSpPr>
        <p:spPr>
          <a:xfrm>
            <a:off x="777240" y="5285232"/>
            <a:ext cx="10652760" cy="64008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https://raw.githubusercontent.com/cncf/artwork/main/projects/prometheus/icon/color/prometheus-icon-color.png</a:t>
            </a:r>
          </a:p>
        </p:txBody>
      </p:sp>
      <p:sp>
        <p:nvSpPr>
          <p:cNvPr id="11" name="TextBox 10"/>
          <p:cNvSpPr txBox="1"/>
          <p:nvPr/>
        </p:nvSpPr>
        <p:spPr>
          <a:xfrm>
            <a:off x="777240" y="6035040"/>
            <a:ext cx="10652760" cy="320040"/>
          </a:xfrm>
          <a:prstGeom prst="rect">
            <a:avLst/>
          </a:prstGeom>
          <a:noFill/>
        </p:spPr>
        <p:txBody>
          <a:bodyPr wrap="square" lIns="27432" rIns="27432" tIns="18288" bIns="0">
            <a:spAutoFit/>
          </a:bodyPr>
          <a:lstStyle/>
          <a:p>
            <a:pPr>
              <a:spcAft>
                <a:spcPts val="800"/>
              </a:spcAft>
              <a:defRPr sz="1100" b="0">
                <a:solidFill>
                  <a:srgbClr val="163B46"/>
                </a:solidFill>
                <a:latin typeface="DejaVu Sans"/>
              </a:defRPr>
            </a:pPr>
            <a:r>
              <a:t>Barcha rasm manbalari va foydalanish izohlari: ASSET_SOURCES.md</a:t>
            </a:r>
          </a:p>
        </p:txBody>
      </p:sp>
      <p:sp>
        <p:nvSpPr>
          <p:cNvPr id="12" name="TextBox 11"/>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163B46"/>
                </a:solidFill>
                <a:latin typeface="DejaVu Sans"/>
              </a:defRPr>
            </a:pPr>
            <a:r>
              <a:t>BTST206   /   M17   /   2027–2028</a:t>
            </a:r>
          </a:p>
        </p:txBody>
      </p:sp>
      <p:sp>
        <p:nvSpPr>
          <p:cNvPr id="13" name="TextBox 12"/>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163B46"/>
                </a:solidFill>
                <a:latin typeface="DejaVu Sans"/>
              </a:defRPr>
            </a:pPr>
            <a: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