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«Monitoring, observability va optimallashtirish» mavzusiga bag‘ishlanadi. Mavzuni murakkab atamalardan emas, kundalik ehtiyojdan boshlaymiz. Portal ochiladi, lekin baholar sahifasi sekin ishlaydi. Faqat CPU grafigi yetarli emas: so‘rovning qaysi bosqichi kechikayotganini va bu foydalanuvchiga qanday ta’sir qilayotganini topish kerak.</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monitoring va observability tushuntiriladi. 2-bo‘limda metrics, logs va traces tushuntiriladi. 3-bo‘limda xizmat sifati va percentillar tushuntiriladi. 4-bo‘limda alerting va hodisaga javob tushuntiriladi. 5-bo‘limda auto scaling va unumdorlik tushuntiriladi. 6-bo‘limda xarajatni optimallashtirish va finops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Monitoring oldindan tanlangan ko‘rsatkichlar va shartlarni kuzatadi. Observability tashqi signallar orqali tizimning ichki holatini tushunish imkoniyatidir. Murakkab tizimda yangi savollarga javob berish uchun signallar bog‘langan bo‘lishi kerak.</a:t>
            </a:r>
          </a:p>
          <a:p/>
          <a:p>
            <a:r>
              <a:t>Ilova tegishli metrika, log va trace ma’lumotlarini chiqaradi. Ular vaqt, xizmat va so‘rov identifikatori orqali bog‘lanadi. Tahlil faqat chiroyli dashboard bilan cheklanmaydi.</a:t>
            </a:r>
          </a:p>
          <a:p/>
          <a:p>
            <a:r>
              <a:t>Universitet misolida buni quyidagicha tasavvur qilamiz. CPU past bo‘lsa ham baza kutishi sabab javob sekinlashganini trace ko‘rsatishi mumkin. Bu misolda texnik atama real vazifa bilan bog‘lanadi: resursning nomini emas, nima uchun tanlanganini tushunish muhim.</a:t>
            </a:r>
          </a:p>
          <a:p/>
          <a:p>
            <a:r>
              <a:t>E’tibor beradigan chegara ham bor. Ko‘p ma’lumot yig‘ishning o‘zi tizimni kuzatiladigan qilmaydi; ma’lumot sifati va kontekst zarur.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Metrika vaqt bo‘yicha sonli o‘lchovdir. Log alohida hodisa haqidagi yozuvdir. Trace esa so‘rovning bir nechta xizmat bo‘ylab o‘tgan yo‘lini span lar orqali ko‘rsatadi. Ular bir-birini to‘ldiradi.</a:t>
            </a:r>
          </a:p>
          <a:p/>
          <a:p>
            <a:r>
              <a:t>Metrika muammo borligini ko‘rsatadi, trace kechikkan komponentni topadi, log esa ayni hodisaning tafsilotini beradi. Correlation ID ma’lumotlarni birlashtiradi.</a:t>
            </a:r>
          </a:p>
          <a:p/>
          <a:p>
            <a:r>
              <a:t>Universitet misolida buni quyidagicha tasavvur qilamiz. Xato foizi oshadi, trace baza span i cho‘zilganini ko‘rsatadi, log esa ulanish havzasi to‘lganini bildiradi. Bu misolda texnik atama real vazifa bilan bog‘lanadi: resursning nomini emas, nima uchun tanlanganini tushunish muhim.</a:t>
            </a:r>
          </a:p>
          <a:p/>
          <a:p>
            <a:r>
              <a:t>E’tibor beradigan chegara ham bor. Log ga parol, token yoki ortiqcha shaxsiy ma’lumot yozilmasligi kerak.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Javob vaqti, so‘rovlar soni, xatolar ulushi va resurs to‘yinganligi foydali asosiy signallardir. O‘rtacha vaqt ayrim foydalanuvchilardagi juda sekin javobni yashirishi mumkin. p95 kabi percentillar taqsimotni yaxshiroq ko‘rsatadi.</a:t>
            </a:r>
          </a:p>
          <a:p/>
          <a:p>
            <a:r>
              <a:t>p95 bir davrdagi o‘lchovlarning 95 foizi shu qiymatdan oshmaganini bildiradi. SLI kuzatiladigan sifat ko‘rsatkichi, SLO esa uning maqsad darajasidir.</a:t>
            </a:r>
          </a:p>
          <a:p/>
          <a:p>
            <a:r>
              <a:t>Universitet misolida buni quyidagicha tasavvur qilamiz. O‘rtacha javob 200 ms bo‘lsa ham p95 2 soniya chiqsa, ayrim foydalanuvchilar ancha ko‘p kutmoqda. Bu misolda texnik atama real vazifa bilan bog‘lanadi: resursning nomini emas, nima uchun tanlanganini tushunish muhim.</a:t>
            </a:r>
          </a:p>
          <a:p/>
          <a:p>
            <a:r>
              <a:t>E’tibor beradigan chegara ham bor. p95 vaqtning 95 foizida hamma uchun javob shu darajada degani emas; u tanlangan kuzatuvlar to‘plamiga tegishli.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Alert foydalanuvchi tajribasiga yoki yaqin xavfga bog‘langan bo‘lishi kerak. Haddan tashqari ko‘p foydasiz signal muhim ogohlantirishni e’tibordan chetda qoldiradi. Mas’ul shaxs va qisqa javob tartibi belgilanadi.</a:t>
            </a:r>
          </a:p>
          <a:p/>
          <a:p>
            <a:r>
              <a:t>Chegara va davomiylik tanlanadi, shovqin kamaytiriladi, ogohlantirish kerakli kanalga yuboriladi. Runbook tekshirish va xavfsiz tiklash qadamlarini bayon qiladi.</a:t>
            </a:r>
          </a:p>
          <a:p/>
          <a:p>
            <a:r>
              <a:t>Universitet misolida buni quyidagicha tasavvur qilamiz. Besh daqiqa davomida xato ulushi maqsaddan oshsa, navbatchi jamoa ogohlantiriladi. Bu misolda texnik atama real vazifa bilan bog‘lanadi: resursning nomini emas, nima uchun tanlanganini tushunish muhim.</a:t>
            </a:r>
          </a:p>
          <a:p/>
          <a:p>
            <a:r>
              <a:t>E’tibor beradigan chegara ham bor. Har bir qisqa CPU ko‘tarilishi favqulodda holat emas; xizmatga ta’siri baholanadi.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Avtomatik masshtablash yuklamaga qarab resursni o‘zgartiradi. Ammo sekin SQL so‘rovi yoki cheklangan tashqi API faqat ilova nusxalarini ko‘paytirish bilan tuzalmasligi mumkin. Kuzatuv qaysi resursni o‘zgartirish kerakligini ko‘rsatadi.</a:t>
            </a:r>
          </a:p>
          <a:p/>
          <a:p>
            <a:r>
              <a:t>Minimum va maksimum quvvat, nishon metrika va barqarorlashish davri belgilanadi. Sinovdan so‘ng javob vaqti va xarajat qayta o‘lchanadi.</a:t>
            </a:r>
          </a:p>
          <a:p/>
          <a:p>
            <a:r>
              <a:t>Universitet misolida buni quyidagicha tasavvur qilamiz. Navbat uzunlashsa ishchilar soni oshiriladi; baza ulanishi cheklansa avval havza va so‘rovlar optimallashtiriladi. Bu misolda texnik atama real vazifa bilan bog‘lanadi: resursning nomini emas, nima uchun tanlanganini tushunish muhim.</a:t>
            </a:r>
          </a:p>
          <a:p/>
          <a:p>
            <a:r>
              <a:t>E’tibor beradigan chegara ham bor. Noto‘g‘ri metrika ko‘paytirish va kamaytirishning beqaror tebranishiga sabab bo‘lishi mumkin.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Xarajat boshqaruvi texnik va moliyaviy hamkorlikni talab qiladi. Resurslarga loyiha va egani bildiruvchi teglar qo‘yiladi. Ishlatilmayotgan resurs, ortiqcha quvvat, qimmat saqlash sinfi va trafik aniqlanadi.</a:t>
            </a:r>
          </a:p>
          <a:p/>
          <a:p>
            <a:r>
              <a:t>Avval foydalanish o‘lchanadi, keyin rightsizing qilinadi. Test muhitiga jadval beriladi. Uzoq muddatli chegirma faqat barqaror ehtiyoj tasdiqlangandan keyin baholanadi.</a:t>
            </a:r>
          </a:p>
          <a:p/>
          <a:p>
            <a:r>
              <a:t>Universitet misolida buni quyidagicha tasavvur qilamiz. Tunda ishlamaydigan test serveri to‘xtatiladi, lekin kerakli diski va zaxirasi saqlanadi; qolgan sarf ham hisoblanadi. Bu misolda texnik atama real vazifa bilan bog‘lanadi: resursning nomini emas, nima uchun tanlanganini tushunish muhim.</a:t>
            </a:r>
          </a:p>
          <a:p/>
          <a:p>
            <a:r>
              <a:t>E’tibor beradigan chegara ham bor. Arzonlashtirish mavjudlik va xavfsizlik talablarini buzmasligi kerak; budjet alert i avtomatik xarajat chegarasi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«Ilova» bilan «Metrics / logs» o‘rtasida sxemada bog‘lanish ko‘rsatilgan. «Ilova» bilan «Traces» o‘rtasida sxemada bog‘lanish ko‘rsatilgan. «Metrics / logs» bilan «Tahlil / alert» o‘rtasida sxemada bog‘lanish ko‘rsatilgan. «Traces» bilan «Tahlil / alert» o‘rtasida sxemada bog‘lanish ko‘rsatilgan. «Tahlil / alert» bilan «Optimallashtirish» o‘rtasida sxemada bog‘lanish ko‘rsatilgan.</a:t>
            </a:r>
          </a:p>
          <a:p/>
          <a:p>
            <a:r>
              <a:t>Bu bog‘lanishlarni barcha xizmatlarda bir xil buyruq yoki bir xil fizik kabel deb tushunmaymiz. Ayrim o‘qlar bajarilish ketma-ketligini, ayrimlari resursni boshqarish yoki unga kirish aloqasini anglatadi. Metrika muammo borligini ko‘rsatadi, trace kechikkan komponentni topadi, log esa ayni hodisaning tafsilotini beradi. Correlation ID ma’lumotlarni birlashtiradi.</a:t>
            </a:r>
          </a:p>
          <a:p/>
          <a:p>
            <a:r>
              <a:t>Sxemaning asosiy foydasi mas’uliyatlarni ajratib ko‘rsatishdir. Navbat uzunlashsa ishchilar soni oshiriladi; baza ulanishi cheklansa avval havza va so‘rovlar optimallashtiriladi.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Portal ochiladi, lekin baholar sahifasi sekin ishlaydi. Faqat CPU grafigi yetarli emas: so‘rovning qaysi bosqichi kechikayotganini va bu foydalanuvchiga qanday ta’sir qilayotganini topish kerak.</a:t>
            </a:r>
          </a:p>
          <a:p/>
          <a:p>
            <a:r>
              <a:t>Avval ehtiyoj aniqlanadi: kim tizimdan foydalanadi, qaysi ma’lumot bilan ishlanadi va qanday natija kutiladi. CPU past bo‘lsa ham baza kutishi sabab javob sekinlashganini trace ko‘rsatishi mumkin. Keyin texnik qismlar shu talabga mos tanlanadi. O‘rtacha javob 200 ms bo‘lsa ham p95 2 soniya chiqsa, ayrim foydalanuvchilar ancha ko‘p kutmoqda.</a:t>
            </a:r>
          </a:p>
          <a:p/>
          <a:p>
            <a:r>
              <a:t>Ishlash jarayonida faqat muvaffaqiyatli holat emas, xato va cheklovlar ham hisobga olinadi. Har bir qisqa CPU ko‘tarilishi favqulodda holat emas; xizmatga ta’siri baholanadi. Shu sababli jamoa talabni, ruxsatni va nosozlikdagi xatti-harakatni oldindan belgilaydi. Tunda ishlamaydigan test serveri to‘xtatiladi, lekin kerakli diski va zaxirasi saqlanadi; qolgan sarf ham hisoblanadi.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Ko‘p ma’lumot yig‘ishning o‘zi tizimni kuzatiladigan qilmaydi; ma’lumot sifati va kontekst zarur. To‘g‘ri talqin quyidagicha: Monitoring oldindan tanlangan ko‘rsatkichlar va shartlarni kuzatadi. Observability tashqi signallar orqali tizimning ichki holatini tushunish imkoniyatidir. Murakkab tizimda yangi savollarga javob berish uchun signallar bog‘langan bo‘lishi kerak.</a:t>
            </a:r>
          </a:p>
          <a:p/>
          <a:p>
            <a:r>
              <a:t>2. Har bir qisqa CPU ko‘tarilishi favqulodda holat emas; xizmatga ta’siri baholanadi. To‘g‘ri talqin quyidagicha: Alert foydalanuvchi tajribasiga yoki yaqin xavfga bog‘langan bo‘lishi kerak. Haddan tashqari ko‘p foydasiz signal muhim ogohlantirishni e’tibordan chetda qoldiradi. Mas’ul shaxs va qisqa javob tartibi belgilanadi.</a:t>
            </a:r>
          </a:p>
          <a:p/>
          <a:p>
            <a:r>
              <a:t>3. Arzonlashtirish mavjudlik va xavfsizlik talablarini buzmasligi kerak; budjet alert i avtomatik xarajat chegarasi emas. To‘g‘ri talqin quyidagicha: Xarajat boshqaruvi texnik va moliyaviy hamkorlikni talab qiladi. Resurslarga loyiha va egani bildiruvchi teglar qo‘yiladi. Ishlatilmayotgan resurs, ortiqcha quvvat, qimmat saqlash sinfi va trafik aniqlanadi.</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Tizim holatini tushunish va xarajatni boshqarish — mavzuning umumiy mazmunini ifodalaydi.</a:t>
            </a:r>
          </a:p>
          <a:p/>
          <a:p>
            <a:r>
              <a:t>Asosiy tayanch fikr: Kuzatish — holat; tushuntirish — sababga yo‘l. Ilova tegishli metrika, log va trace ma’lumotlarini chiqaradi. Ular vaqt, xizmat va so‘rov identifikatori orqali bog‘lanadi. Tahlil faqat chiroyli dashboard bilan cheklanmaydi.</a:t>
            </a:r>
          </a:p>
          <a:p/>
          <a:p>
            <a:r>
              <a:t>Asosiy tayanch fikr: Latency, traffic, errors, saturation. p95 bir davrdagi o‘lchovlarning 95 foizi shu qiymatdan oshmaganini bildiradi. SLI kuzatiladigan sifat ko‘rsatkichi, SLO esa uning maqsad darajasidir.</a:t>
            </a:r>
          </a:p>
          <a:p/>
          <a:p>
            <a:r>
              <a:t>Asosiy tayanch fikr: Avval tor joyni toping, keyin quvvat qo‘shing. Minimum va maksimum quvvat, nishon metrika va barqarorlashish davri belgilanadi. Sinovdan so‘ng javob vaqti va xarajat qayta o‘lchanadi.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ec-1c8f91bc-6381-4745-8533-c57166497063.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516636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94360"/>
            <a:ext cx="594360" cy="73152"/>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896112"/>
            <a:ext cx="4480560" cy="457200"/>
          </a:xfrm>
          <a:prstGeom prst="rect">
            <a:avLst/>
          </a:prstGeom>
          <a:noFill/>
        </p:spPr>
        <p:txBody>
          <a:bodyPr wrap="square" lIns="27432" rIns="27432" tIns="18288" bIns="0">
            <a:spAutoFit/>
          </a:bodyPr>
          <a:lstStyle/>
          <a:p>
            <a:pPr>
              <a:spcAft>
                <a:spcPts val="1000"/>
              </a:spcAft>
              <a:defRPr sz="1700" b="1">
                <a:solidFill>
                  <a:srgbClr val="1678D2"/>
                </a:solidFill>
                <a:latin typeface="DejaVu Sans"/>
              </a:defRPr>
            </a:pPr>
            <a:r>
              <a:t>M17  /  BTST206</a:t>
            </a:r>
          </a:p>
        </p:txBody>
      </p:sp>
      <p:sp>
        <p:nvSpPr>
          <p:cNvPr id="6" name="TextBox 5"/>
          <p:cNvSpPr txBox="1"/>
          <p:nvPr/>
        </p:nvSpPr>
        <p:spPr>
          <a:xfrm>
            <a:off x="548640" y="1737360"/>
            <a:ext cx="4480560" cy="2788920"/>
          </a:xfrm>
          <a:prstGeom prst="rect">
            <a:avLst/>
          </a:prstGeom>
          <a:noFill/>
        </p:spPr>
        <p:txBody>
          <a:bodyPr wrap="square" lIns="27432" rIns="27432" tIns="18288" bIns="0">
            <a:spAutoFit/>
          </a:bodyPr>
          <a:lstStyle/>
          <a:p>
            <a:pPr>
              <a:spcAft>
                <a:spcPts val="1000"/>
              </a:spcAft>
              <a:defRPr sz="3000" b="1">
                <a:solidFill>
                  <a:srgbClr val="15365B"/>
                </a:solidFill>
                <a:latin typeface="DejaVu Sans"/>
              </a:defRPr>
            </a:pPr>
            <a:r>
              <a:t>Monitoring, observability va optimallashtirish</a:t>
            </a:r>
          </a:p>
        </p:txBody>
      </p:sp>
      <p:sp>
        <p:nvSpPr>
          <p:cNvPr id="7" name="TextBox 6"/>
          <p:cNvSpPr txBox="1"/>
          <p:nvPr/>
        </p:nvSpPr>
        <p:spPr>
          <a:xfrm>
            <a:off x="548640" y="4800600"/>
            <a:ext cx="4434840" cy="914400"/>
          </a:xfrm>
          <a:prstGeom prst="rect">
            <a:avLst/>
          </a:prstGeom>
          <a:noFill/>
        </p:spPr>
        <p:txBody>
          <a:bodyPr wrap="square" lIns="27432" rIns="27432" tIns="18288" bIns="0">
            <a:spAutoFit/>
          </a:bodyPr>
          <a:lstStyle/>
          <a:p>
            <a:pPr>
              <a:spcAft>
                <a:spcPts val="1000"/>
              </a:spcAft>
              <a:defRPr sz="1900" b="0">
                <a:solidFill>
                  <a:srgbClr val="53687D"/>
                </a:solidFill>
                <a:latin typeface="DejaVu Sans"/>
              </a:defRPr>
            </a:pPr>
            <a:r>
              <a:t>Tizim holatini tushunish va xarajatni boshqarish</a:t>
            </a:r>
          </a:p>
        </p:txBody>
      </p:sp>
      <p:sp>
        <p:nvSpPr>
          <p:cNvPr id="8" name="TextBox 7"/>
          <p:cNvSpPr txBox="1"/>
          <p:nvPr/>
        </p:nvSpPr>
        <p:spPr>
          <a:xfrm>
            <a:off x="548640" y="6217920"/>
            <a:ext cx="4480560" cy="365760"/>
          </a:xfrm>
          <a:prstGeom prst="rect">
            <a:avLst/>
          </a:prstGeom>
          <a:noFill/>
        </p:spPr>
        <p:txBody>
          <a:bodyPr wrap="square" lIns="27432" rIns="27432" tIns="18288" bIns="0">
            <a:spAutoFit/>
          </a:bodyPr>
          <a:lstStyle/>
          <a:p>
            <a:pPr>
              <a:spcAft>
                <a:spcPts val="1000"/>
              </a:spcAft>
              <a:defRPr sz="1100" b="0">
                <a:solidFill>
                  <a:srgbClr val="1678D2"/>
                </a:solidFill>
                <a:latin typeface="DejaVu Sans"/>
              </a:defRPr>
            </a:pPr>
            <a:r>
              <a:t>2027–2028  •  VIDEOMA’RUZA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M17 · O‘RGANISH TARTIBI</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Bugungi mavzuning yo‘l xaritasi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02</a:t>
            </a:r>
          </a:p>
        </p:txBody>
      </p:sp>
      <p:sp>
        <p:nvSpPr>
          <p:cNvPr id="8" name="Rounded Rectangle 7"/>
          <p:cNvSpPr/>
          <p:nvPr/>
        </p:nvSpPr>
        <p:spPr>
          <a:xfrm>
            <a:off x="594360" y="1938528"/>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84832"/>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01</a:t>
            </a:r>
          </a:p>
        </p:txBody>
      </p:sp>
      <p:sp>
        <p:nvSpPr>
          <p:cNvPr id="10" name="TextBox 9"/>
          <p:cNvSpPr txBox="1"/>
          <p:nvPr/>
        </p:nvSpPr>
        <p:spPr>
          <a:xfrm>
            <a:off x="1380744" y="2057400"/>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Monitoring va observability</a:t>
            </a:r>
          </a:p>
        </p:txBody>
      </p:sp>
      <p:sp>
        <p:nvSpPr>
          <p:cNvPr id="11" name="Rounded Rectangle 10"/>
          <p:cNvSpPr/>
          <p:nvPr/>
        </p:nvSpPr>
        <p:spPr>
          <a:xfrm>
            <a:off x="6263640" y="1938528"/>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84832"/>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02</a:t>
            </a:r>
          </a:p>
        </p:txBody>
      </p:sp>
      <p:sp>
        <p:nvSpPr>
          <p:cNvPr id="13" name="TextBox 12"/>
          <p:cNvSpPr txBox="1"/>
          <p:nvPr/>
        </p:nvSpPr>
        <p:spPr>
          <a:xfrm>
            <a:off x="7050024" y="2057400"/>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Metrics, logs va traces</a:t>
            </a:r>
          </a:p>
        </p:txBody>
      </p:sp>
      <p:sp>
        <p:nvSpPr>
          <p:cNvPr id="14" name="Rounded Rectangle 13"/>
          <p:cNvSpPr/>
          <p:nvPr/>
        </p:nvSpPr>
        <p:spPr>
          <a:xfrm>
            <a:off x="594360" y="3246120"/>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392424"/>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03</a:t>
            </a:r>
          </a:p>
        </p:txBody>
      </p:sp>
      <p:sp>
        <p:nvSpPr>
          <p:cNvPr id="16" name="TextBox 15"/>
          <p:cNvSpPr txBox="1"/>
          <p:nvPr/>
        </p:nvSpPr>
        <p:spPr>
          <a:xfrm>
            <a:off x="1380744" y="3364991"/>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Xizmat sifati va percentillar</a:t>
            </a:r>
          </a:p>
        </p:txBody>
      </p:sp>
      <p:sp>
        <p:nvSpPr>
          <p:cNvPr id="17" name="Rounded Rectangle 16"/>
          <p:cNvSpPr/>
          <p:nvPr/>
        </p:nvSpPr>
        <p:spPr>
          <a:xfrm>
            <a:off x="6263640" y="3246120"/>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392424"/>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04</a:t>
            </a:r>
          </a:p>
        </p:txBody>
      </p:sp>
      <p:sp>
        <p:nvSpPr>
          <p:cNvPr id="19" name="TextBox 18"/>
          <p:cNvSpPr txBox="1"/>
          <p:nvPr/>
        </p:nvSpPr>
        <p:spPr>
          <a:xfrm>
            <a:off x="7050024" y="3364991"/>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Alerting va hodisaga javob</a:t>
            </a:r>
          </a:p>
        </p:txBody>
      </p:sp>
      <p:sp>
        <p:nvSpPr>
          <p:cNvPr id="20" name="Rounded Rectangle 19"/>
          <p:cNvSpPr/>
          <p:nvPr/>
        </p:nvSpPr>
        <p:spPr>
          <a:xfrm>
            <a:off x="594360" y="4553712"/>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700016"/>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05</a:t>
            </a:r>
          </a:p>
        </p:txBody>
      </p:sp>
      <p:sp>
        <p:nvSpPr>
          <p:cNvPr id="22" name="TextBox 21"/>
          <p:cNvSpPr txBox="1"/>
          <p:nvPr/>
        </p:nvSpPr>
        <p:spPr>
          <a:xfrm>
            <a:off x="1380744" y="4672584"/>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Auto Scaling va unumdorlik</a:t>
            </a:r>
          </a:p>
        </p:txBody>
      </p:sp>
      <p:sp>
        <p:nvSpPr>
          <p:cNvPr id="23" name="Rounded Rectangle 22"/>
          <p:cNvSpPr/>
          <p:nvPr/>
        </p:nvSpPr>
        <p:spPr>
          <a:xfrm>
            <a:off x="6263640" y="4553712"/>
            <a:ext cx="5413248" cy="107899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4700016"/>
            <a:ext cx="484632" cy="45720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06</a:t>
            </a:r>
          </a:p>
        </p:txBody>
      </p:sp>
      <p:sp>
        <p:nvSpPr>
          <p:cNvPr id="25" name="TextBox 24"/>
          <p:cNvSpPr txBox="1"/>
          <p:nvPr/>
        </p:nvSpPr>
        <p:spPr>
          <a:xfrm>
            <a:off x="7050024" y="4672584"/>
            <a:ext cx="4416552" cy="804672"/>
          </a:xfrm>
          <a:prstGeom prst="rect">
            <a:avLst/>
          </a:prstGeom>
          <a:noFill/>
        </p:spPr>
        <p:txBody>
          <a:bodyPr wrap="square" lIns="27432" rIns="27432" tIns="18288" bIns="0">
            <a:spAutoFit/>
          </a:bodyPr>
          <a:lstStyle/>
          <a:p>
            <a:pPr>
              <a:spcAft>
                <a:spcPts val="1000"/>
              </a:spcAft>
              <a:defRPr sz="2000" b="1">
                <a:solidFill>
                  <a:srgbClr val="15365B"/>
                </a:solidFill>
                <a:latin typeface="DejaVu Sans"/>
              </a:defRPr>
            </a:pPr>
            <a:r>
              <a:t>Xarajatni optimallashtirish va FinOps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M17 · ASOSIY TUSHUNCHA 1/6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Monitoring va observability</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03</a:t>
            </a:r>
          </a:p>
        </p:txBody>
      </p:sp>
      <p:sp>
        <p:nvSpPr>
          <p:cNvPr id="8" name="TextBox 7"/>
          <p:cNvSpPr txBox="1"/>
          <p:nvPr/>
        </p:nvSpPr>
        <p:spPr>
          <a:xfrm>
            <a:off x="594360" y="1865376"/>
            <a:ext cx="7086600" cy="1143000"/>
          </a:xfrm>
          <a:prstGeom prst="rect">
            <a:avLst/>
          </a:prstGeom>
          <a:noFill/>
        </p:spPr>
        <p:txBody>
          <a:bodyPr wrap="square" lIns="27432" rIns="27432" tIns="18288" bIns="0">
            <a:spAutoFit/>
          </a:bodyPr>
          <a:lstStyle/>
          <a:p>
            <a:pPr>
              <a:spcAft>
                <a:spcPts val="1000"/>
              </a:spcAft>
              <a:defRPr sz="3000" b="1">
                <a:solidFill>
                  <a:srgbClr val="1678D2"/>
                </a:solidFill>
                <a:latin typeface="DejaVu Sans"/>
              </a:defRPr>
            </a:pPr>
            <a:r>
              <a:t>Kuzatish — holat; tushuntirish — sababga yo‘l.</a:t>
            </a:r>
          </a:p>
        </p:txBody>
      </p:sp>
      <p:sp>
        <p:nvSpPr>
          <p:cNvPr id="9" name="Rounded Rectangle 8"/>
          <p:cNvSpPr/>
          <p:nvPr/>
        </p:nvSpPr>
        <p:spPr>
          <a:xfrm>
            <a:off x="594360" y="3337560"/>
            <a:ext cx="7040880" cy="203911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38728"/>
            <a:ext cx="6556248" cy="178308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CPU past bo‘lsa ham baza kutishi sabab javob sekinlashganini trace ko‘rsatishi mumkin.</a:t>
            </a:r>
          </a:p>
        </p:txBody>
      </p:sp>
      <p:sp>
        <p:nvSpPr>
          <p:cNvPr id="11" name="Rounded Rectangle 10"/>
          <p:cNvSpPr/>
          <p:nvPr/>
        </p:nvSpPr>
        <p:spPr>
          <a:xfrm>
            <a:off x="8183879" y="4965192"/>
            <a:ext cx="3063240" cy="14630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8321040" y="3120390"/>
            <a:ext cx="1042416" cy="217170"/>
          </a:xfrm>
          <a:custGeom>
            <a:avLst/>
            <a:gdLst/>
            <a:ahLst/>
            <a:cxnLst/>
            <a:rect l="l" t="t" r="r" b="b"/>
            <a:pathLst>
              <a:path w="1042416" h="217170">
                <a:moveTo>
                  <a:pt x="0" y="217170"/>
                </a:moveTo>
                <a:lnTo>
                  <a:pt x="825246" y="217170"/>
                </a:lnTo>
                <a:lnTo>
                  <a:pt x="1042416" y="0"/>
                </a:lnTo>
                <a:lnTo>
                  <a:pt x="21717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146286" y="3120390"/>
            <a:ext cx="217170" cy="1780793"/>
          </a:xfrm>
          <a:custGeom>
            <a:avLst/>
            <a:gdLst/>
            <a:ahLst/>
            <a:cxnLst/>
            <a:rect l="l" t="t" r="r" b="b"/>
            <a:pathLst>
              <a:path w="217170" h="1780793">
                <a:moveTo>
                  <a:pt x="0" y="217170"/>
                </a:moveTo>
                <a:lnTo>
                  <a:pt x="217170" y="0"/>
                </a:lnTo>
                <a:lnTo>
                  <a:pt x="217170" y="1563624"/>
                </a:lnTo>
                <a:lnTo>
                  <a:pt x="0" y="178079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3337560"/>
            <a:ext cx="825246" cy="1563624"/>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07908" y="349392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94368" y="353735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07908" y="373715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94368" y="378058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07908" y="398038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94368" y="402381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07908" y="422361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94368" y="426704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07908" y="4466844"/>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94368" y="4510278"/>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9628632" y="2811779"/>
            <a:ext cx="1207008" cy="251460"/>
          </a:xfrm>
          <a:custGeom>
            <a:avLst/>
            <a:gdLst/>
            <a:ahLst/>
            <a:cxnLst/>
            <a:rect l="l" t="t" r="r" b="b"/>
            <a:pathLst>
              <a:path w="1207008" h="251460">
                <a:moveTo>
                  <a:pt x="0" y="251460"/>
                </a:moveTo>
                <a:lnTo>
                  <a:pt x="955548" y="251460"/>
                </a:lnTo>
                <a:lnTo>
                  <a:pt x="1207008" y="0"/>
                </a:lnTo>
                <a:lnTo>
                  <a:pt x="25146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10584180" y="2811779"/>
            <a:ext cx="251460" cy="2061973"/>
          </a:xfrm>
          <a:custGeom>
            <a:avLst/>
            <a:gdLst/>
            <a:ahLst/>
            <a:cxnLst/>
            <a:rect l="l" t="t" r="r" b="b"/>
            <a:pathLst>
              <a:path w="251460" h="2061973">
                <a:moveTo>
                  <a:pt x="0" y="251460"/>
                </a:moveTo>
                <a:lnTo>
                  <a:pt x="251460" y="0"/>
                </a:lnTo>
                <a:lnTo>
                  <a:pt x="251460" y="1810513"/>
                </a:lnTo>
                <a:lnTo>
                  <a:pt x="0" y="206197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28632" y="3063239"/>
            <a:ext cx="955547" cy="1810512"/>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29215" y="324429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92486" y="329458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29215" y="352592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92486" y="357621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29215" y="380756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92486" y="385785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29215" y="408919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92486" y="413948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29215" y="437083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92486" y="4421124"/>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oud 37"/>
          <p:cNvSpPr/>
          <p:nvPr/>
        </p:nvSpPr>
        <p:spPr>
          <a:xfrm>
            <a:off x="8668512" y="2103120"/>
            <a:ext cx="2286000" cy="1188720"/>
          </a:xfrm>
          <a:prstGeom prst="cloud">
            <a:avLst/>
          </a:prstGeom>
          <a:solidFill>
            <a:srgbClr val="D8F1FF"/>
          </a:solidFill>
          <a:ln>
            <a:solidFill>
              <a:srgbClr val="5CC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M17 · ASOSIY TUSHUNCHA 2/6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Metrics, logs va traces</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04</a:t>
            </a:r>
          </a:p>
        </p:txBody>
      </p:sp>
      <p:sp>
        <p:nvSpPr>
          <p:cNvPr id="8" name="Rounded Rectangle 7"/>
          <p:cNvSpPr/>
          <p:nvPr/>
        </p:nvSpPr>
        <p:spPr>
          <a:xfrm>
            <a:off x="59436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QANDAY ISHLAYDI?</a:t>
            </a:r>
          </a:p>
        </p:txBody>
      </p:sp>
      <p:sp>
        <p:nvSpPr>
          <p:cNvPr id="10" name="TextBox 9"/>
          <p:cNvSpPr txBox="1"/>
          <p:nvPr/>
        </p:nvSpPr>
        <p:spPr>
          <a:xfrm>
            <a:off x="82296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Metrika muammo borligini ko‘rsatadi, trace kechikkan komponentni topadi, log esa ayni hodisaning tafsilotini beradi.</a:t>
            </a:r>
          </a:p>
        </p:txBody>
      </p:sp>
      <p:sp>
        <p:nvSpPr>
          <p:cNvPr id="11" name="Rounded Rectangle 10"/>
          <p:cNvSpPr/>
          <p:nvPr/>
        </p:nvSpPr>
        <p:spPr>
          <a:xfrm>
            <a:off x="626364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ESDA SAQLANG</a:t>
            </a:r>
          </a:p>
        </p:txBody>
      </p:sp>
      <p:sp>
        <p:nvSpPr>
          <p:cNvPr id="13" name="TextBox 12"/>
          <p:cNvSpPr txBox="1"/>
          <p:nvPr/>
        </p:nvSpPr>
        <p:spPr>
          <a:xfrm>
            <a:off x="649224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Log ga parol, token yoki ortiqcha shaxsiy ma’lumot yozilmasligi kerak.</a:t>
            </a:r>
          </a:p>
        </p:txBody>
      </p:sp>
      <p:sp>
        <p:nvSpPr>
          <p:cNvPr id="14" name="TextBox 13"/>
          <p:cNvSpPr txBox="1"/>
          <p:nvPr/>
        </p:nvSpPr>
        <p:spPr>
          <a:xfrm>
            <a:off x="640080" y="5742432"/>
            <a:ext cx="10881360" cy="3657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Raqamlar • hodisalar • so‘rov yo‘li.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M17 · ASOSIY TUSHUNCHA 3/6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Xizmat sifati va percentillar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05</a:t>
            </a:r>
          </a:p>
        </p:txBody>
      </p:sp>
      <p:sp>
        <p:nvSpPr>
          <p:cNvPr id="8" name="Rectangle 7"/>
          <p:cNvSpPr/>
          <p:nvPr/>
        </p:nvSpPr>
        <p:spPr>
          <a:xfrm>
            <a:off x="594360" y="2011680"/>
            <a:ext cx="100584" cy="333756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75688"/>
            <a:ext cx="9966960" cy="1280160"/>
          </a:xfrm>
          <a:prstGeom prst="rect">
            <a:avLst/>
          </a:prstGeom>
          <a:noFill/>
        </p:spPr>
        <p:txBody>
          <a:bodyPr wrap="square" lIns="27432" rIns="27432" tIns="18288" bIns="0">
            <a:spAutoFit/>
          </a:bodyPr>
          <a:lstStyle/>
          <a:p>
            <a:pPr>
              <a:spcAft>
                <a:spcPts val="1000"/>
              </a:spcAft>
              <a:defRPr sz="3200" b="1">
                <a:solidFill>
                  <a:srgbClr val="1678D2"/>
                </a:solidFill>
                <a:latin typeface="DejaVu Sans"/>
              </a:defRPr>
            </a:pPr>
            <a:r>
              <a:t>Latency, traffic, errors, saturation.</a:t>
            </a:r>
          </a:p>
        </p:txBody>
      </p:sp>
      <p:sp>
        <p:nvSpPr>
          <p:cNvPr id="10" name="TextBox 9"/>
          <p:cNvSpPr txBox="1"/>
          <p:nvPr/>
        </p:nvSpPr>
        <p:spPr>
          <a:xfrm>
            <a:off x="960120" y="3712463"/>
            <a:ext cx="6629400" cy="164592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Javob vaqti, so‘rovlar soni, xatolar ulushi va resurs to‘yinganligi foydali asosiy signallardir.</a:t>
            </a:r>
          </a:p>
        </p:txBody>
      </p:sp>
      <p:sp>
        <p:nvSpPr>
          <p:cNvPr id="11" name="Rounded Rectangle 10"/>
          <p:cNvSpPr/>
          <p:nvPr/>
        </p:nvSpPr>
        <p:spPr>
          <a:xfrm>
            <a:off x="8366760" y="3822191"/>
            <a:ext cx="2971800" cy="133502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4114800"/>
            <a:ext cx="2514600" cy="8229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TA’RIF → MISOL</a:t>
            </a:r>
          </a:p>
          <a:p>
            <a:pPr>
              <a:spcAft>
                <a:spcPts val="1000"/>
              </a:spcAft>
              <a:defRPr sz="1800" b="1">
                <a:solidFill>
                  <a:srgbClr val="1678D2"/>
                </a:solidFill>
                <a:latin typeface="DejaVu Sans"/>
              </a:defRPr>
            </a:pPr>
            <a:r>
              <a:t>→ CHEGARA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M17 · ASOSIY TUSHUNCHA 4/6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Alerting va hodisaga javob</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06</a:t>
            </a:r>
          </a:p>
        </p:txBody>
      </p:sp>
      <p:sp>
        <p:nvSpPr>
          <p:cNvPr id="8" name="TextBox 7"/>
          <p:cNvSpPr txBox="1"/>
          <p:nvPr/>
        </p:nvSpPr>
        <p:spPr>
          <a:xfrm>
            <a:off x="594360" y="1865376"/>
            <a:ext cx="7086600" cy="1143000"/>
          </a:xfrm>
          <a:prstGeom prst="rect">
            <a:avLst/>
          </a:prstGeom>
          <a:noFill/>
        </p:spPr>
        <p:txBody>
          <a:bodyPr wrap="square" lIns="27432" rIns="27432" tIns="18288" bIns="0">
            <a:spAutoFit/>
          </a:bodyPr>
          <a:lstStyle/>
          <a:p>
            <a:pPr>
              <a:spcAft>
                <a:spcPts val="1000"/>
              </a:spcAft>
              <a:defRPr sz="3000" b="1">
                <a:solidFill>
                  <a:srgbClr val="1678D2"/>
                </a:solidFill>
                <a:latin typeface="DejaVu Sans"/>
              </a:defRPr>
            </a:pPr>
            <a:r>
              <a:t>Ogohlantirish aniq muammo va aniq egaga ega bo‘lsin.</a:t>
            </a:r>
          </a:p>
        </p:txBody>
      </p:sp>
      <p:sp>
        <p:nvSpPr>
          <p:cNvPr id="9" name="Rounded Rectangle 8"/>
          <p:cNvSpPr/>
          <p:nvPr/>
        </p:nvSpPr>
        <p:spPr>
          <a:xfrm>
            <a:off x="594360" y="3337560"/>
            <a:ext cx="7040880" cy="203911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38728"/>
            <a:ext cx="6556248" cy="178308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Besh daqiqa davomida xato ulushi maqsaddan oshsa, navbatchi jamoa ogohlantiriladi.</a:t>
            </a:r>
          </a:p>
        </p:txBody>
      </p:sp>
      <p:sp>
        <p:nvSpPr>
          <p:cNvPr id="11" name="Rounded Rectangle 10"/>
          <p:cNvSpPr/>
          <p:nvPr/>
        </p:nvSpPr>
        <p:spPr>
          <a:xfrm>
            <a:off x="8183879" y="4965192"/>
            <a:ext cx="3063240" cy="14630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8321040" y="3120390"/>
            <a:ext cx="1042416" cy="217170"/>
          </a:xfrm>
          <a:custGeom>
            <a:avLst/>
            <a:gdLst/>
            <a:ahLst/>
            <a:cxnLst/>
            <a:rect l="l" t="t" r="r" b="b"/>
            <a:pathLst>
              <a:path w="1042416" h="217170">
                <a:moveTo>
                  <a:pt x="0" y="217170"/>
                </a:moveTo>
                <a:lnTo>
                  <a:pt x="825246" y="217170"/>
                </a:lnTo>
                <a:lnTo>
                  <a:pt x="1042416" y="0"/>
                </a:lnTo>
                <a:lnTo>
                  <a:pt x="21717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9146286" y="3120390"/>
            <a:ext cx="217170" cy="1780793"/>
          </a:xfrm>
          <a:custGeom>
            <a:avLst/>
            <a:gdLst/>
            <a:ahLst/>
            <a:cxnLst/>
            <a:rect l="l" t="t" r="r" b="b"/>
            <a:pathLst>
              <a:path w="217170" h="1780793">
                <a:moveTo>
                  <a:pt x="0" y="217170"/>
                </a:moveTo>
                <a:lnTo>
                  <a:pt x="217170" y="0"/>
                </a:lnTo>
                <a:lnTo>
                  <a:pt x="217170" y="1563624"/>
                </a:lnTo>
                <a:lnTo>
                  <a:pt x="0" y="178079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21040" y="3337560"/>
            <a:ext cx="825246" cy="1563624"/>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07908" y="349392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894368" y="353735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07908" y="3737152"/>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94368" y="3780586"/>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07908" y="398038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94368" y="402381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407908" y="4223613"/>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94368" y="4267047"/>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07908" y="4466844"/>
            <a:ext cx="642823" cy="156362"/>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94368" y="4510278"/>
            <a:ext cx="52120" cy="43434"/>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9628632" y="2811779"/>
            <a:ext cx="1207008" cy="251460"/>
          </a:xfrm>
          <a:custGeom>
            <a:avLst/>
            <a:gdLst/>
            <a:ahLst/>
            <a:cxnLst/>
            <a:rect l="l" t="t" r="r" b="b"/>
            <a:pathLst>
              <a:path w="1207008" h="251460">
                <a:moveTo>
                  <a:pt x="0" y="251460"/>
                </a:moveTo>
                <a:lnTo>
                  <a:pt x="955548" y="251460"/>
                </a:lnTo>
                <a:lnTo>
                  <a:pt x="1207008" y="0"/>
                </a:lnTo>
                <a:lnTo>
                  <a:pt x="251460" y="0"/>
                </a:lnTo>
                <a:close/>
              </a:path>
            </a:pathLst>
          </a:custGeom>
          <a:solidFill>
            <a:srgbClr val="DA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10584180" y="2811779"/>
            <a:ext cx="251460" cy="2061973"/>
          </a:xfrm>
          <a:custGeom>
            <a:avLst/>
            <a:gdLst/>
            <a:ahLst/>
            <a:cxnLst/>
            <a:rect l="l" t="t" r="r" b="b"/>
            <a:pathLst>
              <a:path w="251460" h="2061973">
                <a:moveTo>
                  <a:pt x="0" y="251460"/>
                </a:moveTo>
                <a:lnTo>
                  <a:pt x="251460" y="0"/>
                </a:lnTo>
                <a:lnTo>
                  <a:pt x="251460" y="1810513"/>
                </a:lnTo>
                <a:lnTo>
                  <a:pt x="0" y="2061973"/>
                </a:lnTo>
                <a:close/>
              </a:path>
            </a:pathLst>
          </a:custGeom>
          <a:solidFill>
            <a:srgbClr val="7EB7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28632" y="3063239"/>
            <a:ext cx="955547" cy="1810512"/>
          </a:xfrm>
          <a:prstGeom prst="rect">
            <a:avLst/>
          </a:prstGeom>
          <a:solidFill>
            <a:srgbClr val="D7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29215" y="324429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92486" y="329458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729215" y="352592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92486" y="357621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29215" y="380756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92486" y="3857853"/>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29215" y="4089196"/>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292486" y="4139488"/>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29215" y="4370831"/>
            <a:ext cx="744321" cy="181051"/>
          </a:xfrm>
          <a:prstGeom prst="rect">
            <a:avLst/>
          </a:prstGeom>
          <a:solidFill>
            <a:srgbClr val="1536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292486" y="4421124"/>
            <a:ext cx="60350" cy="50292"/>
          </a:xfrm>
          <a:prstGeom prst="rect">
            <a:avLst/>
          </a:prstGeom>
          <a:solidFill>
            <a:srgbClr val="5CC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loud 37"/>
          <p:cNvSpPr/>
          <p:nvPr/>
        </p:nvSpPr>
        <p:spPr>
          <a:xfrm>
            <a:off x="8668512" y="2103120"/>
            <a:ext cx="2286000" cy="1188720"/>
          </a:xfrm>
          <a:prstGeom prst="cloud">
            <a:avLst/>
          </a:prstGeom>
          <a:solidFill>
            <a:srgbClr val="D8F1FF"/>
          </a:solidFill>
          <a:ln>
            <a:solidFill>
              <a:srgbClr val="5CC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M17 · ASOSIY TUSHUNCHA 5/6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Auto Scaling va unumdorlik</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07</a:t>
            </a:r>
          </a:p>
        </p:txBody>
      </p:sp>
      <p:sp>
        <p:nvSpPr>
          <p:cNvPr id="8" name="Rounded Rectangle 7"/>
          <p:cNvSpPr/>
          <p:nvPr/>
        </p:nvSpPr>
        <p:spPr>
          <a:xfrm>
            <a:off x="59436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QANDAY ISHLAYDI?</a:t>
            </a:r>
          </a:p>
        </p:txBody>
      </p:sp>
      <p:sp>
        <p:nvSpPr>
          <p:cNvPr id="10" name="TextBox 9"/>
          <p:cNvSpPr txBox="1"/>
          <p:nvPr/>
        </p:nvSpPr>
        <p:spPr>
          <a:xfrm>
            <a:off x="82296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Minimum va maksimum quvvat, nishon metrika va barqarorlashish davri belgilanadi.</a:t>
            </a:r>
          </a:p>
        </p:txBody>
      </p:sp>
      <p:sp>
        <p:nvSpPr>
          <p:cNvPr id="11" name="Rounded Rectangle 10"/>
          <p:cNvSpPr/>
          <p:nvPr/>
        </p:nvSpPr>
        <p:spPr>
          <a:xfrm>
            <a:off x="6263640" y="1965960"/>
            <a:ext cx="5321808" cy="3502152"/>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240280"/>
            <a:ext cx="4828032" cy="365760"/>
          </a:xfrm>
          <a:prstGeom prst="rect">
            <a:avLst/>
          </a:prstGeom>
          <a:noFill/>
        </p:spPr>
        <p:txBody>
          <a:bodyPr wrap="square" lIns="27432" rIns="27432" tIns="18288" bIns="0">
            <a:spAutoFit/>
          </a:bodyPr>
          <a:lstStyle/>
          <a:p>
            <a:pPr>
              <a:spcAft>
                <a:spcPts val="1000"/>
              </a:spcAft>
              <a:defRPr sz="1300" b="1">
                <a:solidFill>
                  <a:srgbClr val="1678D2"/>
                </a:solidFill>
                <a:latin typeface="DejaVu Sans"/>
              </a:defRPr>
            </a:pPr>
            <a:r>
              <a:t>ESDA SAQLANG</a:t>
            </a:r>
          </a:p>
        </p:txBody>
      </p:sp>
      <p:sp>
        <p:nvSpPr>
          <p:cNvPr id="13" name="TextBox 12"/>
          <p:cNvSpPr txBox="1"/>
          <p:nvPr/>
        </p:nvSpPr>
        <p:spPr>
          <a:xfrm>
            <a:off x="6492240" y="2852928"/>
            <a:ext cx="4818888" cy="2331720"/>
          </a:xfrm>
          <a:prstGeom prst="rect">
            <a:avLst/>
          </a:prstGeom>
          <a:noFill/>
        </p:spPr>
        <p:txBody>
          <a:bodyPr wrap="square" lIns="27432" rIns="27432" tIns="18288" bIns="0">
            <a:spAutoFit/>
          </a:bodyPr>
          <a:lstStyle/>
          <a:p>
            <a:pPr>
              <a:spcAft>
                <a:spcPts val="1000"/>
              </a:spcAft>
              <a:defRPr sz="2500" b="0">
                <a:solidFill>
                  <a:srgbClr val="15365B"/>
                </a:solidFill>
                <a:latin typeface="DejaVu Sans"/>
              </a:defRPr>
            </a:pPr>
            <a:r>
              <a:t>Noto‘g‘ri metrika ko‘paytirish va kamaytirishning beqaror tebranishiga sabab bo‘lishi mumkin.</a:t>
            </a:r>
          </a:p>
        </p:txBody>
      </p:sp>
      <p:sp>
        <p:nvSpPr>
          <p:cNvPr id="14" name="TextBox 13"/>
          <p:cNvSpPr txBox="1"/>
          <p:nvPr/>
        </p:nvSpPr>
        <p:spPr>
          <a:xfrm>
            <a:off x="640080" y="5742432"/>
            <a:ext cx="10881360" cy="3657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Avval tor joyni toping, keyin quvvat qo‘shing.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M17 · ASOSIY TUSHUNCHA 6/6</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Xarajatni optimallashtirish va FinOps</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08</a:t>
            </a:r>
          </a:p>
        </p:txBody>
      </p:sp>
      <p:sp>
        <p:nvSpPr>
          <p:cNvPr id="8" name="Rectangle 7"/>
          <p:cNvSpPr/>
          <p:nvPr/>
        </p:nvSpPr>
        <p:spPr>
          <a:xfrm>
            <a:off x="594360" y="2011680"/>
            <a:ext cx="100584" cy="333756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75688"/>
            <a:ext cx="9966960" cy="1280160"/>
          </a:xfrm>
          <a:prstGeom prst="rect">
            <a:avLst/>
          </a:prstGeom>
          <a:noFill/>
        </p:spPr>
        <p:txBody>
          <a:bodyPr wrap="square" lIns="27432" rIns="27432" tIns="18288" bIns="0">
            <a:spAutoFit/>
          </a:bodyPr>
          <a:lstStyle/>
          <a:p>
            <a:pPr>
              <a:spcAft>
                <a:spcPts val="1000"/>
              </a:spcAft>
              <a:defRPr sz="3200" b="1">
                <a:solidFill>
                  <a:srgbClr val="1678D2"/>
                </a:solidFill>
                <a:latin typeface="DejaVu Sans"/>
              </a:defRPr>
            </a:pPr>
            <a:r>
              <a:t>Ko‘rinuvchanlik → egalik → to‘g‘ri o‘lcham → takroriy tekshiruv.</a:t>
            </a:r>
          </a:p>
        </p:txBody>
      </p:sp>
      <p:sp>
        <p:nvSpPr>
          <p:cNvPr id="10" name="TextBox 9"/>
          <p:cNvSpPr txBox="1"/>
          <p:nvPr/>
        </p:nvSpPr>
        <p:spPr>
          <a:xfrm>
            <a:off x="960120" y="3712463"/>
            <a:ext cx="6629400" cy="164592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Xarajat boshqaruvi texnik va moliyaviy hamkorlikni talab qiladi.</a:t>
            </a:r>
          </a:p>
        </p:txBody>
      </p:sp>
      <p:sp>
        <p:nvSpPr>
          <p:cNvPr id="11" name="Rounded Rectangle 10"/>
          <p:cNvSpPr/>
          <p:nvPr/>
        </p:nvSpPr>
        <p:spPr>
          <a:xfrm>
            <a:off x="8366760" y="3822191"/>
            <a:ext cx="2971800" cy="133502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4114800"/>
            <a:ext cx="2514600" cy="822960"/>
          </a:xfrm>
          <a:prstGeom prst="rect">
            <a:avLst/>
          </a:prstGeom>
          <a:noFill/>
        </p:spPr>
        <p:txBody>
          <a:bodyPr wrap="square" lIns="27432" rIns="27432" tIns="18288" bIns="0">
            <a:spAutoFit/>
          </a:bodyPr>
          <a:lstStyle/>
          <a:p>
            <a:pPr>
              <a:spcAft>
                <a:spcPts val="1000"/>
              </a:spcAft>
              <a:defRPr sz="1800" b="1">
                <a:solidFill>
                  <a:srgbClr val="1678D2"/>
                </a:solidFill>
                <a:latin typeface="DejaVu Sans"/>
              </a:defRPr>
            </a:pPr>
            <a:r>
              <a:t>TA’RIF → MISOL</a:t>
            </a:r>
          </a:p>
          <a:p>
            <a:pPr>
              <a:spcAft>
                <a:spcPts val="1000"/>
              </a:spcAft>
              <a:defRPr sz="1800" b="1">
                <a:solidFill>
                  <a:srgbClr val="1678D2"/>
                </a:solidFill>
                <a:latin typeface="DejaVu Sans"/>
              </a:defRPr>
            </a:pPr>
            <a:r>
              <a:t>→ CHEGARA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M17 · ARXITEKTURA</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Texnik sxema: qismlar qanday bog‘lanadi?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09</a:t>
            </a:r>
          </a:p>
        </p:txBody>
      </p:sp>
      <p:cxnSp>
        <p:nvCxnSpPr>
          <p:cNvPr id="8" name="Connector 7"/>
          <p:cNvCxnSpPr/>
          <p:nvPr/>
        </p:nvCxnSpPr>
        <p:spPr>
          <a:xfrm>
            <a:off x="3474720" y="2761488"/>
            <a:ext cx="77724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74720" y="2761488"/>
            <a:ext cx="429768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114800" y="3246120"/>
            <a:ext cx="1508760" cy="123444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4114800" y="3246120"/>
            <a:ext cx="5029200" cy="123444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486400" y="4956048"/>
            <a:ext cx="1188720" cy="0"/>
          </a:xfrm>
          <a:prstGeom prst="line">
            <a:avLst/>
          </a:prstGeom>
          <a:ln w="25400">
            <a:solidFill>
              <a:srgbClr val="78ACD8"/>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520" y="2286000"/>
            <a:ext cx="2743200" cy="960120"/>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450592"/>
            <a:ext cx="2505456" cy="685800"/>
          </a:xfrm>
          <a:prstGeom prst="rect">
            <a:avLst/>
          </a:prstGeom>
          <a:noFill/>
        </p:spPr>
        <p:txBody>
          <a:bodyPr wrap="square" lIns="27432" rIns="27432" tIns="18288" bIns="0">
            <a:spAutoFit/>
          </a:bodyPr>
          <a:lstStyle/>
          <a:p>
            <a:pPr>
              <a:spcAft>
                <a:spcPts val="1000"/>
              </a:spcAft>
              <a:defRPr sz="1800" b="1">
                <a:solidFill>
                  <a:srgbClr val="FFFFFF"/>
                </a:solidFill>
                <a:latin typeface="DejaVu Sans"/>
              </a:defRPr>
            </a:pPr>
            <a:r>
              <a:t>Ilova</a:t>
            </a:r>
          </a:p>
        </p:txBody>
      </p:sp>
      <p:sp>
        <p:nvSpPr>
          <p:cNvPr id="15" name="Rounded Rectangle 14"/>
          <p:cNvSpPr/>
          <p:nvPr/>
        </p:nvSpPr>
        <p:spPr>
          <a:xfrm>
            <a:off x="4251960" y="228600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0832" y="245059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Metrics / logs</a:t>
            </a:r>
          </a:p>
        </p:txBody>
      </p:sp>
      <p:sp>
        <p:nvSpPr>
          <p:cNvPr id="17" name="Rounded Rectangle 16"/>
          <p:cNvSpPr/>
          <p:nvPr/>
        </p:nvSpPr>
        <p:spPr>
          <a:xfrm>
            <a:off x="7772400" y="228600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91272" y="245059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Traces</a:t>
            </a:r>
          </a:p>
        </p:txBody>
      </p:sp>
      <p:sp>
        <p:nvSpPr>
          <p:cNvPr id="19" name="Rounded Rectangle 18"/>
          <p:cNvSpPr/>
          <p:nvPr/>
        </p:nvSpPr>
        <p:spPr>
          <a:xfrm>
            <a:off x="2743200" y="448056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62072" y="464515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Tahlil / alert</a:t>
            </a:r>
          </a:p>
        </p:txBody>
      </p:sp>
      <p:sp>
        <p:nvSpPr>
          <p:cNvPr id="21" name="Rounded Rectangle 20"/>
          <p:cNvSpPr/>
          <p:nvPr/>
        </p:nvSpPr>
        <p:spPr>
          <a:xfrm>
            <a:off x="6675120" y="4480560"/>
            <a:ext cx="2743200" cy="960120"/>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93992" y="4645152"/>
            <a:ext cx="2505456" cy="685800"/>
          </a:xfrm>
          <a:prstGeom prst="rect">
            <a:avLst/>
          </a:prstGeom>
          <a:noFill/>
        </p:spPr>
        <p:txBody>
          <a:bodyPr wrap="square" lIns="27432" rIns="27432" tIns="18288" bIns="0">
            <a:spAutoFit/>
          </a:bodyPr>
          <a:lstStyle/>
          <a:p>
            <a:pPr>
              <a:spcAft>
                <a:spcPts val="1000"/>
              </a:spcAft>
              <a:defRPr sz="1800" b="1">
                <a:solidFill>
                  <a:srgbClr val="15365B"/>
                </a:solidFill>
                <a:latin typeface="DejaVu Sans"/>
              </a:defRPr>
            </a:pPr>
            <a:r>
              <a:t>Optimallashtirish</a:t>
            </a:r>
          </a:p>
        </p:txBody>
      </p:sp>
      <p:sp>
        <p:nvSpPr>
          <p:cNvPr id="23" name="TextBox 22"/>
          <p:cNvSpPr txBox="1"/>
          <p:nvPr/>
        </p:nvSpPr>
        <p:spPr>
          <a:xfrm>
            <a:off x="777240" y="5806440"/>
            <a:ext cx="10789920" cy="347472"/>
          </a:xfrm>
          <a:prstGeom prst="rect">
            <a:avLst/>
          </a:prstGeom>
          <a:noFill/>
        </p:spPr>
        <p:txBody>
          <a:bodyPr wrap="square" lIns="27432" rIns="27432" tIns="18288" bIns="0">
            <a:spAutoFit/>
          </a:bodyPr>
          <a:lstStyle/>
          <a:p>
            <a:pPr>
              <a:spcAft>
                <a:spcPts val="1000"/>
              </a:spcAft>
              <a:defRPr sz="1300" b="0">
                <a:solidFill>
                  <a:srgbClr val="53687D"/>
                </a:solidFill>
                <a:latin typeface="DejaVu Sans"/>
              </a:defRPr>
            </a:pPr>
            <a:r>
              <a:t>O‘qlar: asosiy bog‘lanish yoki boshqaruv yo‘nalishi. Sxema soddalashtirilgan.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M17 · O‘QITUVCHI BAYONI</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Universitet portali misolida</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10</a:t>
            </a:r>
          </a:p>
        </p:txBody>
      </p:sp>
      <p:sp>
        <p:nvSpPr>
          <p:cNvPr id="8" name="TextBox 7"/>
          <p:cNvSpPr txBox="1"/>
          <p:nvPr/>
        </p:nvSpPr>
        <p:spPr>
          <a:xfrm>
            <a:off x="658368" y="1920240"/>
            <a:ext cx="7040880" cy="1508760"/>
          </a:xfrm>
          <a:prstGeom prst="rect">
            <a:avLst/>
          </a:prstGeom>
          <a:noFill/>
        </p:spPr>
        <p:txBody>
          <a:bodyPr wrap="square" lIns="27432" rIns="27432" tIns="18288" bIns="0">
            <a:spAutoFit/>
          </a:bodyPr>
          <a:lstStyle/>
          <a:p>
            <a:pPr>
              <a:spcAft>
                <a:spcPts val="1000"/>
              </a:spcAft>
              <a:defRPr sz="2400" b="0">
                <a:solidFill>
                  <a:srgbClr val="15365B"/>
                </a:solidFill>
                <a:latin typeface="DejaVu Sans"/>
              </a:defRPr>
            </a:pPr>
            <a:r>
              <a:t>Portal ochiladi, lekin baholar sahifasi sekin ishlaydi. Faqat CPU grafigi yetarli emas: so‘rovning qaysi bosqichi kechikayotganini va bu foydalanuvchiga qanday ta’sir qilayotganini topish kerak.</a:t>
            </a:r>
          </a:p>
        </p:txBody>
      </p:sp>
      <p:sp>
        <p:nvSpPr>
          <p:cNvPr id="9" name="Rounded Rectangle 8"/>
          <p:cNvSpPr/>
          <p:nvPr/>
        </p:nvSpPr>
        <p:spPr>
          <a:xfrm>
            <a:off x="685800"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Ilova signallari</a:t>
            </a:r>
          </a:p>
        </p:txBody>
      </p:sp>
      <p:sp>
        <p:nvSpPr>
          <p:cNvPr id="11" name="Rounded Rectangle 10"/>
          <p:cNvSpPr/>
          <p:nvPr/>
        </p:nvSpPr>
        <p:spPr>
          <a:xfrm>
            <a:off x="3584448"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1608"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Metrics / logs / traces</a:t>
            </a:r>
          </a:p>
        </p:txBody>
      </p:sp>
      <p:sp>
        <p:nvSpPr>
          <p:cNvPr id="13" name="Rounded Rectangle 12"/>
          <p:cNvSpPr/>
          <p:nvPr/>
        </p:nvSpPr>
        <p:spPr>
          <a:xfrm>
            <a:off x="6483096"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0256"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Tahlil va alert</a:t>
            </a:r>
          </a:p>
        </p:txBody>
      </p:sp>
      <p:sp>
        <p:nvSpPr>
          <p:cNvPr id="15" name="Rounded Rectangle 14"/>
          <p:cNvSpPr/>
          <p:nvPr/>
        </p:nvSpPr>
        <p:spPr>
          <a:xfrm>
            <a:off x="9381744" y="4114800"/>
            <a:ext cx="2670048" cy="1161288"/>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18904" y="4279392"/>
            <a:ext cx="2404872" cy="822960"/>
          </a:xfrm>
          <a:prstGeom prst="rect">
            <a:avLst/>
          </a:prstGeom>
          <a:noFill/>
        </p:spPr>
        <p:txBody>
          <a:bodyPr wrap="square" lIns="27432" rIns="27432" tIns="18288" bIns="0">
            <a:spAutoFit/>
          </a:bodyPr>
          <a:lstStyle/>
          <a:p>
            <a:pPr>
              <a:spcAft>
                <a:spcPts val="1000"/>
              </a:spcAft>
              <a:defRPr sz="2000" b="1">
                <a:solidFill>
                  <a:srgbClr val="1678D2"/>
                </a:solidFill>
                <a:latin typeface="DejaVu Sans"/>
              </a:defRPr>
            </a:pPr>
            <a:r>
              <a:t>Tuzatish va o‘lchash</a:t>
            </a:r>
          </a:p>
        </p:txBody>
      </p:sp>
      <p:sp>
        <p:nvSpPr>
          <p:cNvPr id="17" name="TextBox 16"/>
          <p:cNvSpPr txBox="1"/>
          <p:nvPr/>
        </p:nvSpPr>
        <p:spPr>
          <a:xfrm>
            <a:off x="713232" y="5632704"/>
            <a:ext cx="10789920" cy="365760"/>
          </a:xfrm>
          <a:prstGeom prst="rect">
            <a:avLst/>
          </a:prstGeom>
          <a:noFill/>
        </p:spPr>
        <p:txBody>
          <a:bodyPr wrap="square" lIns="27432" rIns="27432" tIns="18288" bIns="0">
            <a:spAutoFit/>
          </a:bodyPr>
          <a:lstStyle/>
          <a:p>
            <a:pPr>
              <a:spcAft>
                <a:spcPts val="1000"/>
              </a:spcAft>
              <a:defRPr sz="1300" b="0">
                <a:solidFill>
                  <a:srgbClr val="53687D"/>
                </a:solidFill>
                <a:latin typeface="DejaVu Sans"/>
              </a:defRPr>
            </a:pPr>
            <a:r>
              <a:t>Yuqoridagi bloklar — misolning tayanch qismlari; ular har doim chiziqli trafik yo‘li emas.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M17 · ANIQLIK KIRITAMIZ</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Ko‘p uchraydigan noto‘g‘ri xulosalar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11</a:t>
            </a:r>
          </a:p>
        </p:txBody>
      </p:sp>
      <p:sp>
        <p:nvSpPr>
          <p:cNvPr id="8" name="Rounded Rectangle 7"/>
          <p:cNvSpPr/>
          <p:nvPr/>
        </p:nvSpPr>
        <p:spPr>
          <a:xfrm>
            <a:off x="640080" y="1892807"/>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1929384"/>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1</a:t>
            </a:r>
          </a:p>
        </p:txBody>
      </p:sp>
      <p:sp>
        <p:nvSpPr>
          <p:cNvPr id="10" name="TextBox 9"/>
          <p:cNvSpPr txBox="1"/>
          <p:nvPr/>
        </p:nvSpPr>
        <p:spPr>
          <a:xfrm>
            <a:off x="1353312" y="1892807"/>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Ko‘p ma’lumot yig‘ishning o‘zi tizimni kuzatiladigan qilmaydi; ma’lumot sifati va kontekst zarur.</a:t>
            </a:r>
          </a:p>
        </p:txBody>
      </p:sp>
      <p:sp>
        <p:nvSpPr>
          <p:cNvPr id="11" name="Rounded Rectangle 10"/>
          <p:cNvSpPr/>
          <p:nvPr/>
        </p:nvSpPr>
        <p:spPr>
          <a:xfrm>
            <a:off x="640080" y="3246120"/>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3282696"/>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2</a:t>
            </a:r>
          </a:p>
        </p:txBody>
      </p:sp>
      <p:sp>
        <p:nvSpPr>
          <p:cNvPr id="13" name="TextBox 12"/>
          <p:cNvSpPr txBox="1"/>
          <p:nvPr/>
        </p:nvSpPr>
        <p:spPr>
          <a:xfrm>
            <a:off x="1353312" y="3246120"/>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Har bir qisqa CPU ko‘tarilishi favqulodda holat emas; xizmatga ta’siri baholanadi.</a:t>
            </a:r>
          </a:p>
        </p:txBody>
      </p:sp>
      <p:sp>
        <p:nvSpPr>
          <p:cNvPr id="14" name="Rounded Rectangle 13"/>
          <p:cNvSpPr/>
          <p:nvPr/>
        </p:nvSpPr>
        <p:spPr>
          <a:xfrm>
            <a:off x="640080" y="4599431"/>
            <a:ext cx="475488" cy="475488"/>
          </a:xfrm>
          <a:prstGeom prst="roundRect">
            <a:avLst>
              <a:gd name="adj" fmla="val 8000"/>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4636007"/>
            <a:ext cx="310896" cy="365760"/>
          </a:xfrm>
          <a:prstGeom prst="rect">
            <a:avLst/>
          </a:prstGeom>
          <a:noFill/>
        </p:spPr>
        <p:txBody>
          <a:bodyPr wrap="square" lIns="27432" rIns="27432" tIns="18288" bIns="0">
            <a:spAutoFit/>
          </a:bodyPr>
          <a:lstStyle/>
          <a:p>
            <a:pPr>
              <a:spcAft>
                <a:spcPts val="1000"/>
              </a:spcAft>
              <a:defRPr sz="1700" b="1">
                <a:solidFill>
                  <a:srgbClr val="FFFFFF"/>
                </a:solidFill>
                <a:latin typeface="DejaVu Sans"/>
              </a:defRPr>
            </a:pPr>
            <a:r>
              <a:t>3</a:t>
            </a:r>
          </a:p>
        </p:txBody>
      </p:sp>
      <p:sp>
        <p:nvSpPr>
          <p:cNvPr id="16" name="TextBox 15"/>
          <p:cNvSpPr txBox="1"/>
          <p:nvPr/>
        </p:nvSpPr>
        <p:spPr>
          <a:xfrm>
            <a:off x="1353312" y="4599431"/>
            <a:ext cx="10058400" cy="1143000"/>
          </a:xfrm>
          <a:prstGeom prst="rect">
            <a:avLst/>
          </a:prstGeom>
          <a:noFill/>
        </p:spPr>
        <p:txBody>
          <a:bodyPr wrap="square" lIns="27432" rIns="27432" tIns="18288" bIns="0">
            <a:spAutoFit/>
          </a:bodyPr>
          <a:lstStyle/>
          <a:p>
            <a:pPr>
              <a:spcAft>
                <a:spcPts val="1000"/>
              </a:spcAft>
              <a:defRPr sz="2300" b="0">
                <a:solidFill>
                  <a:srgbClr val="15365B"/>
                </a:solidFill>
                <a:latin typeface="DejaVu Sans"/>
              </a:defRPr>
            </a:pPr>
            <a:r>
              <a:t>Arzonlashtirish mavjudlik va xavfsizlik talablarini buzmasligi kerak; budjet alert i avtomatik xarajat chegarasi emas.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M17 · YAKUN</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Mavzuning asosiy xulosalari</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12</a:t>
            </a:r>
          </a:p>
        </p:txBody>
      </p:sp>
      <p:sp>
        <p:nvSpPr>
          <p:cNvPr id="8" name="Rounded Rectangle 7"/>
          <p:cNvSpPr/>
          <p:nvPr/>
        </p:nvSpPr>
        <p:spPr>
          <a:xfrm>
            <a:off x="640080"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01</a:t>
            </a:r>
          </a:p>
        </p:txBody>
      </p:sp>
      <p:sp>
        <p:nvSpPr>
          <p:cNvPr id="10" name="TextBox 9"/>
          <p:cNvSpPr txBox="1"/>
          <p:nvPr/>
        </p:nvSpPr>
        <p:spPr>
          <a:xfrm>
            <a:off x="859536"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Kuzatish — holat; tushuntirish — sababga yo‘l.</a:t>
            </a:r>
          </a:p>
        </p:txBody>
      </p:sp>
      <p:sp>
        <p:nvSpPr>
          <p:cNvPr id="11" name="Rounded Rectangle 10"/>
          <p:cNvSpPr/>
          <p:nvPr/>
        </p:nvSpPr>
        <p:spPr>
          <a:xfrm>
            <a:off x="4498848"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8304"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02</a:t>
            </a:r>
          </a:p>
        </p:txBody>
      </p:sp>
      <p:sp>
        <p:nvSpPr>
          <p:cNvPr id="13" name="TextBox 12"/>
          <p:cNvSpPr txBox="1"/>
          <p:nvPr/>
        </p:nvSpPr>
        <p:spPr>
          <a:xfrm>
            <a:off x="4718304"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Latency, traffic, errors, saturation.</a:t>
            </a:r>
          </a:p>
        </p:txBody>
      </p:sp>
      <p:sp>
        <p:nvSpPr>
          <p:cNvPr id="14" name="Rounded Rectangle 13"/>
          <p:cNvSpPr/>
          <p:nvPr/>
        </p:nvSpPr>
        <p:spPr>
          <a:xfrm>
            <a:off x="8357615" y="2075688"/>
            <a:ext cx="3611880" cy="3438144"/>
          </a:xfrm>
          <a:prstGeom prst="roundRect">
            <a:avLst>
              <a:gd name="adj" fmla="val 8000"/>
            </a:avLst>
          </a:prstGeom>
          <a:solidFill>
            <a:srgbClr val="EA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77072" y="2286000"/>
            <a:ext cx="3136392" cy="502920"/>
          </a:xfrm>
          <a:prstGeom prst="rect">
            <a:avLst/>
          </a:prstGeom>
          <a:noFill/>
        </p:spPr>
        <p:txBody>
          <a:bodyPr wrap="square" lIns="27432" rIns="27432" tIns="18288" bIns="0">
            <a:spAutoFit/>
          </a:bodyPr>
          <a:lstStyle/>
          <a:p>
            <a:pPr>
              <a:spcAft>
                <a:spcPts val="1000"/>
              </a:spcAft>
              <a:defRPr sz="3100" b="1">
                <a:solidFill>
                  <a:srgbClr val="1678D2"/>
                </a:solidFill>
                <a:latin typeface="DejaVu Sans"/>
              </a:defRPr>
            </a:pPr>
            <a:r>
              <a:t>03</a:t>
            </a:r>
          </a:p>
        </p:txBody>
      </p:sp>
      <p:sp>
        <p:nvSpPr>
          <p:cNvPr id="16" name="TextBox 15"/>
          <p:cNvSpPr txBox="1"/>
          <p:nvPr/>
        </p:nvSpPr>
        <p:spPr>
          <a:xfrm>
            <a:off x="8577072" y="3090672"/>
            <a:ext cx="3136392" cy="2103120"/>
          </a:xfrm>
          <a:prstGeom prst="rect">
            <a:avLst/>
          </a:prstGeom>
          <a:noFill/>
        </p:spPr>
        <p:txBody>
          <a:bodyPr wrap="square" lIns="27432" rIns="27432" tIns="18288" bIns="0">
            <a:spAutoFit/>
          </a:bodyPr>
          <a:lstStyle/>
          <a:p>
            <a:pPr>
              <a:spcAft>
                <a:spcPts val="1000"/>
              </a:spcAft>
              <a:defRPr sz="2500" b="1">
                <a:solidFill>
                  <a:srgbClr val="15365B"/>
                </a:solidFill>
                <a:latin typeface="DejaVu Sans"/>
              </a:defRPr>
            </a:pPr>
            <a:r>
              <a:t>Avval tor joyni toping, keyin quvvat qo‘shing.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1678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058400" cy="274320"/>
          </a:xfrm>
          <a:prstGeom prst="rect">
            <a:avLst/>
          </a:prstGeom>
          <a:noFill/>
        </p:spPr>
        <p:txBody>
          <a:bodyPr wrap="square" lIns="27432" rIns="27432" tIns="18288" bIns="0">
            <a:spAutoFit/>
          </a:bodyPr>
          <a:lstStyle/>
          <a:p>
            <a:pPr>
              <a:spcAft>
                <a:spcPts val="1000"/>
              </a:spcAft>
              <a:defRPr sz="1100" b="1">
                <a:solidFill>
                  <a:srgbClr val="1678D2"/>
                </a:solidFill>
                <a:latin typeface="DejaVu Sans"/>
              </a:defRPr>
            </a:pPr>
            <a:r>
              <a:t>M17 · QO‘SHIMCHA O‘QISH</a:t>
            </a:r>
          </a:p>
        </p:txBody>
      </p:sp>
      <p:sp>
        <p:nvSpPr>
          <p:cNvPr id="4" name="TextBox 3"/>
          <p:cNvSpPr txBox="1"/>
          <p:nvPr/>
        </p:nvSpPr>
        <p:spPr>
          <a:xfrm>
            <a:off x="502920" y="777240"/>
            <a:ext cx="11155680" cy="960120"/>
          </a:xfrm>
          <a:prstGeom prst="rect">
            <a:avLst/>
          </a:prstGeom>
          <a:noFill/>
        </p:spPr>
        <p:txBody>
          <a:bodyPr wrap="square" lIns="27432" rIns="27432" tIns="18288" bIns="0">
            <a:spAutoFit/>
          </a:bodyPr>
          <a:lstStyle/>
          <a:p>
            <a:pPr>
              <a:spcAft>
                <a:spcPts val="1000"/>
              </a:spcAft>
              <a:defRPr sz="2900" b="1">
                <a:solidFill>
                  <a:srgbClr val="15365B"/>
                </a:solidFill>
                <a:latin typeface="DejaVu Sans"/>
              </a:defRPr>
            </a:pPr>
            <a:r>
              <a:t>Manbalar va terminlar</a:t>
            </a:r>
          </a:p>
        </p:txBody>
      </p:sp>
      <p:sp>
        <p:nvSpPr>
          <p:cNvPr id="5" name="Rectangle 4"/>
          <p:cNvSpPr/>
          <p:nvPr/>
        </p:nvSpPr>
        <p:spPr>
          <a:xfrm>
            <a:off x="548640" y="6428232"/>
            <a:ext cx="11064240" cy="10972"/>
          </a:xfrm>
          <a:prstGeom prst="rect">
            <a:avLst/>
          </a:prstGeom>
          <a:solidFill>
            <a:srgbClr val="CEE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9144000" cy="182880"/>
          </a:xfrm>
          <a:prstGeom prst="rect">
            <a:avLst/>
          </a:prstGeom>
          <a:noFill/>
        </p:spPr>
        <p:txBody>
          <a:bodyPr wrap="square" lIns="27432" rIns="27432" tIns="18288" bIns="0">
            <a:spAutoFit/>
          </a:bodyPr>
          <a:lstStyle/>
          <a:p>
            <a:pPr>
              <a:spcAft>
                <a:spcPts val="1000"/>
              </a:spcAft>
              <a:defRPr sz="900" b="0">
                <a:solidFill>
                  <a:srgbClr val="53687D"/>
                </a:solidFill>
                <a:latin typeface="DejaVu Sans"/>
              </a:defRPr>
            </a:pPr>
            <a:r>
              <a:t>BTST206  •  BULUT TEXNOLOGIYALARI VA SERVISLAR  •  2027–2028</a:t>
            </a:r>
          </a:p>
        </p:txBody>
      </p:sp>
      <p:sp>
        <p:nvSpPr>
          <p:cNvPr id="7" name="TextBox 6"/>
          <p:cNvSpPr txBox="1"/>
          <p:nvPr/>
        </p:nvSpPr>
        <p:spPr>
          <a:xfrm>
            <a:off x="10607040" y="6473952"/>
            <a:ext cx="1005840" cy="274320"/>
          </a:xfrm>
          <a:prstGeom prst="rect">
            <a:avLst/>
          </a:prstGeom>
          <a:noFill/>
        </p:spPr>
        <p:txBody>
          <a:bodyPr wrap="square" lIns="27432" rIns="27432" tIns="18288" bIns="0">
            <a:spAutoFit/>
          </a:bodyPr>
          <a:lstStyle/>
          <a:p>
            <a:pPr>
              <a:spcAft>
                <a:spcPts val="1000"/>
              </a:spcAft>
              <a:defRPr sz="1200" b="1">
                <a:solidFill>
                  <a:srgbClr val="1678D2"/>
                </a:solidFill>
                <a:latin typeface="DejaVu Sans"/>
              </a:defRPr>
            </a:pPr>
            <a:r>
              <a:t>13</a:t>
            </a:r>
          </a:p>
        </p:txBody>
      </p:sp>
      <p:sp>
        <p:nvSpPr>
          <p:cNvPr id="8" name="TextBox 7"/>
          <p:cNvSpPr txBox="1"/>
          <p:nvPr/>
        </p:nvSpPr>
        <p:spPr>
          <a:xfrm>
            <a:off x="685800" y="1920240"/>
            <a:ext cx="10789920" cy="822960"/>
          </a:xfrm>
          <a:prstGeom prst="rect">
            <a:avLst/>
          </a:prstGeom>
          <a:noFill/>
        </p:spPr>
        <p:txBody>
          <a:bodyPr wrap="square" lIns="27432" rIns="27432" tIns="18288" bIns="0">
            <a:spAutoFit/>
          </a:bodyPr>
          <a:lstStyle/>
          <a:p>
            <a:pPr>
              <a:spcAft>
                <a:spcPts val="1000"/>
              </a:spcAft>
              <a:defRPr sz="2100" b="1">
                <a:solidFill>
                  <a:srgbClr val="15365B"/>
                </a:solidFill>
                <a:latin typeface="DejaVu Sans"/>
              </a:defRPr>
            </a:pPr>
            <a:r>
              <a:t>Asos: BTST206 sillabusi, 2027–2028. M1–M18 ma’ruza bo‘limi.</a:t>
            </a:r>
          </a:p>
        </p:txBody>
      </p:sp>
      <p:sp>
        <p:nvSpPr>
          <p:cNvPr id="9" name="TextBox 8"/>
          <p:cNvSpPr txBox="1"/>
          <p:nvPr/>
        </p:nvSpPr>
        <p:spPr>
          <a:xfrm>
            <a:off x="713232" y="2926080"/>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https://opentelemetry.io/docs/concepts/observability-primer/</a:t>
            </a:r>
          </a:p>
        </p:txBody>
      </p:sp>
      <p:sp>
        <p:nvSpPr>
          <p:cNvPr id="10" name="TextBox 9"/>
          <p:cNvSpPr txBox="1"/>
          <p:nvPr/>
        </p:nvSpPr>
        <p:spPr>
          <a:xfrm>
            <a:off x="713232" y="3456432"/>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https://sre.google/sre-book/monitoring-distributed-systems/</a:t>
            </a:r>
          </a:p>
        </p:txBody>
      </p:sp>
      <p:sp>
        <p:nvSpPr>
          <p:cNvPr id="11" name="TextBox 10"/>
          <p:cNvSpPr txBox="1"/>
          <p:nvPr/>
        </p:nvSpPr>
        <p:spPr>
          <a:xfrm>
            <a:off x="713232" y="3986784"/>
            <a:ext cx="10744200" cy="512064"/>
          </a:xfrm>
          <a:prstGeom prst="rect">
            <a:avLst/>
          </a:prstGeom>
          <a:noFill/>
        </p:spPr>
        <p:txBody>
          <a:bodyPr wrap="square" lIns="27432" rIns="27432" tIns="18288" bIns="0">
            <a:spAutoFit/>
          </a:bodyPr>
          <a:lstStyle/>
          <a:p>
            <a:pPr>
              <a:spcAft>
                <a:spcPts val="1000"/>
              </a:spcAft>
              <a:defRPr sz="1600" b="0">
                <a:solidFill>
                  <a:srgbClr val="1678D2"/>
                </a:solidFill>
                <a:latin typeface="DejaVu Sans"/>
              </a:defRPr>
            </a:pPr>
            <a:r>
              <a:t>https://www.finops.org/framework/</a:t>
            </a:r>
          </a:p>
        </p:txBody>
      </p:sp>
      <p:sp>
        <p:nvSpPr>
          <p:cNvPr id="12" name="TextBox 11"/>
          <p:cNvSpPr txBox="1"/>
          <p:nvPr/>
        </p:nvSpPr>
        <p:spPr>
          <a:xfrm>
            <a:off x="713232" y="5650992"/>
            <a:ext cx="10789920" cy="502920"/>
          </a:xfrm>
          <a:prstGeom prst="rect">
            <a:avLst/>
          </a:prstGeom>
          <a:noFill/>
        </p:spPr>
        <p:txBody>
          <a:bodyPr wrap="square" lIns="27432" rIns="27432" tIns="18288" bIns="0">
            <a:spAutoFit/>
          </a:bodyPr>
          <a:lstStyle/>
          <a:p>
            <a:pPr>
              <a:spcAft>
                <a:spcPts val="1000"/>
              </a:spcAft>
              <a:defRPr sz="1600" b="0">
                <a:solidFill>
                  <a:srgbClr val="53687D"/>
                </a:solidFill>
                <a:latin typeface="DejaVu Sans"/>
              </a:defRPr>
            </a:pPr>
            <a:r>
              <a:t>Narx, limit va xizmat nomlarining amaldagi holati rasmiy hujjatlarda tekshiriladi.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