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Assalomu alaykum, aziz talabalar. Bugungi ma’ruzamiz «Konteynerlarni orkestratsiya qilish» mavzusiga bag‘ishlanadi. Mavzuni murakkab atamalardan emas, kundalik ehtiyojdan boshlaymiz. Portalning uch nusxasi doim ishlashi kerak. Bittasi to‘xtasa, tizim yangisini ochishi, yangi versiya esa xizmatni keskin uzmasdan chiqarilishi kerak.</a:t>
            </a:r>
          </a:p>
          <a:p/>
          <a:p>
            <a:r>
              <a:t>Biz avval asosiy tushunchalarni ajratamiz, keyin ularning ishlash tartibini sxemada ko‘ramiz. Maqsad xizmat nomlarini yodlash emas, ularning qaysi vazifani bajarishini va qayerda cheklanishini tushunishdir. Inglizcha atama uchraganda uning sodda o‘zbekcha ma’nosi bilan bog‘laymiz. Slayddagi qisqa jumlalar tayanch fikrlar bo‘lib, ularning batafsil izohi ushbu ma’ruza matnida beriladi.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Ma’ruza oltita asosiy bo‘limdan iborat. 1-bo‘limda orkestratsiya va kerakli holat tushuntiriladi. 2-bo‘limda cluster, control plane va node tushuntiriladi. 3-bo‘limda pod — eng kichik joylashtirish birligi tushuntiriladi. 4-bo‘limda deployment va yangilash tushuntiriladi. 5-bo‘limda service va tarmoq tushuntiriladi. 6-bo‘limda tiklash, hpa va resurslar tushuntiriladi.</a:t>
            </a:r>
          </a:p>
          <a:p/>
          <a:p>
            <a:r>
              <a:t>Har bir bo‘limda bir xil fikrlash tartibidan foydalanamiz: tushuncha nimani anglatadi, qanday ishlaydi, universitet portalida qayerda ko‘rinadi va qaysi holatda ehtiyot bo‘lish kerak. Shundan keyin umumiy sxema barcha qismlarni bir-biriga bog‘laydi. Oxirida o‘qituvchi bayon qiladigan misol, chalkash tushunchalar va yakuniy xulosalar beriladi. Bu ketma-ketlik amaliy topshiriq emas, videodarsning tushuntirish rejasidir.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Orkestratsiya konteynerlarni joylashtirish, ulash, masshtablash va tiklash ishlarini muvofiqlashtiradi. Kubernetes da foydalanuvchi kerakli holatni yozadi. Kontrollerlar haqiqiy holatni kuzatib, uni deklaratsiyaga yaqinlashtiradi.</a:t>
            </a:r>
          </a:p>
          <a:p/>
          <a:p>
            <a:r>
              <a:t>Masalan, uch nusxa kerakligi ko‘rsatiladi. Bittasi yo‘qolsa, kontroller yetishmayotgan nusxani yaratishga harakat qiladi. Joylashtirish mavjud resurs va cheklovlarga bog‘liq.</a:t>
            </a:r>
          </a:p>
          <a:p/>
          <a:p>
            <a:r>
              <a:t>Universitet misolida buni quyidagicha tasavvur qilamiz. Portal uchta Pod bilan ishlaydi; tugun nosozligidan keyin boshqaruv tizimi imkon bo‘lsa boshqa tugunda nusxa yaratadi. Bu misolda texnik atama real vazifa bilan bog‘lanadi: resursning nomini emas, nima uchun tanlanganini tushunish muhim.</a:t>
            </a:r>
          </a:p>
          <a:p/>
          <a:p>
            <a:r>
              <a:t>E’tibor beradigan chegara ham bor. Kubernetes noto‘g‘ri kodni tuzatmaydi; u berilgan ish holatini boshqaradi.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Cluster birgalikda ishlaydigan tugunlar tizimidir. Control plane API va kerakli holatni boshqaradi. Node lar esa konteyner ishlarini bajaradi. Scheduler yangi Pod uchun mos tugunni tanlaydi.</a:t>
            </a:r>
          </a:p>
          <a:p/>
          <a:p>
            <a:r>
              <a:t>API server so‘rovlarni qabul qiladi, etcd holat ma’lumotlarini saqlaydi, kontrollerlar farqlarni kuzatadi. Node dagi kubelet konteyner bajarilish muhiti orqali Pod larni yuritadi.</a:t>
            </a:r>
          </a:p>
          <a:p/>
          <a:p>
            <a:r>
              <a:t>Universitet misolida buni quyidagicha tasavvur qilamiz. Uch ishchi tugunli klasterda portal nusxalari turli tugunlarga taqsimlanadi. Bu misolda texnik atama real vazifa bilan bog‘lanadi: resursning nomini emas, nima uchun tanlanganini tushunish muhim.</a:t>
            </a:r>
          </a:p>
          <a:p/>
          <a:p>
            <a:r>
              <a:t>E’tibor beradigan chegara ham bor. Control plane mavjudligi va uning zaxiralash siyosati ham alohida rejalashtiriladi.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 Kubernetes ning eng kichik joylashtirish birligidir. Odatda unda bitta asosiy ilova konteyneri bo‘ladi. Zarur bo‘lsa, yaqin hamkor konteynerlar tarmoq va volume larni ulashishi mumkin.</a:t>
            </a:r>
          </a:p>
          <a:p/>
          <a:p>
            <a:r>
              <a:t>Pod ga IP manzil ajratiladi. U to‘xtab qayta yaratilsa, nomi yoki IP manzili o‘zgarishi mumkin. Shu sababli boshqa komponentlar odatda Service orqali ulanadi.</a:t>
            </a:r>
          </a:p>
          <a:p/>
          <a:p>
            <a:r>
              <a:t>Universitet misolida buni quyidagicha tasavvur qilamiz. Portal Pod i ilovani, yonidagi yordamchi konteyner esa maxsus proksi vazifasini bajarishi mumkin. Bu misolda texnik atama real vazifa bilan bog‘lanadi: resursning nomini emas, nima uchun tanlanganini tushunish muhim.</a:t>
            </a:r>
          </a:p>
          <a:p/>
          <a:p>
            <a:r>
              <a:t>E’tibor beradigan chegara ham bor. Pod doimiy server emas; muhim ma’lumotni faqat uning vaqtinchalik diskida qoldirish xavfli.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Deployment stateless ilova nusxalarini kerakli miqdorda ushlab turish uchun ishlatiladi. U ReplicaSet larni boshqaradi va yangi image versiyasiga bosqichma-bosqich o‘tishni tashkil qiladi.</a:t>
            </a:r>
          </a:p>
          <a:p/>
          <a:p>
            <a:r>
              <a:t>Rolling update vaqtida yangi Pod lar ochilib, tayyor bo‘lgach eski nusxalar kamaytiriladi. Readiness tekshiruvi so‘rov qabul qilishga tayyorlikni bildiradi. Liveness esa ishlamay qolgan jarayonni aniqlashga yordam beradi.</a:t>
            </a:r>
          </a:p>
          <a:p/>
          <a:p>
            <a:r>
              <a:t>Universitet misolida buni quyidagicha tasavvur qilamiz. Portalning 1.4 versiyasi sinovdan keyin bosqichli tarzda 1.3 o‘rniga chiqariladi. Bu misolda texnik atama real vazifa bilan bog‘lanadi: resursning nomini emas, nima uchun tanlanganini tushunish muhim.</a:t>
            </a:r>
          </a:p>
          <a:p/>
          <a:p>
            <a:r>
              <a:t>E’tibor beradigan chegara ham bor. Readiness noto‘g‘ri sozlansa, hali tayyor bo‘lmagan nusxa trafik olishi mumkin.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Service teglar orqali kerakli Pod lar guruhini topadi va ularga barqaror nom bilan murojaat qilishga yordam beradi. ClusterIP klaster ichidagi xizmat uchun odatiy turdir. Tashqi kirish esa alohida mexanizm bilan tashkil qilinadi.</a:t>
            </a:r>
          </a:p>
          <a:p/>
          <a:p>
            <a:r>
              <a:t>So‘rov Service orqali mos va tayyor endpoint larga yo‘naltiriladi. Ingress yoki Gateway odatda HTTP yo‘llash qoidalarini tashkil qilish uchun ishlatiladi.</a:t>
            </a:r>
          </a:p>
          <a:p/>
          <a:p>
            <a:r>
              <a:t>Universitet misolida buni quyidagicha tasavvur qilamiz. Portal front-end qismi baza IP sini emas, ichki servis nomini biladi; Pod yangilansa ham manzilni qo‘lda almashtirish shart emas. Bu misolda texnik atama real vazifa bilan bog‘lanadi: resursning nomini emas, nima uchun tanlanganini tushunish muhim.</a:t>
            </a:r>
          </a:p>
          <a:p/>
          <a:p>
            <a:r>
              <a:t>E’tibor beradigan chegara ham bor. Har qanday Service avtomatik internetga ochilmaydi; tashqi kirish turi va tarmoq qoidalari alohida sozlanadi.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Avtomatik tiklash konteyner yoki tugun muammosidan keyin ishni qayta tashkil etishga yordam beradi. Horizontal Pod Autoscaler ko‘rsatkichlar asosida nusxalar sonini o‘zgartiradi. Resurs requests va limits rejalashtirish hamda sarfni boshqarishda ishlatiladi.</a:t>
            </a:r>
          </a:p>
          <a:p/>
          <a:p>
            <a:r>
              <a:t>HPA uchun tegishli metrikalar manbai kerak. CPU bo‘yicha foizli nishon requests qiymatiga bog‘liq. Pod ko‘payishi uchun tugunlarda yetarli quvvat ham bo‘lishi kerak.</a:t>
            </a:r>
          </a:p>
          <a:p/>
          <a:p>
            <a:r>
              <a:t>Universitet misolida buni quyidagicha tasavvur qilamiz. Qabul davrida portal 3 tadan 6 ta Pod gacha kengayadi; keyin yuklama tushganda qisqaradi. Bu misolda texnik atama real vazifa bilan bog‘lanadi: resursning nomini emas, nima uchun tanlanganini tushunish muhim.</a:t>
            </a:r>
          </a:p>
          <a:p/>
          <a:p>
            <a:r>
              <a:t>E’tibor beradigan chegara ham bor. Pod masshtablashi baza limitini yoki tugun quvvatini o‘z-o‘zidan hal qilmaydi.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Endi mavzuni yaxlit sxemada ko‘ramiz. To‘rtburchaklar asosiy komponentlarni, o‘qlar esa ma’lumot, murojaat yoki boshqaruv bog‘lanishini ko‘rsatadi. Bu soddalashtirilgan ta’lim sxemasi: unda barcha xavfsizlik qoidalari, ichki protokollar va zaxira komponentlari alohida chizilmagan.</a:t>
            </a:r>
          </a:p>
          <a:p/>
          <a:p>
            <a:r>
              <a:t>«Deployment» bilan «ReplicaSet» o‘rtasida sxemada bog‘lanish ko‘rsatilgan. «ReplicaSet» bilan «Pod A» o‘rtasida sxemada bog‘lanish ko‘rsatilgan. «ReplicaSet» bilan «Pod B» o‘rtasida sxemada bog‘lanish ko‘rsatilgan. «Service → mijoz» bilan «Pod A» o‘rtasida sxemada bog‘lanish ko‘rsatilgan. «Service → mijoz» bilan «Pod B» o‘rtasida sxemada bog‘lanish ko‘rsatilgan.</a:t>
            </a:r>
          </a:p>
          <a:p/>
          <a:p>
            <a:r>
              <a:t>Bu bog‘lanishlarni barcha xizmatlarda bir xil buyruq yoki bir xil fizik kabel deb tushunmaymiz. Ayrim o‘qlar bajarilish ketma-ketligini, ayrimlari resursni boshqarish yoki unga kirish aloqasini anglatadi. API server so‘rovlarni qabul qiladi, etcd holat ma’lumotlarini saqlaydi, kontrollerlar farqlarni kuzatadi. Node dagi kubelet konteyner bajarilish muhiti orqali Pod larni yuritadi.</a:t>
            </a:r>
          </a:p>
          <a:p/>
          <a:p>
            <a:r>
              <a:t>Sxemaning asosiy foydasi mas’uliyatlarni ajratib ko‘rsatishdir. Portal front-end qismi baza IP sini emas, ichki servis nomini biladi; Pod yangilansa ham manzilni qo‘lda almashtirish shart emas. Bir qismdagi o‘zgarish boshqasiga qanday ta’sir qilishini ko‘rish orqali murakkab tizimni kichik va tushunarli qismlarga ajratamiz.</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Keling, nazariyani bitta izchil vaziyat bilan bog‘laymiz. Portalning uch nusxasi doim ishlashi kerak. Bittasi to‘xtasa, tizim yangisini ochishi, yangi versiya esa xizmatni keskin uzmasdan chiqarilishi kerak.</a:t>
            </a:r>
          </a:p>
          <a:p/>
          <a:p>
            <a:r>
              <a:t>Avval ehtiyoj aniqlanadi: kim tizimdan foydalanadi, qaysi ma’lumot bilan ishlanadi va qanday natija kutiladi. Portal uchta Pod bilan ishlaydi; tugun nosozligidan keyin boshqaruv tizimi imkon bo‘lsa boshqa tugunda nusxa yaratadi. Keyin texnik qismlar shu talabga mos tanlanadi. Portal Pod i ilovani, yonidagi yordamchi konteyner esa maxsus proksi vazifasini bajarishi mumkin.</a:t>
            </a:r>
          </a:p>
          <a:p/>
          <a:p>
            <a:r>
              <a:t>Ishlash jarayonida faqat muvaffaqiyatli holat emas, xato va cheklovlar ham hisobga olinadi. Readiness noto‘g‘ri sozlansa, hali tayyor bo‘lmagan nusxa trafik olishi mumkin. Shu sababli jamoa talabni, ruxsatni va nosozlikdagi xatti-harakatni oldindan belgilaydi. Qabul davrida portal 3 tadan 6 ta Pod gacha kengayadi; keyin yuklama tushganda qisqaradi.</a:t>
            </a:r>
          </a:p>
          <a:p/>
          <a:p>
            <a:r>
              <a:t>Misolning xulosasi shuki, texnologiya alohida maqsad emas. U talabaga kerakli xizmatni sodda, xavfsiz va barqaror yetkazishga xizmat qiladi. Slayddagi tayanch qismlar ishni rejalashga yordam beradi; haqiqiy joylashtirishda esa aniq konfiguratsiya va amaldagi hujjatlar talab qilinadi.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 to‘g‘ri tushunish uchun uchta chegarani qayta ajratamiz.</a:t>
            </a:r>
          </a:p>
          <a:p/>
          <a:p>
            <a:r>
              <a:t>1. Kubernetes noto‘g‘ri kodni tuzatmaydi; u berilgan ish holatini boshqaradi. To‘g‘ri talqin quyidagicha: Orkestratsiya konteynerlarni joylashtirish, ulash, masshtablash va tiklash ishlarini muvofiqlashtiradi. Kubernetes da foydalanuvchi kerakli holatni yozadi. Kontrollerlar haqiqiy holatni kuzatib, uni deklaratsiyaga yaqinlashtiradi.</a:t>
            </a:r>
          </a:p>
          <a:p/>
          <a:p>
            <a:r>
              <a:t>2. Readiness noto‘g‘ri sozlansa, hali tayyor bo‘lmagan nusxa trafik olishi mumkin. To‘g‘ri talqin quyidagicha: Deployment stateless ilova nusxalarini kerakli miqdorda ushlab turish uchun ishlatiladi. U ReplicaSet larni boshqaradi va yangi image versiyasiga bosqichma-bosqich o‘tishni tashkil qiladi.</a:t>
            </a:r>
          </a:p>
          <a:p/>
          <a:p>
            <a:r>
              <a:t>3. Pod masshtablashi baza limitini yoki tugun quvvatini o‘z-o‘zidan hal qilmaydi. To‘g‘ri talqin quyidagicha: Avtomatik tiklash konteyner yoki tugun muammosidan keyin ishni qayta tashkil etishga yordam beradi. Horizontal Pod Autoscaler ko‘rsatkichlar asosida nusxalar sonini o‘zgartiradi. Resurs requests va limits rejalashtirish hamda sarfni boshqarishda ishlatiladi.</a:t>
            </a:r>
          </a:p>
          <a:p/>
          <a:p>
            <a:r>
              <a:t>Bu izohlar texnologiyani rad etish uchun emas, undan o‘rinli foydalanish uchun kerak. Ta’rif, amaliy vazifa va shart birga o‘qilgandagina to‘g‘ri xulosa paydo bo‘ladi. Shuning uchun xizmat nomi yoki bitta imkoniyatga qarab butun tizim haqida umumiy hukm chiqarmaymiz.</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Bugungi ma’ruzani yakunlaymiz. Kubernetes bilan kerakli holatni saqlash — mavzuning umumiy mazmunini ifodalaydi.</a:t>
            </a:r>
          </a:p>
          <a:p/>
          <a:p>
            <a:r>
              <a:t>Asosiy tayanch fikr: Tizimni qo‘lda emas, deklaratsiya bilan boshqarish. Masalan, uch nusxa kerakligi ko‘rsatiladi. Bittasi yo‘qolsa, kontroller yetishmayotgan nusxani yaratishga harakat qiladi. Joylashtirish mavjud resurs va cheklovlarga bog‘liq.</a:t>
            </a:r>
          </a:p>
          <a:p/>
          <a:p>
            <a:r>
              <a:t>Asosiy tayanch fikr: Birga ishlaydigan konteynerlar uchun umumiy muhit. Pod ga IP manzil ajratiladi. U to‘xtab qayta yaratilsa, nomi yoki IP manzili o‘zgarishi mumkin. Shu sababli boshqa komponentlar odatda Service orqali ulanadi.</a:t>
            </a:r>
          </a:p>
          <a:p/>
          <a:p>
            <a:r>
              <a:t>Asosiy tayanch fikr: O‘zgaruvchan Pod lar uchun barqaror kirish nuqtasi. So‘rov Service orqali mos va tayyor endpoint larga yo‘naltiriladi. Ingress yoki Gateway odatda HTTP yo‘llash qoidalarini tashkil qilish uchun ishlatiladi.</a:t>
            </a:r>
          </a:p>
          <a:p/>
          <a:p>
            <a:r>
              <a:t>Barcha bo‘limlarni universitet portali misoli orqali bog‘ladik. Endi atamalarni alohida so‘z sifatida emas, tizimdagi aniq vazifa sifatida ko‘rish mumkin. Arxitektura tanlashda talab, cheklov, xavfsizlik va xarajat birgalikda baholanadi. Mavzuni takrorlashda avval ta’rifni, keyin sxemani, so‘ng misol va chegaralarni ko‘zdan kechirish foydali. E’tiboringiz uchun rahmat.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mavzu foydalanuvchi taqdim etgan BTST206 sillabusidagi tegishli ma’ruza bo‘limi asosida tuzildi. Slaydda mavzuni chuqurroq o‘qish uchun rasmiy hujjatlarga havolalar ko‘rsatilgan. Xizmatlar yangilanib boradi, shuning uchun amaliy ish oldidan tanlangan versiya, region, tarif va limitlar tekshiriladi. Bu ma’ruzada maqsad o‘zgaruvchan raqamlarni yodlash emas, barqaror tamoyillarni tushunishdir.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7FC"/>
        </a:solidFill>
        <a:effectLst/>
      </p:bgPr>
    </p:bg>
    <p:spTree>
      <p:nvGrpSpPr>
        <p:cNvPr id="1" name=""/>
        <p:cNvGrpSpPr/>
        <p:nvPr/>
      </p:nvGrpSpPr>
      <p:grpSpPr/>
      <p:sp>
        <p:nvSpPr>
          <p:cNvPr id="2" name="Rectangle 1"/>
          <p:cNvSpPr/>
          <p:nvPr/>
        </p:nvSpPr>
        <p:spPr>
          <a:xfrm>
            <a:off x="0" y="0"/>
            <a:ext cx="1005840" cy="6858000"/>
          </a:xfrm>
          <a:prstGeom prst="rect">
            <a:avLst/>
          </a:prstGeom>
          <a:solidFill>
            <a:srgbClr val="2634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411480"/>
            <a:ext cx="640080" cy="457200"/>
          </a:xfrm>
          <a:prstGeom prst="rect">
            <a:avLst/>
          </a:prstGeom>
          <a:noFill/>
        </p:spPr>
        <p:txBody>
          <a:bodyPr wrap="square" lIns="27432" rIns="27432" tIns="18288" bIns="0">
            <a:spAutoFit/>
          </a:bodyPr>
          <a:lstStyle/>
          <a:p>
            <a:pPr>
              <a:spcAft>
                <a:spcPts val="800"/>
              </a:spcAft>
              <a:defRPr sz="1800" b="1">
                <a:solidFill>
                  <a:srgbClr val="FFFFFF"/>
                </a:solidFill>
                <a:latin typeface="DejaVu Sans"/>
              </a:defRPr>
            </a:pPr>
            <a:r>
              <a:t>K8S</a:t>
            </a:r>
          </a:p>
        </p:txBody>
      </p:sp>
      <p:sp>
        <p:nvSpPr>
          <p:cNvPr id="4" name="TextBox 3"/>
          <p:cNvSpPr txBox="1"/>
          <p:nvPr/>
        </p:nvSpPr>
        <p:spPr>
          <a:xfrm>
            <a:off x="1417320" y="548640"/>
            <a:ext cx="9144000" cy="365760"/>
          </a:xfrm>
          <a:prstGeom prst="rect">
            <a:avLst/>
          </a:prstGeom>
          <a:noFill/>
        </p:spPr>
        <p:txBody>
          <a:bodyPr wrap="square" lIns="27432" rIns="27432" tIns="18288" bIns="0">
            <a:spAutoFit/>
          </a:bodyPr>
          <a:lstStyle/>
          <a:p>
            <a:pPr>
              <a:spcAft>
                <a:spcPts val="800"/>
              </a:spcAft>
              <a:defRPr sz="1500" b="1">
                <a:solidFill>
                  <a:srgbClr val="5364D8"/>
                </a:solidFill>
                <a:latin typeface="DejaVu Sans"/>
              </a:defRPr>
            </a:pPr>
            <a:r>
              <a:t>07   /   ORKESTRATSIYA</a:t>
            </a:r>
          </a:p>
        </p:txBody>
      </p:sp>
      <p:sp>
        <p:nvSpPr>
          <p:cNvPr id="5" name="TextBox 4"/>
          <p:cNvSpPr txBox="1"/>
          <p:nvPr/>
        </p:nvSpPr>
        <p:spPr>
          <a:xfrm>
            <a:off x="1417320" y="1261872"/>
            <a:ext cx="4754880" cy="1920240"/>
          </a:xfrm>
          <a:prstGeom prst="rect">
            <a:avLst/>
          </a:prstGeom>
          <a:noFill/>
        </p:spPr>
        <p:txBody>
          <a:bodyPr wrap="square" lIns="27432" rIns="27432" tIns="18288" bIns="0">
            <a:spAutoFit/>
          </a:bodyPr>
          <a:lstStyle/>
          <a:p>
            <a:pPr>
              <a:spcAft>
                <a:spcPts val="800"/>
              </a:spcAft>
              <a:defRPr sz="3400" b="1">
                <a:solidFill>
                  <a:srgbClr val="202C50"/>
                </a:solidFill>
                <a:latin typeface="DejaVu Sans"/>
              </a:defRPr>
            </a:pPr>
            <a:r>
              <a:t>Konteynerlarni</a:t>
            </a:r>
          </a:p>
          <a:p>
            <a:pPr>
              <a:spcAft>
                <a:spcPts val="800"/>
              </a:spcAft>
              <a:defRPr sz="3400" b="1">
                <a:solidFill>
                  <a:srgbClr val="202C50"/>
                </a:solidFill>
                <a:latin typeface="DejaVu Sans"/>
              </a:defRPr>
            </a:pPr>
            <a:r>
              <a:t>orkestratsiya</a:t>
            </a:r>
          </a:p>
          <a:p>
            <a:pPr>
              <a:spcAft>
                <a:spcPts val="800"/>
              </a:spcAft>
              <a:defRPr sz="3400" b="1">
                <a:solidFill>
                  <a:srgbClr val="202C50"/>
                </a:solidFill>
                <a:latin typeface="DejaVu Sans"/>
              </a:defRPr>
            </a:pPr>
            <a:r>
              <a:t>qilish</a:t>
            </a:r>
          </a:p>
        </p:txBody>
      </p:sp>
      <p:sp>
        <p:nvSpPr>
          <p:cNvPr id="6" name="TextBox 5"/>
          <p:cNvSpPr txBox="1"/>
          <p:nvPr/>
        </p:nvSpPr>
        <p:spPr>
          <a:xfrm>
            <a:off x="1417320" y="3383280"/>
            <a:ext cx="4480560" cy="1097280"/>
          </a:xfrm>
          <a:prstGeom prst="rect">
            <a:avLst/>
          </a:prstGeom>
          <a:noFill/>
        </p:spPr>
        <p:txBody>
          <a:bodyPr wrap="square" lIns="27432" rIns="27432" tIns="18288" bIns="0">
            <a:spAutoFit/>
          </a:bodyPr>
          <a:lstStyle/>
          <a:p>
            <a:pPr>
              <a:spcAft>
                <a:spcPts val="800"/>
              </a:spcAft>
              <a:defRPr sz="2300" b="0">
                <a:solidFill>
                  <a:srgbClr val="202C50"/>
                </a:solidFill>
                <a:latin typeface="DejaVu Sans"/>
              </a:defRPr>
            </a:pPr>
            <a:r>
              <a:t>Kubernetes bilan kerakli holatni saqlash</a:t>
            </a:r>
          </a:p>
        </p:txBody>
      </p:sp>
      <p:sp>
        <p:nvSpPr>
          <p:cNvPr id="7" name="Rounded Rectangle 6"/>
          <p:cNvSpPr/>
          <p:nvPr/>
        </p:nvSpPr>
        <p:spPr>
          <a:xfrm>
            <a:off x="6446520" y="1234440"/>
            <a:ext cx="5029200" cy="3886200"/>
          </a:xfrm>
          <a:prstGeom prst="roundRect">
            <a:avLst>
              <a:gd name="adj" fmla="val 8000"/>
            </a:avLst>
          </a:prstGeom>
          <a:solidFill>
            <a:srgbClr val="FFFFFF"/>
          </a:solidFill>
          <a:ln>
            <a:solidFill>
              <a:srgbClr val="D7D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46520" y="1234440"/>
            <a:ext cx="5029200" cy="393192"/>
          </a:xfrm>
          <a:prstGeom prst="rect">
            <a:avLst/>
          </a:prstGeom>
          <a:solidFill>
            <a:srgbClr val="E6EA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1280160"/>
            <a:ext cx="4572000" cy="274320"/>
          </a:xfrm>
          <a:prstGeom prst="rect">
            <a:avLst/>
          </a:prstGeom>
          <a:noFill/>
        </p:spPr>
        <p:txBody>
          <a:bodyPr wrap="square" lIns="27432" rIns="27432" tIns="18288" bIns="0">
            <a:spAutoFit/>
          </a:bodyPr>
          <a:lstStyle/>
          <a:p>
            <a:pPr>
              <a:spcAft>
                <a:spcPts val="800"/>
              </a:spcAft>
              <a:defRPr sz="1000" b="0">
                <a:solidFill>
                  <a:srgbClr val="202C50"/>
                </a:solidFill>
                <a:latin typeface="DejaVu Sans"/>
              </a:defRPr>
            </a:pPr>
            <a:r>
              <a:t>CLUSTER VIEW  /  internet rasmi</a:t>
            </a:r>
          </a:p>
        </p:txBody>
      </p:sp>
      <p:pic>
        <p:nvPicPr>
          <p:cNvPr id="10" name="Picture 9" descr="kubernetes_architecture.png"/>
          <p:cNvPicPr>
            <a:picLocks noChangeAspect="1"/>
          </p:cNvPicPr>
          <p:nvPr/>
        </p:nvPicPr>
        <p:blipFill>
          <a:blip r:embed="rId2"/>
          <a:stretch>
            <a:fillRect/>
          </a:stretch>
        </p:blipFill>
        <p:spPr>
          <a:xfrm>
            <a:off x="6675120" y="2182672"/>
            <a:ext cx="4526280" cy="2172614"/>
          </a:xfrm>
          <a:prstGeom prst="rect">
            <a:avLst/>
          </a:prstGeom>
        </p:spPr>
      </p:pic>
      <p:sp>
        <p:nvSpPr>
          <p:cNvPr id="11" name="Rounded Rectangle 10"/>
          <p:cNvSpPr/>
          <p:nvPr/>
        </p:nvSpPr>
        <p:spPr>
          <a:xfrm>
            <a:off x="1417320" y="5074920"/>
            <a:ext cx="3017520" cy="960120"/>
          </a:xfrm>
          <a:prstGeom prst="roundRect">
            <a:avLst>
              <a:gd name="adj" fmla="val 8000"/>
            </a:avLst>
          </a:prstGeom>
          <a:solidFill>
            <a:srgbClr val="FFFFFF"/>
          </a:solidFill>
          <a:ln>
            <a:solidFill>
              <a:srgbClr val="E0E6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72768" y="5212080"/>
            <a:ext cx="640080" cy="548640"/>
          </a:xfrm>
          <a:prstGeom prst="rect">
            <a:avLst/>
          </a:prstGeom>
          <a:noFill/>
        </p:spPr>
        <p:txBody>
          <a:bodyPr wrap="square" lIns="27432" rIns="27432" tIns="18288" bIns="0">
            <a:spAutoFit/>
          </a:bodyPr>
          <a:lstStyle/>
          <a:p>
            <a:pPr>
              <a:spcAft>
                <a:spcPts val="800"/>
              </a:spcAft>
              <a:defRPr sz="2900" b="1">
                <a:solidFill>
                  <a:srgbClr val="5364D8"/>
                </a:solidFill>
                <a:latin typeface="DejaVu Sans"/>
              </a:defRPr>
            </a:pPr>
            <a:r>
              <a:t>3</a:t>
            </a:r>
          </a:p>
        </p:txBody>
      </p:sp>
      <p:sp>
        <p:nvSpPr>
          <p:cNvPr id="13" name="TextBox 12"/>
          <p:cNvSpPr txBox="1"/>
          <p:nvPr/>
        </p:nvSpPr>
        <p:spPr>
          <a:xfrm>
            <a:off x="2304288" y="5349240"/>
            <a:ext cx="1938528" cy="594360"/>
          </a:xfrm>
          <a:prstGeom prst="rect">
            <a:avLst/>
          </a:prstGeom>
          <a:noFill/>
        </p:spPr>
        <p:txBody>
          <a:bodyPr wrap="square" lIns="27432" rIns="27432" tIns="18288" bIns="0">
            <a:spAutoFit/>
          </a:bodyPr>
          <a:lstStyle/>
          <a:p>
            <a:pPr>
              <a:spcAft>
                <a:spcPts val="800"/>
              </a:spcAft>
              <a:defRPr sz="1700" b="0">
                <a:solidFill>
                  <a:srgbClr val="202C50"/>
                </a:solidFill>
                <a:latin typeface="DejaVu Sans"/>
              </a:defRPr>
            </a:pPr>
            <a:r>
              <a:t>Pod nusxasi</a:t>
            </a:r>
          </a:p>
        </p:txBody>
      </p:sp>
      <p:sp>
        <p:nvSpPr>
          <p:cNvPr id="14" name="Rounded Rectangle 13"/>
          <p:cNvSpPr/>
          <p:nvPr/>
        </p:nvSpPr>
        <p:spPr>
          <a:xfrm>
            <a:off x="4800600" y="5074920"/>
            <a:ext cx="3017520" cy="960120"/>
          </a:xfrm>
          <a:prstGeom prst="roundRect">
            <a:avLst>
              <a:gd name="adj" fmla="val 8000"/>
            </a:avLst>
          </a:prstGeom>
          <a:solidFill>
            <a:srgbClr val="FFFFFF"/>
          </a:solidFill>
          <a:ln>
            <a:solidFill>
              <a:srgbClr val="E0E6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56048" y="5212080"/>
            <a:ext cx="640080" cy="548640"/>
          </a:xfrm>
          <a:prstGeom prst="rect">
            <a:avLst/>
          </a:prstGeom>
          <a:noFill/>
        </p:spPr>
        <p:txBody>
          <a:bodyPr wrap="square" lIns="27432" rIns="27432" tIns="18288" bIns="0">
            <a:spAutoFit/>
          </a:bodyPr>
          <a:lstStyle/>
          <a:p>
            <a:pPr>
              <a:spcAft>
                <a:spcPts val="800"/>
              </a:spcAft>
              <a:defRPr sz="2900" b="1">
                <a:solidFill>
                  <a:srgbClr val="5364D8"/>
                </a:solidFill>
                <a:latin typeface="DejaVu Sans"/>
              </a:defRPr>
            </a:pPr>
            <a:r>
              <a:t>1</a:t>
            </a:r>
          </a:p>
        </p:txBody>
      </p:sp>
      <p:sp>
        <p:nvSpPr>
          <p:cNvPr id="16" name="TextBox 15"/>
          <p:cNvSpPr txBox="1"/>
          <p:nvPr/>
        </p:nvSpPr>
        <p:spPr>
          <a:xfrm>
            <a:off x="5687568" y="5349240"/>
            <a:ext cx="1938528" cy="594360"/>
          </a:xfrm>
          <a:prstGeom prst="rect">
            <a:avLst/>
          </a:prstGeom>
          <a:noFill/>
        </p:spPr>
        <p:txBody>
          <a:bodyPr wrap="square" lIns="27432" rIns="27432" tIns="18288" bIns="0">
            <a:spAutoFit/>
          </a:bodyPr>
          <a:lstStyle/>
          <a:p>
            <a:pPr>
              <a:spcAft>
                <a:spcPts val="800"/>
              </a:spcAft>
              <a:defRPr sz="1700" b="0">
                <a:solidFill>
                  <a:srgbClr val="202C50"/>
                </a:solidFill>
                <a:latin typeface="DejaVu Sans"/>
              </a:defRPr>
            </a:pPr>
            <a:r>
              <a:t>Service</a:t>
            </a:r>
          </a:p>
        </p:txBody>
      </p:sp>
      <p:sp>
        <p:nvSpPr>
          <p:cNvPr id="17" name="Rounded Rectangle 16"/>
          <p:cNvSpPr/>
          <p:nvPr/>
        </p:nvSpPr>
        <p:spPr>
          <a:xfrm>
            <a:off x="8183880" y="5074920"/>
            <a:ext cx="3017520" cy="960120"/>
          </a:xfrm>
          <a:prstGeom prst="roundRect">
            <a:avLst>
              <a:gd name="adj" fmla="val 8000"/>
            </a:avLst>
          </a:prstGeom>
          <a:solidFill>
            <a:srgbClr val="FFFFFF"/>
          </a:solidFill>
          <a:ln>
            <a:solidFill>
              <a:srgbClr val="E0E6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39328" y="5212080"/>
            <a:ext cx="640080" cy="548640"/>
          </a:xfrm>
          <a:prstGeom prst="rect">
            <a:avLst/>
          </a:prstGeom>
          <a:noFill/>
        </p:spPr>
        <p:txBody>
          <a:bodyPr wrap="square" lIns="27432" rIns="27432" tIns="18288" bIns="0">
            <a:spAutoFit/>
          </a:bodyPr>
          <a:lstStyle/>
          <a:p>
            <a:pPr>
              <a:spcAft>
                <a:spcPts val="800"/>
              </a:spcAft>
              <a:defRPr sz="2900" b="1">
                <a:solidFill>
                  <a:srgbClr val="5364D8"/>
                </a:solidFill>
                <a:latin typeface="DejaVu Sans"/>
              </a:defRPr>
            </a:pPr>
            <a:r>
              <a:t>0</a:t>
            </a:r>
          </a:p>
        </p:txBody>
      </p:sp>
      <p:sp>
        <p:nvSpPr>
          <p:cNvPr id="19" name="TextBox 18"/>
          <p:cNvSpPr txBox="1"/>
          <p:nvPr/>
        </p:nvSpPr>
        <p:spPr>
          <a:xfrm>
            <a:off x="9070848" y="5349240"/>
            <a:ext cx="1938528" cy="594360"/>
          </a:xfrm>
          <a:prstGeom prst="rect">
            <a:avLst/>
          </a:prstGeom>
          <a:noFill/>
        </p:spPr>
        <p:txBody>
          <a:bodyPr wrap="square" lIns="27432" rIns="27432" tIns="18288" bIns="0">
            <a:spAutoFit/>
          </a:bodyPr>
          <a:lstStyle/>
          <a:p>
            <a:pPr>
              <a:spcAft>
                <a:spcPts val="800"/>
              </a:spcAft>
              <a:defRPr sz="1700" b="0">
                <a:solidFill>
                  <a:srgbClr val="202C50"/>
                </a:solidFill>
                <a:latin typeface="DejaVu Sans"/>
              </a:defRPr>
            </a:pPr>
            <a:r>
              <a:t>qo‘lda tiklash*</a:t>
            </a:r>
          </a:p>
        </p:txBody>
      </p:sp>
      <p:sp>
        <p:nvSpPr>
          <p:cNvPr id="20" name="TextBox 19"/>
          <p:cNvSpPr txBox="1"/>
          <p:nvPr/>
        </p:nvSpPr>
        <p:spPr>
          <a:xfrm>
            <a:off x="1417320" y="6172200"/>
            <a:ext cx="9601200" cy="228600"/>
          </a:xfrm>
          <a:prstGeom prst="rect">
            <a:avLst/>
          </a:prstGeom>
          <a:noFill/>
        </p:spPr>
        <p:txBody>
          <a:bodyPr wrap="square" lIns="27432" rIns="27432" tIns="18288" bIns="0">
            <a:spAutoFit/>
          </a:bodyPr>
          <a:lstStyle/>
          <a:p>
            <a:pPr>
              <a:spcAft>
                <a:spcPts val="800"/>
              </a:spcAft>
              <a:defRPr sz="1000" b="0">
                <a:solidFill>
                  <a:srgbClr val="202C50"/>
                </a:solidFill>
                <a:latin typeface="DejaVu Sans"/>
              </a:defRPr>
            </a:pPr>
            <a:r>
              <a:t>* Sxematik misol: avtomatlashtirish mavjud resurs va sozlamalarga bog‘liq.</a:t>
            </a:r>
          </a:p>
        </p:txBody>
      </p:sp>
      <p:sp>
        <p:nvSpPr>
          <p:cNvPr id="21" name="TextBox 20"/>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202C50"/>
                </a:solidFill>
                <a:latin typeface="DejaVu Sans"/>
              </a:defRPr>
            </a:pPr>
            <a:r>
              <a:t>BTST206   /   M07   /   2027–2028</a:t>
            </a:r>
          </a:p>
        </p:txBody>
      </p:sp>
      <p:sp>
        <p:nvSpPr>
          <p:cNvPr id="22" name="TextBox 21"/>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202C50"/>
                </a:solidFill>
                <a:latin typeface="DejaVu Sans"/>
              </a:defRPr>
            </a:pPr>
            <a:r>
              <a:t>01 /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7FC"/>
        </a:solidFill>
        <a:effectLst/>
      </p:bgPr>
    </p:bg>
    <p:spTree>
      <p:nvGrpSpPr>
        <p:cNvPr id="1" name=""/>
        <p:cNvGrpSpPr/>
        <p:nvPr/>
      </p:nvGrpSpPr>
      <p:grpSpPr/>
      <p:sp>
        <p:nvSpPr>
          <p:cNvPr id="2" name="Rectangle 1"/>
          <p:cNvSpPr/>
          <p:nvPr/>
        </p:nvSpPr>
        <p:spPr>
          <a:xfrm>
            <a:off x="0" y="0"/>
            <a:ext cx="1005840" cy="6858000"/>
          </a:xfrm>
          <a:prstGeom prst="rect">
            <a:avLst/>
          </a:prstGeom>
          <a:solidFill>
            <a:srgbClr val="2634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457200"/>
            <a:ext cx="594360" cy="457200"/>
          </a:xfrm>
          <a:prstGeom prst="rect">
            <a:avLst/>
          </a:prstGeom>
          <a:noFill/>
        </p:spPr>
        <p:txBody>
          <a:bodyPr wrap="square" lIns="27432" rIns="27432" tIns="18288" bIns="0">
            <a:spAutoFit/>
          </a:bodyPr>
          <a:lstStyle/>
          <a:p>
            <a:pPr>
              <a:spcAft>
                <a:spcPts val="800"/>
              </a:spcAft>
              <a:defRPr sz="1600" b="1">
                <a:solidFill>
                  <a:srgbClr val="FFFFFF"/>
                </a:solidFill>
                <a:latin typeface="DejaVu Sans"/>
              </a:defRPr>
            </a:pPr>
            <a:r>
              <a:t>K8S</a:t>
            </a:r>
          </a:p>
        </p:txBody>
      </p:sp>
      <p:sp>
        <p:nvSpPr>
          <p:cNvPr id="4" name="Rounded Rectangle 3"/>
          <p:cNvSpPr/>
          <p:nvPr/>
        </p:nvSpPr>
        <p:spPr>
          <a:xfrm>
            <a:off x="310896" y="1737360"/>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10896" y="2350008"/>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10896" y="2962656"/>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10896" y="3575304"/>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10896" y="4187952"/>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10896" y="4800600"/>
            <a:ext cx="365760" cy="256032"/>
          </a:xfrm>
          <a:prstGeom prst="roundRect">
            <a:avLst>
              <a:gd name="adj" fmla="val 8000"/>
            </a:avLst>
          </a:prstGeom>
          <a:solidFill>
            <a:srgbClr val="536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05840" y="0"/>
            <a:ext cx="11201400" cy="4023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53312" y="73152"/>
            <a:ext cx="9144000" cy="228600"/>
          </a:xfrm>
          <a:prstGeom prst="rect">
            <a:avLst/>
          </a:prstGeom>
          <a:noFill/>
        </p:spPr>
        <p:txBody>
          <a:bodyPr wrap="square" lIns="27432" rIns="27432" tIns="18288" bIns="0">
            <a:spAutoFit/>
          </a:bodyPr>
          <a:lstStyle/>
          <a:p>
            <a:pPr>
              <a:spcAft>
                <a:spcPts val="800"/>
              </a:spcAft>
              <a:defRPr sz="1000" b="0">
                <a:solidFill>
                  <a:srgbClr val="202C50"/>
                </a:solidFill>
                <a:latin typeface="DejaVu Sans"/>
              </a:defRPr>
            </a:pPr>
            <a:r>
              <a:t>CLUSTER   /   universitet-portal   /   nazorat paneli</a:t>
            </a:r>
          </a:p>
        </p:txBody>
      </p:sp>
      <p:sp>
        <p:nvSpPr>
          <p:cNvPr id="12" name="Rounded Rectangle 11"/>
          <p:cNvSpPr/>
          <p:nvPr/>
        </p:nvSpPr>
        <p:spPr>
          <a:xfrm>
            <a:off x="9966960" y="658368"/>
            <a:ext cx="1463040" cy="347472"/>
          </a:xfrm>
          <a:prstGeom prst="roundRect">
            <a:avLst>
              <a:gd name="adj" fmla="val 8000"/>
            </a:avLst>
          </a:prstGeom>
          <a:solidFill>
            <a:srgbClr val="18A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40112" y="704088"/>
            <a:ext cx="1316736" cy="274320"/>
          </a:xfrm>
          <a:prstGeom prst="rect">
            <a:avLst/>
          </a:prstGeom>
          <a:noFill/>
        </p:spPr>
        <p:txBody>
          <a:bodyPr wrap="square" lIns="27432" rIns="27432" tIns="18288" bIns="0">
            <a:spAutoFit/>
          </a:bodyPr>
          <a:lstStyle/>
          <a:p>
            <a:pPr>
              <a:spcAft>
                <a:spcPts val="800"/>
              </a:spcAft>
              <a:defRPr sz="1200" b="1">
                <a:solidFill>
                  <a:srgbClr val="FFFFFF"/>
                </a:solidFill>
                <a:latin typeface="DejaVu Sans"/>
              </a:defRPr>
            </a:pPr>
            <a:r>
              <a:t>●  RUNNING</a:t>
            </a:r>
          </a:p>
        </p:txBody>
      </p:sp>
      <p:sp>
        <p:nvSpPr>
          <p:cNvPr id="14" name="TextBox 13"/>
          <p:cNvSpPr txBox="1"/>
          <p:nvPr/>
        </p:nvSpPr>
        <p:spPr>
          <a:xfrm>
            <a:off x="1371600" y="713232"/>
            <a:ext cx="8366760" cy="960120"/>
          </a:xfrm>
          <a:prstGeom prst="rect">
            <a:avLst/>
          </a:prstGeom>
          <a:noFill/>
        </p:spPr>
        <p:txBody>
          <a:bodyPr wrap="square" lIns="27432" rIns="27432" tIns="18288" bIns="0">
            <a:spAutoFit/>
          </a:bodyPr>
          <a:lstStyle/>
          <a:p>
            <a:pPr>
              <a:spcAft>
                <a:spcPts val="800"/>
              </a:spcAft>
              <a:defRPr sz="2800" b="1">
                <a:solidFill>
                  <a:srgbClr val="202C50"/>
                </a:solidFill>
                <a:latin typeface="DejaVu Sans"/>
              </a:defRPr>
            </a:pPr>
            <a:r>
              <a:t>Ma’ruza yo‘l xaritasi</a:t>
            </a:r>
          </a:p>
        </p:txBody>
      </p:sp>
      <p:sp>
        <p:nvSpPr>
          <p:cNvPr id="15" name="TextBox 14"/>
          <p:cNvSpPr txBox="1"/>
          <p:nvPr/>
        </p:nvSpPr>
        <p:spPr>
          <a:xfrm>
            <a:off x="1371600" y="1682496"/>
            <a:ext cx="9966960" cy="457200"/>
          </a:xfrm>
          <a:prstGeom prst="rect">
            <a:avLst/>
          </a:prstGeom>
          <a:noFill/>
        </p:spPr>
        <p:txBody>
          <a:bodyPr wrap="square" lIns="27432" rIns="27432" tIns="18288" bIns="0">
            <a:spAutoFit/>
          </a:bodyPr>
          <a:lstStyle/>
          <a:p>
            <a:pPr>
              <a:spcAft>
                <a:spcPts val="800"/>
              </a:spcAft>
              <a:defRPr sz="1500" b="1">
                <a:solidFill>
                  <a:srgbClr val="5364D8"/>
                </a:solidFill>
                <a:latin typeface="DejaVu Sans"/>
              </a:defRPr>
            </a:pPr>
            <a:r>
              <a:t>Olti tushuncha — bitta yaxlit tizim</a:t>
            </a:r>
          </a:p>
        </p:txBody>
      </p:sp>
      <p:sp>
        <p:nvSpPr>
          <p:cNvPr id="16" name="TextBox 1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202C50"/>
                </a:solidFill>
                <a:latin typeface="DejaVu Sans"/>
              </a:defRPr>
            </a:pPr>
            <a:r>
              <a:t>BTST206   /   M07   /   2027–2028</a:t>
            </a:r>
          </a:p>
        </p:txBody>
      </p:sp>
      <p:sp>
        <p:nvSpPr>
          <p:cNvPr id="17" name="TextBox 1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202C50"/>
                </a:solidFill>
                <a:latin typeface="DejaVu Sans"/>
              </a:defRPr>
            </a:pPr>
            <a:r>
              <a:t>02 / 13</a:t>
            </a:r>
          </a:p>
        </p:txBody>
      </p:sp>
      <p:sp>
        <p:nvSpPr>
          <p:cNvPr id="18" name="Rounded Rectangle 17"/>
          <p:cNvSpPr/>
          <p:nvPr/>
        </p:nvSpPr>
        <p:spPr>
          <a:xfrm>
            <a:off x="1371600" y="2331720"/>
            <a:ext cx="3127248" cy="1371600"/>
          </a:xfrm>
          <a:prstGeom prst="roundRect">
            <a:avLst>
              <a:gd name="adj" fmla="val 8000"/>
            </a:avLst>
          </a:prstGeom>
          <a:solidFill>
            <a:srgbClr val="FFFFFF"/>
          </a:solidFill>
          <a:ln>
            <a:solidFill>
              <a:srgbClr val="DAE1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536192" y="2468879"/>
            <a:ext cx="530352" cy="347472"/>
          </a:xfrm>
          <a:prstGeom prst="roundRect">
            <a:avLst>
              <a:gd name="adj" fmla="val 8000"/>
            </a:avLst>
          </a:prstGeom>
          <a:solidFill>
            <a:srgbClr val="536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09344" y="2514599"/>
            <a:ext cx="384047" cy="274320"/>
          </a:xfrm>
          <a:prstGeom prst="rect">
            <a:avLst/>
          </a:prstGeom>
          <a:noFill/>
        </p:spPr>
        <p:txBody>
          <a:bodyPr wrap="square" lIns="27432" rIns="27432" tIns="18288" bIns="0">
            <a:spAutoFit/>
          </a:bodyPr>
          <a:lstStyle/>
          <a:p>
            <a:pPr>
              <a:spcAft>
                <a:spcPts val="800"/>
              </a:spcAft>
              <a:defRPr sz="1200" b="1">
                <a:solidFill>
                  <a:srgbClr val="FFFFFF"/>
                </a:solidFill>
                <a:latin typeface="DejaVu Sans"/>
              </a:defRPr>
            </a:pPr>
            <a:r>
              <a:t>01</a:t>
            </a:r>
          </a:p>
        </p:txBody>
      </p:sp>
      <p:sp>
        <p:nvSpPr>
          <p:cNvPr id="21" name="TextBox 20"/>
          <p:cNvSpPr txBox="1"/>
          <p:nvPr/>
        </p:nvSpPr>
        <p:spPr>
          <a:xfrm>
            <a:off x="1536192" y="2935224"/>
            <a:ext cx="2779776" cy="676656"/>
          </a:xfrm>
          <a:prstGeom prst="rect">
            <a:avLst/>
          </a:prstGeom>
          <a:noFill/>
        </p:spPr>
        <p:txBody>
          <a:bodyPr wrap="square" lIns="27432" rIns="27432" tIns="18288" bIns="0">
            <a:spAutoFit/>
          </a:bodyPr>
          <a:lstStyle/>
          <a:p>
            <a:pPr>
              <a:spcAft>
                <a:spcPts val="800"/>
              </a:spcAft>
              <a:defRPr sz="1900" b="1">
                <a:solidFill>
                  <a:srgbClr val="202C50"/>
                </a:solidFill>
                <a:latin typeface="DejaVu Sans"/>
              </a:defRPr>
            </a:pPr>
            <a:r>
              <a:t>Orkestratsiya va kerakli holat</a:t>
            </a:r>
          </a:p>
        </p:txBody>
      </p:sp>
      <p:sp>
        <p:nvSpPr>
          <p:cNvPr id="22" name="Rounded Rectangle 21"/>
          <p:cNvSpPr/>
          <p:nvPr/>
        </p:nvSpPr>
        <p:spPr>
          <a:xfrm>
            <a:off x="4773168" y="2331720"/>
            <a:ext cx="3127248" cy="1371600"/>
          </a:xfrm>
          <a:prstGeom prst="roundRect">
            <a:avLst>
              <a:gd name="adj" fmla="val 8000"/>
            </a:avLst>
          </a:prstGeom>
          <a:solidFill>
            <a:srgbClr val="FFFFFF"/>
          </a:solidFill>
          <a:ln>
            <a:solidFill>
              <a:srgbClr val="DAE1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937760" y="2468879"/>
            <a:ext cx="530352" cy="347472"/>
          </a:xfrm>
          <a:prstGeom prst="roundRect">
            <a:avLst>
              <a:gd name="adj" fmla="val 8000"/>
            </a:avLst>
          </a:prstGeom>
          <a:solidFill>
            <a:srgbClr val="536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10912" y="2514599"/>
            <a:ext cx="384047" cy="274320"/>
          </a:xfrm>
          <a:prstGeom prst="rect">
            <a:avLst/>
          </a:prstGeom>
          <a:noFill/>
        </p:spPr>
        <p:txBody>
          <a:bodyPr wrap="square" lIns="27432" rIns="27432" tIns="18288" bIns="0">
            <a:spAutoFit/>
          </a:bodyPr>
          <a:lstStyle/>
          <a:p>
            <a:pPr>
              <a:spcAft>
                <a:spcPts val="800"/>
              </a:spcAft>
              <a:defRPr sz="1200" b="1">
                <a:solidFill>
                  <a:srgbClr val="FFFFFF"/>
                </a:solidFill>
                <a:latin typeface="DejaVu Sans"/>
              </a:defRPr>
            </a:pPr>
            <a:r>
              <a:t>02</a:t>
            </a:r>
          </a:p>
        </p:txBody>
      </p:sp>
      <p:sp>
        <p:nvSpPr>
          <p:cNvPr id="25" name="TextBox 24"/>
          <p:cNvSpPr txBox="1"/>
          <p:nvPr/>
        </p:nvSpPr>
        <p:spPr>
          <a:xfrm>
            <a:off x="4937760" y="2935224"/>
            <a:ext cx="2779776" cy="676656"/>
          </a:xfrm>
          <a:prstGeom prst="rect">
            <a:avLst/>
          </a:prstGeom>
          <a:noFill/>
        </p:spPr>
        <p:txBody>
          <a:bodyPr wrap="square" lIns="27432" rIns="27432" tIns="18288" bIns="0">
            <a:spAutoFit/>
          </a:bodyPr>
          <a:lstStyle/>
          <a:p>
            <a:pPr>
              <a:spcAft>
                <a:spcPts val="800"/>
              </a:spcAft>
              <a:defRPr sz="1900" b="1">
                <a:solidFill>
                  <a:srgbClr val="202C50"/>
                </a:solidFill>
                <a:latin typeface="DejaVu Sans"/>
              </a:defRPr>
            </a:pPr>
            <a:r>
              <a:t>Cluster, control plane va Node</a:t>
            </a:r>
          </a:p>
        </p:txBody>
      </p:sp>
      <p:sp>
        <p:nvSpPr>
          <p:cNvPr id="26" name="Rounded Rectangle 25"/>
          <p:cNvSpPr/>
          <p:nvPr/>
        </p:nvSpPr>
        <p:spPr>
          <a:xfrm>
            <a:off x="8174736" y="2331720"/>
            <a:ext cx="3127248" cy="1371600"/>
          </a:xfrm>
          <a:prstGeom prst="roundRect">
            <a:avLst>
              <a:gd name="adj" fmla="val 8000"/>
            </a:avLst>
          </a:prstGeom>
          <a:solidFill>
            <a:srgbClr val="FFFFFF"/>
          </a:solidFill>
          <a:ln>
            <a:solidFill>
              <a:srgbClr val="DAE1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339328" y="2468879"/>
            <a:ext cx="530352" cy="347472"/>
          </a:xfrm>
          <a:prstGeom prst="roundRect">
            <a:avLst>
              <a:gd name="adj" fmla="val 8000"/>
            </a:avLst>
          </a:prstGeom>
          <a:solidFill>
            <a:srgbClr val="536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12480" y="2514599"/>
            <a:ext cx="384047" cy="274320"/>
          </a:xfrm>
          <a:prstGeom prst="rect">
            <a:avLst/>
          </a:prstGeom>
          <a:noFill/>
        </p:spPr>
        <p:txBody>
          <a:bodyPr wrap="square" lIns="27432" rIns="27432" tIns="18288" bIns="0">
            <a:spAutoFit/>
          </a:bodyPr>
          <a:lstStyle/>
          <a:p>
            <a:pPr>
              <a:spcAft>
                <a:spcPts val="800"/>
              </a:spcAft>
              <a:defRPr sz="1200" b="1">
                <a:solidFill>
                  <a:srgbClr val="FFFFFF"/>
                </a:solidFill>
                <a:latin typeface="DejaVu Sans"/>
              </a:defRPr>
            </a:pPr>
            <a:r>
              <a:t>03</a:t>
            </a:r>
          </a:p>
        </p:txBody>
      </p:sp>
      <p:sp>
        <p:nvSpPr>
          <p:cNvPr id="29" name="TextBox 28"/>
          <p:cNvSpPr txBox="1"/>
          <p:nvPr/>
        </p:nvSpPr>
        <p:spPr>
          <a:xfrm>
            <a:off x="8339328" y="2935224"/>
            <a:ext cx="2779776" cy="676656"/>
          </a:xfrm>
          <a:prstGeom prst="rect">
            <a:avLst/>
          </a:prstGeom>
          <a:noFill/>
        </p:spPr>
        <p:txBody>
          <a:bodyPr wrap="square" lIns="27432" rIns="27432" tIns="18288" bIns="0">
            <a:spAutoFit/>
          </a:bodyPr>
          <a:lstStyle/>
          <a:p>
            <a:pPr>
              <a:spcAft>
                <a:spcPts val="800"/>
              </a:spcAft>
              <a:defRPr sz="1900" b="1">
                <a:solidFill>
                  <a:srgbClr val="202C50"/>
                </a:solidFill>
                <a:latin typeface="DejaVu Sans"/>
              </a:defRPr>
            </a:pPr>
            <a:r>
              <a:t>Pod — eng kichik joylashtirish birligi</a:t>
            </a:r>
          </a:p>
        </p:txBody>
      </p:sp>
      <p:sp>
        <p:nvSpPr>
          <p:cNvPr id="30" name="Rounded Rectangle 29"/>
          <p:cNvSpPr/>
          <p:nvPr/>
        </p:nvSpPr>
        <p:spPr>
          <a:xfrm>
            <a:off x="1371600" y="3977639"/>
            <a:ext cx="3127248" cy="1371600"/>
          </a:xfrm>
          <a:prstGeom prst="roundRect">
            <a:avLst>
              <a:gd name="adj" fmla="val 8000"/>
            </a:avLst>
          </a:prstGeom>
          <a:solidFill>
            <a:srgbClr val="FFFFFF"/>
          </a:solidFill>
          <a:ln>
            <a:solidFill>
              <a:srgbClr val="DAE1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536192" y="4114800"/>
            <a:ext cx="530352" cy="347472"/>
          </a:xfrm>
          <a:prstGeom prst="roundRect">
            <a:avLst>
              <a:gd name="adj" fmla="val 8000"/>
            </a:avLst>
          </a:prstGeom>
          <a:solidFill>
            <a:srgbClr val="536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09344" y="4160520"/>
            <a:ext cx="384047" cy="274320"/>
          </a:xfrm>
          <a:prstGeom prst="rect">
            <a:avLst/>
          </a:prstGeom>
          <a:noFill/>
        </p:spPr>
        <p:txBody>
          <a:bodyPr wrap="square" lIns="27432" rIns="27432" tIns="18288" bIns="0">
            <a:spAutoFit/>
          </a:bodyPr>
          <a:lstStyle/>
          <a:p>
            <a:pPr>
              <a:spcAft>
                <a:spcPts val="800"/>
              </a:spcAft>
              <a:defRPr sz="1200" b="1">
                <a:solidFill>
                  <a:srgbClr val="FFFFFF"/>
                </a:solidFill>
                <a:latin typeface="DejaVu Sans"/>
              </a:defRPr>
            </a:pPr>
            <a:r>
              <a:t>04</a:t>
            </a:r>
          </a:p>
        </p:txBody>
      </p:sp>
      <p:sp>
        <p:nvSpPr>
          <p:cNvPr id="33" name="TextBox 32"/>
          <p:cNvSpPr txBox="1"/>
          <p:nvPr/>
        </p:nvSpPr>
        <p:spPr>
          <a:xfrm>
            <a:off x="1536192" y="4581144"/>
            <a:ext cx="2779776" cy="676656"/>
          </a:xfrm>
          <a:prstGeom prst="rect">
            <a:avLst/>
          </a:prstGeom>
          <a:noFill/>
        </p:spPr>
        <p:txBody>
          <a:bodyPr wrap="square" lIns="27432" rIns="27432" tIns="18288" bIns="0">
            <a:spAutoFit/>
          </a:bodyPr>
          <a:lstStyle/>
          <a:p>
            <a:pPr>
              <a:spcAft>
                <a:spcPts val="800"/>
              </a:spcAft>
              <a:defRPr sz="1900" b="1">
                <a:solidFill>
                  <a:srgbClr val="202C50"/>
                </a:solidFill>
                <a:latin typeface="DejaVu Sans"/>
              </a:defRPr>
            </a:pPr>
            <a:r>
              <a:t>Deployment va yangilash</a:t>
            </a:r>
          </a:p>
        </p:txBody>
      </p:sp>
      <p:sp>
        <p:nvSpPr>
          <p:cNvPr id="34" name="Rounded Rectangle 33"/>
          <p:cNvSpPr/>
          <p:nvPr/>
        </p:nvSpPr>
        <p:spPr>
          <a:xfrm>
            <a:off x="4773168" y="3977639"/>
            <a:ext cx="3127248" cy="1371600"/>
          </a:xfrm>
          <a:prstGeom prst="roundRect">
            <a:avLst>
              <a:gd name="adj" fmla="val 8000"/>
            </a:avLst>
          </a:prstGeom>
          <a:solidFill>
            <a:srgbClr val="FFFFFF"/>
          </a:solidFill>
          <a:ln>
            <a:solidFill>
              <a:srgbClr val="DAE1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4937760" y="4114800"/>
            <a:ext cx="530352" cy="347472"/>
          </a:xfrm>
          <a:prstGeom prst="roundRect">
            <a:avLst>
              <a:gd name="adj" fmla="val 8000"/>
            </a:avLst>
          </a:prstGeom>
          <a:solidFill>
            <a:srgbClr val="536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10912" y="4160520"/>
            <a:ext cx="384047" cy="274320"/>
          </a:xfrm>
          <a:prstGeom prst="rect">
            <a:avLst/>
          </a:prstGeom>
          <a:noFill/>
        </p:spPr>
        <p:txBody>
          <a:bodyPr wrap="square" lIns="27432" rIns="27432" tIns="18288" bIns="0">
            <a:spAutoFit/>
          </a:bodyPr>
          <a:lstStyle/>
          <a:p>
            <a:pPr>
              <a:spcAft>
                <a:spcPts val="800"/>
              </a:spcAft>
              <a:defRPr sz="1200" b="1">
                <a:solidFill>
                  <a:srgbClr val="FFFFFF"/>
                </a:solidFill>
                <a:latin typeface="DejaVu Sans"/>
              </a:defRPr>
            </a:pPr>
            <a:r>
              <a:t>05</a:t>
            </a:r>
          </a:p>
        </p:txBody>
      </p:sp>
      <p:sp>
        <p:nvSpPr>
          <p:cNvPr id="37" name="TextBox 36"/>
          <p:cNvSpPr txBox="1"/>
          <p:nvPr/>
        </p:nvSpPr>
        <p:spPr>
          <a:xfrm>
            <a:off x="4937760" y="4581144"/>
            <a:ext cx="2779776" cy="676656"/>
          </a:xfrm>
          <a:prstGeom prst="rect">
            <a:avLst/>
          </a:prstGeom>
          <a:noFill/>
        </p:spPr>
        <p:txBody>
          <a:bodyPr wrap="square" lIns="27432" rIns="27432" tIns="18288" bIns="0">
            <a:spAutoFit/>
          </a:bodyPr>
          <a:lstStyle/>
          <a:p>
            <a:pPr>
              <a:spcAft>
                <a:spcPts val="800"/>
              </a:spcAft>
              <a:defRPr sz="1900" b="1">
                <a:solidFill>
                  <a:srgbClr val="202C50"/>
                </a:solidFill>
                <a:latin typeface="DejaVu Sans"/>
              </a:defRPr>
            </a:pPr>
            <a:r>
              <a:t>Service va tarmoq</a:t>
            </a:r>
          </a:p>
        </p:txBody>
      </p:sp>
      <p:sp>
        <p:nvSpPr>
          <p:cNvPr id="38" name="Rounded Rectangle 37"/>
          <p:cNvSpPr/>
          <p:nvPr/>
        </p:nvSpPr>
        <p:spPr>
          <a:xfrm>
            <a:off x="8174736" y="3977639"/>
            <a:ext cx="3127248" cy="1371600"/>
          </a:xfrm>
          <a:prstGeom prst="roundRect">
            <a:avLst>
              <a:gd name="adj" fmla="val 8000"/>
            </a:avLst>
          </a:prstGeom>
          <a:solidFill>
            <a:srgbClr val="FFFFFF"/>
          </a:solidFill>
          <a:ln>
            <a:solidFill>
              <a:srgbClr val="DAE1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8339328" y="4114800"/>
            <a:ext cx="530352" cy="347472"/>
          </a:xfrm>
          <a:prstGeom prst="roundRect">
            <a:avLst>
              <a:gd name="adj" fmla="val 8000"/>
            </a:avLst>
          </a:prstGeom>
          <a:solidFill>
            <a:srgbClr val="536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12480" y="4160520"/>
            <a:ext cx="384047" cy="274320"/>
          </a:xfrm>
          <a:prstGeom prst="rect">
            <a:avLst/>
          </a:prstGeom>
          <a:noFill/>
        </p:spPr>
        <p:txBody>
          <a:bodyPr wrap="square" lIns="27432" rIns="27432" tIns="18288" bIns="0">
            <a:spAutoFit/>
          </a:bodyPr>
          <a:lstStyle/>
          <a:p>
            <a:pPr>
              <a:spcAft>
                <a:spcPts val="800"/>
              </a:spcAft>
              <a:defRPr sz="1200" b="1">
                <a:solidFill>
                  <a:srgbClr val="FFFFFF"/>
                </a:solidFill>
                <a:latin typeface="DejaVu Sans"/>
              </a:defRPr>
            </a:pPr>
            <a:r>
              <a:t>06</a:t>
            </a:r>
          </a:p>
        </p:txBody>
      </p:sp>
      <p:sp>
        <p:nvSpPr>
          <p:cNvPr id="41" name="TextBox 40"/>
          <p:cNvSpPr txBox="1"/>
          <p:nvPr/>
        </p:nvSpPr>
        <p:spPr>
          <a:xfrm>
            <a:off x="8339328" y="4581144"/>
            <a:ext cx="2779776" cy="676656"/>
          </a:xfrm>
          <a:prstGeom prst="rect">
            <a:avLst/>
          </a:prstGeom>
          <a:noFill/>
        </p:spPr>
        <p:txBody>
          <a:bodyPr wrap="square" lIns="27432" rIns="27432" tIns="18288" bIns="0">
            <a:spAutoFit/>
          </a:bodyPr>
          <a:lstStyle/>
          <a:p>
            <a:pPr>
              <a:spcAft>
                <a:spcPts val="800"/>
              </a:spcAft>
              <a:defRPr sz="1900" b="1">
                <a:solidFill>
                  <a:srgbClr val="202C50"/>
                </a:solidFill>
                <a:latin typeface="DejaVu Sans"/>
              </a:defRPr>
            </a:pPr>
            <a:r>
              <a:t>Tiklash, HPA va resurslar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7FC"/>
        </a:solidFill>
        <a:effectLst/>
      </p:bgPr>
    </p:bg>
    <p:spTree>
      <p:nvGrpSpPr>
        <p:cNvPr id="1" name=""/>
        <p:cNvGrpSpPr/>
        <p:nvPr/>
      </p:nvGrpSpPr>
      <p:grpSpPr/>
      <p:sp>
        <p:nvSpPr>
          <p:cNvPr id="2" name="Rectangle 1"/>
          <p:cNvSpPr/>
          <p:nvPr/>
        </p:nvSpPr>
        <p:spPr>
          <a:xfrm>
            <a:off x="0" y="0"/>
            <a:ext cx="1005840" cy="6858000"/>
          </a:xfrm>
          <a:prstGeom prst="rect">
            <a:avLst/>
          </a:prstGeom>
          <a:solidFill>
            <a:srgbClr val="2634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457200"/>
            <a:ext cx="594360" cy="457200"/>
          </a:xfrm>
          <a:prstGeom prst="rect">
            <a:avLst/>
          </a:prstGeom>
          <a:noFill/>
        </p:spPr>
        <p:txBody>
          <a:bodyPr wrap="square" lIns="27432" rIns="27432" tIns="18288" bIns="0">
            <a:spAutoFit/>
          </a:bodyPr>
          <a:lstStyle/>
          <a:p>
            <a:pPr>
              <a:spcAft>
                <a:spcPts val="800"/>
              </a:spcAft>
              <a:defRPr sz="1600" b="1">
                <a:solidFill>
                  <a:srgbClr val="FFFFFF"/>
                </a:solidFill>
                <a:latin typeface="DejaVu Sans"/>
              </a:defRPr>
            </a:pPr>
            <a:r>
              <a:t>K8S</a:t>
            </a:r>
          </a:p>
        </p:txBody>
      </p:sp>
      <p:sp>
        <p:nvSpPr>
          <p:cNvPr id="4" name="Rounded Rectangle 3"/>
          <p:cNvSpPr/>
          <p:nvPr/>
        </p:nvSpPr>
        <p:spPr>
          <a:xfrm>
            <a:off x="310896" y="1737360"/>
            <a:ext cx="365760" cy="256032"/>
          </a:xfrm>
          <a:prstGeom prst="roundRect">
            <a:avLst>
              <a:gd name="adj" fmla="val 8000"/>
            </a:avLst>
          </a:prstGeom>
          <a:solidFill>
            <a:srgbClr val="536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10896" y="2350008"/>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10896" y="2962656"/>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10896" y="3575304"/>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10896" y="4187952"/>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10896" y="4800600"/>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05840" y="0"/>
            <a:ext cx="11201400" cy="4023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53312" y="73152"/>
            <a:ext cx="9144000" cy="228600"/>
          </a:xfrm>
          <a:prstGeom prst="rect">
            <a:avLst/>
          </a:prstGeom>
          <a:noFill/>
        </p:spPr>
        <p:txBody>
          <a:bodyPr wrap="square" lIns="27432" rIns="27432" tIns="18288" bIns="0">
            <a:spAutoFit/>
          </a:bodyPr>
          <a:lstStyle/>
          <a:p>
            <a:pPr>
              <a:spcAft>
                <a:spcPts val="800"/>
              </a:spcAft>
              <a:defRPr sz="1000" b="0">
                <a:solidFill>
                  <a:srgbClr val="202C50"/>
                </a:solidFill>
                <a:latin typeface="DejaVu Sans"/>
              </a:defRPr>
            </a:pPr>
            <a:r>
              <a:t>CLUSTER   /   universitet-portal   /   nazorat paneli</a:t>
            </a:r>
          </a:p>
        </p:txBody>
      </p:sp>
      <p:sp>
        <p:nvSpPr>
          <p:cNvPr id="12" name="Rounded Rectangle 11"/>
          <p:cNvSpPr/>
          <p:nvPr/>
        </p:nvSpPr>
        <p:spPr>
          <a:xfrm>
            <a:off x="9966960" y="658368"/>
            <a:ext cx="1463040" cy="347472"/>
          </a:xfrm>
          <a:prstGeom prst="roundRect">
            <a:avLst>
              <a:gd name="adj" fmla="val 8000"/>
            </a:avLst>
          </a:prstGeom>
          <a:solidFill>
            <a:srgbClr val="18A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40112" y="704088"/>
            <a:ext cx="1316736" cy="274320"/>
          </a:xfrm>
          <a:prstGeom prst="rect">
            <a:avLst/>
          </a:prstGeom>
          <a:noFill/>
        </p:spPr>
        <p:txBody>
          <a:bodyPr wrap="square" lIns="27432" rIns="27432" tIns="18288" bIns="0">
            <a:spAutoFit/>
          </a:bodyPr>
          <a:lstStyle/>
          <a:p>
            <a:pPr>
              <a:spcAft>
                <a:spcPts val="800"/>
              </a:spcAft>
              <a:defRPr sz="1200" b="1">
                <a:solidFill>
                  <a:srgbClr val="FFFFFF"/>
                </a:solidFill>
                <a:latin typeface="DejaVu Sans"/>
              </a:defRPr>
            </a:pPr>
            <a:r>
              <a:t>●  RUNNING</a:t>
            </a:r>
          </a:p>
        </p:txBody>
      </p:sp>
      <p:sp>
        <p:nvSpPr>
          <p:cNvPr id="14" name="TextBox 13"/>
          <p:cNvSpPr txBox="1"/>
          <p:nvPr/>
        </p:nvSpPr>
        <p:spPr>
          <a:xfrm>
            <a:off x="1371600" y="713232"/>
            <a:ext cx="8366760" cy="960120"/>
          </a:xfrm>
          <a:prstGeom prst="rect">
            <a:avLst/>
          </a:prstGeom>
          <a:noFill/>
        </p:spPr>
        <p:txBody>
          <a:bodyPr wrap="square" lIns="27432" rIns="27432" tIns="18288" bIns="0">
            <a:spAutoFit/>
          </a:bodyPr>
          <a:lstStyle/>
          <a:p>
            <a:pPr>
              <a:spcAft>
                <a:spcPts val="800"/>
              </a:spcAft>
              <a:defRPr sz="2800" b="1">
                <a:solidFill>
                  <a:srgbClr val="202C50"/>
                </a:solidFill>
                <a:latin typeface="DejaVu Sans"/>
              </a:defRPr>
            </a:pPr>
            <a:r>
              <a:t>Orkestratsiya va kerakli holat</a:t>
            </a:r>
          </a:p>
        </p:txBody>
      </p:sp>
      <p:sp>
        <p:nvSpPr>
          <p:cNvPr id="15" name="TextBox 14"/>
          <p:cNvSpPr txBox="1"/>
          <p:nvPr/>
        </p:nvSpPr>
        <p:spPr>
          <a:xfrm>
            <a:off x="1371600" y="1682496"/>
            <a:ext cx="9966960" cy="457200"/>
          </a:xfrm>
          <a:prstGeom prst="rect">
            <a:avLst/>
          </a:prstGeom>
          <a:noFill/>
        </p:spPr>
        <p:txBody>
          <a:bodyPr wrap="square" lIns="27432" rIns="27432" tIns="18288" bIns="0">
            <a:spAutoFit/>
          </a:bodyPr>
          <a:lstStyle/>
          <a:p>
            <a:pPr>
              <a:spcAft>
                <a:spcPts val="800"/>
              </a:spcAft>
              <a:defRPr sz="1500" b="1">
                <a:solidFill>
                  <a:srgbClr val="5364D8"/>
                </a:solidFill>
                <a:latin typeface="DejaVu Sans"/>
              </a:defRPr>
            </a:pPr>
            <a:r>
              <a:t>Tizimni qo‘lda emas, deklaratsiya bilan boshqarish.</a:t>
            </a:r>
          </a:p>
        </p:txBody>
      </p:sp>
      <p:sp>
        <p:nvSpPr>
          <p:cNvPr id="16" name="TextBox 1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202C50"/>
                </a:solidFill>
                <a:latin typeface="DejaVu Sans"/>
              </a:defRPr>
            </a:pPr>
            <a:r>
              <a:t>BTST206   /   M07   /   2027–2028</a:t>
            </a:r>
          </a:p>
        </p:txBody>
      </p:sp>
      <p:sp>
        <p:nvSpPr>
          <p:cNvPr id="17" name="TextBox 1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202C50"/>
                </a:solidFill>
                <a:latin typeface="DejaVu Sans"/>
              </a:defRPr>
            </a:pPr>
            <a:r>
              <a:t>03 / 13</a:t>
            </a:r>
          </a:p>
        </p:txBody>
      </p:sp>
      <p:sp>
        <p:nvSpPr>
          <p:cNvPr id="18" name="Rounded Rectangle 17"/>
          <p:cNvSpPr/>
          <p:nvPr/>
        </p:nvSpPr>
        <p:spPr>
          <a:xfrm>
            <a:off x="1371600" y="2377440"/>
            <a:ext cx="5943600" cy="3611880"/>
          </a:xfrm>
          <a:prstGeom prst="roundRect">
            <a:avLst>
              <a:gd name="adj" fmla="val 8000"/>
            </a:avLst>
          </a:prstGeom>
          <a:solidFill>
            <a:srgbClr val="FFFFFF"/>
          </a:solidFill>
          <a:ln>
            <a:solidFill>
              <a:srgbClr val="DEE4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600200" y="2587752"/>
            <a:ext cx="5486400" cy="1188720"/>
          </a:xfrm>
          <a:prstGeom prst="rect">
            <a:avLst/>
          </a:prstGeom>
          <a:noFill/>
        </p:spPr>
        <p:txBody>
          <a:bodyPr wrap="square" lIns="27432" rIns="27432" tIns="18288" bIns="0">
            <a:spAutoFit/>
          </a:bodyPr>
          <a:lstStyle/>
          <a:p>
            <a:pPr>
              <a:spcAft>
                <a:spcPts val="800"/>
              </a:spcAft>
              <a:defRPr sz="2200" b="1">
                <a:solidFill>
                  <a:srgbClr val="202C50"/>
                </a:solidFill>
                <a:latin typeface="DejaVu Sans"/>
              </a:defRPr>
            </a:pPr>
            <a:r>
              <a:t>Siz kerakli nusxalar sonini e’lon qilasiz. Kontroller haqiqiy holatni shu maqsadga yaqinlashtiradi.</a:t>
            </a:r>
          </a:p>
        </p:txBody>
      </p:sp>
      <p:sp>
        <p:nvSpPr>
          <p:cNvPr id="20" name="TextBox 19"/>
          <p:cNvSpPr txBox="1"/>
          <p:nvPr/>
        </p:nvSpPr>
        <p:spPr>
          <a:xfrm>
            <a:off x="1600200" y="3959352"/>
            <a:ext cx="5486400" cy="1517904"/>
          </a:xfrm>
          <a:prstGeom prst="rect">
            <a:avLst/>
          </a:prstGeom>
          <a:noFill/>
        </p:spPr>
        <p:txBody>
          <a:bodyPr wrap="square" lIns="27432" rIns="27432" tIns="18288" bIns="0">
            <a:spAutoFit/>
          </a:bodyPr>
          <a:lstStyle/>
          <a:p>
            <a:pPr>
              <a:spcAft>
                <a:spcPts val="800"/>
              </a:spcAft>
              <a:defRPr sz="2100" b="0">
                <a:solidFill>
                  <a:srgbClr val="202C50"/>
                </a:solidFill>
                <a:latin typeface="DejaVu Sans"/>
              </a:defRPr>
            </a:pPr>
            <a:r>
              <a:t>Uchta Pod kerak. Bittasi yo‘qolsa, tizim yangi nusxa yaratishga harakat qiladi.</a:t>
            </a:r>
          </a:p>
        </p:txBody>
      </p:sp>
      <p:sp>
        <p:nvSpPr>
          <p:cNvPr id="21" name="Rectangle 20"/>
          <p:cNvSpPr/>
          <p:nvPr/>
        </p:nvSpPr>
        <p:spPr>
          <a:xfrm>
            <a:off x="7726679" y="2999232"/>
            <a:ext cx="1094232" cy="914400"/>
          </a:xfrm>
          <a:prstGeom prst="rect">
            <a:avLst/>
          </a:prstGeom>
          <a:solidFill>
            <a:srgbClr val="E9EDFF"/>
          </a:solidFill>
          <a:ln>
            <a:solidFill>
              <a:srgbClr val="536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45552" y="3108960"/>
            <a:ext cx="856488" cy="749808"/>
          </a:xfrm>
          <a:prstGeom prst="rect">
            <a:avLst/>
          </a:prstGeom>
          <a:noFill/>
        </p:spPr>
        <p:txBody>
          <a:bodyPr wrap="square" lIns="27432" rIns="27432" tIns="18288" bIns="0">
            <a:spAutoFit/>
          </a:bodyPr>
          <a:lstStyle/>
          <a:p>
            <a:pPr>
              <a:spcAft>
                <a:spcPts val="800"/>
              </a:spcAft>
              <a:defRPr sz="1800" b="1">
                <a:solidFill>
                  <a:srgbClr val="202C50"/>
                </a:solidFill>
                <a:latin typeface="DejaVu Sans"/>
              </a:defRPr>
            </a:pPr>
            <a:r>
              <a:t>Pod A</a:t>
            </a:r>
          </a:p>
        </p:txBody>
      </p:sp>
      <p:sp>
        <p:nvSpPr>
          <p:cNvPr id="23" name="Rectangle 22"/>
          <p:cNvSpPr/>
          <p:nvPr/>
        </p:nvSpPr>
        <p:spPr>
          <a:xfrm>
            <a:off x="8930640" y="2999232"/>
            <a:ext cx="1094232" cy="914400"/>
          </a:xfrm>
          <a:prstGeom prst="rect">
            <a:avLst/>
          </a:prstGeom>
          <a:solidFill>
            <a:srgbClr val="E9EDFF"/>
          </a:solidFill>
          <a:ln>
            <a:solidFill>
              <a:srgbClr val="536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49512" y="3108960"/>
            <a:ext cx="856488" cy="749808"/>
          </a:xfrm>
          <a:prstGeom prst="rect">
            <a:avLst/>
          </a:prstGeom>
          <a:noFill/>
        </p:spPr>
        <p:txBody>
          <a:bodyPr wrap="square" lIns="27432" rIns="27432" tIns="18288" bIns="0">
            <a:spAutoFit/>
          </a:bodyPr>
          <a:lstStyle/>
          <a:p>
            <a:pPr>
              <a:spcAft>
                <a:spcPts val="800"/>
              </a:spcAft>
              <a:defRPr sz="1800" b="1">
                <a:solidFill>
                  <a:srgbClr val="202C50"/>
                </a:solidFill>
                <a:latin typeface="DejaVu Sans"/>
              </a:defRPr>
            </a:pPr>
            <a:r>
              <a:t>Pod B</a:t>
            </a:r>
          </a:p>
        </p:txBody>
      </p:sp>
      <p:sp>
        <p:nvSpPr>
          <p:cNvPr id="25" name="Rectangle 24"/>
          <p:cNvSpPr/>
          <p:nvPr/>
        </p:nvSpPr>
        <p:spPr>
          <a:xfrm>
            <a:off x="10134599" y="2999232"/>
            <a:ext cx="1094232" cy="914400"/>
          </a:xfrm>
          <a:prstGeom prst="rect">
            <a:avLst/>
          </a:prstGeom>
          <a:solidFill>
            <a:srgbClr val="E9EDFF"/>
          </a:solidFill>
          <a:ln>
            <a:solidFill>
              <a:srgbClr val="536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53472" y="3108960"/>
            <a:ext cx="856488" cy="749808"/>
          </a:xfrm>
          <a:prstGeom prst="rect">
            <a:avLst/>
          </a:prstGeom>
          <a:noFill/>
        </p:spPr>
        <p:txBody>
          <a:bodyPr wrap="square" lIns="27432" rIns="27432" tIns="18288" bIns="0">
            <a:spAutoFit/>
          </a:bodyPr>
          <a:lstStyle/>
          <a:p>
            <a:pPr>
              <a:spcAft>
                <a:spcPts val="800"/>
              </a:spcAft>
              <a:defRPr sz="1800" b="1">
                <a:solidFill>
                  <a:srgbClr val="202C50"/>
                </a:solidFill>
                <a:latin typeface="DejaVu Sans"/>
              </a:defRPr>
            </a:pPr>
            <a:r>
              <a:t>Pod C</a:t>
            </a:r>
          </a:p>
        </p:txBody>
      </p:sp>
      <p:sp>
        <p:nvSpPr>
          <p:cNvPr id="27" name="Oval 26"/>
          <p:cNvSpPr/>
          <p:nvPr/>
        </p:nvSpPr>
        <p:spPr>
          <a:xfrm>
            <a:off x="7872983" y="4251960"/>
            <a:ext cx="182880" cy="182880"/>
          </a:xfrm>
          <a:prstGeom prst="ellipse">
            <a:avLst/>
          </a:prstGeom>
          <a:solidFill>
            <a:srgbClr val="18A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076944" y="4251960"/>
            <a:ext cx="182880" cy="182880"/>
          </a:xfrm>
          <a:prstGeom prst="ellipse">
            <a:avLst/>
          </a:prstGeom>
          <a:solidFill>
            <a:srgbClr val="18A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80903" y="4251960"/>
            <a:ext cx="182880" cy="182880"/>
          </a:xfrm>
          <a:prstGeom prst="ellipse">
            <a:avLst/>
          </a:prstGeom>
          <a:solidFill>
            <a:srgbClr val="18A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26679" y="4645152"/>
            <a:ext cx="3611880" cy="576072"/>
          </a:xfrm>
          <a:prstGeom prst="rect">
            <a:avLst/>
          </a:prstGeom>
          <a:noFill/>
        </p:spPr>
        <p:txBody>
          <a:bodyPr wrap="square" lIns="27432" rIns="27432" tIns="18288" bIns="0">
            <a:spAutoFit/>
          </a:bodyPr>
          <a:lstStyle/>
          <a:p>
            <a:pPr>
              <a:spcAft>
                <a:spcPts val="800"/>
              </a:spcAft>
              <a:defRPr sz="2000" b="1">
                <a:solidFill>
                  <a:srgbClr val="5364D8"/>
                </a:solidFill>
                <a:latin typeface="DejaVu Sans"/>
              </a:defRPr>
            </a:pPr>
            <a:r>
              <a:t>Kerakli holat: 3 nusxa</a:t>
            </a:r>
          </a:p>
        </p:txBody>
      </p:sp>
      <p:sp>
        <p:nvSpPr>
          <p:cNvPr id="31" name="TextBox 30"/>
          <p:cNvSpPr txBox="1"/>
          <p:nvPr/>
        </p:nvSpPr>
        <p:spPr>
          <a:xfrm>
            <a:off x="1371600" y="6108192"/>
            <a:ext cx="10058400" cy="329184"/>
          </a:xfrm>
          <a:prstGeom prst="rect">
            <a:avLst/>
          </a:prstGeom>
          <a:noFill/>
        </p:spPr>
        <p:txBody>
          <a:bodyPr wrap="square" lIns="27432" rIns="27432" tIns="18288" bIns="0">
            <a:spAutoFit/>
          </a:bodyPr>
          <a:lstStyle/>
          <a:p>
            <a:pPr>
              <a:spcAft>
                <a:spcPts val="800"/>
              </a:spcAft>
              <a:defRPr sz="1200" b="0">
                <a:solidFill>
                  <a:srgbClr val="5364D8"/>
                </a:solidFill>
                <a:latin typeface="DejaVu Sans"/>
              </a:defRPr>
            </a:pPr>
            <a:r>
              <a:t>MISOL / Kubernetes ilovadagi xatoni tuzatmaydi; ish holatini boshqaradi.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7FC"/>
        </a:solidFill>
        <a:effectLst/>
      </p:bgPr>
    </p:bg>
    <p:spTree>
      <p:nvGrpSpPr>
        <p:cNvPr id="1" name=""/>
        <p:cNvGrpSpPr/>
        <p:nvPr/>
      </p:nvGrpSpPr>
      <p:grpSpPr/>
      <p:sp>
        <p:nvSpPr>
          <p:cNvPr id="2" name="Rectangle 1"/>
          <p:cNvSpPr/>
          <p:nvPr/>
        </p:nvSpPr>
        <p:spPr>
          <a:xfrm>
            <a:off x="0" y="0"/>
            <a:ext cx="1005840" cy="6858000"/>
          </a:xfrm>
          <a:prstGeom prst="rect">
            <a:avLst/>
          </a:prstGeom>
          <a:solidFill>
            <a:srgbClr val="2634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457200"/>
            <a:ext cx="594360" cy="457200"/>
          </a:xfrm>
          <a:prstGeom prst="rect">
            <a:avLst/>
          </a:prstGeom>
          <a:noFill/>
        </p:spPr>
        <p:txBody>
          <a:bodyPr wrap="square" lIns="27432" rIns="27432" tIns="18288" bIns="0">
            <a:spAutoFit/>
          </a:bodyPr>
          <a:lstStyle/>
          <a:p>
            <a:pPr>
              <a:spcAft>
                <a:spcPts val="800"/>
              </a:spcAft>
              <a:defRPr sz="1600" b="1">
                <a:solidFill>
                  <a:srgbClr val="FFFFFF"/>
                </a:solidFill>
                <a:latin typeface="DejaVu Sans"/>
              </a:defRPr>
            </a:pPr>
            <a:r>
              <a:t>K8S</a:t>
            </a:r>
          </a:p>
        </p:txBody>
      </p:sp>
      <p:sp>
        <p:nvSpPr>
          <p:cNvPr id="4" name="Rounded Rectangle 3"/>
          <p:cNvSpPr/>
          <p:nvPr/>
        </p:nvSpPr>
        <p:spPr>
          <a:xfrm>
            <a:off x="310896" y="1737360"/>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10896" y="2350008"/>
            <a:ext cx="365760" cy="256032"/>
          </a:xfrm>
          <a:prstGeom prst="roundRect">
            <a:avLst>
              <a:gd name="adj" fmla="val 8000"/>
            </a:avLst>
          </a:prstGeom>
          <a:solidFill>
            <a:srgbClr val="536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10896" y="2962656"/>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10896" y="3575304"/>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10896" y="4187952"/>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10896" y="4800600"/>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05840" y="0"/>
            <a:ext cx="11201400" cy="4023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53312" y="73152"/>
            <a:ext cx="9144000" cy="228600"/>
          </a:xfrm>
          <a:prstGeom prst="rect">
            <a:avLst/>
          </a:prstGeom>
          <a:noFill/>
        </p:spPr>
        <p:txBody>
          <a:bodyPr wrap="square" lIns="27432" rIns="27432" tIns="18288" bIns="0">
            <a:spAutoFit/>
          </a:bodyPr>
          <a:lstStyle/>
          <a:p>
            <a:pPr>
              <a:spcAft>
                <a:spcPts val="800"/>
              </a:spcAft>
              <a:defRPr sz="1000" b="0">
                <a:solidFill>
                  <a:srgbClr val="202C50"/>
                </a:solidFill>
                <a:latin typeface="DejaVu Sans"/>
              </a:defRPr>
            </a:pPr>
            <a:r>
              <a:t>CLUSTER   /   universitet-portal   /   nazorat paneli</a:t>
            </a:r>
          </a:p>
        </p:txBody>
      </p:sp>
      <p:sp>
        <p:nvSpPr>
          <p:cNvPr id="12" name="Rounded Rectangle 11"/>
          <p:cNvSpPr/>
          <p:nvPr/>
        </p:nvSpPr>
        <p:spPr>
          <a:xfrm>
            <a:off x="9966960" y="658368"/>
            <a:ext cx="1463040" cy="347472"/>
          </a:xfrm>
          <a:prstGeom prst="roundRect">
            <a:avLst>
              <a:gd name="adj" fmla="val 8000"/>
            </a:avLst>
          </a:prstGeom>
          <a:solidFill>
            <a:srgbClr val="18A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40112" y="704088"/>
            <a:ext cx="1316736" cy="274320"/>
          </a:xfrm>
          <a:prstGeom prst="rect">
            <a:avLst/>
          </a:prstGeom>
          <a:noFill/>
        </p:spPr>
        <p:txBody>
          <a:bodyPr wrap="square" lIns="27432" rIns="27432" tIns="18288" bIns="0">
            <a:spAutoFit/>
          </a:bodyPr>
          <a:lstStyle/>
          <a:p>
            <a:pPr>
              <a:spcAft>
                <a:spcPts val="800"/>
              </a:spcAft>
              <a:defRPr sz="1200" b="1">
                <a:solidFill>
                  <a:srgbClr val="FFFFFF"/>
                </a:solidFill>
                <a:latin typeface="DejaVu Sans"/>
              </a:defRPr>
            </a:pPr>
            <a:r>
              <a:t>●  RUNNING</a:t>
            </a:r>
          </a:p>
        </p:txBody>
      </p:sp>
      <p:sp>
        <p:nvSpPr>
          <p:cNvPr id="14" name="TextBox 13"/>
          <p:cNvSpPr txBox="1"/>
          <p:nvPr/>
        </p:nvSpPr>
        <p:spPr>
          <a:xfrm>
            <a:off x="1371600" y="713232"/>
            <a:ext cx="8366760" cy="960120"/>
          </a:xfrm>
          <a:prstGeom prst="rect">
            <a:avLst/>
          </a:prstGeom>
          <a:noFill/>
        </p:spPr>
        <p:txBody>
          <a:bodyPr wrap="square" lIns="27432" rIns="27432" tIns="18288" bIns="0">
            <a:spAutoFit/>
          </a:bodyPr>
          <a:lstStyle/>
          <a:p>
            <a:pPr>
              <a:spcAft>
                <a:spcPts val="800"/>
              </a:spcAft>
              <a:defRPr sz="2800" b="1">
                <a:solidFill>
                  <a:srgbClr val="202C50"/>
                </a:solidFill>
                <a:latin typeface="DejaVu Sans"/>
              </a:defRPr>
            </a:pPr>
            <a:r>
              <a:t>Cluster, control plane va Node</a:t>
            </a:r>
          </a:p>
        </p:txBody>
      </p:sp>
      <p:sp>
        <p:nvSpPr>
          <p:cNvPr id="15" name="TextBox 14"/>
          <p:cNvSpPr txBox="1"/>
          <p:nvPr/>
        </p:nvSpPr>
        <p:spPr>
          <a:xfrm>
            <a:off x="1371600" y="1682496"/>
            <a:ext cx="9966960" cy="457200"/>
          </a:xfrm>
          <a:prstGeom prst="rect">
            <a:avLst/>
          </a:prstGeom>
          <a:noFill/>
        </p:spPr>
        <p:txBody>
          <a:bodyPr wrap="square" lIns="27432" rIns="27432" tIns="18288" bIns="0">
            <a:spAutoFit/>
          </a:bodyPr>
          <a:lstStyle/>
          <a:p>
            <a:pPr>
              <a:spcAft>
                <a:spcPts val="800"/>
              </a:spcAft>
              <a:defRPr sz="1500" b="1">
                <a:solidFill>
                  <a:srgbClr val="5364D8"/>
                </a:solidFill>
                <a:latin typeface="DejaVu Sans"/>
              </a:defRPr>
            </a:pPr>
            <a:r>
              <a:t>Boshqaruv qatlami va ishchi tugunlar.</a:t>
            </a:r>
          </a:p>
        </p:txBody>
      </p:sp>
      <p:sp>
        <p:nvSpPr>
          <p:cNvPr id="16" name="TextBox 1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202C50"/>
                </a:solidFill>
                <a:latin typeface="DejaVu Sans"/>
              </a:defRPr>
            </a:pPr>
            <a:r>
              <a:t>BTST206   /   M07   /   2027–2028</a:t>
            </a:r>
          </a:p>
        </p:txBody>
      </p:sp>
      <p:sp>
        <p:nvSpPr>
          <p:cNvPr id="17" name="TextBox 1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202C50"/>
                </a:solidFill>
                <a:latin typeface="DejaVu Sans"/>
              </a:defRPr>
            </a:pPr>
            <a:r>
              <a:t>04 / 13</a:t>
            </a:r>
          </a:p>
        </p:txBody>
      </p:sp>
      <p:sp>
        <p:nvSpPr>
          <p:cNvPr id="18" name="Rounded Rectangle 17"/>
          <p:cNvSpPr/>
          <p:nvPr/>
        </p:nvSpPr>
        <p:spPr>
          <a:xfrm>
            <a:off x="1371600" y="2423160"/>
            <a:ext cx="5532120" cy="35661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54480" y="2633472"/>
            <a:ext cx="5166360" cy="1508760"/>
          </a:xfrm>
          <a:prstGeom prst="rect">
            <a:avLst/>
          </a:prstGeom>
          <a:noFill/>
        </p:spPr>
        <p:txBody>
          <a:bodyPr wrap="square" lIns="27432" rIns="27432" tIns="18288" bIns="0">
            <a:spAutoFit/>
          </a:bodyPr>
          <a:lstStyle/>
          <a:p>
            <a:pPr>
              <a:spcAft>
                <a:spcPts val="800"/>
              </a:spcAft>
              <a:defRPr sz="2100" b="1">
                <a:solidFill>
                  <a:srgbClr val="202C50"/>
                </a:solidFill>
                <a:latin typeface="DejaVu Sans"/>
              </a:defRPr>
            </a:pPr>
            <a:r>
              <a:t>Control plane holat va joylashtirishni boshqaradi. Node lar konteynerlarni bajaradi.</a:t>
            </a:r>
          </a:p>
        </p:txBody>
      </p:sp>
      <p:sp>
        <p:nvSpPr>
          <p:cNvPr id="20" name="TextBox 19"/>
          <p:cNvSpPr txBox="1"/>
          <p:nvPr/>
        </p:nvSpPr>
        <p:spPr>
          <a:xfrm>
            <a:off x="1554480" y="4343400"/>
            <a:ext cx="5166360" cy="1371600"/>
          </a:xfrm>
          <a:prstGeom prst="rect">
            <a:avLst/>
          </a:prstGeom>
          <a:noFill/>
        </p:spPr>
        <p:txBody>
          <a:bodyPr wrap="square" lIns="27432" rIns="27432" tIns="18288" bIns="0">
            <a:spAutoFit/>
          </a:bodyPr>
          <a:lstStyle/>
          <a:p>
            <a:pPr>
              <a:spcAft>
                <a:spcPts val="800"/>
              </a:spcAft>
              <a:defRPr sz="2000" b="0">
                <a:solidFill>
                  <a:srgbClr val="202C50"/>
                </a:solidFill>
                <a:latin typeface="DejaVu Sans"/>
              </a:defRPr>
            </a:pPr>
            <a:r>
              <a:t>Scheduler yangi Pod uchun mos Node tanlaydi; kubelet uning ishlashini kuzatadi.</a:t>
            </a:r>
          </a:p>
        </p:txBody>
      </p:sp>
      <p:sp>
        <p:nvSpPr>
          <p:cNvPr id="21" name="Rounded Rectangle 20"/>
          <p:cNvSpPr/>
          <p:nvPr/>
        </p:nvSpPr>
        <p:spPr>
          <a:xfrm>
            <a:off x="7269480" y="2450592"/>
            <a:ext cx="4224528" cy="3584448"/>
          </a:xfrm>
          <a:prstGeom prst="roundRect">
            <a:avLst>
              <a:gd name="adj" fmla="val 8000"/>
            </a:avLst>
          </a:prstGeom>
          <a:solidFill>
            <a:srgbClr val="E9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kubernetes_architecture.png"/>
          <p:cNvPicPr>
            <a:picLocks noChangeAspect="1"/>
          </p:cNvPicPr>
          <p:nvPr/>
        </p:nvPicPr>
        <p:blipFill>
          <a:blip r:embed="rId2"/>
          <a:stretch>
            <a:fillRect/>
          </a:stretch>
        </p:blipFill>
        <p:spPr>
          <a:xfrm>
            <a:off x="7452360" y="3028675"/>
            <a:ext cx="3858768" cy="1852208"/>
          </a:xfrm>
          <a:prstGeom prst="rect">
            <a:avLst/>
          </a:prstGeom>
        </p:spPr>
      </p:pic>
      <p:sp>
        <p:nvSpPr>
          <p:cNvPr id="23" name="TextBox 22"/>
          <p:cNvSpPr txBox="1"/>
          <p:nvPr/>
        </p:nvSpPr>
        <p:spPr>
          <a:xfrm>
            <a:off x="7443216" y="5413248"/>
            <a:ext cx="3840480" cy="493776"/>
          </a:xfrm>
          <a:prstGeom prst="rect">
            <a:avLst/>
          </a:prstGeom>
          <a:noFill/>
        </p:spPr>
        <p:txBody>
          <a:bodyPr wrap="square" lIns="27432" rIns="27432" tIns="18288" bIns="0">
            <a:spAutoFit/>
          </a:bodyPr>
          <a:lstStyle/>
          <a:p>
            <a:pPr>
              <a:spcAft>
                <a:spcPts val="800"/>
              </a:spcAft>
              <a:defRPr sz="1300" b="1">
                <a:solidFill>
                  <a:srgbClr val="5364D8"/>
                </a:solidFill>
                <a:latin typeface="DejaVu Sans"/>
              </a:defRPr>
            </a:pPr>
            <a:r>
              <a:t>Kubernetes — klaster komponentlari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7FC"/>
        </a:solidFill>
        <a:effectLst/>
      </p:bgPr>
    </p:bg>
    <p:spTree>
      <p:nvGrpSpPr>
        <p:cNvPr id="1" name=""/>
        <p:cNvGrpSpPr/>
        <p:nvPr/>
      </p:nvGrpSpPr>
      <p:grpSpPr/>
      <p:sp>
        <p:nvSpPr>
          <p:cNvPr id="2" name="Rectangle 1"/>
          <p:cNvSpPr/>
          <p:nvPr/>
        </p:nvSpPr>
        <p:spPr>
          <a:xfrm>
            <a:off x="0" y="0"/>
            <a:ext cx="1005840" cy="6858000"/>
          </a:xfrm>
          <a:prstGeom prst="rect">
            <a:avLst/>
          </a:prstGeom>
          <a:solidFill>
            <a:srgbClr val="2634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457200"/>
            <a:ext cx="594360" cy="457200"/>
          </a:xfrm>
          <a:prstGeom prst="rect">
            <a:avLst/>
          </a:prstGeom>
          <a:noFill/>
        </p:spPr>
        <p:txBody>
          <a:bodyPr wrap="square" lIns="27432" rIns="27432" tIns="18288" bIns="0">
            <a:spAutoFit/>
          </a:bodyPr>
          <a:lstStyle/>
          <a:p>
            <a:pPr>
              <a:spcAft>
                <a:spcPts val="800"/>
              </a:spcAft>
              <a:defRPr sz="1600" b="1">
                <a:solidFill>
                  <a:srgbClr val="FFFFFF"/>
                </a:solidFill>
                <a:latin typeface="DejaVu Sans"/>
              </a:defRPr>
            </a:pPr>
            <a:r>
              <a:t>K8S</a:t>
            </a:r>
          </a:p>
        </p:txBody>
      </p:sp>
      <p:sp>
        <p:nvSpPr>
          <p:cNvPr id="4" name="Rounded Rectangle 3"/>
          <p:cNvSpPr/>
          <p:nvPr/>
        </p:nvSpPr>
        <p:spPr>
          <a:xfrm>
            <a:off x="310896" y="1737360"/>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10896" y="2350008"/>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10896" y="2962656"/>
            <a:ext cx="365760" cy="256032"/>
          </a:xfrm>
          <a:prstGeom prst="roundRect">
            <a:avLst>
              <a:gd name="adj" fmla="val 8000"/>
            </a:avLst>
          </a:prstGeom>
          <a:solidFill>
            <a:srgbClr val="536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10896" y="3575304"/>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10896" y="4187952"/>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10896" y="4800600"/>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05840" y="0"/>
            <a:ext cx="11201400" cy="4023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53312" y="73152"/>
            <a:ext cx="9144000" cy="228600"/>
          </a:xfrm>
          <a:prstGeom prst="rect">
            <a:avLst/>
          </a:prstGeom>
          <a:noFill/>
        </p:spPr>
        <p:txBody>
          <a:bodyPr wrap="square" lIns="27432" rIns="27432" tIns="18288" bIns="0">
            <a:spAutoFit/>
          </a:bodyPr>
          <a:lstStyle/>
          <a:p>
            <a:pPr>
              <a:spcAft>
                <a:spcPts val="800"/>
              </a:spcAft>
              <a:defRPr sz="1000" b="0">
                <a:solidFill>
                  <a:srgbClr val="202C50"/>
                </a:solidFill>
                <a:latin typeface="DejaVu Sans"/>
              </a:defRPr>
            </a:pPr>
            <a:r>
              <a:t>CLUSTER   /   universitet-portal   /   nazorat paneli</a:t>
            </a:r>
          </a:p>
        </p:txBody>
      </p:sp>
      <p:sp>
        <p:nvSpPr>
          <p:cNvPr id="12" name="Rounded Rectangle 11"/>
          <p:cNvSpPr/>
          <p:nvPr/>
        </p:nvSpPr>
        <p:spPr>
          <a:xfrm>
            <a:off x="9966960" y="658368"/>
            <a:ext cx="1463040" cy="347472"/>
          </a:xfrm>
          <a:prstGeom prst="roundRect">
            <a:avLst>
              <a:gd name="adj" fmla="val 8000"/>
            </a:avLst>
          </a:prstGeom>
          <a:solidFill>
            <a:srgbClr val="18A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40112" y="704088"/>
            <a:ext cx="1316736" cy="274320"/>
          </a:xfrm>
          <a:prstGeom prst="rect">
            <a:avLst/>
          </a:prstGeom>
          <a:noFill/>
        </p:spPr>
        <p:txBody>
          <a:bodyPr wrap="square" lIns="27432" rIns="27432" tIns="18288" bIns="0">
            <a:spAutoFit/>
          </a:bodyPr>
          <a:lstStyle/>
          <a:p>
            <a:pPr>
              <a:spcAft>
                <a:spcPts val="800"/>
              </a:spcAft>
              <a:defRPr sz="1200" b="1">
                <a:solidFill>
                  <a:srgbClr val="FFFFFF"/>
                </a:solidFill>
                <a:latin typeface="DejaVu Sans"/>
              </a:defRPr>
            </a:pPr>
            <a:r>
              <a:t>●  RUNNING</a:t>
            </a:r>
          </a:p>
        </p:txBody>
      </p:sp>
      <p:sp>
        <p:nvSpPr>
          <p:cNvPr id="14" name="TextBox 13"/>
          <p:cNvSpPr txBox="1"/>
          <p:nvPr/>
        </p:nvSpPr>
        <p:spPr>
          <a:xfrm>
            <a:off x="1371600" y="713232"/>
            <a:ext cx="8366760" cy="960120"/>
          </a:xfrm>
          <a:prstGeom prst="rect">
            <a:avLst/>
          </a:prstGeom>
          <a:noFill/>
        </p:spPr>
        <p:txBody>
          <a:bodyPr wrap="square" lIns="27432" rIns="27432" tIns="18288" bIns="0">
            <a:spAutoFit/>
          </a:bodyPr>
          <a:lstStyle/>
          <a:p>
            <a:pPr>
              <a:spcAft>
                <a:spcPts val="800"/>
              </a:spcAft>
              <a:defRPr sz="2800" b="1">
                <a:solidFill>
                  <a:srgbClr val="202C50"/>
                </a:solidFill>
                <a:latin typeface="DejaVu Sans"/>
              </a:defRPr>
            </a:pPr>
            <a:r>
              <a:t>Pod — eng kichik joylashtirish birligi</a:t>
            </a:r>
          </a:p>
        </p:txBody>
      </p:sp>
      <p:sp>
        <p:nvSpPr>
          <p:cNvPr id="15" name="TextBox 14"/>
          <p:cNvSpPr txBox="1"/>
          <p:nvPr/>
        </p:nvSpPr>
        <p:spPr>
          <a:xfrm>
            <a:off x="1371600" y="1682496"/>
            <a:ext cx="9966960" cy="457200"/>
          </a:xfrm>
          <a:prstGeom prst="rect">
            <a:avLst/>
          </a:prstGeom>
          <a:noFill/>
        </p:spPr>
        <p:txBody>
          <a:bodyPr wrap="square" lIns="27432" rIns="27432" tIns="18288" bIns="0">
            <a:spAutoFit/>
          </a:bodyPr>
          <a:lstStyle/>
          <a:p>
            <a:pPr>
              <a:spcAft>
                <a:spcPts val="800"/>
              </a:spcAft>
              <a:defRPr sz="1500" b="1">
                <a:solidFill>
                  <a:srgbClr val="5364D8"/>
                </a:solidFill>
                <a:latin typeface="DejaVu Sans"/>
              </a:defRPr>
            </a:pPr>
            <a:r>
              <a:t>Birga ishlaydigan konteynerlar uchun umumiy muhit.</a:t>
            </a:r>
          </a:p>
        </p:txBody>
      </p:sp>
      <p:sp>
        <p:nvSpPr>
          <p:cNvPr id="16" name="TextBox 1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202C50"/>
                </a:solidFill>
                <a:latin typeface="DejaVu Sans"/>
              </a:defRPr>
            </a:pPr>
            <a:r>
              <a:t>BTST206   /   M07   /   2027–2028</a:t>
            </a:r>
          </a:p>
        </p:txBody>
      </p:sp>
      <p:sp>
        <p:nvSpPr>
          <p:cNvPr id="17" name="TextBox 1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202C50"/>
                </a:solidFill>
                <a:latin typeface="DejaVu Sans"/>
              </a:defRPr>
            </a:pPr>
            <a:r>
              <a:t>05 / 13</a:t>
            </a:r>
          </a:p>
        </p:txBody>
      </p:sp>
      <p:sp>
        <p:nvSpPr>
          <p:cNvPr id="18" name="Rounded Rectangle 17"/>
          <p:cNvSpPr/>
          <p:nvPr/>
        </p:nvSpPr>
        <p:spPr>
          <a:xfrm>
            <a:off x="1371600" y="2377440"/>
            <a:ext cx="5943600" cy="3611880"/>
          </a:xfrm>
          <a:prstGeom prst="roundRect">
            <a:avLst>
              <a:gd name="adj" fmla="val 8000"/>
            </a:avLst>
          </a:prstGeom>
          <a:solidFill>
            <a:srgbClr val="FFFFFF"/>
          </a:solidFill>
          <a:ln>
            <a:solidFill>
              <a:srgbClr val="DEE4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600200" y="2587752"/>
            <a:ext cx="5486400" cy="1188720"/>
          </a:xfrm>
          <a:prstGeom prst="rect">
            <a:avLst/>
          </a:prstGeom>
          <a:noFill/>
        </p:spPr>
        <p:txBody>
          <a:bodyPr wrap="square" lIns="27432" rIns="27432" tIns="18288" bIns="0">
            <a:spAutoFit/>
          </a:bodyPr>
          <a:lstStyle/>
          <a:p>
            <a:pPr>
              <a:spcAft>
                <a:spcPts val="800"/>
              </a:spcAft>
              <a:defRPr sz="2200" b="1">
                <a:solidFill>
                  <a:srgbClr val="202C50"/>
                </a:solidFill>
                <a:latin typeface="DejaVu Sans"/>
              </a:defRPr>
            </a:pPr>
            <a:r>
              <a:t>Pod ichida odatda bitta asosiy konteyner bo‘ladi. Hamkor konteynerlar tarmoq va volume ulashishi mumkin.</a:t>
            </a:r>
          </a:p>
        </p:txBody>
      </p:sp>
      <p:sp>
        <p:nvSpPr>
          <p:cNvPr id="20" name="TextBox 19"/>
          <p:cNvSpPr txBox="1"/>
          <p:nvPr/>
        </p:nvSpPr>
        <p:spPr>
          <a:xfrm>
            <a:off x="1600200" y="3959352"/>
            <a:ext cx="5486400" cy="1517904"/>
          </a:xfrm>
          <a:prstGeom prst="rect">
            <a:avLst/>
          </a:prstGeom>
          <a:noFill/>
        </p:spPr>
        <p:txBody>
          <a:bodyPr wrap="square" lIns="27432" rIns="27432" tIns="18288" bIns="0">
            <a:spAutoFit/>
          </a:bodyPr>
          <a:lstStyle/>
          <a:p>
            <a:pPr>
              <a:spcAft>
                <a:spcPts val="800"/>
              </a:spcAft>
              <a:defRPr sz="2100" b="0">
                <a:solidFill>
                  <a:srgbClr val="202C50"/>
                </a:solidFill>
                <a:latin typeface="DejaVu Sans"/>
              </a:defRPr>
            </a:pPr>
            <a:r>
              <a:t>Pod qayta yaratilsa, IP manzili o‘zgarishi mumkin. Barqaror ulanish uchun Service ishlatiladi.</a:t>
            </a:r>
          </a:p>
        </p:txBody>
      </p:sp>
      <p:sp>
        <p:nvSpPr>
          <p:cNvPr id="21" name="Rectangle 20"/>
          <p:cNvSpPr/>
          <p:nvPr/>
        </p:nvSpPr>
        <p:spPr>
          <a:xfrm>
            <a:off x="8665768" y="2587752"/>
            <a:ext cx="1733702" cy="777240"/>
          </a:xfrm>
          <a:prstGeom prst="rect">
            <a:avLst/>
          </a:prstGeom>
          <a:solidFill>
            <a:srgbClr val="E9EDFF"/>
          </a:solidFill>
          <a:ln>
            <a:solidFill>
              <a:srgbClr val="536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84640" y="2697480"/>
            <a:ext cx="1495958" cy="612647"/>
          </a:xfrm>
          <a:prstGeom prst="rect">
            <a:avLst/>
          </a:prstGeom>
          <a:noFill/>
        </p:spPr>
        <p:txBody>
          <a:bodyPr wrap="square" lIns="27432" rIns="27432" tIns="18288" bIns="0">
            <a:spAutoFit/>
          </a:bodyPr>
          <a:lstStyle/>
          <a:p>
            <a:pPr>
              <a:spcAft>
                <a:spcPts val="800"/>
              </a:spcAft>
              <a:defRPr sz="1800" b="1">
                <a:solidFill>
                  <a:srgbClr val="202C50"/>
                </a:solidFill>
                <a:latin typeface="DejaVu Sans"/>
              </a:defRPr>
            </a:pPr>
            <a:r>
              <a:t>Service</a:t>
            </a:r>
          </a:p>
        </p:txBody>
      </p:sp>
      <p:sp>
        <p:nvSpPr>
          <p:cNvPr id="23" name="Rectangle 22"/>
          <p:cNvSpPr/>
          <p:nvPr/>
        </p:nvSpPr>
        <p:spPr>
          <a:xfrm>
            <a:off x="7726679" y="4233672"/>
            <a:ext cx="1661464" cy="1097280"/>
          </a:xfrm>
          <a:prstGeom prst="rect">
            <a:avLst/>
          </a:prstGeom>
          <a:solidFill>
            <a:srgbClr val="E9EDFF"/>
          </a:solidFill>
          <a:ln>
            <a:solidFill>
              <a:srgbClr val="536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45552" y="4343400"/>
            <a:ext cx="1423720" cy="932688"/>
          </a:xfrm>
          <a:prstGeom prst="rect">
            <a:avLst/>
          </a:prstGeom>
          <a:noFill/>
        </p:spPr>
        <p:txBody>
          <a:bodyPr wrap="square" lIns="27432" rIns="27432" tIns="18288" bIns="0">
            <a:spAutoFit/>
          </a:bodyPr>
          <a:lstStyle/>
          <a:p>
            <a:pPr>
              <a:spcAft>
                <a:spcPts val="800"/>
              </a:spcAft>
              <a:defRPr sz="2000" b="1">
                <a:solidFill>
                  <a:srgbClr val="202C50"/>
                </a:solidFill>
                <a:latin typeface="DejaVu Sans"/>
              </a:defRPr>
            </a:pPr>
            <a:r>
              <a:t>Pod 1</a:t>
            </a:r>
          </a:p>
        </p:txBody>
      </p:sp>
      <p:cxnSp>
        <p:nvCxnSpPr>
          <p:cNvPr id="25" name="Connector 24"/>
          <p:cNvCxnSpPr/>
          <p:nvPr/>
        </p:nvCxnSpPr>
        <p:spPr>
          <a:xfrm flipH="1">
            <a:off x="8557412" y="3364992"/>
            <a:ext cx="975207" cy="868680"/>
          </a:xfrm>
          <a:prstGeom prst="line">
            <a:avLst/>
          </a:prstGeom>
          <a:ln w="25400">
            <a:solidFill>
              <a:srgbClr val="5364D8"/>
            </a:solidFill>
            <a:tailEnd type="triangle"/>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9604857" y="4233672"/>
            <a:ext cx="1661464" cy="1097280"/>
          </a:xfrm>
          <a:prstGeom prst="rect">
            <a:avLst/>
          </a:prstGeom>
          <a:solidFill>
            <a:srgbClr val="E9EDFF"/>
          </a:solidFill>
          <a:ln>
            <a:solidFill>
              <a:srgbClr val="536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23729" y="4343400"/>
            <a:ext cx="1423720" cy="932688"/>
          </a:xfrm>
          <a:prstGeom prst="rect">
            <a:avLst/>
          </a:prstGeom>
          <a:noFill/>
        </p:spPr>
        <p:txBody>
          <a:bodyPr wrap="square" lIns="27432" rIns="27432" tIns="18288" bIns="0">
            <a:spAutoFit/>
          </a:bodyPr>
          <a:lstStyle/>
          <a:p>
            <a:pPr>
              <a:spcAft>
                <a:spcPts val="800"/>
              </a:spcAft>
              <a:defRPr sz="2000" b="1">
                <a:solidFill>
                  <a:srgbClr val="202C50"/>
                </a:solidFill>
                <a:latin typeface="DejaVu Sans"/>
              </a:defRPr>
            </a:pPr>
            <a:r>
              <a:t>Pod 2</a:t>
            </a:r>
          </a:p>
        </p:txBody>
      </p:sp>
      <p:cxnSp>
        <p:nvCxnSpPr>
          <p:cNvPr id="28" name="Connector 27"/>
          <p:cNvCxnSpPr/>
          <p:nvPr/>
        </p:nvCxnSpPr>
        <p:spPr>
          <a:xfrm>
            <a:off x="9532619" y="3364992"/>
            <a:ext cx="902971" cy="868680"/>
          </a:xfrm>
          <a:prstGeom prst="line">
            <a:avLst/>
          </a:prstGeom>
          <a:ln w="25400">
            <a:solidFill>
              <a:srgbClr val="5364D8"/>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371600" y="6108192"/>
            <a:ext cx="10058400" cy="329184"/>
          </a:xfrm>
          <a:prstGeom prst="rect">
            <a:avLst/>
          </a:prstGeom>
          <a:noFill/>
        </p:spPr>
        <p:txBody>
          <a:bodyPr wrap="square" lIns="27432" rIns="27432" tIns="18288" bIns="0">
            <a:spAutoFit/>
          </a:bodyPr>
          <a:lstStyle/>
          <a:p>
            <a:pPr>
              <a:spcAft>
                <a:spcPts val="800"/>
              </a:spcAft>
              <a:defRPr sz="1200" b="0">
                <a:solidFill>
                  <a:srgbClr val="5364D8"/>
                </a:solidFill>
                <a:latin typeface="DejaVu Sans"/>
              </a:defRPr>
            </a:pPr>
            <a:r>
              <a:t>MISOL / Muhim faylni faqat Pod ning vaqtinchalik diskida saqlamang.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7FC"/>
        </a:solidFill>
        <a:effectLst/>
      </p:bgPr>
    </p:bg>
    <p:spTree>
      <p:nvGrpSpPr>
        <p:cNvPr id="1" name=""/>
        <p:cNvGrpSpPr/>
        <p:nvPr/>
      </p:nvGrpSpPr>
      <p:grpSpPr/>
      <p:sp>
        <p:nvSpPr>
          <p:cNvPr id="2" name="Rectangle 1"/>
          <p:cNvSpPr/>
          <p:nvPr/>
        </p:nvSpPr>
        <p:spPr>
          <a:xfrm>
            <a:off x="0" y="0"/>
            <a:ext cx="1005840" cy="6858000"/>
          </a:xfrm>
          <a:prstGeom prst="rect">
            <a:avLst/>
          </a:prstGeom>
          <a:solidFill>
            <a:srgbClr val="2634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457200"/>
            <a:ext cx="594360" cy="457200"/>
          </a:xfrm>
          <a:prstGeom prst="rect">
            <a:avLst/>
          </a:prstGeom>
          <a:noFill/>
        </p:spPr>
        <p:txBody>
          <a:bodyPr wrap="square" lIns="27432" rIns="27432" tIns="18288" bIns="0">
            <a:spAutoFit/>
          </a:bodyPr>
          <a:lstStyle/>
          <a:p>
            <a:pPr>
              <a:spcAft>
                <a:spcPts val="800"/>
              </a:spcAft>
              <a:defRPr sz="1600" b="1">
                <a:solidFill>
                  <a:srgbClr val="FFFFFF"/>
                </a:solidFill>
                <a:latin typeface="DejaVu Sans"/>
              </a:defRPr>
            </a:pPr>
            <a:r>
              <a:t>K8S</a:t>
            </a:r>
          </a:p>
        </p:txBody>
      </p:sp>
      <p:sp>
        <p:nvSpPr>
          <p:cNvPr id="4" name="Rounded Rectangle 3"/>
          <p:cNvSpPr/>
          <p:nvPr/>
        </p:nvSpPr>
        <p:spPr>
          <a:xfrm>
            <a:off x="310896" y="1737360"/>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10896" y="2350008"/>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10896" y="2962656"/>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10896" y="3575304"/>
            <a:ext cx="365760" cy="256032"/>
          </a:xfrm>
          <a:prstGeom prst="roundRect">
            <a:avLst>
              <a:gd name="adj" fmla="val 8000"/>
            </a:avLst>
          </a:prstGeom>
          <a:solidFill>
            <a:srgbClr val="536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10896" y="4187952"/>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10896" y="4800600"/>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05840" y="0"/>
            <a:ext cx="11201400" cy="4023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53312" y="73152"/>
            <a:ext cx="9144000" cy="228600"/>
          </a:xfrm>
          <a:prstGeom prst="rect">
            <a:avLst/>
          </a:prstGeom>
          <a:noFill/>
        </p:spPr>
        <p:txBody>
          <a:bodyPr wrap="square" lIns="27432" rIns="27432" tIns="18288" bIns="0">
            <a:spAutoFit/>
          </a:bodyPr>
          <a:lstStyle/>
          <a:p>
            <a:pPr>
              <a:spcAft>
                <a:spcPts val="800"/>
              </a:spcAft>
              <a:defRPr sz="1000" b="0">
                <a:solidFill>
                  <a:srgbClr val="202C50"/>
                </a:solidFill>
                <a:latin typeface="DejaVu Sans"/>
              </a:defRPr>
            </a:pPr>
            <a:r>
              <a:t>CLUSTER   /   universitet-portal   /   nazorat paneli</a:t>
            </a:r>
          </a:p>
        </p:txBody>
      </p:sp>
      <p:sp>
        <p:nvSpPr>
          <p:cNvPr id="12" name="Rounded Rectangle 11"/>
          <p:cNvSpPr/>
          <p:nvPr/>
        </p:nvSpPr>
        <p:spPr>
          <a:xfrm>
            <a:off x="9966960" y="658368"/>
            <a:ext cx="1463040" cy="347472"/>
          </a:xfrm>
          <a:prstGeom prst="roundRect">
            <a:avLst>
              <a:gd name="adj" fmla="val 8000"/>
            </a:avLst>
          </a:prstGeom>
          <a:solidFill>
            <a:srgbClr val="18A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40112" y="704088"/>
            <a:ext cx="1316736" cy="274320"/>
          </a:xfrm>
          <a:prstGeom prst="rect">
            <a:avLst/>
          </a:prstGeom>
          <a:noFill/>
        </p:spPr>
        <p:txBody>
          <a:bodyPr wrap="square" lIns="27432" rIns="27432" tIns="18288" bIns="0">
            <a:spAutoFit/>
          </a:bodyPr>
          <a:lstStyle/>
          <a:p>
            <a:pPr>
              <a:spcAft>
                <a:spcPts val="800"/>
              </a:spcAft>
              <a:defRPr sz="1200" b="1">
                <a:solidFill>
                  <a:srgbClr val="FFFFFF"/>
                </a:solidFill>
                <a:latin typeface="DejaVu Sans"/>
              </a:defRPr>
            </a:pPr>
            <a:r>
              <a:t>●  RUNNING</a:t>
            </a:r>
          </a:p>
        </p:txBody>
      </p:sp>
      <p:sp>
        <p:nvSpPr>
          <p:cNvPr id="14" name="TextBox 13"/>
          <p:cNvSpPr txBox="1"/>
          <p:nvPr/>
        </p:nvSpPr>
        <p:spPr>
          <a:xfrm>
            <a:off x="1371600" y="713232"/>
            <a:ext cx="8366760" cy="960120"/>
          </a:xfrm>
          <a:prstGeom prst="rect">
            <a:avLst/>
          </a:prstGeom>
          <a:noFill/>
        </p:spPr>
        <p:txBody>
          <a:bodyPr wrap="square" lIns="27432" rIns="27432" tIns="18288" bIns="0">
            <a:spAutoFit/>
          </a:bodyPr>
          <a:lstStyle/>
          <a:p>
            <a:pPr>
              <a:spcAft>
                <a:spcPts val="800"/>
              </a:spcAft>
              <a:defRPr sz="2800" b="1">
                <a:solidFill>
                  <a:srgbClr val="202C50"/>
                </a:solidFill>
                <a:latin typeface="DejaVu Sans"/>
              </a:defRPr>
            </a:pPr>
            <a:r>
              <a:t>Deployment va yangilash</a:t>
            </a:r>
          </a:p>
        </p:txBody>
      </p:sp>
      <p:sp>
        <p:nvSpPr>
          <p:cNvPr id="15" name="TextBox 14"/>
          <p:cNvSpPr txBox="1"/>
          <p:nvPr/>
        </p:nvSpPr>
        <p:spPr>
          <a:xfrm>
            <a:off x="1371600" y="1682496"/>
            <a:ext cx="9966960" cy="457200"/>
          </a:xfrm>
          <a:prstGeom prst="rect">
            <a:avLst/>
          </a:prstGeom>
          <a:noFill/>
        </p:spPr>
        <p:txBody>
          <a:bodyPr wrap="square" lIns="27432" rIns="27432" tIns="18288" bIns="0">
            <a:spAutoFit/>
          </a:bodyPr>
          <a:lstStyle/>
          <a:p>
            <a:pPr>
              <a:spcAft>
                <a:spcPts val="800"/>
              </a:spcAft>
              <a:defRPr sz="1500" b="1">
                <a:solidFill>
                  <a:srgbClr val="5364D8"/>
                </a:solidFill>
                <a:latin typeface="DejaVu Sans"/>
              </a:defRPr>
            </a:pPr>
            <a:r>
              <a:t>Nusxalar soni va versiya boshqariladi.</a:t>
            </a:r>
          </a:p>
        </p:txBody>
      </p:sp>
      <p:sp>
        <p:nvSpPr>
          <p:cNvPr id="16" name="TextBox 1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202C50"/>
                </a:solidFill>
                <a:latin typeface="DejaVu Sans"/>
              </a:defRPr>
            </a:pPr>
            <a:r>
              <a:t>BTST206   /   M07   /   2027–2028</a:t>
            </a:r>
          </a:p>
        </p:txBody>
      </p:sp>
      <p:sp>
        <p:nvSpPr>
          <p:cNvPr id="17" name="TextBox 1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202C50"/>
                </a:solidFill>
                <a:latin typeface="DejaVu Sans"/>
              </a:defRPr>
            </a:pPr>
            <a:r>
              <a:t>06 / 13</a:t>
            </a:r>
          </a:p>
        </p:txBody>
      </p:sp>
      <p:sp>
        <p:nvSpPr>
          <p:cNvPr id="18" name="Rounded Rectangle 17"/>
          <p:cNvSpPr/>
          <p:nvPr/>
        </p:nvSpPr>
        <p:spPr>
          <a:xfrm>
            <a:off x="1371600" y="2468880"/>
            <a:ext cx="3108960" cy="3538728"/>
          </a:xfrm>
          <a:prstGeom prst="roundRect">
            <a:avLst>
              <a:gd name="adj" fmla="val 8000"/>
            </a:avLst>
          </a:prstGeom>
          <a:solidFill>
            <a:srgbClr val="FFFFFF"/>
          </a:solidFill>
          <a:ln>
            <a:solidFill>
              <a:srgbClr val="DEE4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554480" y="2651760"/>
            <a:ext cx="2697480" cy="347472"/>
          </a:xfrm>
          <a:prstGeom prst="roundRect">
            <a:avLst>
              <a:gd name="adj" fmla="val 8000"/>
            </a:avLst>
          </a:prstGeom>
          <a:solidFill>
            <a:srgbClr val="E9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2697479"/>
            <a:ext cx="2551176" cy="274320"/>
          </a:xfrm>
          <a:prstGeom prst="rect">
            <a:avLst/>
          </a:prstGeom>
          <a:noFill/>
        </p:spPr>
        <p:txBody>
          <a:bodyPr wrap="square" lIns="27432" rIns="27432" tIns="18288" bIns="0">
            <a:spAutoFit/>
          </a:bodyPr>
          <a:lstStyle/>
          <a:p>
            <a:pPr>
              <a:spcAft>
                <a:spcPts val="800"/>
              </a:spcAft>
              <a:defRPr sz="1200" b="1">
                <a:solidFill>
                  <a:srgbClr val="5364D8"/>
                </a:solidFill>
                <a:latin typeface="DejaVu Sans"/>
              </a:defRPr>
            </a:pPr>
            <a:r>
              <a:t>BOSHQARUV</a:t>
            </a:r>
          </a:p>
        </p:txBody>
      </p:sp>
      <p:sp>
        <p:nvSpPr>
          <p:cNvPr id="21" name="TextBox 20"/>
          <p:cNvSpPr txBox="1"/>
          <p:nvPr/>
        </p:nvSpPr>
        <p:spPr>
          <a:xfrm>
            <a:off x="1554480" y="3291840"/>
            <a:ext cx="2743200" cy="2377440"/>
          </a:xfrm>
          <a:prstGeom prst="rect">
            <a:avLst/>
          </a:prstGeom>
          <a:noFill/>
        </p:spPr>
        <p:txBody>
          <a:bodyPr wrap="square" lIns="27432" rIns="27432" tIns="18288" bIns="0">
            <a:spAutoFit/>
          </a:bodyPr>
          <a:lstStyle/>
          <a:p>
            <a:pPr>
              <a:spcAft>
                <a:spcPts val="800"/>
              </a:spcAft>
              <a:defRPr sz="2000" b="0">
                <a:solidFill>
                  <a:srgbClr val="202C50"/>
                </a:solidFill>
                <a:latin typeface="DejaVu Sans"/>
              </a:defRPr>
            </a:pPr>
            <a:r>
              <a:t>Deployment kerakli nusxalar soni va image versiyasini boshqaradi.</a:t>
            </a:r>
          </a:p>
        </p:txBody>
      </p:sp>
      <p:sp>
        <p:nvSpPr>
          <p:cNvPr id="22" name="Rounded Rectangle 21"/>
          <p:cNvSpPr/>
          <p:nvPr/>
        </p:nvSpPr>
        <p:spPr>
          <a:xfrm>
            <a:off x="4773168" y="2468880"/>
            <a:ext cx="3108960" cy="3538728"/>
          </a:xfrm>
          <a:prstGeom prst="roundRect">
            <a:avLst>
              <a:gd name="adj" fmla="val 8000"/>
            </a:avLst>
          </a:prstGeom>
          <a:solidFill>
            <a:srgbClr val="FFFFFF"/>
          </a:solidFill>
          <a:ln>
            <a:solidFill>
              <a:srgbClr val="DEE4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956048" y="2651760"/>
            <a:ext cx="2697480" cy="347472"/>
          </a:xfrm>
          <a:prstGeom prst="roundRect">
            <a:avLst>
              <a:gd name="adj" fmla="val 8000"/>
            </a:avLst>
          </a:prstGeom>
          <a:solidFill>
            <a:srgbClr val="E9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0" y="2697479"/>
            <a:ext cx="2551176" cy="274320"/>
          </a:xfrm>
          <a:prstGeom prst="rect">
            <a:avLst/>
          </a:prstGeom>
          <a:noFill/>
        </p:spPr>
        <p:txBody>
          <a:bodyPr wrap="square" lIns="27432" rIns="27432" tIns="18288" bIns="0">
            <a:spAutoFit/>
          </a:bodyPr>
          <a:lstStyle/>
          <a:p>
            <a:pPr>
              <a:spcAft>
                <a:spcPts val="800"/>
              </a:spcAft>
              <a:defRPr sz="1200" b="1">
                <a:solidFill>
                  <a:srgbClr val="5364D8"/>
                </a:solidFill>
                <a:latin typeface="DejaVu Sans"/>
              </a:defRPr>
            </a:pPr>
            <a:r>
              <a:t>JARAYON</a:t>
            </a:r>
          </a:p>
        </p:txBody>
      </p:sp>
      <p:sp>
        <p:nvSpPr>
          <p:cNvPr id="25" name="TextBox 24"/>
          <p:cNvSpPr txBox="1"/>
          <p:nvPr/>
        </p:nvSpPr>
        <p:spPr>
          <a:xfrm>
            <a:off x="4956048" y="3291840"/>
            <a:ext cx="2743200" cy="2377440"/>
          </a:xfrm>
          <a:prstGeom prst="rect">
            <a:avLst/>
          </a:prstGeom>
          <a:noFill/>
        </p:spPr>
        <p:txBody>
          <a:bodyPr wrap="square" lIns="27432" rIns="27432" tIns="18288" bIns="0">
            <a:spAutoFit/>
          </a:bodyPr>
          <a:lstStyle/>
          <a:p>
            <a:pPr>
              <a:spcAft>
                <a:spcPts val="800"/>
              </a:spcAft>
              <a:defRPr sz="2000" b="0">
                <a:solidFill>
                  <a:srgbClr val="202C50"/>
                </a:solidFill>
                <a:latin typeface="DejaVu Sans"/>
              </a:defRPr>
            </a:pPr>
            <a:r>
              <a:t>Rolling update: yangi Pod tayyor bo‘ladi, keyin eski nusxalar kamaytiriladi.</a:t>
            </a:r>
          </a:p>
        </p:txBody>
      </p:sp>
      <p:sp>
        <p:nvSpPr>
          <p:cNvPr id="26" name="Rounded Rectangle 25"/>
          <p:cNvSpPr/>
          <p:nvPr/>
        </p:nvSpPr>
        <p:spPr>
          <a:xfrm>
            <a:off x="8174736" y="2468880"/>
            <a:ext cx="3108960" cy="3538728"/>
          </a:xfrm>
          <a:prstGeom prst="roundRect">
            <a:avLst>
              <a:gd name="adj" fmla="val 8000"/>
            </a:avLst>
          </a:prstGeom>
          <a:solidFill>
            <a:srgbClr val="FFFFFF"/>
          </a:solidFill>
          <a:ln>
            <a:solidFill>
              <a:srgbClr val="DEE4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357616" y="2651760"/>
            <a:ext cx="2697480" cy="347472"/>
          </a:xfrm>
          <a:prstGeom prst="roundRect">
            <a:avLst>
              <a:gd name="adj" fmla="val 8000"/>
            </a:avLst>
          </a:prstGeom>
          <a:solidFill>
            <a:srgbClr val="E9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30768" y="2697479"/>
            <a:ext cx="2551176" cy="274320"/>
          </a:xfrm>
          <a:prstGeom prst="rect">
            <a:avLst/>
          </a:prstGeom>
          <a:noFill/>
        </p:spPr>
        <p:txBody>
          <a:bodyPr wrap="square" lIns="27432" rIns="27432" tIns="18288" bIns="0">
            <a:spAutoFit/>
          </a:bodyPr>
          <a:lstStyle/>
          <a:p>
            <a:pPr>
              <a:spcAft>
                <a:spcPts val="800"/>
              </a:spcAft>
              <a:defRPr sz="1200" b="1">
                <a:solidFill>
                  <a:srgbClr val="5364D8"/>
                </a:solidFill>
                <a:latin typeface="DejaVu Sans"/>
              </a:defRPr>
            </a:pPr>
            <a:r>
              <a:t>ESDA TUTING</a:t>
            </a:r>
          </a:p>
        </p:txBody>
      </p:sp>
      <p:sp>
        <p:nvSpPr>
          <p:cNvPr id="29" name="TextBox 28"/>
          <p:cNvSpPr txBox="1"/>
          <p:nvPr/>
        </p:nvSpPr>
        <p:spPr>
          <a:xfrm>
            <a:off x="8357616" y="3291840"/>
            <a:ext cx="2743200" cy="2377440"/>
          </a:xfrm>
          <a:prstGeom prst="rect">
            <a:avLst/>
          </a:prstGeom>
          <a:noFill/>
        </p:spPr>
        <p:txBody>
          <a:bodyPr wrap="square" lIns="27432" rIns="27432" tIns="18288" bIns="0">
            <a:spAutoFit/>
          </a:bodyPr>
          <a:lstStyle/>
          <a:p>
            <a:pPr>
              <a:spcAft>
                <a:spcPts val="800"/>
              </a:spcAft>
              <a:defRPr sz="2000" b="0">
                <a:solidFill>
                  <a:srgbClr val="202C50"/>
                </a:solidFill>
                <a:latin typeface="DejaVu Sans"/>
              </a:defRPr>
            </a:pPr>
            <a:r>
              <a:t>Readiness — trafik olishga tayyorlik. Liveness — ishlamay qolgan jarayonni aniqlash.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7FC"/>
        </a:solidFill>
        <a:effectLst/>
      </p:bgPr>
    </p:bg>
    <p:spTree>
      <p:nvGrpSpPr>
        <p:cNvPr id="1" name=""/>
        <p:cNvGrpSpPr/>
        <p:nvPr/>
      </p:nvGrpSpPr>
      <p:grpSpPr/>
      <p:sp>
        <p:nvSpPr>
          <p:cNvPr id="2" name="Rectangle 1"/>
          <p:cNvSpPr/>
          <p:nvPr/>
        </p:nvSpPr>
        <p:spPr>
          <a:xfrm>
            <a:off x="0" y="0"/>
            <a:ext cx="1005840" cy="6858000"/>
          </a:xfrm>
          <a:prstGeom prst="rect">
            <a:avLst/>
          </a:prstGeom>
          <a:solidFill>
            <a:srgbClr val="2634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457200"/>
            <a:ext cx="594360" cy="457200"/>
          </a:xfrm>
          <a:prstGeom prst="rect">
            <a:avLst/>
          </a:prstGeom>
          <a:noFill/>
        </p:spPr>
        <p:txBody>
          <a:bodyPr wrap="square" lIns="27432" rIns="27432" tIns="18288" bIns="0">
            <a:spAutoFit/>
          </a:bodyPr>
          <a:lstStyle/>
          <a:p>
            <a:pPr>
              <a:spcAft>
                <a:spcPts val="800"/>
              </a:spcAft>
              <a:defRPr sz="1600" b="1">
                <a:solidFill>
                  <a:srgbClr val="FFFFFF"/>
                </a:solidFill>
                <a:latin typeface="DejaVu Sans"/>
              </a:defRPr>
            </a:pPr>
            <a:r>
              <a:t>K8S</a:t>
            </a:r>
          </a:p>
        </p:txBody>
      </p:sp>
      <p:sp>
        <p:nvSpPr>
          <p:cNvPr id="4" name="Rounded Rectangle 3"/>
          <p:cNvSpPr/>
          <p:nvPr/>
        </p:nvSpPr>
        <p:spPr>
          <a:xfrm>
            <a:off x="310896" y="1737360"/>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10896" y="2350008"/>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10896" y="2962656"/>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10896" y="3575304"/>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10896" y="4187952"/>
            <a:ext cx="365760" cy="256032"/>
          </a:xfrm>
          <a:prstGeom prst="roundRect">
            <a:avLst>
              <a:gd name="adj" fmla="val 8000"/>
            </a:avLst>
          </a:prstGeom>
          <a:solidFill>
            <a:srgbClr val="536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10896" y="4800600"/>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05840" y="0"/>
            <a:ext cx="11201400" cy="4023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53312" y="73152"/>
            <a:ext cx="9144000" cy="228600"/>
          </a:xfrm>
          <a:prstGeom prst="rect">
            <a:avLst/>
          </a:prstGeom>
          <a:noFill/>
        </p:spPr>
        <p:txBody>
          <a:bodyPr wrap="square" lIns="27432" rIns="27432" tIns="18288" bIns="0">
            <a:spAutoFit/>
          </a:bodyPr>
          <a:lstStyle/>
          <a:p>
            <a:pPr>
              <a:spcAft>
                <a:spcPts val="800"/>
              </a:spcAft>
              <a:defRPr sz="1000" b="0">
                <a:solidFill>
                  <a:srgbClr val="202C50"/>
                </a:solidFill>
                <a:latin typeface="DejaVu Sans"/>
              </a:defRPr>
            </a:pPr>
            <a:r>
              <a:t>CLUSTER   /   universitet-portal   /   nazorat paneli</a:t>
            </a:r>
          </a:p>
        </p:txBody>
      </p:sp>
      <p:sp>
        <p:nvSpPr>
          <p:cNvPr id="12" name="Rounded Rectangle 11"/>
          <p:cNvSpPr/>
          <p:nvPr/>
        </p:nvSpPr>
        <p:spPr>
          <a:xfrm>
            <a:off x="9966960" y="658368"/>
            <a:ext cx="1463040" cy="347472"/>
          </a:xfrm>
          <a:prstGeom prst="roundRect">
            <a:avLst>
              <a:gd name="adj" fmla="val 8000"/>
            </a:avLst>
          </a:prstGeom>
          <a:solidFill>
            <a:srgbClr val="18A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40112" y="704088"/>
            <a:ext cx="1316736" cy="274320"/>
          </a:xfrm>
          <a:prstGeom prst="rect">
            <a:avLst/>
          </a:prstGeom>
          <a:noFill/>
        </p:spPr>
        <p:txBody>
          <a:bodyPr wrap="square" lIns="27432" rIns="27432" tIns="18288" bIns="0">
            <a:spAutoFit/>
          </a:bodyPr>
          <a:lstStyle/>
          <a:p>
            <a:pPr>
              <a:spcAft>
                <a:spcPts val="800"/>
              </a:spcAft>
              <a:defRPr sz="1200" b="1">
                <a:solidFill>
                  <a:srgbClr val="FFFFFF"/>
                </a:solidFill>
                <a:latin typeface="DejaVu Sans"/>
              </a:defRPr>
            </a:pPr>
            <a:r>
              <a:t>●  RUNNING</a:t>
            </a:r>
          </a:p>
        </p:txBody>
      </p:sp>
      <p:sp>
        <p:nvSpPr>
          <p:cNvPr id="14" name="TextBox 13"/>
          <p:cNvSpPr txBox="1"/>
          <p:nvPr/>
        </p:nvSpPr>
        <p:spPr>
          <a:xfrm>
            <a:off x="1371600" y="713232"/>
            <a:ext cx="8366760" cy="960120"/>
          </a:xfrm>
          <a:prstGeom prst="rect">
            <a:avLst/>
          </a:prstGeom>
          <a:noFill/>
        </p:spPr>
        <p:txBody>
          <a:bodyPr wrap="square" lIns="27432" rIns="27432" tIns="18288" bIns="0">
            <a:spAutoFit/>
          </a:bodyPr>
          <a:lstStyle/>
          <a:p>
            <a:pPr>
              <a:spcAft>
                <a:spcPts val="800"/>
              </a:spcAft>
              <a:defRPr sz="2800" b="1">
                <a:solidFill>
                  <a:srgbClr val="202C50"/>
                </a:solidFill>
                <a:latin typeface="DejaVu Sans"/>
              </a:defRPr>
            </a:pPr>
            <a:r>
              <a:t>Service va tarmoq</a:t>
            </a:r>
          </a:p>
        </p:txBody>
      </p:sp>
      <p:sp>
        <p:nvSpPr>
          <p:cNvPr id="15" name="TextBox 14"/>
          <p:cNvSpPr txBox="1"/>
          <p:nvPr/>
        </p:nvSpPr>
        <p:spPr>
          <a:xfrm>
            <a:off x="1371600" y="1682496"/>
            <a:ext cx="9966960" cy="457200"/>
          </a:xfrm>
          <a:prstGeom prst="rect">
            <a:avLst/>
          </a:prstGeom>
          <a:noFill/>
        </p:spPr>
        <p:txBody>
          <a:bodyPr wrap="square" lIns="27432" rIns="27432" tIns="18288" bIns="0">
            <a:spAutoFit/>
          </a:bodyPr>
          <a:lstStyle/>
          <a:p>
            <a:pPr>
              <a:spcAft>
                <a:spcPts val="800"/>
              </a:spcAft>
              <a:defRPr sz="1500" b="1">
                <a:solidFill>
                  <a:srgbClr val="5364D8"/>
                </a:solidFill>
                <a:latin typeface="DejaVu Sans"/>
              </a:defRPr>
            </a:pPr>
            <a:r>
              <a:t>O‘zgaruvchan Pod lar uchun barqaror kirish nuqtasi.</a:t>
            </a:r>
          </a:p>
        </p:txBody>
      </p:sp>
      <p:sp>
        <p:nvSpPr>
          <p:cNvPr id="16" name="TextBox 1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202C50"/>
                </a:solidFill>
                <a:latin typeface="DejaVu Sans"/>
              </a:defRPr>
            </a:pPr>
            <a:r>
              <a:t>BTST206   /   M07   /   2027–2028</a:t>
            </a:r>
          </a:p>
        </p:txBody>
      </p:sp>
      <p:sp>
        <p:nvSpPr>
          <p:cNvPr id="17" name="TextBox 1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202C50"/>
                </a:solidFill>
                <a:latin typeface="DejaVu Sans"/>
              </a:defRPr>
            </a:pPr>
            <a:r>
              <a:t>07 / 13</a:t>
            </a:r>
          </a:p>
        </p:txBody>
      </p:sp>
      <p:sp>
        <p:nvSpPr>
          <p:cNvPr id="18" name="Rounded Rectangle 17"/>
          <p:cNvSpPr/>
          <p:nvPr/>
        </p:nvSpPr>
        <p:spPr>
          <a:xfrm>
            <a:off x="1371600" y="2377440"/>
            <a:ext cx="5943600" cy="3611880"/>
          </a:xfrm>
          <a:prstGeom prst="roundRect">
            <a:avLst>
              <a:gd name="adj" fmla="val 8000"/>
            </a:avLst>
          </a:prstGeom>
          <a:solidFill>
            <a:srgbClr val="FFFFFF"/>
          </a:solidFill>
          <a:ln>
            <a:solidFill>
              <a:srgbClr val="DEE4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600200" y="2587752"/>
            <a:ext cx="5486400" cy="1188720"/>
          </a:xfrm>
          <a:prstGeom prst="rect">
            <a:avLst/>
          </a:prstGeom>
          <a:noFill/>
        </p:spPr>
        <p:txBody>
          <a:bodyPr wrap="square" lIns="27432" rIns="27432" tIns="18288" bIns="0">
            <a:spAutoFit/>
          </a:bodyPr>
          <a:lstStyle/>
          <a:p>
            <a:pPr>
              <a:spcAft>
                <a:spcPts val="800"/>
              </a:spcAft>
              <a:defRPr sz="2200" b="1">
                <a:solidFill>
                  <a:srgbClr val="202C50"/>
                </a:solidFill>
                <a:latin typeface="DejaVu Sans"/>
              </a:defRPr>
            </a:pPr>
            <a:r>
              <a:t>Service teglar orqali mos Pod larni topadi va ularga barqaror nom bilan kirishni ta’minlaydi.</a:t>
            </a:r>
          </a:p>
        </p:txBody>
      </p:sp>
      <p:sp>
        <p:nvSpPr>
          <p:cNvPr id="20" name="TextBox 19"/>
          <p:cNvSpPr txBox="1"/>
          <p:nvPr/>
        </p:nvSpPr>
        <p:spPr>
          <a:xfrm>
            <a:off x="1600200" y="3959352"/>
            <a:ext cx="5486400" cy="1517904"/>
          </a:xfrm>
          <a:prstGeom prst="rect">
            <a:avLst/>
          </a:prstGeom>
          <a:noFill/>
        </p:spPr>
        <p:txBody>
          <a:bodyPr wrap="square" lIns="27432" rIns="27432" tIns="18288" bIns="0">
            <a:spAutoFit/>
          </a:bodyPr>
          <a:lstStyle/>
          <a:p>
            <a:pPr>
              <a:spcAft>
                <a:spcPts val="800"/>
              </a:spcAft>
              <a:defRPr sz="2100" b="0">
                <a:solidFill>
                  <a:srgbClr val="202C50"/>
                </a:solidFill>
                <a:latin typeface="DejaVu Sans"/>
              </a:defRPr>
            </a:pPr>
            <a:r>
              <a:t>Trafik tayyor endpoint larga yo‘naltiriladi. HTTP kirish uchun Ingress yoki Gateway qo‘shilishi mumkin.</a:t>
            </a:r>
          </a:p>
        </p:txBody>
      </p:sp>
      <p:sp>
        <p:nvSpPr>
          <p:cNvPr id="21" name="Rectangle 20"/>
          <p:cNvSpPr/>
          <p:nvPr/>
        </p:nvSpPr>
        <p:spPr>
          <a:xfrm>
            <a:off x="8665768" y="2587752"/>
            <a:ext cx="1733702" cy="777240"/>
          </a:xfrm>
          <a:prstGeom prst="rect">
            <a:avLst/>
          </a:prstGeom>
          <a:solidFill>
            <a:srgbClr val="E9EDFF"/>
          </a:solidFill>
          <a:ln>
            <a:solidFill>
              <a:srgbClr val="536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84640" y="2697480"/>
            <a:ext cx="1495958" cy="612647"/>
          </a:xfrm>
          <a:prstGeom prst="rect">
            <a:avLst/>
          </a:prstGeom>
          <a:noFill/>
        </p:spPr>
        <p:txBody>
          <a:bodyPr wrap="square" lIns="27432" rIns="27432" tIns="18288" bIns="0">
            <a:spAutoFit/>
          </a:bodyPr>
          <a:lstStyle/>
          <a:p>
            <a:pPr>
              <a:spcAft>
                <a:spcPts val="800"/>
              </a:spcAft>
              <a:defRPr sz="1800" b="1">
                <a:solidFill>
                  <a:srgbClr val="202C50"/>
                </a:solidFill>
                <a:latin typeface="DejaVu Sans"/>
              </a:defRPr>
            </a:pPr>
            <a:r>
              <a:t>Service</a:t>
            </a:r>
          </a:p>
        </p:txBody>
      </p:sp>
      <p:sp>
        <p:nvSpPr>
          <p:cNvPr id="23" name="Rectangle 22"/>
          <p:cNvSpPr/>
          <p:nvPr/>
        </p:nvSpPr>
        <p:spPr>
          <a:xfrm>
            <a:off x="7726679" y="4233672"/>
            <a:ext cx="1661464" cy="1097280"/>
          </a:xfrm>
          <a:prstGeom prst="rect">
            <a:avLst/>
          </a:prstGeom>
          <a:solidFill>
            <a:srgbClr val="E9EDFF"/>
          </a:solidFill>
          <a:ln>
            <a:solidFill>
              <a:srgbClr val="536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45552" y="4343400"/>
            <a:ext cx="1423720" cy="932688"/>
          </a:xfrm>
          <a:prstGeom prst="rect">
            <a:avLst/>
          </a:prstGeom>
          <a:noFill/>
        </p:spPr>
        <p:txBody>
          <a:bodyPr wrap="square" lIns="27432" rIns="27432" tIns="18288" bIns="0">
            <a:spAutoFit/>
          </a:bodyPr>
          <a:lstStyle/>
          <a:p>
            <a:pPr>
              <a:spcAft>
                <a:spcPts val="800"/>
              </a:spcAft>
              <a:defRPr sz="2000" b="1">
                <a:solidFill>
                  <a:srgbClr val="202C50"/>
                </a:solidFill>
                <a:latin typeface="DejaVu Sans"/>
              </a:defRPr>
            </a:pPr>
            <a:r>
              <a:t>Pod 1</a:t>
            </a:r>
          </a:p>
        </p:txBody>
      </p:sp>
      <p:cxnSp>
        <p:nvCxnSpPr>
          <p:cNvPr id="25" name="Connector 24"/>
          <p:cNvCxnSpPr/>
          <p:nvPr/>
        </p:nvCxnSpPr>
        <p:spPr>
          <a:xfrm flipH="1">
            <a:off x="8557412" y="3364992"/>
            <a:ext cx="975207" cy="868680"/>
          </a:xfrm>
          <a:prstGeom prst="line">
            <a:avLst/>
          </a:prstGeom>
          <a:ln w="25400">
            <a:solidFill>
              <a:srgbClr val="5364D8"/>
            </a:solidFill>
            <a:tailEnd type="triangle"/>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9604857" y="4233672"/>
            <a:ext cx="1661464" cy="1097280"/>
          </a:xfrm>
          <a:prstGeom prst="rect">
            <a:avLst/>
          </a:prstGeom>
          <a:solidFill>
            <a:srgbClr val="E9EDFF"/>
          </a:solidFill>
          <a:ln>
            <a:solidFill>
              <a:srgbClr val="536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23729" y="4343400"/>
            <a:ext cx="1423720" cy="932688"/>
          </a:xfrm>
          <a:prstGeom prst="rect">
            <a:avLst/>
          </a:prstGeom>
          <a:noFill/>
        </p:spPr>
        <p:txBody>
          <a:bodyPr wrap="square" lIns="27432" rIns="27432" tIns="18288" bIns="0">
            <a:spAutoFit/>
          </a:bodyPr>
          <a:lstStyle/>
          <a:p>
            <a:pPr>
              <a:spcAft>
                <a:spcPts val="800"/>
              </a:spcAft>
              <a:defRPr sz="2000" b="1">
                <a:solidFill>
                  <a:srgbClr val="202C50"/>
                </a:solidFill>
                <a:latin typeface="DejaVu Sans"/>
              </a:defRPr>
            </a:pPr>
            <a:r>
              <a:t>Pod 2</a:t>
            </a:r>
          </a:p>
        </p:txBody>
      </p:sp>
      <p:cxnSp>
        <p:nvCxnSpPr>
          <p:cNvPr id="28" name="Connector 27"/>
          <p:cNvCxnSpPr/>
          <p:nvPr/>
        </p:nvCxnSpPr>
        <p:spPr>
          <a:xfrm>
            <a:off x="9532619" y="3364992"/>
            <a:ext cx="902971" cy="868680"/>
          </a:xfrm>
          <a:prstGeom prst="line">
            <a:avLst/>
          </a:prstGeom>
          <a:ln w="25400">
            <a:solidFill>
              <a:srgbClr val="5364D8"/>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371600" y="6108192"/>
            <a:ext cx="10058400" cy="329184"/>
          </a:xfrm>
          <a:prstGeom prst="rect">
            <a:avLst/>
          </a:prstGeom>
          <a:noFill/>
        </p:spPr>
        <p:txBody>
          <a:bodyPr wrap="square" lIns="27432" rIns="27432" tIns="18288" bIns="0">
            <a:spAutoFit/>
          </a:bodyPr>
          <a:lstStyle/>
          <a:p>
            <a:pPr>
              <a:spcAft>
                <a:spcPts val="800"/>
              </a:spcAft>
              <a:defRPr sz="1200" b="0">
                <a:solidFill>
                  <a:srgbClr val="5364D8"/>
                </a:solidFill>
                <a:latin typeface="DejaVu Sans"/>
              </a:defRPr>
            </a:pPr>
            <a:r>
              <a:t>MISOL / ClusterIP odatda ichki xizmatdir; u avtomatik internetga ochilmaydi.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7FC"/>
        </a:solidFill>
        <a:effectLst/>
      </p:bgPr>
    </p:bg>
    <p:spTree>
      <p:nvGrpSpPr>
        <p:cNvPr id="1" name=""/>
        <p:cNvGrpSpPr/>
        <p:nvPr/>
      </p:nvGrpSpPr>
      <p:grpSpPr/>
      <p:sp>
        <p:nvSpPr>
          <p:cNvPr id="2" name="Rectangle 1"/>
          <p:cNvSpPr/>
          <p:nvPr/>
        </p:nvSpPr>
        <p:spPr>
          <a:xfrm>
            <a:off x="0" y="0"/>
            <a:ext cx="1005840" cy="6858000"/>
          </a:xfrm>
          <a:prstGeom prst="rect">
            <a:avLst/>
          </a:prstGeom>
          <a:solidFill>
            <a:srgbClr val="2634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457200"/>
            <a:ext cx="594360" cy="457200"/>
          </a:xfrm>
          <a:prstGeom prst="rect">
            <a:avLst/>
          </a:prstGeom>
          <a:noFill/>
        </p:spPr>
        <p:txBody>
          <a:bodyPr wrap="square" lIns="27432" rIns="27432" tIns="18288" bIns="0">
            <a:spAutoFit/>
          </a:bodyPr>
          <a:lstStyle/>
          <a:p>
            <a:pPr>
              <a:spcAft>
                <a:spcPts val="800"/>
              </a:spcAft>
              <a:defRPr sz="1600" b="1">
                <a:solidFill>
                  <a:srgbClr val="FFFFFF"/>
                </a:solidFill>
                <a:latin typeface="DejaVu Sans"/>
              </a:defRPr>
            </a:pPr>
            <a:r>
              <a:t>K8S</a:t>
            </a:r>
          </a:p>
        </p:txBody>
      </p:sp>
      <p:sp>
        <p:nvSpPr>
          <p:cNvPr id="4" name="Rounded Rectangle 3"/>
          <p:cNvSpPr/>
          <p:nvPr/>
        </p:nvSpPr>
        <p:spPr>
          <a:xfrm>
            <a:off x="310896" y="1737360"/>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10896" y="2350008"/>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10896" y="2962656"/>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10896" y="3575304"/>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10896" y="4187952"/>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10896" y="4800600"/>
            <a:ext cx="365760" cy="256032"/>
          </a:xfrm>
          <a:prstGeom prst="roundRect">
            <a:avLst>
              <a:gd name="adj" fmla="val 8000"/>
            </a:avLst>
          </a:prstGeom>
          <a:solidFill>
            <a:srgbClr val="536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05840" y="0"/>
            <a:ext cx="11201400" cy="4023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53312" y="73152"/>
            <a:ext cx="9144000" cy="228600"/>
          </a:xfrm>
          <a:prstGeom prst="rect">
            <a:avLst/>
          </a:prstGeom>
          <a:noFill/>
        </p:spPr>
        <p:txBody>
          <a:bodyPr wrap="square" lIns="27432" rIns="27432" tIns="18288" bIns="0">
            <a:spAutoFit/>
          </a:bodyPr>
          <a:lstStyle/>
          <a:p>
            <a:pPr>
              <a:spcAft>
                <a:spcPts val="800"/>
              </a:spcAft>
              <a:defRPr sz="1000" b="0">
                <a:solidFill>
                  <a:srgbClr val="202C50"/>
                </a:solidFill>
                <a:latin typeface="DejaVu Sans"/>
              </a:defRPr>
            </a:pPr>
            <a:r>
              <a:t>CLUSTER   /   universitet-portal   /   nazorat paneli</a:t>
            </a:r>
          </a:p>
        </p:txBody>
      </p:sp>
      <p:sp>
        <p:nvSpPr>
          <p:cNvPr id="12" name="Rounded Rectangle 11"/>
          <p:cNvSpPr/>
          <p:nvPr/>
        </p:nvSpPr>
        <p:spPr>
          <a:xfrm>
            <a:off x="9966960" y="658368"/>
            <a:ext cx="1463040" cy="347472"/>
          </a:xfrm>
          <a:prstGeom prst="roundRect">
            <a:avLst>
              <a:gd name="adj" fmla="val 8000"/>
            </a:avLst>
          </a:prstGeom>
          <a:solidFill>
            <a:srgbClr val="18A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40112" y="704088"/>
            <a:ext cx="1316736" cy="274320"/>
          </a:xfrm>
          <a:prstGeom prst="rect">
            <a:avLst/>
          </a:prstGeom>
          <a:noFill/>
        </p:spPr>
        <p:txBody>
          <a:bodyPr wrap="square" lIns="27432" rIns="27432" tIns="18288" bIns="0">
            <a:spAutoFit/>
          </a:bodyPr>
          <a:lstStyle/>
          <a:p>
            <a:pPr>
              <a:spcAft>
                <a:spcPts val="800"/>
              </a:spcAft>
              <a:defRPr sz="1200" b="1">
                <a:solidFill>
                  <a:srgbClr val="FFFFFF"/>
                </a:solidFill>
                <a:latin typeface="DejaVu Sans"/>
              </a:defRPr>
            </a:pPr>
            <a:r>
              <a:t>●  RUNNING</a:t>
            </a:r>
          </a:p>
        </p:txBody>
      </p:sp>
      <p:sp>
        <p:nvSpPr>
          <p:cNvPr id="14" name="TextBox 13"/>
          <p:cNvSpPr txBox="1"/>
          <p:nvPr/>
        </p:nvSpPr>
        <p:spPr>
          <a:xfrm>
            <a:off x="1371600" y="713232"/>
            <a:ext cx="8366760" cy="960120"/>
          </a:xfrm>
          <a:prstGeom prst="rect">
            <a:avLst/>
          </a:prstGeom>
          <a:noFill/>
        </p:spPr>
        <p:txBody>
          <a:bodyPr wrap="square" lIns="27432" rIns="27432" tIns="18288" bIns="0">
            <a:spAutoFit/>
          </a:bodyPr>
          <a:lstStyle/>
          <a:p>
            <a:pPr>
              <a:spcAft>
                <a:spcPts val="800"/>
              </a:spcAft>
              <a:defRPr sz="2800" b="1">
                <a:solidFill>
                  <a:srgbClr val="202C50"/>
                </a:solidFill>
                <a:latin typeface="DejaVu Sans"/>
              </a:defRPr>
            </a:pPr>
            <a:r>
              <a:t>Tiklash, HPA va resurslar</a:t>
            </a:r>
          </a:p>
        </p:txBody>
      </p:sp>
      <p:sp>
        <p:nvSpPr>
          <p:cNvPr id="15" name="TextBox 14"/>
          <p:cNvSpPr txBox="1"/>
          <p:nvPr/>
        </p:nvSpPr>
        <p:spPr>
          <a:xfrm>
            <a:off x="1371600" y="1682496"/>
            <a:ext cx="9966960" cy="457200"/>
          </a:xfrm>
          <a:prstGeom prst="rect">
            <a:avLst/>
          </a:prstGeom>
          <a:noFill/>
        </p:spPr>
        <p:txBody>
          <a:bodyPr wrap="square" lIns="27432" rIns="27432" tIns="18288" bIns="0">
            <a:spAutoFit/>
          </a:bodyPr>
          <a:lstStyle/>
          <a:p>
            <a:pPr>
              <a:spcAft>
                <a:spcPts val="800"/>
              </a:spcAft>
              <a:defRPr sz="1500" b="1">
                <a:solidFill>
                  <a:srgbClr val="5364D8"/>
                </a:solidFill>
                <a:latin typeface="DejaVu Sans"/>
              </a:defRPr>
            </a:pPr>
            <a:r>
              <a:t>Sog‘lomlikni tekshirish va talabga qarab nusxa qo‘shish.</a:t>
            </a:r>
          </a:p>
        </p:txBody>
      </p:sp>
      <p:sp>
        <p:nvSpPr>
          <p:cNvPr id="16" name="TextBox 1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202C50"/>
                </a:solidFill>
                <a:latin typeface="DejaVu Sans"/>
              </a:defRPr>
            </a:pPr>
            <a:r>
              <a:t>BTST206   /   M07   /   2027–2028</a:t>
            </a:r>
          </a:p>
        </p:txBody>
      </p:sp>
      <p:sp>
        <p:nvSpPr>
          <p:cNvPr id="17" name="TextBox 1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202C50"/>
                </a:solidFill>
                <a:latin typeface="DejaVu Sans"/>
              </a:defRPr>
            </a:pPr>
            <a:r>
              <a:t>08 / 13</a:t>
            </a:r>
          </a:p>
        </p:txBody>
      </p:sp>
      <p:sp>
        <p:nvSpPr>
          <p:cNvPr id="18" name="Rounded Rectangle 17"/>
          <p:cNvSpPr/>
          <p:nvPr/>
        </p:nvSpPr>
        <p:spPr>
          <a:xfrm>
            <a:off x="1371600" y="2468880"/>
            <a:ext cx="3108960" cy="3538728"/>
          </a:xfrm>
          <a:prstGeom prst="roundRect">
            <a:avLst>
              <a:gd name="adj" fmla="val 8000"/>
            </a:avLst>
          </a:prstGeom>
          <a:solidFill>
            <a:srgbClr val="FFFFFF"/>
          </a:solidFill>
          <a:ln>
            <a:solidFill>
              <a:srgbClr val="DEE4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554480" y="2651760"/>
            <a:ext cx="2697480" cy="347472"/>
          </a:xfrm>
          <a:prstGeom prst="roundRect">
            <a:avLst>
              <a:gd name="adj" fmla="val 8000"/>
            </a:avLst>
          </a:prstGeom>
          <a:solidFill>
            <a:srgbClr val="E9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2697479"/>
            <a:ext cx="2551176" cy="274320"/>
          </a:xfrm>
          <a:prstGeom prst="rect">
            <a:avLst/>
          </a:prstGeom>
          <a:noFill/>
        </p:spPr>
        <p:txBody>
          <a:bodyPr wrap="square" lIns="27432" rIns="27432" tIns="18288" bIns="0">
            <a:spAutoFit/>
          </a:bodyPr>
          <a:lstStyle/>
          <a:p>
            <a:pPr>
              <a:spcAft>
                <a:spcPts val="800"/>
              </a:spcAft>
              <a:defRPr sz="1200" b="1">
                <a:solidFill>
                  <a:srgbClr val="5364D8"/>
                </a:solidFill>
                <a:latin typeface="DejaVu Sans"/>
              </a:defRPr>
            </a:pPr>
            <a:r>
              <a:t>BOSHQARUV</a:t>
            </a:r>
          </a:p>
        </p:txBody>
      </p:sp>
      <p:sp>
        <p:nvSpPr>
          <p:cNvPr id="21" name="TextBox 20"/>
          <p:cNvSpPr txBox="1"/>
          <p:nvPr/>
        </p:nvSpPr>
        <p:spPr>
          <a:xfrm>
            <a:off x="1554480" y="3291840"/>
            <a:ext cx="2743200" cy="2377440"/>
          </a:xfrm>
          <a:prstGeom prst="rect">
            <a:avLst/>
          </a:prstGeom>
          <a:noFill/>
        </p:spPr>
        <p:txBody>
          <a:bodyPr wrap="square" lIns="27432" rIns="27432" tIns="18288" bIns="0">
            <a:spAutoFit/>
          </a:bodyPr>
          <a:lstStyle/>
          <a:p>
            <a:pPr>
              <a:spcAft>
                <a:spcPts val="800"/>
              </a:spcAft>
              <a:defRPr sz="2000" b="0">
                <a:solidFill>
                  <a:srgbClr val="202C50"/>
                </a:solidFill>
                <a:latin typeface="DejaVu Sans"/>
              </a:defRPr>
            </a:pPr>
            <a:r>
              <a:t>HPA metrikalar asosida Pod nusxalari sonini o‘zgartiradi.</a:t>
            </a:r>
          </a:p>
        </p:txBody>
      </p:sp>
      <p:sp>
        <p:nvSpPr>
          <p:cNvPr id="22" name="Rounded Rectangle 21"/>
          <p:cNvSpPr/>
          <p:nvPr/>
        </p:nvSpPr>
        <p:spPr>
          <a:xfrm>
            <a:off x="4773168" y="2468880"/>
            <a:ext cx="3108960" cy="3538728"/>
          </a:xfrm>
          <a:prstGeom prst="roundRect">
            <a:avLst>
              <a:gd name="adj" fmla="val 8000"/>
            </a:avLst>
          </a:prstGeom>
          <a:solidFill>
            <a:srgbClr val="FFFFFF"/>
          </a:solidFill>
          <a:ln>
            <a:solidFill>
              <a:srgbClr val="DEE4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956048" y="2651760"/>
            <a:ext cx="2697480" cy="347472"/>
          </a:xfrm>
          <a:prstGeom prst="roundRect">
            <a:avLst>
              <a:gd name="adj" fmla="val 8000"/>
            </a:avLst>
          </a:prstGeom>
          <a:solidFill>
            <a:srgbClr val="E9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0" y="2697479"/>
            <a:ext cx="2551176" cy="274320"/>
          </a:xfrm>
          <a:prstGeom prst="rect">
            <a:avLst/>
          </a:prstGeom>
          <a:noFill/>
        </p:spPr>
        <p:txBody>
          <a:bodyPr wrap="square" lIns="27432" rIns="27432" tIns="18288" bIns="0">
            <a:spAutoFit/>
          </a:bodyPr>
          <a:lstStyle/>
          <a:p>
            <a:pPr>
              <a:spcAft>
                <a:spcPts val="800"/>
              </a:spcAft>
              <a:defRPr sz="1200" b="1">
                <a:solidFill>
                  <a:srgbClr val="5364D8"/>
                </a:solidFill>
                <a:latin typeface="DejaVu Sans"/>
              </a:defRPr>
            </a:pPr>
            <a:r>
              <a:t>JARAYON</a:t>
            </a:r>
          </a:p>
        </p:txBody>
      </p:sp>
      <p:sp>
        <p:nvSpPr>
          <p:cNvPr id="25" name="TextBox 24"/>
          <p:cNvSpPr txBox="1"/>
          <p:nvPr/>
        </p:nvSpPr>
        <p:spPr>
          <a:xfrm>
            <a:off x="4956048" y="3291840"/>
            <a:ext cx="2743200" cy="2377440"/>
          </a:xfrm>
          <a:prstGeom prst="rect">
            <a:avLst/>
          </a:prstGeom>
          <a:noFill/>
        </p:spPr>
        <p:txBody>
          <a:bodyPr wrap="square" lIns="27432" rIns="27432" tIns="18288" bIns="0">
            <a:spAutoFit/>
          </a:bodyPr>
          <a:lstStyle/>
          <a:p>
            <a:pPr>
              <a:spcAft>
                <a:spcPts val="800"/>
              </a:spcAft>
              <a:defRPr sz="2000" b="0">
                <a:solidFill>
                  <a:srgbClr val="202C50"/>
                </a:solidFill>
                <a:latin typeface="DejaVu Sans"/>
              </a:defRPr>
            </a:pPr>
            <a:r>
              <a:t>CPU foizli nishoni requests ga bog‘liq. Metrika manbai va tugunlarda yetarli quvvat zarur.</a:t>
            </a:r>
          </a:p>
        </p:txBody>
      </p:sp>
      <p:sp>
        <p:nvSpPr>
          <p:cNvPr id="26" name="Rounded Rectangle 25"/>
          <p:cNvSpPr/>
          <p:nvPr/>
        </p:nvSpPr>
        <p:spPr>
          <a:xfrm>
            <a:off x="8174736" y="2468880"/>
            <a:ext cx="3108960" cy="3538728"/>
          </a:xfrm>
          <a:prstGeom prst="roundRect">
            <a:avLst>
              <a:gd name="adj" fmla="val 8000"/>
            </a:avLst>
          </a:prstGeom>
          <a:solidFill>
            <a:srgbClr val="FFFFFF"/>
          </a:solidFill>
          <a:ln>
            <a:solidFill>
              <a:srgbClr val="DEE4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357616" y="2651760"/>
            <a:ext cx="2697480" cy="347472"/>
          </a:xfrm>
          <a:prstGeom prst="roundRect">
            <a:avLst>
              <a:gd name="adj" fmla="val 8000"/>
            </a:avLst>
          </a:prstGeom>
          <a:solidFill>
            <a:srgbClr val="E9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30768" y="2697479"/>
            <a:ext cx="2551176" cy="274320"/>
          </a:xfrm>
          <a:prstGeom prst="rect">
            <a:avLst/>
          </a:prstGeom>
          <a:noFill/>
        </p:spPr>
        <p:txBody>
          <a:bodyPr wrap="square" lIns="27432" rIns="27432" tIns="18288" bIns="0">
            <a:spAutoFit/>
          </a:bodyPr>
          <a:lstStyle/>
          <a:p>
            <a:pPr>
              <a:spcAft>
                <a:spcPts val="800"/>
              </a:spcAft>
              <a:defRPr sz="1200" b="1">
                <a:solidFill>
                  <a:srgbClr val="5364D8"/>
                </a:solidFill>
                <a:latin typeface="DejaVu Sans"/>
              </a:defRPr>
            </a:pPr>
            <a:r>
              <a:t>ESDA TUTING</a:t>
            </a:r>
          </a:p>
        </p:txBody>
      </p:sp>
      <p:sp>
        <p:nvSpPr>
          <p:cNvPr id="29" name="TextBox 28"/>
          <p:cNvSpPr txBox="1"/>
          <p:nvPr/>
        </p:nvSpPr>
        <p:spPr>
          <a:xfrm>
            <a:off x="8357616" y="3291840"/>
            <a:ext cx="2743200" cy="2377440"/>
          </a:xfrm>
          <a:prstGeom prst="rect">
            <a:avLst/>
          </a:prstGeom>
          <a:noFill/>
        </p:spPr>
        <p:txBody>
          <a:bodyPr wrap="square" lIns="27432" rIns="27432" tIns="18288" bIns="0">
            <a:spAutoFit/>
          </a:bodyPr>
          <a:lstStyle/>
          <a:p>
            <a:pPr>
              <a:spcAft>
                <a:spcPts val="800"/>
              </a:spcAft>
              <a:defRPr sz="2000" b="0">
                <a:solidFill>
                  <a:srgbClr val="202C50"/>
                </a:solidFill>
                <a:latin typeface="DejaVu Sans"/>
              </a:defRPr>
            </a:pPr>
            <a:r>
              <a:t>Qabul davrida 3 → 6 Pod. Bu baza limitini o‘z-o‘zidan bartaraf etmaydi.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7FC"/>
        </a:solidFill>
        <a:effectLst/>
      </p:bgPr>
    </p:bg>
    <p:spTree>
      <p:nvGrpSpPr>
        <p:cNvPr id="1" name=""/>
        <p:cNvGrpSpPr/>
        <p:nvPr/>
      </p:nvGrpSpPr>
      <p:grpSpPr/>
      <p:sp>
        <p:nvSpPr>
          <p:cNvPr id="2" name="Rectangle 1"/>
          <p:cNvSpPr/>
          <p:nvPr/>
        </p:nvSpPr>
        <p:spPr>
          <a:xfrm>
            <a:off x="0" y="0"/>
            <a:ext cx="1005840" cy="6858000"/>
          </a:xfrm>
          <a:prstGeom prst="rect">
            <a:avLst/>
          </a:prstGeom>
          <a:solidFill>
            <a:srgbClr val="2634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457200"/>
            <a:ext cx="594360" cy="457200"/>
          </a:xfrm>
          <a:prstGeom prst="rect">
            <a:avLst/>
          </a:prstGeom>
          <a:noFill/>
        </p:spPr>
        <p:txBody>
          <a:bodyPr wrap="square" lIns="27432" rIns="27432" tIns="18288" bIns="0">
            <a:spAutoFit/>
          </a:bodyPr>
          <a:lstStyle/>
          <a:p>
            <a:pPr>
              <a:spcAft>
                <a:spcPts val="800"/>
              </a:spcAft>
              <a:defRPr sz="1600" b="1">
                <a:solidFill>
                  <a:srgbClr val="FFFFFF"/>
                </a:solidFill>
                <a:latin typeface="DejaVu Sans"/>
              </a:defRPr>
            </a:pPr>
            <a:r>
              <a:t>K8S</a:t>
            </a:r>
          </a:p>
        </p:txBody>
      </p:sp>
      <p:sp>
        <p:nvSpPr>
          <p:cNvPr id="4" name="Rounded Rectangle 3"/>
          <p:cNvSpPr/>
          <p:nvPr/>
        </p:nvSpPr>
        <p:spPr>
          <a:xfrm>
            <a:off x="310896" y="1737360"/>
            <a:ext cx="365760" cy="256032"/>
          </a:xfrm>
          <a:prstGeom prst="roundRect">
            <a:avLst>
              <a:gd name="adj" fmla="val 8000"/>
            </a:avLst>
          </a:prstGeom>
          <a:solidFill>
            <a:srgbClr val="536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10896" y="2350008"/>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10896" y="2962656"/>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10896" y="3575304"/>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10896" y="4187952"/>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10896" y="4800600"/>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05840" y="0"/>
            <a:ext cx="11201400" cy="4023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53312" y="73152"/>
            <a:ext cx="9144000" cy="228600"/>
          </a:xfrm>
          <a:prstGeom prst="rect">
            <a:avLst/>
          </a:prstGeom>
          <a:noFill/>
        </p:spPr>
        <p:txBody>
          <a:bodyPr wrap="square" lIns="27432" rIns="27432" tIns="18288" bIns="0">
            <a:spAutoFit/>
          </a:bodyPr>
          <a:lstStyle/>
          <a:p>
            <a:pPr>
              <a:spcAft>
                <a:spcPts val="800"/>
              </a:spcAft>
              <a:defRPr sz="1000" b="0">
                <a:solidFill>
                  <a:srgbClr val="202C50"/>
                </a:solidFill>
                <a:latin typeface="DejaVu Sans"/>
              </a:defRPr>
            </a:pPr>
            <a:r>
              <a:t>CLUSTER   /   universitet-portal   /   nazorat paneli</a:t>
            </a:r>
          </a:p>
        </p:txBody>
      </p:sp>
      <p:sp>
        <p:nvSpPr>
          <p:cNvPr id="12" name="Rounded Rectangle 11"/>
          <p:cNvSpPr/>
          <p:nvPr/>
        </p:nvSpPr>
        <p:spPr>
          <a:xfrm>
            <a:off x="9966960" y="658368"/>
            <a:ext cx="1463040" cy="347472"/>
          </a:xfrm>
          <a:prstGeom prst="roundRect">
            <a:avLst>
              <a:gd name="adj" fmla="val 8000"/>
            </a:avLst>
          </a:prstGeom>
          <a:solidFill>
            <a:srgbClr val="18A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40112" y="704088"/>
            <a:ext cx="1316736" cy="274320"/>
          </a:xfrm>
          <a:prstGeom prst="rect">
            <a:avLst/>
          </a:prstGeom>
          <a:noFill/>
        </p:spPr>
        <p:txBody>
          <a:bodyPr wrap="square" lIns="27432" rIns="27432" tIns="18288" bIns="0">
            <a:spAutoFit/>
          </a:bodyPr>
          <a:lstStyle/>
          <a:p>
            <a:pPr>
              <a:spcAft>
                <a:spcPts val="800"/>
              </a:spcAft>
              <a:defRPr sz="1200" b="1">
                <a:solidFill>
                  <a:srgbClr val="FFFFFF"/>
                </a:solidFill>
                <a:latin typeface="DejaVu Sans"/>
              </a:defRPr>
            </a:pPr>
            <a:r>
              <a:t>●  RUNNING</a:t>
            </a:r>
          </a:p>
        </p:txBody>
      </p:sp>
      <p:sp>
        <p:nvSpPr>
          <p:cNvPr id="14" name="TextBox 13"/>
          <p:cNvSpPr txBox="1"/>
          <p:nvPr/>
        </p:nvSpPr>
        <p:spPr>
          <a:xfrm>
            <a:off x="1371600" y="713232"/>
            <a:ext cx="8366760" cy="960120"/>
          </a:xfrm>
          <a:prstGeom prst="rect">
            <a:avLst/>
          </a:prstGeom>
          <a:noFill/>
        </p:spPr>
        <p:txBody>
          <a:bodyPr wrap="square" lIns="27432" rIns="27432" tIns="18288" bIns="0">
            <a:spAutoFit/>
          </a:bodyPr>
          <a:lstStyle/>
          <a:p>
            <a:pPr>
              <a:spcAft>
                <a:spcPts val="800"/>
              </a:spcAft>
              <a:defRPr sz="2800" b="1">
                <a:solidFill>
                  <a:srgbClr val="202C50"/>
                </a:solidFill>
                <a:latin typeface="DejaVu Sans"/>
              </a:defRPr>
            </a:pPr>
            <a:r>
              <a:t>Texnik diagramma</a:t>
            </a:r>
          </a:p>
        </p:txBody>
      </p:sp>
      <p:sp>
        <p:nvSpPr>
          <p:cNvPr id="15" name="TextBox 14"/>
          <p:cNvSpPr txBox="1"/>
          <p:nvPr/>
        </p:nvSpPr>
        <p:spPr>
          <a:xfrm>
            <a:off x="1371600" y="1682496"/>
            <a:ext cx="9966960" cy="457200"/>
          </a:xfrm>
          <a:prstGeom prst="rect">
            <a:avLst/>
          </a:prstGeom>
          <a:noFill/>
        </p:spPr>
        <p:txBody>
          <a:bodyPr wrap="square" lIns="27432" rIns="27432" tIns="18288" bIns="0">
            <a:spAutoFit/>
          </a:bodyPr>
          <a:lstStyle/>
          <a:p>
            <a:pPr>
              <a:spcAft>
                <a:spcPts val="800"/>
              </a:spcAft>
              <a:defRPr sz="1500" b="1">
                <a:solidFill>
                  <a:srgbClr val="5364D8"/>
                </a:solidFill>
                <a:latin typeface="DejaVu Sans"/>
              </a:defRPr>
            </a:pPr>
            <a:r>
              <a:t>Komponentlar va ular orasidagi asosiy bog‘lanish</a:t>
            </a:r>
          </a:p>
        </p:txBody>
      </p:sp>
      <p:sp>
        <p:nvSpPr>
          <p:cNvPr id="16" name="TextBox 1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202C50"/>
                </a:solidFill>
                <a:latin typeface="DejaVu Sans"/>
              </a:defRPr>
            </a:pPr>
            <a:r>
              <a:t>BTST206   /   M07   /   2027–2028</a:t>
            </a:r>
          </a:p>
        </p:txBody>
      </p:sp>
      <p:sp>
        <p:nvSpPr>
          <p:cNvPr id="17" name="TextBox 1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202C50"/>
                </a:solidFill>
                <a:latin typeface="DejaVu Sans"/>
              </a:defRPr>
            </a:pPr>
            <a:r>
              <a:t>09 / 13</a:t>
            </a:r>
          </a:p>
        </p:txBody>
      </p:sp>
      <p:sp>
        <p:nvSpPr>
          <p:cNvPr id="18" name="Rectangle 17"/>
          <p:cNvSpPr/>
          <p:nvPr/>
        </p:nvSpPr>
        <p:spPr>
          <a:xfrm>
            <a:off x="1463040" y="2468880"/>
            <a:ext cx="2743200" cy="822960"/>
          </a:xfrm>
          <a:prstGeom prst="rect">
            <a:avLst/>
          </a:prstGeom>
          <a:solidFill>
            <a:srgbClr val="E9EDFF"/>
          </a:solidFill>
          <a:ln>
            <a:solidFill>
              <a:srgbClr val="536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81912" y="2578608"/>
            <a:ext cx="2505456" cy="658368"/>
          </a:xfrm>
          <a:prstGeom prst="rect">
            <a:avLst/>
          </a:prstGeom>
          <a:noFill/>
        </p:spPr>
        <p:txBody>
          <a:bodyPr wrap="square" lIns="27432" rIns="27432" tIns="18288" bIns="0">
            <a:spAutoFit/>
          </a:bodyPr>
          <a:lstStyle/>
          <a:p>
            <a:pPr>
              <a:spcAft>
                <a:spcPts val="800"/>
              </a:spcAft>
              <a:defRPr sz="2300" b="1">
                <a:solidFill>
                  <a:srgbClr val="202C50"/>
                </a:solidFill>
                <a:latin typeface="DejaVu Sans"/>
              </a:defRPr>
            </a:pPr>
            <a:r>
              <a:t>Deployment</a:t>
            </a:r>
          </a:p>
        </p:txBody>
      </p:sp>
      <p:sp>
        <p:nvSpPr>
          <p:cNvPr id="20" name="Rectangle 19"/>
          <p:cNvSpPr/>
          <p:nvPr/>
        </p:nvSpPr>
        <p:spPr>
          <a:xfrm>
            <a:off x="4800600" y="2468880"/>
            <a:ext cx="2743200" cy="822960"/>
          </a:xfrm>
          <a:prstGeom prst="rect">
            <a:avLst/>
          </a:prstGeom>
          <a:solidFill>
            <a:srgbClr val="E9EDFF"/>
          </a:solidFill>
          <a:ln>
            <a:solidFill>
              <a:srgbClr val="536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919472" y="2578608"/>
            <a:ext cx="2505456" cy="658368"/>
          </a:xfrm>
          <a:prstGeom prst="rect">
            <a:avLst/>
          </a:prstGeom>
          <a:noFill/>
        </p:spPr>
        <p:txBody>
          <a:bodyPr wrap="square" lIns="27432" rIns="27432" tIns="18288" bIns="0">
            <a:spAutoFit/>
          </a:bodyPr>
          <a:lstStyle/>
          <a:p>
            <a:pPr>
              <a:spcAft>
                <a:spcPts val="800"/>
              </a:spcAft>
              <a:defRPr sz="2300" b="1">
                <a:solidFill>
                  <a:srgbClr val="202C50"/>
                </a:solidFill>
                <a:latin typeface="DejaVu Sans"/>
              </a:defRPr>
            </a:pPr>
            <a:r>
              <a:t>ReplicaSet</a:t>
            </a:r>
          </a:p>
        </p:txBody>
      </p:sp>
      <p:cxnSp>
        <p:nvCxnSpPr>
          <p:cNvPr id="22" name="Connector 21"/>
          <p:cNvCxnSpPr/>
          <p:nvPr/>
        </p:nvCxnSpPr>
        <p:spPr>
          <a:xfrm>
            <a:off x="4206240" y="2880360"/>
            <a:ext cx="594360" cy="0"/>
          </a:xfrm>
          <a:prstGeom prst="line">
            <a:avLst/>
          </a:prstGeom>
          <a:ln w="25400">
            <a:solidFill>
              <a:srgbClr val="5364D8"/>
            </a:solidFill>
            <a:tailEnd type="triangle"/>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1463040" y="4251960"/>
            <a:ext cx="2788920" cy="841248"/>
          </a:xfrm>
          <a:prstGeom prst="rect">
            <a:avLst/>
          </a:prstGeom>
          <a:solidFill>
            <a:srgbClr val="E9EDFF"/>
          </a:solidFill>
          <a:ln>
            <a:solidFill>
              <a:srgbClr val="536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581912" y="4361688"/>
            <a:ext cx="2551176" cy="676656"/>
          </a:xfrm>
          <a:prstGeom prst="rect">
            <a:avLst/>
          </a:prstGeom>
          <a:noFill/>
        </p:spPr>
        <p:txBody>
          <a:bodyPr wrap="square" lIns="27432" rIns="27432" tIns="18288" bIns="0">
            <a:spAutoFit/>
          </a:bodyPr>
          <a:lstStyle/>
          <a:p>
            <a:pPr>
              <a:spcAft>
                <a:spcPts val="800"/>
              </a:spcAft>
              <a:defRPr sz="2200" b="1">
                <a:solidFill>
                  <a:srgbClr val="202C50"/>
                </a:solidFill>
                <a:latin typeface="DejaVu Sans"/>
              </a:defRPr>
            </a:pPr>
            <a:r>
              <a:t>Pod A</a:t>
            </a:r>
          </a:p>
        </p:txBody>
      </p:sp>
      <p:cxnSp>
        <p:nvCxnSpPr>
          <p:cNvPr id="25" name="Connector 24"/>
          <p:cNvCxnSpPr/>
          <p:nvPr/>
        </p:nvCxnSpPr>
        <p:spPr>
          <a:xfrm flipH="1">
            <a:off x="2834640" y="3291840"/>
            <a:ext cx="3337560" cy="960120"/>
          </a:xfrm>
          <a:prstGeom prst="line">
            <a:avLst/>
          </a:prstGeom>
          <a:ln w="25400">
            <a:solidFill>
              <a:srgbClr val="5364D8"/>
            </a:solidFill>
            <a:tailEnd type="triangle"/>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4846320" y="4251960"/>
            <a:ext cx="2788920" cy="841248"/>
          </a:xfrm>
          <a:prstGeom prst="rect">
            <a:avLst/>
          </a:prstGeom>
          <a:solidFill>
            <a:srgbClr val="E9EDFF"/>
          </a:solidFill>
          <a:ln>
            <a:solidFill>
              <a:srgbClr val="536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65192" y="4361688"/>
            <a:ext cx="2551176" cy="676656"/>
          </a:xfrm>
          <a:prstGeom prst="rect">
            <a:avLst/>
          </a:prstGeom>
          <a:noFill/>
        </p:spPr>
        <p:txBody>
          <a:bodyPr wrap="square" lIns="27432" rIns="27432" tIns="18288" bIns="0">
            <a:spAutoFit/>
          </a:bodyPr>
          <a:lstStyle/>
          <a:p>
            <a:pPr>
              <a:spcAft>
                <a:spcPts val="800"/>
              </a:spcAft>
              <a:defRPr sz="2200" b="1">
                <a:solidFill>
                  <a:srgbClr val="202C50"/>
                </a:solidFill>
                <a:latin typeface="DejaVu Sans"/>
              </a:defRPr>
            </a:pPr>
            <a:r>
              <a:t>Pod B</a:t>
            </a:r>
          </a:p>
        </p:txBody>
      </p:sp>
      <p:cxnSp>
        <p:nvCxnSpPr>
          <p:cNvPr id="28" name="Connector 27"/>
          <p:cNvCxnSpPr/>
          <p:nvPr/>
        </p:nvCxnSpPr>
        <p:spPr>
          <a:xfrm>
            <a:off x="6172200" y="3291840"/>
            <a:ext cx="45720" cy="960120"/>
          </a:xfrm>
          <a:prstGeom prst="line">
            <a:avLst/>
          </a:prstGeom>
          <a:ln w="25400">
            <a:solidFill>
              <a:srgbClr val="5364D8"/>
            </a:solidFill>
            <a:tailEnd type="triangle"/>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8229600" y="4251960"/>
            <a:ext cx="2788920" cy="841248"/>
          </a:xfrm>
          <a:prstGeom prst="rect">
            <a:avLst/>
          </a:prstGeom>
          <a:solidFill>
            <a:srgbClr val="E9EDFF"/>
          </a:solidFill>
          <a:ln>
            <a:solidFill>
              <a:srgbClr val="536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48472" y="4361688"/>
            <a:ext cx="2551176" cy="676656"/>
          </a:xfrm>
          <a:prstGeom prst="rect">
            <a:avLst/>
          </a:prstGeom>
          <a:noFill/>
        </p:spPr>
        <p:txBody>
          <a:bodyPr wrap="square" lIns="27432" rIns="27432" tIns="18288" bIns="0">
            <a:spAutoFit/>
          </a:bodyPr>
          <a:lstStyle/>
          <a:p>
            <a:pPr>
              <a:spcAft>
                <a:spcPts val="800"/>
              </a:spcAft>
              <a:defRPr sz="2200" b="1">
                <a:solidFill>
                  <a:srgbClr val="202C50"/>
                </a:solidFill>
                <a:latin typeface="DejaVu Sans"/>
              </a:defRPr>
            </a:pPr>
            <a:r>
              <a:t>Pod C</a:t>
            </a:r>
          </a:p>
        </p:txBody>
      </p:sp>
      <p:cxnSp>
        <p:nvCxnSpPr>
          <p:cNvPr id="31" name="Connector 30"/>
          <p:cNvCxnSpPr/>
          <p:nvPr/>
        </p:nvCxnSpPr>
        <p:spPr>
          <a:xfrm>
            <a:off x="6172200" y="3291840"/>
            <a:ext cx="3429000" cy="960120"/>
          </a:xfrm>
          <a:prstGeom prst="line">
            <a:avLst/>
          </a:prstGeom>
          <a:ln w="25400">
            <a:solidFill>
              <a:srgbClr val="5364D8"/>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463040" y="5541264"/>
            <a:ext cx="9966960" cy="457200"/>
          </a:xfrm>
          <a:prstGeom prst="rect">
            <a:avLst/>
          </a:prstGeom>
          <a:noFill/>
        </p:spPr>
        <p:txBody>
          <a:bodyPr wrap="square" lIns="27432" rIns="27432" tIns="18288" bIns="0">
            <a:spAutoFit/>
          </a:bodyPr>
          <a:lstStyle/>
          <a:p>
            <a:pPr>
              <a:spcAft>
                <a:spcPts val="800"/>
              </a:spcAft>
              <a:defRPr sz="2100" b="0">
                <a:solidFill>
                  <a:srgbClr val="202C50"/>
                </a:solidFill>
                <a:latin typeface="DejaVu Sans"/>
              </a:defRPr>
            </a:pPr>
            <a:r>
              <a:t>Service → tayyor Pod lar. Kontroller → kerakli nusxalar soni.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7FC"/>
        </a:solidFill>
        <a:effectLst/>
      </p:bgPr>
    </p:bg>
    <p:spTree>
      <p:nvGrpSpPr>
        <p:cNvPr id="1" name=""/>
        <p:cNvGrpSpPr/>
        <p:nvPr/>
      </p:nvGrpSpPr>
      <p:grpSpPr/>
      <p:sp>
        <p:nvSpPr>
          <p:cNvPr id="2" name="Rectangle 1"/>
          <p:cNvSpPr/>
          <p:nvPr/>
        </p:nvSpPr>
        <p:spPr>
          <a:xfrm>
            <a:off x="0" y="0"/>
            <a:ext cx="1005840" cy="6858000"/>
          </a:xfrm>
          <a:prstGeom prst="rect">
            <a:avLst/>
          </a:prstGeom>
          <a:solidFill>
            <a:srgbClr val="2634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457200"/>
            <a:ext cx="594360" cy="457200"/>
          </a:xfrm>
          <a:prstGeom prst="rect">
            <a:avLst/>
          </a:prstGeom>
          <a:noFill/>
        </p:spPr>
        <p:txBody>
          <a:bodyPr wrap="square" lIns="27432" rIns="27432" tIns="18288" bIns="0">
            <a:spAutoFit/>
          </a:bodyPr>
          <a:lstStyle/>
          <a:p>
            <a:pPr>
              <a:spcAft>
                <a:spcPts val="800"/>
              </a:spcAft>
              <a:defRPr sz="1600" b="1">
                <a:solidFill>
                  <a:srgbClr val="FFFFFF"/>
                </a:solidFill>
                <a:latin typeface="DejaVu Sans"/>
              </a:defRPr>
            </a:pPr>
            <a:r>
              <a:t>K8S</a:t>
            </a:r>
          </a:p>
        </p:txBody>
      </p:sp>
      <p:sp>
        <p:nvSpPr>
          <p:cNvPr id="4" name="Rounded Rectangle 3"/>
          <p:cNvSpPr/>
          <p:nvPr/>
        </p:nvSpPr>
        <p:spPr>
          <a:xfrm>
            <a:off x="310896" y="1737360"/>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10896" y="2350008"/>
            <a:ext cx="365760" cy="256032"/>
          </a:xfrm>
          <a:prstGeom prst="roundRect">
            <a:avLst>
              <a:gd name="adj" fmla="val 8000"/>
            </a:avLst>
          </a:prstGeom>
          <a:solidFill>
            <a:srgbClr val="536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10896" y="2962656"/>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10896" y="3575304"/>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10896" y="4187952"/>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10896" y="4800600"/>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05840" y="0"/>
            <a:ext cx="11201400" cy="4023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53312" y="73152"/>
            <a:ext cx="9144000" cy="228600"/>
          </a:xfrm>
          <a:prstGeom prst="rect">
            <a:avLst/>
          </a:prstGeom>
          <a:noFill/>
        </p:spPr>
        <p:txBody>
          <a:bodyPr wrap="square" lIns="27432" rIns="27432" tIns="18288" bIns="0">
            <a:spAutoFit/>
          </a:bodyPr>
          <a:lstStyle/>
          <a:p>
            <a:pPr>
              <a:spcAft>
                <a:spcPts val="800"/>
              </a:spcAft>
              <a:defRPr sz="1000" b="0">
                <a:solidFill>
                  <a:srgbClr val="202C50"/>
                </a:solidFill>
                <a:latin typeface="DejaVu Sans"/>
              </a:defRPr>
            </a:pPr>
            <a:r>
              <a:t>CLUSTER   /   universitet-portal   /   nazorat paneli</a:t>
            </a:r>
          </a:p>
        </p:txBody>
      </p:sp>
      <p:sp>
        <p:nvSpPr>
          <p:cNvPr id="12" name="Rounded Rectangle 11"/>
          <p:cNvSpPr/>
          <p:nvPr/>
        </p:nvSpPr>
        <p:spPr>
          <a:xfrm>
            <a:off x="9966960" y="658368"/>
            <a:ext cx="1463040" cy="347472"/>
          </a:xfrm>
          <a:prstGeom prst="roundRect">
            <a:avLst>
              <a:gd name="adj" fmla="val 8000"/>
            </a:avLst>
          </a:prstGeom>
          <a:solidFill>
            <a:srgbClr val="18A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40112" y="704088"/>
            <a:ext cx="1316736" cy="274320"/>
          </a:xfrm>
          <a:prstGeom prst="rect">
            <a:avLst/>
          </a:prstGeom>
          <a:noFill/>
        </p:spPr>
        <p:txBody>
          <a:bodyPr wrap="square" lIns="27432" rIns="27432" tIns="18288" bIns="0">
            <a:spAutoFit/>
          </a:bodyPr>
          <a:lstStyle/>
          <a:p>
            <a:pPr>
              <a:spcAft>
                <a:spcPts val="800"/>
              </a:spcAft>
              <a:defRPr sz="1200" b="1">
                <a:solidFill>
                  <a:srgbClr val="FFFFFF"/>
                </a:solidFill>
                <a:latin typeface="DejaVu Sans"/>
              </a:defRPr>
            </a:pPr>
            <a:r>
              <a:t>●  RUNNING</a:t>
            </a:r>
          </a:p>
        </p:txBody>
      </p:sp>
      <p:sp>
        <p:nvSpPr>
          <p:cNvPr id="14" name="TextBox 13"/>
          <p:cNvSpPr txBox="1"/>
          <p:nvPr/>
        </p:nvSpPr>
        <p:spPr>
          <a:xfrm>
            <a:off x="1371600" y="713232"/>
            <a:ext cx="8366760" cy="960120"/>
          </a:xfrm>
          <a:prstGeom prst="rect">
            <a:avLst/>
          </a:prstGeom>
          <a:noFill/>
        </p:spPr>
        <p:txBody>
          <a:bodyPr wrap="square" lIns="27432" rIns="27432" tIns="18288" bIns="0">
            <a:spAutoFit/>
          </a:bodyPr>
          <a:lstStyle/>
          <a:p>
            <a:pPr>
              <a:spcAft>
                <a:spcPts val="800"/>
              </a:spcAft>
              <a:defRPr sz="2800" b="1">
                <a:solidFill>
                  <a:srgbClr val="202C50"/>
                </a:solidFill>
                <a:latin typeface="DejaVu Sans"/>
              </a:defRPr>
            </a:pPr>
            <a:r>
              <a:t>Universitet misolida</a:t>
            </a:r>
          </a:p>
        </p:txBody>
      </p:sp>
      <p:sp>
        <p:nvSpPr>
          <p:cNvPr id="15" name="TextBox 14"/>
          <p:cNvSpPr txBox="1"/>
          <p:nvPr/>
        </p:nvSpPr>
        <p:spPr>
          <a:xfrm>
            <a:off x="1371600" y="1682496"/>
            <a:ext cx="9966960" cy="457200"/>
          </a:xfrm>
          <a:prstGeom prst="rect">
            <a:avLst/>
          </a:prstGeom>
          <a:noFill/>
        </p:spPr>
        <p:txBody>
          <a:bodyPr wrap="square" lIns="27432" rIns="27432" tIns="18288" bIns="0">
            <a:spAutoFit/>
          </a:bodyPr>
          <a:lstStyle/>
          <a:p>
            <a:pPr>
              <a:spcAft>
                <a:spcPts val="800"/>
              </a:spcAft>
              <a:defRPr sz="1500" b="1">
                <a:solidFill>
                  <a:srgbClr val="5364D8"/>
                </a:solidFill>
                <a:latin typeface="DejaVu Sans"/>
              </a:defRPr>
            </a:pPr>
            <a:r>
              <a:t>Tushunchalar amaliy tizimda qanday birlashadi?</a:t>
            </a:r>
          </a:p>
        </p:txBody>
      </p:sp>
      <p:sp>
        <p:nvSpPr>
          <p:cNvPr id="16" name="TextBox 1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202C50"/>
                </a:solidFill>
                <a:latin typeface="DejaVu Sans"/>
              </a:defRPr>
            </a:pPr>
            <a:r>
              <a:t>BTST206   /   M07   /   2027–2028</a:t>
            </a:r>
          </a:p>
        </p:txBody>
      </p:sp>
      <p:sp>
        <p:nvSpPr>
          <p:cNvPr id="17" name="TextBox 1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202C50"/>
                </a:solidFill>
                <a:latin typeface="DejaVu Sans"/>
              </a:defRPr>
            </a:pPr>
            <a:r>
              <a:t>10 / 13</a:t>
            </a:r>
          </a:p>
        </p:txBody>
      </p:sp>
      <p:sp>
        <p:nvSpPr>
          <p:cNvPr id="18" name="Rounded Rectangle 17"/>
          <p:cNvSpPr/>
          <p:nvPr/>
        </p:nvSpPr>
        <p:spPr>
          <a:xfrm>
            <a:off x="1371600" y="2514600"/>
            <a:ext cx="10012680" cy="187451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72768" y="2743200"/>
            <a:ext cx="9601200" cy="1463040"/>
          </a:xfrm>
          <a:prstGeom prst="rect">
            <a:avLst/>
          </a:prstGeom>
          <a:noFill/>
        </p:spPr>
        <p:txBody>
          <a:bodyPr wrap="square" lIns="27432" rIns="27432" tIns="18288" bIns="0">
            <a:spAutoFit/>
          </a:bodyPr>
          <a:lstStyle/>
          <a:p>
            <a:pPr>
              <a:spcAft>
                <a:spcPts val="800"/>
              </a:spcAft>
              <a:defRPr sz="2400" b="0">
                <a:solidFill>
                  <a:srgbClr val="202C50"/>
                </a:solidFill>
                <a:latin typeface="DejaVu Sans"/>
              </a:defRPr>
            </a:pPr>
            <a:r>
              <a:t>Portalning uch nusxasi doim ishlashi kerak. Bittasi to‘xtasa, tizim yangisini ochishi, yangi versiya esa xizmatni keskin uzmasdan chiqarilishi kerak.</a:t>
            </a:r>
          </a:p>
        </p:txBody>
      </p:sp>
      <p:sp>
        <p:nvSpPr>
          <p:cNvPr id="20" name="Rectangle 19"/>
          <p:cNvSpPr/>
          <p:nvPr/>
        </p:nvSpPr>
        <p:spPr>
          <a:xfrm>
            <a:off x="1371600" y="5047488"/>
            <a:ext cx="2249424" cy="777240"/>
          </a:xfrm>
          <a:prstGeom prst="rect">
            <a:avLst/>
          </a:prstGeom>
          <a:solidFill>
            <a:srgbClr val="E9EDFF"/>
          </a:solidFill>
          <a:ln>
            <a:solidFill>
              <a:srgbClr val="536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90472" y="5157216"/>
            <a:ext cx="2011680" cy="612647"/>
          </a:xfrm>
          <a:prstGeom prst="rect">
            <a:avLst/>
          </a:prstGeom>
          <a:noFill/>
        </p:spPr>
        <p:txBody>
          <a:bodyPr wrap="square" lIns="27432" rIns="27432" tIns="18288" bIns="0">
            <a:spAutoFit/>
          </a:bodyPr>
          <a:lstStyle/>
          <a:p>
            <a:pPr>
              <a:spcAft>
                <a:spcPts val="800"/>
              </a:spcAft>
              <a:defRPr sz="1700" b="1">
                <a:solidFill>
                  <a:srgbClr val="202C50"/>
                </a:solidFill>
                <a:latin typeface="DejaVu Sans"/>
              </a:defRPr>
            </a:pPr>
            <a:r>
              <a:t>Deployment</a:t>
            </a:r>
          </a:p>
        </p:txBody>
      </p:sp>
      <p:cxnSp>
        <p:nvCxnSpPr>
          <p:cNvPr id="22" name="Connector 21"/>
          <p:cNvCxnSpPr/>
          <p:nvPr/>
        </p:nvCxnSpPr>
        <p:spPr>
          <a:xfrm>
            <a:off x="3621024" y="5436107"/>
            <a:ext cx="292607" cy="0"/>
          </a:xfrm>
          <a:prstGeom prst="line">
            <a:avLst/>
          </a:prstGeom>
          <a:ln w="24130">
            <a:solidFill>
              <a:srgbClr val="5364D8"/>
            </a:solidFill>
            <a:tailEnd type="triangle"/>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3913631" y="5047488"/>
            <a:ext cx="2249424" cy="777240"/>
          </a:xfrm>
          <a:prstGeom prst="rect">
            <a:avLst/>
          </a:prstGeom>
          <a:solidFill>
            <a:srgbClr val="E9EDFF"/>
          </a:solidFill>
          <a:ln>
            <a:solidFill>
              <a:srgbClr val="536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32503" y="5157216"/>
            <a:ext cx="2011680" cy="612647"/>
          </a:xfrm>
          <a:prstGeom prst="rect">
            <a:avLst/>
          </a:prstGeom>
          <a:noFill/>
        </p:spPr>
        <p:txBody>
          <a:bodyPr wrap="square" lIns="27432" rIns="27432" tIns="18288" bIns="0">
            <a:spAutoFit/>
          </a:bodyPr>
          <a:lstStyle/>
          <a:p>
            <a:pPr>
              <a:spcAft>
                <a:spcPts val="800"/>
              </a:spcAft>
              <a:defRPr sz="1700" b="1">
                <a:solidFill>
                  <a:srgbClr val="202C50"/>
                </a:solidFill>
                <a:latin typeface="DejaVu Sans"/>
              </a:defRPr>
            </a:pPr>
            <a:r>
              <a:t>Pod nusxalari</a:t>
            </a:r>
          </a:p>
        </p:txBody>
      </p:sp>
      <p:cxnSp>
        <p:nvCxnSpPr>
          <p:cNvPr id="25" name="Connector 24"/>
          <p:cNvCxnSpPr/>
          <p:nvPr/>
        </p:nvCxnSpPr>
        <p:spPr>
          <a:xfrm>
            <a:off x="6163056" y="5436107"/>
            <a:ext cx="292608" cy="0"/>
          </a:xfrm>
          <a:prstGeom prst="line">
            <a:avLst/>
          </a:prstGeom>
          <a:ln w="24130">
            <a:solidFill>
              <a:srgbClr val="5364D8"/>
            </a:solidFill>
            <a:tailEnd type="triangle"/>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6455664" y="5047488"/>
            <a:ext cx="2249424" cy="777240"/>
          </a:xfrm>
          <a:prstGeom prst="rect">
            <a:avLst/>
          </a:prstGeom>
          <a:solidFill>
            <a:srgbClr val="E9EDFF"/>
          </a:solidFill>
          <a:ln>
            <a:solidFill>
              <a:srgbClr val="536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74536" y="5157216"/>
            <a:ext cx="2011680" cy="612647"/>
          </a:xfrm>
          <a:prstGeom prst="rect">
            <a:avLst/>
          </a:prstGeom>
          <a:noFill/>
        </p:spPr>
        <p:txBody>
          <a:bodyPr wrap="square" lIns="27432" rIns="27432" tIns="18288" bIns="0">
            <a:spAutoFit/>
          </a:bodyPr>
          <a:lstStyle/>
          <a:p>
            <a:pPr>
              <a:spcAft>
                <a:spcPts val="800"/>
              </a:spcAft>
              <a:defRPr sz="1700" b="1">
                <a:solidFill>
                  <a:srgbClr val="202C50"/>
                </a:solidFill>
                <a:latin typeface="DejaVu Sans"/>
              </a:defRPr>
            </a:pPr>
            <a:r>
              <a:t>Service</a:t>
            </a:r>
          </a:p>
        </p:txBody>
      </p:sp>
      <p:cxnSp>
        <p:nvCxnSpPr>
          <p:cNvPr id="28" name="Connector 27"/>
          <p:cNvCxnSpPr/>
          <p:nvPr/>
        </p:nvCxnSpPr>
        <p:spPr>
          <a:xfrm>
            <a:off x="8705088" y="5436107"/>
            <a:ext cx="292608" cy="0"/>
          </a:xfrm>
          <a:prstGeom prst="line">
            <a:avLst/>
          </a:prstGeom>
          <a:ln w="24130">
            <a:solidFill>
              <a:srgbClr val="5364D8"/>
            </a:solidFill>
            <a:tailEnd type="triangle"/>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8997696" y="5047488"/>
            <a:ext cx="2249424" cy="777240"/>
          </a:xfrm>
          <a:prstGeom prst="rect">
            <a:avLst/>
          </a:prstGeom>
          <a:solidFill>
            <a:srgbClr val="E9EDFF"/>
          </a:solidFill>
          <a:ln>
            <a:solidFill>
              <a:srgbClr val="536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16568" y="5157216"/>
            <a:ext cx="2011680" cy="612647"/>
          </a:xfrm>
          <a:prstGeom prst="rect">
            <a:avLst/>
          </a:prstGeom>
          <a:noFill/>
        </p:spPr>
        <p:txBody>
          <a:bodyPr wrap="square" lIns="27432" rIns="27432" tIns="18288" bIns="0">
            <a:spAutoFit/>
          </a:bodyPr>
          <a:lstStyle/>
          <a:p>
            <a:pPr>
              <a:spcAft>
                <a:spcPts val="800"/>
              </a:spcAft>
              <a:defRPr sz="1700" b="1">
                <a:solidFill>
                  <a:srgbClr val="202C50"/>
                </a:solidFill>
                <a:latin typeface="DejaVu Sans"/>
              </a:defRPr>
            </a:pPr>
            <a:r>
              <a:t>Foydalanuvchi so‘rovi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7FC"/>
        </a:solidFill>
        <a:effectLst/>
      </p:bgPr>
    </p:bg>
    <p:spTree>
      <p:nvGrpSpPr>
        <p:cNvPr id="1" name=""/>
        <p:cNvGrpSpPr/>
        <p:nvPr/>
      </p:nvGrpSpPr>
      <p:grpSpPr/>
      <p:sp>
        <p:nvSpPr>
          <p:cNvPr id="2" name="Rectangle 1"/>
          <p:cNvSpPr/>
          <p:nvPr/>
        </p:nvSpPr>
        <p:spPr>
          <a:xfrm>
            <a:off x="0" y="0"/>
            <a:ext cx="1005840" cy="6858000"/>
          </a:xfrm>
          <a:prstGeom prst="rect">
            <a:avLst/>
          </a:prstGeom>
          <a:solidFill>
            <a:srgbClr val="2634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457200"/>
            <a:ext cx="594360" cy="457200"/>
          </a:xfrm>
          <a:prstGeom prst="rect">
            <a:avLst/>
          </a:prstGeom>
          <a:noFill/>
        </p:spPr>
        <p:txBody>
          <a:bodyPr wrap="square" lIns="27432" rIns="27432" tIns="18288" bIns="0">
            <a:spAutoFit/>
          </a:bodyPr>
          <a:lstStyle/>
          <a:p>
            <a:pPr>
              <a:spcAft>
                <a:spcPts val="800"/>
              </a:spcAft>
              <a:defRPr sz="1600" b="1">
                <a:solidFill>
                  <a:srgbClr val="FFFFFF"/>
                </a:solidFill>
                <a:latin typeface="DejaVu Sans"/>
              </a:defRPr>
            </a:pPr>
            <a:r>
              <a:t>K8S</a:t>
            </a:r>
          </a:p>
        </p:txBody>
      </p:sp>
      <p:sp>
        <p:nvSpPr>
          <p:cNvPr id="4" name="Rounded Rectangle 3"/>
          <p:cNvSpPr/>
          <p:nvPr/>
        </p:nvSpPr>
        <p:spPr>
          <a:xfrm>
            <a:off x="310896" y="1737360"/>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10896" y="2350008"/>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10896" y="2962656"/>
            <a:ext cx="365760" cy="256032"/>
          </a:xfrm>
          <a:prstGeom prst="roundRect">
            <a:avLst>
              <a:gd name="adj" fmla="val 8000"/>
            </a:avLst>
          </a:prstGeom>
          <a:solidFill>
            <a:srgbClr val="536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10896" y="3575304"/>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10896" y="4187952"/>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10896" y="4800600"/>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05840" y="0"/>
            <a:ext cx="11201400" cy="4023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53312" y="73152"/>
            <a:ext cx="9144000" cy="228600"/>
          </a:xfrm>
          <a:prstGeom prst="rect">
            <a:avLst/>
          </a:prstGeom>
          <a:noFill/>
        </p:spPr>
        <p:txBody>
          <a:bodyPr wrap="square" lIns="27432" rIns="27432" tIns="18288" bIns="0">
            <a:spAutoFit/>
          </a:bodyPr>
          <a:lstStyle/>
          <a:p>
            <a:pPr>
              <a:spcAft>
                <a:spcPts val="800"/>
              </a:spcAft>
              <a:defRPr sz="1000" b="0">
                <a:solidFill>
                  <a:srgbClr val="202C50"/>
                </a:solidFill>
                <a:latin typeface="DejaVu Sans"/>
              </a:defRPr>
            </a:pPr>
            <a:r>
              <a:t>CLUSTER   /   universitet-portal   /   nazorat paneli</a:t>
            </a:r>
          </a:p>
        </p:txBody>
      </p:sp>
      <p:sp>
        <p:nvSpPr>
          <p:cNvPr id="12" name="Rounded Rectangle 11"/>
          <p:cNvSpPr/>
          <p:nvPr/>
        </p:nvSpPr>
        <p:spPr>
          <a:xfrm>
            <a:off x="9966960" y="658368"/>
            <a:ext cx="1463040" cy="347472"/>
          </a:xfrm>
          <a:prstGeom prst="roundRect">
            <a:avLst>
              <a:gd name="adj" fmla="val 8000"/>
            </a:avLst>
          </a:prstGeom>
          <a:solidFill>
            <a:srgbClr val="18A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40112" y="704088"/>
            <a:ext cx="1316736" cy="274320"/>
          </a:xfrm>
          <a:prstGeom prst="rect">
            <a:avLst/>
          </a:prstGeom>
          <a:noFill/>
        </p:spPr>
        <p:txBody>
          <a:bodyPr wrap="square" lIns="27432" rIns="27432" tIns="18288" bIns="0">
            <a:spAutoFit/>
          </a:bodyPr>
          <a:lstStyle/>
          <a:p>
            <a:pPr>
              <a:spcAft>
                <a:spcPts val="800"/>
              </a:spcAft>
              <a:defRPr sz="1200" b="1">
                <a:solidFill>
                  <a:srgbClr val="FFFFFF"/>
                </a:solidFill>
                <a:latin typeface="DejaVu Sans"/>
              </a:defRPr>
            </a:pPr>
            <a:r>
              <a:t>●  RUNNING</a:t>
            </a:r>
          </a:p>
        </p:txBody>
      </p:sp>
      <p:sp>
        <p:nvSpPr>
          <p:cNvPr id="14" name="TextBox 13"/>
          <p:cNvSpPr txBox="1"/>
          <p:nvPr/>
        </p:nvSpPr>
        <p:spPr>
          <a:xfrm>
            <a:off x="1371600" y="713232"/>
            <a:ext cx="8366760" cy="960120"/>
          </a:xfrm>
          <a:prstGeom prst="rect">
            <a:avLst/>
          </a:prstGeom>
          <a:noFill/>
        </p:spPr>
        <p:txBody>
          <a:bodyPr wrap="square" lIns="27432" rIns="27432" tIns="18288" bIns="0">
            <a:spAutoFit/>
          </a:bodyPr>
          <a:lstStyle/>
          <a:p>
            <a:pPr>
              <a:spcAft>
                <a:spcPts val="800"/>
              </a:spcAft>
              <a:defRPr sz="2800" b="1">
                <a:solidFill>
                  <a:srgbClr val="202C50"/>
                </a:solidFill>
                <a:latin typeface="DejaVu Sans"/>
              </a:defRPr>
            </a:pPr>
            <a:r>
              <a:t>Ko‘p uchraydigan xato tushunchalar</a:t>
            </a:r>
          </a:p>
        </p:txBody>
      </p:sp>
      <p:sp>
        <p:nvSpPr>
          <p:cNvPr id="15" name="TextBox 14"/>
          <p:cNvSpPr txBox="1"/>
          <p:nvPr/>
        </p:nvSpPr>
        <p:spPr>
          <a:xfrm>
            <a:off x="1371600" y="1682496"/>
            <a:ext cx="9966960" cy="457200"/>
          </a:xfrm>
          <a:prstGeom prst="rect">
            <a:avLst/>
          </a:prstGeom>
          <a:noFill/>
        </p:spPr>
        <p:txBody>
          <a:bodyPr wrap="square" lIns="27432" rIns="27432" tIns="18288" bIns="0">
            <a:spAutoFit/>
          </a:bodyPr>
          <a:lstStyle/>
          <a:p>
            <a:pPr>
              <a:spcAft>
                <a:spcPts val="800"/>
              </a:spcAft>
              <a:defRPr sz="1500" b="1">
                <a:solidFill>
                  <a:srgbClr val="5364D8"/>
                </a:solidFill>
                <a:latin typeface="DejaVu Sans"/>
              </a:defRPr>
            </a:pPr>
            <a:r>
              <a:t>To‘g‘ri talqin xizmatni ongli tanlashga yordam beradi</a:t>
            </a:r>
          </a:p>
        </p:txBody>
      </p:sp>
      <p:sp>
        <p:nvSpPr>
          <p:cNvPr id="16" name="TextBox 1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202C50"/>
                </a:solidFill>
                <a:latin typeface="DejaVu Sans"/>
              </a:defRPr>
            </a:pPr>
            <a:r>
              <a:t>BTST206   /   M07   /   2027–2028</a:t>
            </a:r>
          </a:p>
        </p:txBody>
      </p:sp>
      <p:sp>
        <p:nvSpPr>
          <p:cNvPr id="17" name="TextBox 1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202C50"/>
                </a:solidFill>
                <a:latin typeface="DejaVu Sans"/>
              </a:defRPr>
            </a:pPr>
            <a:r>
              <a:t>11 / 13</a:t>
            </a:r>
          </a:p>
        </p:txBody>
      </p:sp>
      <p:sp>
        <p:nvSpPr>
          <p:cNvPr id="18" name="Rounded Rectangle 17"/>
          <p:cNvSpPr/>
          <p:nvPr/>
        </p:nvSpPr>
        <p:spPr>
          <a:xfrm>
            <a:off x="1371600" y="2514600"/>
            <a:ext cx="10012680" cy="9418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36192" y="2688336"/>
            <a:ext cx="548640" cy="502920"/>
          </a:xfrm>
          <a:prstGeom prst="rect">
            <a:avLst/>
          </a:prstGeom>
          <a:noFill/>
        </p:spPr>
        <p:txBody>
          <a:bodyPr wrap="square" lIns="27432" rIns="27432" tIns="18288" bIns="0">
            <a:spAutoFit/>
          </a:bodyPr>
          <a:lstStyle/>
          <a:p>
            <a:pPr>
              <a:spcAft>
                <a:spcPts val="800"/>
              </a:spcAft>
              <a:defRPr sz="2100" b="1">
                <a:solidFill>
                  <a:srgbClr val="5364D8"/>
                </a:solidFill>
                <a:latin typeface="DejaVu Sans"/>
              </a:defRPr>
            </a:pPr>
            <a:r>
              <a:t>01</a:t>
            </a:r>
          </a:p>
        </p:txBody>
      </p:sp>
      <p:sp>
        <p:nvSpPr>
          <p:cNvPr id="20" name="TextBox 19"/>
          <p:cNvSpPr txBox="1"/>
          <p:nvPr/>
        </p:nvSpPr>
        <p:spPr>
          <a:xfrm>
            <a:off x="2313432" y="2660904"/>
            <a:ext cx="8887968" cy="704088"/>
          </a:xfrm>
          <a:prstGeom prst="rect">
            <a:avLst/>
          </a:prstGeom>
          <a:noFill/>
        </p:spPr>
        <p:txBody>
          <a:bodyPr wrap="square" lIns="27432" rIns="27432" tIns="18288" bIns="0">
            <a:spAutoFit/>
          </a:bodyPr>
          <a:lstStyle/>
          <a:p>
            <a:pPr>
              <a:spcAft>
                <a:spcPts val="800"/>
              </a:spcAft>
              <a:defRPr sz="2100" b="0">
                <a:solidFill>
                  <a:srgbClr val="202C50"/>
                </a:solidFill>
                <a:latin typeface="DejaVu Sans"/>
              </a:defRPr>
            </a:pPr>
            <a:r>
              <a:t>Kubernetes noto‘g‘ri kodni tuzatmaydi; u berilgan ish holatini boshqaradi.</a:t>
            </a:r>
          </a:p>
        </p:txBody>
      </p:sp>
      <p:sp>
        <p:nvSpPr>
          <p:cNvPr id="21" name="Rounded Rectangle 20"/>
          <p:cNvSpPr/>
          <p:nvPr/>
        </p:nvSpPr>
        <p:spPr>
          <a:xfrm>
            <a:off x="1371600" y="3584448"/>
            <a:ext cx="10012680" cy="9418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536192" y="3758184"/>
            <a:ext cx="548640" cy="502920"/>
          </a:xfrm>
          <a:prstGeom prst="rect">
            <a:avLst/>
          </a:prstGeom>
          <a:noFill/>
        </p:spPr>
        <p:txBody>
          <a:bodyPr wrap="square" lIns="27432" rIns="27432" tIns="18288" bIns="0">
            <a:spAutoFit/>
          </a:bodyPr>
          <a:lstStyle/>
          <a:p>
            <a:pPr>
              <a:spcAft>
                <a:spcPts val="800"/>
              </a:spcAft>
              <a:defRPr sz="2100" b="1">
                <a:solidFill>
                  <a:srgbClr val="5364D8"/>
                </a:solidFill>
                <a:latin typeface="DejaVu Sans"/>
              </a:defRPr>
            </a:pPr>
            <a:r>
              <a:t>02</a:t>
            </a:r>
          </a:p>
        </p:txBody>
      </p:sp>
      <p:sp>
        <p:nvSpPr>
          <p:cNvPr id="23" name="TextBox 22"/>
          <p:cNvSpPr txBox="1"/>
          <p:nvPr/>
        </p:nvSpPr>
        <p:spPr>
          <a:xfrm>
            <a:off x="2313432" y="3730752"/>
            <a:ext cx="8887968" cy="704088"/>
          </a:xfrm>
          <a:prstGeom prst="rect">
            <a:avLst/>
          </a:prstGeom>
          <a:noFill/>
        </p:spPr>
        <p:txBody>
          <a:bodyPr wrap="square" lIns="27432" rIns="27432" tIns="18288" bIns="0">
            <a:spAutoFit/>
          </a:bodyPr>
          <a:lstStyle/>
          <a:p>
            <a:pPr>
              <a:spcAft>
                <a:spcPts val="800"/>
              </a:spcAft>
              <a:defRPr sz="2100" b="0">
                <a:solidFill>
                  <a:srgbClr val="202C50"/>
                </a:solidFill>
                <a:latin typeface="DejaVu Sans"/>
              </a:defRPr>
            </a:pPr>
            <a:r>
              <a:t>Pod doimiy server emas; muhim ma’lumotni faqat uning vaqtinchalik diskida qoldirish xavfli.</a:t>
            </a:r>
          </a:p>
        </p:txBody>
      </p:sp>
      <p:sp>
        <p:nvSpPr>
          <p:cNvPr id="24" name="Rounded Rectangle 23"/>
          <p:cNvSpPr/>
          <p:nvPr/>
        </p:nvSpPr>
        <p:spPr>
          <a:xfrm>
            <a:off x="1371600" y="4654296"/>
            <a:ext cx="10012680" cy="9418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536192" y="4828032"/>
            <a:ext cx="548640" cy="502920"/>
          </a:xfrm>
          <a:prstGeom prst="rect">
            <a:avLst/>
          </a:prstGeom>
          <a:noFill/>
        </p:spPr>
        <p:txBody>
          <a:bodyPr wrap="square" lIns="27432" rIns="27432" tIns="18288" bIns="0">
            <a:spAutoFit/>
          </a:bodyPr>
          <a:lstStyle/>
          <a:p>
            <a:pPr>
              <a:spcAft>
                <a:spcPts val="800"/>
              </a:spcAft>
              <a:defRPr sz="2100" b="1">
                <a:solidFill>
                  <a:srgbClr val="5364D8"/>
                </a:solidFill>
                <a:latin typeface="DejaVu Sans"/>
              </a:defRPr>
            </a:pPr>
            <a:r>
              <a:t>03</a:t>
            </a:r>
          </a:p>
        </p:txBody>
      </p:sp>
      <p:sp>
        <p:nvSpPr>
          <p:cNvPr id="26" name="TextBox 25"/>
          <p:cNvSpPr txBox="1"/>
          <p:nvPr/>
        </p:nvSpPr>
        <p:spPr>
          <a:xfrm>
            <a:off x="2313432" y="4800600"/>
            <a:ext cx="8887968" cy="704088"/>
          </a:xfrm>
          <a:prstGeom prst="rect">
            <a:avLst/>
          </a:prstGeom>
          <a:noFill/>
        </p:spPr>
        <p:txBody>
          <a:bodyPr wrap="square" lIns="27432" rIns="27432" tIns="18288" bIns="0">
            <a:spAutoFit/>
          </a:bodyPr>
          <a:lstStyle/>
          <a:p>
            <a:pPr>
              <a:spcAft>
                <a:spcPts val="800"/>
              </a:spcAft>
              <a:defRPr sz="2100" b="0">
                <a:solidFill>
                  <a:srgbClr val="202C50"/>
                </a:solidFill>
                <a:latin typeface="DejaVu Sans"/>
              </a:defRPr>
            </a:pPr>
            <a:r>
              <a:t>Pod masshtablashi baza limitini yoki tugun quvvatini o‘z-o‘zidan hal qilmaydi.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7FC"/>
        </a:solidFill>
        <a:effectLst/>
      </p:bgPr>
    </p:bg>
    <p:spTree>
      <p:nvGrpSpPr>
        <p:cNvPr id="1" name=""/>
        <p:cNvGrpSpPr/>
        <p:nvPr/>
      </p:nvGrpSpPr>
      <p:grpSpPr/>
      <p:sp>
        <p:nvSpPr>
          <p:cNvPr id="2" name="Rectangle 1"/>
          <p:cNvSpPr/>
          <p:nvPr/>
        </p:nvSpPr>
        <p:spPr>
          <a:xfrm>
            <a:off x="0" y="0"/>
            <a:ext cx="1005840" cy="6858000"/>
          </a:xfrm>
          <a:prstGeom prst="rect">
            <a:avLst/>
          </a:prstGeom>
          <a:solidFill>
            <a:srgbClr val="2634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457200"/>
            <a:ext cx="594360" cy="457200"/>
          </a:xfrm>
          <a:prstGeom prst="rect">
            <a:avLst/>
          </a:prstGeom>
          <a:noFill/>
        </p:spPr>
        <p:txBody>
          <a:bodyPr wrap="square" lIns="27432" rIns="27432" tIns="18288" bIns="0">
            <a:spAutoFit/>
          </a:bodyPr>
          <a:lstStyle/>
          <a:p>
            <a:pPr>
              <a:spcAft>
                <a:spcPts val="800"/>
              </a:spcAft>
              <a:defRPr sz="1600" b="1">
                <a:solidFill>
                  <a:srgbClr val="FFFFFF"/>
                </a:solidFill>
                <a:latin typeface="DejaVu Sans"/>
              </a:defRPr>
            </a:pPr>
            <a:r>
              <a:t>K8S</a:t>
            </a:r>
          </a:p>
        </p:txBody>
      </p:sp>
      <p:sp>
        <p:nvSpPr>
          <p:cNvPr id="4" name="Rounded Rectangle 3"/>
          <p:cNvSpPr/>
          <p:nvPr/>
        </p:nvSpPr>
        <p:spPr>
          <a:xfrm>
            <a:off x="310896" y="1737360"/>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10896" y="2350008"/>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10896" y="2962656"/>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10896" y="3575304"/>
            <a:ext cx="365760" cy="256032"/>
          </a:xfrm>
          <a:prstGeom prst="roundRect">
            <a:avLst>
              <a:gd name="adj" fmla="val 8000"/>
            </a:avLst>
          </a:prstGeom>
          <a:solidFill>
            <a:srgbClr val="536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10896" y="4187952"/>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10896" y="4800600"/>
            <a:ext cx="365760" cy="256032"/>
          </a:xfrm>
          <a:prstGeom prst="roundRect">
            <a:avLst>
              <a:gd name="adj" fmla="val 8000"/>
            </a:avLst>
          </a:prstGeom>
          <a:solidFill>
            <a:srgbClr val="536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05840" y="0"/>
            <a:ext cx="11201400" cy="4023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53312" y="73152"/>
            <a:ext cx="9144000" cy="228600"/>
          </a:xfrm>
          <a:prstGeom prst="rect">
            <a:avLst/>
          </a:prstGeom>
          <a:noFill/>
        </p:spPr>
        <p:txBody>
          <a:bodyPr wrap="square" lIns="27432" rIns="27432" tIns="18288" bIns="0">
            <a:spAutoFit/>
          </a:bodyPr>
          <a:lstStyle/>
          <a:p>
            <a:pPr>
              <a:spcAft>
                <a:spcPts val="800"/>
              </a:spcAft>
              <a:defRPr sz="1000" b="0">
                <a:solidFill>
                  <a:srgbClr val="202C50"/>
                </a:solidFill>
                <a:latin typeface="DejaVu Sans"/>
              </a:defRPr>
            </a:pPr>
            <a:r>
              <a:t>CLUSTER   /   universitet-portal   /   nazorat paneli</a:t>
            </a:r>
          </a:p>
        </p:txBody>
      </p:sp>
      <p:sp>
        <p:nvSpPr>
          <p:cNvPr id="12" name="Rounded Rectangle 11"/>
          <p:cNvSpPr/>
          <p:nvPr/>
        </p:nvSpPr>
        <p:spPr>
          <a:xfrm>
            <a:off x="9966960" y="658368"/>
            <a:ext cx="1463040" cy="347472"/>
          </a:xfrm>
          <a:prstGeom prst="roundRect">
            <a:avLst>
              <a:gd name="adj" fmla="val 8000"/>
            </a:avLst>
          </a:prstGeom>
          <a:solidFill>
            <a:srgbClr val="18A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40112" y="704088"/>
            <a:ext cx="1316736" cy="274320"/>
          </a:xfrm>
          <a:prstGeom prst="rect">
            <a:avLst/>
          </a:prstGeom>
          <a:noFill/>
        </p:spPr>
        <p:txBody>
          <a:bodyPr wrap="square" lIns="27432" rIns="27432" tIns="18288" bIns="0">
            <a:spAutoFit/>
          </a:bodyPr>
          <a:lstStyle/>
          <a:p>
            <a:pPr>
              <a:spcAft>
                <a:spcPts val="800"/>
              </a:spcAft>
              <a:defRPr sz="1200" b="1">
                <a:solidFill>
                  <a:srgbClr val="FFFFFF"/>
                </a:solidFill>
                <a:latin typeface="DejaVu Sans"/>
              </a:defRPr>
            </a:pPr>
            <a:r>
              <a:t>●  RUNNING</a:t>
            </a:r>
          </a:p>
        </p:txBody>
      </p:sp>
      <p:sp>
        <p:nvSpPr>
          <p:cNvPr id="14" name="TextBox 13"/>
          <p:cNvSpPr txBox="1"/>
          <p:nvPr/>
        </p:nvSpPr>
        <p:spPr>
          <a:xfrm>
            <a:off x="1371600" y="713232"/>
            <a:ext cx="8366760" cy="960120"/>
          </a:xfrm>
          <a:prstGeom prst="rect">
            <a:avLst/>
          </a:prstGeom>
          <a:noFill/>
        </p:spPr>
        <p:txBody>
          <a:bodyPr wrap="square" lIns="27432" rIns="27432" tIns="18288" bIns="0">
            <a:spAutoFit/>
          </a:bodyPr>
          <a:lstStyle/>
          <a:p>
            <a:pPr>
              <a:spcAft>
                <a:spcPts val="800"/>
              </a:spcAft>
              <a:defRPr sz="2800" b="1">
                <a:solidFill>
                  <a:srgbClr val="202C50"/>
                </a:solidFill>
                <a:latin typeface="DejaVu Sans"/>
              </a:defRPr>
            </a:pPr>
            <a:r>
              <a:t>Asosiy xulosalar</a:t>
            </a:r>
          </a:p>
        </p:txBody>
      </p:sp>
      <p:sp>
        <p:nvSpPr>
          <p:cNvPr id="15" name="TextBox 14"/>
          <p:cNvSpPr txBox="1"/>
          <p:nvPr/>
        </p:nvSpPr>
        <p:spPr>
          <a:xfrm>
            <a:off x="1371600" y="1682496"/>
            <a:ext cx="9966960" cy="457200"/>
          </a:xfrm>
          <a:prstGeom prst="rect">
            <a:avLst/>
          </a:prstGeom>
          <a:noFill/>
        </p:spPr>
        <p:txBody>
          <a:bodyPr wrap="square" lIns="27432" rIns="27432" tIns="18288" bIns="0">
            <a:spAutoFit/>
          </a:bodyPr>
          <a:lstStyle/>
          <a:p>
            <a:pPr>
              <a:spcAft>
                <a:spcPts val="800"/>
              </a:spcAft>
              <a:defRPr sz="1500" b="1">
                <a:solidFill>
                  <a:srgbClr val="5364D8"/>
                </a:solidFill>
                <a:latin typeface="DejaVu Sans"/>
              </a:defRPr>
            </a:pPr>
            <a:r>
              <a:t>Yodda qoladigan olti fikr</a:t>
            </a:r>
          </a:p>
        </p:txBody>
      </p:sp>
      <p:sp>
        <p:nvSpPr>
          <p:cNvPr id="16" name="TextBox 1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202C50"/>
                </a:solidFill>
                <a:latin typeface="DejaVu Sans"/>
              </a:defRPr>
            </a:pPr>
            <a:r>
              <a:t>BTST206   /   M07   /   2027–2028</a:t>
            </a:r>
          </a:p>
        </p:txBody>
      </p:sp>
      <p:sp>
        <p:nvSpPr>
          <p:cNvPr id="17" name="TextBox 1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202C50"/>
                </a:solidFill>
                <a:latin typeface="DejaVu Sans"/>
              </a:defRPr>
            </a:pPr>
            <a:r>
              <a:t>12 / 13</a:t>
            </a:r>
          </a:p>
        </p:txBody>
      </p:sp>
      <p:sp>
        <p:nvSpPr>
          <p:cNvPr id="18" name="Oval 17"/>
          <p:cNvSpPr/>
          <p:nvPr/>
        </p:nvSpPr>
        <p:spPr>
          <a:xfrm>
            <a:off x="1435608" y="2569464"/>
            <a:ext cx="155448" cy="155448"/>
          </a:xfrm>
          <a:prstGeom prst="ellipse">
            <a:avLst/>
          </a:prstGeom>
          <a:solidFill>
            <a:srgbClr val="18A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83080" y="2496312"/>
            <a:ext cx="9555480" cy="475488"/>
          </a:xfrm>
          <a:prstGeom prst="rect">
            <a:avLst/>
          </a:prstGeom>
          <a:noFill/>
        </p:spPr>
        <p:txBody>
          <a:bodyPr wrap="square" lIns="27432" rIns="27432" tIns="18288" bIns="0">
            <a:spAutoFit/>
          </a:bodyPr>
          <a:lstStyle/>
          <a:p>
            <a:pPr>
              <a:spcAft>
                <a:spcPts val="800"/>
              </a:spcAft>
              <a:defRPr sz="2200" b="1">
                <a:solidFill>
                  <a:srgbClr val="202C50"/>
                </a:solidFill>
                <a:latin typeface="DejaVu Sans"/>
              </a:defRPr>
            </a:pPr>
            <a:r>
              <a:t>Kerakli holat deklaratsiya bilan beriladi.</a:t>
            </a:r>
          </a:p>
        </p:txBody>
      </p:sp>
      <p:sp>
        <p:nvSpPr>
          <p:cNvPr id="20" name="Oval 19"/>
          <p:cNvSpPr/>
          <p:nvPr/>
        </p:nvSpPr>
        <p:spPr>
          <a:xfrm>
            <a:off x="1435608" y="3108960"/>
            <a:ext cx="155448" cy="155448"/>
          </a:xfrm>
          <a:prstGeom prst="ellipse">
            <a:avLst/>
          </a:prstGeom>
          <a:solidFill>
            <a:srgbClr val="18A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783080" y="3035808"/>
            <a:ext cx="9555480" cy="475488"/>
          </a:xfrm>
          <a:prstGeom prst="rect">
            <a:avLst/>
          </a:prstGeom>
          <a:noFill/>
        </p:spPr>
        <p:txBody>
          <a:bodyPr wrap="square" lIns="27432" rIns="27432" tIns="18288" bIns="0">
            <a:spAutoFit/>
          </a:bodyPr>
          <a:lstStyle/>
          <a:p>
            <a:pPr>
              <a:spcAft>
                <a:spcPts val="800"/>
              </a:spcAft>
              <a:defRPr sz="2200" b="0">
                <a:solidFill>
                  <a:srgbClr val="202C50"/>
                </a:solidFill>
                <a:latin typeface="DejaVu Sans"/>
              </a:defRPr>
            </a:pPr>
            <a:r>
              <a:t>Control plane boshqaradi, Node bajaradi.</a:t>
            </a:r>
          </a:p>
        </p:txBody>
      </p:sp>
      <p:sp>
        <p:nvSpPr>
          <p:cNvPr id="22" name="Oval 21"/>
          <p:cNvSpPr/>
          <p:nvPr/>
        </p:nvSpPr>
        <p:spPr>
          <a:xfrm>
            <a:off x="1435608" y="3648456"/>
            <a:ext cx="155448" cy="155448"/>
          </a:xfrm>
          <a:prstGeom prst="ellipse">
            <a:avLst/>
          </a:prstGeom>
          <a:solidFill>
            <a:srgbClr val="18A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83080" y="3575304"/>
            <a:ext cx="9555480" cy="475488"/>
          </a:xfrm>
          <a:prstGeom prst="rect">
            <a:avLst/>
          </a:prstGeom>
          <a:noFill/>
        </p:spPr>
        <p:txBody>
          <a:bodyPr wrap="square" lIns="27432" rIns="27432" tIns="18288" bIns="0">
            <a:spAutoFit/>
          </a:bodyPr>
          <a:lstStyle/>
          <a:p>
            <a:pPr>
              <a:spcAft>
                <a:spcPts val="800"/>
              </a:spcAft>
              <a:defRPr sz="2200" b="0">
                <a:solidFill>
                  <a:srgbClr val="202C50"/>
                </a:solidFill>
                <a:latin typeface="DejaVu Sans"/>
              </a:defRPr>
            </a:pPr>
            <a:r>
              <a:t>Pod — vaqtinchalik joylashtirish birligi.</a:t>
            </a:r>
          </a:p>
        </p:txBody>
      </p:sp>
      <p:sp>
        <p:nvSpPr>
          <p:cNvPr id="24" name="Oval 23"/>
          <p:cNvSpPr/>
          <p:nvPr/>
        </p:nvSpPr>
        <p:spPr>
          <a:xfrm>
            <a:off x="1435608" y="4187952"/>
            <a:ext cx="155448" cy="155448"/>
          </a:xfrm>
          <a:prstGeom prst="ellipse">
            <a:avLst/>
          </a:prstGeom>
          <a:solidFill>
            <a:srgbClr val="18A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783080" y="4114800"/>
            <a:ext cx="9555480" cy="475488"/>
          </a:xfrm>
          <a:prstGeom prst="rect">
            <a:avLst/>
          </a:prstGeom>
          <a:noFill/>
        </p:spPr>
        <p:txBody>
          <a:bodyPr wrap="square" lIns="27432" rIns="27432" tIns="18288" bIns="0">
            <a:spAutoFit/>
          </a:bodyPr>
          <a:lstStyle/>
          <a:p>
            <a:pPr>
              <a:spcAft>
                <a:spcPts val="800"/>
              </a:spcAft>
              <a:defRPr sz="2200" b="0">
                <a:solidFill>
                  <a:srgbClr val="202C50"/>
                </a:solidFill>
                <a:latin typeface="DejaVu Sans"/>
              </a:defRPr>
            </a:pPr>
            <a:r>
              <a:t>Deployment bosqichli yangilashni boshqaradi.</a:t>
            </a:r>
          </a:p>
        </p:txBody>
      </p:sp>
      <p:sp>
        <p:nvSpPr>
          <p:cNvPr id="26" name="Oval 25"/>
          <p:cNvSpPr/>
          <p:nvPr/>
        </p:nvSpPr>
        <p:spPr>
          <a:xfrm>
            <a:off x="1435608" y="4727448"/>
            <a:ext cx="155448" cy="155448"/>
          </a:xfrm>
          <a:prstGeom prst="ellipse">
            <a:avLst/>
          </a:prstGeom>
          <a:solidFill>
            <a:srgbClr val="18A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83080" y="4654296"/>
            <a:ext cx="9555480" cy="475488"/>
          </a:xfrm>
          <a:prstGeom prst="rect">
            <a:avLst/>
          </a:prstGeom>
          <a:noFill/>
        </p:spPr>
        <p:txBody>
          <a:bodyPr wrap="square" lIns="27432" rIns="27432" tIns="18288" bIns="0">
            <a:spAutoFit/>
          </a:bodyPr>
          <a:lstStyle/>
          <a:p>
            <a:pPr>
              <a:spcAft>
                <a:spcPts val="800"/>
              </a:spcAft>
              <a:defRPr sz="2200" b="0">
                <a:solidFill>
                  <a:srgbClr val="202C50"/>
                </a:solidFill>
                <a:latin typeface="DejaVu Sans"/>
              </a:defRPr>
            </a:pPr>
            <a:r>
              <a:t>Service barqaror kirish nuqtasini beradi.</a:t>
            </a:r>
          </a:p>
        </p:txBody>
      </p:sp>
      <p:sp>
        <p:nvSpPr>
          <p:cNvPr id="28" name="Oval 27"/>
          <p:cNvSpPr/>
          <p:nvPr/>
        </p:nvSpPr>
        <p:spPr>
          <a:xfrm>
            <a:off x="1435608" y="5266944"/>
            <a:ext cx="155448" cy="155448"/>
          </a:xfrm>
          <a:prstGeom prst="ellipse">
            <a:avLst/>
          </a:prstGeom>
          <a:solidFill>
            <a:srgbClr val="18A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783080" y="5193792"/>
            <a:ext cx="9555480" cy="475488"/>
          </a:xfrm>
          <a:prstGeom prst="rect">
            <a:avLst/>
          </a:prstGeom>
          <a:noFill/>
        </p:spPr>
        <p:txBody>
          <a:bodyPr wrap="square" lIns="27432" rIns="27432" tIns="18288" bIns="0">
            <a:spAutoFit/>
          </a:bodyPr>
          <a:lstStyle/>
          <a:p>
            <a:pPr>
              <a:spcAft>
                <a:spcPts val="800"/>
              </a:spcAft>
              <a:defRPr sz="2200" b="0">
                <a:solidFill>
                  <a:srgbClr val="202C50"/>
                </a:solidFill>
                <a:latin typeface="DejaVu Sans"/>
              </a:defRPr>
            </a:pPr>
            <a:r>
              <a:t>HPA uchun metrika va mavjud quvvat kerak.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7FC"/>
        </a:solidFill>
        <a:effectLst/>
      </p:bgPr>
    </p:bg>
    <p:spTree>
      <p:nvGrpSpPr>
        <p:cNvPr id="1" name=""/>
        <p:cNvGrpSpPr/>
        <p:nvPr/>
      </p:nvGrpSpPr>
      <p:grpSpPr/>
      <p:sp>
        <p:nvSpPr>
          <p:cNvPr id="2" name="Rectangle 1"/>
          <p:cNvSpPr/>
          <p:nvPr/>
        </p:nvSpPr>
        <p:spPr>
          <a:xfrm>
            <a:off x="502920" y="548640"/>
            <a:ext cx="109728" cy="640080"/>
          </a:xfrm>
          <a:prstGeom prst="rect">
            <a:avLst/>
          </a:prstGeom>
          <a:solidFill>
            <a:srgbClr val="536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94360"/>
            <a:ext cx="10789920" cy="777240"/>
          </a:xfrm>
          <a:prstGeom prst="rect">
            <a:avLst/>
          </a:prstGeom>
          <a:noFill/>
        </p:spPr>
        <p:txBody>
          <a:bodyPr wrap="square" lIns="27432" rIns="27432" tIns="18288" bIns="0">
            <a:spAutoFit/>
          </a:bodyPr>
          <a:lstStyle/>
          <a:p>
            <a:pPr>
              <a:spcAft>
                <a:spcPts val="800"/>
              </a:spcAft>
              <a:defRPr sz="2900" b="1">
                <a:solidFill>
                  <a:srgbClr val="202C50"/>
                </a:solidFill>
                <a:latin typeface="DejaVu Sans"/>
              </a:defRPr>
            </a:pPr>
            <a:r>
              <a:t>Manbalar va rasm manbasi</a:t>
            </a:r>
          </a:p>
        </p:txBody>
      </p:sp>
      <p:sp>
        <p:nvSpPr>
          <p:cNvPr id="4" name="TextBox 3"/>
          <p:cNvSpPr txBox="1"/>
          <p:nvPr/>
        </p:nvSpPr>
        <p:spPr>
          <a:xfrm>
            <a:off x="731520" y="1600200"/>
            <a:ext cx="10789920" cy="594360"/>
          </a:xfrm>
          <a:prstGeom prst="rect">
            <a:avLst/>
          </a:prstGeom>
          <a:noFill/>
        </p:spPr>
        <p:txBody>
          <a:bodyPr wrap="square" lIns="27432" rIns="27432" tIns="18288" bIns="0">
            <a:spAutoFit/>
          </a:bodyPr>
          <a:lstStyle/>
          <a:p>
            <a:pPr>
              <a:spcAft>
                <a:spcPts val="800"/>
              </a:spcAft>
              <a:defRPr sz="1700" b="0">
                <a:solidFill>
                  <a:srgbClr val="202C50"/>
                </a:solidFill>
                <a:latin typeface="DejaVu Sans"/>
              </a:defRPr>
            </a:pPr>
            <a:r>
              <a:t>Asos: BTST206, 2027–2028 sillabusi. Rasmiy texnik hujjatlar:</a:t>
            </a:r>
          </a:p>
        </p:txBody>
      </p:sp>
      <p:sp>
        <p:nvSpPr>
          <p:cNvPr id="5" name="TextBox 4"/>
          <p:cNvSpPr txBox="1"/>
          <p:nvPr/>
        </p:nvSpPr>
        <p:spPr>
          <a:xfrm>
            <a:off x="777240" y="2286000"/>
            <a:ext cx="10652760" cy="365760"/>
          </a:xfrm>
          <a:prstGeom prst="rect">
            <a:avLst/>
          </a:prstGeom>
          <a:noFill/>
        </p:spPr>
        <p:txBody>
          <a:bodyPr wrap="square" lIns="27432" rIns="27432" tIns="18288" bIns="0">
            <a:spAutoFit/>
          </a:bodyPr>
          <a:lstStyle/>
          <a:p>
            <a:pPr>
              <a:spcAft>
                <a:spcPts val="800"/>
              </a:spcAft>
              <a:defRPr sz="1300" b="0">
                <a:solidFill>
                  <a:srgbClr val="5364D8"/>
                </a:solidFill>
                <a:latin typeface="DejaVu Sans"/>
              </a:defRPr>
            </a:pPr>
            <a:r>
              <a:t>https://kubernetes.io/docs/concepts/overview/components/</a:t>
            </a:r>
          </a:p>
        </p:txBody>
      </p:sp>
      <p:sp>
        <p:nvSpPr>
          <p:cNvPr id="6" name="TextBox 5"/>
          <p:cNvSpPr txBox="1"/>
          <p:nvPr/>
        </p:nvSpPr>
        <p:spPr>
          <a:xfrm>
            <a:off x="777240" y="2715768"/>
            <a:ext cx="10652760" cy="365760"/>
          </a:xfrm>
          <a:prstGeom prst="rect">
            <a:avLst/>
          </a:prstGeom>
          <a:noFill/>
        </p:spPr>
        <p:txBody>
          <a:bodyPr wrap="square" lIns="27432" rIns="27432" tIns="18288" bIns="0">
            <a:spAutoFit/>
          </a:bodyPr>
          <a:lstStyle/>
          <a:p>
            <a:pPr>
              <a:spcAft>
                <a:spcPts val="800"/>
              </a:spcAft>
              <a:defRPr sz="1300" b="0">
                <a:solidFill>
                  <a:srgbClr val="5364D8"/>
                </a:solidFill>
                <a:latin typeface="DejaVu Sans"/>
              </a:defRPr>
            </a:pPr>
            <a:r>
              <a:t>https://kubernetes.io/docs/concepts/workloads/controllers/deployment/</a:t>
            </a:r>
          </a:p>
        </p:txBody>
      </p:sp>
      <p:sp>
        <p:nvSpPr>
          <p:cNvPr id="7" name="TextBox 6"/>
          <p:cNvSpPr txBox="1"/>
          <p:nvPr/>
        </p:nvSpPr>
        <p:spPr>
          <a:xfrm>
            <a:off x="777240" y="3145536"/>
            <a:ext cx="10652760" cy="365760"/>
          </a:xfrm>
          <a:prstGeom prst="rect">
            <a:avLst/>
          </a:prstGeom>
          <a:noFill/>
        </p:spPr>
        <p:txBody>
          <a:bodyPr wrap="square" lIns="27432" rIns="27432" tIns="18288" bIns="0">
            <a:spAutoFit/>
          </a:bodyPr>
          <a:lstStyle/>
          <a:p>
            <a:pPr>
              <a:spcAft>
                <a:spcPts val="800"/>
              </a:spcAft>
              <a:defRPr sz="1300" b="0">
                <a:solidFill>
                  <a:srgbClr val="5364D8"/>
                </a:solidFill>
                <a:latin typeface="DejaVu Sans"/>
              </a:defRPr>
            </a:pPr>
            <a:r>
              <a:t>https://kubernetes.io/docs/tasks/run-application/horizontal-pod-autoscale/</a:t>
            </a:r>
          </a:p>
        </p:txBody>
      </p:sp>
      <p:sp>
        <p:nvSpPr>
          <p:cNvPr id="8" name="TextBox 7"/>
          <p:cNvSpPr txBox="1"/>
          <p:nvPr/>
        </p:nvSpPr>
        <p:spPr>
          <a:xfrm>
            <a:off x="777240" y="4251960"/>
            <a:ext cx="10652760" cy="365760"/>
          </a:xfrm>
          <a:prstGeom prst="rect">
            <a:avLst/>
          </a:prstGeom>
          <a:noFill/>
        </p:spPr>
        <p:txBody>
          <a:bodyPr wrap="square" lIns="27432" rIns="27432" tIns="18288" bIns="0">
            <a:spAutoFit/>
          </a:bodyPr>
          <a:lstStyle/>
          <a:p>
            <a:pPr>
              <a:spcAft>
                <a:spcPts val="800"/>
              </a:spcAft>
              <a:defRPr sz="1200" b="1">
                <a:solidFill>
                  <a:srgbClr val="5364D8"/>
                </a:solidFill>
                <a:latin typeface="DejaVu Sans"/>
              </a:defRPr>
            </a:pPr>
            <a:r>
              <a:t>INTERNET RASMI</a:t>
            </a:r>
          </a:p>
        </p:txBody>
      </p:sp>
      <p:sp>
        <p:nvSpPr>
          <p:cNvPr id="9" name="TextBox 8"/>
          <p:cNvSpPr txBox="1"/>
          <p:nvPr/>
        </p:nvSpPr>
        <p:spPr>
          <a:xfrm>
            <a:off x="777240" y="4663440"/>
            <a:ext cx="10652760" cy="576072"/>
          </a:xfrm>
          <a:prstGeom prst="rect">
            <a:avLst/>
          </a:prstGeom>
          <a:noFill/>
        </p:spPr>
        <p:txBody>
          <a:bodyPr wrap="square" lIns="27432" rIns="27432" tIns="18288" bIns="0">
            <a:spAutoFit/>
          </a:bodyPr>
          <a:lstStyle/>
          <a:p>
            <a:pPr>
              <a:spcAft>
                <a:spcPts val="800"/>
              </a:spcAft>
              <a:defRPr sz="1400" b="0">
                <a:solidFill>
                  <a:srgbClr val="202C50"/>
                </a:solidFill>
                <a:latin typeface="DejaVu Sans"/>
              </a:defRPr>
            </a:pPr>
            <a:r>
              <a:t>Kubernetes Documentation / CNCF</a:t>
            </a:r>
          </a:p>
        </p:txBody>
      </p:sp>
      <p:sp>
        <p:nvSpPr>
          <p:cNvPr id="10" name="TextBox 9"/>
          <p:cNvSpPr txBox="1"/>
          <p:nvPr/>
        </p:nvSpPr>
        <p:spPr>
          <a:xfrm>
            <a:off x="777240" y="5285232"/>
            <a:ext cx="10652760" cy="640080"/>
          </a:xfrm>
          <a:prstGeom prst="rect">
            <a:avLst/>
          </a:prstGeom>
          <a:noFill/>
        </p:spPr>
        <p:txBody>
          <a:bodyPr wrap="square" lIns="27432" rIns="27432" tIns="18288" bIns="0">
            <a:spAutoFit/>
          </a:bodyPr>
          <a:lstStyle/>
          <a:p>
            <a:pPr>
              <a:spcAft>
                <a:spcPts val="800"/>
              </a:spcAft>
              <a:defRPr sz="1000" b="0">
                <a:solidFill>
                  <a:srgbClr val="202C50"/>
                </a:solidFill>
                <a:latin typeface="DejaVu Sans"/>
              </a:defRPr>
            </a:pPr>
            <a:r>
              <a:t>https://raw.githubusercontent.com/kubernetes/website/main/static/images/docs/components-of-kubernetes.svg</a:t>
            </a:r>
          </a:p>
        </p:txBody>
      </p:sp>
      <p:sp>
        <p:nvSpPr>
          <p:cNvPr id="11" name="TextBox 10"/>
          <p:cNvSpPr txBox="1"/>
          <p:nvPr/>
        </p:nvSpPr>
        <p:spPr>
          <a:xfrm>
            <a:off x="777240" y="6035040"/>
            <a:ext cx="10652760" cy="320040"/>
          </a:xfrm>
          <a:prstGeom prst="rect">
            <a:avLst/>
          </a:prstGeom>
          <a:noFill/>
        </p:spPr>
        <p:txBody>
          <a:bodyPr wrap="square" lIns="27432" rIns="27432" tIns="18288" bIns="0">
            <a:spAutoFit/>
          </a:bodyPr>
          <a:lstStyle/>
          <a:p>
            <a:pPr>
              <a:spcAft>
                <a:spcPts val="800"/>
              </a:spcAft>
              <a:defRPr sz="1100" b="0">
                <a:solidFill>
                  <a:srgbClr val="202C50"/>
                </a:solidFill>
                <a:latin typeface="DejaVu Sans"/>
              </a:defRPr>
            </a:pPr>
            <a:r>
              <a:t>Barcha rasm manbalari va foydalanish izohlari: ASSET_SOURCES.md</a:t>
            </a:r>
          </a:p>
        </p:txBody>
      </p:sp>
      <p:sp>
        <p:nvSpPr>
          <p:cNvPr id="12" name="TextBox 11"/>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202C50"/>
                </a:solidFill>
                <a:latin typeface="DejaVu Sans"/>
              </a:defRPr>
            </a:pPr>
            <a:r>
              <a:t>BTST206   /   M07   /   2027–2028</a:t>
            </a:r>
          </a:p>
        </p:txBody>
      </p:sp>
      <p:sp>
        <p:nvSpPr>
          <p:cNvPr id="13" name="TextBox 12"/>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202C50"/>
                </a:solidFill>
                <a:latin typeface="DejaVu Sans"/>
              </a:defRPr>
            </a:pPr>
            <a:r>
              <a:t>13 /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