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Assalomu alaykum, aziz talabalar. Bugungi ma’ruzamiz «Bulut xizmat modellari: IaaS, PaaS va SaaS» mavzusiga bag‘ishlanadi. Mavzuni murakkab atamalardan emas, kundalik ehtiyojdan boshlaymiz. Universitetga yangi ta’lim portali kerak. Jamoa serverni to‘liq boshqarish, faqat ilova kodiga e’tibor berish yoki tayyor tizimdan foydalanish variantlarini solishtiradi.</a:t>
            </a:r>
          </a:p>
          <a:p/>
          <a:p>
            <a:r>
              <a:t>Biz avval asosiy tushunchalarni ajratamiz, keyin ularning ishlash tartibini sxemada ko‘ramiz. Maqsad xizmat nomlarini yodlash emas, ularning qaysi vazifani bajarishini va qayerda cheklanishini tushunishdir. Inglizcha atama uchraganda uning sodda o‘zbekcha ma’nosi bilan bog‘laymiz. Slayddagi qisqa jumlalar tayanch fikrlar bo‘lib, ularning batafsil izohi ushbu ma’ruza matnida beriladi.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Ma’ruza oltita asosiy bo‘limdan iborat. 1-bo‘limda xizmat modeli va boshqaruv chegarasi tushuntiriladi. 2-bo‘limda iaas: infratuzilma xizmati tushuntiriladi. 3-bo‘limda paas: platforma xizmati tushuntiriladi. 4-bo‘limda saas: tayyor dastur xizmati tushuntiriladi. 5-bo‘limda modellarni tanlash mezonlari tushuntiriladi. 6-bo‘limda faas va boshqariladigan xizmatlar tushuntiriladi.</a:t>
            </a:r>
          </a:p>
          <a:p/>
          <a:p>
            <a:r>
              <a:t>Har bir bo‘limda bir xil fikrlash tartibidan foydalanamiz: tushuncha nimani anglatadi, qanday ishlaydi, universitet portalida qayerda ko‘rinadi va qaysi holatda ehtiyot bo‘lish kerak. Shundan keyin umumiy sxema barcha qismlarni bir-biriga bog‘laydi. Oxirida o‘qituvchi bayon qiladigan misol, chalkash tushunchalar va yakuniy xulosalar beriladi. Bu ketma-ketlik amaliy topshiriq emas, videodarsning tushuntirish rejasidir.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Xizmat modeli texnologiyaning nomidan ko‘ra boshqaruv chegarasini tushuntiradi. Server, operatsion tizim, bajarilish muhiti, ilova va ma’lumotlar turli qatlamlardir. Qaysi qatlamni kim yangilashi va himoya qilishi tanlangan modelga bog‘liq.</a:t>
            </a:r>
          </a:p>
          <a:p/>
          <a:p>
            <a:r>
              <a:t>IaaS dan PaaS va SaaS tomon o‘tilganda provayder ko‘proq qatlamni boshqaradi. Mijozning kundalik texnik ishlari kamayadi, lekin pastki qatlamlarni o‘zgartirish erkinligi ham qisqaradi.</a:t>
            </a:r>
          </a:p>
          <a:p/>
          <a:p>
            <a:r>
              <a:t>Universitet misolida buni quyidagicha tasavvur qilamiz. O‘z virtual serveridagi LMS, boshqariladigan platformadagi portal va tayyor ta’lim xizmati turli boshqaruv darajalarini ifodalaydi. Bu misolda texnik atama real vazifa bilan bog‘lanadi: resursning nomini emas, nima uchun tanlanganini tushunish muhim.</a:t>
            </a:r>
          </a:p>
          <a:p/>
          <a:p>
            <a:r>
              <a:t>E’tibor beradigan chegara ham bor. Ko‘proq boshqariladigan xizmat ma’lumot va foydalanuvchi ruxsatlari uchun javobgarlikni yo‘qotmaydi.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IaaS modelida provayder jismoniy uskunalar va virtualizatsiya qatlamini boshqaradi. Mijoz odatda operatsion tizim, kutubxonalar, ilova va ma’lumotlarni boshqaradi. Bu moslashuvchanlik beradi, lekin tizim ma’muriyati ishlarini ham saqlab qoladi.</a:t>
            </a:r>
          </a:p>
          <a:p/>
          <a:p>
            <a:r>
              <a:t>Mijoz server turi va disk hajmini tanlaydi, operatsion tizimni sozlaydi, xavfsizlik yangilanishlarini o‘rnatadi va dasturini joylashtiradi.</a:t>
            </a:r>
          </a:p>
          <a:p/>
          <a:p>
            <a:r>
              <a:t>Universitet misolida buni quyidagicha tasavvur qilamiz. EC2 yoki Azure Virtual Machines yordamida maxsus konfiguratsiyali Linux server tashkil qilish mumkin. Bu misolda texnik atama real vazifa bilan bog‘lanadi: resursning nomini emas, nima uchun tanlanganini tushunish muhim.</a:t>
            </a:r>
          </a:p>
          <a:p/>
          <a:p>
            <a:r>
              <a:t>E’tibor beradigan chegara ham bor. Virtual mashina sotib olish ilovaning avtomatik zaxiralangani yoki xavfsiz sozlangani degani emas.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PaaS dastur uchun tayyor bajarilish muhiti va xizmatlarni beradi. Jamoa ko‘proq kod, konfiguratsiya va ma’lumot bilan ishlaydi. Provayder operatsion tizim va platformaning katta qismini yangilaydi.</a:t>
            </a:r>
          </a:p>
          <a:p/>
          <a:p>
            <a:r>
              <a:t>Dasturchi qo‘llab-quvvatlanadigan til va versiyani tanlaydi. Platforma kodni ishga tushiradi, loglarni yig‘adi va sozlamaga qarab nusxalarni boshqaradi.</a:t>
            </a:r>
          </a:p>
          <a:p/>
          <a:p>
            <a:r>
              <a:t>Universitet misolida buni quyidagicha tasavvur qilamiz. Azure App Service yoki Google App Engine portal kodini virtual serverni qo‘lda sozlamasdan ishga tushirishga yordam beradi. Bu misolda texnik atama real vazifa bilan bog‘lanadi: resursning nomini emas, nima uchun tanlanganini tushunish muhim.</a:t>
            </a:r>
          </a:p>
          <a:p/>
          <a:p>
            <a:r>
              <a:t>E’tibor beradigan chegara ham bor. Platformaning til, versiya, tarmoq va bajarilish cheklovlari oldindan tekshiriladi.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SaaS modelida foydalanuvchi tayyor dasturga kiradi. Provayder ilova va pastki qatlamlarni yuritadi. Tashkilot esa hisoblar, ma’lumot ulashish, ruxsatlar va foydalanish siyosatini boshqarishda davom etadi.</a:t>
            </a:r>
          </a:p>
          <a:p/>
          <a:p>
            <a:r>
              <a:t>Xizmat brauzer yoki mobil ilova orqali taqdim etiladi. Yangilanishlar markazlashgan holda bajariladi. To‘lov foydalanuvchi, tarif yoki foydalanish hajmiga bog‘liq bo‘lishi mumkin.</a:t>
            </a:r>
          </a:p>
          <a:p/>
          <a:p>
            <a:r>
              <a:t>Universitet misolida buni quyidagicha tasavvur qilamiz. Microsoft 365 va Google Workspace hujjat, pochta va hamkorlik uchun tayyor xizmat misollaridir. Bu misolda texnik atama real vazifa bilan bog‘lanadi: resursning nomini emas, nima uchun tanlanganini tushunish muhim.</a:t>
            </a:r>
          </a:p>
          <a:p/>
          <a:p>
            <a:r>
              <a:t>E’tibor beradigan chegara ham bor. Tayyor xizmatdagi noto‘g‘ri ulashish sozlamasi maxfiy faylni ochib qo‘yishi mumkin.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Tanlovni bitta reklama iborasi bilan qilish to‘g‘ri emas. Maxsus operatsion tizim zarurmi, jamoada ma’mur bormi, ishga tushirish muddati qanday va ma’lumot talabi qanchalik qat’iy — shu savollar muhim.</a:t>
            </a:r>
          </a:p>
          <a:p/>
          <a:p>
            <a:r>
              <a:t>Talablar ro‘yxati tuzilib, har bir modelning mosligi baholanadi. Umumiy xarajatga boshqaruv va yangilashga ketadigan mehnat ham qo‘shiladi.</a:t>
            </a:r>
          </a:p>
          <a:p/>
          <a:p>
            <a:r>
              <a:t>Universitet misolida buni quyidagicha tasavvur qilamiz. Kichik jamoa standart portal uchun PaaS tanlashi, noyob eski tizim uchun esa IaaS dan foydalanishi mumkin. Bu misolda texnik atama real vazifa bilan bog‘lanadi: resursning nomini emas, nima uchun tanlanganini tushunish muhim.</a:t>
            </a:r>
          </a:p>
          <a:p/>
          <a:p>
            <a:r>
              <a:t>E’tibor beradigan chegara ham bor. Bir tashkilot barcha tizimlar uchun faqat bitta xizmat modelini tanlashi shart emas.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FaaS serverless yondashuvning bir ko‘rinishidir. Dasturchi butun server o‘rniga kichik funksiyani joylashtiradi. Funksiya HTTP so‘rovi, fayl yuklanishi yoki navbat xabari kabi hodisa bilan ishga tushadi.</a:t>
            </a:r>
          </a:p>
          <a:p/>
          <a:p>
            <a:r>
              <a:t>Provayder bajarilish muhitini ajratadi va bir nechta chaqiruvni boshqaradi. Dasturchi kodning to‘g‘riligi, ruxsatlari va tashqi ma’lumotlar bilan ishlashini ta’minlaydi.</a:t>
            </a:r>
          </a:p>
          <a:p/>
          <a:p>
            <a:r>
              <a:t>Universitet misolida buni quyidagicha tasavvur qilamiz. Talaba rasm yuklaganda funksiya uning kichik ko‘rinishini tayyorlab, obyekt saqlashga yozadi. Bu misolda texnik atama real vazifa bilan bog‘lanadi: resursning nomini emas, nima uchun tanlanganini tushunish muhim.</a:t>
            </a:r>
          </a:p>
          <a:p/>
          <a:p>
            <a:r>
              <a:t>E’tibor beradigan chegara ham bor. Serverless server yo‘qligini emas, serverlarni kundalik boshqarish provayderga o‘tganini anglatadi.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Endi mavzuni yaxlit sxemada ko‘ramiz. To‘rtburchaklar asosiy komponentlarni, o‘qlar esa ma’lumot, murojaat yoki boshqaruv bog‘lanishini ko‘rsatadi. Bu soddalashtirilgan ta’lim sxemasi: unda barcha xavfsizlik qoidalari, ichki protokollar va zaxira komponentlari alohida chizilmagan.</a:t>
            </a:r>
          </a:p>
          <a:p/>
          <a:p>
            <a:r>
              <a:t>«Ko‘proq nazorat» bilan «IaaS» o‘rtasida sxemada bog‘lanish ko‘rsatilgan. «IaaS» bilan «PaaS» o‘rtasida sxemada bog‘lanish ko‘rsatilgan. «PaaS» bilan «SaaS» o‘rtasida sxemada bog‘lanish ko‘rsatilgan. «SaaS» bilan «Kamroq operatsion ish» o‘rtasida sxemada bog‘lanish ko‘rsatilgan.</a:t>
            </a:r>
          </a:p>
          <a:p/>
          <a:p>
            <a:r>
              <a:t>Bu bog‘lanishlarni barcha xizmatlarda bir xil buyruq yoki bir xil fizik kabel deb tushunmaymiz. Ayrim o‘qlar bajarilish ketma-ketligini, ayrimlari resursni boshqarish yoki unga kirish aloqasini anglatadi. Mijoz server turi va disk hajmini tanlaydi, operatsion tizimni sozlaydi, xavfsizlik yangilanishlarini o‘rnatadi va dasturini joylashtiradi.</a:t>
            </a:r>
          </a:p>
          <a:p/>
          <a:p>
            <a:r>
              <a:t>Sxemaning asosiy foydasi mas’uliyatlarni ajratib ko‘rsatishdir. Kichik jamoa standart portal uchun PaaS tanlashi, noyob eski tizim uchun esa IaaS dan foydalanishi mumkin. Bir qismdagi o‘zgarish boshqasiga qanday ta’sir qilishini ko‘rish orqali murakkab tizimni kichik va tushunarli qismlarga ajratamiz.</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Keling, nazariyani bitta izchil vaziyat bilan bog‘laymiz. Universitetga yangi ta’lim portali kerak. Jamoa serverni to‘liq boshqarish, faqat ilova kodiga e’tibor berish yoki tayyor tizimdan foydalanish variantlarini solishtiradi.</a:t>
            </a:r>
          </a:p>
          <a:p/>
          <a:p>
            <a:r>
              <a:t>Avval ehtiyoj aniqlanadi: kim tizimdan foydalanadi, qaysi ma’lumot bilan ishlanadi va qanday natija kutiladi. O‘z virtual serveridagi LMS, boshqariladigan platformadagi portal va tayyor ta’lim xizmati turli boshqaruv darajalarini ifodalaydi. Keyin texnik qismlar shu talabga mos tanlanadi. Azure App Service yoki Google App Engine portal kodini virtual serverni qo‘lda sozlamasdan ishga tushirishga yordam beradi.</a:t>
            </a:r>
          </a:p>
          <a:p/>
          <a:p>
            <a:r>
              <a:t>Ishlash jarayonida faqat muvaffaqiyatli holat emas, xato va cheklovlar ham hisobga olinadi. Tayyor xizmatdagi noto‘g‘ri ulashish sozlamasi maxfiy faylni ochib qo‘yishi mumkin. Shu sababli jamoa talabni, ruxsatni va nosozlikdagi xatti-harakatni oldindan belgilaydi. Talaba rasm yuklaganda funksiya uning kichik ko‘rinishini tayyorlab, obyekt saqlashga yozadi.</a:t>
            </a:r>
          </a:p>
          <a:p/>
          <a:p>
            <a:r>
              <a:t>Misolning xulosasi shuki, texnologiya alohida maqsad emas. U talabaga kerakli xizmatni sodda, xavfsiz va barqaror yetkazishga xizmat qiladi. Slayddagi tayanch qismlar ishni rejalashga yordam beradi; haqiqiy joylashtirishda esa aniq konfiguratsiya va amaldagi hujjatlar talab qilinadi.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Mavzuni to‘g‘ri tushunish uchun uchta chegarani qayta ajratamiz.</a:t>
            </a:r>
          </a:p>
          <a:p/>
          <a:p>
            <a:r>
              <a:t>1. Ko‘proq boshqariladigan xizmat ma’lumot va foydalanuvchi ruxsatlari uchun javobgarlikni yo‘qotmaydi. To‘g‘ri talqin quyidagicha: Xizmat modeli texnologiyaning nomidan ko‘ra boshqaruv chegarasini tushuntiradi. Server, operatsion tizim, bajarilish muhiti, ilova va ma’lumotlar turli qatlamlardir. Qaysi qatlamni kim yangilashi va himoya qilishi tanlangan modelga bog‘liq.</a:t>
            </a:r>
          </a:p>
          <a:p/>
          <a:p>
            <a:r>
              <a:t>2. Tayyor xizmatdagi noto‘g‘ri ulashish sozlamasi maxfiy faylni ochib qo‘yishi mumkin. To‘g‘ri talqin quyidagicha: SaaS modelida foydalanuvchi tayyor dasturga kiradi. Provayder ilova va pastki qatlamlarni yuritadi. Tashkilot esa hisoblar, ma’lumot ulashish, ruxsatlar va foydalanish siyosatini boshqarishda davom etadi.</a:t>
            </a:r>
          </a:p>
          <a:p/>
          <a:p>
            <a:r>
              <a:t>3. Serverless server yo‘qligini emas, serverlarni kundalik boshqarish provayderga o‘tganini anglatadi. To‘g‘ri talqin quyidagicha: FaaS serverless yondashuvning bir ko‘rinishidir. Dasturchi butun server o‘rniga kichik funksiyani joylashtiradi. Funksiya HTTP so‘rovi, fayl yuklanishi yoki navbat xabari kabi hodisa bilan ishga tushadi.</a:t>
            </a:r>
          </a:p>
          <a:p/>
          <a:p>
            <a:r>
              <a:t>Bu izohlar texnologiyani rad etish uchun emas, undan o‘rinli foydalanish uchun kerak. Ta’rif, amaliy vazifa va shart birga o‘qilgandagina to‘g‘ri xulosa paydo bo‘ladi. Shuning uchun xizmat nomi yoki bitta imkoniyatga qarab butun tizim haqida umumiy hukm chiqarmaymiz.</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Bugungi ma’ruzani yakunlaymiz. Qaysi ishni siz, qaysi ishni provayder bajaradi? — mavzuning umumiy mazmunini ifodalaydi.</a:t>
            </a:r>
          </a:p>
          <a:p/>
          <a:p>
            <a:r>
              <a:t>Asosiy tayanch fikr: Model — mas’uliyat qanday bo‘linishini ko‘rsatadi. IaaS dan PaaS va SaaS tomon o‘tilganda provayder ko‘proq qatlamni boshqaradi. Mijozning kundalik texnik ishlari kamayadi, lekin pastki qatlamlarni o‘zgartirish erkinligi ham qisqaradi.</a:t>
            </a:r>
          </a:p>
          <a:p/>
          <a:p>
            <a:r>
              <a:t>Asosiy tayanch fikr: Kodni joylashtiring, platformani provayder boshqarsin. Dasturchi qo‘llab-quvvatlanadigan til va versiyani tanlaydi. Platforma kodni ishga tushiradi, loglarni yig‘adi va sozlamaga qarab nusxalarni boshqaradi.</a:t>
            </a:r>
          </a:p>
          <a:p/>
          <a:p>
            <a:r>
              <a:t>Asosiy tayanch fikr: Nazorat, vaqt, malaka va xarajatni solishtiring. Talablar ro‘yxati tuzilib, har bir modelning mosligi baholanadi. Umumiy xarajatga boshqaruv va yangilashga ketadigan mehnat ham qo‘shiladi.</a:t>
            </a:r>
          </a:p>
          <a:p/>
          <a:p>
            <a:r>
              <a:t>Barcha bo‘limlarni universitet portali misoli orqali bog‘ladik. Endi atamalarni alohida so‘z sifatida emas, tizimdagi aniq vazifa sifatida ko‘rish mumkin. Arxitektura tanlashda talab, cheklov, xavfsizlik va xarajat birgalikda baholanadi. Mavzuni takrorlashda avval ta’rifni, keyin sxemani, so‘ng misol va chegaralarni ko‘zdan kechirish foydali. E’tiboringiz uchun rahmat.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Ushbu mavzu foydalanuvchi taqdim etgan BTST206 sillabusidagi tegishli ma’ruza bo‘limi asosida tuzildi. Slaydda mavzuni chuqurroq o‘qish uchun rasmiy hujjatlarga havolalar ko‘rsatilgan. Xizmatlar yangilanib boradi, shuning uchun amaliy ish oldidan tanlangan versiya, region, tarif va limitlar tekshiriladi. Bu ma’ruzada maqsad o‘zgaruvchan raqamlarni yodlash emas, barqaror tamoyillarni tushunishdir.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67512"/>
            <a:ext cx="10789920" cy="365760"/>
          </a:xfrm>
          <a:prstGeom prst="rect">
            <a:avLst/>
          </a:prstGeom>
          <a:noFill/>
        </p:spPr>
        <p:txBody>
          <a:bodyPr wrap="square" lIns="27432" rIns="27432" tIns="18288" bIns="0">
            <a:spAutoFit/>
          </a:bodyPr>
          <a:lstStyle/>
          <a:p>
            <a:pPr>
              <a:spcAft>
                <a:spcPts val="800"/>
              </a:spcAft>
              <a:defRPr sz="1300" b="1">
                <a:solidFill>
                  <a:srgbClr val="2368CE"/>
                </a:solidFill>
                <a:latin typeface="DejaVu Sans"/>
              </a:defRPr>
            </a:pPr>
            <a:r>
              <a:t>03  /  BULUT XIZMAT MODELLARI</a:t>
            </a:r>
          </a:p>
        </p:txBody>
      </p:sp>
      <p:sp>
        <p:nvSpPr>
          <p:cNvPr id="4" name="TextBox 3"/>
          <p:cNvSpPr txBox="1"/>
          <p:nvPr/>
        </p:nvSpPr>
        <p:spPr>
          <a:xfrm>
            <a:off x="640080" y="1371600"/>
            <a:ext cx="7680960" cy="1737360"/>
          </a:xfrm>
          <a:prstGeom prst="rect">
            <a:avLst/>
          </a:prstGeom>
          <a:noFill/>
        </p:spPr>
        <p:txBody>
          <a:bodyPr wrap="square" lIns="27432" rIns="27432" tIns="18288" bIns="0">
            <a:spAutoFit/>
          </a:bodyPr>
          <a:lstStyle/>
          <a:p>
            <a:pPr>
              <a:spcAft>
                <a:spcPts val="800"/>
              </a:spcAft>
              <a:defRPr sz="4500" b="1">
                <a:solidFill>
                  <a:srgbClr val="20364E"/>
                </a:solidFill>
                <a:latin typeface="DejaVu Sans"/>
              </a:defRPr>
            </a:pPr>
            <a:r>
              <a:t>IaaS, PaaS</a:t>
            </a:r>
          </a:p>
          <a:p>
            <a:pPr>
              <a:spcAft>
                <a:spcPts val="800"/>
              </a:spcAft>
              <a:defRPr sz="4500" b="1">
                <a:solidFill>
                  <a:srgbClr val="20364E"/>
                </a:solidFill>
                <a:latin typeface="DejaVu Sans"/>
              </a:defRPr>
            </a:pPr>
            <a:r>
              <a:t>va SaaS</a:t>
            </a:r>
          </a:p>
        </p:txBody>
      </p:sp>
      <p:sp>
        <p:nvSpPr>
          <p:cNvPr id="5" name="TextBox 4"/>
          <p:cNvSpPr txBox="1"/>
          <p:nvPr/>
        </p:nvSpPr>
        <p:spPr>
          <a:xfrm>
            <a:off x="685800" y="3456432"/>
            <a:ext cx="5577840" cy="1188720"/>
          </a:xfrm>
          <a:prstGeom prst="rect">
            <a:avLst/>
          </a:prstGeom>
          <a:noFill/>
        </p:spPr>
        <p:txBody>
          <a:bodyPr wrap="square" lIns="27432" rIns="27432" tIns="18288" bIns="0">
            <a:spAutoFit/>
          </a:bodyPr>
          <a:lstStyle/>
          <a:p>
            <a:pPr>
              <a:spcAft>
                <a:spcPts val="800"/>
              </a:spcAft>
              <a:defRPr sz="2400" b="0">
                <a:solidFill>
                  <a:srgbClr val="526A80"/>
                </a:solidFill>
                <a:latin typeface="DejaVu Sans"/>
              </a:defRPr>
            </a:pPr>
            <a:r>
              <a:t>Qaysi ishni siz, qaysi ishni provayder bajaradi?</a:t>
            </a:r>
          </a:p>
        </p:txBody>
      </p:sp>
      <p:pic>
        <p:nvPicPr>
          <p:cNvPr id="6" name="Picture 5" descr="shared_responsibility.png"/>
          <p:cNvPicPr>
            <a:picLocks noChangeAspect="1"/>
          </p:cNvPicPr>
          <p:nvPr/>
        </p:nvPicPr>
        <p:blipFill>
          <a:blip r:embed="rId2"/>
          <a:stretch>
            <a:fillRect/>
          </a:stretch>
        </p:blipFill>
        <p:spPr>
          <a:xfrm>
            <a:off x="7726679" y="1622691"/>
            <a:ext cx="3794760" cy="2241016"/>
          </a:xfrm>
          <a:prstGeom prst="rect">
            <a:avLst/>
          </a:prstGeom>
        </p:spPr>
      </p:pic>
      <p:sp>
        <p:nvSpPr>
          <p:cNvPr id="7" name="Rounded Rectangle 6"/>
          <p:cNvSpPr/>
          <p:nvPr/>
        </p:nvSpPr>
        <p:spPr>
          <a:xfrm>
            <a:off x="685800" y="4892040"/>
            <a:ext cx="3474720" cy="1143000"/>
          </a:xfrm>
          <a:prstGeom prst="roundRect">
            <a:avLst>
              <a:gd name="adj" fmla="val 8000"/>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029200"/>
            <a:ext cx="3108960" cy="365760"/>
          </a:xfrm>
          <a:prstGeom prst="rect">
            <a:avLst/>
          </a:prstGeom>
          <a:noFill/>
        </p:spPr>
        <p:txBody>
          <a:bodyPr wrap="square" lIns="27432" rIns="27432" tIns="18288" bIns="0">
            <a:spAutoFit/>
          </a:bodyPr>
          <a:lstStyle/>
          <a:p>
            <a:pPr>
              <a:spcAft>
                <a:spcPts val="800"/>
              </a:spcAft>
              <a:defRPr sz="2500" b="1">
                <a:solidFill>
                  <a:srgbClr val="FFFFFF"/>
                </a:solidFill>
                <a:latin typeface="DejaVu Sans"/>
              </a:defRPr>
            </a:pPr>
            <a:r>
              <a:t>IaaS</a:t>
            </a:r>
          </a:p>
        </p:txBody>
      </p:sp>
      <p:sp>
        <p:nvSpPr>
          <p:cNvPr id="9" name="TextBox 8"/>
          <p:cNvSpPr txBox="1"/>
          <p:nvPr/>
        </p:nvSpPr>
        <p:spPr>
          <a:xfrm>
            <a:off x="868680" y="5522976"/>
            <a:ext cx="3108960" cy="320040"/>
          </a:xfrm>
          <a:prstGeom prst="rect">
            <a:avLst/>
          </a:prstGeom>
          <a:noFill/>
        </p:spPr>
        <p:txBody>
          <a:bodyPr wrap="square" lIns="27432" rIns="27432" tIns="18288" bIns="0">
            <a:spAutoFit/>
          </a:bodyPr>
          <a:lstStyle/>
          <a:p>
            <a:pPr>
              <a:spcAft>
                <a:spcPts val="800"/>
              </a:spcAft>
              <a:defRPr sz="1500" b="0">
                <a:solidFill>
                  <a:srgbClr val="FFFFFF"/>
                </a:solidFill>
                <a:latin typeface="DejaVu Sans"/>
              </a:defRPr>
            </a:pPr>
            <a:r>
              <a:t>Infratuzilma</a:t>
            </a:r>
          </a:p>
        </p:txBody>
      </p:sp>
      <p:sp>
        <p:nvSpPr>
          <p:cNvPr id="10" name="Rounded Rectangle 9"/>
          <p:cNvSpPr/>
          <p:nvPr/>
        </p:nvSpPr>
        <p:spPr>
          <a:xfrm>
            <a:off x="4389120" y="4892040"/>
            <a:ext cx="3474720" cy="1143000"/>
          </a:xfrm>
          <a:prstGeom prst="roundRect">
            <a:avLst>
              <a:gd name="adj" fmla="val 8000"/>
            </a:avLst>
          </a:prstGeom>
          <a:solidFill>
            <a:srgbClr val="875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5029200"/>
            <a:ext cx="3108960" cy="365760"/>
          </a:xfrm>
          <a:prstGeom prst="rect">
            <a:avLst/>
          </a:prstGeom>
          <a:noFill/>
        </p:spPr>
        <p:txBody>
          <a:bodyPr wrap="square" lIns="27432" rIns="27432" tIns="18288" bIns="0">
            <a:spAutoFit/>
          </a:bodyPr>
          <a:lstStyle/>
          <a:p>
            <a:pPr>
              <a:spcAft>
                <a:spcPts val="800"/>
              </a:spcAft>
              <a:defRPr sz="2500" b="1">
                <a:solidFill>
                  <a:srgbClr val="FFFFFF"/>
                </a:solidFill>
                <a:latin typeface="DejaVu Sans"/>
              </a:defRPr>
            </a:pPr>
            <a:r>
              <a:t>PaaS</a:t>
            </a:r>
          </a:p>
        </p:txBody>
      </p:sp>
      <p:sp>
        <p:nvSpPr>
          <p:cNvPr id="12" name="TextBox 11"/>
          <p:cNvSpPr txBox="1"/>
          <p:nvPr/>
        </p:nvSpPr>
        <p:spPr>
          <a:xfrm>
            <a:off x="4572000" y="5522976"/>
            <a:ext cx="3108960" cy="320040"/>
          </a:xfrm>
          <a:prstGeom prst="rect">
            <a:avLst/>
          </a:prstGeom>
          <a:noFill/>
        </p:spPr>
        <p:txBody>
          <a:bodyPr wrap="square" lIns="27432" rIns="27432" tIns="18288" bIns="0">
            <a:spAutoFit/>
          </a:bodyPr>
          <a:lstStyle/>
          <a:p>
            <a:pPr>
              <a:spcAft>
                <a:spcPts val="800"/>
              </a:spcAft>
              <a:defRPr sz="1500" b="0">
                <a:solidFill>
                  <a:srgbClr val="FFFFFF"/>
                </a:solidFill>
                <a:latin typeface="DejaVu Sans"/>
              </a:defRPr>
            </a:pPr>
            <a:r>
              <a:t>Platforma</a:t>
            </a:r>
          </a:p>
        </p:txBody>
      </p:sp>
      <p:sp>
        <p:nvSpPr>
          <p:cNvPr id="13" name="Rounded Rectangle 12"/>
          <p:cNvSpPr/>
          <p:nvPr/>
        </p:nvSpPr>
        <p:spPr>
          <a:xfrm>
            <a:off x="8092440" y="4892040"/>
            <a:ext cx="3474720" cy="1143000"/>
          </a:xfrm>
          <a:prstGeom prst="roundRect">
            <a:avLst>
              <a:gd name="adj" fmla="val 8000"/>
            </a:avLst>
          </a:prstGeom>
          <a:solidFill>
            <a:srgbClr val="159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19" y="5029200"/>
            <a:ext cx="3108960" cy="365760"/>
          </a:xfrm>
          <a:prstGeom prst="rect">
            <a:avLst/>
          </a:prstGeom>
          <a:noFill/>
        </p:spPr>
        <p:txBody>
          <a:bodyPr wrap="square" lIns="27432" rIns="27432" tIns="18288" bIns="0">
            <a:spAutoFit/>
          </a:bodyPr>
          <a:lstStyle/>
          <a:p>
            <a:pPr>
              <a:spcAft>
                <a:spcPts val="800"/>
              </a:spcAft>
              <a:defRPr sz="2500" b="1">
                <a:solidFill>
                  <a:srgbClr val="FFFFFF"/>
                </a:solidFill>
                <a:latin typeface="DejaVu Sans"/>
              </a:defRPr>
            </a:pPr>
            <a:r>
              <a:t>SaaS</a:t>
            </a:r>
          </a:p>
        </p:txBody>
      </p:sp>
      <p:sp>
        <p:nvSpPr>
          <p:cNvPr id="15" name="TextBox 14"/>
          <p:cNvSpPr txBox="1"/>
          <p:nvPr/>
        </p:nvSpPr>
        <p:spPr>
          <a:xfrm>
            <a:off x="8275319" y="5522976"/>
            <a:ext cx="3108960" cy="320040"/>
          </a:xfrm>
          <a:prstGeom prst="rect">
            <a:avLst/>
          </a:prstGeom>
          <a:noFill/>
        </p:spPr>
        <p:txBody>
          <a:bodyPr wrap="square" lIns="27432" rIns="27432" tIns="18288" bIns="0">
            <a:spAutoFit/>
          </a:bodyPr>
          <a:lstStyle/>
          <a:p>
            <a:pPr>
              <a:spcAft>
                <a:spcPts val="800"/>
              </a:spcAft>
              <a:defRPr sz="1500" b="0">
                <a:solidFill>
                  <a:srgbClr val="FFFFFF"/>
                </a:solidFill>
                <a:latin typeface="DejaVu Sans"/>
              </a:defRPr>
            </a:pPr>
            <a:r>
              <a:t>Tayyor dastur</a:t>
            </a:r>
          </a:p>
        </p:txBody>
      </p:sp>
      <p:sp>
        <p:nvSpPr>
          <p:cNvPr id="16" name="TextBox 15"/>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567083"/>
                </a:solidFill>
                <a:latin typeface="DejaVu Sans"/>
              </a:defRPr>
            </a:pPr>
            <a:r>
              <a:t>BTST206   /   M03   /   2027–2028</a:t>
            </a:r>
          </a:p>
        </p:txBody>
      </p:sp>
      <p:sp>
        <p:nvSpPr>
          <p:cNvPr id="17" name="TextBox 16"/>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567083"/>
                </a:solidFill>
                <a:latin typeface="DejaVu Sans"/>
              </a:defRPr>
            </a:pPr>
            <a:r>
              <a:t>01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73736"/>
          </a:xfrm>
          <a:prstGeom prst="rect">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420624"/>
            <a:ext cx="9875520" cy="932688"/>
          </a:xfrm>
          <a:prstGeom prst="rect">
            <a:avLst/>
          </a:prstGeom>
          <a:noFill/>
        </p:spPr>
        <p:txBody>
          <a:bodyPr wrap="square" lIns="27432" rIns="27432" tIns="18288" bIns="0">
            <a:spAutoFit/>
          </a:bodyPr>
          <a:lstStyle/>
          <a:p>
            <a:pPr>
              <a:spcAft>
                <a:spcPts val="800"/>
              </a:spcAft>
              <a:defRPr sz="3000" b="1">
                <a:solidFill>
                  <a:srgbClr val="20364E"/>
                </a:solidFill>
                <a:latin typeface="DejaVu Sans"/>
              </a:defRPr>
            </a:pPr>
            <a:r>
              <a:t>Ma’ruza yo‘nalishi</a:t>
            </a:r>
          </a:p>
        </p:txBody>
      </p:sp>
      <p:sp>
        <p:nvSpPr>
          <p:cNvPr id="4" name="Rounded Rectangle 3"/>
          <p:cNvSpPr/>
          <p:nvPr/>
        </p:nvSpPr>
        <p:spPr>
          <a:xfrm>
            <a:off x="621792" y="1399032"/>
            <a:ext cx="1051560" cy="310896"/>
          </a:xfrm>
          <a:prstGeom prst="roundRect">
            <a:avLst>
              <a:gd name="adj" fmla="val 8000"/>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IaaS</a:t>
            </a:r>
          </a:p>
        </p:txBody>
      </p:sp>
      <p:sp>
        <p:nvSpPr>
          <p:cNvPr id="6" name="Rounded Rectangle 5"/>
          <p:cNvSpPr/>
          <p:nvPr/>
        </p:nvSpPr>
        <p:spPr>
          <a:xfrm>
            <a:off x="1810512" y="1399032"/>
            <a:ext cx="1051560" cy="310896"/>
          </a:xfrm>
          <a:prstGeom prst="roundRect">
            <a:avLst>
              <a:gd name="adj" fmla="val 8000"/>
            </a:avLst>
          </a:prstGeom>
          <a:solidFill>
            <a:srgbClr val="875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19"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PaaS</a:t>
            </a:r>
          </a:p>
        </p:txBody>
      </p:sp>
      <p:sp>
        <p:nvSpPr>
          <p:cNvPr id="8" name="Rounded Rectangle 7"/>
          <p:cNvSpPr/>
          <p:nvPr/>
        </p:nvSpPr>
        <p:spPr>
          <a:xfrm>
            <a:off x="2999232" y="1399032"/>
            <a:ext cx="1051560" cy="310896"/>
          </a:xfrm>
          <a:prstGeom prst="roundRect">
            <a:avLst>
              <a:gd name="adj" fmla="val 8000"/>
            </a:avLst>
          </a:prstGeom>
          <a:solidFill>
            <a:srgbClr val="159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63240"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SaaS</a:t>
            </a:r>
          </a:p>
        </p:txBody>
      </p:sp>
      <p:sp>
        <p:nvSpPr>
          <p:cNvPr id="10" name="TextBox 9"/>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0364E"/>
                </a:solidFill>
                <a:latin typeface="DejaVu Sans"/>
              </a:defRPr>
            </a:pPr>
            <a:r>
              <a:t>BTST206   /   M03   /   2027–2028</a:t>
            </a:r>
          </a:p>
        </p:txBody>
      </p:sp>
      <p:sp>
        <p:nvSpPr>
          <p:cNvPr id="11" name="TextBox 10"/>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0364E"/>
                </a:solidFill>
                <a:latin typeface="DejaVu Sans"/>
              </a:defRPr>
            </a:pPr>
            <a:r>
              <a:t>02 / 13</a:t>
            </a:r>
          </a:p>
        </p:txBody>
      </p:sp>
      <p:sp>
        <p:nvSpPr>
          <p:cNvPr id="12" name="Rounded Rectangle 11"/>
          <p:cNvSpPr/>
          <p:nvPr/>
        </p:nvSpPr>
        <p:spPr>
          <a:xfrm>
            <a:off x="640080" y="1993392"/>
            <a:ext cx="5477256" cy="1097280"/>
          </a:xfrm>
          <a:prstGeom prst="roundRect">
            <a:avLst>
              <a:gd name="adj" fmla="val 8000"/>
            </a:avLst>
          </a:prstGeom>
          <a:solidFill>
            <a:srgbClr val="EEF1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1993392"/>
            <a:ext cx="100584" cy="1097280"/>
          </a:xfrm>
          <a:prstGeom prst="rect">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121408"/>
            <a:ext cx="502920" cy="320040"/>
          </a:xfrm>
          <a:prstGeom prst="rect">
            <a:avLst/>
          </a:prstGeom>
          <a:noFill/>
        </p:spPr>
        <p:txBody>
          <a:bodyPr wrap="square" lIns="27432" rIns="27432" tIns="18288" bIns="0">
            <a:spAutoFit/>
          </a:bodyPr>
          <a:lstStyle/>
          <a:p>
            <a:pPr>
              <a:spcAft>
                <a:spcPts val="800"/>
              </a:spcAft>
              <a:defRPr sz="1400" b="1">
                <a:solidFill>
                  <a:srgbClr val="2368CE"/>
                </a:solidFill>
                <a:latin typeface="DejaVu Sans"/>
              </a:defRPr>
            </a:pPr>
            <a:r>
              <a:t>01</a:t>
            </a:r>
          </a:p>
        </p:txBody>
      </p:sp>
      <p:sp>
        <p:nvSpPr>
          <p:cNvPr id="15" name="TextBox 14"/>
          <p:cNvSpPr txBox="1"/>
          <p:nvPr/>
        </p:nvSpPr>
        <p:spPr>
          <a:xfrm>
            <a:off x="1527048" y="2148840"/>
            <a:ext cx="4343400" cy="813816"/>
          </a:xfrm>
          <a:prstGeom prst="rect">
            <a:avLst/>
          </a:prstGeom>
          <a:noFill/>
        </p:spPr>
        <p:txBody>
          <a:bodyPr wrap="square" lIns="27432" rIns="27432" tIns="18288" bIns="0">
            <a:spAutoFit/>
          </a:bodyPr>
          <a:lstStyle/>
          <a:p>
            <a:pPr>
              <a:spcAft>
                <a:spcPts val="800"/>
              </a:spcAft>
              <a:defRPr sz="2100" b="1">
                <a:solidFill>
                  <a:srgbClr val="20364E"/>
                </a:solidFill>
                <a:latin typeface="DejaVu Sans"/>
              </a:defRPr>
            </a:pPr>
            <a:r>
              <a:t>Xizmat modeli va boshqaruv chegarasi</a:t>
            </a:r>
          </a:p>
        </p:txBody>
      </p:sp>
      <p:sp>
        <p:nvSpPr>
          <p:cNvPr id="16" name="Rounded Rectangle 15"/>
          <p:cNvSpPr/>
          <p:nvPr/>
        </p:nvSpPr>
        <p:spPr>
          <a:xfrm>
            <a:off x="6355080" y="1993392"/>
            <a:ext cx="5477256" cy="1097280"/>
          </a:xfrm>
          <a:prstGeom prst="roundRect">
            <a:avLst>
              <a:gd name="adj" fmla="val 8000"/>
            </a:avLst>
          </a:prstGeom>
          <a:solidFill>
            <a:srgbClr val="EEF1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55080" y="1993392"/>
            <a:ext cx="100584" cy="1097280"/>
          </a:xfrm>
          <a:prstGeom prst="rect">
            <a:avLst/>
          </a:prstGeom>
          <a:solidFill>
            <a:srgbClr val="875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11112" y="2121408"/>
            <a:ext cx="502920" cy="320040"/>
          </a:xfrm>
          <a:prstGeom prst="rect">
            <a:avLst/>
          </a:prstGeom>
          <a:noFill/>
        </p:spPr>
        <p:txBody>
          <a:bodyPr wrap="square" lIns="27432" rIns="27432" tIns="18288" bIns="0">
            <a:spAutoFit/>
          </a:bodyPr>
          <a:lstStyle/>
          <a:p>
            <a:pPr>
              <a:spcAft>
                <a:spcPts val="800"/>
              </a:spcAft>
              <a:defRPr sz="1400" b="1">
                <a:solidFill>
                  <a:srgbClr val="2368CE"/>
                </a:solidFill>
                <a:latin typeface="DejaVu Sans"/>
              </a:defRPr>
            </a:pPr>
            <a:r>
              <a:t>02</a:t>
            </a:r>
          </a:p>
        </p:txBody>
      </p:sp>
      <p:sp>
        <p:nvSpPr>
          <p:cNvPr id="19" name="TextBox 18"/>
          <p:cNvSpPr txBox="1"/>
          <p:nvPr/>
        </p:nvSpPr>
        <p:spPr>
          <a:xfrm>
            <a:off x="7242048" y="2148840"/>
            <a:ext cx="4343400" cy="813816"/>
          </a:xfrm>
          <a:prstGeom prst="rect">
            <a:avLst/>
          </a:prstGeom>
          <a:noFill/>
        </p:spPr>
        <p:txBody>
          <a:bodyPr wrap="square" lIns="27432" rIns="27432" tIns="18288" bIns="0">
            <a:spAutoFit/>
          </a:bodyPr>
          <a:lstStyle/>
          <a:p>
            <a:pPr>
              <a:spcAft>
                <a:spcPts val="800"/>
              </a:spcAft>
              <a:defRPr sz="2100" b="1">
                <a:solidFill>
                  <a:srgbClr val="20364E"/>
                </a:solidFill>
                <a:latin typeface="DejaVu Sans"/>
              </a:defRPr>
            </a:pPr>
            <a:r>
              <a:t>IaaS: infratuzilma xizmati</a:t>
            </a:r>
          </a:p>
        </p:txBody>
      </p:sp>
      <p:sp>
        <p:nvSpPr>
          <p:cNvPr id="20" name="Rounded Rectangle 19"/>
          <p:cNvSpPr/>
          <p:nvPr/>
        </p:nvSpPr>
        <p:spPr>
          <a:xfrm>
            <a:off x="640080" y="3328416"/>
            <a:ext cx="5477256" cy="1097280"/>
          </a:xfrm>
          <a:prstGeom prst="roundRect">
            <a:avLst>
              <a:gd name="adj" fmla="val 8000"/>
            </a:avLst>
          </a:prstGeom>
          <a:solidFill>
            <a:srgbClr val="EEF1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3328416"/>
            <a:ext cx="100584" cy="1097280"/>
          </a:xfrm>
          <a:prstGeom prst="rect">
            <a:avLst/>
          </a:prstGeom>
          <a:solidFill>
            <a:srgbClr val="159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3456432"/>
            <a:ext cx="502920" cy="320040"/>
          </a:xfrm>
          <a:prstGeom prst="rect">
            <a:avLst/>
          </a:prstGeom>
          <a:noFill/>
        </p:spPr>
        <p:txBody>
          <a:bodyPr wrap="square" lIns="27432" rIns="27432" tIns="18288" bIns="0">
            <a:spAutoFit/>
          </a:bodyPr>
          <a:lstStyle/>
          <a:p>
            <a:pPr>
              <a:spcAft>
                <a:spcPts val="800"/>
              </a:spcAft>
              <a:defRPr sz="1400" b="1">
                <a:solidFill>
                  <a:srgbClr val="2368CE"/>
                </a:solidFill>
                <a:latin typeface="DejaVu Sans"/>
              </a:defRPr>
            </a:pPr>
            <a:r>
              <a:t>03</a:t>
            </a:r>
          </a:p>
        </p:txBody>
      </p:sp>
      <p:sp>
        <p:nvSpPr>
          <p:cNvPr id="23" name="TextBox 22"/>
          <p:cNvSpPr txBox="1"/>
          <p:nvPr/>
        </p:nvSpPr>
        <p:spPr>
          <a:xfrm>
            <a:off x="1527048" y="3483864"/>
            <a:ext cx="4343400" cy="813816"/>
          </a:xfrm>
          <a:prstGeom prst="rect">
            <a:avLst/>
          </a:prstGeom>
          <a:noFill/>
        </p:spPr>
        <p:txBody>
          <a:bodyPr wrap="square" lIns="27432" rIns="27432" tIns="18288" bIns="0">
            <a:spAutoFit/>
          </a:bodyPr>
          <a:lstStyle/>
          <a:p>
            <a:pPr>
              <a:spcAft>
                <a:spcPts val="800"/>
              </a:spcAft>
              <a:defRPr sz="2100" b="1">
                <a:solidFill>
                  <a:srgbClr val="20364E"/>
                </a:solidFill>
                <a:latin typeface="DejaVu Sans"/>
              </a:defRPr>
            </a:pPr>
            <a:r>
              <a:t>PaaS: platforma xizmati</a:t>
            </a:r>
          </a:p>
        </p:txBody>
      </p:sp>
      <p:sp>
        <p:nvSpPr>
          <p:cNvPr id="24" name="Rounded Rectangle 23"/>
          <p:cNvSpPr/>
          <p:nvPr/>
        </p:nvSpPr>
        <p:spPr>
          <a:xfrm>
            <a:off x="6355080" y="3328416"/>
            <a:ext cx="5477256" cy="1097280"/>
          </a:xfrm>
          <a:prstGeom prst="roundRect">
            <a:avLst>
              <a:gd name="adj" fmla="val 8000"/>
            </a:avLst>
          </a:prstGeom>
          <a:solidFill>
            <a:srgbClr val="EEF1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55080" y="3328416"/>
            <a:ext cx="100584" cy="1097280"/>
          </a:xfrm>
          <a:prstGeom prst="rect">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11112" y="3456432"/>
            <a:ext cx="502920" cy="320040"/>
          </a:xfrm>
          <a:prstGeom prst="rect">
            <a:avLst/>
          </a:prstGeom>
          <a:noFill/>
        </p:spPr>
        <p:txBody>
          <a:bodyPr wrap="square" lIns="27432" rIns="27432" tIns="18288" bIns="0">
            <a:spAutoFit/>
          </a:bodyPr>
          <a:lstStyle/>
          <a:p>
            <a:pPr>
              <a:spcAft>
                <a:spcPts val="800"/>
              </a:spcAft>
              <a:defRPr sz="1400" b="1">
                <a:solidFill>
                  <a:srgbClr val="2368CE"/>
                </a:solidFill>
                <a:latin typeface="DejaVu Sans"/>
              </a:defRPr>
            </a:pPr>
            <a:r>
              <a:t>04</a:t>
            </a:r>
          </a:p>
        </p:txBody>
      </p:sp>
      <p:sp>
        <p:nvSpPr>
          <p:cNvPr id="27" name="TextBox 26"/>
          <p:cNvSpPr txBox="1"/>
          <p:nvPr/>
        </p:nvSpPr>
        <p:spPr>
          <a:xfrm>
            <a:off x="7242048" y="3483864"/>
            <a:ext cx="4343400" cy="813816"/>
          </a:xfrm>
          <a:prstGeom prst="rect">
            <a:avLst/>
          </a:prstGeom>
          <a:noFill/>
        </p:spPr>
        <p:txBody>
          <a:bodyPr wrap="square" lIns="27432" rIns="27432" tIns="18288" bIns="0">
            <a:spAutoFit/>
          </a:bodyPr>
          <a:lstStyle/>
          <a:p>
            <a:pPr>
              <a:spcAft>
                <a:spcPts val="800"/>
              </a:spcAft>
              <a:defRPr sz="2100" b="1">
                <a:solidFill>
                  <a:srgbClr val="20364E"/>
                </a:solidFill>
                <a:latin typeface="DejaVu Sans"/>
              </a:defRPr>
            </a:pPr>
            <a:r>
              <a:t>SaaS: tayyor dastur xizmati</a:t>
            </a:r>
          </a:p>
        </p:txBody>
      </p:sp>
      <p:sp>
        <p:nvSpPr>
          <p:cNvPr id="28" name="Rounded Rectangle 27"/>
          <p:cNvSpPr/>
          <p:nvPr/>
        </p:nvSpPr>
        <p:spPr>
          <a:xfrm>
            <a:off x="640080" y="4663440"/>
            <a:ext cx="5477256" cy="1097280"/>
          </a:xfrm>
          <a:prstGeom prst="roundRect">
            <a:avLst>
              <a:gd name="adj" fmla="val 8000"/>
            </a:avLst>
          </a:prstGeom>
          <a:solidFill>
            <a:srgbClr val="EEF1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0080" y="4663440"/>
            <a:ext cx="100584" cy="1097280"/>
          </a:xfrm>
          <a:prstGeom prst="rect">
            <a:avLst/>
          </a:prstGeom>
          <a:solidFill>
            <a:srgbClr val="875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4791455"/>
            <a:ext cx="502920" cy="320040"/>
          </a:xfrm>
          <a:prstGeom prst="rect">
            <a:avLst/>
          </a:prstGeom>
          <a:noFill/>
        </p:spPr>
        <p:txBody>
          <a:bodyPr wrap="square" lIns="27432" rIns="27432" tIns="18288" bIns="0">
            <a:spAutoFit/>
          </a:bodyPr>
          <a:lstStyle/>
          <a:p>
            <a:pPr>
              <a:spcAft>
                <a:spcPts val="800"/>
              </a:spcAft>
              <a:defRPr sz="1400" b="1">
                <a:solidFill>
                  <a:srgbClr val="2368CE"/>
                </a:solidFill>
                <a:latin typeface="DejaVu Sans"/>
              </a:defRPr>
            </a:pPr>
            <a:r>
              <a:t>05</a:t>
            </a:r>
          </a:p>
        </p:txBody>
      </p:sp>
      <p:sp>
        <p:nvSpPr>
          <p:cNvPr id="31" name="TextBox 30"/>
          <p:cNvSpPr txBox="1"/>
          <p:nvPr/>
        </p:nvSpPr>
        <p:spPr>
          <a:xfrm>
            <a:off x="1527048" y="4818888"/>
            <a:ext cx="4343400" cy="813816"/>
          </a:xfrm>
          <a:prstGeom prst="rect">
            <a:avLst/>
          </a:prstGeom>
          <a:noFill/>
        </p:spPr>
        <p:txBody>
          <a:bodyPr wrap="square" lIns="27432" rIns="27432" tIns="18288" bIns="0">
            <a:spAutoFit/>
          </a:bodyPr>
          <a:lstStyle/>
          <a:p>
            <a:pPr>
              <a:spcAft>
                <a:spcPts val="800"/>
              </a:spcAft>
              <a:defRPr sz="2100" b="1">
                <a:solidFill>
                  <a:srgbClr val="20364E"/>
                </a:solidFill>
                <a:latin typeface="DejaVu Sans"/>
              </a:defRPr>
            </a:pPr>
            <a:r>
              <a:t>Modellarni tanlash mezonlari</a:t>
            </a:r>
          </a:p>
        </p:txBody>
      </p:sp>
      <p:sp>
        <p:nvSpPr>
          <p:cNvPr id="32" name="Rounded Rectangle 31"/>
          <p:cNvSpPr/>
          <p:nvPr/>
        </p:nvSpPr>
        <p:spPr>
          <a:xfrm>
            <a:off x="6355080" y="4663440"/>
            <a:ext cx="5477256" cy="1097280"/>
          </a:xfrm>
          <a:prstGeom prst="roundRect">
            <a:avLst>
              <a:gd name="adj" fmla="val 8000"/>
            </a:avLst>
          </a:prstGeom>
          <a:solidFill>
            <a:srgbClr val="EEF1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355080" y="4663440"/>
            <a:ext cx="100584" cy="1097280"/>
          </a:xfrm>
          <a:prstGeom prst="rect">
            <a:avLst/>
          </a:prstGeom>
          <a:solidFill>
            <a:srgbClr val="159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11112" y="4791455"/>
            <a:ext cx="502920" cy="320040"/>
          </a:xfrm>
          <a:prstGeom prst="rect">
            <a:avLst/>
          </a:prstGeom>
          <a:noFill/>
        </p:spPr>
        <p:txBody>
          <a:bodyPr wrap="square" lIns="27432" rIns="27432" tIns="18288" bIns="0">
            <a:spAutoFit/>
          </a:bodyPr>
          <a:lstStyle/>
          <a:p>
            <a:pPr>
              <a:spcAft>
                <a:spcPts val="800"/>
              </a:spcAft>
              <a:defRPr sz="1400" b="1">
                <a:solidFill>
                  <a:srgbClr val="2368CE"/>
                </a:solidFill>
                <a:latin typeface="DejaVu Sans"/>
              </a:defRPr>
            </a:pPr>
            <a:r>
              <a:t>06</a:t>
            </a:r>
          </a:p>
        </p:txBody>
      </p:sp>
      <p:sp>
        <p:nvSpPr>
          <p:cNvPr id="35" name="TextBox 34"/>
          <p:cNvSpPr txBox="1"/>
          <p:nvPr/>
        </p:nvSpPr>
        <p:spPr>
          <a:xfrm>
            <a:off x="7242048" y="4818888"/>
            <a:ext cx="4343400" cy="813816"/>
          </a:xfrm>
          <a:prstGeom prst="rect">
            <a:avLst/>
          </a:prstGeom>
          <a:noFill/>
        </p:spPr>
        <p:txBody>
          <a:bodyPr wrap="square" lIns="27432" rIns="27432" tIns="18288" bIns="0">
            <a:spAutoFit/>
          </a:bodyPr>
          <a:lstStyle/>
          <a:p>
            <a:pPr>
              <a:spcAft>
                <a:spcPts val="800"/>
              </a:spcAft>
              <a:defRPr sz="2100" b="1">
                <a:solidFill>
                  <a:srgbClr val="20364E"/>
                </a:solidFill>
                <a:latin typeface="DejaVu Sans"/>
              </a:defRPr>
            </a:pPr>
            <a:r>
              <a:t>FaaS va boshqariladigan xizmatlar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73736"/>
          </a:xfrm>
          <a:prstGeom prst="rect">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420624"/>
            <a:ext cx="9875520" cy="932688"/>
          </a:xfrm>
          <a:prstGeom prst="rect">
            <a:avLst/>
          </a:prstGeom>
          <a:noFill/>
        </p:spPr>
        <p:txBody>
          <a:bodyPr wrap="square" lIns="27432" rIns="27432" tIns="18288" bIns="0">
            <a:spAutoFit/>
          </a:bodyPr>
          <a:lstStyle/>
          <a:p>
            <a:pPr>
              <a:spcAft>
                <a:spcPts val="800"/>
              </a:spcAft>
              <a:defRPr sz="3000" b="1">
                <a:solidFill>
                  <a:srgbClr val="20364E"/>
                </a:solidFill>
                <a:latin typeface="DejaVu Sans"/>
              </a:defRPr>
            </a:pPr>
            <a:r>
              <a:t>Xizmat modeli va boshqaruv chegarasi</a:t>
            </a:r>
          </a:p>
        </p:txBody>
      </p:sp>
      <p:sp>
        <p:nvSpPr>
          <p:cNvPr id="4" name="Rounded Rectangle 3"/>
          <p:cNvSpPr/>
          <p:nvPr/>
        </p:nvSpPr>
        <p:spPr>
          <a:xfrm>
            <a:off x="621792" y="1399032"/>
            <a:ext cx="1051560" cy="310896"/>
          </a:xfrm>
          <a:prstGeom prst="roundRect">
            <a:avLst>
              <a:gd name="adj" fmla="val 8000"/>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IaaS</a:t>
            </a:r>
          </a:p>
        </p:txBody>
      </p:sp>
      <p:sp>
        <p:nvSpPr>
          <p:cNvPr id="6" name="Rounded Rectangle 5"/>
          <p:cNvSpPr/>
          <p:nvPr/>
        </p:nvSpPr>
        <p:spPr>
          <a:xfrm>
            <a:off x="1810512" y="1399032"/>
            <a:ext cx="1051560" cy="310896"/>
          </a:xfrm>
          <a:prstGeom prst="roundRect">
            <a:avLst>
              <a:gd name="adj" fmla="val 8000"/>
            </a:avLst>
          </a:prstGeom>
          <a:solidFill>
            <a:srgbClr val="875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19"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PaaS</a:t>
            </a:r>
          </a:p>
        </p:txBody>
      </p:sp>
      <p:sp>
        <p:nvSpPr>
          <p:cNvPr id="8" name="Rounded Rectangle 7"/>
          <p:cNvSpPr/>
          <p:nvPr/>
        </p:nvSpPr>
        <p:spPr>
          <a:xfrm>
            <a:off x="2999232" y="1399032"/>
            <a:ext cx="1051560" cy="310896"/>
          </a:xfrm>
          <a:prstGeom prst="roundRect">
            <a:avLst>
              <a:gd name="adj" fmla="val 8000"/>
            </a:avLst>
          </a:prstGeom>
          <a:solidFill>
            <a:srgbClr val="159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63240"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SaaS</a:t>
            </a:r>
          </a:p>
        </p:txBody>
      </p:sp>
      <p:sp>
        <p:nvSpPr>
          <p:cNvPr id="10" name="TextBox 9"/>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0364E"/>
                </a:solidFill>
                <a:latin typeface="DejaVu Sans"/>
              </a:defRPr>
            </a:pPr>
            <a:r>
              <a:t>BTST206   /   M03   /   2027–2028</a:t>
            </a:r>
          </a:p>
        </p:txBody>
      </p:sp>
      <p:sp>
        <p:nvSpPr>
          <p:cNvPr id="11" name="TextBox 10"/>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0364E"/>
                </a:solidFill>
                <a:latin typeface="DejaVu Sans"/>
              </a:defRPr>
            </a:pPr>
            <a:r>
              <a:t>03 / 13</a:t>
            </a:r>
          </a:p>
        </p:txBody>
      </p:sp>
      <p:sp>
        <p:nvSpPr>
          <p:cNvPr id="12" name="TextBox 11"/>
          <p:cNvSpPr txBox="1"/>
          <p:nvPr/>
        </p:nvSpPr>
        <p:spPr>
          <a:xfrm>
            <a:off x="685800" y="2048256"/>
            <a:ext cx="3291840" cy="457200"/>
          </a:xfrm>
          <a:prstGeom prst="rect">
            <a:avLst/>
          </a:prstGeom>
          <a:noFill/>
        </p:spPr>
        <p:txBody>
          <a:bodyPr wrap="square" lIns="27432" rIns="27432" tIns="18288" bIns="0">
            <a:spAutoFit/>
          </a:bodyPr>
          <a:lstStyle/>
          <a:p>
            <a:pPr>
              <a:spcAft>
                <a:spcPts val="800"/>
              </a:spcAft>
              <a:defRPr sz="1500" b="1">
                <a:solidFill>
                  <a:srgbClr val="526A80"/>
                </a:solidFill>
                <a:latin typeface="DejaVu Sans"/>
              </a:defRPr>
            </a:pPr>
            <a:r>
              <a:t>Boshqariladigan qatlam</a:t>
            </a:r>
          </a:p>
        </p:txBody>
      </p:sp>
      <p:sp>
        <p:nvSpPr>
          <p:cNvPr id="13" name="Rectangle 12"/>
          <p:cNvSpPr/>
          <p:nvPr/>
        </p:nvSpPr>
        <p:spPr>
          <a:xfrm>
            <a:off x="4160520" y="2048256"/>
            <a:ext cx="2356104" cy="457200"/>
          </a:xfrm>
          <a:prstGeom prst="rect">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51959" y="2121408"/>
            <a:ext cx="2173224" cy="320040"/>
          </a:xfrm>
          <a:prstGeom prst="rect">
            <a:avLst/>
          </a:prstGeom>
          <a:noFill/>
        </p:spPr>
        <p:txBody>
          <a:bodyPr wrap="square" lIns="27432" rIns="27432" tIns="18288" bIns="0">
            <a:spAutoFit/>
          </a:bodyPr>
          <a:lstStyle/>
          <a:p>
            <a:pPr algn="ctr">
              <a:spcAft>
                <a:spcPts val="800"/>
              </a:spcAft>
              <a:defRPr sz="1600" b="1">
                <a:solidFill>
                  <a:srgbClr val="FFFFFF"/>
                </a:solidFill>
                <a:latin typeface="DejaVu Sans"/>
              </a:defRPr>
            </a:pPr>
            <a:r>
              <a:t>IaaS</a:t>
            </a:r>
          </a:p>
        </p:txBody>
      </p:sp>
      <p:sp>
        <p:nvSpPr>
          <p:cNvPr id="15" name="Rectangle 14"/>
          <p:cNvSpPr/>
          <p:nvPr/>
        </p:nvSpPr>
        <p:spPr>
          <a:xfrm>
            <a:off x="6598920" y="2048256"/>
            <a:ext cx="2356104" cy="457200"/>
          </a:xfrm>
          <a:prstGeom prst="rect">
            <a:avLst/>
          </a:prstGeom>
          <a:solidFill>
            <a:srgbClr val="875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90360" y="2121408"/>
            <a:ext cx="2173224" cy="320040"/>
          </a:xfrm>
          <a:prstGeom prst="rect">
            <a:avLst/>
          </a:prstGeom>
          <a:noFill/>
        </p:spPr>
        <p:txBody>
          <a:bodyPr wrap="square" lIns="27432" rIns="27432" tIns="18288" bIns="0">
            <a:spAutoFit/>
          </a:bodyPr>
          <a:lstStyle/>
          <a:p>
            <a:pPr algn="ctr">
              <a:spcAft>
                <a:spcPts val="800"/>
              </a:spcAft>
              <a:defRPr sz="1600" b="1">
                <a:solidFill>
                  <a:srgbClr val="FFFFFF"/>
                </a:solidFill>
                <a:latin typeface="DejaVu Sans"/>
              </a:defRPr>
            </a:pPr>
            <a:r>
              <a:t>PaaS</a:t>
            </a:r>
          </a:p>
        </p:txBody>
      </p:sp>
      <p:sp>
        <p:nvSpPr>
          <p:cNvPr id="17" name="Rectangle 16"/>
          <p:cNvSpPr/>
          <p:nvPr/>
        </p:nvSpPr>
        <p:spPr>
          <a:xfrm>
            <a:off x="9037320" y="2048256"/>
            <a:ext cx="2356104" cy="457200"/>
          </a:xfrm>
          <a:prstGeom prst="rect">
            <a:avLst/>
          </a:prstGeom>
          <a:solidFill>
            <a:srgbClr val="159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28760" y="2121408"/>
            <a:ext cx="2173224" cy="320040"/>
          </a:xfrm>
          <a:prstGeom prst="rect">
            <a:avLst/>
          </a:prstGeom>
          <a:noFill/>
        </p:spPr>
        <p:txBody>
          <a:bodyPr wrap="square" lIns="27432" rIns="27432" tIns="18288" bIns="0">
            <a:spAutoFit/>
          </a:bodyPr>
          <a:lstStyle/>
          <a:p>
            <a:pPr algn="ctr">
              <a:spcAft>
                <a:spcPts val="800"/>
              </a:spcAft>
              <a:defRPr sz="1600" b="1">
                <a:solidFill>
                  <a:srgbClr val="FFFFFF"/>
                </a:solidFill>
                <a:latin typeface="DejaVu Sans"/>
              </a:defRPr>
            </a:pPr>
            <a:r>
              <a:t>SaaS</a:t>
            </a:r>
          </a:p>
        </p:txBody>
      </p:sp>
      <p:sp>
        <p:nvSpPr>
          <p:cNvPr id="19" name="TextBox 18"/>
          <p:cNvSpPr txBox="1"/>
          <p:nvPr/>
        </p:nvSpPr>
        <p:spPr>
          <a:xfrm>
            <a:off x="685800" y="2715768"/>
            <a:ext cx="3337560" cy="524865"/>
          </a:xfrm>
          <a:prstGeom prst="rect">
            <a:avLst/>
          </a:prstGeom>
          <a:noFill/>
        </p:spPr>
        <p:txBody>
          <a:bodyPr wrap="square" lIns="27432" rIns="27432" tIns="18288" bIns="0">
            <a:spAutoFit/>
          </a:bodyPr>
          <a:lstStyle/>
          <a:p>
            <a:pPr>
              <a:spcAft>
                <a:spcPts val="800"/>
              </a:spcAft>
              <a:defRPr sz="1800" b="0">
                <a:solidFill>
                  <a:srgbClr val="20364E"/>
                </a:solidFill>
                <a:latin typeface="DejaVu Sans"/>
              </a:defRPr>
            </a:pPr>
            <a:r>
              <a:t>Ma’lumot / ruxsat</a:t>
            </a:r>
          </a:p>
        </p:txBody>
      </p:sp>
      <p:sp>
        <p:nvSpPr>
          <p:cNvPr id="20" name="Rounded Rectangle 19"/>
          <p:cNvSpPr/>
          <p:nvPr/>
        </p:nvSpPr>
        <p:spPr>
          <a:xfrm>
            <a:off x="4160520" y="2642616"/>
            <a:ext cx="2356104" cy="524865"/>
          </a:xfrm>
          <a:prstGeom prst="roundRect">
            <a:avLst>
              <a:gd name="adj" fmla="val 8000"/>
            </a:avLst>
          </a:prstGeom>
          <a:solidFill>
            <a:srgbClr val="EAF0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24528" y="2761488"/>
            <a:ext cx="2237231" cy="396849"/>
          </a:xfrm>
          <a:prstGeom prst="rect">
            <a:avLst/>
          </a:prstGeom>
          <a:noFill/>
        </p:spPr>
        <p:txBody>
          <a:bodyPr wrap="square" lIns="27432" rIns="27432" tIns="18288" bIns="0">
            <a:spAutoFit/>
          </a:bodyPr>
          <a:lstStyle/>
          <a:p>
            <a:pPr algn="ctr">
              <a:spcAft>
                <a:spcPts val="800"/>
              </a:spcAft>
              <a:defRPr sz="1700" b="1">
                <a:solidFill>
                  <a:srgbClr val="2368CE"/>
                </a:solidFill>
                <a:latin typeface="DejaVu Sans"/>
              </a:defRPr>
            </a:pPr>
            <a:r>
              <a:t>Mijoz</a:t>
            </a:r>
          </a:p>
        </p:txBody>
      </p:sp>
      <p:sp>
        <p:nvSpPr>
          <p:cNvPr id="22" name="Rounded Rectangle 21"/>
          <p:cNvSpPr/>
          <p:nvPr/>
        </p:nvSpPr>
        <p:spPr>
          <a:xfrm>
            <a:off x="6598920" y="2642616"/>
            <a:ext cx="2356104" cy="524865"/>
          </a:xfrm>
          <a:prstGeom prst="roundRect">
            <a:avLst>
              <a:gd name="adj" fmla="val 8000"/>
            </a:avLst>
          </a:prstGeom>
          <a:solidFill>
            <a:srgbClr val="EAF0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62928" y="2761488"/>
            <a:ext cx="2237231" cy="396849"/>
          </a:xfrm>
          <a:prstGeom prst="rect">
            <a:avLst/>
          </a:prstGeom>
          <a:noFill/>
        </p:spPr>
        <p:txBody>
          <a:bodyPr wrap="square" lIns="27432" rIns="27432" tIns="18288" bIns="0">
            <a:spAutoFit/>
          </a:bodyPr>
          <a:lstStyle/>
          <a:p>
            <a:pPr algn="ctr">
              <a:spcAft>
                <a:spcPts val="800"/>
              </a:spcAft>
              <a:defRPr sz="1700" b="1">
                <a:solidFill>
                  <a:srgbClr val="2368CE"/>
                </a:solidFill>
                <a:latin typeface="DejaVu Sans"/>
              </a:defRPr>
            </a:pPr>
            <a:r>
              <a:t>Mijoz</a:t>
            </a:r>
          </a:p>
        </p:txBody>
      </p:sp>
      <p:sp>
        <p:nvSpPr>
          <p:cNvPr id="24" name="Rounded Rectangle 23"/>
          <p:cNvSpPr/>
          <p:nvPr/>
        </p:nvSpPr>
        <p:spPr>
          <a:xfrm>
            <a:off x="9037320" y="2642616"/>
            <a:ext cx="2356104" cy="524865"/>
          </a:xfrm>
          <a:prstGeom prst="roundRect">
            <a:avLst>
              <a:gd name="adj" fmla="val 8000"/>
            </a:avLst>
          </a:prstGeom>
          <a:solidFill>
            <a:srgbClr val="EAF0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01328" y="2761488"/>
            <a:ext cx="2237231" cy="396849"/>
          </a:xfrm>
          <a:prstGeom prst="rect">
            <a:avLst/>
          </a:prstGeom>
          <a:noFill/>
        </p:spPr>
        <p:txBody>
          <a:bodyPr wrap="square" lIns="27432" rIns="27432" tIns="18288" bIns="0">
            <a:spAutoFit/>
          </a:bodyPr>
          <a:lstStyle/>
          <a:p>
            <a:pPr algn="ctr">
              <a:spcAft>
                <a:spcPts val="800"/>
              </a:spcAft>
              <a:defRPr sz="1700" b="1">
                <a:solidFill>
                  <a:srgbClr val="2368CE"/>
                </a:solidFill>
                <a:latin typeface="DejaVu Sans"/>
              </a:defRPr>
            </a:pPr>
            <a:r>
              <a:t>Mijoz</a:t>
            </a:r>
          </a:p>
        </p:txBody>
      </p:sp>
      <p:sp>
        <p:nvSpPr>
          <p:cNvPr id="26" name="TextBox 25"/>
          <p:cNvSpPr txBox="1"/>
          <p:nvPr/>
        </p:nvSpPr>
        <p:spPr>
          <a:xfrm>
            <a:off x="685800" y="3313785"/>
            <a:ext cx="3337560" cy="524865"/>
          </a:xfrm>
          <a:prstGeom prst="rect">
            <a:avLst/>
          </a:prstGeom>
          <a:noFill/>
        </p:spPr>
        <p:txBody>
          <a:bodyPr wrap="square" lIns="27432" rIns="27432" tIns="18288" bIns="0">
            <a:spAutoFit/>
          </a:bodyPr>
          <a:lstStyle/>
          <a:p>
            <a:pPr>
              <a:spcAft>
                <a:spcPts val="800"/>
              </a:spcAft>
              <a:defRPr sz="1800" b="0">
                <a:solidFill>
                  <a:srgbClr val="20364E"/>
                </a:solidFill>
                <a:latin typeface="DejaVu Sans"/>
              </a:defRPr>
            </a:pPr>
            <a:r>
              <a:t>Ilova</a:t>
            </a:r>
          </a:p>
        </p:txBody>
      </p:sp>
      <p:sp>
        <p:nvSpPr>
          <p:cNvPr id="27" name="Rounded Rectangle 26"/>
          <p:cNvSpPr/>
          <p:nvPr/>
        </p:nvSpPr>
        <p:spPr>
          <a:xfrm>
            <a:off x="4160520" y="3240633"/>
            <a:ext cx="2356104" cy="524865"/>
          </a:xfrm>
          <a:prstGeom prst="roundRect">
            <a:avLst>
              <a:gd name="adj" fmla="val 8000"/>
            </a:avLst>
          </a:prstGeom>
          <a:solidFill>
            <a:srgbClr val="EAF0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24528" y="3359505"/>
            <a:ext cx="2237231" cy="396849"/>
          </a:xfrm>
          <a:prstGeom prst="rect">
            <a:avLst/>
          </a:prstGeom>
          <a:noFill/>
        </p:spPr>
        <p:txBody>
          <a:bodyPr wrap="square" lIns="27432" rIns="27432" tIns="18288" bIns="0">
            <a:spAutoFit/>
          </a:bodyPr>
          <a:lstStyle/>
          <a:p>
            <a:pPr algn="ctr">
              <a:spcAft>
                <a:spcPts val="800"/>
              </a:spcAft>
              <a:defRPr sz="1700" b="1">
                <a:solidFill>
                  <a:srgbClr val="2368CE"/>
                </a:solidFill>
                <a:latin typeface="DejaVu Sans"/>
              </a:defRPr>
            </a:pPr>
            <a:r>
              <a:t>Mijoz</a:t>
            </a:r>
          </a:p>
        </p:txBody>
      </p:sp>
      <p:sp>
        <p:nvSpPr>
          <p:cNvPr id="29" name="Rounded Rectangle 28"/>
          <p:cNvSpPr/>
          <p:nvPr/>
        </p:nvSpPr>
        <p:spPr>
          <a:xfrm>
            <a:off x="6598920" y="3240633"/>
            <a:ext cx="2356104" cy="524865"/>
          </a:xfrm>
          <a:prstGeom prst="roundRect">
            <a:avLst>
              <a:gd name="adj" fmla="val 8000"/>
            </a:avLst>
          </a:prstGeom>
          <a:solidFill>
            <a:srgbClr val="EAF0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62928" y="3359505"/>
            <a:ext cx="2237231" cy="396849"/>
          </a:xfrm>
          <a:prstGeom prst="rect">
            <a:avLst/>
          </a:prstGeom>
          <a:noFill/>
        </p:spPr>
        <p:txBody>
          <a:bodyPr wrap="square" lIns="27432" rIns="27432" tIns="18288" bIns="0">
            <a:spAutoFit/>
          </a:bodyPr>
          <a:lstStyle/>
          <a:p>
            <a:pPr algn="ctr">
              <a:spcAft>
                <a:spcPts val="800"/>
              </a:spcAft>
              <a:defRPr sz="1700" b="1">
                <a:solidFill>
                  <a:srgbClr val="2368CE"/>
                </a:solidFill>
                <a:latin typeface="DejaVu Sans"/>
              </a:defRPr>
            </a:pPr>
            <a:r>
              <a:t>Mijoz</a:t>
            </a:r>
          </a:p>
        </p:txBody>
      </p:sp>
      <p:sp>
        <p:nvSpPr>
          <p:cNvPr id="31" name="Rounded Rectangle 30"/>
          <p:cNvSpPr/>
          <p:nvPr/>
        </p:nvSpPr>
        <p:spPr>
          <a:xfrm>
            <a:off x="9037320" y="3240633"/>
            <a:ext cx="2356104" cy="524865"/>
          </a:xfrm>
          <a:prstGeom prst="roundRect">
            <a:avLst>
              <a:gd name="adj" fmla="val 8000"/>
            </a:avLst>
          </a:prstGeom>
          <a:solidFill>
            <a:srgbClr val="E5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01328" y="3359505"/>
            <a:ext cx="2237231" cy="396849"/>
          </a:xfrm>
          <a:prstGeom prst="rect">
            <a:avLst/>
          </a:prstGeom>
          <a:noFill/>
        </p:spPr>
        <p:txBody>
          <a:bodyPr wrap="square" lIns="27432" rIns="27432" tIns="18288" bIns="0">
            <a:spAutoFit/>
          </a:bodyPr>
          <a:lstStyle/>
          <a:p>
            <a:pPr algn="ctr">
              <a:spcAft>
                <a:spcPts val="800"/>
              </a:spcAft>
              <a:defRPr sz="1700" b="1">
                <a:solidFill>
                  <a:srgbClr val="158B80"/>
                </a:solidFill>
                <a:latin typeface="DejaVu Sans"/>
              </a:defRPr>
            </a:pPr>
            <a:r>
              <a:t>Provayder</a:t>
            </a:r>
          </a:p>
        </p:txBody>
      </p:sp>
      <p:sp>
        <p:nvSpPr>
          <p:cNvPr id="33" name="TextBox 32"/>
          <p:cNvSpPr txBox="1"/>
          <p:nvPr/>
        </p:nvSpPr>
        <p:spPr>
          <a:xfrm>
            <a:off x="685800" y="3911803"/>
            <a:ext cx="3337560" cy="524865"/>
          </a:xfrm>
          <a:prstGeom prst="rect">
            <a:avLst/>
          </a:prstGeom>
          <a:noFill/>
        </p:spPr>
        <p:txBody>
          <a:bodyPr wrap="square" lIns="27432" rIns="27432" tIns="18288" bIns="0">
            <a:spAutoFit/>
          </a:bodyPr>
          <a:lstStyle/>
          <a:p>
            <a:pPr>
              <a:spcAft>
                <a:spcPts val="800"/>
              </a:spcAft>
              <a:defRPr sz="1800" b="0">
                <a:solidFill>
                  <a:srgbClr val="20364E"/>
                </a:solidFill>
                <a:latin typeface="DejaVu Sans"/>
              </a:defRPr>
            </a:pPr>
            <a:r>
              <a:t>Platforma / runtime</a:t>
            </a:r>
          </a:p>
        </p:txBody>
      </p:sp>
      <p:sp>
        <p:nvSpPr>
          <p:cNvPr id="34" name="Rounded Rectangle 33"/>
          <p:cNvSpPr/>
          <p:nvPr/>
        </p:nvSpPr>
        <p:spPr>
          <a:xfrm>
            <a:off x="4160520" y="3838651"/>
            <a:ext cx="2356104" cy="524865"/>
          </a:xfrm>
          <a:prstGeom prst="roundRect">
            <a:avLst>
              <a:gd name="adj" fmla="val 8000"/>
            </a:avLst>
          </a:prstGeom>
          <a:solidFill>
            <a:srgbClr val="EAF0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24528" y="3957523"/>
            <a:ext cx="2237231" cy="396849"/>
          </a:xfrm>
          <a:prstGeom prst="rect">
            <a:avLst/>
          </a:prstGeom>
          <a:noFill/>
        </p:spPr>
        <p:txBody>
          <a:bodyPr wrap="square" lIns="27432" rIns="27432" tIns="18288" bIns="0">
            <a:spAutoFit/>
          </a:bodyPr>
          <a:lstStyle/>
          <a:p>
            <a:pPr algn="ctr">
              <a:spcAft>
                <a:spcPts val="800"/>
              </a:spcAft>
              <a:defRPr sz="1700" b="1">
                <a:solidFill>
                  <a:srgbClr val="2368CE"/>
                </a:solidFill>
                <a:latin typeface="DejaVu Sans"/>
              </a:defRPr>
            </a:pPr>
            <a:r>
              <a:t>Mijoz</a:t>
            </a:r>
          </a:p>
        </p:txBody>
      </p:sp>
      <p:sp>
        <p:nvSpPr>
          <p:cNvPr id="36" name="Rounded Rectangle 35"/>
          <p:cNvSpPr/>
          <p:nvPr/>
        </p:nvSpPr>
        <p:spPr>
          <a:xfrm>
            <a:off x="6598920" y="3838651"/>
            <a:ext cx="2356104" cy="524865"/>
          </a:xfrm>
          <a:prstGeom prst="roundRect">
            <a:avLst>
              <a:gd name="adj" fmla="val 8000"/>
            </a:avLst>
          </a:prstGeom>
          <a:solidFill>
            <a:srgbClr val="E5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62928" y="3957523"/>
            <a:ext cx="2237231" cy="396849"/>
          </a:xfrm>
          <a:prstGeom prst="rect">
            <a:avLst/>
          </a:prstGeom>
          <a:noFill/>
        </p:spPr>
        <p:txBody>
          <a:bodyPr wrap="square" lIns="27432" rIns="27432" tIns="18288" bIns="0">
            <a:spAutoFit/>
          </a:bodyPr>
          <a:lstStyle/>
          <a:p>
            <a:pPr algn="ctr">
              <a:spcAft>
                <a:spcPts val="800"/>
              </a:spcAft>
              <a:defRPr sz="1700" b="1">
                <a:solidFill>
                  <a:srgbClr val="158B80"/>
                </a:solidFill>
                <a:latin typeface="DejaVu Sans"/>
              </a:defRPr>
            </a:pPr>
            <a:r>
              <a:t>Provayder</a:t>
            </a:r>
          </a:p>
        </p:txBody>
      </p:sp>
      <p:sp>
        <p:nvSpPr>
          <p:cNvPr id="38" name="Rounded Rectangle 37"/>
          <p:cNvSpPr/>
          <p:nvPr/>
        </p:nvSpPr>
        <p:spPr>
          <a:xfrm>
            <a:off x="9037320" y="3838651"/>
            <a:ext cx="2356104" cy="524865"/>
          </a:xfrm>
          <a:prstGeom prst="roundRect">
            <a:avLst>
              <a:gd name="adj" fmla="val 8000"/>
            </a:avLst>
          </a:prstGeom>
          <a:solidFill>
            <a:srgbClr val="E5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01328" y="3957523"/>
            <a:ext cx="2237231" cy="396849"/>
          </a:xfrm>
          <a:prstGeom prst="rect">
            <a:avLst/>
          </a:prstGeom>
          <a:noFill/>
        </p:spPr>
        <p:txBody>
          <a:bodyPr wrap="square" lIns="27432" rIns="27432" tIns="18288" bIns="0">
            <a:spAutoFit/>
          </a:bodyPr>
          <a:lstStyle/>
          <a:p>
            <a:pPr algn="ctr">
              <a:spcAft>
                <a:spcPts val="800"/>
              </a:spcAft>
              <a:defRPr sz="1700" b="1">
                <a:solidFill>
                  <a:srgbClr val="158B80"/>
                </a:solidFill>
                <a:latin typeface="DejaVu Sans"/>
              </a:defRPr>
            </a:pPr>
            <a:r>
              <a:t>Provayder</a:t>
            </a:r>
          </a:p>
        </p:txBody>
      </p:sp>
      <p:sp>
        <p:nvSpPr>
          <p:cNvPr id="40" name="TextBox 39"/>
          <p:cNvSpPr txBox="1"/>
          <p:nvPr/>
        </p:nvSpPr>
        <p:spPr>
          <a:xfrm>
            <a:off x="685800" y="4509820"/>
            <a:ext cx="3337560" cy="524865"/>
          </a:xfrm>
          <a:prstGeom prst="rect">
            <a:avLst/>
          </a:prstGeom>
          <a:noFill/>
        </p:spPr>
        <p:txBody>
          <a:bodyPr wrap="square" lIns="27432" rIns="27432" tIns="18288" bIns="0">
            <a:spAutoFit/>
          </a:bodyPr>
          <a:lstStyle/>
          <a:p>
            <a:pPr>
              <a:spcAft>
                <a:spcPts val="800"/>
              </a:spcAft>
              <a:defRPr sz="1800" b="0">
                <a:solidFill>
                  <a:srgbClr val="20364E"/>
                </a:solidFill>
                <a:latin typeface="DejaVu Sans"/>
              </a:defRPr>
            </a:pPr>
            <a:r>
              <a:t>Operatsion tizim</a:t>
            </a:r>
          </a:p>
        </p:txBody>
      </p:sp>
      <p:sp>
        <p:nvSpPr>
          <p:cNvPr id="41" name="Rounded Rectangle 40"/>
          <p:cNvSpPr/>
          <p:nvPr/>
        </p:nvSpPr>
        <p:spPr>
          <a:xfrm>
            <a:off x="4160520" y="4436668"/>
            <a:ext cx="2356104" cy="524865"/>
          </a:xfrm>
          <a:prstGeom prst="roundRect">
            <a:avLst>
              <a:gd name="adj" fmla="val 8000"/>
            </a:avLst>
          </a:prstGeom>
          <a:solidFill>
            <a:srgbClr val="EAF0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224528" y="4555540"/>
            <a:ext cx="2237231" cy="396849"/>
          </a:xfrm>
          <a:prstGeom prst="rect">
            <a:avLst/>
          </a:prstGeom>
          <a:noFill/>
        </p:spPr>
        <p:txBody>
          <a:bodyPr wrap="square" lIns="27432" rIns="27432" tIns="18288" bIns="0">
            <a:spAutoFit/>
          </a:bodyPr>
          <a:lstStyle/>
          <a:p>
            <a:pPr algn="ctr">
              <a:spcAft>
                <a:spcPts val="800"/>
              </a:spcAft>
              <a:defRPr sz="1700" b="1">
                <a:solidFill>
                  <a:srgbClr val="2368CE"/>
                </a:solidFill>
                <a:latin typeface="DejaVu Sans"/>
              </a:defRPr>
            </a:pPr>
            <a:r>
              <a:t>Mijoz</a:t>
            </a:r>
          </a:p>
        </p:txBody>
      </p:sp>
      <p:sp>
        <p:nvSpPr>
          <p:cNvPr id="43" name="Rounded Rectangle 42"/>
          <p:cNvSpPr/>
          <p:nvPr/>
        </p:nvSpPr>
        <p:spPr>
          <a:xfrm>
            <a:off x="6598920" y="4436668"/>
            <a:ext cx="2356104" cy="524865"/>
          </a:xfrm>
          <a:prstGeom prst="roundRect">
            <a:avLst>
              <a:gd name="adj" fmla="val 8000"/>
            </a:avLst>
          </a:prstGeom>
          <a:solidFill>
            <a:srgbClr val="E5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62928" y="4555540"/>
            <a:ext cx="2237231" cy="396849"/>
          </a:xfrm>
          <a:prstGeom prst="rect">
            <a:avLst/>
          </a:prstGeom>
          <a:noFill/>
        </p:spPr>
        <p:txBody>
          <a:bodyPr wrap="square" lIns="27432" rIns="27432" tIns="18288" bIns="0">
            <a:spAutoFit/>
          </a:bodyPr>
          <a:lstStyle/>
          <a:p>
            <a:pPr algn="ctr">
              <a:spcAft>
                <a:spcPts val="800"/>
              </a:spcAft>
              <a:defRPr sz="1700" b="1">
                <a:solidFill>
                  <a:srgbClr val="158B80"/>
                </a:solidFill>
                <a:latin typeface="DejaVu Sans"/>
              </a:defRPr>
            </a:pPr>
            <a:r>
              <a:t>Provayder</a:t>
            </a:r>
          </a:p>
        </p:txBody>
      </p:sp>
      <p:sp>
        <p:nvSpPr>
          <p:cNvPr id="45" name="Rounded Rectangle 44"/>
          <p:cNvSpPr/>
          <p:nvPr/>
        </p:nvSpPr>
        <p:spPr>
          <a:xfrm>
            <a:off x="9037320" y="4436668"/>
            <a:ext cx="2356104" cy="524865"/>
          </a:xfrm>
          <a:prstGeom prst="roundRect">
            <a:avLst>
              <a:gd name="adj" fmla="val 8000"/>
            </a:avLst>
          </a:prstGeom>
          <a:solidFill>
            <a:srgbClr val="E5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01328" y="4555540"/>
            <a:ext cx="2237231" cy="396849"/>
          </a:xfrm>
          <a:prstGeom prst="rect">
            <a:avLst/>
          </a:prstGeom>
          <a:noFill/>
        </p:spPr>
        <p:txBody>
          <a:bodyPr wrap="square" lIns="27432" rIns="27432" tIns="18288" bIns="0">
            <a:spAutoFit/>
          </a:bodyPr>
          <a:lstStyle/>
          <a:p>
            <a:pPr algn="ctr">
              <a:spcAft>
                <a:spcPts val="800"/>
              </a:spcAft>
              <a:defRPr sz="1700" b="1">
                <a:solidFill>
                  <a:srgbClr val="158B80"/>
                </a:solidFill>
                <a:latin typeface="DejaVu Sans"/>
              </a:defRPr>
            </a:pPr>
            <a:r>
              <a:t>Provayder</a:t>
            </a:r>
          </a:p>
        </p:txBody>
      </p:sp>
      <p:sp>
        <p:nvSpPr>
          <p:cNvPr id="47" name="TextBox 46"/>
          <p:cNvSpPr txBox="1"/>
          <p:nvPr/>
        </p:nvSpPr>
        <p:spPr>
          <a:xfrm>
            <a:off x="685800" y="5107838"/>
            <a:ext cx="3337560" cy="524865"/>
          </a:xfrm>
          <a:prstGeom prst="rect">
            <a:avLst/>
          </a:prstGeom>
          <a:noFill/>
        </p:spPr>
        <p:txBody>
          <a:bodyPr wrap="square" lIns="27432" rIns="27432" tIns="18288" bIns="0">
            <a:spAutoFit/>
          </a:bodyPr>
          <a:lstStyle/>
          <a:p>
            <a:pPr>
              <a:spcAft>
                <a:spcPts val="800"/>
              </a:spcAft>
              <a:defRPr sz="1800" b="0">
                <a:solidFill>
                  <a:srgbClr val="20364E"/>
                </a:solidFill>
                <a:latin typeface="DejaVu Sans"/>
              </a:defRPr>
            </a:pPr>
            <a:r>
              <a:t>Uskuna / tarmoq</a:t>
            </a:r>
          </a:p>
        </p:txBody>
      </p:sp>
      <p:sp>
        <p:nvSpPr>
          <p:cNvPr id="48" name="Rounded Rectangle 47"/>
          <p:cNvSpPr/>
          <p:nvPr/>
        </p:nvSpPr>
        <p:spPr>
          <a:xfrm>
            <a:off x="4160520" y="5034686"/>
            <a:ext cx="2356104" cy="524865"/>
          </a:xfrm>
          <a:prstGeom prst="roundRect">
            <a:avLst>
              <a:gd name="adj" fmla="val 8000"/>
            </a:avLst>
          </a:prstGeom>
          <a:solidFill>
            <a:srgbClr val="E5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224528" y="5153558"/>
            <a:ext cx="2237231" cy="396849"/>
          </a:xfrm>
          <a:prstGeom prst="rect">
            <a:avLst/>
          </a:prstGeom>
          <a:noFill/>
        </p:spPr>
        <p:txBody>
          <a:bodyPr wrap="square" lIns="27432" rIns="27432" tIns="18288" bIns="0">
            <a:spAutoFit/>
          </a:bodyPr>
          <a:lstStyle/>
          <a:p>
            <a:pPr algn="ctr">
              <a:spcAft>
                <a:spcPts val="800"/>
              </a:spcAft>
              <a:defRPr sz="1700" b="1">
                <a:solidFill>
                  <a:srgbClr val="158B80"/>
                </a:solidFill>
                <a:latin typeface="DejaVu Sans"/>
              </a:defRPr>
            </a:pPr>
            <a:r>
              <a:t>Provayder</a:t>
            </a:r>
          </a:p>
        </p:txBody>
      </p:sp>
      <p:sp>
        <p:nvSpPr>
          <p:cNvPr id="50" name="Rounded Rectangle 49"/>
          <p:cNvSpPr/>
          <p:nvPr/>
        </p:nvSpPr>
        <p:spPr>
          <a:xfrm>
            <a:off x="6598920" y="5034686"/>
            <a:ext cx="2356104" cy="524865"/>
          </a:xfrm>
          <a:prstGeom prst="roundRect">
            <a:avLst>
              <a:gd name="adj" fmla="val 8000"/>
            </a:avLst>
          </a:prstGeom>
          <a:solidFill>
            <a:srgbClr val="E5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662928" y="5153558"/>
            <a:ext cx="2237231" cy="396849"/>
          </a:xfrm>
          <a:prstGeom prst="rect">
            <a:avLst/>
          </a:prstGeom>
          <a:noFill/>
        </p:spPr>
        <p:txBody>
          <a:bodyPr wrap="square" lIns="27432" rIns="27432" tIns="18288" bIns="0">
            <a:spAutoFit/>
          </a:bodyPr>
          <a:lstStyle/>
          <a:p>
            <a:pPr algn="ctr">
              <a:spcAft>
                <a:spcPts val="800"/>
              </a:spcAft>
              <a:defRPr sz="1700" b="1">
                <a:solidFill>
                  <a:srgbClr val="158B80"/>
                </a:solidFill>
                <a:latin typeface="DejaVu Sans"/>
              </a:defRPr>
            </a:pPr>
            <a:r>
              <a:t>Provayder</a:t>
            </a:r>
          </a:p>
        </p:txBody>
      </p:sp>
      <p:sp>
        <p:nvSpPr>
          <p:cNvPr id="52" name="Rounded Rectangle 51"/>
          <p:cNvSpPr/>
          <p:nvPr/>
        </p:nvSpPr>
        <p:spPr>
          <a:xfrm>
            <a:off x="9037320" y="5034686"/>
            <a:ext cx="2356104" cy="524865"/>
          </a:xfrm>
          <a:prstGeom prst="roundRect">
            <a:avLst>
              <a:gd name="adj" fmla="val 8000"/>
            </a:avLst>
          </a:prstGeom>
          <a:solidFill>
            <a:srgbClr val="E5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101328" y="5153558"/>
            <a:ext cx="2237231" cy="396849"/>
          </a:xfrm>
          <a:prstGeom prst="rect">
            <a:avLst/>
          </a:prstGeom>
          <a:noFill/>
        </p:spPr>
        <p:txBody>
          <a:bodyPr wrap="square" lIns="27432" rIns="27432" tIns="18288" bIns="0">
            <a:spAutoFit/>
          </a:bodyPr>
          <a:lstStyle/>
          <a:p>
            <a:pPr algn="ctr">
              <a:spcAft>
                <a:spcPts val="800"/>
              </a:spcAft>
              <a:defRPr sz="1700" b="1">
                <a:solidFill>
                  <a:srgbClr val="158B80"/>
                </a:solidFill>
                <a:latin typeface="DejaVu Sans"/>
              </a:defRPr>
            </a:pPr>
            <a:r>
              <a:t>Provayder</a:t>
            </a:r>
          </a:p>
        </p:txBody>
      </p:sp>
      <p:sp>
        <p:nvSpPr>
          <p:cNvPr id="54" name="TextBox 53"/>
          <p:cNvSpPr txBox="1"/>
          <p:nvPr/>
        </p:nvSpPr>
        <p:spPr>
          <a:xfrm>
            <a:off x="731520" y="5879592"/>
            <a:ext cx="10424160" cy="411480"/>
          </a:xfrm>
          <a:prstGeom prst="rect">
            <a:avLst/>
          </a:prstGeom>
          <a:noFill/>
        </p:spPr>
        <p:txBody>
          <a:bodyPr wrap="square" lIns="27432" rIns="27432" tIns="18288" bIns="0">
            <a:spAutoFit/>
          </a:bodyPr>
          <a:lstStyle/>
          <a:p>
            <a:pPr>
              <a:spcAft>
                <a:spcPts val="800"/>
              </a:spcAft>
              <a:defRPr sz="1700" b="1">
                <a:solidFill>
                  <a:srgbClr val="20364E"/>
                </a:solidFill>
                <a:latin typeface="DejaVu Sans"/>
              </a:defRPr>
            </a:pPr>
            <a:r>
              <a:t>SaaS da ham hisoblar, ulashish va ma’lumot siyosati mijoz mas’uliyatida.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73736"/>
          </a:xfrm>
          <a:prstGeom prst="rect">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420624"/>
            <a:ext cx="9875520" cy="932688"/>
          </a:xfrm>
          <a:prstGeom prst="rect">
            <a:avLst/>
          </a:prstGeom>
          <a:noFill/>
        </p:spPr>
        <p:txBody>
          <a:bodyPr wrap="square" lIns="27432" rIns="27432" tIns="18288" bIns="0">
            <a:spAutoFit/>
          </a:bodyPr>
          <a:lstStyle/>
          <a:p>
            <a:pPr>
              <a:spcAft>
                <a:spcPts val="800"/>
              </a:spcAft>
              <a:defRPr sz="3000" b="1">
                <a:solidFill>
                  <a:srgbClr val="20364E"/>
                </a:solidFill>
                <a:latin typeface="DejaVu Sans"/>
              </a:defRPr>
            </a:pPr>
            <a:r>
              <a:t>IaaS: infratuzilma xizmati</a:t>
            </a:r>
          </a:p>
        </p:txBody>
      </p:sp>
      <p:sp>
        <p:nvSpPr>
          <p:cNvPr id="4" name="Rounded Rectangle 3"/>
          <p:cNvSpPr/>
          <p:nvPr/>
        </p:nvSpPr>
        <p:spPr>
          <a:xfrm>
            <a:off x="621792" y="1399032"/>
            <a:ext cx="1051560" cy="310896"/>
          </a:xfrm>
          <a:prstGeom prst="roundRect">
            <a:avLst>
              <a:gd name="adj" fmla="val 8000"/>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IaaS</a:t>
            </a:r>
          </a:p>
        </p:txBody>
      </p:sp>
      <p:sp>
        <p:nvSpPr>
          <p:cNvPr id="6" name="Rounded Rectangle 5"/>
          <p:cNvSpPr/>
          <p:nvPr/>
        </p:nvSpPr>
        <p:spPr>
          <a:xfrm>
            <a:off x="1810512" y="1399032"/>
            <a:ext cx="1051560" cy="310896"/>
          </a:xfrm>
          <a:prstGeom prst="roundRect">
            <a:avLst>
              <a:gd name="adj" fmla="val 8000"/>
            </a:avLst>
          </a:prstGeom>
          <a:solidFill>
            <a:srgbClr val="875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19"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PaaS</a:t>
            </a:r>
          </a:p>
        </p:txBody>
      </p:sp>
      <p:sp>
        <p:nvSpPr>
          <p:cNvPr id="8" name="Rounded Rectangle 7"/>
          <p:cNvSpPr/>
          <p:nvPr/>
        </p:nvSpPr>
        <p:spPr>
          <a:xfrm>
            <a:off x="2999232" y="1399032"/>
            <a:ext cx="1051560" cy="310896"/>
          </a:xfrm>
          <a:prstGeom prst="roundRect">
            <a:avLst>
              <a:gd name="adj" fmla="val 8000"/>
            </a:avLst>
          </a:prstGeom>
          <a:solidFill>
            <a:srgbClr val="159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63240"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SaaS</a:t>
            </a:r>
          </a:p>
        </p:txBody>
      </p:sp>
      <p:sp>
        <p:nvSpPr>
          <p:cNvPr id="10" name="TextBox 9"/>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0364E"/>
                </a:solidFill>
                <a:latin typeface="DejaVu Sans"/>
              </a:defRPr>
            </a:pPr>
            <a:r>
              <a:t>BTST206   /   M03   /   2027–2028</a:t>
            </a:r>
          </a:p>
        </p:txBody>
      </p:sp>
      <p:sp>
        <p:nvSpPr>
          <p:cNvPr id="11" name="TextBox 10"/>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0364E"/>
                </a:solidFill>
                <a:latin typeface="DejaVu Sans"/>
              </a:defRPr>
            </a:pPr>
            <a:r>
              <a:t>04 / 13</a:t>
            </a:r>
          </a:p>
        </p:txBody>
      </p:sp>
      <p:sp>
        <p:nvSpPr>
          <p:cNvPr id="12" name="Rounded Rectangle 11"/>
          <p:cNvSpPr/>
          <p:nvPr/>
        </p:nvSpPr>
        <p:spPr>
          <a:xfrm>
            <a:off x="640080" y="1984248"/>
            <a:ext cx="2953512" cy="4041648"/>
          </a:xfrm>
          <a:prstGeom prst="roundRect">
            <a:avLst>
              <a:gd name="adj" fmla="val 8000"/>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2359152"/>
            <a:ext cx="2423160" cy="731520"/>
          </a:xfrm>
          <a:prstGeom prst="rect">
            <a:avLst/>
          </a:prstGeom>
          <a:noFill/>
        </p:spPr>
        <p:txBody>
          <a:bodyPr wrap="square" lIns="27432" rIns="27432" tIns="18288" bIns="0">
            <a:spAutoFit/>
          </a:bodyPr>
          <a:lstStyle/>
          <a:p>
            <a:pPr>
              <a:spcAft>
                <a:spcPts val="800"/>
              </a:spcAft>
              <a:defRPr sz="4000" b="1">
                <a:solidFill>
                  <a:srgbClr val="FFFFFF"/>
                </a:solidFill>
                <a:latin typeface="DejaVu Sans"/>
              </a:defRPr>
            </a:pPr>
            <a:r>
              <a:t>IaaS</a:t>
            </a:r>
          </a:p>
        </p:txBody>
      </p:sp>
      <p:sp>
        <p:nvSpPr>
          <p:cNvPr id="14" name="TextBox 13"/>
          <p:cNvSpPr txBox="1"/>
          <p:nvPr/>
        </p:nvSpPr>
        <p:spPr>
          <a:xfrm>
            <a:off x="896112" y="3438144"/>
            <a:ext cx="2432304" cy="2130552"/>
          </a:xfrm>
          <a:prstGeom prst="rect">
            <a:avLst/>
          </a:prstGeom>
          <a:noFill/>
        </p:spPr>
        <p:txBody>
          <a:bodyPr wrap="square" lIns="27432" rIns="27432" tIns="18288" bIns="0">
            <a:spAutoFit/>
          </a:bodyPr>
          <a:lstStyle/>
          <a:p>
            <a:pPr>
              <a:spcAft>
                <a:spcPts val="800"/>
              </a:spcAft>
              <a:defRPr sz="2300" b="1">
                <a:solidFill>
                  <a:srgbClr val="FFFFFF"/>
                </a:solidFill>
                <a:latin typeface="DejaVu Sans"/>
              </a:defRPr>
            </a:pPr>
            <a:r>
              <a:t>Virtual server, disk va tarmoqni ijaraga olish.</a:t>
            </a:r>
          </a:p>
        </p:txBody>
      </p:sp>
      <p:sp>
        <p:nvSpPr>
          <p:cNvPr id="15" name="TextBox 14"/>
          <p:cNvSpPr txBox="1"/>
          <p:nvPr/>
        </p:nvSpPr>
        <p:spPr>
          <a:xfrm>
            <a:off x="4023360" y="2029968"/>
            <a:ext cx="7159752" cy="402336"/>
          </a:xfrm>
          <a:prstGeom prst="rect">
            <a:avLst/>
          </a:prstGeom>
          <a:noFill/>
        </p:spPr>
        <p:txBody>
          <a:bodyPr wrap="square" lIns="27432" rIns="27432" tIns="18288" bIns="0">
            <a:spAutoFit/>
          </a:bodyPr>
          <a:lstStyle/>
          <a:p>
            <a:pPr>
              <a:spcAft>
                <a:spcPts val="800"/>
              </a:spcAft>
              <a:defRPr sz="1300" b="1">
                <a:solidFill>
                  <a:srgbClr val="2368CE"/>
                </a:solidFill>
                <a:latin typeface="DejaVu Sans"/>
              </a:defRPr>
            </a:pPr>
            <a:r>
              <a:t>SIZ NIMA BILAN ISHLAYSIZ?</a:t>
            </a:r>
          </a:p>
        </p:txBody>
      </p:sp>
      <p:sp>
        <p:nvSpPr>
          <p:cNvPr id="16" name="TextBox 15"/>
          <p:cNvSpPr txBox="1"/>
          <p:nvPr/>
        </p:nvSpPr>
        <p:spPr>
          <a:xfrm>
            <a:off x="4023360" y="2724912"/>
            <a:ext cx="7132320" cy="1005840"/>
          </a:xfrm>
          <a:prstGeom prst="rect">
            <a:avLst/>
          </a:prstGeom>
          <a:noFill/>
        </p:spPr>
        <p:txBody>
          <a:bodyPr wrap="square" lIns="27432" rIns="27432" tIns="18288" bIns="0">
            <a:spAutoFit/>
          </a:bodyPr>
          <a:lstStyle/>
          <a:p>
            <a:pPr>
              <a:spcAft>
                <a:spcPts val="800"/>
              </a:spcAft>
              <a:defRPr sz="2500" b="1">
                <a:solidFill>
                  <a:srgbClr val="20364E"/>
                </a:solidFill>
                <a:latin typeface="DejaVu Sans"/>
              </a:defRPr>
            </a:pPr>
            <a:r>
              <a:t>Operatsion tizim, kutubxonalar, ilova va ma’lumotlarni boshqarasiz.</a:t>
            </a:r>
          </a:p>
        </p:txBody>
      </p:sp>
      <p:sp>
        <p:nvSpPr>
          <p:cNvPr id="17" name="TextBox 16"/>
          <p:cNvSpPr txBox="1"/>
          <p:nvPr/>
        </p:nvSpPr>
        <p:spPr>
          <a:xfrm>
            <a:off x="4041648" y="4078224"/>
            <a:ext cx="7095744" cy="1417320"/>
          </a:xfrm>
          <a:prstGeom prst="rect">
            <a:avLst/>
          </a:prstGeom>
          <a:noFill/>
        </p:spPr>
        <p:txBody>
          <a:bodyPr wrap="square" lIns="27432" rIns="27432" tIns="18288" bIns="0">
            <a:spAutoFit/>
          </a:bodyPr>
          <a:lstStyle/>
          <a:p>
            <a:pPr>
              <a:spcAft>
                <a:spcPts val="800"/>
              </a:spcAft>
              <a:defRPr sz="2300" b="0">
                <a:solidFill>
                  <a:srgbClr val="20364E"/>
                </a:solidFill>
                <a:latin typeface="DejaVu Sans"/>
              </a:defRPr>
            </a:pPr>
            <a:r>
              <a:t>EC2 yoki Azure Virtual Machines yordamida maxsus konfiguratsiyali Linux server tashkil qilish mumkin.</a:t>
            </a:r>
          </a:p>
        </p:txBody>
      </p:sp>
      <p:sp>
        <p:nvSpPr>
          <p:cNvPr id="18" name="TextBox 17"/>
          <p:cNvSpPr txBox="1"/>
          <p:nvPr/>
        </p:nvSpPr>
        <p:spPr>
          <a:xfrm>
            <a:off x="4041648" y="5806440"/>
            <a:ext cx="7132320" cy="411480"/>
          </a:xfrm>
          <a:prstGeom prst="rect">
            <a:avLst/>
          </a:prstGeom>
          <a:noFill/>
        </p:spPr>
        <p:txBody>
          <a:bodyPr wrap="square" lIns="27432" rIns="27432" tIns="18288" bIns="0">
            <a:spAutoFit/>
          </a:bodyPr>
          <a:lstStyle/>
          <a:p>
            <a:pPr>
              <a:spcAft>
                <a:spcPts val="800"/>
              </a:spcAft>
              <a:defRPr sz="1600" b="1">
                <a:solidFill>
                  <a:srgbClr val="2368CE"/>
                </a:solidFill>
                <a:latin typeface="DejaVu Sans"/>
              </a:defRPr>
            </a:pPr>
            <a:r>
              <a:t>Boshqaruv kamayishi mas’uliyatni butunlay yo‘qotmaydi.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73736"/>
          </a:xfrm>
          <a:prstGeom prst="rect">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420624"/>
            <a:ext cx="9875520" cy="932688"/>
          </a:xfrm>
          <a:prstGeom prst="rect">
            <a:avLst/>
          </a:prstGeom>
          <a:noFill/>
        </p:spPr>
        <p:txBody>
          <a:bodyPr wrap="square" lIns="27432" rIns="27432" tIns="18288" bIns="0">
            <a:spAutoFit/>
          </a:bodyPr>
          <a:lstStyle/>
          <a:p>
            <a:pPr>
              <a:spcAft>
                <a:spcPts val="800"/>
              </a:spcAft>
              <a:defRPr sz="3000" b="1">
                <a:solidFill>
                  <a:srgbClr val="20364E"/>
                </a:solidFill>
                <a:latin typeface="DejaVu Sans"/>
              </a:defRPr>
            </a:pPr>
            <a:r>
              <a:t>PaaS: platforma xizmati</a:t>
            </a:r>
          </a:p>
        </p:txBody>
      </p:sp>
      <p:sp>
        <p:nvSpPr>
          <p:cNvPr id="4" name="Rounded Rectangle 3"/>
          <p:cNvSpPr/>
          <p:nvPr/>
        </p:nvSpPr>
        <p:spPr>
          <a:xfrm>
            <a:off x="621792" y="1399032"/>
            <a:ext cx="1051560" cy="310896"/>
          </a:xfrm>
          <a:prstGeom prst="roundRect">
            <a:avLst>
              <a:gd name="adj" fmla="val 8000"/>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IaaS</a:t>
            </a:r>
          </a:p>
        </p:txBody>
      </p:sp>
      <p:sp>
        <p:nvSpPr>
          <p:cNvPr id="6" name="Rounded Rectangle 5"/>
          <p:cNvSpPr/>
          <p:nvPr/>
        </p:nvSpPr>
        <p:spPr>
          <a:xfrm>
            <a:off x="1810512" y="1399032"/>
            <a:ext cx="1051560" cy="310896"/>
          </a:xfrm>
          <a:prstGeom prst="roundRect">
            <a:avLst>
              <a:gd name="adj" fmla="val 8000"/>
            </a:avLst>
          </a:prstGeom>
          <a:solidFill>
            <a:srgbClr val="875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19"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PaaS</a:t>
            </a:r>
          </a:p>
        </p:txBody>
      </p:sp>
      <p:sp>
        <p:nvSpPr>
          <p:cNvPr id="8" name="Rounded Rectangle 7"/>
          <p:cNvSpPr/>
          <p:nvPr/>
        </p:nvSpPr>
        <p:spPr>
          <a:xfrm>
            <a:off x="2999232" y="1399032"/>
            <a:ext cx="1051560" cy="310896"/>
          </a:xfrm>
          <a:prstGeom prst="roundRect">
            <a:avLst>
              <a:gd name="adj" fmla="val 8000"/>
            </a:avLst>
          </a:prstGeom>
          <a:solidFill>
            <a:srgbClr val="159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63240"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SaaS</a:t>
            </a:r>
          </a:p>
        </p:txBody>
      </p:sp>
      <p:sp>
        <p:nvSpPr>
          <p:cNvPr id="10" name="TextBox 9"/>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0364E"/>
                </a:solidFill>
                <a:latin typeface="DejaVu Sans"/>
              </a:defRPr>
            </a:pPr>
            <a:r>
              <a:t>BTST206   /   M03   /   2027–2028</a:t>
            </a:r>
          </a:p>
        </p:txBody>
      </p:sp>
      <p:sp>
        <p:nvSpPr>
          <p:cNvPr id="11" name="TextBox 10"/>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0364E"/>
                </a:solidFill>
                <a:latin typeface="DejaVu Sans"/>
              </a:defRPr>
            </a:pPr>
            <a:r>
              <a:t>05 / 13</a:t>
            </a:r>
          </a:p>
        </p:txBody>
      </p:sp>
      <p:sp>
        <p:nvSpPr>
          <p:cNvPr id="12" name="Rounded Rectangle 11"/>
          <p:cNvSpPr/>
          <p:nvPr/>
        </p:nvSpPr>
        <p:spPr>
          <a:xfrm>
            <a:off x="640080" y="1984248"/>
            <a:ext cx="2953512" cy="4041648"/>
          </a:xfrm>
          <a:prstGeom prst="roundRect">
            <a:avLst>
              <a:gd name="adj" fmla="val 8000"/>
            </a:avLst>
          </a:prstGeom>
          <a:solidFill>
            <a:srgbClr val="875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2359152"/>
            <a:ext cx="2423160" cy="731520"/>
          </a:xfrm>
          <a:prstGeom prst="rect">
            <a:avLst/>
          </a:prstGeom>
          <a:noFill/>
        </p:spPr>
        <p:txBody>
          <a:bodyPr wrap="square" lIns="27432" rIns="27432" tIns="18288" bIns="0">
            <a:spAutoFit/>
          </a:bodyPr>
          <a:lstStyle/>
          <a:p>
            <a:pPr>
              <a:spcAft>
                <a:spcPts val="800"/>
              </a:spcAft>
              <a:defRPr sz="4000" b="1">
                <a:solidFill>
                  <a:srgbClr val="FFFFFF"/>
                </a:solidFill>
                <a:latin typeface="DejaVu Sans"/>
              </a:defRPr>
            </a:pPr>
            <a:r>
              <a:t>PaaS</a:t>
            </a:r>
          </a:p>
        </p:txBody>
      </p:sp>
      <p:sp>
        <p:nvSpPr>
          <p:cNvPr id="14" name="TextBox 13"/>
          <p:cNvSpPr txBox="1"/>
          <p:nvPr/>
        </p:nvSpPr>
        <p:spPr>
          <a:xfrm>
            <a:off x="896112" y="3438144"/>
            <a:ext cx="2432304" cy="2130552"/>
          </a:xfrm>
          <a:prstGeom prst="rect">
            <a:avLst/>
          </a:prstGeom>
          <a:noFill/>
        </p:spPr>
        <p:txBody>
          <a:bodyPr wrap="square" lIns="27432" rIns="27432" tIns="18288" bIns="0">
            <a:spAutoFit/>
          </a:bodyPr>
          <a:lstStyle/>
          <a:p>
            <a:pPr>
              <a:spcAft>
                <a:spcPts val="800"/>
              </a:spcAft>
              <a:defRPr sz="2300" b="1">
                <a:solidFill>
                  <a:srgbClr val="FFFFFF"/>
                </a:solidFill>
                <a:latin typeface="DejaVu Sans"/>
              </a:defRPr>
            </a:pPr>
            <a:r>
              <a:t>Kodni joylashtiring, platformani provayder boshqarsin.</a:t>
            </a:r>
          </a:p>
        </p:txBody>
      </p:sp>
      <p:sp>
        <p:nvSpPr>
          <p:cNvPr id="15" name="TextBox 14"/>
          <p:cNvSpPr txBox="1"/>
          <p:nvPr/>
        </p:nvSpPr>
        <p:spPr>
          <a:xfrm>
            <a:off x="4023360" y="2029968"/>
            <a:ext cx="7159752" cy="402336"/>
          </a:xfrm>
          <a:prstGeom prst="rect">
            <a:avLst/>
          </a:prstGeom>
          <a:noFill/>
        </p:spPr>
        <p:txBody>
          <a:bodyPr wrap="square" lIns="27432" rIns="27432" tIns="18288" bIns="0">
            <a:spAutoFit/>
          </a:bodyPr>
          <a:lstStyle/>
          <a:p>
            <a:pPr>
              <a:spcAft>
                <a:spcPts val="800"/>
              </a:spcAft>
              <a:defRPr sz="1300" b="1">
                <a:solidFill>
                  <a:srgbClr val="8757C8"/>
                </a:solidFill>
                <a:latin typeface="DejaVu Sans"/>
              </a:defRPr>
            </a:pPr>
            <a:r>
              <a:t>SIZ NIMA BILAN ISHLAYSIZ?</a:t>
            </a:r>
          </a:p>
        </p:txBody>
      </p:sp>
      <p:sp>
        <p:nvSpPr>
          <p:cNvPr id="16" name="TextBox 15"/>
          <p:cNvSpPr txBox="1"/>
          <p:nvPr/>
        </p:nvSpPr>
        <p:spPr>
          <a:xfrm>
            <a:off x="4023360" y="2724912"/>
            <a:ext cx="7132320" cy="1005840"/>
          </a:xfrm>
          <a:prstGeom prst="rect">
            <a:avLst/>
          </a:prstGeom>
          <a:noFill/>
        </p:spPr>
        <p:txBody>
          <a:bodyPr wrap="square" lIns="27432" rIns="27432" tIns="18288" bIns="0">
            <a:spAutoFit/>
          </a:bodyPr>
          <a:lstStyle/>
          <a:p>
            <a:pPr>
              <a:spcAft>
                <a:spcPts val="800"/>
              </a:spcAft>
              <a:defRPr sz="2500" b="1">
                <a:solidFill>
                  <a:srgbClr val="20364E"/>
                </a:solidFill>
                <a:latin typeface="DejaVu Sans"/>
              </a:defRPr>
            </a:pPr>
            <a:r>
              <a:t>Kod, konfiguratsiya va ma’lumotga e’tibor berasiz.</a:t>
            </a:r>
          </a:p>
        </p:txBody>
      </p:sp>
      <p:pic>
        <p:nvPicPr>
          <p:cNvPr id="17" name="Picture 16" descr="shared_responsibility.png"/>
          <p:cNvPicPr>
            <a:picLocks noChangeAspect="1"/>
          </p:cNvPicPr>
          <p:nvPr/>
        </p:nvPicPr>
        <p:blipFill>
          <a:blip r:embed="rId2"/>
          <a:stretch>
            <a:fillRect/>
          </a:stretch>
        </p:blipFill>
        <p:spPr>
          <a:xfrm>
            <a:off x="8230159" y="4114800"/>
            <a:ext cx="2833521" cy="1673352"/>
          </a:xfrm>
          <a:prstGeom prst="rect">
            <a:avLst/>
          </a:prstGeom>
        </p:spPr>
      </p:pic>
      <p:sp>
        <p:nvSpPr>
          <p:cNvPr id="18" name="TextBox 17"/>
          <p:cNvSpPr txBox="1"/>
          <p:nvPr/>
        </p:nvSpPr>
        <p:spPr>
          <a:xfrm>
            <a:off x="4041648" y="4160520"/>
            <a:ext cx="3657600" cy="1554480"/>
          </a:xfrm>
          <a:prstGeom prst="rect">
            <a:avLst/>
          </a:prstGeom>
          <a:noFill/>
        </p:spPr>
        <p:txBody>
          <a:bodyPr wrap="square" lIns="27432" rIns="27432" tIns="18288" bIns="0">
            <a:spAutoFit/>
          </a:bodyPr>
          <a:lstStyle/>
          <a:p>
            <a:pPr>
              <a:spcAft>
                <a:spcPts val="800"/>
              </a:spcAft>
              <a:defRPr sz="2100" b="0">
                <a:solidFill>
                  <a:srgbClr val="8757C8"/>
                </a:solidFill>
                <a:latin typeface="DejaVu Sans"/>
              </a:defRPr>
            </a:pPr>
            <a:r>
              <a:t>Misol:</a:t>
            </a:r>
          </a:p>
          <a:p>
            <a:pPr>
              <a:spcAft>
                <a:spcPts val="800"/>
              </a:spcAft>
              <a:defRPr sz="2100" b="0">
                <a:solidFill>
                  <a:srgbClr val="8757C8"/>
                </a:solidFill>
                <a:latin typeface="DejaVu Sans"/>
              </a:defRPr>
            </a:pPr>
            <a:r>
              <a:t>Azure App Service</a:t>
            </a:r>
          </a:p>
          <a:p>
            <a:pPr>
              <a:spcAft>
                <a:spcPts val="800"/>
              </a:spcAft>
              <a:defRPr sz="2100" b="0">
                <a:solidFill>
                  <a:srgbClr val="8757C8"/>
                </a:solidFill>
                <a:latin typeface="DejaVu Sans"/>
              </a:defRPr>
            </a:pPr>
            <a:r>
              <a:t>Google App Engine</a:t>
            </a:r>
          </a:p>
        </p:txBody>
      </p:sp>
      <p:sp>
        <p:nvSpPr>
          <p:cNvPr id="19" name="TextBox 18"/>
          <p:cNvSpPr txBox="1"/>
          <p:nvPr/>
        </p:nvSpPr>
        <p:spPr>
          <a:xfrm>
            <a:off x="4041648" y="5806440"/>
            <a:ext cx="7132320" cy="411480"/>
          </a:xfrm>
          <a:prstGeom prst="rect">
            <a:avLst/>
          </a:prstGeom>
          <a:noFill/>
        </p:spPr>
        <p:txBody>
          <a:bodyPr wrap="square" lIns="27432" rIns="27432" tIns="18288" bIns="0">
            <a:spAutoFit/>
          </a:bodyPr>
          <a:lstStyle/>
          <a:p>
            <a:pPr>
              <a:spcAft>
                <a:spcPts val="800"/>
              </a:spcAft>
              <a:defRPr sz="1600" b="1">
                <a:solidFill>
                  <a:srgbClr val="8757C8"/>
                </a:solidFill>
                <a:latin typeface="DejaVu Sans"/>
              </a:defRPr>
            </a:pPr>
            <a:r>
              <a:t>Boshqaruv kamayishi mas’uliyatni butunlay yo‘qotmaydi.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73736"/>
          </a:xfrm>
          <a:prstGeom prst="rect">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420624"/>
            <a:ext cx="9875520" cy="932688"/>
          </a:xfrm>
          <a:prstGeom prst="rect">
            <a:avLst/>
          </a:prstGeom>
          <a:noFill/>
        </p:spPr>
        <p:txBody>
          <a:bodyPr wrap="square" lIns="27432" rIns="27432" tIns="18288" bIns="0">
            <a:spAutoFit/>
          </a:bodyPr>
          <a:lstStyle/>
          <a:p>
            <a:pPr>
              <a:spcAft>
                <a:spcPts val="800"/>
              </a:spcAft>
              <a:defRPr sz="3000" b="1">
                <a:solidFill>
                  <a:srgbClr val="20364E"/>
                </a:solidFill>
                <a:latin typeface="DejaVu Sans"/>
              </a:defRPr>
            </a:pPr>
            <a:r>
              <a:t>SaaS: tayyor dastur xizmati</a:t>
            </a:r>
          </a:p>
        </p:txBody>
      </p:sp>
      <p:sp>
        <p:nvSpPr>
          <p:cNvPr id="4" name="Rounded Rectangle 3"/>
          <p:cNvSpPr/>
          <p:nvPr/>
        </p:nvSpPr>
        <p:spPr>
          <a:xfrm>
            <a:off x="621792" y="1399032"/>
            <a:ext cx="1051560" cy="310896"/>
          </a:xfrm>
          <a:prstGeom prst="roundRect">
            <a:avLst>
              <a:gd name="adj" fmla="val 8000"/>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IaaS</a:t>
            </a:r>
          </a:p>
        </p:txBody>
      </p:sp>
      <p:sp>
        <p:nvSpPr>
          <p:cNvPr id="6" name="Rounded Rectangle 5"/>
          <p:cNvSpPr/>
          <p:nvPr/>
        </p:nvSpPr>
        <p:spPr>
          <a:xfrm>
            <a:off x="1810512" y="1399032"/>
            <a:ext cx="1051560" cy="310896"/>
          </a:xfrm>
          <a:prstGeom prst="roundRect">
            <a:avLst>
              <a:gd name="adj" fmla="val 8000"/>
            </a:avLst>
          </a:prstGeom>
          <a:solidFill>
            <a:srgbClr val="875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19"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PaaS</a:t>
            </a:r>
          </a:p>
        </p:txBody>
      </p:sp>
      <p:sp>
        <p:nvSpPr>
          <p:cNvPr id="8" name="Rounded Rectangle 7"/>
          <p:cNvSpPr/>
          <p:nvPr/>
        </p:nvSpPr>
        <p:spPr>
          <a:xfrm>
            <a:off x="2999232" y="1399032"/>
            <a:ext cx="1051560" cy="310896"/>
          </a:xfrm>
          <a:prstGeom prst="roundRect">
            <a:avLst>
              <a:gd name="adj" fmla="val 8000"/>
            </a:avLst>
          </a:prstGeom>
          <a:solidFill>
            <a:srgbClr val="159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63240"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SaaS</a:t>
            </a:r>
          </a:p>
        </p:txBody>
      </p:sp>
      <p:sp>
        <p:nvSpPr>
          <p:cNvPr id="10" name="TextBox 9"/>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0364E"/>
                </a:solidFill>
                <a:latin typeface="DejaVu Sans"/>
              </a:defRPr>
            </a:pPr>
            <a:r>
              <a:t>BTST206   /   M03   /   2027–2028</a:t>
            </a:r>
          </a:p>
        </p:txBody>
      </p:sp>
      <p:sp>
        <p:nvSpPr>
          <p:cNvPr id="11" name="TextBox 10"/>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0364E"/>
                </a:solidFill>
                <a:latin typeface="DejaVu Sans"/>
              </a:defRPr>
            </a:pPr>
            <a:r>
              <a:t>06 / 13</a:t>
            </a:r>
          </a:p>
        </p:txBody>
      </p:sp>
      <p:sp>
        <p:nvSpPr>
          <p:cNvPr id="12" name="Rounded Rectangle 11"/>
          <p:cNvSpPr/>
          <p:nvPr/>
        </p:nvSpPr>
        <p:spPr>
          <a:xfrm>
            <a:off x="640080" y="1984248"/>
            <a:ext cx="2953512" cy="4041648"/>
          </a:xfrm>
          <a:prstGeom prst="roundRect">
            <a:avLst>
              <a:gd name="adj" fmla="val 8000"/>
            </a:avLst>
          </a:prstGeom>
          <a:solidFill>
            <a:srgbClr val="159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2359152"/>
            <a:ext cx="2423160" cy="731520"/>
          </a:xfrm>
          <a:prstGeom prst="rect">
            <a:avLst/>
          </a:prstGeom>
          <a:noFill/>
        </p:spPr>
        <p:txBody>
          <a:bodyPr wrap="square" lIns="27432" rIns="27432" tIns="18288" bIns="0">
            <a:spAutoFit/>
          </a:bodyPr>
          <a:lstStyle/>
          <a:p>
            <a:pPr>
              <a:spcAft>
                <a:spcPts val="800"/>
              </a:spcAft>
              <a:defRPr sz="4000" b="1">
                <a:solidFill>
                  <a:srgbClr val="FFFFFF"/>
                </a:solidFill>
                <a:latin typeface="DejaVu Sans"/>
              </a:defRPr>
            </a:pPr>
            <a:r>
              <a:t>SaaS</a:t>
            </a:r>
          </a:p>
        </p:txBody>
      </p:sp>
      <p:sp>
        <p:nvSpPr>
          <p:cNvPr id="14" name="TextBox 13"/>
          <p:cNvSpPr txBox="1"/>
          <p:nvPr/>
        </p:nvSpPr>
        <p:spPr>
          <a:xfrm>
            <a:off x="896112" y="3438144"/>
            <a:ext cx="2432304" cy="2130552"/>
          </a:xfrm>
          <a:prstGeom prst="rect">
            <a:avLst/>
          </a:prstGeom>
          <a:noFill/>
        </p:spPr>
        <p:txBody>
          <a:bodyPr wrap="square" lIns="27432" rIns="27432" tIns="18288" bIns="0">
            <a:spAutoFit/>
          </a:bodyPr>
          <a:lstStyle/>
          <a:p>
            <a:pPr>
              <a:spcAft>
                <a:spcPts val="800"/>
              </a:spcAft>
              <a:defRPr sz="2300" b="1">
                <a:solidFill>
                  <a:srgbClr val="FFFFFF"/>
                </a:solidFill>
                <a:latin typeface="DejaVu Sans"/>
              </a:defRPr>
            </a:pPr>
            <a:r>
              <a:t>Dasturdan foydalanish, infratuzilmani qurmaslik.</a:t>
            </a:r>
          </a:p>
        </p:txBody>
      </p:sp>
      <p:sp>
        <p:nvSpPr>
          <p:cNvPr id="15" name="TextBox 14"/>
          <p:cNvSpPr txBox="1"/>
          <p:nvPr/>
        </p:nvSpPr>
        <p:spPr>
          <a:xfrm>
            <a:off x="4023360" y="2029968"/>
            <a:ext cx="7159752" cy="402336"/>
          </a:xfrm>
          <a:prstGeom prst="rect">
            <a:avLst/>
          </a:prstGeom>
          <a:noFill/>
        </p:spPr>
        <p:txBody>
          <a:bodyPr wrap="square" lIns="27432" rIns="27432" tIns="18288" bIns="0">
            <a:spAutoFit/>
          </a:bodyPr>
          <a:lstStyle/>
          <a:p>
            <a:pPr>
              <a:spcAft>
                <a:spcPts val="800"/>
              </a:spcAft>
              <a:defRPr sz="1300" b="1">
                <a:solidFill>
                  <a:srgbClr val="159F9C"/>
                </a:solidFill>
                <a:latin typeface="DejaVu Sans"/>
              </a:defRPr>
            </a:pPr>
            <a:r>
              <a:t>SIZ NIMA BILAN ISHLAYSIZ?</a:t>
            </a:r>
          </a:p>
        </p:txBody>
      </p:sp>
      <p:sp>
        <p:nvSpPr>
          <p:cNvPr id="16" name="TextBox 15"/>
          <p:cNvSpPr txBox="1"/>
          <p:nvPr/>
        </p:nvSpPr>
        <p:spPr>
          <a:xfrm>
            <a:off x="4023360" y="2724912"/>
            <a:ext cx="7132320" cy="1005840"/>
          </a:xfrm>
          <a:prstGeom prst="rect">
            <a:avLst/>
          </a:prstGeom>
          <a:noFill/>
        </p:spPr>
        <p:txBody>
          <a:bodyPr wrap="square" lIns="27432" rIns="27432" tIns="18288" bIns="0">
            <a:spAutoFit/>
          </a:bodyPr>
          <a:lstStyle/>
          <a:p>
            <a:pPr>
              <a:spcAft>
                <a:spcPts val="800"/>
              </a:spcAft>
              <a:defRPr sz="2500" b="1">
                <a:solidFill>
                  <a:srgbClr val="20364E"/>
                </a:solidFill>
                <a:latin typeface="DejaVu Sans"/>
              </a:defRPr>
            </a:pPr>
            <a:r>
              <a:t>Tayyor dastur, hisoblar va ulashish qoidalaridan foydalanasiz.</a:t>
            </a:r>
          </a:p>
        </p:txBody>
      </p:sp>
      <p:sp>
        <p:nvSpPr>
          <p:cNvPr id="17" name="TextBox 16"/>
          <p:cNvSpPr txBox="1"/>
          <p:nvPr/>
        </p:nvSpPr>
        <p:spPr>
          <a:xfrm>
            <a:off x="4041648" y="4078224"/>
            <a:ext cx="7095744" cy="1417320"/>
          </a:xfrm>
          <a:prstGeom prst="rect">
            <a:avLst/>
          </a:prstGeom>
          <a:noFill/>
        </p:spPr>
        <p:txBody>
          <a:bodyPr wrap="square" lIns="27432" rIns="27432" tIns="18288" bIns="0">
            <a:spAutoFit/>
          </a:bodyPr>
          <a:lstStyle/>
          <a:p>
            <a:pPr>
              <a:spcAft>
                <a:spcPts val="800"/>
              </a:spcAft>
              <a:defRPr sz="2300" b="0">
                <a:solidFill>
                  <a:srgbClr val="20364E"/>
                </a:solidFill>
                <a:latin typeface="DejaVu Sans"/>
              </a:defRPr>
            </a:pPr>
            <a:r>
              <a:t>Microsoft 365 va Google Workspace hujjat, pochta va hamkorlik uchun tayyor xizmat misollaridir.</a:t>
            </a:r>
          </a:p>
        </p:txBody>
      </p:sp>
      <p:sp>
        <p:nvSpPr>
          <p:cNvPr id="18" name="TextBox 17"/>
          <p:cNvSpPr txBox="1"/>
          <p:nvPr/>
        </p:nvSpPr>
        <p:spPr>
          <a:xfrm>
            <a:off x="4041648" y="5806440"/>
            <a:ext cx="7132320" cy="411480"/>
          </a:xfrm>
          <a:prstGeom prst="rect">
            <a:avLst/>
          </a:prstGeom>
          <a:noFill/>
        </p:spPr>
        <p:txBody>
          <a:bodyPr wrap="square" lIns="27432" rIns="27432" tIns="18288" bIns="0">
            <a:spAutoFit/>
          </a:bodyPr>
          <a:lstStyle/>
          <a:p>
            <a:pPr>
              <a:spcAft>
                <a:spcPts val="800"/>
              </a:spcAft>
              <a:defRPr sz="1600" b="1">
                <a:solidFill>
                  <a:srgbClr val="159F9C"/>
                </a:solidFill>
                <a:latin typeface="DejaVu Sans"/>
              </a:defRPr>
            </a:pPr>
            <a:r>
              <a:t>Boshqaruv kamayishi mas’uliyatni butunlay yo‘qotmaydi.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73736"/>
          </a:xfrm>
          <a:prstGeom prst="rect">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420624"/>
            <a:ext cx="9875520" cy="932688"/>
          </a:xfrm>
          <a:prstGeom prst="rect">
            <a:avLst/>
          </a:prstGeom>
          <a:noFill/>
        </p:spPr>
        <p:txBody>
          <a:bodyPr wrap="square" lIns="27432" rIns="27432" tIns="18288" bIns="0">
            <a:spAutoFit/>
          </a:bodyPr>
          <a:lstStyle/>
          <a:p>
            <a:pPr>
              <a:spcAft>
                <a:spcPts val="800"/>
              </a:spcAft>
              <a:defRPr sz="3000" b="1">
                <a:solidFill>
                  <a:srgbClr val="20364E"/>
                </a:solidFill>
                <a:latin typeface="DejaVu Sans"/>
              </a:defRPr>
            </a:pPr>
            <a:r>
              <a:t>Modellarni tanlash mezonlari</a:t>
            </a:r>
          </a:p>
        </p:txBody>
      </p:sp>
      <p:sp>
        <p:nvSpPr>
          <p:cNvPr id="4" name="Rounded Rectangle 3"/>
          <p:cNvSpPr/>
          <p:nvPr/>
        </p:nvSpPr>
        <p:spPr>
          <a:xfrm>
            <a:off x="621792" y="1399032"/>
            <a:ext cx="1051560" cy="310896"/>
          </a:xfrm>
          <a:prstGeom prst="roundRect">
            <a:avLst>
              <a:gd name="adj" fmla="val 8000"/>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IaaS</a:t>
            </a:r>
          </a:p>
        </p:txBody>
      </p:sp>
      <p:sp>
        <p:nvSpPr>
          <p:cNvPr id="6" name="Rounded Rectangle 5"/>
          <p:cNvSpPr/>
          <p:nvPr/>
        </p:nvSpPr>
        <p:spPr>
          <a:xfrm>
            <a:off x="1810512" y="1399032"/>
            <a:ext cx="1051560" cy="310896"/>
          </a:xfrm>
          <a:prstGeom prst="roundRect">
            <a:avLst>
              <a:gd name="adj" fmla="val 8000"/>
            </a:avLst>
          </a:prstGeom>
          <a:solidFill>
            <a:srgbClr val="875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19"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PaaS</a:t>
            </a:r>
          </a:p>
        </p:txBody>
      </p:sp>
      <p:sp>
        <p:nvSpPr>
          <p:cNvPr id="8" name="Rounded Rectangle 7"/>
          <p:cNvSpPr/>
          <p:nvPr/>
        </p:nvSpPr>
        <p:spPr>
          <a:xfrm>
            <a:off x="2999232" y="1399032"/>
            <a:ext cx="1051560" cy="310896"/>
          </a:xfrm>
          <a:prstGeom prst="roundRect">
            <a:avLst>
              <a:gd name="adj" fmla="val 8000"/>
            </a:avLst>
          </a:prstGeom>
          <a:solidFill>
            <a:srgbClr val="159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63240"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SaaS</a:t>
            </a:r>
          </a:p>
        </p:txBody>
      </p:sp>
      <p:sp>
        <p:nvSpPr>
          <p:cNvPr id="10" name="TextBox 9"/>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0364E"/>
                </a:solidFill>
                <a:latin typeface="DejaVu Sans"/>
              </a:defRPr>
            </a:pPr>
            <a:r>
              <a:t>BTST206   /   M03   /   2027–2028</a:t>
            </a:r>
          </a:p>
        </p:txBody>
      </p:sp>
      <p:sp>
        <p:nvSpPr>
          <p:cNvPr id="11" name="TextBox 10"/>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0364E"/>
                </a:solidFill>
                <a:latin typeface="DejaVu Sans"/>
              </a:defRPr>
            </a:pPr>
            <a:r>
              <a:t>07 / 13</a:t>
            </a:r>
          </a:p>
        </p:txBody>
      </p:sp>
      <p:sp>
        <p:nvSpPr>
          <p:cNvPr id="12" name="Rounded Rectangle 11"/>
          <p:cNvSpPr/>
          <p:nvPr/>
        </p:nvSpPr>
        <p:spPr>
          <a:xfrm>
            <a:off x="685800" y="2011680"/>
            <a:ext cx="5257800" cy="1764792"/>
          </a:xfrm>
          <a:prstGeom prst="roundRect">
            <a:avLst>
              <a:gd name="adj" fmla="val 8000"/>
            </a:avLst>
          </a:prstGeom>
          <a:solidFill>
            <a:srgbClr val="F1F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2240280"/>
            <a:ext cx="4818888" cy="731520"/>
          </a:xfrm>
          <a:prstGeom prst="rect">
            <a:avLst/>
          </a:prstGeom>
          <a:noFill/>
        </p:spPr>
        <p:txBody>
          <a:bodyPr wrap="square" lIns="27432" rIns="27432" tIns="18288" bIns="0">
            <a:spAutoFit/>
          </a:bodyPr>
          <a:lstStyle/>
          <a:p>
            <a:pPr>
              <a:spcAft>
                <a:spcPts val="800"/>
              </a:spcAft>
              <a:defRPr sz="2200" b="1">
                <a:solidFill>
                  <a:srgbClr val="2368CE"/>
                </a:solidFill>
                <a:latin typeface="DejaVu Sans"/>
              </a:defRPr>
            </a:pPr>
            <a:r>
              <a:t>Nazorat</a:t>
            </a:r>
          </a:p>
        </p:txBody>
      </p:sp>
      <p:sp>
        <p:nvSpPr>
          <p:cNvPr id="14" name="TextBox 13"/>
          <p:cNvSpPr txBox="1"/>
          <p:nvPr/>
        </p:nvSpPr>
        <p:spPr>
          <a:xfrm>
            <a:off x="905256" y="3108960"/>
            <a:ext cx="4818888" cy="512063"/>
          </a:xfrm>
          <a:prstGeom prst="rect">
            <a:avLst/>
          </a:prstGeom>
          <a:noFill/>
        </p:spPr>
        <p:txBody>
          <a:bodyPr wrap="square" lIns="27432" rIns="27432" tIns="18288" bIns="0">
            <a:spAutoFit/>
          </a:bodyPr>
          <a:lstStyle/>
          <a:p>
            <a:pPr>
              <a:spcAft>
                <a:spcPts val="800"/>
              </a:spcAft>
              <a:defRPr sz="2000" b="0">
                <a:solidFill>
                  <a:srgbClr val="24445E"/>
                </a:solidFill>
                <a:latin typeface="DejaVu Sans"/>
              </a:defRPr>
            </a:pPr>
            <a:r>
              <a:t>Maxsus operatsion tizim kerakmi?</a:t>
            </a:r>
          </a:p>
        </p:txBody>
      </p:sp>
      <p:sp>
        <p:nvSpPr>
          <p:cNvPr id="15" name="Rounded Rectangle 14"/>
          <p:cNvSpPr/>
          <p:nvPr/>
        </p:nvSpPr>
        <p:spPr>
          <a:xfrm>
            <a:off x="6217920" y="2011680"/>
            <a:ext cx="5257800" cy="1764792"/>
          </a:xfrm>
          <a:prstGeom prst="roundRect">
            <a:avLst>
              <a:gd name="adj" fmla="val 8000"/>
            </a:avLst>
          </a:prstGeom>
          <a:solidFill>
            <a:srgbClr val="F1F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2240280"/>
            <a:ext cx="4818888" cy="731520"/>
          </a:xfrm>
          <a:prstGeom prst="rect">
            <a:avLst/>
          </a:prstGeom>
          <a:noFill/>
        </p:spPr>
        <p:txBody>
          <a:bodyPr wrap="square" lIns="27432" rIns="27432" tIns="18288" bIns="0">
            <a:spAutoFit/>
          </a:bodyPr>
          <a:lstStyle/>
          <a:p>
            <a:pPr>
              <a:spcAft>
                <a:spcPts val="800"/>
              </a:spcAft>
              <a:defRPr sz="2200" b="1">
                <a:solidFill>
                  <a:srgbClr val="8757C8"/>
                </a:solidFill>
                <a:latin typeface="DejaVu Sans"/>
              </a:defRPr>
            </a:pPr>
            <a:r>
              <a:t>Vaqt</a:t>
            </a:r>
          </a:p>
        </p:txBody>
      </p:sp>
      <p:sp>
        <p:nvSpPr>
          <p:cNvPr id="17" name="TextBox 16"/>
          <p:cNvSpPr txBox="1"/>
          <p:nvPr/>
        </p:nvSpPr>
        <p:spPr>
          <a:xfrm>
            <a:off x="6437376" y="3108960"/>
            <a:ext cx="4818888" cy="512063"/>
          </a:xfrm>
          <a:prstGeom prst="rect">
            <a:avLst/>
          </a:prstGeom>
          <a:noFill/>
        </p:spPr>
        <p:txBody>
          <a:bodyPr wrap="square" lIns="27432" rIns="27432" tIns="18288" bIns="0">
            <a:spAutoFit/>
          </a:bodyPr>
          <a:lstStyle/>
          <a:p>
            <a:pPr>
              <a:spcAft>
                <a:spcPts val="800"/>
              </a:spcAft>
              <a:defRPr sz="2000" b="0">
                <a:solidFill>
                  <a:srgbClr val="24445E"/>
                </a:solidFill>
                <a:latin typeface="DejaVu Sans"/>
              </a:defRPr>
            </a:pPr>
            <a:r>
              <a:t>Qanchalik tez ishga tushishi kerak?</a:t>
            </a:r>
          </a:p>
        </p:txBody>
      </p:sp>
      <p:sp>
        <p:nvSpPr>
          <p:cNvPr id="18" name="Rounded Rectangle 17"/>
          <p:cNvSpPr/>
          <p:nvPr/>
        </p:nvSpPr>
        <p:spPr>
          <a:xfrm>
            <a:off x="685800" y="4005072"/>
            <a:ext cx="5257800" cy="1764792"/>
          </a:xfrm>
          <a:prstGeom prst="roundRect">
            <a:avLst>
              <a:gd name="adj" fmla="val 8000"/>
            </a:avLst>
          </a:prstGeom>
          <a:solidFill>
            <a:srgbClr val="F1F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4233672"/>
            <a:ext cx="4818888" cy="731520"/>
          </a:xfrm>
          <a:prstGeom prst="rect">
            <a:avLst/>
          </a:prstGeom>
          <a:noFill/>
        </p:spPr>
        <p:txBody>
          <a:bodyPr wrap="square" lIns="27432" rIns="27432" tIns="18288" bIns="0">
            <a:spAutoFit/>
          </a:bodyPr>
          <a:lstStyle/>
          <a:p>
            <a:pPr>
              <a:spcAft>
                <a:spcPts val="800"/>
              </a:spcAft>
              <a:defRPr sz="2200" b="1">
                <a:solidFill>
                  <a:srgbClr val="159F9C"/>
                </a:solidFill>
                <a:latin typeface="DejaVu Sans"/>
              </a:defRPr>
            </a:pPr>
            <a:r>
              <a:t>Malaka</a:t>
            </a:r>
          </a:p>
        </p:txBody>
      </p:sp>
      <p:sp>
        <p:nvSpPr>
          <p:cNvPr id="20" name="TextBox 19"/>
          <p:cNvSpPr txBox="1"/>
          <p:nvPr/>
        </p:nvSpPr>
        <p:spPr>
          <a:xfrm>
            <a:off x="905256" y="5102352"/>
            <a:ext cx="4818888" cy="512063"/>
          </a:xfrm>
          <a:prstGeom prst="rect">
            <a:avLst/>
          </a:prstGeom>
          <a:noFill/>
        </p:spPr>
        <p:txBody>
          <a:bodyPr wrap="square" lIns="27432" rIns="27432" tIns="18288" bIns="0">
            <a:spAutoFit/>
          </a:bodyPr>
          <a:lstStyle/>
          <a:p>
            <a:pPr>
              <a:spcAft>
                <a:spcPts val="800"/>
              </a:spcAft>
              <a:defRPr sz="2000" b="0">
                <a:solidFill>
                  <a:srgbClr val="24445E"/>
                </a:solidFill>
                <a:latin typeface="DejaVu Sans"/>
              </a:defRPr>
            </a:pPr>
            <a:r>
              <a:t>Jamoada tizim ma’muri bormi?</a:t>
            </a:r>
          </a:p>
        </p:txBody>
      </p:sp>
      <p:sp>
        <p:nvSpPr>
          <p:cNvPr id="21" name="Rounded Rectangle 20"/>
          <p:cNvSpPr/>
          <p:nvPr/>
        </p:nvSpPr>
        <p:spPr>
          <a:xfrm>
            <a:off x="6217920" y="4005072"/>
            <a:ext cx="5257800" cy="1764792"/>
          </a:xfrm>
          <a:prstGeom prst="roundRect">
            <a:avLst>
              <a:gd name="adj" fmla="val 8000"/>
            </a:avLst>
          </a:prstGeom>
          <a:solidFill>
            <a:srgbClr val="F1F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7376" y="4233672"/>
            <a:ext cx="4818888" cy="731520"/>
          </a:xfrm>
          <a:prstGeom prst="rect">
            <a:avLst/>
          </a:prstGeom>
          <a:noFill/>
        </p:spPr>
        <p:txBody>
          <a:bodyPr wrap="square" lIns="27432" rIns="27432" tIns="18288" bIns="0">
            <a:spAutoFit/>
          </a:bodyPr>
          <a:lstStyle/>
          <a:p>
            <a:pPr>
              <a:spcAft>
                <a:spcPts val="800"/>
              </a:spcAft>
              <a:defRPr sz="2200" b="1">
                <a:solidFill>
                  <a:srgbClr val="2368CE"/>
                </a:solidFill>
                <a:latin typeface="DejaVu Sans"/>
              </a:defRPr>
            </a:pPr>
            <a:r>
              <a:t>Xarajat</a:t>
            </a:r>
          </a:p>
        </p:txBody>
      </p:sp>
      <p:sp>
        <p:nvSpPr>
          <p:cNvPr id="23" name="TextBox 22"/>
          <p:cNvSpPr txBox="1"/>
          <p:nvPr/>
        </p:nvSpPr>
        <p:spPr>
          <a:xfrm>
            <a:off x="6437376" y="5102352"/>
            <a:ext cx="4818888" cy="512063"/>
          </a:xfrm>
          <a:prstGeom prst="rect">
            <a:avLst/>
          </a:prstGeom>
          <a:noFill/>
        </p:spPr>
        <p:txBody>
          <a:bodyPr wrap="square" lIns="27432" rIns="27432" tIns="18288" bIns="0">
            <a:spAutoFit/>
          </a:bodyPr>
          <a:lstStyle/>
          <a:p>
            <a:pPr>
              <a:spcAft>
                <a:spcPts val="800"/>
              </a:spcAft>
              <a:defRPr sz="2000" b="0">
                <a:solidFill>
                  <a:srgbClr val="24445E"/>
                </a:solidFill>
                <a:latin typeface="DejaVu Sans"/>
              </a:defRPr>
            </a:pPr>
            <a:r>
              <a:t>Mehnat va boshqaruv ham hisoblanadimi?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73736"/>
          </a:xfrm>
          <a:prstGeom prst="rect">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420624"/>
            <a:ext cx="9875520" cy="932688"/>
          </a:xfrm>
          <a:prstGeom prst="rect">
            <a:avLst/>
          </a:prstGeom>
          <a:noFill/>
        </p:spPr>
        <p:txBody>
          <a:bodyPr wrap="square" lIns="27432" rIns="27432" tIns="18288" bIns="0">
            <a:spAutoFit/>
          </a:bodyPr>
          <a:lstStyle/>
          <a:p>
            <a:pPr>
              <a:spcAft>
                <a:spcPts val="800"/>
              </a:spcAft>
              <a:defRPr sz="3000" b="1">
                <a:solidFill>
                  <a:srgbClr val="20364E"/>
                </a:solidFill>
                <a:latin typeface="DejaVu Sans"/>
              </a:defRPr>
            </a:pPr>
            <a:r>
              <a:t>FaaS va boshqariladigan xizmatlar</a:t>
            </a:r>
          </a:p>
        </p:txBody>
      </p:sp>
      <p:sp>
        <p:nvSpPr>
          <p:cNvPr id="4" name="Rounded Rectangle 3"/>
          <p:cNvSpPr/>
          <p:nvPr/>
        </p:nvSpPr>
        <p:spPr>
          <a:xfrm>
            <a:off x="621792" y="1399032"/>
            <a:ext cx="1051560" cy="310896"/>
          </a:xfrm>
          <a:prstGeom prst="roundRect">
            <a:avLst>
              <a:gd name="adj" fmla="val 8000"/>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IaaS</a:t>
            </a:r>
          </a:p>
        </p:txBody>
      </p:sp>
      <p:sp>
        <p:nvSpPr>
          <p:cNvPr id="6" name="Rounded Rectangle 5"/>
          <p:cNvSpPr/>
          <p:nvPr/>
        </p:nvSpPr>
        <p:spPr>
          <a:xfrm>
            <a:off x="1810512" y="1399032"/>
            <a:ext cx="1051560" cy="310896"/>
          </a:xfrm>
          <a:prstGeom prst="roundRect">
            <a:avLst>
              <a:gd name="adj" fmla="val 8000"/>
            </a:avLst>
          </a:prstGeom>
          <a:solidFill>
            <a:srgbClr val="875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19"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PaaS</a:t>
            </a:r>
          </a:p>
        </p:txBody>
      </p:sp>
      <p:sp>
        <p:nvSpPr>
          <p:cNvPr id="8" name="Rounded Rectangle 7"/>
          <p:cNvSpPr/>
          <p:nvPr/>
        </p:nvSpPr>
        <p:spPr>
          <a:xfrm>
            <a:off x="2999232" y="1399032"/>
            <a:ext cx="1051560" cy="310896"/>
          </a:xfrm>
          <a:prstGeom prst="roundRect">
            <a:avLst>
              <a:gd name="adj" fmla="val 8000"/>
            </a:avLst>
          </a:prstGeom>
          <a:solidFill>
            <a:srgbClr val="159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63240"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SaaS</a:t>
            </a:r>
          </a:p>
        </p:txBody>
      </p:sp>
      <p:sp>
        <p:nvSpPr>
          <p:cNvPr id="10" name="TextBox 9"/>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0364E"/>
                </a:solidFill>
                <a:latin typeface="DejaVu Sans"/>
              </a:defRPr>
            </a:pPr>
            <a:r>
              <a:t>BTST206   /   M03   /   2027–2028</a:t>
            </a:r>
          </a:p>
        </p:txBody>
      </p:sp>
      <p:sp>
        <p:nvSpPr>
          <p:cNvPr id="11" name="TextBox 10"/>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0364E"/>
                </a:solidFill>
                <a:latin typeface="DejaVu Sans"/>
              </a:defRPr>
            </a:pPr>
            <a:r>
              <a:t>08 / 13</a:t>
            </a:r>
          </a:p>
        </p:txBody>
      </p:sp>
      <p:sp>
        <p:nvSpPr>
          <p:cNvPr id="12" name="Rounded Rectangle 11"/>
          <p:cNvSpPr/>
          <p:nvPr/>
        </p:nvSpPr>
        <p:spPr>
          <a:xfrm>
            <a:off x="731520" y="2313432"/>
            <a:ext cx="2482596" cy="1325880"/>
          </a:xfrm>
          <a:prstGeom prst="roundRect">
            <a:avLst>
              <a:gd name="adj" fmla="val 8000"/>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542032"/>
            <a:ext cx="2244852" cy="1005840"/>
          </a:xfrm>
          <a:prstGeom prst="rect">
            <a:avLst/>
          </a:prstGeom>
          <a:noFill/>
        </p:spPr>
        <p:txBody>
          <a:bodyPr wrap="square" lIns="27432" rIns="27432" tIns="18288" bIns="0">
            <a:spAutoFit/>
          </a:bodyPr>
          <a:lstStyle/>
          <a:p>
            <a:pPr algn="ctr">
              <a:spcAft>
                <a:spcPts val="800"/>
              </a:spcAft>
              <a:defRPr sz="2000" b="1">
                <a:solidFill>
                  <a:srgbClr val="FFFFFF"/>
                </a:solidFill>
                <a:latin typeface="DejaVu Sans"/>
              </a:defRPr>
            </a:pPr>
            <a:r>
              <a:t>Fayl yuklandi</a:t>
            </a:r>
          </a:p>
        </p:txBody>
      </p:sp>
      <p:cxnSp>
        <p:nvCxnSpPr>
          <p:cNvPr id="14" name="Connector 13"/>
          <p:cNvCxnSpPr/>
          <p:nvPr/>
        </p:nvCxnSpPr>
        <p:spPr>
          <a:xfrm>
            <a:off x="3232403" y="2976372"/>
            <a:ext cx="210313" cy="0"/>
          </a:xfrm>
          <a:prstGeom prst="line">
            <a:avLst/>
          </a:prstGeom>
          <a:ln w="25400">
            <a:solidFill>
              <a:srgbClr val="2368CE"/>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70148" y="2313432"/>
            <a:ext cx="2482596" cy="1325880"/>
          </a:xfrm>
          <a:prstGeom prst="roundRect">
            <a:avLst>
              <a:gd name="adj" fmla="val 8000"/>
            </a:avLst>
          </a:prstGeom>
          <a:solidFill>
            <a:srgbClr val="EEF1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9020" y="2542032"/>
            <a:ext cx="2244852" cy="1005840"/>
          </a:xfrm>
          <a:prstGeom prst="rect">
            <a:avLst/>
          </a:prstGeom>
          <a:noFill/>
        </p:spPr>
        <p:txBody>
          <a:bodyPr wrap="square" lIns="27432" rIns="27432" tIns="18288" bIns="0">
            <a:spAutoFit/>
          </a:bodyPr>
          <a:lstStyle/>
          <a:p>
            <a:pPr algn="ctr">
              <a:spcAft>
                <a:spcPts val="800"/>
              </a:spcAft>
              <a:defRPr sz="2000" b="1">
                <a:solidFill>
                  <a:srgbClr val="24445E"/>
                </a:solidFill>
                <a:latin typeface="DejaVu Sans"/>
              </a:defRPr>
            </a:pPr>
            <a:r>
              <a:t>Hodisa yaratildi</a:t>
            </a:r>
          </a:p>
        </p:txBody>
      </p:sp>
      <p:cxnSp>
        <p:nvCxnSpPr>
          <p:cNvPr id="17" name="Connector 16"/>
          <p:cNvCxnSpPr/>
          <p:nvPr/>
        </p:nvCxnSpPr>
        <p:spPr>
          <a:xfrm>
            <a:off x="5971031" y="2976372"/>
            <a:ext cx="210313" cy="0"/>
          </a:xfrm>
          <a:prstGeom prst="line">
            <a:avLst/>
          </a:prstGeom>
          <a:ln w="25400">
            <a:solidFill>
              <a:srgbClr val="2368CE"/>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208776" y="2313432"/>
            <a:ext cx="2482596" cy="1325880"/>
          </a:xfrm>
          <a:prstGeom prst="roundRect">
            <a:avLst>
              <a:gd name="adj" fmla="val 8000"/>
            </a:avLst>
          </a:prstGeom>
          <a:solidFill>
            <a:srgbClr val="EEF1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7648" y="2542032"/>
            <a:ext cx="2244852" cy="1005840"/>
          </a:xfrm>
          <a:prstGeom prst="rect">
            <a:avLst/>
          </a:prstGeom>
          <a:noFill/>
        </p:spPr>
        <p:txBody>
          <a:bodyPr wrap="square" lIns="27432" rIns="27432" tIns="18288" bIns="0">
            <a:spAutoFit/>
          </a:bodyPr>
          <a:lstStyle/>
          <a:p>
            <a:pPr algn="ctr">
              <a:spcAft>
                <a:spcPts val="800"/>
              </a:spcAft>
              <a:defRPr sz="2000" b="1">
                <a:solidFill>
                  <a:srgbClr val="24445E"/>
                </a:solidFill>
                <a:latin typeface="DejaVu Sans"/>
              </a:defRPr>
            </a:pPr>
            <a:r>
              <a:t>Funksiya bajarildi</a:t>
            </a:r>
          </a:p>
        </p:txBody>
      </p:sp>
      <p:cxnSp>
        <p:nvCxnSpPr>
          <p:cNvPr id="20" name="Connector 19"/>
          <p:cNvCxnSpPr/>
          <p:nvPr/>
        </p:nvCxnSpPr>
        <p:spPr>
          <a:xfrm>
            <a:off x="8709659" y="2976372"/>
            <a:ext cx="210313" cy="0"/>
          </a:xfrm>
          <a:prstGeom prst="line">
            <a:avLst/>
          </a:prstGeom>
          <a:ln w="25400">
            <a:solidFill>
              <a:srgbClr val="2368CE"/>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947404" y="2313432"/>
            <a:ext cx="2482596" cy="1325880"/>
          </a:xfrm>
          <a:prstGeom prst="roundRect">
            <a:avLst>
              <a:gd name="adj" fmla="val 8000"/>
            </a:avLst>
          </a:prstGeom>
          <a:solidFill>
            <a:srgbClr val="EEF1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66276" y="2542032"/>
            <a:ext cx="2244852" cy="1005840"/>
          </a:xfrm>
          <a:prstGeom prst="rect">
            <a:avLst/>
          </a:prstGeom>
          <a:noFill/>
        </p:spPr>
        <p:txBody>
          <a:bodyPr wrap="square" lIns="27432" rIns="27432" tIns="18288" bIns="0">
            <a:spAutoFit/>
          </a:bodyPr>
          <a:lstStyle/>
          <a:p>
            <a:pPr algn="ctr">
              <a:spcAft>
                <a:spcPts val="800"/>
              </a:spcAft>
              <a:defRPr sz="2000" b="1">
                <a:solidFill>
                  <a:srgbClr val="24445E"/>
                </a:solidFill>
                <a:latin typeface="DejaVu Sans"/>
              </a:defRPr>
            </a:pPr>
            <a:r>
              <a:t>Natija saqlandi</a:t>
            </a:r>
          </a:p>
        </p:txBody>
      </p:sp>
      <p:sp>
        <p:nvSpPr>
          <p:cNvPr id="23" name="TextBox 22"/>
          <p:cNvSpPr txBox="1"/>
          <p:nvPr/>
        </p:nvSpPr>
        <p:spPr>
          <a:xfrm>
            <a:off x="749808" y="4160520"/>
            <a:ext cx="10652760" cy="777240"/>
          </a:xfrm>
          <a:prstGeom prst="rect">
            <a:avLst/>
          </a:prstGeom>
          <a:noFill/>
        </p:spPr>
        <p:txBody>
          <a:bodyPr wrap="square" lIns="27432" rIns="27432" tIns="18288" bIns="0">
            <a:spAutoFit/>
          </a:bodyPr>
          <a:lstStyle/>
          <a:p>
            <a:pPr>
              <a:spcAft>
                <a:spcPts val="800"/>
              </a:spcAft>
              <a:defRPr sz="2500" b="1">
                <a:solidFill>
                  <a:srgbClr val="20364E"/>
                </a:solidFill>
                <a:latin typeface="DejaVu Sans"/>
              </a:defRPr>
            </a:pPr>
            <a:r>
              <a:t>FaaS — kichik kod birligini hodisa asosida bajarish.</a:t>
            </a:r>
          </a:p>
        </p:txBody>
      </p:sp>
      <p:sp>
        <p:nvSpPr>
          <p:cNvPr id="24" name="Rounded Rectangle 23"/>
          <p:cNvSpPr/>
          <p:nvPr/>
        </p:nvSpPr>
        <p:spPr>
          <a:xfrm>
            <a:off x="731520" y="5212080"/>
            <a:ext cx="10698480" cy="914400"/>
          </a:xfrm>
          <a:prstGeom prst="roundRect">
            <a:avLst>
              <a:gd name="adj" fmla="val 8000"/>
            </a:avLst>
          </a:prstGeom>
          <a:solidFill>
            <a:srgbClr val="EEF1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5376672"/>
            <a:ext cx="1463040" cy="704088"/>
          </a:xfrm>
          <a:prstGeom prst="rect">
            <a:avLst/>
          </a:prstGeom>
          <a:noFill/>
        </p:spPr>
        <p:txBody>
          <a:bodyPr wrap="square" lIns="27432" rIns="27432" tIns="18288" bIns="0">
            <a:spAutoFit/>
          </a:bodyPr>
          <a:lstStyle/>
          <a:p>
            <a:pPr>
              <a:spcAft>
                <a:spcPts val="800"/>
              </a:spcAft>
              <a:defRPr sz="1000" b="1">
                <a:solidFill>
                  <a:srgbClr val="2368CE"/>
                </a:solidFill>
                <a:latin typeface="DejaVu Sans"/>
              </a:defRPr>
            </a:pPr>
            <a:r>
              <a:t>TO‘G‘RI TALQIN</a:t>
            </a:r>
          </a:p>
        </p:txBody>
      </p:sp>
      <p:sp>
        <p:nvSpPr>
          <p:cNvPr id="26" name="TextBox 25"/>
          <p:cNvSpPr txBox="1"/>
          <p:nvPr/>
        </p:nvSpPr>
        <p:spPr>
          <a:xfrm>
            <a:off x="2523744" y="5330952"/>
            <a:ext cx="8741663" cy="758952"/>
          </a:xfrm>
          <a:prstGeom prst="rect">
            <a:avLst/>
          </a:prstGeom>
          <a:noFill/>
        </p:spPr>
        <p:txBody>
          <a:bodyPr wrap="square" lIns="27432" rIns="27432" tIns="18288" bIns="0">
            <a:spAutoFit/>
          </a:bodyPr>
          <a:lstStyle/>
          <a:p>
            <a:pPr>
              <a:spcAft>
                <a:spcPts val="800"/>
              </a:spcAft>
              <a:defRPr sz="2000" b="0">
                <a:solidFill>
                  <a:srgbClr val="20364E"/>
                </a:solidFill>
                <a:latin typeface="DejaVu Sans"/>
              </a:defRPr>
            </a:pPr>
            <a:r>
              <a:t>Serverless: serverlarni kundalik boshqarish provayderga o‘tadi.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73736"/>
          </a:xfrm>
          <a:prstGeom prst="rect">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420624"/>
            <a:ext cx="9875520" cy="932688"/>
          </a:xfrm>
          <a:prstGeom prst="rect">
            <a:avLst/>
          </a:prstGeom>
          <a:noFill/>
        </p:spPr>
        <p:txBody>
          <a:bodyPr wrap="square" lIns="27432" rIns="27432" tIns="18288" bIns="0">
            <a:spAutoFit/>
          </a:bodyPr>
          <a:lstStyle/>
          <a:p>
            <a:pPr>
              <a:spcAft>
                <a:spcPts val="800"/>
              </a:spcAft>
              <a:defRPr sz="3000" b="1">
                <a:solidFill>
                  <a:srgbClr val="20364E"/>
                </a:solidFill>
                <a:latin typeface="DejaVu Sans"/>
              </a:defRPr>
            </a:pPr>
            <a:r>
              <a:t>Texnik sxema: asosiy bog‘lanishlar</a:t>
            </a:r>
          </a:p>
        </p:txBody>
      </p:sp>
      <p:sp>
        <p:nvSpPr>
          <p:cNvPr id="4" name="Rounded Rectangle 3"/>
          <p:cNvSpPr/>
          <p:nvPr/>
        </p:nvSpPr>
        <p:spPr>
          <a:xfrm>
            <a:off x="621792" y="1399032"/>
            <a:ext cx="1051560" cy="310896"/>
          </a:xfrm>
          <a:prstGeom prst="roundRect">
            <a:avLst>
              <a:gd name="adj" fmla="val 8000"/>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IaaS</a:t>
            </a:r>
          </a:p>
        </p:txBody>
      </p:sp>
      <p:sp>
        <p:nvSpPr>
          <p:cNvPr id="6" name="Rounded Rectangle 5"/>
          <p:cNvSpPr/>
          <p:nvPr/>
        </p:nvSpPr>
        <p:spPr>
          <a:xfrm>
            <a:off x="1810512" y="1399032"/>
            <a:ext cx="1051560" cy="310896"/>
          </a:xfrm>
          <a:prstGeom prst="roundRect">
            <a:avLst>
              <a:gd name="adj" fmla="val 8000"/>
            </a:avLst>
          </a:prstGeom>
          <a:solidFill>
            <a:srgbClr val="875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19"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PaaS</a:t>
            </a:r>
          </a:p>
        </p:txBody>
      </p:sp>
      <p:sp>
        <p:nvSpPr>
          <p:cNvPr id="8" name="Rounded Rectangle 7"/>
          <p:cNvSpPr/>
          <p:nvPr/>
        </p:nvSpPr>
        <p:spPr>
          <a:xfrm>
            <a:off x="2999232" y="1399032"/>
            <a:ext cx="1051560" cy="310896"/>
          </a:xfrm>
          <a:prstGeom prst="roundRect">
            <a:avLst>
              <a:gd name="adj" fmla="val 8000"/>
            </a:avLst>
          </a:prstGeom>
          <a:solidFill>
            <a:srgbClr val="159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63240"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SaaS</a:t>
            </a:r>
          </a:p>
        </p:txBody>
      </p:sp>
      <p:sp>
        <p:nvSpPr>
          <p:cNvPr id="10" name="TextBox 9"/>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0364E"/>
                </a:solidFill>
                <a:latin typeface="DejaVu Sans"/>
              </a:defRPr>
            </a:pPr>
            <a:r>
              <a:t>BTST206   /   M03   /   2027–2028</a:t>
            </a:r>
          </a:p>
        </p:txBody>
      </p:sp>
      <p:sp>
        <p:nvSpPr>
          <p:cNvPr id="11" name="TextBox 10"/>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0364E"/>
                </a:solidFill>
                <a:latin typeface="DejaVu Sans"/>
              </a:defRPr>
            </a:pPr>
            <a:r>
              <a:t>09 / 13</a:t>
            </a:r>
          </a:p>
        </p:txBody>
      </p:sp>
      <p:cxnSp>
        <p:nvCxnSpPr>
          <p:cNvPr id="12" name="Connector 11"/>
          <p:cNvCxnSpPr/>
          <p:nvPr/>
        </p:nvCxnSpPr>
        <p:spPr>
          <a:xfrm flipH="1" flipV="1">
            <a:off x="2103120" y="3136391"/>
            <a:ext cx="1645919" cy="1115569"/>
          </a:xfrm>
          <a:prstGeom prst="line">
            <a:avLst/>
          </a:prstGeom>
          <a:ln w="25400">
            <a:solidFill>
              <a:srgbClr val="2368CE"/>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474720" y="2651760"/>
            <a:ext cx="777240" cy="0"/>
          </a:xfrm>
          <a:prstGeom prst="line">
            <a:avLst/>
          </a:prstGeom>
          <a:ln w="25400">
            <a:solidFill>
              <a:srgbClr val="2368CE"/>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995160" y="2651760"/>
            <a:ext cx="777240" cy="0"/>
          </a:xfrm>
          <a:prstGeom prst="line">
            <a:avLst/>
          </a:prstGeom>
          <a:ln w="25400">
            <a:solidFill>
              <a:srgbClr val="2368CE"/>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8366760" y="3136391"/>
            <a:ext cx="777240" cy="1115569"/>
          </a:xfrm>
          <a:prstGeom prst="line">
            <a:avLst/>
          </a:prstGeom>
          <a:ln w="25400">
            <a:solidFill>
              <a:srgbClr val="2368CE"/>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31520" y="2194560"/>
            <a:ext cx="2743200" cy="941832"/>
          </a:xfrm>
          <a:prstGeom prst="rect">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 y="2331720"/>
            <a:ext cx="2523744" cy="685800"/>
          </a:xfrm>
          <a:prstGeom prst="rect">
            <a:avLst/>
          </a:prstGeom>
          <a:noFill/>
        </p:spPr>
        <p:txBody>
          <a:bodyPr wrap="square" lIns="27432" rIns="27432" tIns="18288" bIns="0">
            <a:spAutoFit/>
          </a:bodyPr>
          <a:lstStyle/>
          <a:p>
            <a:pPr>
              <a:spcAft>
                <a:spcPts val="800"/>
              </a:spcAft>
              <a:defRPr sz="1700" b="1">
                <a:solidFill>
                  <a:srgbClr val="FFFFFF"/>
                </a:solidFill>
                <a:latin typeface="DejaVu Sans"/>
              </a:defRPr>
            </a:pPr>
            <a:r>
              <a:t>IaaS</a:t>
            </a:r>
          </a:p>
        </p:txBody>
      </p:sp>
      <p:sp>
        <p:nvSpPr>
          <p:cNvPr id="18" name="Rectangle 17"/>
          <p:cNvSpPr/>
          <p:nvPr/>
        </p:nvSpPr>
        <p:spPr>
          <a:xfrm>
            <a:off x="4251960" y="2194560"/>
            <a:ext cx="2743200" cy="941832"/>
          </a:xfrm>
          <a:prstGeom prst="rect">
            <a:avLst/>
          </a:prstGeom>
          <a:solidFill>
            <a:srgbClr val="EEF1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61688" y="2331720"/>
            <a:ext cx="2523744" cy="685800"/>
          </a:xfrm>
          <a:prstGeom prst="rect">
            <a:avLst/>
          </a:prstGeom>
          <a:noFill/>
        </p:spPr>
        <p:txBody>
          <a:bodyPr wrap="square" lIns="27432" rIns="27432" tIns="18288" bIns="0">
            <a:spAutoFit/>
          </a:bodyPr>
          <a:lstStyle/>
          <a:p>
            <a:pPr>
              <a:spcAft>
                <a:spcPts val="800"/>
              </a:spcAft>
              <a:defRPr sz="1700" b="1">
                <a:solidFill>
                  <a:srgbClr val="20364E"/>
                </a:solidFill>
                <a:latin typeface="DejaVu Sans"/>
              </a:defRPr>
            </a:pPr>
            <a:r>
              <a:t>PaaS</a:t>
            </a:r>
          </a:p>
        </p:txBody>
      </p:sp>
      <p:sp>
        <p:nvSpPr>
          <p:cNvPr id="20" name="Rectangle 19"/>
          <p:cNvSpPr/>
          <p:nvPr/>
        </p:nvSpPr>
        <p:spPr>
          <a:xfrm>
            <a:off x="7772400" y="2194560"/>
            <a:ext cx="2743200" cy="941832"/>
          </a:xfrm>
          <a:prstGeom prst="rect">
            <a:avLst/>
          </a:prstGeom>
          <a:solidFill>
            <a:srgbClr val="EEF1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82127" y="2331720"/>
            <a:ext cx="2523744" cy="685800"/>
          </a:xfrm>
          <a:prstGeom prst="rect">
            <a:avLst/>
          </a:prstGeom>
          <a:noFill/>
        </p:spPr>
        <p:txBody>
          <a:bodyPr wrap="square" lIns="27432" rIns="27432" tIns="18288" bIns="0">
            <a:spAutoFit/>
          </a:bodyPr>
          <a:lstStyle/>
          <a:p>
            <a:pPr>
              <a:spcAft>
                <a:spcPts val="800"/>
              </a:spcAft>
              <a:defRPr sz="1700" b="1">
                <a:solidFill>
                  <a:srgbClr val="20364E"/>
                </a:solidFill>
                <a:latin typeface="DejaVu Sans"/>
              </a:defRPr>
            </a:pPr>
            <a:r>
              <a:t>SaaS</a:t>
            </a:r>
          </a:p>
        </p:txBody>
      </p:sp>
      <p:sp>
        <p:nvSpPr>
          <p:cNvPr id="22" name="Rectangle 21"/>
          <p:cNvSpPr/>
          <p:nvPr/>
        </p:nvSpPr>
        <p:spPr>
          <a:xfrm>
            <a:off x="2377440" y="4251960"/>
            <a:ext cx="2743200" cy="941832"/>
          </a:xfrm>
          <a:prstGeom prst="rect">
            <a:avLst/>
          </a:prstGeom>
          <a:solidFill>
            <a:srgbClr val="EEF1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487168" y="4389120"/>
            <a:ext cx="2523744" cy="685800"/>
          </a:xfrm>
          <a:prstGeom prst="rect">
            <a:avLst/>
          </a:prstGeom>
          <a:noFill/>
        </p:spPr>
        <p:txBody>
          <a:bodyPr wrap="square" lIns="27432" rIns="27432" tIns="18288" bIns="0">
            <a:spAutoFit/>
          </a:bodyPr>
          <a:lstStyle/>
          <a:p>
            <a:pPr>
              <a:spcAft>
                <a:spcPts val="800"/>
              </a:spcAft>
              <a:defRPr sz="1700" b="1">
                <a:solidFill>
                  <a:srgbClr val="20364E"/>
                </a:solidFill>
                <a:latin typeface="DejaVu Sans"/>
              </a:defRPr>
            </a:pPr>
            <a:r>
              <a:t>Ko‘proq nazorat</a:t>
            </a:r>
          </a:p>
        </p:txBody>
      </p:sp>
      <p:sp>
        <p:nvSpPr>
          <p:cNvPr id="24" name="Rectangle 23"/>
          <p:cNvSpPr/>
          <p:nvPr/>
        </p:nvSpPr>
        <p:spPr>
          <a:xfrm>
            <a:off x="6995160" y="4251960"/>
            <a:ext cx="2743200" cy="941832"/>
          </a:xfrm>
          <a:prstGeom prst="rect">
            <a:avLst/>
          </a:prstGeom>
          <a:solidFill>
            <a:srgbClr val="EEF1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04888" y="4389120"/>
            <a:ext cx="2523744" cy="685800"/>
          </a:xfrm>
          <a:prstGeom prst="rect">
            <a:avLst/>
          </a:prstGeom>
          <a:noFill/>
        </p:spPr>
        <p:txBody>
          <a:bodyPr wrap="square" lIns="27432" rIns="27432" tIns="18288" bIns="0">
            <a:spAutoFit/>
          </a:bodyPr>
          <a:lstStyle/>
          <a:p>
            <a:pPr>
              <a:spcAft>
                <a:spcPts val="800"/>
              </a:spcAft>
              <a:defRPr sz="1700" b="1">
                <a:solidFill>
                  <a:srgbClr val="20364E"/>
                </a:solidFill>
                <a:latin typeface="DejaVu Sans"/>
              </a:defRPr>
            </a:pPr>
            <a:r>
              <a:t>Kamroq operatsion ish</a:t>
            </a:r>
          </a:p>
        </p:txBody>
      </p:sp>
      <p:sp>
        <p:nvSpPr>
          <p:cNvPr id="26" name="TextBox 25"/>
          <p:cNvSpPr txBox="1"/>
          <p:nvPr/>
        </p:nvSpPr>
        <p:spPr>
          <a:xfrm>
            <a:off x="731520" y="6080760"/>
            <a:ext cx="10698480" cy="274320"/>
          </a:xfrm>
          <a:prstGeom prst="rect">
            <a:avLst/>
          </a:prstGeom>
          <a:noFill/>
        </p:spPr>
        <p:txBody>
          <a:bodyPr wrap="square" lIns="27432" rIns="27432" tIns="18288" bIns="0">
            <a:spAutoFit/>
          </a:bodyPr>
          <a:lstStyle/>
          <a:p>
            <a:pPr>
              <a:spcAft>
                <a:spcPts val="800"/>
              </a:spcAft>
              <a:defRPr sz="1100" b="0">
                <a:solidFill>
                  <a:srgbClr val="20364E"/>
                </a:solidFill>
                <a:latin typeface="DejaVu Sans"/>
              </a:defRPr>
            </a:pPr>
            <a:r>
              <a:t>Soddalashtirilgan sxema: o‘qlar — asosiy murojaat yoki boshqaruv bog‘lanishi.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73736"/>
          </a:xfrm>
          <a:prstGeom prst="rect">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420624"/>
            <a:ext cx="9875520" cy="932688"/>
          </a:xfrm>
          <a:prstGeom prst="rect">
            <a:avLst/>
          </a:prstGeom>
          <a:noFill/>
        </p:spPr>
        <p:txBody>
          <a:bodyPr wrap="square" lIns="27432" rIns="27432" tIns="18288" bIns="0">
            <a:spAutoFit/>
          </a:bodyPr>
          <a:lstStyle/>
          <a:p>
            <a:pPr>
              <a:spcAft>
                <a:spcPts val="800"/>
              </a:spcAft>
              <a:defRPr sz="3000" b="1">
                <a:solidFill>
                  <a:srgbClr val="20364E"/>
                </a:solidFill>
                <a:latin typeface="DejaVu Sans"/>
              </a:defRPr>
            </a:pPr>
            <a:r>
              <a:t>Universitet misoli</a:t>
            </a:r>
          </a:p>
        </p:txBody>
      </p:sp>
      <p:sp>
        <p:nvSpPr>
          <p:cNvPr id="4" name="Rounded Rectangle 3"/>
          <p:cNvSpPr/>
          <p:nvPr/>
        </p:nvSpPr>
        <p:spPr>
          <a:xfrm>
            <a:off x="621792" y="1399032"/>
            <a:ext cx="1051560" cy="310896"/>
          </a:xfrm>
          <a:prstGeom prst="roundRect">
            <a:avLst>
              <a:gd name="adj" fmla="val 8000"/>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IaaS</a:t>
            </a:r>
          </a:p>
        </p:txBody>
      </p:sp>
      <p:sp>
        <p:nvSpPr>
          <p:cNvPr id="6" name="Rounded Rectangle 5"/>
          <p:cNvSpPr/>
          <p:nvPr/>
        </p:nvSpPr>
        <p:spPr>
          <a:xfrm>
            <a:off x="1810512" y="1399032"/>
            <a:ext cx="1051560" cy="310896"/>
          </a:xfrm>
          <a:prstGeom prst="roundRect">
            <a:avLst>
              <a:gd name="adj" fmla="val 8000"/>
            </a:avLst>
          </a:prstGeom>
          <a:solidFill>
            <a:srgbClr val="875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19"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PaaS</a:t>
            </a:r>
          </a:p>
        </p:txBody>
      </p:sp>
      <p:sp>
        <p:nvSpPr>
          <p:cNvPr id="8" name="Rounded Rectangle 7"/>
          <p:cNvSpPr/>
          <p:nvPr/>
        </p:nvSpPr>
        <p:spPr>
          <a:xfrm>
            <a:off x="2999232" y="1399032"/>
            <a:ext cx="1051560" cy="310896"/>
          </a:xfrm>
          <a:prstGeom prst="roundRect">
            <a:avLst>
              <a:gd name="adj" fmla="val 8000"/>
            </a:avLst>
          </a:prstGeom>
          <a:solidFill>
            <a:srgbClr val="159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63240"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SaaS</a:t>
            </a:r>
          </a:p>
        </p:txBody>
      </p:sp>
      <p:sp>
        <p:nvSpPr>
          <p:cNvPr id="10" name="TextBox 9"/>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0364E"/>
                </a:solidFill>
                <a:latin typeface="DejaVu Sans"/>
              </a:defRPr>
            </a:pPr>
            <a:r>
              <a:t>BTST206   /   M03   /   2027–2028</a:t>
            </a:r>
          </a:p>
        </p:txBody>
      </p:sp>
      <p:sp>
        <p:nvSpPr>
          <p:cNvPr id="11" name="TextBox 10"/>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0364E"/>
                </a:solidFill>
                <a:latin typeface="DejaVu Sans"/>
              </a:defRPr>
            </a:pPr>
            <a:r>
              <a:t>10 / 13</a:t>
            </a:r>
          </a:p>
        </p:txBody>
      </p:sp>
      <p:sp>
        <p:nvSpPr>
          <p:cNvPr id="12" name="TextBox 11"/>
          <p:cNvSpPr txBox="1"/>
          <p:nvPr/>
        </p:nvSpPr>
        <p:spPr>
          <a:xfrm>
            <a:off x="731520" y="1965960"/>
            <a:ext cx="10607040" cy="960120"/>
          </a:xfrm>
          <a:prstGeom prst="rect">
            <a:avLst/>
          </a:prstGeom>
          <a:noFill/>
        </p:spPr>
        <p:txBody>
          <a:bodyPr wrap="square" lIns="27432" rIns="27432" tIns="18288" bIns="0">
            <a:spAutoFit/>
          </a:bodyPr>
          <a:lstStyle/>
          <a:p>
            <a:pPr>
              <a:spcAft>
                <a:spcPts val="800"/>
              </a:spcAft>
              <a:defRPr sz="2200" b="0">
                <a:solidFill>
                  <a:srgbClr val="20364E"/>
                </a:solidFill>
                <a:latin typeface="DejaVu Sans"/>
              </a:defRPr>
            </a:pPr>
            <a:r>
              <a:t>Universitetga yangi ta’lim portali kerak. Jamoa serverni to‘liq boshqarish, faqat ilova kodiga e’tibor berish yoki tayyor tizimdan foydalanish variantlarini solishtiradi.</a:t>
            </a:r>
          </a:p>
        </p:txBody>
      </p:sp>
      <p:sp>
        <p:nvSpPr>
          <p:cNvPr id="13" name="Rounded Rectangle 12"/>
          <p:cNvSpPr/>
          <p:nvPr/>
        </p:nvSpPr>
        <p:spPr>
          <a:xfrm>
            <a:off x="731520" y="3383280"/>
            <a:ext cx="3474720" cy="2468880"/>
          </a:xfrm>
          <a:prstGeom prst="roundRect">
            <a:avLst>
              <a:gd name="adj" fmla="val 8000"/>
            </a:avLst>
          </a:prstGeom>
          <a:solidFill>
            <a:srgbClr val="F0F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6" y="3611880"/>
            <a:ext cx="3035808" cy="731520"/>
          </a:xfrm>
          <a:prstGeom prst="rect">
            <a:avLst/>
          </a:prstGeom>
          <a:noFill/>
        </p:spPr>
        <p:txBody>
          <a:bodyPr wrap="square" lIns="27432" rIns="27432" tIns="18288" bIns="0">
            <a:spAutoFit/>
          </a:bodyPr>
          <a:lstStyle/>
          <a:p>
            <a:pPr>
              <a:spcAft>
                <a:spcPts val="800"/>
              </a:spcAft>
              <a:defRPr sz="2200" b="1">
                <a:solidFill>
                  <a:srgbClr val="2368CE"/>
                </a:solidFill>
                <a:latin typeface="DejaVu Sans"/>
              </a:defRPr>
            </a:pPr>
            <a:r>
              <a:t>IaaS</a:t>
            </a:r>
          </a:p>
        </p:txBody>
      </p:sp>
      <p:sp>
        <p:nvSpPr>
          <p:cNvPr id="15" name="TextBox 14"/>
          <p:cNvSpPr txBox="1"/>
          <p:nvPr/>
        </p:nvSpPr>
        <p:spPr>
          <a:xfrm>
            <a:off x="950976" y="4480560"/>
            <a:ext cx="3035808" cy="1216152"/>
          </a:xfrm>
          <a:prstGeom prst="rect">
            <a:avLst/>
          </a:prstGeom>
          <a:noFill/>
        </p:spPr>
        <p:txBody>
          <a:bodyPr wrap="square" lIns="27432" rIns="27432" tIns="18288" bIns="0">
            <a:spAutoFit/>
          </a:bodyPr>
          <a:lstStyle/>
          <a:p>
            <a:pPr>
              <a:spcAft>
                <a:spcPts val="800"/>
              </a:spcAft>
              <a:defRPr sz="2000" b="0">
                <a:solidFill>
                  <a:srgbClr val="24445E"/>
                </a:solidFill>
                <a:latin typeface="DejaVu Sans"/>
              </a:defRPr>
            </a:pPr>
            <a:r>
              <a:t>Serverni jamoa boshqaradi</a:t>
            </a:r>
          </a:p>
        </p:txBody>
      </p:sp>
      <p:sp>
        <p:nvSpPr>
          <p:cNvPr id="16" name="Rounded Rectangle 15"/>
          <p:cNvSpPr/>
          <p:nvPr/>
        </p:nvSpPr>
        <p:spPr>
          <a:xfrm>
            <a:off x="4434840" y="3383280"/>
            <a:ext cx="3474720" cy="2468880"/>
          </a:xfrm>
          <a:prstGeom prst="roundRect">
            <a:avLst>
              <a:gd name="adj" fmla="val 8000"/>
            </a:avLst>
          </a:prstGeom>
          <a:solidFill>
            <a:srgbClr val="F0F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54296" y="3611880"/>
            <a:ext cx="3035808" cy="731520"/>
          </a:xfrm>
          <a:prstGeom prst="rect">
            <a:avLst/>
          </a:prstGeom>
          <a:noFill/>
        </p:spPr>
        <p:txBody>
          <a:bodyPr wrap="square" lIns="27432" rIns="27432" tIns="18288" bIns="0">
            <a:spAutoFit/>
          </a:bodyPr>
          <a:lstStyle/>
          <a:p>
            <a:pPr>
              <a:spcAft>
                <a:spcPts val="800"/>
              </a:spcAft>
              <a:defRPr sz="2200" b="1">
                <a:solidFill>
                  <a:srgbClr val="8757C8"/>
                </a:solidFill>
                <a:latin typeface="DejaVu Sans"/>
              </a:defRPr>
            </a:pPr>
            <a:r>
              <a:t>PaaS</a:t>
            </a:r>
          </a:p>
        </p:txBody>
      </p:sp>
      <p:sp>
        <p:nvSpPr>
          <p:cNvPr id="18" name="TextBox 17"/>
          <p:cNvSpPr txBox="1"/>
          <p:nvPr/>
        </p:nvSpPr>
        <p:spPr>
          <a:xfrm>
            <a:off x="4654296" y="4480560"/>
            <a:ext cx="3035808" cy="1216152"/>
          </a:xfrm>
          <a:prstGeom prst="rect">
            <a:avLst/>
          </a:prstGeom>
          <a:noFill/>
        </p:spPr>
        <p:txBody>
          <a:bodyPr wrap="square" lIns="27432" rIns="27432" tIns="18288" bIns="0">
            <a:spAutoFit/>
          </a:bodyPr>
          <a:lstStyle/>
          <a:p>
            <a:pPr>
              <a:spcAft>
                <a:spcPts val="800"/>
              </a:spcAft>
              <a:defRPr sz="2000" b="0">
                <a:solidFill>
                  <a:srgbClr val="24445E"/>
                </a:solidFill>
                <a:latin typeface="DejaVu Sans"/>
              </a:defRPr>
            </a:pPr>
            <a:r>
              <a:t>Jamoa ilova kodiga e’tibor beradi</a:t>
            </a:r>
          </a:p>
        </p:txBody>
      </p:sp>
      <p:sp>
        <p:nvSpPr>
          <p:cNvPr id="19" name="Rounded Rectangle 18"/>
          <p:cNvSpPr/>
          <p:nvPr/>
        </p:nvSpPr>
        <p:spPr>
          <a:xfrm>
            <a:off x="8138160" y="3383280"/>
            <a:ext cx="3474720" cy="2468880"/>
          </a:xfrm>
          <a:prstGeom prst="roundRect">
            <a:avLst>
              <a:gd name="adj" fmla="val 8000"/>
            </a:avLst>
          </a:prstGeom>
          <a:solidFill>
            <a:srgbClr val="F0F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57616" y="3611880"/>
            <a:ext cx="3035808" cy="731520"/>
          </a:xfrm>
          <a:prstGeom prst="rect">
            <a:avLst/>
          </a:prstGeom>
          <a:noFill/>
        </p:spPr>
        <p:txBody>
          <a:bodyPr wrap="square" lIns="27432" rIns="27432" tIns="18288" bIns="0">
            <a:spAutoFit/>
          </a:bodyPr>
          <a:lstStyle/>
          <a:p>
            <a:pPr>
              <a:spcAft>
                <a:spcPts val="800"/>
              </a:spcAft>
              <a:defRPr sz="2200" b="1">
                <a:solidFill>
                  <a:srgbClr val="159F9C"/>
                </a:solidFill>
                <a:latin typeface="DejaVu Sans"/>
              </a:defRPr>
            </a:pPr>
            <a:r>
              <a:t>SaaS</a:t>
            </a:r>
          </a:p>
        </p:txBody>
      </p:sp>
      <p:sp>
        <p:nvSpPr>
          <p:cNvPr id="21" name="TextBox 20"/>
          <p:cNvSpPr txBox="1"/>
          <p:nvPr/>
        </p:nvSpPr>
        <p:spPr>
          <a:xfrm>
            <a:off x="8357616" y="4480560"/>
            <a:ext cx="3035808" cy="1216152"/>
          </a:xfrm>
          <a:prstGeom prst="rect">
            <a:avLst/>
          </a:prstGeom>
          <a:noFill/>
        </p:spPr>
        <p:txBody>
          <a:bodyPr wrap="square" lIns="27432" rIns="27432" tIns="18288" bIns="0">
            <a:spAutoFit/>
          </a:bodyPr>
          <a:lstStyle/>
          <a:p>
            <a:pPr>
              <a:spcAft>
                <a:spcPts val="800"/>
              </a:spcAft>
              <a:defRPr sz="2000" b="0">
                <a:solidFill>
                  <a:srgbClr val="24445E"/>
                </a:solidFill>
                <a:latin typeface="DejaVu Sans"/>
              </a:defRPr>
            </a:pPr>
            <a:r>
              <a:t>Universitet tayyor tizimdan foydalanadi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73736"/>
          </a:xfrm>
          <a:prstGeom prst="rect">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420624"/>
            <a:ext cx="9875520" cy="932688"/>
          </a:xfrm>
          <a:prstGeom prst="rect">
            <a:avLst/>
          </a:prstGeom>
          <a:noFill/>
        </p:spPr>
        <p:txBody>
          <a:bodyPr wrap="square" lIns="27432" rIns="27432" tIns="18288" bIns="0">
            <a:spAutoFit/>
          </a:bodyPr>
          <a:lstStyle/>
          <a:p>
            <a:pPr>
              <a:spcAft>
                <a:spcPts val="800"/>
              </a:spcAft>
              <a:defRPr sz="3000" b="1">
                <a:solidFill>
                  <a:srgbClr val="20364E"/>
                </a:solidFill>
                <a:latin typeface="DejaVu Sans"/>
              </a:defRPr>
            </a:pPr>
            <a:r>
              <a:t>Keng tarqalgan noto‘g‘ri tushunchalar</a:t>
            </a:r>
          </a:p>
        </p:txBody>
      </p:sp>
      <p:sp>
        <p:nvSpPr>
          <p:cNvPr id="4" name="Rounded Rectangle 3"/>
          <p:cNvSpPr/>
          <p:nvPr/>
        </p:nvSpPr>
        <p:spPr>
          <a:xfrm>
            <a:off x="621792" y="1399032"/>
            <a:ext cx="1051560" cy="310896"/>
          </a:xfrm>
          <a:prstGeom prst="roundRect">
            <a:avLst>
              <a:gd name="adj" fmla="val 8000"/>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IaaS</a:t>
            </a:r>
          </a:p>
        </p:txBody>
      </p:sp>
      <p:sp>
        <p:nvSpPr>
          <p:cNvPr id="6" name="Rounded Rectangle 5"/>
          <p:cNvSpPr/>
          <p:nvPr/>
        </p:nvSpPr>
        <p:spPr>
          <a:xfrm>
            <a:off x="1810512" y="1399032"/>
            <a:ext cx="1051560" cy="310896"/>
          </a:xfrm>
          <a:prstGeom prst="roundRect">
            <a:avLst>
              <a:gd name="adj" fmla="val 8000"/>
            </a:avLst>
          </a:prstGeom>
          <a:solidFill>
            <a:srgbClr val="875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19"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PaaS</a:t>
            </a:r>
          </a:p>
        </p:txBody>
      </p:sp>
      <p:sp>
        <p:nvSpPr>
          <p:cNvPr id="8" name="Rounded Rectangle 7"/>
          <p:cNvSpPr/>
          <p:nvPr/>
        </p:nvSpPr>
        <p:spPr>
          <a:xfrm>
            <a:off x="2999232" y="1399032"/>
            <a:ext cx="1051560" cy="310896"/>
          </a:xfrm>
          <a:prstGeom prst="roundRect">
            <a:avLst>
              <a:gd name="adj" fmla="val 8000"/>
            </a:avLst>
          </a:prstGeom>
          <a:solidFill>
            <a:srgbClr val="159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63240"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SaaS</a:t>
            </a:r>
          </a:p>
        </p:txBody>
      </p:sp>
      <p:sp>
        <p:nvSpPr>
          <p:cNvPr id="10" name="TextBox 9"/>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0364E"/>
                </a:solidFill>
                <a:latin typeface="DejaVu Sans"/>
              </a:defRPr>
            </a:pPr>
            <a:r>
              <a:t>BTST206   /   M03   /   2027–2028</a:t>
            </a:r>
          </a:p>
        </p:txBody>
      </p:sp>
      <p:sp>
        <p:nvSpPr>
          <p:cNvPr id="11" name="TextBox 10"/>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0364E"/>
                </a:solidFill>
                <a:latin typeface="DejaVu Sans"/>
              </a:defRPr>
            </a:pPr>
            <a:r>
              <a:t>11 / 13</a:t>
            </a:r>
          </a:p>
        </p:txBody>
      </p:sp>
      <p:sp>
        <p:nvSpPr>
          <p:cNvPr id="12" name="Rounded Rectangle 11"/>
          <p:cNvSpPr/>
          <p:nvPr/>
        </p:nvSpPr>
        <p:spPr>
          <a:xfrm>
            <a:off x="758952" y="2002536"/>
            <a:ext cx="10652760" cy="1170432"/>
          </a:xfrm>
          <a:prstGeom prst="roundRect">
            <a:avLst>
              <a:gd name="adj" fmla="val 8000"/>
            </a:avLst>
          </a:prstGeom>
          <a:solidFill>
            <a:srgbClr val="EEF1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1832" y="2167128"/>
            <a:ext cx="502920" cy="457200"/>
          </a:xfrm>
          <a:prstGeom prst="rect">
            <a:avLst/>
          </a:prstGeom>
          <a:noFill/>
        </p:spPr>
        <p:txBody>
          <a:bodyPr wrap="square" lIns="27432" rIns="27432" tIns="18288" bIns="0">
            <a:spAutoFit/>
          </a:bodyPr>
          <a:lstStyle/>
          <a:p>
            <a:pPr>
              <a:spcAft>
                <a:spcPts val="800"/>
              </a:spcAft>
              <a:defRPr sz="1700" b="1">
                <a:solidFill>
                  <a:srgbClr val="2368CE"/>
                </a:solidFill>
                <a:latin typeface="DejaVu Sans"/>
              </a:defRPr>
            </a:pPr>
            <a:r>
              <a:t>01</a:t>
            </a:r>
          </a:p>
        </p:txBody>
      </p:sp>
      <p:sp>
        <p:nvSpPr>
          <p:cNvPr id="14" name="TextBox 13"/>
          <p:cNvSpPr txBox="1"/>
          <p:nvPr/>
        </p:nvSpPr>
        <p:spPr>
          <a:xfrm>
            <a:off x="1719072" y="2148840"/>
            <a:ext cx="9372600" cy="914400"/>
          </a:xfrm>
          <a:prstGeom prst="rect">
            <a:avLst/>
          </a:prstGeom>
          <a:noFill/>
        </p:spPr>
        <p:txBody>
          <a:bodyPr wrap="square" lIns="27432" rIns="27432" tIns="18288" bIns="0">
            <a:spAutoFit/>
          </a:bodyPr>
          <a:lstStyle/>
          <a:p>
            <a:pPr>
              <a:spcAft>
                <a:spcPts val="800"/>
              </a:spcAft>
              <a:defRPr sz="2100" b="0">
                <a:solidFill>
                  <a:srgbClr val="20364E"/>
                </a:solidFill>
                <a:latin typeface="DejaVu Sans"/>
              </a:defRPr>
            </a:pPr>
            <a:r>
              <a:t>Ko‘proq boshqariladigan xizmat ma’lumot va foydalanuvchi ruxsatlari uchun javobgarlikni yo‘qotmaydi.</a:t>
            </a:r>
          </a:p>
        </p:txBody>
      </p:sp>
      <p:sp>
        <p:nvSpPr>
          <p:cNvPr id="15" name="Rounded Rectangle 14"/>
          <p:cNvSpPr/>
          <p:nvPr/>
        </p:nvSpPr>
        <p:spPr>
          <a:xfrm>
            <a:off x="758952" y="3401568"/>
            <a:ext cx="10652760" cy="1170432"/>
          </a:xfrm>
          <a:prstGeom prst="roundRect">
            <a:avLst>
              <a:gd name="adj" fmla="val 8000"/>
            </a:avLst>
          </a:prstGeom>
          <a:solidFill>
            <a:srgbClr val="EEF1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1832" y="3566160"/>
            <a:ext cx="502920" cy="457200"/>
          </a:xfrm>
          <a:prstGeom prst="rect">
            <a:avLst/>
          </a:prstGeom>
          <a:noFill/>
        </p:spPr>
        <p:txBody>
          <a:bodyPr wrap="square" lIns="27432" rIns="27432" tIns="18288" bIns="0">
            <a:spAutoFit/>
          </a:bodyPr>
          <a:lstStyle/>
          <a:p>
            <a:pPr>
              <a:spcAft>
                <a:spcPts val="800"/>
              </a:spcAft>
              <a:defRPr sz="1700" b="1">
                <a:solidFill>
                  <a:srgbClr val="2368CE"/>
                </a:solidFill>
                <a:latin typeface="DejaVu Sans"/>
              </a:defRPr>
            </a:pPr>
            <a:r>
              <a:t>02</a:t>
            </a:r>
          </a:p>
        </p:txBody>
      </p:sp>
      <p:sp>
        <p:nvSpPr>
          <p:cNvPr id="17" name="TextBox 16"/>
          <p:cNvSpPr txBox="1"/>
          <p:nvPr/>
        </p:nvSpPr>
        <p:spPr>
          <a:xfrm>
            <a:off x="1719072" y="3547872"/>
            <a:ext cx="9372600" cy="914400"/>
          </a:xfrm>
          <a:prstGeom prst="rect">
            <a:avLst/>
          </a:prstGeom>
          <a:noFill/>
        </p:spPr>
        <p:txBody>
          <a:bodyPr wrap="square" lIns="27432" rIns="27432" tIns="18288" bIns="0">
            <a:spAutoFit/>
          </a:bodyPr>
          <a:lstStyle/>
          <a:p>
            <a:pPr>
              <a:spcAft>
                <a:spcPts val="800"/>
              </a:spcAft>
              <a:defRPr sz="2100" b="0">
                <a:solidFill>
                  <a:srgbClr val="20364E"/>
                </a:solidFill>
                <a:latin typeface="DejaVu Sans"/>
              </a:defRPr>
            </a:pPr>
            <a:r>
              <a:t>Tayyor xizmatdagi noto‘g‘ri ulashish sozlamasi maxfiy faylni ochib qo‘yishi mumkin.</a:t>
            </a:r>
          </a:p>
        </p:txBody>
      </p:sp>
      <p:sp>
        <p:nvSpPr>
          <p:cNvPr id="18" name="Rounded Rectangle 17"/>
          <p:cNvSpPr/>
          <p:nvPr/>
        </p:nvSpPr>
        <p:spPr>
          <a:xfrm>
            <a:off x="758952" y="4800600"/>
            <a:ext cx="10652760" cy="1170432"/>
          </a:xfrm>
          <a:prstGeom prst="roundRect">
            <a:avLst>
              <a:gd name="adj" fmla="val 8000"/>
            </a:avLst>
          </a:prstGeom>
          <a:solidFill>
            <a:srgbClr val="EEF1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4965192"/>
            <a:ext cx="502920" cy="457200"/>
          </a:xfrm>
          <a:prstGeom prst="rect">
            <a:avLst/>
          </a:prstGeom>
          <a:noFill/>
        </p:spPr>
        <p:txBody>
          <a:bodyPr wrap="square" lIns="27432" rIns="27432" tIns="18288" bIns="0">
            <a:spAutoFit/>
          </a:bodyPr>
          <a:lstStyle/>
          <a:p>
            <a:pPr>
              <a:spcAft>
                <a:spcPts val="800"/>
              </a:spcAft>
              <a:defRPr sz="1700" b="1">
                <a:solidFill>
                  <a:srgbClr val="2368CE"/>
                </a:solidFill>
                <a:latin typeface="DejaVu Sans"/>
              </a:defRPr>
            </a:pPr>
            <a:r>
              <a:t>03</a:t>
            </a:r>
          </a:p>
        </p:txBody>
      </p:sp>
      <p:sp>
        <p:nvSpPr>
          <p:cNvPr id="20" name="TextBox 19"/>
          <p:cNvSpPr txBox="1"/>
          <p:nvPr/>
        </p:nvSpPr>
        <p:spPr>
          <a:xfrm>
            <a:off x="1719072" y="4946904"/>
            <a:ext cx="9372600" cy="914400"/>
          </a:xfrm>
          <a:prstGeom prst="rect">
            <a:avLst/>
          </a:prstGeom>
          <a:noFill/>
        </p:spPr>
        <p:txBody>
          <a:bodyPr wrap="square" lIns="27432" rIns="27432" tIns="18288" bIns="0">
            <a:spAutoFit/>
          </a:bodyPr>
          <a:lstStyle/>
          <a:p>
            <a:pPr>
              <a:spcAft>
                <a:spcPts val="800"/>
              </a:spcAft>
              <a:defRPr sz="2100" b="0">
                <a:solidFill>
                  <a:srgbClr val="20364E"/>
                </a:solidFill>
                <a:latin typeface="DejaVu Sans"/>
              </a:defRPr>
            </a:pPr>
            <a:r>
              <a:t>Serverless server yo‘qligini emas, serverlarni kundalik boshqarish provayderga o‘tganini anglatadi.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73736"/>
          </a:xfrm>
          <a:prstGeom prst="rect">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420624"/>
            <a:ext cx="9875520" cy="932688"/>
          </a:xfrm>
          <a:prstGeom prst="rect">
            <a:avLst/>
          </a:prstGeom>
          <a:noFill/>
        </p:spPr>
        <p:txBody>
          <a:bodyPr wrap="square" lIns="27432" rIns="27432" tIns="18288" bIns="0">
            <a:spAutoFit/>
          </a:bodyPr>
          <a:lstStyle/>
          <a:p>
            <a:pPr>
              <a:spcAft>
                <a:spcPts val="800"/>
              </a:spcAft>
              <a:defRPr sz="3000" b="1">
                <a:solidFill>
                  <a:srgbClr val="20364E"/>
                </a:solidFill>
                <a:latin typeface="DejaVu Sans"/>
              </a:defRPr>
            </a:pPr>
            <a:r>
              <a:t>Asosiy xulosalar</a:t>
            </a:r>
          </a:p>
        </p:txBody>
      </p:sp>
      <p:sp>
        <p:nvSpPr>
          <p:cNvPr id="4" name="Rounded Rectangle 3"/>
          <p:cNvSpPr/>
          <p:nvPr/>
        </p:nvSpPr>
        <p:spPr>
          <a:xfrm>
            <a:off x="621792" y="1399032"/>
            <a:ext cx="1051560" cy="310896"/>
          </a:xfrm>
          <a:prstGeom prst="roundRect">
            <a:avLst>
              <a:gd name="adj" fmla="val 8000"/>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IaaS</a:t>
            </a:r>
          </a:p>
        </p:txBody>
      </p:sp>
      <p:sp>
        <p:nvSpPr>
          <p:cNvPr id="6" name="Rounded Rectangle 5"/>
          <p:cNvSpPr/>
          <p:nvPr/>
        </p:nvSpPr>
        <p:spPr>
          <a:xfrm>
            <a:off x="1810512" y="1399032"/>
            <a:ext cx="1051560" cy="310896"/>
          </a:xfrm>
          <a:prstGeom prst="roundRect">
            <a:avLst>
              <a:gd name="adj" fmla="val 8000"/>
            </a:avLst>
          </a:prstGeom>
          <a:solidFill>
            <a:srgbClr val="875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19"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PaaS</a:t>
            </a:r>
          </a:p>
        </p:txBody>
      </p:sp>
      <p:sp>
        <p:nvSpPr>
          <p:cNvPr id="8" name="Rounded Rectangle 7"/>
          <p:cNvSpPr/>
          <p:nvPr/>
        </p:nvSpPr>
        <p:spPr>
          <a:xfrm>
            <a:off x="2999232" y="1399032"/>
            <a:ext cx="1051560" cy="310896"/>
          </a:xfrm>
          <a:prstGeom prst="roundRect">
            <a:avLst>
              <a:gd name="adj" fmla="val 8000"/>
            </a:avLst>
          </a:prstGeom>
          <a:solidFill>
            <a:srgbClr val="159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63240" y="1435608"/>
            <a:ext cx="914400" cy="228600"/>
          </a:xfrm>
          <a:prstGeom prst="rect">
            <a:avLst/>
          </a:prstGeom>
          <a:noFill/>
        </p:spPr>
        <p:txBody>
          <a:bodyPr wrap="square" lIns="27432" rIns="27432" tIns="18288" bIns="0">
            <a:spAutoFit/>
          </a:bodyPr>
          <a:lstStyle/>
          <a:p>
            <a:pPr>
              <a:spcAft>
                <a:spcPts val="800"/>
              </a:spcAft>
              <a:defRPr sz="1100" b="1">
                <a:solidFill>
                  <a:srgbClr val="FFFFFF"/>
                </a:solidFill>
                <a:latin typeface="DejaVu Sans"/>
              </a:defRPr>
            </a:pPr>
            <a:r>
              <a:t>SaaS</a:t>
            </a:r>
          </a:p>
        </p:txBody>
      </p:sp>
      <p:sp>
        <p:nvSpPr>
          <p:cNvPr id="10" name="TextBox 9"/>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0364E"/>
                </a:solidFill>
                <a:latin typeface="DejaVu Sans"/>
              </a:defRPr>
            </a:pPr>
            <a:r>
              <a:t>BTST206   /   M03   /   2027–2028</a:t>
            </a:r>
          </a:p>
        </p:txBody>
      </p:sp>
      <p:sp>
        <p:nvSpPr>
          <p:cNvPr id="11" name="TextBox 10"/>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0364E"/>
                </a:solidFill>
                <a:latin typeface="DejaVu Sans"/>
              </a:defRPr>
            </a:pPr>
            <a:r>
              <a:t>12 / 13</a:t>
            </a:r>
          </a:p>
        </p:txBody>
      </p:sp>
      <p:sp>
        <p:nvSpPr>
          <p:cNvPr id="12" name="Rounded Rectangle 11"/>
          <p:cNvSpPr/>
          <p:nvPr/>
        </p:nvSpPr>
        <p:spPr>
          <a:xfrm>
            <a:off x="777240" y="2148840"/>
            <a:ext cx="566928" cy="566928"/>
          </a:xfrm>
          <a:prstGeom prst="roundRect">
            <a:avLst>
              <a:gd name="adj" fmla="val 8000"/>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2276856"/>
            <a:ext cx="301752" cy="310896"/>
          </a:xfrm>
          <a:prstGeom prst="rect">
            <a:avLst/>
          </a:prstGeom>
          <a:noFill/>
        </p:spPr>
        <p:txBody>
          <a:bodyPr wrap="square" lIns="27432" rIns="27432" tIns="18288" bIns="0">
            <a:spAutoFit/>
          </a:bodyPr>
          <a:lstStyle/>
          <a:p>
            <a:pPr>
              <a:spcAft>
                <a:spcPts val="800"/>
              </a:spcAft>
              <a:defRPr sz="1600" b="1">
                <a:solidFill>
                  <a:srgbClr val="FFFFFF"/>
                </a:solidFill>
                <a:latin typeface="DejaVu Sans"/>
              </a:defRPr>
            </a:pPr>
            <a:r>
              <a:t>1</a:t>
            </a:r>
          </a:p>
        </p:txBody>
      </p:sp>
      <p:sp>
        <p:nvSpPr>
          <p:cNvPr id="14" name="TextBox 13"/>
          <p:cNvSpPr txBox="1"/>
          <p:nvPr/>
        </p:nvSpPr>
        <p:spPr>
          <a:xfrm>
            <a:off x="1673352" y="2130552"/>
            <a:ext cx="9628632" cy="1024128"/>
          </a:xfrm>
          <a:prstGeom prst="rect">
            <a:avLst/>
          </a:prstGeom>
          <a:noFill/>
        </p:spPr>
        <p:txBody>
          <a:bodyPr wrap="square" lIns="27432" rIns="27432" tIns="18288" bIns="0">
            <a:spAutoFit/>
          </a:bodyPr>
          <a:lstStyle/>
          <a:p>
            <a:pPr>
              <a:spcAft>
                <a:spcPts val="800"/>
              </a:spcAft>
              <a:defRPr sz="2500" b="1">
                <a:solidFill>
                  <a:srgbClr val="20364E"/>
                </a:solidFill>
                <a:latin typeface="DejaVu Sans"/>
              </a:defRPr>
            </a:pPr>
            <a:r>
              <a:t>IaaS, PaaS va SaaS boshqaruv chegarasi bilan farqlanadi.</a:t>
            </a:r>
          </a:p>
        </p:txBody>
      </p:sp>
      <p:sp>
        <p:nvSpPr>
          <p:cNvPr id="15" name="Rounded Rectangle 14"/>
          <p:cNvSpPr/>
          <p:nvPr/>
        </p:nvSpPr>
        <p:spPr>
          <a:xfrm>
            <a:off x="777240" y="3493008"/>
            <a:ext cx="566928" cy="566928"/>
          </a:xfrm>
          <a:prstGeom prst="roundRect">
            <a:avLst>
              <a:gd name="adj" fmla="val 8000"/>
            </a:avLst>
          </a:prstGeom>
          <a:solidFill>
            <a:srgbClr val="875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3621024"/>
            <a:ext cx="301752" cy="310896"/>
          </a:xfrm>
          <a:prstGeom prst="rect">
            <a:avLst/>
          </a:prstGeom>
          <a:noFill/>
        </p:spPr>
        <p:txBody>
          <a:bodyPr wrap="square" lIns="27432" rIns="27432" tIns="18288" bIns="0">
            <a:spAutoFit/>
          </a:bodyPr>
          <a:lstStyle/>
          <a:p>
            <a:pPr>
              <a:spcAft>
                <a:spcPts val="800"/>
              </a:spcAft>
              <a:defRPr sz="1600" b="1">
                <a:solidFill>
                  <a:srgbClr val="FFFFFF"/>
                </a:solidFill>
                <a:latin typeface="DejaVu Sans"/>
              </a:defRPr>
            </a:pPr>
            <a:r>
              <a:t>2</a:t>
            </a:r>
          </a:p>
        </p:txBody>
      </p:sp>
      <p:sp>
        <p:nvSpPr>
          <p:cNvPr id="17" name="TextBox 16"/>
          <p:cNvSpPr txBox="1"/>
          <p:nvPr/>
        </p:nvSpPr>
        <p:spPr>
          <a:xfrm>
            <a:off x="1673352" y="3474720"/>
            <a:ext cx="9628632" cy="1024128"/>
          </a:xfrm>
          <a:prstGeom prst="rect">
            <a:avLst/>
          </a:prstGeom>
          <a:noFill/>
        </p:spPr>
        <p:txBody>
          <a:bodyPr wrap="square" lIns="27432" rIns="27432" tIns="18288" bIns="0">
            <a:spAutoFit/>
          </a:bodyPr>
          <a:lstStyle/>
          <a:p>
            <a:pPr>
              <a:spcAft>
                <a:spcPts val="800"/>
              </a:spcAft>
              <a:defRPr sz="2500" b="1">
                <a:solidFill>
                  <a:srgbClr val="20364E"/>
                </a:solidFill>
                <a:latin typeface="DejaVu Sans"/>
              </a:defRPr>
            </a:pPr>
            <a:r>
              <a:t>Model nazorat, vaqt, malaka va umumiy xarajatga qarab tanlanadi.</a:t>
            </a:r>
          </a:p>
        </p:txBody>
      </p:sp>
      <p:sp>
        <p:nvSpPr>
          <p:cNvPr id="18" name="Rounded Rectangle 17"/>
          <p:cNvSpPr/>
          <p:nvPr/>
        </p:nvSpPr>
        <p:spPr>
          <a:xfrm>
            <a:off x="777240" y="4837176"/>
            <a:ext cx="566928" cy="566928"/>
          </a:xfrm>
          <a:prstGeom prst="roundRect">
            <a:avLst>
              <a:gd name="adj" fmla="val 8000"/>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965192"/>
            <a:ext cx="301752" cy="310896"/>
          </a:xfrm>
          <a:prstGeom prst="rect">
            <a:avLst/>
          </a:prstGeom>
          <a:noFill/>
        </p:spPr>
        <p:txBody>
          <a:bodyPr wrap="square" lIns="27432" rIns="27432" tIns="18288" bIns="0">
            <a:spAutoFit/>
          </a:bodyPr>
          <a:lstStyle/>
          <a:p>
            <a:pPr>
              <a:spcAft>
                <a:spcPts val="800"/>
              </a:spcAft>
              <a:defRPr sz="1600" b="1">
                <a:solidFill>
                  <a:srgbClr val="FFFFFF"/>
                </a:solidFill>
                <a:latin typeface="DejaVu Sans"/>
              </a:defRPr>
            </a:pPr>
            <a:r>
              <a:t>3</a:t>
            </a:r>
          </a:p>
        </p:txBody>
      </p:sp>
      <p:sp>
        <p:nvSpPr>
          <p:cNvPr id="20" name="TextBox 19"/>
          <p:cNvSpPr txBox="1"/>
          <p:nvPr/>
        </p:nvSpPr>
        <p:spPr>
          <a:xfrm>
            <a:off x="1673352" y="4818888"/>
            <a:ext cx="9628632" cy="1024128"/>
          </a:xfrm>
          <a:prstGeom prst="rect">
            <a:avLst/>
          </a:prstGeom>
          <a:noFill/>
        </p:spPr>
        <p:txBody>
          <a:bodyPr wrap="square" lIns="27432" rIns="27432" tIns="18288" bIns="0">
            <a:spAutoFit/>
          </a:bodyPr>
          <a:lstStyle/>
          <a:p>
            <a:pPr>
              <a:spcAft>
                <a:spcPts val="800"/>
              </a:spcAft>
              <a:defRPr sz="2500" b="1">
                <a:solidFill>
                  <a:srgbClr val="20364E"/>
                </a:solidFill>
                <a:latin typeface="DejaVu Sans"/>
              </a:defRPr>
            </a:pPr>
            <a:r>
              <a:t>Boshqariladigan xizmatda ham ma’lumot va ruxsatlar javobgarligi qoladi.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548640"/>
            <a:ext cx="109728" cy="640080"/>
          </a:xfrm>
          <a:prstGeom prst="rect">
            <a:avLst/>
          </a:prstGeom>
          <a:solidFill>
            <a:srgbClr val="2368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789920" cy="777240"/>
          </a:xfrm>
          <a:prstGeom prst="rect">
            <a:avLst/>
          </a:prstGeom>
          <a:noFill/>
        </p:spPr>
        <p:txBody>
          <a:bodyPr wrap="square" lIns="27432" rIns="27432" tIns="18288" bIns="0">
            <a:spAutoFit/>
          </a:bodyPr>
          <a:lstStyle/>
          <a:p>
            <a:pPr>
              <a:spcAft>
                <a:spcPts val="800"/>
              </a:spcAft>
              <a:defRPr sz="2900" b="1">
                <a:solidFill>
                  <a:srgbClr val="20364E"/>
                </a:solidFill>
                <a:latin typeface="DejaVu Sans"/>
              </a:defRPr>
            </a:pPr>
            <a:r>
              <a:t>Manbalar va rasm manbasi</a:t>
            </a:r>
          </a:p>
        </p:txBody>
      </p:sp>
      <p:sp>
        <p:nvSpPr>
          <p:cNvPr id="4" name="TextBox 3"/>
          <p:cNvSpPr txBox="1"/>
          <p:nvPr/>
        </p:nvSpPr>
        <p:spPr>
          <a:xfrm>
            <a:off x="731520" y="1600200"/>
            <a:ext cx="10789920" cy="594360"/>
          </a:xfrm>
          <a:prstGeom prst="rect">
            <a:avLst/>
          </a:prstGeom>
          <a:noFill/>
        </p:spPr>
        <p:txBody>
          <a:bodyPr wrap="square" lIns="27432" rIns="27432" tIns="18288" bIns="0">
            <a:spAutoFit/>
          </a:bodyPr>
          <a:lstStyle/>
          <a:p>
            <a:pPr>
              <a:spcAft>
                <a:spcPts val="800"/>
              </a:spcAft>
              <a:defRPr sz="1700" b="0">
                <a:solidFill>
                  <a:srgbClr val="20364E"/>
                </a:solidFill>
                <a:latin typeface="DejaVu Sans"/>
              </a:defRPr>
            </a:pPr>
            <a:r>
              <a:t>Asos: BTST206, 2027–2028 sillabusi. Rasmiy texnik hujjatlar:</a:t>
            </a:r>
          </a:p>
        </p:txBody>
      </p:sp>
      <p:sp>
        <p:nvSpPr>
          <p:cNvPr id="5" name="TextBox 4"/>
          <p:cNvSpPr txBox="1"/>
          <p:nvPr/>
        </p:nvSpPr>
        <p:spPr>
          <a:xfrm>
            <a:off x="777240" y="2286000"/>
            <a:ext cx="10652760" cy="365760"/>
          </a:xfrm>
          <a:prstGeom prst="rect">
            <a:avLst/>
          </a:prstGeom>
          <a:noFill/>
        </p:spPr>
        <p:txBody>
          <a:bodyPr wrap="square" lIns="27432" rIns="27432" tIns="18288" bIns="0">
            <a:spAutoFit/>
          </a:bodyPr>
          <a:lstStyle/>
          <a:p>
            <a:pPr>
              <a:spcAft>
                <a:spcPts val="800"/>
              </a:spcAft>
              <a:defRPr sz="1300" b="0">
                <a:solidFill>
                  <a:srgbClr val="2368CE"/>
                </a:solidFill>
                <a:latin typeface="DejaVu Sans"/>
              </a:defRPr>
            </a:pPr>
            <a:r>
              <a:t>https://csrc.nist.gov/pubs/sp/800/145/final</a:t>
            </a:r>
          </a:p>
        </p:txBody>
      </p:sp>
      <p:sp>
        <p:nvSpPr>
          <p:cNvPr id="6" name="TextBox 5"/>
          <p:cNvSpPr txBox="1"/>
          <p:nvPr/>
        </p:nvSpPr>
        <p:spPr>
          <a:xfrm>
            <a:off x="777240" y="2715768"/>
            <a:ext cx="10652760" cy="365760"/>
          </a:xfrm>
          <a:prstGeom prst="rect">
            <a:avLst/>
          </a:prstGeom>
          <a:noFill/>
        </p:spPr>
        <p:txBody>
          <a:bodyPr wrap="square" lIns="27432" rIns="27432" tIns="18288" bIns="0">
            <a:spAutoFit/>
          </a:bodyPr>
          <a:lstStyle/>
          <a:p>
            <a:pPr>
              <a:spcAft>
                <a:spcPts val="800"/>
              </a:spcAft>
              <a:defRPr sz="1300" b="0">
                <a:solidFill>
                  <a:srgbClr val="2368CE"/>
                </a:solidFill>
                <a:latin typeface="DejaVu Sans"/>
              </a:defRPr>
            </a:pPr>
            <a:r>
              <a:t>https://learn.microsoft.com/azure/cloud-adoption-framework/</a:t>
            </a:r>
          </a:p>
        </p:txBody>
      </p:sp>
      <p:sp>
        <p:nvSpPr>
          <p:cNvPr id="7" name="TextBox 6"/>
          <p:cNvSpPr txBox="1"/>
          <p:nvPr/>
        </p:nvSpPr>
        <p:spPr>
          <a:xfrm>
            <a:off x="777240" y="4251960"/>
            <a:ext cx="10652760" cy="365760"/>
          </a:xfrm>
          <a:prstGeom prst="rect">
            <a:avLst/>
          </a:prstGeom>
          <a:noFill/>
        </p:spPr>
        <p:txBody>
          <a:bodyPr wrap="square" lIns="27432" rIns="27432" tIns="18288" bIns="0">
            <a:spAutoFit/>
          </a:bodyPr>
          <a:lstStyle/>
          <a:p>
            <a:pPr>
              <a:spcAft>
                <a:spcPts val="800"/>
              </a:spcAft>
              <a:defRPr sz="1200" b="1">
                <a:solidFill>
                  <a:srgbClr val="2368CE"/>
                </a:solidFill>
                <a:latin typeface="DejaVu Sans"/>
              </a:defRPr>
            </a:pPr>
            <a:r>
              <a:t>INTERNET RASMI</a:t>
            </a:r>
          </a:p>
        </p:txBody>
      </p:sp>
      <p:sp>
        <p:nvSpPr>
          <p:cNvPr id="8" name="TextBox 7"/>
          <p:cNvSpPr txBox="1"/>
          <p:nvPr/>
        </p:nvSpPr>
        <p:spPr>
          <a:xfrm>
            <a:off x="777240" y="4663440"/>
            <a:ext cx="10652760" cy="576072"/>
          </a:xfrm>
          <a:prstGeom prst="rect">
            <a:avLst/>
          </a:prstGeom>
          <a:noFill/>
        </p:spPr>
        <p:txBody>
          <a:bodyPr wrap="square" lIns="27432" rIns="27432" tIns="18288" bIns="0">
            <a:spAutoFit/>
          </a:bodyPr>
          <a:lstStyle/>
          <a:p>
            <a:pPr>
              <a:spcAft>
                <a:spcPts val="800"/>
              </a:spcAft>
              <a:defRPr sz="1400" b="0">
                <a:solidFill>
                  <a:srgbClr val="20364E"/>
                </a:solidFill>
                <a:latin typeface="DejaVu Sans"/>
              </a:defRPr>
            </a:pPr>
            <a:r>
              <a:t>Microsoft Learn / MicrosoftDocs azure-docs</a:t>
            </a:r>
          </a:p>
        </p:txBody>
      </p:sp>
      <p:sp>
        <p:nvSpPr>
          <p:cNvPr id="9" name="TextBox 8"/>
          <p:cNvSpPr txBox="1"/>
          <p:nvPr/>
        </p:nvSpPr>
        <p:spPr>
          <a:xfrm>
            <a:off x="777240" y="5285232"/>
            <a:ext cx="10652760" cy="640080"/>
          </a:xfrm>
          <a:prstGeom prst="rect">
            <a:avLst/>
          </a:prstGeom>
          <a:noFill/>
        </p:spPr>
        <p:txBody>
          <a:bodyPr wrap="square" lIns="27432" rIns="27432" tIns="18288" bIns="0">
            <a:spAutoFit/>
          </a:bodyPr>
          <a:lstStyle/>
          <a:p>
            <a:pPr>
              <a:spcAft>
                <a:spcPts val="800"/>
              </a:spcAft>
              <a:defRPr sz="1000" b="0">
                <a:solidFill>
                  <a:srgbClr val="20364E"/>
                </a:solidFill>
                <a:latin typeface="DejaVu Sans"/>
              </a:defRPr>
            </a:pPr>
            <a:r>
              <a:t>https://raw.githubusercontent.com/MicrosoftDocs/azure-docs/main/articles/security/fundamentals/media/shared-responsibility/shared-responsibility.svg</a:t>
            </a:r>
          </a:p>
        </p:txBody>
      </p:sp>
      <p:sp>
        <p:nvSpPr>
          <p:cNvPr id="10" name="TextBox 9"/>
          <p:cNvSpPr txBox="1"/>
          <p:nvPr/>
        </p:nvSpPr>
        <p:spPr>
          <a:xfrm>
            <a:off x="777240" y="6035040"/>
            <a:ext cx="10652760" cy="320040"/>
          </a:xfrm>
          <a:prstGeom prst="rect">
            <a:avLst/>
          </a:prstGeom>
          <a:noFill/>
        </p:spPr>
        <p:txBody>
          <a:bodyPr wrap="square" lIns="27432" rIns="27432" tIns="18288" bIns="0">
            <a:spAutoFit/>
          </a:bodyPr>
          <a:lstStyle/>
          <a:p>
            <a:pPr>
              <a:spcAft>
                <a:spcPts val="800"/>
              </a:spcAft>
              <a:defRPr sz="1100" b="0">
                <a:solidFill>
                  <a:srgbClr val="20364E"/>
                </a:solidFill>
                <a:latin typeface="DejaVu Sans"/>
              </a:defRPr>
            </a:pPr>
            <a:r>
              <a:t>Barcha rasm manbalari va foydalanish izohlari: ASSET_SOURCES.md</a:t>
            </a:r>
          </a:p>
        </p:txBody>
      </p:sp>
      <p:sp>
        <p:nvSpPr>
          <p:cNvPr id="11" name="TextBox 10"/>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0364E"/>
                </a:solidFill>
                <a:latin typeface="DejaVu Sans"/>
              </a:defRPr>
            </a:pPr>
            <a:r>
              <a:t>BTST206   /   M03   /   2027–2028</a:t>
            </a:r>
          </a:p>
        </p:txBody>
      </p:sp>
      <p:sp>
        <p:nvSpPr>
          <p:cNvPr id="12" name="TextBox 11"/>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0364E"/>
                </a:solidFill>
                <a:latin typeface="DejaVu Sans"/>
              </a:defRPr>
            </a:pPr>
            <a: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