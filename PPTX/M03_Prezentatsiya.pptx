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«Bulut xizmat modellari: IaaS, PaaS va SaaS» mavzusiga bag‘ishlanadi. Mavzuni murakkab atamalardan emas, kundalik ehtiyojdan boshlaymiz. Universitetga yangi ta’lim portali kerak. Jamoa serverni to‘liq boshqarish, faqat ilova kodiga e’tibor berish yoki tayyor tizimdan foydalanish variantlarini solishtiradi.</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xizmat modeli va boshqaruv chegarasi tushuntiriladi. 2-bo‘limda iaas: infratuzilma xizmati tushuntiriladi. 3-bo‘limda paas: platforma xizmati tushuntiriladi. 4-bo‘limda saas: tayyor dastur xizmati tushuntiriladi. 5-bo‘limda modellarni tanlash mezonlari tushuntiriladi. 6-bo‘limda faas va boshqariladigan xizmatlar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Xizmat modeli texnologiyaning nomidan ko‘ra boshqaruv chegarasini tushuntiradi. Server, operatsion tizim, bajarilish muhiti, ilova va ma’lumotlar turli qatlamlardir. Qaysi qatlamni kim yangilashi va himoya qilishi tanlangan modelga bog‘liq.</a:t>
            </a:r>
          </a:p>
          <a:p/>
          <a:p>
            <a:r>
              <a:t>IaaS dan PaaS va SaaS tomon o‘tilganda provayder ko‘proq qatlamni boshqaradi. Mijozning kundalik texnik ishlari kamayadi, lekin pastki qatlamlarni o‘zgartirish erkinligi ham qisqaradi.</a:t>
            </a:r>
          </a:p>
          <a:p/>
          <a:p>
            <a:r>
              <a:t>Universitet misolida buni quyidagicha tasavvur qilamiz. O‘z virtual serveridagi LMS, boshqariladigan platformadagi portal va tayyor ta’lim xizmati turli boshqaruv darajalarini ifodalaydi. Bu misolda texnik atama real vazifa bilan bog‘lanadi: resursning nomini emas, nima uchun tanlanganini tushunish muhim.</a:t>
            </a:r>
          </a:p>
          <a:p/>
          <a:p>
            <a:r>
              <a:t>E’tibor beradigan chegara ham bor. Ko‘proq boshqariladigan xizmat ma’lumot va foydalanuvchi ruxsatlari uchun javobgarlikni yo‘qotmaydi.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IaaS modelida provayder jismoniy uskunalar va virtualizatsiya qatlamini boshqaradi. Mijoz odatda operatsion tizim, kutubxonalar, ilova va ma’lumotlarni boshqaradi. Bu moslashuvchanlik beradi, lekin tizim ma’muriyati ishlarini ham saqlab qoladi.</a:t>
            </a:r>
          </a:p>
          <a:p/>
          <a:p>
            <a:r>
              <a:t>Mijoz server turi va disk hajmini tanlaydi, operatsion tizimni sozlaydi, xavfsizlik yangilanishlarini o‘rnatadi va dasturini joylashtiradi.</a:t>
            </a:r>
          </a:p>
          <a:p/>
          <a:p>
            <a:r>
              <a:t>Universitet misolida buni quyidagicha tasavvur qilamiz. EC2 yoki Azure Virtual Machines yordamida maxsus konfiguratsiyali Linux server tashkil qilish mumkin. Bu misolda texnik atama real vazifa bilan bog‘lanadi: resursning nomini emas, nima uchun tanlanganini tushunish muhim.</a:t>
            </a:r>
          </a:p>
          <a:p/>
          <a:p>
            <a:r>
              <a:t>E’tibor beradigan chegara ham bor. Virtual mashina sotib olish ilovaning avtomatik zaxiralangani yoki xavfsiz sozlangani degani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PaaS dastur uchun tayyor bajarilish muhiti va xizmatlarni beradi. Jamoa ko‘proq kod, konfiguratsiya va ma’lumot bilan ishlaydi. Provayder operatsion tizim va platformaning katta qismini yangilaydi.</a:t>
            </a:r>
          </a:p>
          <a:p/>
          <a:p>
            <a:r>
              <a:t>Dasturchi qo‘llab-quvvatlanadigan til va versiyani tanlaydi. Platforma kodni ishga tushiradi, loglarni yig‘adi va sozlamaga qarab nusxalarni boshqaradi.</a:t>
            </a:r>
          </a:p>
          <a:p/>
          <a:p>
            <a:r>
              <a:t>Universitet misolida buni quyidagicha tasavvur qilamiz. Azure App Service yoki Google App Engine portal kodini virtual serverni qo‘lda sozlamasdan ishga tushirishga yordam beradi. Bu misolda texnik atama real vazifa bilan bog‘lanadi: resursning nomini emas, nima uchun tanlanganini tushunish muhim.</a:t>
            </a:r>
          </a:p>
          <a:p/>
          <a:p>
            <a:r>
              <a:t>E’tibor beradigan chegara ham bor. Platformaning til, versiya, tarmoq va bajarilish cheklovlari oldindan tekshiriladi.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SaaS modelida foydalanuvchi tayyor dasturga kiradi. Provayder ilova va pastki qatlamlarni yuritadi. Tashkilot esa hisoblar, ma’lumot ulashish, ruxsatlar va foydalanish siyosatini boshqarishda davom etadi.</a:t>
            </a:r>
          </a:p>
          <a:p/>
          <a:p>
            <a:r>
              <a:t>Xizmat brauzer yoki mobil ilova orqali taqdim etiladi. Yangilanishlar markazlashgan holda bajariladi. To‘lov foydalanuvchi, tarif yoki foydalanish hajmiga bog‘liq bo‘lishi mumkin.</a:t>
            </a:r>
          </a:p>
          <a:p/>
          <a:p>
            <a:r>
              <a:t>Universitet misolida buni quyidagicha tasavvur qilamiz. Microsoft 365 va Google Workspace hujjat, pochta va hamkorlik uchun tayyor xizmat misollaridir. Bu misolda texnik atama real vazifa bilan bog‘lanadi: resursning nomini emas, nima uchun tanlanganini tushunish muhim.</a:t>
            </a:r>
          </a:p>
          <a:p/>
          <a:p>
            <a:r>
              <a:t>E’tibor beradigan chegara ham bor. Tayyor xizmatdagi noto‘g‘ri ulashish sozlamasi maxfiy faylni ochib qo‘yishi mumkin.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Tanlovni bitta reklama iborasi bilan qilish to‘g‘ri emas. Maxsus operatsion tizim zarurmi, jamoada ma’mur bormi, ishga tushirish muddati qanday va ma’lumot talabi qanchalik qat’iy — shu savollar muhim.</a:t>
            </a:r>
          </a:p>
          <a:p/>
          <a:p>
            <a:r>
              <a:t>Talablar ro‘yxati tuzilib, har bir modelning mosligi baholanadi. Umumiy xarajatga boshqaruv va yangilashga ketadigan mehnat ham qo‘shiladi.</a:t>
            </a:r>
          </a:p>
          <a:p/>
          <a:p>
            <a:r>
              <a:t>Universitet misolida buni quyidagicha tasavvur qilamiz. Kichik jamoa standart portal uchun PaaS tanlashi, noyob eski tizim uchun esa IaaS dan foydalanishi mumkin. Bu misolda texnik atama real vazifa bilan bog‘lanadi: resursning nomini emas, nima uchun tanlanganini tushunish muhim.</a:t>
            </a:r>
          </a:p>
          <a:p/>
          <a:p>
            <a:r>
              <a:t>E’tibor beradigan chegara ham bor. Bir tashkilot barcha tizimlar uchun faqat bitta xizmat modelini tanlashi shart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FaaS serverless yondashuvning bir ko‘rinishidir. Dasturchi butun server o‘rniga kichik funksiyani joylashtiradi. Funksiya HTTP so‘rovi, fayl yuklanishi yoki navbat xabari kabi hodisa bilan ishga tushadi.</a:t>
            </a:r>
          </a:p>
          <a:p/>
          <a:p>
            <a:r>
              <a:t>Provayder bajarilish muhitini ajratadi va bir nechta chaqiruvni boshqaradi. Dasturchi kodning to‘g‘riligi, ruxsatlari va tashqi ma’lumotlar bilan ishlashini ta’minlaydi.</a:t>
            </a:r>
          </a:p>
          <a:p/>
          <a:p>
            <a:r>
              <a:t>Universitet misolida buni quyidagicha tasavvur qilamiz. Talaba rasm yuklaganda funksiya uning kichik ko‘rinishini tayyorlab, obyekt saqlashga yozadi. Bu misolda texnik atama real vazifa bilan bog‘lanadi: resursning nomini emas, nima uchun tanlanganini tushunish muhim.</a:t>
            </a:r>
          </a:p>
          <a:p/>
          <a:p>
            <a:r>
              <a:t>E’tibor beradigan chegara ham bor. Serverless server yo‘qligini emas, serverlarni kundalik boshqarish provayderga o‘tganini anglatadi.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«Ko‘proq nazorat» bilan «IaaS» o‘rtasida sxemada bog‘lanish ko‘rsatilgan. «IaaS» bilan «PaaS» o‘rtasida sxemada bog‘lanish ko‘rsatilgan. «PaaS» bilan «SaaS» o‘rtasida sxemada bog‘lanish ko‘rsatilgan. «SaaS» bilan «Kamroq operatsion ish» o‘rtasida sxemada bog‘lanish ko‘rsatilgan.</a:t>
            </a:r>
          </a:p>
          <a:p/>
          <a:p>
            <a:r>
              <a:t>Bu bog‘lanishlarni barcha xizmatlarda bir xil buyruq yoki bir xil fizik kabel deb tushunmaymiz. Ayrim o‘qlar bajarilish ketma-ketligini, ayrimlari resursni boshqarish yoki unga kirish aloqasini anglatadi. Mijoz server turi va disk hajmini tanlaydi, operatsion tizimni sozlaydi, xavfsizlik yangilanishlarini o‘rnatadi va dasturini joylashtiradi.</a:t>
            </a:r>
          </a:p>
          <a:p/>
          <a:p>
            <a:r>
              <a:t>Sxemaning asosiy foydasi mas’uliyatlarni ajratib ko‘rsatishdir. Kichik jamoa standart portal uchun PaaS tanlashi, noyob eski tizim uchun esa IaaS dan foydalanishi mumkin.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Universitetga yangi ta’lim portali kerak. Jamoa serverni to‘liq boshqarish, faqat ilova kodiga e’tibor berish yoki tayyor tizimdan foydalanish variantlarini solishtiradi.</a:t>
            </a:r>
          </a:p>
          <a:p/>
          <a:p>
            <a:r>
              <a:t>Avval ehtiyoj aniqlanadi: kim tizimdan foydalanadi, qaysi ma’lumot bilan ishlanadi va qanday natija kutiladi. O‘z virtual serveridagi LMS, boshqariladigan platformadagi portal va tayyor ta’lim xizmati turli boshqaruv darajalarini ifodalaydi. Keyin texnik qismlar shu talabga mos tanlanadi. Azure App Service yoki Google App Engine portal kodini virtual serverni qo‘lda sozlamasdan ishga tushirishga yordam beradi.</a:t>
            </a:r>
          </a:p>
          <a:p/>
          <a:p>
            <a:r>
              <a:t>Ishlash jarayonida faqat muvaffaqiyatli holat emas, xato va cheklovlar ham hisobga olinadi. Tayyor xizmatdagi noto‘g‘ri ulashish sozlamasi maxfiy faylni ochib qo‘yishi mumkin. Shu sababli jamoa talabni, ruxsatni va nosozlikdagi xatti-harakatni oldindan belgilaydi. Talaba rasm yuklaganda funksiya uning kichik ko‘rinishini tayyorlab, obyekt saqlashga yozadi.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Ko‘proq boshqariladigan xizmat ma’lumot va foydalanuvchi ruxsatlari uchun javobgarlikni yo‘qotmaydi. To‘g‘ri talqin quyidagicha: Xizmat modeli texnologiyaning nomidan ko‘ra boshqaruv chegarasini tushuntiradi. Server, operatsion tizim, bajarilish muhiti, ilova va ma’lumotlar turli qatlamlardir. Qaysi qatlamni kim yangilashi va himoya qilishi tanlangan modelga bog‘liq.</a:t>
            </a:r>
          </a:p>
          <a:p/>
          <a:p>
            <a:r>
              <a:t>2. Tayyor xizmatdagi noto‘g‘ri ulashish sozlamasi maxfiy faylni ochib qo‘yishi mumkin. To‘g‘ri talqin quyidagicha: SaaS modelida foydalanuvchi tayyor dasturga kiradi. Provayder ilova va pastki qatlamlarni yuritadi. Tashkilot esa hisoblar, ma’lumot ulashish, ruxsatlar va foydalanish siyosatini boshqarishda davom etadi.</a:t>
            </a:r>
          </a:p>
          <a:p/>
          <a:p>
            <a:r>
              <a:t>3. Serverless server yo‘qligini emas, serverlarni kundalik boshqarish provayderga o‘tganini anglatadi. To‘g‘ri talqin quyidagicha: FaaS serverless yondashuvning bir ko‘rinishidir. Dasturchi butun server o‘rniga kichik funksiyani joylashtiradi. Funksiya HTTP so‘rovi, fayl yuklanishi yoki navbat xabari kabi hodisa bilan ishga tushadi.</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Qaysi ishni siz, qaysi ishni provayder bajaradi? — mavzuning umumiy mazmunini ifodalaydi.</a:t>
            </a:r>
          </a:p>
          <a:p/>
          <a:p>
            <a:r>
              <a:t>Asosiy tayanch fikr: Model — mas’uliyat qanday bo‘linishini ko‘rsatadi. IaaS dan PaaS va SaaS tomon o‘tilganda provayder ko‘proq qatlamni boshqaradi. Mijozning kundalik texnik ishlari kamayadi, lekin pastki qatlamlarni o‘zgartirish erkinligi ham qisqaradi.</a:t>
            </a:r>
          </a:p>
          <a:p/>
          <a:p>
            <a:r>
              <a:t>Asosiy tayanch fikr: Kodni joylashtiring, platformani provayder boshqarsin. Dasturchi qo‘llab-quvvatlanadigan til va versiyani tanlaydi. Platforma kodni ishga tushiradi, loglarni yig‘adi va sozlamaga qarab nusxalarni boshqaradi.</a:t>
            </a:r>
          </a:p>
          <a:p/>
          <a:p>
            <a:r>
              <a:t>Asosiy tayanch fikr: Nazorat, vaqt, malaka va xarajatni solishtiring. Talablar ro‘yxati tuzilib, har bir modelning mosligi baholanadi. Umumiy xarajatga boshqaruv va yangilashga ketadigan mehnat ham qo‘shiladi.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1c8f91bc-6381-4745-8533-c57166497063.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16636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594360"/>
            <a:ext cx="594360" cy="73152"/>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96112"/>
            <a:ext cx="4480560" cy="457200"/>
          </a:xfrm>
          <a:prstGeom prst="rect">
            <a:avLst/>
          </a:prstGeom>
          <a:noFill/>
        </p:spPr>
        <p:txBody>
          <a:bodyPr wrap="square" lIns="27432" rIns="27432" tIns="18288" bIns="0">
            <a:spAutoFit/>
          </a:bodyPr>
          <a:lstStyle/>
          <a:p>
            <a:pPr>
              <a:spcAft>
                <a:spcPts val="1000"/>
              </a:spcAft>
              <a:defRPr sz="1700" b="1">
                <a:solidFill>
                  <a:srgbClr val="1678D2"/>
                </a:solidFill>
                <a:latin typeface="DejaVu Sans"/>
              </a:defRPr>
            </a:pPr>
            <a:r>
              <a:t>M03  /  BTST206</a:t>
            </a:r>
          </a:p>
        </p:txBody>
      </p:sp>
      <p:sp>
        <p:nvSpPr>
          <p:cNvPr id="6" name="TextBox 5"/>
          <p:cNvSpPr txBox="1"/>
          <p:nvPr/>
        </p:nvSpPr>
        <p:spPr>
          <a:xfrm>
            <a:off x="548640" y="1737360"/>
            <a:ext cx="4480560" cy="2788920"/>
          </a:xfrm>
          <a:prstGeom prst="rect">
            <a:avLst/>
          </a:prstGeom>
          <a:noFill/>
        </p:spPr>
        <p:txBody>
          <a:bodyPr wrap="square" lIns="27432" rIns="27432" tIns="18288" bIns="0">
            <a:spAutoFit/>
          </a:bodyPr>
          <a:lstStyle/>
          <a:p>
            <a:pPr>
              <a:spcAft>
                <a:spcPts val="1000"/>
              </a:spcAft>
              <a:defRPr sz="3000" b="1">
                <a:solidFill>
                  <a:srgbClr val="15365B"/>
                </a:solidFill>
                <a:latin typeface="DejaVu Sans"/>
              </a:defRPr>
            </a:pPr>
            <a:r>
              <a:t>Bulut xizmat modellari: IaaS, PaaS va SaaS</a:t>
            </a:r>
          </a:p>
        </p:txBody>
      </p:sp>
      <p:sp>
        <p:nvSpPr>
          <p:cNvPr id="7" name="TextBox 6"/>
          <p:cNvSpPr txBox="1"/>
          <p:nvPr/>
        </p:nvSpPr>
        <p:spPr>
          <a:xfrm>
            <a:off x="548640" y="4800600"/>
            <a:ext cx="4434840" cy="914400"/>
          </a:xfrm>
          <a:prstGeom prst="rect">
            <a:avLst/>
          </a:prstGeom>
          <a:noFill/>
        </p:spPr>
        <p:txBody>
          <a:bodyPr wrap="square" lIns="27432" rIns="27432" tIns="18288" bIns="0">
            <a:spAutoFit/>
          </a:bodyPr>
          <a:lstStyle/>
          <a:p>
            <a:pPr>
              <a:spcAft>
                <a:spcPts val="1000"/>
              </a:spcAft>
              <a:defRPr sz="1900" b="0">
                <a:solidFill>
                  <a:srgbClr val="53687D"/>
                </a:solidFill>
                <a:latin typeface="DejaVu Sans"/>
              </a:defRPr>
            </a:pPr>
            <a:r>
              <a:t>Qaysi ishni siz, qaysi ishni provayder bajaradi?</a:t>
            </a:r>
          </a:p>
        </p:txBody>
      </p:sp>
      <p:sp>
        <p:nvSpPr>
          <p:cNvPr id="8" name="TextBox 7"/>
          <p:cNvSpPr txBox="1"/>
          <p:nvPr/>
        </p:nvSpPr>
        <p:spPr>
          <a:xfrm>
            <a:off x="548640" y="6217920"/>
            <a:ext cx="4480560" cy="365760"/>
          </a:xfrm>
          <a:prstGeom prst="rect">
            <a:avLst/>
          </a:prstGeom>
          <a:noFill/>
        </p:spPr>
        <p:txBody>
          <a:bodyPr wrap="square" lIns="27432" rIns="27432" tIns="18288" bIns="0">
            <a:spAutoFit/>
          </a:bodyPr>
          <a:lstStyle/>
          <a:p>
            <a:pPr>
              <a:spcAft>
                <a:spcPts val="1000"/>
              </a:spcAft>
              <a:defRPr sz="1100" b="0">
                <a:solidFill>
                  <a:srgbClr val="1678D2"/>
                </a:solidFill>
                <a:latin typeface="DejaVu Sans"/>
              </a:defRPr>
            </a:pPr>
            <a:r>
              <a:t>2027–2028  •  VIDEOMA’RUZA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M03 · O‘RGANISH TARTIBI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Bugungi mavzuning yo‘l xaritasi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02</a:t>
            </a:r>
          </a:p>
        </p:txBody>
      </p:sp>
      <p:sp>
        <p:nvSpPr>
          <p:cNvPr id="8" name="Rounded Rectangle 7"/>
          <p:cNvSpPr/>
          <p:nvPr/>
        </p:nvSpPr>
        <p:spPr>
          <a:xfrm>
            <a:off x="59436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01</a:t>
            </a:r>
          </a:p>
        </p:txBody>
      </p:sp>
      <p:sp>
        <p:nvSpPr>
          <p:cNvPr id="10" name="TextBox 9"/>
          <p:cNvSpPr txBox="1"/>
          <p:nvPr/>
        </p:nvSpPr>
        <p:spPr>
          <a:xfrm>
            <a:off x="138074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Xizmat modeli va boshqaruv chegarasi</a:t>
            </a:r>
          </a:p>
        </p:txBody>
      </p:sp>
      <p:sp>
        <p:nvSpPr>
          <p:cNvPr id="11" name="Rounded Rectangle 10"/>
          <p:cNvSpPr/>
          <p:nvPr/>
        </p:nvSpPr>
        <p:spPr>
          <a:xfrm>
            <a:off x="626364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02</a:t>
            </a:r>
          </a:p>
        </p:txBody>
      </p:sp>
      <p:sp>
        <p:nvSpPr>
          <p:cNvPr id="13" name="TextBox 12"/>
          <p:cNvSpPr txBox="1"/>
          <p:nvPr/>
        </p:nvSpPr>
        <p:spPr>
          <a:xfrm>
            <a:off x="705002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IaaS: infratuzilma xizmati</a:t>
            </a:r>
          </a:p>
        </p:txBody>
      </p:sp>
      <p:sp>
        <p:nvSpPr>
          <p:cNvPr id="14" name="Rounded Rectangle 13"/>
          <p:cNvSpPr/>
          <p:nvPr/>
        </p:nvSpPr>
        <p:spPr>
          <a:xfrm>
            <a:off x="59436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03</a:t>
            </a:r>
          </a:p>
        </p:txBody>
      </p:sp>
      <p:sp>
        <p:nvSpPr>
          <p:cNvPr id="16" name="TextBox 15"/>
          <p:cNvSpPr txBox="1"/>
          <p:nvPr/>
        </p:nvSpPr>
        <p:spPr>
          <a:xfrm>
            <a:off x="138074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PaaS: platforma xizmati</a:t>
            </a:r>
          </a:p>
        </p:txBody>
      </p:sp>
      <p:sp>
        <p:nvSpPr>
          <p:cNvPr id="17" name="Rounded Rectangle 16"/>
          <p:cNvSpPr/>
          <p:nvPr/>
        </p:nvSpPr>
        <p:spPr>
          <a:xfrm>
            <a:off x="626364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04</a:t>
            </a:r>
          </a:p>
        </p:txBody>
      </p:sp>
      <p:sp>
        <p:nvSpPr>
          <p:cNvPr id="19" name="TextBox 18"/>
          <p:cNvSpPr txBox="1"/>
          <p:nvPr/>
        </p:nvSpPr>
        <p:spPr>
          <a:xfrm>
            <a:off x="705002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SaaS: tayyor dastur xizmati</a:t>
            </a:r>
          </a:p>
        </p:txBody>
      </p:sp>
      <p:sp>
        <p:nvSpPr>
          <p:cNvPr id="20" name="Rounded Rectangle 19"/>
          <p:cNvSpPr/>
          <p:nvPr/>
        </p:nvSpPr>
        <p:spPr>
          <a:xfrm>
            <a:off x="59436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05</a:t>
            </a:r>
          </a:p>
        </p:txBody>
      </p:sp>
      <p:sp>
        <p:nvSpPr>
          <p:cNvPr id="22" name="TextBox 21"/>
          <p:cNvSpPr txBox="1"/>
          <p:nvPr/>
        </p:nvSpPr>
        <p:spPr>
          <a:xfrm>
            <a:off x="138074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Modellarni tanlash mezonlari</a:t>
            </a:r>
          </a:p>
        </p:txBody>
      </p:sp>
      <p:sp>
        <p:nvSpPr>
          <p:cNvPr id="23" name="Rounded Rectangle 22"/>
          <p:cNvSpPr/>
          <p:nvPr/>
        </p:nvSpPr>
        <p:spPr>
          <a:xfrm>
            <a:off x="626364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06</a:t>
            </a:r>
          </a:p>
        </p:txBody>
      </p:sp>
      <p:sp>
        <p:nvSpPr>
          <p:cNvPr id="25" name="TextBox 24"/>
          <p:cNvSpPr txBox="1"/>
          <p:nvPr/>
        </p:nvSpPr>
        <p:spPr>
          <a:xfrm>
            <a:off x="705002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FaaS va boshqariladigan xizmatlar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M03 · ASOSIY TUSHUNCHA 1/6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Xizmat modeli va boshqaruv chegarasi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03</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Model — mas’uliyat qanday bo‘linishini ko‘rsatadi.</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O‘z virtual serveridagi LMS, boshqariladigan platformadagi portal va tayyor ta’lim xizmati turli boshqaruv darajalarini ifodalaydi.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M03 · ASOSIY TUSHUNCHA 2/6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IaaS: infratuzilma xizmati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04</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Mijoz server turi va disk hajmini tanlaydi, operatsion tizimni sozlaydi, xavfsizlik yangilanishlarini o‘rnatadi va dasturini joylashtiradi.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Virtual mashina sotib olish ilovaning avtomatik zaxiralangani yoki xavfsiz sozlangani degani emas.</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Virtual server, disk va tarmoqni ijaraga olish.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M03 · ASOSIY TUSHUNCHA 3/6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PaaS: platforma xizmati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05</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Kodni joylashtiring, platformani provayder boshqarsin.</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PaaS dastur uchun tayyor bajarilish muhiti va xizmatlarni beradi.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M03 · ASOSIY TUSHUNCHA 4/6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SaaS: tayyor dastur xizmati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06</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Dasturdan foydalanish, infratuzilmani qurmaslik.</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Microsoft 365 va Google Workspace hujjat, pochta va hamkorlik uchun tayyor xizmat misollaridir.</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M03 · ASOSIY TUSHUNCHA 5/6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Modellarni tanlash mezonlari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07</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Talablar ro‘yxati tuzilib, har bir modelning mosligi baholanadi.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Bir tashkilot barcha tizimlar uchun faqat bitta xizmat modelini tanlashi shart emas.</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Nazorat, vaqt, malaka va xarajatni solishtiring.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M03 · ASOSIY TUSHUNCHA 6/6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FaaS va boshqariladigan xizmatlar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08</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Hodisa kelganda funksiyani bajarish.</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FaaS serverless yondashuvning bir ko‘rinishidir.</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M03 · ARXITEKTURA</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Texnik sxema: qismlar qanday bog‘lanadi?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09</a:t>
            </a:r>
          </a:p>
        </p:txBody>
      </p:sp>
      <p:cxnSp>
        <p:nvCxnSpPr>
          <p:cNvPr id="8" name="Connector 7"/>
          <p:cNvCxnSpPr/>
          <p:nvPr/>
        </p:nvCxnSpPr>
        <p:spPr>
          <a:xfrm flipH="1" flipV="1">
            <a:off x="2103120" y="3246120"/>
            <a:ext cx="201168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7472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9516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8046720" y="3246120"/>
            <a:ext cx="109728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1520" y="2286000"/>
            <a:ext cx="2743200" cy="960120"/>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2450592"/>
            <a:ext cx="2505456" cy="685800"/>
          </a:xfrm>
          <a:prstGeom prst="rect">
            <a:avLst/>
          </a:prstGeom>
          <a:noFill/>
        </p:spPr>
        <p:txBody>
          <a:bodyPr wrap="square" lIns="27432" rIns="27432" tIns="18288" bIns="0">
            <a:spAutoFit/>
          </a:bodyPr>
          <a:lstStyle/>
          <a:p>
            <a:pPr>
              <a:spcAft>
                <a:spcPts val="1000"/>
              </a:spcAft>
              <a:defRPr sz="1800" b="1">
                <a:solidFill>
                  <a:srgbClr val="FFFFFF"/>
                </a:solidFill>
                <a:latin typeface="DejaVu Sans"/>
              </a:defRPr>
            </a:pPr>
            <a:r>
              <a:t>IaaS</a:t>
            </a:r>
          </a:p>
        </p:txBody>
      </p:sp>
      <p:sp>
        <p:nvSpPr>
          <p:cNvPr id="14" name="Rounded Rectangle 13"/>
          <p:cNvSpPr/>
          <p:nvPr/>
        </p:nvSpPr>
        <p:spPr>
          <a:xfrm>
            <a:off x="425196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PaaS</a:t>
            </a:r>
          </a:p>
        </p:txBody>
      </p:sp>
      <p:sp>
        <p:nvSpPr>
          <p:cNvPr id="16" name="Rounded Rectangle 15"/>
          <p:cNvSpPr/>
          <p:nvPr/>
        </p:nvSpPr>
        <p:spPr>
          <a:xfrm>
            <a:off x="777240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9127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SaaS</a:t>
            </a:r>
          </a:p>
        </p:txBody>
      </p:sp>
      <p:sp>
        <p:nvSpPr>
          <p:cNvPr id="18" name="Rounded Rectangle 17"/>
          <p:cNvSpPr/>
          <p:nvPr/>
        </p:nvSpPr>
        <p:spPr>
          <a:xfrm>
            <a:off x="274320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6207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Ko‘proq nazorat</a:t>
            </a:r>
          </a:p>
        </p:txBody>
      </p:sp>
      <p:sp>
        <p:nvSpPr>
          <p:cNvPr id="20" name="Rounded Rectangle 19"/>
          <p:cNvSpPr/>
          <p:nvPr/>
        </p:nvSpPr>
        <p:spPr>
          <a:xfrm>
            <a:off x="667512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Kamroq operatsion ish</a:t>
            </a:r>
          </a:p>
        </p:txBody>
      </p:sp>
      <p:sp>
        <p:nvSpPr>
          <p:cNvPr id="22" name="TextBox 21"/>
          <p:cNvSpPr txBox="1"/>
          <p:nvPr/>
        </p:nvSpPr>
        <p:spPr>
          <a:xfrm>
            <a:off x="777240" y="5806440"/>
            <a:ext cx="10789920" cy="347472"/>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O‘qlar: asosiy bog‘lanish yoki boshqaruv yo‘nalishi. Sxema soddalashtirilgan.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M03 · O‘QITUVCHI BAYONI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Universitet portali misolida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10</a:t>
            </a:r>
          </a:p>
        </p:txBody>
      </p:sp>
      <p:sp>
        <p:nvSpPr>
          <p:cNvPr id="8" name="TextBox 7"/>
          <p:cNvSpPr txBox="1"/>
          <p:nvPr/>
        </p:nvSpPr>
        <p:spPr>
          <a:xfrm>
            <a:off x="658368" y="1920240"/>
            <a:ext cx="7040880" cy="150876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Universitetga yangi ta’lim portali kerak. Jamoa serverni to‘liq boshqarish, faqat ilova kodiga e’tibor berish yoki tayyor tizimdan foydalanish variantlarini solishtiradi.</a:t>
            </a:r>
          </a:p>
        </p:txBody>
      </p:sp>
      <p:sp>
        <p:nvSpPr>
          <p:cNvPr id="9" name="Rounded Rectangle 8"/>
          <p:cNvSpPr/>
          <p:nvPr/>
        </p:nvSpPr>
        <p:spPr>
          <a:xfrm>
            <a:off x="685800"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Jismoniy infratuzilma</a:t>
            </a:r>
          </a:p>
        </p:txBody>
      </p:sp>
      <p:sp>
        <p:nvSpPr>
          <p:cNvPr id="11" name="Rounded Rectangle 10"/>
          <p:cNvSpPr/>
          <p:nvPr/>
        </p:nvSpPr>
        <p:spPr>
          <a:xfrm>
            <a:off x="3584448"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Operatsion tizim</a:t>
            </a:r>
          </a:p>
        </p:txBody>
      </p:sp>
      <p:sp>
        <p:nvSpPr>
          <p:cNvPr id="13" name="Rounded Rectangle 12"/>
          <p:cNvSpPr/>
          <p:nvPr/>
        </p:nvSpPr>
        <p:spPr>
          <a:xfrm>
            <a:off x="6483096"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0256"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Ilova platformasi</a:t>
            </a:r>
          </a:p>
        </p:txBody>
      </p:sp>
      <p:sp>
        <p:nvSpPr>
          <p:cNvPr id="15" name="Rounded Rectangle 14"/>
          <p:cNvSpPr/>
          <p:nvPr/>
        </p:nvSpPr>
        <p:spPr>
          <a:xfrm>
            <a:off x="9381744"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Tayyor dastur</a:t>
            </a:r>
          </a:p>
        </p:txBody>
      </p:sp>
      <p:sp>
        <p:nvSpPr>
          <p:cNvPr id="17" name="TextBox 16"/>
          <p:cNvSpPr txBox="1"/>
          <p:nvPr/>
        </p:nvSpPr>
        <p:spPr>
          <a:xfrm>
            <a:off x="713232" y="5632704"/>
            <a:ext cx="10789920" cy="365760"/>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Yuqoridagi bloklar — misolning tayanch qismlari; ular har doim chiziqli trafik yo‘li emas.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M03 · ANIQLIK KIRITAMIZ</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Ko‘p uchraydigan noto‘g‘ri xulosalar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11</a:t>
            </a:r>
          </a:p>
        </p:txBody>
      </p:sp>
      <p:sp>
        <p:nvSpPr>
          <p:cNvPr id="8" name="Rounded Rectangle 7"/>
          <p:cNvSpPr/>
          <p:nvPr/>
        </p:nvSpPr>
        <p:spPr>
          <a:xfrm>
            <a:off x="640080" y="1892807"/>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929384"/>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1</a:t>
            </a:r>
          </a:p>
        </p:txBody>
      </p:sp>
      <p:sp>
        <p:nvSpPr>
          <p:cNvPr id="10" name="TextBox 9"/>
          <p:cNvSpPr txBox="1"/>
          <p:nvPr/>
        </p:nvSpPr>
        <p:spPr>
          <a:xfrm>
            <a:off x="1353312" y="1892807"/>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Ko‘proq boshqariladigan xizmat ma’lumot va foydalanuvchi ruxsatlari uchun javobgarlikni yo‘qotmaydi.</a:t>
            </a:r>
          </a:p>
        </p:txBody>
      </p:sp>
      <p:sp>
        <p:nvSpPr>
          <p:cNvPr id="11" name="Rounded Rectangle 10"/>
          <p:cNvSpPr/>
          <p:nvPr/>
        </p:nvSpPr>
        <p:spPr>
          <a:xfrm>
            <a:off x="640080" y="3246120"/>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282696"/>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2</a:t>
            </a:r>
          </a:p>
        </p:txBody>
      </p:sp>
      <p:sp>
        <p:nvSpPr>
          <p:cNvPr id="13" name="TextBox 12"/>
          <p:cNvSpPr txBox="1"/>
          <p:nvPr/>
        </p:nvSpPr>
        <p:spPr>
          <a:xfrm>
            <a:off x="1353312" y="3246120"/>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Tayyor xizmatdagi noto‘g‘ri ulashish sozlamasi maxfiy faylni ochib qo‘yishi mumkin.</a:t>
            </a:r>
          </a:p>
        </p:txBody>
      </p:sp>
      <p:sp>
        <p:nvSpPr>
          <p:cNvPr id="14" name="Rounded Rectangle 13"/>
          <p:cNvSpPr/>
          <p:nvPr/>
        </p:nvSpPr>
        <p:spPr>
          <a:xfrm>
            <a:off x="640080" y="4599431"/>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636007"/>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3</a:t>
            </a:r>
          </a:p>
        </p:txBody>
      </p:sp>
      <p:sp>
        <p:nvSpPr>
          <p:cNvPr id="16" name="TextBox 15"/>
          <p:cNvSpPr txBox="1"/>
          <p:nvPr/>
        </p:nvSpPr>
        <p:spPr>
          <a:xfrm>
            <a:off x="1353312" y="4599431"/>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Serverless server yo‘qligini emas, serverlarni kundalik boshqarish provayderga o‘tganini anglatadi.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M03 · YAKUN</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Mavzuning asosiy xulosalari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12</a:t>
            </a:r>
          </a:p>
        </p:txBody>
      </p:sp>
      <p:sp>
        <p:nvSpPr>
          <p:cNvPr id="8" name="Rounded Rectangle 7"/>
          <p:cNvSpPr/>
          <p:nvPr/>
        </p:nvSpPr>
        <p:spPr>
          <a:xfrm>
            <a:off x="640080"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01</a:t>
            </a:r>
          </a:p>
        </p:txBody>
      </p:sp>
      <p:sp>
        <p:nvSpPr>
          <p:cNvPr id="10" name="TextBox 9"/>
          <p:cNvSpPr txBox="1"/>
          <p:nvPr/>
        </p:nvSpPr>
        <p:spPr>
          <a:xfrm>
            <a:off x="859536"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Model — mas’uliyat qanday bo‘linishini ko‘rsatadi.</a:t>
            </a:r>
          </a:p>
        </p:txBody>
      </p:sp>
      <p:sp>
        <p:nvSpPr>
          <p:cNvPr id="11" name="Rounded Rectangle 10"/>
          <p:cNvSpPr/>
          <p:nvPr/>
        </p:nvSpPr>
        <p:spPr>
          <a:xfrm>
            <a:off x="4498848"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02</a:t>
            </a:r>
          </a:p>
        </p:txBody>
      </p:sp>
      <p:sp>
        <p:nvSpPr>
          <p:cNvPr id="13" name="TextBox 12"/>
          <p:cNvSpPr txBox="1"/>
          <p:nvPr/>
        </p:nvSpPr>
        <p:spPr>
          <a:xfrm>
            <a:off x="4718304"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Kodni joylashtiring, platformani provayder boshqarsin.</a:t>
            </a:r>
          </a:p>
        </p:txBody>
      </p:sp>
      <p:sp>
        <p:nvSpPr>
          <p:cNvPr id="14" name="Rounded Rectangle 13"/>
          <p:cNvSpPr/>
          <p:nvPr/>
        </p:nvSpPr>
        <p:spPr>
          <a:xfrm>
            <a:off x="8357615"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77072"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03</a:t>
            </a:r>
          </a:p>
        </p:txBody>
      </p:sp>
      <p:sp>
        <p:nvSpPr>
          <p:cNvPr id="16" name="TextBox 15"/>
          <p:cNvSpPr txBox="1"/>
          <p:nvPr/>
        </p:nvSpPr>
        <p:spPr>
          <a:xfrm>
            <a:off x="8577072"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Nazorat, vaqt, malaka va xarajatni solishtiring.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M03 · QO‘SHIMCHA O‘QISH</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Manbalar va terminlar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13</a:t>
            </a:r>
          </a:p>
        </p:txBody>
      </p:sp>
      <p:sp>
        <p:nvSpPr>
          <p:cNvPr id="8" name="TextBox 7"/>
          <p:cNvSpPr txBox="1"/>
          <p:nvPr/>
        </p:nvSpPr>
        <p:spPr>
          <a:xfrm>
            <a:off x="685800" y="1920240"/>
            <a:ext cx="10789920" cy="822960"/>
          </a:xfrm>
          <a:prstGeom prst="rect">
            <a:avLst/>
          </a:prstGeom>
          <a:noFill/>
        </p:spPr>
        <p:txBody>
          <a:bodyPr wrap="square" lIns="27432" rIns="27432" tIns="18288" bIns="0">
            <a:spAutoFit/>
          </a:bodyPr>
          <a:lstStyle/>
          <a:p>
            <a:pPr>
              <a:spcAft>
                <a:spcPts val="1000"/>
              </a:spcAft>
              <a:defRPr sz="2100" b="1">
                <a:solidFill>
                  <a:srgbClr val="15365B"/>
                </a:solidFill>
                <a:latin typeface="DejaVu Sans"/>
              </a:defRPr>
            </a:pPr>
            <a:r>
              <a:t>Asos: BTST206 sillabusi, 2027–2028. M1–M18 ma’ruza bo‘limi.</a:t>
            </a:r>
          </a:p>
        </p:txBody>
      </p:sp>
      <p:sp>
        <p:nvSpPr>
          <p:cNvPr id="9" name="TextBox 8"/>
          <p:cNvSpPr txBox="1"/>
          <p:nvPr/>
        </p:nvSpPr>
        <p:spPr>
          <a:xfrm>
            <a:off x="713232" y="2926080"/>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https://csrc.nist.gov/pubs/sp/800/145/final</a:t>
            </a:r>
          </a:p>
        </p:txBody>
      </p:sp>
      <p:sp>
        <p:nvSpPr>
          <p:cNvPr id="10" name="TextBox 9"/>
          <p:cNvSpPr txBox="1"/>
          <p:nvPr/>
        </p:nvSpPr>
        <p:spPr>
          <a:xfrm>
            <a:off x="713232" y="3456432"/>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https://learn.microsoft.com/azure/cloud-adoption-framework/</a:t>
            </a:r>
          </a:p>
        </p:txBody>
      </p:sp>
      <p:sp>
        <p:nvSpPr>
          <p:cNvPr id="11" name="TextBox 10"/>
          <p:cNvSpPr txBox="1"/>
          <p:nvPr/>
        </p:nvSpPr>
        <p:spPr>
          <a:xfrm>
            <a:off x="713232" y="5650992"/>
            <a:ext cx="10789920" cy="502920"/>
          </a:xfrm>
          <a:prstGeom prst="rect">
            <a:avLst/>
          </a:prstGeom>
          <a:noFill/>
        </p:spPr>
        <p:txBody>
          <a:bodyPr wrap="square" lIns="27432" rIns="27432" tIns="18288" bIns="0">
            <a:spAutoFit/>
          </a:bodyPr>
          <a:lstStyle/>
          <a:p>
            <a:pPr>
              <a:spcAft>
                <a:spcPts val="1000"/>
              </a:spcAft>
              <a:defRPr sz="1600" b="0">
                <a:solidFill>
                  <a:srgbClr val="53687D"/>
                </a:solidFill>
                <a:latin typeface="DejaVu Sans"/>
              </a:defRPr>
            </a:pPr>
            <a:r>
              <a:t>Narx, limit va xizmat nomlarining amaldagi holati rasmiy hujjatlarda tekshiriladi.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