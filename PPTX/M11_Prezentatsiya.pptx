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«Bulutli axborot xavfsizligi» mavzusiga bag‘ishlanadi. Mavzuni murakkab atamalardan emas, kundalik ehtiyojdan boshlaymiz. Talaba faqat o‘z bahosini ko‘rishi, o‘qituvchi esa o‘z fanidagi baholarni kiritishi kerak. Bulut xavfsizligi serverni himoyalashdan tashqari aynan shunday aniq ruxsat chegaralarini ham talab qiladi.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xavfsizlikning uch asosiy maqsadi tushuntiriladi. 2-bo‘limda autentifikatsiya va avtorizatsiya tushuntiriladi. 3-bo‘limda iam va eng kam vakolat tushuntiriladi. 4-bo‘limda shifrlash va kalitlarni boshqarish tushuntiriladi. 5-bo‘limda zero trust modeli tushuntiriladi. 6-bo‘limda shared responsibility model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Maxfiylik ma’lumotni faqat tegishli odamlar ko‘rishini anglatadi. Yaxlitlik ruxsatsiz yoki tasodifiy o‘zgarishdan himoyalashdir. Mavjudlik esa tizimdan kerakli paytda foydalanish imkoniyatidir. Ular bir-biri bilan bog‘liq.</a:t>
            </a:r>
          </a:p>
          <a:p/>
          <a:p>
            <a:r>
              <a:t>Aktivlar, tahdidlar va ehtimoliy oqibatlar aniqlanadi. Keyin xavfni kamaytiradigan nazoratlar tanlanadi. Barcha nazoratlar real xavfga mos va kuzatiladigan bo‘lishi kerak.</a:t>
            </a:r>
          </a:p>
          <a:p/>
          <a:p>
            <a:r>
              <a:t>Universitet misolida buni quyidagicha tasavvur qilamiz. Baholar yashirin saqlanishi, faqat ruxsatli o‘qituvchi tomonidan o‘zgartirilishi va talabaga vaqtida ko‘rinishi kerak. Bu misolda texnik atama real vazifa bilan bog‘lanadi: resursning nomini emas, nima uchun tanlanganini tushunish muhim.</a:t>
            </a:r>
          </a:p>
          <a:p/>
          <a:p>
            <a:r>
              <a:t>E’tibor beradigan chegara ham bor. Xavfsizlik faqat antivirus yoki kuchli parol bilan tugamaydi.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Autentifikatsiya foydalanuvchi yoki xizmat kimligini tekshiradi. Avtorizatsiya esa shu identifikatorga qaysi amal ruxsat etilganini belgilaydi. Muvaffaqiyatli login barcha ma’lumotga kirish huquqini bermaydi.</a:t>
            </a:r>
          </a:p>
          <a:p/>
          <a:p>
            <a:r>
              <a:t>Foydalanuvchi login va ikkinchi omil bilan tasdiqlanadi. Keyingi har bir muhim so‘rovda uning roli va resursga oid ruxsati tekshiriladi.</a:t>
            </a:r>
          </a:p>
          <a:p/>
          <a:p>
            <a:r>
              <a:t>Universitet misolida buni quyidagicha tasavvur qilamiz. Talaba tizimga kirgan bo‘lsa ham boshqa talabaning bahosini so‘rasa, ilova so‘rovni rad etadi. Bu misolda texnik atama real vazifa bilan bog‘lanadi: resursning nomini emas, nima uchun tanlanganini tushunish muhim.</a:t>
            </a:r>
          </a:p>
          <a:p/>
          <a:p>
            <a:r>
              <a:t>E’tibor beradigan chegara ham bor. Ruxsatni faqat interfeys tugmasini yashirish bilan cheklash yetarli emas; server ham tekshirishi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IAM foydalanuvchi, guruh, rol va siyosatlar orqali kirishni boshqaradi. Eng kam vakolat tamoyili vazifaga yetadigan minimal ruxsatni berishni anglatadi. Inson va ilova identifikatorlari alohida yuritiladi.</a:t>
            </a:r>
          </a:p>
          <a:p/>
          <a:p>
            <a:r>
              <a:t>Ilovaga uzoq muddatli administrator kaliti berish o‘rniga ish roli biriktiriladi. Siyosat tegishli bucket yoki bazadagi kerakli amallar bilan cheklanadi. Kirish muntazam qayta ko‘rib chiqiladi.</a:t>
            </a:r>
          </a:p>
          <a:p/>
          <a:p>
            <a:r>
              <a:t>Universitet misolida buni quyidagicha tasavvur qilamiz. Video yuklash xizmati faqat ma’lum bucket ga obyekt yozadi, foydalanuvchilarni boshqara olmaydi. Bu misolda texnik atama real vazifa bilan bog‘lanadi: resursning nomini emas, nima uchun tanlanganini tushunish muhim.</a:t>
            </a:r>
          </a:p>
          <a:p/>
          <a:p>
            <a:r>
              <a:t>E’tibor beradigan chegara ham bor. Administrator huquqini barcha dasturlarga berish ishni tezlashtirgandek ko‘rinsa ham, buzilish oqibatini kattalashtiradi.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 shifrlash tarmoq orqali uzatilayotgan ma’lumotni, at-rest shifrlash esa saqlashdagi ma’lumotni himoyalaydi. Kalitlarni saqlash, aylantirish va ulardan foydalanish ruxsati xavfsizlikning muhim qismidir.</a:t>
            </a:r>
          </a:p>
          <a:p/>
          <a:p>
            <a:r>
              <a:t>TLS ulanish uchun ishlatiladi. Saqlash shifrlashi provayder yoki mijoz boshqaradigan kalitlar bilan bajarilishi mumkin. Sirlar kod va image ga yozilmasdan alohida boshqariladi.</a:t>
            </a:r>
          </a:p>
          <a:p/>
          <a:p>
            <a:r>
              <a:t>Universitet misolida buni quyidagicha tasavvur qilamiz. Baza shifrlangan diskda turadi, ilova bazaga TLS bilan ulanadi, sir esa maxsus secret manager orqali olinadi. Bu misolda texnik atama real vazifa bilan bog‘lanadi: resursning nomini emas, nima uchun tanlanganini tushunish muhim.</a:t>
            </a:r>
          </a:p>
          <a:p/>
          <a:p>
            <a:r>
              <a:t>E’tibor beradigan chegara ham bor. Shifrlash barcha ruxsati bor hisoblarning noto‘g‘ri foydalanishiga qarshi avtomatik himoya bermaydi.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hech kimga mutlaqo ishonmaslik shiori emas. U kirishni identifikator, qurilma, resurs va vaziyat asosida tekshirishni anglatadi. Ichki tarmoqdagi so‘rov ham tekshiruvdan o‘tishi kerak.</a:t>
            </a:r>
          </a:p>
          <a:p/>
          <a:p>
            <a:r>
              <a:t>Har bir xizmatga tegishli identifikator beriladi. Ruxsat cheklanadi, ulanishlar nazorat qilinadi va xavf belgilariga qarab siyosat qo‘llanadi. Doimiy audit o‘zgarishlarni kuzatadi.</a:t>
            </a:r>
          </a:p>
          <a:p/>
          <a:p>
            <a:r>
              <a:t>Universitet misolida buni quyidagicha tasavvur qilamiz. Portalning ichki hisobot xizmati bazaga faqat kerakli jadvalni o‘qish vakolati bilan ulanadi. Bu misolda texnik atama real vazifa bilan bog‘lanadi: resursning nomini emas, nima uchun tanlanganini tushunish muhim.</a:t>
            </a:r>
          </a:p>
          <a:p/>
          <a:p>
            <a:r>
              <a:t>E’tibor beradigan chegara ham bor. Zero Trust bitta mahsulotni sotib olish bilan to‘liq joriy qilinmaydi; bu arxitektura va boshqaruv yondashuvidir.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Provayder odatda ma’lumotlar markazi, uskuna va xizmat platformasining tegishli qismini himoya qiladi. Mijoz hisoblar, ma’lumotlar, ruxsatlar va tanlangan modelga qarab operatsion tizim uchun javob beradi. Chegara aniq xizmat shartlariga bog‘liq.</a:t>
            </a:r>
          </a:p>
          <a:p/>
          <a:p>
            <a:r>
              <a:t>IaaS da operatsion tizim yangilanishi ko‘pincha mijozda qoladi. Boshqariladigan xizmatda bu ishning bir qismi provayderga o‘tadi. Audit va hodisaga javob rejasi ikkala tomonni hisobga oladi.</a:t>
            </a:r>
          </a:p>
          <a:p/>
          <a:p>
            <a:r>
              <a:t>Universitet misolida buni quyidagicha tasavvur qilamiz. Provayder server binosini himoya qilsa ham, universitet ommaga ochib qo‘ygan maxfiy bucket uchun ruxsatni o‘zi to‘g‘rilashi kerak. Bu misolda texnik atama real vazifa bilan bog‘lanadi: resursning nomini emas, nima uchun tanlanganini tushunish muhim.</a:t>
            </a:r>
          </a:p>
          <a:p/>
          <a:p>
            <a:r>
              <a:t>E’tibor beradigan chegara ham bor. Bulutga ko‘chirish xavfsizlik vazifalarini butunlay topshirish degani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«Identifikator» bilan «Autentifikatsiya» o‘rtasida sxemada bog‘lanish ko‘rsatilgan. «Autentifikatsiya» bilan «IAM / avtorizatsiya» o‘rtasida sxemada bog‘lanish ko‘rsatilgan. «IAM / avtorizatsiya» bilan «Ruxsatli resurs» o‘rtasida sxemada bog‘lanish ko‘rsatilgan. «IAM / avtorizatsiya» bilan «Audit jurnali» o‘rtasida sxemada bog‘lanish ko‘rsatilgan. «Ruxsatli resurs» bilan «Audit jurnali» o‘rtasida sxemada bog‘lanish ko‘rsatilgan.</a:t>
            </a:r>
          </a:p>
          <a:p/>
          <a:p>
            <a:r>
              <a:t>Bu bog‘lanishlarni barcha xizmatlarda bir xil buyruq yoki bir xil fizik kabel deb tushunmaymiz. Ayrim o‘qlar bajarilish ketma-ketligini, ayrimlari resursni boshqarish yoki unga kirish aloqasini anglatadi. Foydalanuvchi login va ikkinchi omil bilan tasdiqlanadi. Keyingi har bir muhim so‘rovda uning roli va resursga oid ruxsati tekshiriladi.</a:t>
            </a:r>
          </a:p>
          <a:p/>
          <a:p>
            <a:r>
              <a:t>Sxemaning asosiy foydasi mas’uliyatlarni ajratib ko‘rsatishdir. Portalning ichki hisobot xizmati bazaga faqat kerakli jadvalni o‘qish vakolati bilan ulanadi.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Talaba faqat o‘z bahosini ko‘rishi, o‘qituvchi esa o‘z fanidagi baholarni kiritishi kerak. Bulut xavfsizligi serverni himoyalashdan tashqari aynan shunday aniq ruxsat chegaralarini ham talab qiladi.</a:t>
            </a:r>
          </a:p>
          <a:p/>
          <a:p>
            <a:r>
              <a:t>Avval ehtiyoj aniqlanadi: kim tizimdan foydalanadi, qaysi ma’lumot bilan ishlanadi va qanday natija kutiladi. Baholar yashirin saqlanishi, faqat ruxsatli o‘qituvchi tomonidan o‘zgartirilishi va talabaga vaqtida ko‘rinishi kerak. Keyin texnik qismlar shu talabga mos tanlanadi. Video yuklash xizmati faqat ma’lum bucket ga obyekt yozadi, foydalanuvchilarni boshqara olmaydi.</a:t>
            </a:r>
          </a:p>
          <a:p/>
          <a:p>
            <a:r>
              <a:t>Ishlash jarayonida faqat muvaffaqiyatli holat emas, xato va cheklovlar ham hisobga olinadi. Shifrlash barcha ruxsati bor hisoblarning noto‘g‘ri foydalanishiga qarshi avtomatik himoya bermaydi. Shu sababli jamoa talabni, ruxsatni va nosozlikdagi xatti-harakatni oldindan belgilaydi. Provayder server binosini himoya qilsa ham, universitet ommaga ochib qo‘ygan maxfiy bucket uchun ruxsatni o‘zi to‘g‘rilashi kerak.</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Xavfsizlik faqat antivirus yoki kuchli parol bilan tugamaydi. To‘g‘ri talqin quyidagicha: Maxfiylik ma’lumotni faqat tegishli odamlar ko‘rishini anglatadi. Yaxlitlik ruxsatsiz yoki tasodifiy o‘zgarishdan himoyalashdir. Mavjudlik esa tizimdan kerakli paytda foydalanish imkoniyatidir. Ular bir-biri bilan bog‘liq.</a:t>
            </a:r>
          </a:p>
          <a:p/>
          <a:p>
            <a:r>
              <a:t>2. Shifrlash barcha ruxsati bor hisoblarning noto‘g‘ri foydalanishiga qarshi avtomatik himoya bermaydi. To‘g‘ri talqin quyidagicha: Transit shifrlash tarmoq orqali uzatilayotgan ma’lumotni, at-rest shifrlash esa saqlashdagi ma’lumotni himoyalaydi. Kalitlarni saqlash, aylantirish va ulardan foydalanish ruxsati xavfsizlikning muhim qismidir.</a:t>
            </a:r>
          </a:p>
          <a:p/>
          <a:p>
            <a:r>
              <a:t>3. Bulutga ko‘chirish xavfsizlik vazifalarini butunlay topshirish degani emas. To‘g‘ri talqin quyidagicha: Provayder odatda ma’lumotlar markazi, uskuna va xizmat platformasining tegishli qismini himoya qiladi. Mijoz hisoblar, ma’lumotlar, ruxsatlar va tanlangan modelga qarab operatsion tizim uchun javob beradi. Chegara aniq xizmat shartlariga bog‘liq.</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Identifikatsiya, ruxsat, shifrlash va umumiy mas’uliyat — mavzuning umumiy mazmunini ifodalaydi.</a:t>
            </a:r>
          </a:p>
          <a:p/>
          <a:p>
            <a:r>
              <a:t>Asosiy tayanch fikr: Maxfiylik • yaxlitlik • mavjudlik. Aktivlar, tahdidlar va ehtimoliy oqibatlar aniqlanadi. Keyin xavfni kamaytiradigan nazoratlar tanlanadi. Barcha nazoratlar real xavfga mos va kuzatiladigan bo‘lishi kerak.</a:t>
            </a:r>
          </a:p>
          <a:p/>
          <a:p>
            <a:r>
              <a:t>Asosiy tayanch fikr: Faqat kerakli amal, kerakli resurs, kerakli muddat. Ilovaga uzoq muddatli administrator kaliti berish o‘rniga ish roli biriktiriladi. Siyosat tegishli bucket yoki bazadagi kerakli amallar bilan cheklanadi. Kirish muntazam qayta ko‘rib chiqiladi.</a:t>
            </a:r>
          </a:p>
          <a:p/>
          <a:p>
            <a:r>
              <a:t>Asosiy tayanch fikr: Tarmoq ichidalikning o‘zi ishonch sababi emas. Har bir xizmatga tegishli identifikator beriladi. Ruxsat cheklanadi, ulanishlar nazorat qilinadi va xavf belgilariga qarab siyosat qo‘llanadi. Doimiy audit o‘zgarishlarni kuzatadi.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777240" y="658368"/>
            <a:ext cx="1005840" cy="1126540"/>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048816" y="1181404"/>
            <a:ext cx="170993" cy="181052"/>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219809" y="990295"/>
            <a:ext cx="321869" cy="372161"/>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984248" y="969264"/>
            <a:ext cx="8961120" cy="411480"/>
          </a:xfrm>
          <a:prstGeom prst="rect">
            <a:avLst/>
          </a:prstGeom>
          <a:noFill/>
        </p:spPr>
        <p:txBody>
          <a:bodyPr wrap="square" lIns="27432" rIns="27432" tIns="18288" bIns="0">
            <a:spAutoFit/>
          </a:bodyPr>
          <a:lstStyle/>
          <a:p>
            <a:pPr>
              <a:spcAft>
                <a:spcPts val="800"/>
              </a:spcAft>
              <a:defRPr sz="1600" b="1">
                <a:solidFill>
                  <a:srgbClr val="076F87"/>
                </a:solidFill>
                <a:latin typeface="DejaVu Sans"/>
              </a:defRPr>
            </a:pPr>
            <a:r>
              <a:t>11  /  BULUTLI AXBOROT XAVFSIZLIGI</a:t>
            </a:r>
          </a:p>
        </p:txBody>
      </p:sp>
      <p:sp>
        <p:nvSpPr>
          <p:cNvPr id="7" name="TextBox 6"/>
          <p:cNvSpPr txBox="1"/>
          <p:nvPr/>
        </p:nvSpPr>
        <p:spPr>
          <a:xfrm>
            <a:off x="777240" y="2011680"/>
            <a:ext cx="5715000" cy="1737360"/>
          </a:xfrm>
          <a:prstGeom prst="rect">
            <a:avLst/>
          </a:prstGeom>
          <a:noFill/>
        </p:spPr>
        <p:txBody>
          <a:bodyPr wrap="square" lIns="27432" rIns="27432" tIns="18288" bIns="0">
            <a:spAutoFit/>
          </a:bodyPr>
          <a:lstStyle/>
          <a:p>
            <a:pPr>
              <a:spcAft>
                <a:spcPts val="800"/>
              </a:spcAft>
              <a:defRPr sz="3500" b="1">
                <a:solidFill>
                  <a:srgbClr val="173A46"/>
                </a:solidFill>
                <a:latin typeface="DejaVu Sans"/>
              </a:defRPr>
            </a:pPr>
            <a:r>
              <a:t>Har bir kirishning</a:t>
            </a:r>
          </a:p>
          <a:p>
            <a:pPr>
              <a:spcAft>
                <a:spcPts val="800"/>
              </a:spcAft>
              <a:defRPr sz="3500" b="1">
                <a:solidFill>
                  <a:srgbClr val="173A46"/>
                </a:solidFill>
                <a:latin typeface="DejaVu Sans"/>
              </a:defRPr>
            </a:pPr>
            <a:r>
              <a:t>o‘z chegarasi bor</a:t>
            </a:r>
          </a:p>
        </p:txBody>
      </p:sp>
      <p:sp>
        <p:nvSpPr>
          <p:cNvPr id="8" name="TextBox 7"/>
          <p:cNvSpPr txBox="1"/>
          <p:nvPr/>
        </p:nvSpPr>
        <p:spPr>
          <a:xfrm>
            <a:off x="795528" y="3977639"/>
            <a:ext cx="5394960" cy="1097280"/>
          </a:xfrm>
          <a:prstGeom prst="rect">
            <a:avLst/>
          </a:prstGeom>
          <a:noFill/>
        </p:spPr>
        <p:txBody>
          <a:bodyPr wrap="square" lIns="27432" rIns="27432" tIns="18288" bIns="0">
            <a:spAutoFit/>
          </a:bodyPr>
          <a:lstStyle/>
          <a:p>
            <a:pPr>
              <a:spcAft>
                <a:spcPts val="800"/>
              </a:spcAft>
              <a:defRPr sz="2400" b="0">
                <a:solidFill>
                  <a:srgbClr val="173A46"/>
                </a:solidFill>
                <a:latin typeface="DejaVu Sans"/>
              </a:defRPr>
            </a:pPr>
            <a:r>
              <a:t>Kimlik, ruxsat, shifrlash va mas’uliyat</a:t>
            </a:r>
          </a:p>
        </p:txBody>
      </p:sp>
      <p:sp>
        <p:nvSpPr>
          <p:cNvPr id="9" name="Rounded Rectangle 8"/>
          <p:cNvSpPr/>
          <p:nvPr/>
        </p:nvSpPr>
        <p:spPr>
          <a:xfrm>
            <a:off x="7040880" y="1874519"/>
            <a:ext cx="4407408" cy="3419856"/>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11_keycloak.png"/>
          <p:cNvPicPr>
            <a:picLocks noChangeAspect="1"/>
          </p:cNvPicPr>
          <p:nvPr/>
        </p:nvPicPr>
        <p:blipFill>
          <a:blip r:embed="rId2"/>
          <a:stretch>
            <a:fillRect/>
          </a:stretch>
        </p:blipFill>
        <p:spPr>
          <a:xfrm>
            <a:off x="7651802" y="2103120"/>
            <a:ext cx="3185563" cy="2880360"/>
          </a:xfrm>
          <a:prstGeom prst="rect">
            <a:avLst/>
          </a:prstGeom>
        </p:spPr>
      </p:pic>
      <p:sp>
        <p:nvSpPr>
          <p:cNvPr id="11" name="Rounded Rectangle 10"/>
          <p:cNvSpPr/>
          <p:nvPr/>
        </p:nvSpPr>
        <p:spPr>
          <a:xfrm>
            <a:off x="804672" y="5669280"/>
            <a:ext cx="1783080" cy="347472"/>
          </a:xfrm>
          <a:prstGeom prst="roundRect">
            <a:avLst>
              <a:gd name="adj" fmla="val 8000"/>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5715000"/>
            <a:ext cx="1636776"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KIMLIK</a:t>
            </a:r>
          </a:p>
        </p:txBody>
      </p:sp>
      <p:sp>
        <p:nvSpPr>
          <p:cNvPr id="13" name="Rounded Rectangle 12"/>
          <p:cNvSpPr/>
          <p:nvPr/>
        </p:nvSpPr>
        <p:spPr>
          <a:xfrm>
            <a:off x="2724912" y="5669280"/>
            <a:ext cx="1783080" cy="347472"/>
          </a:xfrm>
          <a:prstGeom prst="roundRect">
            <a:avLst>
              <a:gd name="adj" fmla="val 8000"/>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5715000"/>
            <a:ext cx="1636776"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AMAL</a:t>
            </a:r>
          </a:p>
        </p:txBody>
      </p:sp>
      <p:sp>
        <p:nvSpPr>
          <p:cNvPr id="15" name="Rounded Rectangle 14"/>
          <p:cNvSpPr/>
          <p:nvPr/>
        </p:nvSpPr>
        <p:spPr>
          <a:xfrm>
            <a:off x="4645152" y="5669280"/>
            <a:ext cx="1783080" cy="347472"/>
          </a:xfrm>
          <a:prstGeom prst="roundRect">
            <a:avLst>
              <a:gd name="adj" fmla="val 8000"/>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18304" y="5715000"/>
            <a:ext cx="1636776" cy="274320"/>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RESURS</a:t>
            </a:r>
          </a:p>
        </p:txBody>
      </p:sp>
      <p:sp>
        <p:nvSpPr>
          <p:cNvPr id="17" name="TextBox 1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8" name="TextBox 1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Ma’ruza yo‘l xaritasi</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Olti tushuncha — bitta yaxlit tizim</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02 / 13</a:t>
            </a:r>
          </a:p>
        </p:txBody>
      </p:sp>
      <p:sp>
        <p:nvSpPr>
          <p:cNvPr id="12" name="Oval 11"/>
          <p:cNvSpPr/>
          <p:nvPr/>
        </p:nvSpPr>
        <p:spPr>
          <a:xfrm>
            <a:off x="768096" y="2596896"/>
            <a:ext cx="219456" cy="219456"/>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2542032"/>
            <a:ext cx="9509760" cy="475488"/>
          </a:xfrm>
          <a:prstGeom prst="rect">
            <a:avLst/>
          </a:prstGeom>
          <a:noFill/>
        </p:spPr>
        <p:txBody>
          <a:bodyPr wrap="square" lIns="27432" rIns="27432" tIns="18288" bIns="0">
            <a:spAutoFit/>
          </a:bodyPr>
          <a:lstStyle/>
          <a:p>
            <a:pPr>
              <a:spcAft>
                <a:spcPts val="800"/>
              </a:spcAft>
              <a:defRPr sz="2000" b="1">
                <a:solidFill>
                  <a:srgbClr val="173A46"/>
                </a:solidFill>
                <a:latin typeface="DejaVu Sans"/>
              </a:defRPr>
            </a:pPr>
            <a:r>
              <a:t>01   Xavfsizlikning uch asosiy maqsadi</a:t>
            </a:r>
          </a:p>
        </p:txBody>
      </p:sp>
      <p:sp>
        <p:nvSpPr>
          <p:cNvPr id="14" name="Oval 13"/>
          <p:cNvSpPr/>
          <p:nvPr/>
        </p:nvSpPr>
        <p:spPr>
          <a:xfrm>
            <a:off x="768096" y="3118103"/>
            <a:ext cx="219456" cy="219456"/>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3063239"/>
            <a:ext cx="9509760" cy="475488"/>
          </a:xfrm>
          <a:prstGeom prst="rect">
            <a:avLst/>
          </a:prstGeom>
          <a:noFill/>
        </p:spPr>
        <p:txBody>
          <a:bodyPr wrap="square" lIns="27432" rIns="27432" tIns="18288" bIns="0">
            <a:spAutoFit/>
          </a:bodyPr>
          <a:lstStyle/>
          <a:p>
            <a:pPr>
              <a:spcAft>
                <a:spcPts val="800"/>
              </a:spcAft>
              <a:defRPr sz="2000" b="1">
                <a:solidFill>
                  <a:srgbClr val="173A46"/>
                </a:solidFill>
                <a:latin typeface="DejaVu Sans"/>
              </a:defRPr>
            </a:pPr>
            <a:r>
              <a:t>02   Autentifikatsiya va avtorizatsiya</a:t>
            </a:r>
          </a:p>
        </p:txBody>
      </p:sp>
      <p:sp>
        <p:nvSpPr>
          <p:cNvPr id="16" name="Oval 15"/>
          <p:cNvSpPr/>
          <p:nvPr/>
        </p:nvSpPr>
        <p:spPr>
          <a:xfrm>
            <a:off x="768096" y="3639311"/>
            <a:ext cx="219456" cy="219456"/>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584447"/>
            <a:ext cx="9509760" cy="475488"/>
          </a:xfrm>
          <a:prstGeom prst="rect">
            <a:avLst/>
          </a:prstGeom>
          <a:noFill/>
        </p:spPr>
        <p:txBody>
          <a:bodyPr wrap="square" lIns="27432" rIns="27432" tIns="18288" bIns="0">
            <a:spAutoFit/>
          </a:bodyPr>
          <a:lstStyle/>
          <a:p>
            <a:pPr>
              <a:spcAft>
                <a:spcPts val="800"/>
              </a:spcAft>
              <a:defRPr sz="2000" b="1">
                <a:solidFill>
                  <a:srgbClr val="173A46"/>
                </a:solidFill>
                <a:latin typeface="DejaVu Sans"/>
              </a:defRPr>
            </a:pPr>
            <a:r>
              <a:t>03   IAM va eng kam vakolat</a:t>
            </a:r>
          </a:p>
        </p:txBody>
      </p:sp>
      <p:sp>
        <p:nvSpPr>
          <p:cNvPr id="18" name="Oval 17"/>
          <p:cNvSpPr/>
          <p:nvPr/>
        </p:nvSpPr>
        <p:spPr>
          <a:xfrm>
            <a:off x="768096" y="4160520"/>
            <a:ext cx="219456" cy="219456"/>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105656"/>
            <a:ext cx="9509760" cy="475488"/>
          </a:xfrm>
          <a:prstGeom prst="rect">
            <a:avLst/>
          </a:prstGeom>
          <a:noFill/>
        </p:spPr>
        <p:txBody>
          <a:bodyPr wrap="square" lIns="27432" rIns="27432" tIns="18288" bIns="0">
            <a:spAutoFit/>
          </a:bodyPr>
          <a:lstStyle/>
          <a:p>
            <a:pPr>
              <a:spcAft>
                <a:spcPts val="800"/>
              </a:spcAft>
              <a:defRPr sz="2000" b="1">
                <a:solidFill>
                  <a:srgbClr val="173A46"/>
                </a:solidFill>
                <a:latin typeface="DejaVu Sans"/>
              </a:defRPr>
            </a:pPr>
            <a:r>
              <a:t>04   Shifrlash va kalitlarni boshqarish</a:t>
            </a:r>
          </a:p>
        </p:txBody>
      </p:sp>
      <p:sp>
        <p:nvSpPr>
          <p:cNvPr id="20" name="Oval 19"/>
          <p:cNvSpPr/>
          <p:nvPr/>
        </p:nvSpPr>
        <p:spPr>
          <a:xfrm>
            <a:off x="768096" y="4681727"/>
            <a:ext cx="219456" cy="219456"/>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626864"/>
            <a:ext cx="9509760" cy="475488"/>
          </a:xfrm>
          <a:prstGeom prst="rect">
            <a:avLst/>
          </a:prstGeom>
          <a:noFill/>
        </p:spPr>
        <p:txBody>
          <a:bodyPr wrap="square" lIns="27432" rIns="27432" tIns="18288" bIns="0">
            <a:spAutoFit/>
          </a:bodyPr>
          <a:lstStyle/>
          <a:p>
            <a:pPr>
              <a:spcAft>
                <a:spcPts val="800"/>
              </a:spcAft>
              <a:defRPr sz="2000" b="1">
                <a:solidFill>
                  <a:srgbClr val="173A46"/>
                </a:solidFill>
                <a:latin typeface="DejaVu Sans"/>
              </a:defRPr>
            </a:pPr>
            <a:r>
              <a:t>05   Zero Trust modeli</a:t>
            </a:r>
          </a:p>
        </p:txBody>
      </p:sp>
      <p:sp>
        <p:nvSpPr>
          <p:cNvPr id="22" name="Oval 21"/>
          <p:cNvSpPr/>
          <p:nvPr/>
        </p:nvSpPr>
        <p:spPr>
          <a:xfrm>
            <a:off x="768096" y="5202936"/>
            <a:ext cx="219456" cy="219456"/>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148072"/>
            <a:ext cx="9509760" cy="475488"/>
          </a:xfrm>
          <a:prstGeom prst="rect">
            <a:avLst/>
          </a:prstGeom>
          <a:noFill/>
        </p:spPr>
        <p:txBody>
          <a:bodyPr wrap="square" lIns="27432" rIns="27432" tIns="18288" bIns="0">
            <a:spAutoFit/>
          </a:bodyPr>
          <a:lstStyle/>
          <a:p>
            <a:pPr>
              <a:spcAft>
                <a:spcPts val="800"/>
              </a:spcAft>
              <a:defRPr sz="2000" b="1">
                <a:solidFill>
                  <a:srgbClr val="173A46"/>
                </a:solidFill>
                <a:latin typeface="DejaVu Sans"/>
              </a:defRPr>
            </a:pPr>
            <a:r>
              <a:t>06   Shared Responsibility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Xavfsizlikning uch asosiy maqsadi</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Maxfiylik • yaxlitlik • mavjudlik.</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03 / 13</a:t>
            </a:r>
          </a:p>
        </p:txBody>
      </p:sp>
      <p:sp>
        <p:nvSpPr>
          <p:cNvPr id="12" name="Rounded Rectangle 11"/>
          <p:cNvSpPr/>
          <p:nvPr/>
        </p:nvSpPr>
        <p:spPr>
          <a:xfrm>
            <a:off x="777240" y="2651760"/>
            <a:ext cx="3154680" cy="713232"/>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688" y="2880360"/>
            <a:ext cx="201168" cy="20116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2816352"/>
            <a:ext cx="2468880" cy="457200"/>
          </a:xfrm>
          <a:prstGeom prst="rect">
            <a:avLst/>
          </a:prstGeom>
          <a:noFill/>
        </p:spPr>
        <p:txBody>
          <a:bodyPr wrap="square" lIns="27432" rIns="27432" tIns="18288" bIns="0">
            <a:spAutoFit/>
          </a:bodyPr>
          <a:lstStyle/>
          <a:p>
            <a:pPr>
              <a:spcAft>
                <a:spcPts val="800"/>
              </a:spcAft>
              <a:defRPr sz="1800" b="1">
                <a:solidFill>
                  <a:srgbClr val="173A46"/>
                </a:solidFill>
                <a:latin typeface="DejaVu Sans"/>
              </a:defRPr>
            </a:pPr>
            <a:r>
              <a:t>MAXFIYLIK</a:t>
            </a:r>
          </a:p>
        </p:txBody>
      </p:sp>
      <p:cxnSp>
        <p:nvCxnSpPr>
          <p:cNvPr id="15" name="Connector 14"/>
          <p:cNvCxnSpPr/>
          <p:nvPr/>
        </p:nvCxnSpPr>
        <p:spPr>
          <a:xfrm>
            <a:off x="1033271" y="3364991"/>
            <a:ext cx="0" cy="219457"/>
          </a:xfrm>
          <a:prstGeom prst="line">
            <a:avLst/>
          </a:prstGeom>
          <a:ln w="25400">
            <a:solidFill>
              <a:srgbClr val="076F8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3584448"/>
            <a:ext cx="3154680" cy="713232"/>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2688" y="3813048"/>
            <a:ext cx="201168" cy="20116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 y="3749039"/>
            <a:ext cx="2468880" cy="457200"/>
          </a:xfrm>
          <a:prstGeom prst="rect">
            <a:avLst/>
          </a:prstGeom>
          <a:noFill/>
        </p:spPr>
        <p:txBody>
          <a:bodyPr wrap="square" lIns="27432" rIns="27432" tIns="18288" bIns="0">
            <a:spAutoFit/>
          </a:bodyPr>
          <a:lstStyle/>
          <a:p>
            <a:pPr>
              <a:spcAft>
                <a:spcPts val="800"/>
              </a:spcAft>
              <a:defRPr sz="1800" b="1">
                <a:solidFill>
                  <a:srgbClr val="173A46"/>
                </a:solidFill>
                <a:latin typeface="DejaVu Sans"/>
              </a:defRPr>
            </a:pPr>
            <a:r>
              <a:t>YAXLITLIK</a:t>
            </a:r>
          </a:p>
        </p:txBody>
      </p:sp>
      <p:cxnSp>
        <p:nvCxnSpPr>
          <p:cNvPr id="19" name="Connector 18"/>
          <p:cNvCxnSpPr/>
          <p:nvPr/>
        </p:nvCxnSpPr>
        <p:spPr>
          <a:xfrm>
            <a:off x="1033271" y="4297680"/>
            <a:ext cx="0" cy="219456"/>
          </a:xfrm>
          <a:prstGeom prst="line">
            <a:avLst/>
          </a:prstGeom>
          <a:ln w="25400">
            <a:solidFill>
              <a:srgbClr val="076F87"/>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4517136"/>
            <a:ext cx="3154680" cy="713232"/>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 y="4745736"/>
            <a:ext cx="201168" cy="20116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8448" y="4681727"/>
            <a:ext cx="2468880" cy="457200"/>
          </a:xfrm>
          <a:prstGeom prst="rect">
            <a:avLst/>
          </a:prstGeom>
          <a:noFill/>
        </p:spPr>
        <p:txBody>
          <a:bodyPr wrap="square" lIns="27432" rIns="27432" tIns="18288" bIns="0">
            <a:spAutoFit/>
          </a:bodyPr>
          <a:lstStyle/>
          <a:p>
            <a:pPr>
              <a:spcAft>
                <a:spcPts val="800"/>
              </a:spcAft>
              <a:defRPr sz="1800" b="1">
                <a:solidFill>
                  <a:srgbClr val="173A46"/>
                </a:solidFill>
                <a:latin typeface="DejaVu Sans"/>
              </a:defRPr>
            </a:pPr>
            <a:r>
              <a:t>MAVJUDLIK</a:t>
            </a:r>
          </a:p>
        </p:txBody>
      </p:sp>
      <p:sp>
        <p:nvSpPr>
          <p:cNvPr id="23" name="TextBox 22"/>
          <p:cNvSpPr txBox="1"/>
          <p:nvPr/>
        </p:nvSpPr>
        <p:spPr>
          <a:xfrm>
            <a:off x="4389120" y="2624328"/>
            <a:ext cx="6949440" cy="1188720"/>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Maxfiylik — faqat tegishli odamlar ko‘radi. Yaxlitlik — o‘zgarish nazorat qilinadi.</a:t>
            </a:r>
          </a:p>
        </p:txBody>
      </p:sp>
      <p:sp>
        <p:nvSpPr>
          <p:cNvPr id="24" name="TextBox 23"/>
          <p:cNvSpPr txBox="1"/>
          <p:nvPr/>
        </p:nvSpPr>
        <p:spPr>
          <a:xfrm>
            <a:off x="4389120" y="4087368"/>
            <a:ext cx="6949440" cy="1627632"/>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Mavjudlik — tizimdan kerakli vaqtda foydalanish mumkin. Nazoratlar real xavfga mos tanlanadi.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Autentifikatsiya va avtorizatsiya</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Siz kimsiz? Sizga nima mumkin?</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04 / 13</a:t>
            </a:r>
          </a:p>
        </p:txBody>
      </p:sp>
      <p:sp>
        <p:nvSpPr>
          <p:cNvPr id="12" name="Rounded Rectangle 11"/>
          <p:cNvSpPr/>
          <p:nvPr/>
        </p:nvSpPr>
        <p:spPr>
          <a:xfrm>
            <a:off x="731520" y="2423160"/>
            <a:ext cx="5532120" cy="35661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33472"/>
            <a:ext cx="5166360" cy="1508760"/>
          </a:xfrm>
          <a:prstGeom prst="rect">
            <a:avLst/>
          </a:prstGeom>
          <a:noFill/>
        </p:spPr>
        <p:txBody>
          <a:bodyPr wrap="square" lIns="27432" rIns="27432" tIns="18288" bIns="0">
            <a:spAutoFit/>
          </a:bodyPr>
          <a:lstStyle/>
          <a:p>
            <a:pPr>
              <a:spcAft>
                <a:spcPts val="800"/>
              </a:spcAft>
              <a:defRPr sz="2100" b="1">
                <a:solidFill>
                  <a:srgbClr val="173A46"/>
                </a:solidFill>
                <a:latin typeface="DejaVu Sans"/>
              </a:defRPr>
            </a:pPr>
            <a:r>
              <a:t>Autentifikatsiya kimlikni tekshiradi. Avtorizatsiya shu kimlikka ruxsat etilgan amalni belgilaydi.</a:t>
            </a:r>
          </a:p>
        </p:txBody>
      </p:sp>
      <p:sp>
        <p:nvSpPr>
          <p:cNvPr id="14" name="TextBox 13"/>
          <p:cNvSpPr txBox="1"/>
          <p:nvPr/>
        </p:nvSpPr>
        <p:spPr>
          <a:xfrm>
            <a:off x="914400" y="4343400"/>
            <a:ext cx="5166360" cy="1371600"/>
          </a:xfrm>
          <a:prstGeom prst="rect">
            <a:avLst/>
          </a:prstGeom>
          <a:noFill/>
        </p:spPr>
        <p:txBody>
          <a:bodyPr wrap="square" lIns="27432" rIns="27432" tIns="18288" bIns="0">
            <a:spAutoFit/>
          </a:bodyPr>
          <a:lstStyle/>
          <a:p>
            <a:pPr>
              <a:spcAft>
                <a:spcPts val="800"/>
              </a:spcAft>
              <a:defRPr sz="2000" b="0">
                <a:solidFill>
                  <a:srgbClr val="173A46"/>
                </a:solidFill>
                <a:latin typeface="DejaVu Sans"/>
              </a:defRPr>
            </a:pPr>
            <a:r>
              <a:t>Login va ikkinchi omildan keyin har muhim so‘rovda resursga oid ruxsat tekshiriladi.</a:t>
            </a:r>
          </a:p>
        </p:txBody>
      </p:sp>
      <p:sp>
        <p:nvSpPr>
          <p:cNvPr id="15" name="Rounded Rectangle 14"/>
          <p:cNvSpPr/>
          <p:nvPr/>
        </p:nvSpPr>
        <p:spPr>
          <a:xfrm>
            <a:off x="7269480" y="2450592"/>
            <a:ext cx="4224528" cy="3584448"/>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11_keycloak.png"/>
          <p:cNvPicPr>
            <a:picLocks noChangeAspect="1"/>
          </p:cNvPicPr>
          <p:nvPr/>
        </p:nvPicPr>
        <p:blipFill>
          <a:blip r:embed="rId2"/>
          <a:stretch>
            <a:fillRect/>
          </a:stretch>
        </p:blipFill>
        <p:spPr>
          <a:xfrm>
            <a:off x="7940655" y="2651760"/>
            <a:ext cx="2882176" cy="2606040"/>
          </a:xfrm>
          <a:prstGeom prst="rect">
            <a:avLst/>
          </a:prstGeom>
        </p:spPr>
      </p:pic>
      <p:sp>
        <p:nvSpPr>
          <p:cNvPr id="17" name="TextBox 16"/>
          <p:cNvSpPr txBox="1"/>
          <p:nvPr/>
        </p:nvSpPr>
        <p:spPr>
          <a:xfrm>
            <a:off x="7443216" y="5413248"/>
            <a:ext cx="3840480" cy="493776"/>
          </a:xfrm>
          <a:prstGeom prst="rect">
            <a:avLst/>
          </a:prstGeom>
          <a:noFill/>
        </p:spPr>
        <p:txBody>
          <a:bodyPr wrap="square" lIns="27432" rIns="27432" tIns="18288" bIns="0">
            <a:spAutoFit/>
          </a:bodyPr>
          <a:lstStyle/>
          <a:p>
            <a:pPr>
              <a:spcAft>
                <a:spcPts val="800"/>
              </a:spcAft>
              <a:defRPr sz="1300" b="1">
                <a:solidFill>
                  <a:srgbClr val="076F87"/>
                </a:solidFill>
                <a:latin typeface="DejaVu Sans"/>
              </a:defRPr>
            </a:pPr>
            <a:r>
              <a:t>Keycloak — identifikatsiya xizmati misoli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IAM va eng kam vakolat</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Faqat kerakli amal, kerakli resurs, kerakli muddat.</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05 / 13</a:t>
            </a:r>
          </a:p>
        </p:txBody>
      </p:sp>
      <p:sp>
        <p:nvSpPr>
          <p:cNvPr id="12" name="Pentagon 11"/>
          <p:cNvSpPr/>
          <p:nvPr/>
        </p:nvSpPr>
        <p:spPr>
          <a:xfrm rot="10800000">
            <a:off x="822960" y="2633472"/>
            <a:ext cx="685800" cy="768096"/>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8126" y="2990088"/>
            <a:ext cx="116586" cy="12344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24712" y="2859786"/>
            <a:ext cx="219456" cy="25374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74519" y="2606040"/>
            <a:ext cx="9235440" cy="1005840"/>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IAM foydalanuvchi, guruh, rol va siyosatlar orqali kirishni boshqaradi.</a:t>
            </a:r>
          </a:p>
        </p:txBody>
      </p:sp>
      <p:sp>
        <p:nvSpPr>
          <p:cNvPr id="16" name="Rounded Rectangle 15"/>
          <p:cNvSpPr/>
          <p:nvPr/>
        </p:nvSpPr>
        <p:spPr>
          <a:xfrm>
            <a:off x="813816" y="3867912"/>
            <a:ext cx="10515600" cy="2048256"/>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4105656"/>
            <a:ext cx="10021824" cy="1499616"/>
          </a:xfrm>
          <a:prstGeom prst="rect">
            <a:avLst/>
          </a:prstGeom>
          <a:noFill/>
        </p:spPr>
        <p:txBody>
          <a:bodyPr wrap="square" lIns="27432" rIns="27432" tIns="18288" bIns="0">
            <a:spAutoFit/>
          </a:bodyPr>
          <a:lstStyle/>
          <a:p>
            <a:pPr>
              <a:spcAft>
                <a:spcPts val="800"/>
              </a:spcAft>
              <a:defRPr sz="2100" b="0">
                <a:solidFill>
                  <a:srgbClr val="173A46"/>
                </a:solidFill>
                <a:latin typeface="DejaVu Sans"/>
              </a:defRPr>
            </a:pPr>
            <a:r>
              <a:t>Faqat kerakli amal, kerakli resurs va kerakli muddat. Ilovaga mos ish roli biriktiriladi.</a:t>
            </a:r>
          </a:p>
          <a:p>
            <a:pPr>
              <a:spcAft>
                <a:spcPts val="800"/>
              </a:spcAft>
              <a:defRPr sz="2100" b="0">
                <a:solidFill>
                  <a:srgbClr val="173A46"/>
                </a:solidFill>
                <a:latin typeface="DejaVu Sans"/>
              </a:defRPr>
            </a:pPr>
            <a:r>
              <a:t>Video yuklash xizmati tegishli bucket ga yozadi; u foydalanuvchilarni boshqara olmaydi.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Shifrlash va kalitlarni boshqarish</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Uzatilayotgan va saqlanayotgan ma’lumotni himoyalash.</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06 / 13</a:t>
            </a:r>
          </a:p>
        </p:txBody>
      </p:sp>
      <p:sp>
        <p:nvSpPr>
          <p:cNvPr id="12" name="Rounded Rectangle 11"/>
          <p:cNvSpPr/>
          <p:nvPr/>
        </p:nvSpPr>
        <p:spPr>
          <a:xfrm>
            <a:off x="777240" y="2651760"/>
            <a:ext cx="3154680" cy="713232"/>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688" y="2880360"/>
            <a:ext cx="201168" cy="20116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2816352"/>
            <a:ext cx="2468880" cy="457200"/>
          </a:xfrm>
          <a:prstGeom prst="rect">
            <a:avLst/>
          </a:prstGeom>
          <a:noFill/>
        </p:spPr>
        <p:txBody>
          <a:bodyPr wrap="square" lIns="27432" rIns="27432" tIns="18288" bIns="0">
            <a:spAutoFit/>
          </a:bodyPr>
          <a:lstStyle/>
          <a:p>
            <a:pPr>
              <a:spcAft>
                <a:spcPts val="800"/>
              </a:spcAft>
              <a:defRPr sz="1800" b="1">
                <a:solidFill>
                  <a:srgbClr val="173A46"/>
                </a:solidFill>
                <a:latin typeface="DejaVu Sans"/>
              </a:defRPr>
            </a:pPr>
            <a:r>
              <a:t>TLS · uzatish</a:t>
            </a:r>
          </a:p>
        </p:txBody>
      </p:sp>
      <p:cxnSp>
        <p:nvCxnSpPr>
          <p:cNvPr id="15" name="Connector 14"/>
          <p:cNvCxnSpPr/>
          <p:nvPr/>
        </p:nvCxnSpPr>
        <p:spPr>
          <a:xfrm>
            <a:off x="1033271" y="3364991"/>
            <a:ext cx="0" cy="219457"/>
          </a:xfrm>
          <a:prstGeom prst="line">
            <a:avLst/>
          </a:prstGeom>
          <a:ln w="25400">
            <a:solidFill>
              <a:srgbClr val="076F8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3584448"/>
            <a:ext cx="3154680" cy="713232"/>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2688" y="3813048"/>
            <a:ext cx="201168" cy="20116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 y="3749039"/>
            <a:ext cx="2468880" cy="457200"/>
          </a:xfrm>
          <a:prstGeom prst="rect">
            <a:avLst/>
          </a:prstGeom>
          <a:noFill/>
        </p:spPr>
        <p:txBody>
          <a:bodyPr wrap="square" lIns="27432" rIns="27432" tIns="18288" bIns="0">
            <a:spAutoFit/>
          </a:bodyPr>
          <a:lstStyle/>
          <a:p>
            <a:pPr>
              <a:spcAft>
                <a:spcPts val="800"/>
              </a:spcAft>
              <a:defRPr sz="1800" b="1">
                <a:solidFill>
                  <a:srgbClr val="173A46"/>
                </a:solidFill>
                <a:latin typeface="DejaVu Sans"/>
              </a:defRPr>
            </a:pPr>
            <a:r>
              <a:t>Kalit nazorati</a:t>
            </a:r>
          </a:p>
        </p:txBody>
      </p:sp>
      <p:cxnSp>
        <p:nvCxnSpPr>
          <p:cNvPr id="19" name="Connector 18"/>
          <p:cNvCxnSpPr/>
          <p:nvPr/>
        </p:nvCxnSpPr>
        <p:spPr>
          <a:xfrm>
            <a:off x="1033271" y="4297680"/>
            <a:ext cx="0" cy="219456"/>
          </a:xfrm>
          <a:prstGeom prst="line">
            <a:avLst/>
          </a:prstGeom>
          <a:ln w="25400">
            <a:solidFill>
              <a:srgbClr val="076F87"/>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4517136"/>
            <a:ext cx="3154680" cy="713232"/>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 y="4745736"/>
            <a:ext cx="201168" cy="20116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8448" y="4681727"/>
            <a:ext cx="2468880" cy="457200"/>
          </a:xfrm>
          <a:prstGeom prst="rect">
            <a:avLst/>
          </a:prstGeom>
          <a:noFill/>
        </p:spPr>
        <p:txBody>
          <a:bodyPr wrap="square" lIns="27432" rIns="27432" tIns="18288" bIns="0">
            <a:spAutoFit/>
          </a:bodyPr>
          <a:lstStyle/>
          <a:p>
            <a:pPr>
              <a:spcAft>
                <a:spcPts val="800"/>
              </a:spcAft>
              <a:defRPr sz="1800" b="1">
                <a:solidFill>
                  <a:srgbClr val="173A46"/>
                </a:solidFill>
                <a:latin typeface="DejaVu Sans"/>
              </a:defRPr>
            </a:pPr>
            <a:r>
              <a:t>At-rest · saqlash</a:t>
            </a:r>
          </a:p>
        </p:txBody>
      </p:sp>
      <p:sp>
        <p:nvSpPr>
          <p:cNvPr id="23" name="TextBox 22"/>
          <p:cNvSpPr txBox="1"/>
          <p:nvPr/>
        </p:nvSpPr>
        <p:spPr>
          <a:xfrm>
            <a:off x="4389120" y="2624328"/>
            <a:ext cx="6949440" cy="1188720"/>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Transit shifrlash — uzatishdagi himoya. At-rest shifrlash — saqlashdagi himoya.</a:t>
            </a:r>
          </a:p>
        </p:txBody>
      </p:sp>
      <p:sp>
        <p:nvSpPr>
          <p:cNvPr id="24" name="TextBox 23"/>
          <p:cNvSpPr txBox="1"/>
          <p:nvPr/>
        </p:nvSpPr>
        <p:spPr>
          <a:xfrm>
            <a:off x="4389120" y="4087368"/>
            <a:ext cx="6949440" cy="1627632"/>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TLS va boshqariladigan kalitlar ishlatiladi. Sirlar kod yoki image ichiga yozilmaydi.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Zero Trust modeli</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Tarmoq ichidalikning o‘zi ishonch sababi emas.</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07 / 13</a:t>
            </a:r>
          </a:p>
        </p:txBody>
      </p:sp>
      <p:sp>
        <p:nvSpPr>
          <p:cNvPr id="12" name="Pentagon 11"/>
          <p:cNvSpPr/>
          <p:nvPr/>
        </p:nvSpPr>
        <p:spPr>
          <a:xfrm rot="10800000">
            <a:off x="822960" y="2633472"/>
            <a:ext cx="685800" cy="768096"/>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8126" y="2990088"/>
            <a:ext cx="116586" cy="12344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24712" y="2859786"/>
            <a:ext cx="219456" cy="25374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74519" y="2606040"/>
            <a:ext cx="9235440" cy="1005840"/>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Zero Trust: ichki tarmoqda bo‘lishning o‘zi ishonch uchun yetarli emas.</a:t>
            </a:r>
          </a:p>
        </p:txBody>
      </p:sp>
      <p:sp>
        <p:nvSpPr>
          <p:cNvPr id="16" name="Rounded Rectangle 15"/>
          <p:cNvSpPr/>
          <p:nvPr/>
        </p:nvSpPr>
        <p:spPr>
          <a:xfrm>
            <a:off x="813816" y="3867912"/>
            <a:ext cx="10515600" cy="2048256"/>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4105656"/>
            <a:ext cx="10021824" cy="1499616"/>
          </a:xfrm>
          <a:prstGeom prst="rect">
            <a:avLst/>
          </a:prstGeom>
          <a:noFill/>
        </p:spPr>
        <p:txBody>
          <a:bodyPr wrap="square" lIns="27432" rIns="27432" tIns="18288" bIns="0">
            <a:spAutoFit/>
          </a:bodyPr>
          <a:lstStyle/>
          <a:p>
            <a:pPr>
              <a:spcAft>
                <a:spcPts val="800"/>
              </a:spcAft>
              <a:defRPr sz="2100" b="0">
                <a:solidFill>
                  <a:srgbClr val="173A46"/>
                </a:solidFill>
                <a:latin typeface="DejaVu Sans"/>
              </a:defRPr>
            </a:pPr>
            <a:r>
              <a:t>Kirish identifikator, qurilma, resurs va vaziyatga asoslanadi; audit o‘zgarishlarni kuzatadi.</a:t>
            </a:r>
          </a:p>
          <a:p>
            <a:pPr>
              <a:spcAft>
                <a:spcPts val="800"/>
              </a:spcAft>
              <a:defRPr sz="2100" b="0">
                <a:solidFill>
                  <a:srgbClr val="173A46"/>
                </a:solidFill>
                <a:latin typeface="DejaVu Sans"/>
              </a:defRPr>
            </a:pPr>
            <a:r>
              <a:t>Hisobot xizmati bazadan faqat kerakli jadvallarni o‘qiydi. Bu bitta mahsulot emas, yondashuvdir.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Shared Responsibility Model</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Provayder va mijoz mas’uliyati xizmatga qarab bo‘linadi.</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08 / 13</a:t>
            </a:r>
          </a:p>
        </p:txBody>
      </p:sp>
      <p:sp>
        <p:nvSpPr>
          <p:cNvPr id="12" name="Pentagon 11"/>
          <p:cNvSpPr/>
          <p:nvPr/>
        </p:nvSpPr>
        <p:spPr>
          <a:xfrm rot="10800000">
            <a:off x="822960" y="2633472"/>
            <a:ext cx="685800" cy="768096"/>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8126" y="2990088"/>
            <a:ext cx="116586" cy="12344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24712" y="2859786"/>
            <a:ext cx="219456" cy="25374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74519" y="2606040"/>
            <a:ext cx="9235440" cy="1005840"/>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Provayder va mijoz vazifalari xizmat modeliga ko‘ra bo‘linadi.</a:t>
            </a:r>
          </a:p>
        </p:txBody>
      </p:sp>
      <p:sp>
        <p:nvSpPr>
          <p:cNvPr id="16" name="Rounded Rectangle 15"/>
          <p:cNvSpPr/>
          <p:nvPr/>
        </p:nvSpPr>
        <p:spPr>
          <a:xfrm>
            <a:off x="813816" y="3867912"/>
            <a:ext cx="10515600" cy="2048256"/>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4105656"/>
            <a:ext cx="10021824" cy="1499616"/>
          </a:xfrm>
          <a:prstGeom prst="rect">
            <a:avLst/>
          </a:prstGeom>
          <a:noFill/>
        </p:spPr>
        <p:txBody>
          <a:bodyPr wrap="square" lIns="27432" rIns="27432" tIns="18288" bIns="0">
            <a:spAutoFit/>
          </a:bodyPr>
          <a:lstStyle/>
          <a:p>
            <a:pPr>
              <a:spcAft>
                <a:spcPts val="800"/>
              </a:spcAft>
              <a:defRPr sz="2100" b="0">
                <a:solidFill>
                  <a:srgbClr val="173A46"/>
                </a:solidFill>
                <a:latin typeface="DejaVu Sans"/>
              </a:defRPr>
            </a:pPr>
            <a:r>
              <a:t>Provayder infratuzilmani himoyalaydi. Mijoz hisoblar, ma’lumot va ruxsatlar uchun javobgar.</a:t>
            </a:r>
          </a:p>
          <a:p>
            <a:pPr>
              <a:spcAft>
                <a:spcPts val="800"/>
              </a:spcAft>
              <a:defRPr sz="2100" b="0">
                <a:solidFill>
                  <a:srgbClr val="173A46"/>
                </a:solidFill>
                <a:latin typeface="DejaVu Sans"/>
              </a:defRPr>
            </a:pPr>
            <a:r>
              <a:t>IaaS da OS yangilanishi odatda mijozda. Boshqariladigan xizmatda ayrim ish provayderga o‘tadi.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Texnik diagramma</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Komponentlar va ular orasidagi asosiy bog‘lanish</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09 / 13</a:t>
            </a:r>
          </a:p>
        </p:txBody>
      </p:sp>
      <p:sp>
        <p:nvSpPr>
          <p:cNvPr id="12" name="Rectangle 11"/>
          <p:cNvSpPr/>
          <p:nvPr/>
        </p:nvSpPr>
        <p:spPr>
          <a:xfrm>
            <a:off x="777240" y="2743200"/>
            <a:ext cx="2420874" cy="777240"/>
          </a:xfrm>
          <a:prstGeom prst="rect">
            <a:avLst/>
          </a:prstGeom>
          <a:solidFill>
            <a:srgbClr val="E7F3F3"/>
          </a:solidFill>
          <a:ln>
            <a:solidFill>
              <a:srgbClr val="07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852928"/>
            <a:ext cx="2183130" cy="612647"/>
          </a:xfrm>
          <a:prstGeom prst="rect">
            <a:avLst/>
          </a:prstGeom>
          <a:noFill/>
        </p:spPr>
        <p:txBody>
          <a:bodyPr wrap="square" lIns="27432" rIns="27432" tIns="18288" bIns="0">
            <a:spAutoFit/>
          </a:bodyPr>
          <a:lstStyle/>
          <a:p>
            <a:pPr>
              <a:spcAft>
                <a:spcPts val="800"/>
              </a:spcAft>
              <a:defRPr sz="1700" b="1">
                <a:solidFill>
                  <a:srgbClr val="173A46"/>
                </a:solidFill>
                <a:latin typeface="DejaVu Sans"/>
              </a:defRPr>
            </a:pPr>
            <a:r>
              <a:t>Kimlik</a:t>
            </a:r>
          </a:p>
        </p:txBody>
      </p:sp>
      <p:cxnSp>
        <p:nvCxnSpPr>
          <p:cNvPr id="14" name="Connector 13"/>
          <p:cNvCxnSpPr/>
          <p:nvPr/>
        </p:nvCxnSpPr>
        <p:spPr>
          <a:xfrm>
            <a:off x="3198114" y="3131820"/>
            <a:ext cx="292608" cy="0"/>
          </a:xfrm>
          <a:prstGeom prst="line">
            <a:avLst/>
          </a:prstGeom>
          <a:ln w="24130">
            <a:solidFill>
              <a:srgbClr val="076F87"/>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90722" y="2743200"/>
            <a:ext cx="2420874" cy="777240"/>
          </a:xfrm>
          <a:prstGeom prst="rect">
            <a:avLst/>
          </a:prstGeom>
          <a:solidFill>
            <a:srgbClr val="E7F3F3"/>
          </a:solidFill>
          <a:ln>
            <a:solidFill>
              <a:srgbClr val="07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9594" y="2852928"/>
            <a:ext cx="2183130" cy="612647"/>
          </a:xfrm>
          <a:prstGeom prst="rect">
            <a:avLst/>
          </a:prstGeom>
          <a:noFill/>
        </p:spPr>
        <p:txBody>
          <a:bodyPr wrap="square" lIns="27432" rIns="27432" tIns="18288" bIns="0">
            <a:spAutoFit/>
          </a:bodyPr>
          <a:lstStyle/>
          <a:p>
            <a:pPr>
              <a:spcAft>
                <a:spcPts val="800"/>
              </a:spcAft>
              <a:defRPr sz="1700" b="1">
                <a:solidFill>
                  <a:srgbClr val="173A46"/>
                </a:solidFill>
                <a:latin typeface="DejaVu Sans"/>
              </a:defRPr>
            </a:pPr>
            <a:r>
              <a:t>Autentifikatsiya</a:t>
            </a:r>
          </a:p>
        </p:txBody>
      </p:sp>
      <p:cxnSp>
        <p:nvCxnSpPr>
          <p:cNvPr id="17" name="Connector 16"/>
          <p:cNvCxnSpPr/>
          <p:nvPr/>
        </p:nvCxnSpPr>
        <p:spPr>
          <a:xfrm>
            <a:off x="5911596" y="3131820"/>
            <a:ext cx="292607" cy="0"/>
          </a:xfrm>
          <a:prstGeom prst="line">
            <a:avLst/>
          </a:prstGeom>
          <a:ln w="24130">
            <a:solidFill>
              <a:srgbClr val="076F87"/>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204203" y="2743200"/>
            <a:ext cx="2420874" cy="777240"/>
          </a:xfrm>
          <a:prstGeom prst="rect">
            <a:avLst/>
          </a:prstGeom>
          <a:solidFill>
            <a:srgbClr val="E7F3F3"/>
          </a:solidFill>
          <a:ln>
            <a:solidFill>
              <a:srgbClr val="07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5" y="2852928"/>
            <a:ext cx="2183130" cy="612647"/>
          </a:xfrm>
          <a:prstGeom prst="rect">
            <a:avLst/>
          </a:prstGeom>
          <a:noFill/>
        </p:spPr>
        <p:txBody>
          <a:bodyPr wrap="square" lIns="27432" rIns="27432" tIns="18288" bIns="0">
            <a:spAutoFit/>
          </a:bodyPr>
          <a:lstStyle/>
          <a:p>
            <a:pPr>
              <a:spcAft>
                <a:spcPts val="800"/>
              </a:spcAft>
              <a:defRPr sz="1700" b="1">
                <a:solidFill>
                  <a:srgbClr val="173A46"/>
                </a:solidFill>
                <a:latin typeface="DejaVu Sans"/>
              </a:defRPr>
            </a:pPr>
            <a:r>
              <a:t>IAM / ruxsat</a:t>
            </a:r>
          </a:p>
        </p:txBody>
      </p:sp>
      <p:cxnSp>
        <p:nvCxnSpPr>
          <p:cNvPr id="20" name="Connector 19"/>
          <p:cNvCxnSpPr/>
          <p:nvPr/>
        </p:nvCxnSpPr>
        <p:spPr>
          <a:xfrm>
            <a:off x="8625078" y="3131820"/>
            <a:ext cx="292608" cy="0"/>
          </a:xfrm>
          <a:prstGeom prst="line">
            <a:avLst/>
          </a:prstGeom>
          <a:ln w="24130">
            <a:solidFill>
              <a:srgbClr val="076F87"/>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917686" y="2743200"/>
            <a:ext cx="2420874" cy="777240"/>
          </a:xfrm>
          <a:prstGeom prst="rect">
            <a:avLst/>
          </a:prstGeom>
          <a:solidFill>
            <a:srgbClr val="E7F3F3"/>
          </a:solidFill>
          <a:ln>
            <a:solidFill>
              <a:srgbClr val="07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36558" y="2852928"/>
            <a:ext cx="2183130" cy="612647"/>
          </a:xfrm>
          <a:prstGeom prst="rect">
            <a:avLst/>
          </a:prstGeom>
          <a:noFill/>
        </p:spPr>
        <p:txBody>
          <a:bodyPr wrap="square" lIns="27432" rIns="27432" tIns="18288" bIns="0">
            <a:spAutoFit/>
          </a:bodyPr>
          <a:lstStyle/>
          <a:p>
            <a:pPr>
              <a:spcAft>
                <a:spcPts val="800"/>
              </a:spcAft>
              <a:defRPr sz="1700" b="1">
                <a:solidFill>
                  <a:srgbClr val="173A46"/>
                </a:solidFill>
                <a:latin typeface="DejaVu Sans"/>
              </a:defRPr>
            </a:pPr>
            <a:r>
              <a:t>Resurs</a:t>
            </a:r>
          </a:p>
        </p:txBody>
      </p:sp>
      <p:sp>
        <p:nvSpPr>
          <p:cNvPr id="23" name="Rounded Rectangle 22"/>
          <p:cNvSpPr/>
          <p:nvPr/>
        </p:nvSpPr>
        <p:spPr>
          <a:xfrm>
            <a:off x="786384" y="4251960"/>
            <a:ext cx="10561320" cy="1234440"/>
          </a:xfrm>
          <a:prstGeom prst="roundRect">
            <a:avLst>
              <a:gd name="adj" fmla="val 8000"/>
            </a:avLst>
          </a:prstGeom>
          <a:solidFill>
            <a:srgbClr val="E7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entagon 23"/>
          <p:cNvSpPr/>
          <p:nvPr/>
        </p:nvSpPr>
        <p:spPr>
          <a:xfrm rot="10800000">
            <a:off x="1005840" y="4453128"/>
            <a:ext cx="612648" cy="686165"/>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171254" y="4771704"/>
            <a:ext cx="104151" cy="110277"/>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275405" y="4655301"/>
            <a:ext cx="196047" cy="22668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920240" y="4471416"/>
            <a:ext cx="9070848" cy="777240"/>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Audit kirish va o‘zgarishlarni yozadi.</a:t>
            </a:r>
          </a:p>
          <a:p>
            <a:pPr>
              <a:spcAft>
                <a:spcPts val="800"/>
              </a:spcAft>
              <a:defRPr sz="2200" b="0">
                <a:solidFill>
                  <a:srgbClr val="173A46"/>
                </a:solidFill>
                <a:latin typeface="DejaVu Sans"/>
              </a:defRPr>
            </a:pPr>
            <a:r>
              <a:t>Kimlik tasdiqlanishi barcha amallarga ruxsat bermaydi.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Universitet misolida</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Tushunchalar amaliy tizimda qanday birlashadi?</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10 / 13</a:t>
            </a:r>
          </a:p>
        </p:txBody>
      </p:sp>
      <p:sp>
        <p:nvSpPr>
          <p:cNvPr id="12" name="Rectangle 11"/>
          <p:cNvSpPr/>
          <p:nvPr/>
        </p:nvSpPr>
        <p:spPr>
          <a:xfrm>
            <a:off x="822960" y="2606040"/>
            <a:ext cx="4937760" cy="1143000"/>
          </a:xfrm>
          <a:prstGeom prst="rect">
            <a:avLst/>
          </a:prstGeom>
          <a:solidFill>
            <a:srgbClr val="E7F3F3"/>
          </a:solidFill>
          <a:ln>
            <a:solidFill>
              <a:srgbClr val="07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715768"/>
            <a:ext cx="4700016" cy="978408"/>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Talaba</a:t>
            </a:r>
          </a:p>
          <a:p>
            <a:pPr>
              <a:spcAft>
                <a:spcPts val="800"/>
              </a:spcAft>
              <a:defRPr sz="2300" b="1">
                <a:solidFill>
                  <a:srgbClr val="173A46"/>
                </a:solidFill>
                <a:latin typeface="DejaVu Sans"/>
              </a:defRPr>
            </a:pPr>
            <a:r>
              <a:t>Faqat o‘z bahosini ko‘radi</a:t>
            </a:r>
          </a:p>
        </p:txBody>
      </p:sp>
      <p:sp>
        <p:nvSpPr>
          <p:cNvPr id="14" name="Rectangle 13"/>
          <p:cNvSpPr/>
          <p:nvPr/>
        </p:nvSpPr>
        <p:spPr>
          <a:xfrm>
            <a:off x="6217920" y="2606040"/>
            <a:ext cx="4937760" cy="1143000"/>
          </a:xfrm>
          <a:prstGeom prst="rect">
            <a:avLst/>
          </a:prstGeom>
          <a:solidFill>
            <a:srgbClr val="E7F3F3"/>
          </a:solidFill>
          <a:ln>
            <a:solidFill>
              <a:srgbClr val="076F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792" y="2715768"/>
            <a:ext cx="4700016" cy="978408"/>
          </a:xfrm>
          <a:prstGeom prst="rect">
            <a:avLst/>
          </a:prstGeom>
          <a:noFill/>
        </p:spPr>
        <p:txBody>
          <a:bodyPr wrap="square" lIns="27432" rIns="27432" tIns="18288" bIns="0">
            <a:spAutoFit/>
          </a:bodyPr>
          <a:lstStyle/>
          <a:p>
            <a:pPr>
              <a:spcAft>
                <a:spcPts val="800"/>
              </a:spcAft>
              <a:defRPr sz="2300" b="1">
                <a:solidFill>
                  <a:srgbClr val="173A46"/>
                </a:solidFill>
                <a:latin typeface="DejaVu Sans"/>
              </a:defRPr>
            </a:pPr>
            <a:r>
              <a:t>O‘qituvchi</a:t>
            </a:r>
          </a:p>
          <a:p>
            <a:pPr>
              <a:spcAft>
                <a:spcPts val="800"/>
              </a:spcAft>
              <a:defRPr sz="2300" b="1">
                <a:solidFill>
                  <a:srgbClr val="173A46"/>
                </a:solidFill>
                <a:latin typeface="DejaVu Sans"/>
              </a:defRPr>
            </a:pPr>
            <a:r>
              <a:t>O‘z fanidagi bahoni kiritadi</a:t>
            </a:r>
          </a:p>
        </p:txBody>
      </p:sp>
      <p:sp>
        <p:nvSpPr>
          <p:cNvPr id="16" name="TextBox 15"/>
          <p:cNvSpPr txBox="1"/>
          <p:nvPr/>
        </p:nvSpPr>
        <p:spPr>
          <a:xfrm>
            <a:off x="859536" y="4315968"/>
            <a:ext cx="10259568" cy="1325880"/>
          </a:xfrm>
          <a:prstGeom prst="rect">
            <a:avLst/>
          </a:prstGeom>
          <a:noFill/>
        </p:spPr>
        <p:txBody>
          <a:bodyPr wrap="square" lIns="27432" rIns="27432" tIns="18288" bIns="0">
            <a:spAutoFit/>
          </a:bodyPr>
          <a:lstStyle/>
          <a:p>
            <a:pPr>
              <a:spcAft>
                <a:spcPts val="800"/>
              </a:spcAft>
              <a:defRPr sz="2400" b="0">
                <a:solidFill>
                  <a:srgbClr val="173A46"/>
                </a:solidFill>
                <a:latin typeface="DejaVu Sans"/>
              </a:defRPr>
            </a:pPr>
            <a:r>
              <a:t>Talaba faqat o‘z bahosini ko‘rishi, o‘qituvchi esa o‘z fanidagi baholarni kiritishi kerak. Bulut xavfsizligi serverni himoyalashdan tashqari aynan shunday aniq ruxsat chegaralarini ham talab qiladi.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Ko‘p uchraydigan xato tushunchalar</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To‘g‘ri talqin xizmatni ongli tanlashga yordam beradi</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11 / 13</a:t>
            </a:r>
          </a:p>
        </p:txBody>
      </p:sp>
      <p:sp>
        <p:nvSpPr>
          <p:cNvPr id="12" name="Rounded Rectangle 11"/>
          <p:cNvSpPr/>
          <p:nvPr/>
        </p:nvSpPr>
        <p:spPr>
          <a:xfrm>
            <a:off x="758952" y="2514600"/>
            <a:ext cx="10625328" cy="9418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688336"/>
            <a:ext cx="548640" cy="502920"/>
          </a:xfrm>
          <a:prstGeom prst="rect">
            <a:avLst/>
          </a:prstGeom>
          <a:noFill/>
        </p:spPr>
        <p:txBody>
          <a:bodyPr wrap="square" lIns="27432" rIns="27432" tIns="18288" bIns="0">
            <a:spAutoFit/>
          </a:bodyPr>
          <a:lstStyle/>
          <a:p>
            <a:pPr>
              <a:spcAft>
                <a:spcPts val="800"/>
              </a:spcAft>
              <a:defRPr sz="2100" b="1">
                <a:solidFill>
                  <a:srgbClr val="076F87"/>
                </a:solidFill>
                <a:latin typeface="DejaVu Sans"/>
              </a:defRPr>
            </a:pPr>
            <a:r>
              <a:t>01</a:t>
            </a:r>
          </a:p>
        </p:txBody>
      </p:sp>
      <p:sp>
        <p:nvSpPr>
          <p:cNvPr id="14" name="TextBox 13"/>
          <p:cNvSpPr txBox="1"/>
          <p:nvPr/>
        </p:nvSpPr>
        <p:spPr>
          <a:xfrm>
            <a:off x="1700784" y="2660904"/>
            <a:ext cx="9500616" cy="704088"/>
          </a:xfrm>
          <a:prstGeom prst="rect">
            <a:avLst/>
          </a:prstGeom>
          <a:noFill/>
        </p:spPr>
        <p:txBody>
          <a:bodyPr wrap="square" lIns="27432" rIns="27432" tIns="18288" bIns="0">
            <a:spAutoFit/>
          </a:bodyPr>
          <a:lstStyle/>
          <a:p>
            <a:pPr>
              <a:spcAft>
                <a:spcPts val="800"/>
              </a:spcAft>
              <a:defRPr sz="2100" b="0">
                <a:solidFill>
                  <a:srgbClr val="173A46"/>
                </a:solidFill>
                <a:latin typeface="DejaVu Sans"/>
              </a:defRPr>
            </a:pPr>
            <a:r>
              <a:t>Ruxsatni faqat interfeys tugmasini yashirish bilan cheklash yetarli emas; server ham tekshirishi kerak.</a:t>
            </a:r>
          </a:p>
        </p:txBody>
      </p:sp>
      <p:sp>
        <p:nvSpPr>
          <p:cNvPr id="15" name="Rounded Rectangle 14"/>
          <p:cNvSpPr/>
          <p:nvPr/>
        </p:nvSpPr>
        <p:spPr>
          <a:xfrm>
            <a:off x="758952" y="3584448"/>
            <a:ext cx="10625328" cy="9418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3758184"/>
            <a:ext cx="548640" cy="502920"/>
          </a:xfrm>
          <a:prstGeom prst="rect">
            <a:avLst/>
          </a:prstGeom>
          <a:noFill/>
        </p:spPr>
        <p:txBody>
          <a:bodyPr wrap="square" lIns="27432" rIns="27432" tIns="18288" bIns="0">
            <a:spAutoFit/>
          </a:bodyPr>
          <a:lstStyle/>
          <a:p>
            <a:pPr>
              <a:spcAft>
                <a:spcPts val="800"/>
              </a:spcAft>
              <a:defRPr sz="2100" b="1">
                <a:solidFill>
                  <a:srgbClr val="076F87"/>
                </a:solidFill>
                <a:latin typeface="DejaVu Sans"/>
              </a:defRPr>
            </a:pPr>
            <a:r>
              <a:t>02</a:t>
            </a:r>
          </a:p>
        </p:txBody>
      </p:sp>
      <p:sp>
        <p:nvSpPr>
          <p:cNvPr id="17" name="TextBox 16"/>
          <p:cNvSpPr txBox="1"/>
          <p:nvPr/>
        </p:nvSpPr>
        <p:spPr>
          <a:xfrm>
            <a:off x="1700784" y="3730752"/>
            <a:ext cx="9500616" cy="704088"/>
          </a:xfrm>
          <a:prstGeom prst="rect">
            <a:avLst/>
          </a:prstGeom>
          <a:noFill/>
        </p:spPr>
        <p:txBody>
          <a:bodyPr wrap="square" lIns="27432" rIns="27432" tIns="18288" bIns="0">
            <a:spAutoFit/>
          </a:bodyPr>
          <a:lstStyle/>
          <a:p>
            <a:pPr>
              <a:spcAft>
                <a:spcPts val="800"/>
              </a:spcAft>
              <a:defRPr sz="2100" b="0">
                <a:solidFill>
                  <a:srgbClr val="173A46"/>
                </a:solidFill>
                <a:latin typeface="DejaVu Sans"/>
              </a:defRPr>
            </a:pPr>
            <a:r>
              <a:t>Shifrlash barcha ruxsati bor hisoblarning noto‘g‘ri foydalanishiga qarshi avtomatik himoya bermaydi.</a:t>
            </a:r>
          </a:p>
        </p:txBody>
      </p:sp>
      <p:sp>
        <p:nvSpPr>
          <p:cNvPr id="18" name="Rounded Rectangle 17"/>
          <p:cNvSpPr/>
          <p:nvPr/>
        </p:nvSpPr>
        <p:spPr>
          <a:xfrm>
            <a:off x="758952" y="4654296"/>
            <a:ext cx="10625328" cy="9418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4828032"/>
            <a:ext cx="548640" cy="502920"/>
          </a:xfrm>
          <a:prstGeom prst="rect">
            <a:avLst/>
          </a:prstGeom>
          <a:noFill/>
        </p:spPr>
        <p:txBody>
          <a:bodyPr wrap="square" lIns="27432" rIns="27432" tIns="18288" bIns="0">
            <a:spAutoFit/>
          </a:bodyPr>
          <a:lstStyle/>
          <a:p>
            <a:pPr>
              <a:spcAft>
                <a:spcPts val="800"/>
              </a:spcAft>
              <a:defRPr sz="2100" b="1">
                <a:solidFill>
                  <a:srgbClr val="076F87"/>
                </a:solidFill>
                <a:latin typeface="DejaVu Sans"/>
              </a:defRPr>
            </a:pPr>
            <a:r>
              <a:t>03</a:t>
            </a:r>
          </a:p>
        </p:txBody>
      </p:sp>
      <p:sp>
        <p:nvSpPr>
          <p:cNvPr id="20" name="TextBox 19"/>
          <p:cNvSpPr txBox="1"/>
          <p:nvPr/>
        </p:nvSpPr>
        <p:spPr>
          <a:xfrm>
            <a:off x="1700784" y="4800600"/>
            <a:ext cx="9500616" cy="704088"/>
          </a:xfrm>
          <a:prstGeom prst="rect">
            <a:avLst/>
          </a:prstGeom>
          <a:noFill/>
        </p:spPr>
        <p:txBody>
          <a:bodyPr wrap="square" lIns="27432" rIns="27432" tIns="18288" bIns="0">
            <a:spAutoFit/>
          </a:bodyPr>
          <a:lstStyle/>
          <a:p>
            <a:pPr>
              <a:spcAft>
                <a:spcPts val="800"/>
              </a:spcAft>
              <a:defRPr sz="2100" b="0">
                <a:solidFill>
                  <a:srgbClr val="173A46"/>
                </a:solidFill>
                <a:latin typeface="DejaVu Sans"/>
              </a:defRPr>
            </a:pPr>
            <a:r>
              <a:t>Bulutga ko‘chirish xavfsizlik vazifalarini butunlay topshirish degani emas.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entagon 2"/>
          <p:cNvSpPr/>
          <p:nvPr/>
        </p:nvSpPr>
        <p:spPr>
          <a:xfrm rot="10800000">
            <a:off x="10899648" y="457200"/>
            <a:ext cx="603504" cy="675924"/>
          </a:xfrm>
          <a:prstGeom prst="homePlate">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11062594" y="771022"/>
            <a:ext cx="102595" cy="10863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65189" y="656356"/>
            <a:ext cx="193122" cy="2232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75488"/>
            <a:ext cx="987552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KIRISH NAZORATI   /   BULUT XAVFSIZLIGI</a:t>
            </a:r>
          </a:p>
        </p:txBody>
      </p:sp>
      <p:sp>
        <p:nvSpPr>
          <p:cNvPr id="7" name="TextBox 6"/>
          <p:cNvSpPr txBox="1"/>
          <p:nvPr/>
        </p:nvSpPr>
        <p:spPr>
          <a:xfrm>
            <a:off x="640080" y="960120"/>
            <a:ext cx="9921240" cy="841248"/>
          </a:xfrm>
          <a:prstGeom prst="rect">
            <a:avLst/>
          </a:prstGeom>
          <a:noFill/>
        </p:spPr>
        <p:txBody>
          <a:bodyPr wrap="square" lIns="27432" rIns="27432" tIns="18288" bIns="0">
            <a:spAutoFit/>
          </a:bodyPr>
          <a:lstStyle/>
          <a:p>
            <a:pPr>
              <a:spcAft>
                <a:spcPts val="800"/>
              </a:spcAft>
              <a:defRPr sz="2800" b="1">
                <a:solidFill>
                  <a:srgbClr val="173A46"/>
                </a:solidFill>
                <a:latin typeface="DejaVu Sans"/>
              </a:defRPr>
            </a:pPr>
            <a:r>
              <a:t>Asosiy xulosalar</a:t>
            </a:r>
          </a:p>
        </p:txBody>
      </p:sp>
      <p:cxnSp>
        <p:nvCxnSpPr>
          <p:cNvPr id="8" name="Connector 7"/>
          <p:cNvCxnSpPr/>
          <p:nvPr/>
        </p:nvCxnSpPr>
        <p:spPr>
          <a:xfrm>
            <a:off x="667512" y="1892807"/>
            <a:ext cx="10213848" cy="0"/>
          </a:xfrm>
          <a:prstGeom prst="line">
            <a:avLst/>
          </a:prstGeom>
          <a:ln w="12700">
            <a:solidFill>
              <a:srgbClr val="CADC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2011680"/>
            <a:ext cx="10561320" cy="393192"/>
          </a:xfrm>
          <a:prstGeom prst="rect">
            <a:avLst/>
          </a:prstGeom>
          <a:noFill/>
        </p:spPr>
        <p:txBody>
          <a:bodyPr wrap="square" lIns="27432" rIns="27432" tIns="18288" bIns="0">
            <a:spAutoFit/>
          </a:bodyPr>
          <a:lstStyle/>
          <a:p>
            <a:pPr>
              <a:spcAft>
                <a:spcPts val="800"/>
              </a:spcAft>
              <a:defRPr sz="1500" b="0">
                <a:solidFill>
                  <a:srgbClr val="076F87"/>
                </a:solidFill>
                <a:latin typeface="DejaVu Sans"/>
              </a:defRPr>
            </a:pPr>
            <a:r>
              <a:t>Yodda qoladigan olti fikr</a:t>
            </a:r>
          </a:p>
        </p:txBody>
      </p:sp>
      <p:sp>
        <p:nvSpPr>
          <p:cNvPr id="10" name="TextBox 9"/>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1" name="TextBox 10"/>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12 / 13</a:t>
            </a:r>
          </a:p>
        </p:txBody>
      </p:sp>
      <p:sp>
        <p:nvSpPr>
          <p:cNvPr id="12" name="Oval 11"/>
          <p:cNvSpPr/>
          <p:nvPr/>
        </p:nvSpPr>
        <p:spPr>
          <a:xfrm>
            <a:off x="822959" y="2569464"/>
            <a:ext cx="155448" cy="15544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2496312"/>
            <a:ext cx="10168128" cy="475488"/>
          </a:xfrm>
          <a:prstGeom prst="rect">
            <a:avLst/>
          </a:prstGeom>
          <a:noFill/>
        </p:spPr>
        <p:txBody>
          <a:bodyPr wrap="square" lIns="27432" rIns="27432" tIns="18288" bIns="0">
            <a:spAutoFit/>
          </a:bodyPr>
          <a:lstStyle/>
          <a:p>
            <a:pPr>
              <a:spcAft>
                <a:spcPts val="800"/>
              </a:spcAft>
              <a:defRPr sz="2200" b="1">
                <a:solidFill>
                  <a:srgbClr val="173A46"/>
                </a:solidFill>
                <a:latin typeface="DejaVu Sans"/>
              </a:defRPr>
            </a:pPr>
            <a:r>
              <a:t>Maxfiylik, yaxlitlik va mavjudlik birga kerak.</a:t>
            </a:r>
          </a:p>
        </p:txBody>
      </p:sp>
      <p:sp>
        <p:nvSpPr>
          <p:cNvPr id="14" name="Oval 13"/>
          <p:cNvSpPr/>
          <p:nvPr/>
        </p:nvSpPr>
        <p:spPr>
          <a:xfrm>
            <a:off x="822959" y="3108960"/>
            <a:ext cx="155448" cy="15544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3035808"/>
            <a:ext cx="10168128" cy="475488"/>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Kimlikni tekshirish — ruxsat berishdan alohida.</a:t>
            </a:r>
          </a:p>
        </p:txBody>
      </p:sp>
      <p:sp>
        <p:nvSpPr>
          <p:cNvPr id="16" name="Oval 15"/>
          <p:cNvSpPr/>
          <p:nvPr/>
        </p:nvSpPr>
        <p:spPr>
          <a:xfrm>
            <a:off x="822959" y="3648456"/>
            <a:ext cx="155448" cy="15544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3575304"/>
            <a:ext cx="10168128" cy="475488"/>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IAM da eng kam vakolat qo‘llanadi.</a:t>
            </a:r>
          </a:p>
        </p:txBody>
      </p:sp>
      <p:sp>
        <p:nvSpPr>
          <p:cNvPr id="18" name="Oval 17"/>
          <p:cNvSpPr/>
          <p:nvPr/>
        </p:nvSpPr>
        <p:spPr>
          <a:xfrm>
            <a:off x="822959" y="4187952"/>
            <a:ext cx="155448" cy="15544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4114800"/>
            <a:ext cx="10168128" cy="475488"/>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Shifrlash bilan birga kalitlar ham boshqariladi.</a:t>
            </a:r>
          </a:p>
        </p:txBody>
      </p:sp>
      <p:sp>
        <p:nvSpPr>
          <p:cNvPr id="20" name="Oval 19"/>
          <p:cNvSpPr/>
          <p:nvPr/>
        </p:nvSpPr>
        <p:spPr>
          <a:xfrm>
            <a:off x="822959" y="4727448"/>
            <a:ext cx="155448" cy="15544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70432" y="4654296"/>
            <a:ext cx="10168128" cy="475488"/>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Zero Trust har kirishni tekshirishga asoslanadi.</a:t>
            </a:r>
          </a:p>
        </p:txBody>
      </p:sp>
      <p:sp>
        <p:nvSpPr>
          <p:cNvPr id="22" name="Oval 21"/>
          <p:cNvSpPr/>
          <p:nvPr/>
        </p:nvSpPr>
        <p:spPr>
          <a:xfrm>
            <a:off x="822959" y="5266944"/>
            <a:ext cx="155448" cy="155448"/>
          </a:xfrm>
          <a:prstGeom prst="ellipse">
            <a:avLst/>
          </a:prstGeom>
          <a:solidFill>
            <a:srgbClr val="E6A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0432" y="5193792"/>
            <a:ext cx="10168128" cy="475488"/>
          </a:xfrm>
          <a:prstGeom prst="rect">
            <a:avLst/>
          </a:prstGeom>
          <a:noFill/>
        </p:spPr>
        <p:txBody>
          <a:bodyPr wrap="square" lIns="27432" rIns="27432" tIns="18288" bIns="0">
            <a:spAutoFit/>
          </a:bodyPr>
          <a:lstStyle/>
          <a:p>
            <a:pPr>
              <a:spcAft>
                <a:spcPts val="800"/>
              </a:spcAft>
              <a:defRPr sz="2200" b="0">
                <a:solidFill>
                  <a:srgbClr val="173A46"/>
                </a:solidFill>
                <a:latin typeface="DejaVu Sans"/>
              </a:defRPr>
            </a:pPr>
            <a:r>
              <a:t>Mas’uliyat xizmat modeliga qarab bo‘linadi.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8"/>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076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73A46"/>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73A46"/>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076F87"/>
                </a:solidFill>
                <a:latin typeface="DejaVu Sans"/>
              </a:defRPr>
            </a:pPr>
            <a:r>
              <a:t>https://csrc.nist.gov/pubs/sp/800/207/final</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076F87"/>
                </a:solidFill>
                <a:latin typeface="DejaVu Sans"/>
              </a:defRPr>
            </a:pPr>
            <a:r>
              <a:t>https://aws.amazon.com/compliance/shared-responsibility-model/</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076F87"/>
                </a:solidFill>
                <a:latin typeface="DejaVu Sans"/>
              </a:defRPr>
            </a:pPr>
            <a:r>
              <a:t>https://learn.microsoft.com/azure/security/fundamentals/shared-responsibility</a:t>
            </a:r>
          </a:p>
        </p:txBody>
      </p:sp>
      <p:sp>
        <p:nvSpPr>
          <p:cNvPr id="8" name="TextBox 7"/>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076F87"/>
                </a:solidFill>
                <a:latin typeface="DejaVu Sans"/>
              </a:defRPr>
            </a:pPr>
            <a:r>
              <a:t>INTERNET RASMI</a:t>
            </a:r>
          </a:p>
        </p:txBody>
      </p:sp>
      <p:sp>
        <p:nvSpPr>
          <p:cNvPr id="9" name="TextBox 8"/>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73A46"/>
                </a:solidFill>
                <a:latin typeface="DejaVu Sans"/>
              </a:defRPr>
            </a:pPr>
            <a:r>
              <a:t>Keycloak / CNCF official artwork</a:t>
            </a:r>
          </a:p>
        </p:txBody>
      </p:sp>
      <p:sp>
        <p:nvSpPr>
          <p:cNvPr id="10" name="TextBox 9"/>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https://raw.githubusercontent.com/cncf/artwork/main/projects/keycloak/icon/color/keycloak-icon-color.png</a:t>
            </a:r>
          </a:p>
        </p:txBody>
      </p:sp>
      <p:sp>
        <p:nvSpPr>
          <p:cNvPr id="11" name="TextBox 10"/>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73A46"/>
                </a:solidFill>
                <a:latin typeface="DejaVu Sans"/>
              </a:defRPr>
            </a:pPr>
            <a:r>
              <a:t>Barcha rasm manbalari va foydalanish izohlari: ASSET_SOURCES.md</a:t>
            </a:r>
          </a:p>
        </p:txBody>
      </p:sp>
      <p:sp>
        <p:nvSpPr>
          <p:cNvPr id="12" name="TextBox 11"/>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73A46"/>
                </a:solidFill>
                <a:latin typeface="DejaVu Sans"/>
              </a:defRPr>
            </a:pPr>
            <a:r>
              <a:t>BTST206   /   M11   /   2027–2028</a:t>
            </a:r>
          </a:p>
        </p:txBody>
      </p:sp>
      <p:sp>
        <p:nvSpPr>
          <p:cNvPr id="13" name="TextBox 12"/>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73A46"/>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