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«Bulut arxitekturasi va masshtablanuvchi tizimlar» mavzusiga bag‘ishlanadi. Mavzuni murakkab atamalardan emas, kundalik ehtiyojdan boshlaymiz. Qabul natijalari e’lon qilinganida portalga bir vaqtda minglab talabalar kiradi. Arxitektura bu talabni ko‘tarishi va bitta serverdagi nosozlikni butun tizimga tarqatmasligi kerak.</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arxitekturaning asosiy qatlamlari tushuntiriladi. 2-bo‘limda taqsimlangan hisoblash tushuntiriladi. 3-bo‘limda vertikal va gorizontal masshtablash tushuntiriladi. 4-bo‘limda yuqori mavjudlik va ishonchlilik tushuntiriladi. 5-bo‘limda nosozlikka bardoshlilik tushuntiriladi. 6-bo‘limda elastiklik va holatsiz ilova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Front-end foydalanuvchi ko‘radigan interfeysdir. Back-end so‘rovni tekshiradi, biznes qoidalarini bajaradi va natijani tayyorlaydi. Ma’lumotlar qatlami esa doimiy axborotni saqlaydi. Hisoblash, saqlash va tarmoq bu qatlamlar uchun asos yaratadi.</a:t>
            </a:r>
          </a:p>
          <a:p/>
          <a:p>
            <a:r>
              <a:t>Brauzer HTTPS so‘rovini yuboradi. Ilova foydalanuvchini tekshiradi, bazadan kerakli yozuvni oladi va javob qaytaradi. Qatlamlarni ajratish ularni mustaqil rivojlantirishga yordam beradi.</a:t>
            </a:r>
          </a:p>
          <a:p/>
          <a:p>
            <a:r>
              <a:t>Universitet misolida buni quyidagicha tasavvur qilamiz. Talaba baholarini ko‘radi: interfeys jadvalni chizadi, back-end ruxsatni tekshiradi, baza tegishli baholarni topadi. Bu misolda texnik atama real vazifa bilan bog‘lanadi: resursning nomini emas, nima uchun tanlanganini tushunish muhim.</a:t>
            </a:r>
          </a:p>
          <a:p/>
          <a:p>
            <a:r>
              <a:t>E’tibor beradigan chegara ham bor. Qatlamlar alohida bo‘lishi ularning barchasi alohida serverda bo‘lishi shartligini anglatmaydi.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tizimda komponentlar tarmoq orqali hamkorlik qiladi. Bu quvvatni oshiradi, lekin aloqa uzilishi va kechikish kabi yangi muammolarni keltirib chiqaradi. Har bir so‘rovning muvaffaqiyatli yetib borishi kafolatlanmaydi.</a:t>
            </a:r>
          </a:p>
          <a:p/>
          <a:p>
            <a:r>
              <a:t>Ilova vazifani kichik qismlarga ajratishi yoki mustaqil so‘rovlarni turli serverlarga tarqatishi mumkin. Natijalarni yig‘ishda takroriy xabar va vaqtinchalik uzilishlar hisobga olinadi.</a:t>
            </a:r>
          </a:p>
          <a:p/>
          <a:p>
            <a:r>
              <a:t>Universitet misolida buni quyidagicha tasavvur qilamiz. Hisobot yaratish ishlari navbatga yozilib, bir nechta ishchi jarayon tomonidan qayta ishlanadi. Bu misolda texnik atama real vazifa bilan bog‘lanadi: resursning nomini emas, nima uchun tanlanganini tushunish muhim.</a:t>
            </a:r>
          </a:p>
          <a:p/>
          <a:p>
            <a:r>
              <a:t>E’tibor beradigan chegara ham bor. Ko‘proq tugun qo‘shish har doim tezlikni teng nisbatda oshirmaydi: baza va tarmoq tor joyga aylanishi mumkin.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Vertikal masshtablash bitta tugunning CPU yoki xotirasini oshiradi. Gorizontal masshtablash esa bir nechta nusxa qo‘shadi. Birinchisi sodda bo‘lishi mumkin, ikkinchisi yuqori yuklamani taqsimlashga ko‘proq imkon beradi.</a:t>
            </a:r>
          </a:p>
          <a:p/>
          <a:p>
            <a:r>
              <a:t>Gorizontal modelda yuklama taqsimlagich so‘rovlarni nusxalar orasida tarqatadi. Sessiya ma’lumotlari faqat bitta server xotirasida qolsa, bunday taqsimlash qiyinlashadi.</a:t>
            </a:r>
          </a:p>
          <a:p/>
          <a:p>
            <a:r>
              <a:t>Universitet misolida buni quyidagicha tasavvur qilamiz. Portal avval 2 vCPU dan 4 vCPU ga o‘tadi. Keyin esa uchta ilova nusxasini yuklama taqsimlagich ortida ishlatadi. Bu misolda texnik atama real vazifa bilan bog‘lanadi: resursning nomini emas, nima uchun tanlanganini tushunish muhim.</a:t>
            </a:r>
          </a:p>
          <a:p/>
          <a:p>
            <a:r>
              <a:t>E’tibor beradigan chegara ham bor. Gorizontal masshtablash uchun holatni tashqi bazaga yoki keshga ajratish ko‘pincha zarur.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Mavjudlik tizim kerakli vaqtda foydalanishga tayyorligini bildiradi. Ishonchlilik esa belgilangan sharoitda vazifani to‘g‘ri bajarish bilan bog‘liq. Sahifa ochilishi, ammo noto‘g‘ri baho ko‘rsatishi mavjudlik borligi bilan sifat kafolatlanmasligini ko‘rsatadi.</a:t>
            </a:r>
          </a:p>
          <a:p/>
          <a:p>
            <a:r>
              <a:t>Mavjudlik odatda vaqt yoki muvaffaqiyatli so‘rov ulushi orqali o‘lchanadi. Maqsad ko‘rsatkichlari monitoring va nosozlikka javob berish tartibi bilan bog‘lanadi.</a:t>
            </a:r>
          </a:p>
          <a:p/>
          <a:p>
            <a:r>
              <a:t>Universitet misolida buni quyidagicha tasavvur qilamiz. 30 kunlik davrda 99,9 foiz mavjudlik taxminan 43,2 daqiqa mavjud bo‘lmaslikka mos keladi. Bu faqat hisobiy misol. Bu misolda texnik atama real vazifa bilan bog‘lanadi: resursning nomini emas, nima uchun tanlanganini tushunish muhim.</a:t>
            </a:r>
          </a:p>
          <a:p/>
          <a:p>
            <a:r>
              <a:t>E’tibor beradigan chegara ham bor. Provayder SLA ko‘rsatkichi butun ilovaning aynan shunday mavjudligini avtomatik kafolatlamaydi.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Bardoshlilik nosozlikni butun tizimga tarqatmaslikni anglatadi. Buning uchun takroriy nusxalar, sog‘lomlik tekshiruvlari, vaqt chegaralari va tiklash mexanizmlari qo‘llanadi. Ortiqcha nusxalar mustaqil nosozlik hududlarida bo‘lishi ma’qul.</a:t>
            </a:r>
          </a:p>
          <a:p/>
          <a:p>
            <a:r>
              <a:t>Yuklama taqsimlagich javob bermayotgan nusxaga so‘rov yuborishni to‘xtatadi. Ilova vaqt tugashini kutib cheksiz osilib qolmaydi. Takrorlashlar soni va oralig‘i cheklanadi.</a:t>
            </a:r>
          </a:p>
          <a:p/>
          <a:p>
            <a:r>
              <a:t>Universitet misolida buni quyidagicha tasavvur qilamiz. Bir zonadagi ilova ishlamay qolsa, boshqa zonadagi sog‘lom nusxa so‘rovlarni qabul qiladi. Bu misolda texnik atama real vazifa bilan bog‘lanadi: resursning nomini emas, nima uchun tanlanganini tushunish muhim.</a:t>
            </a:r>
          </a:p>
          <a:p/>
          <a:p>
            <a:r>
              <a:t>E’tibor beradigan chegara ham bor. Replikatsiya inson xatosi yoki noto‘g‘ri o‘chirishni ham nusxalashi mumkin; u zaxiralash o‘rnini bosmaydi.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Masshtablanuvchanlik quvvatni oshirish imkoniyati bo‘lsa, elastiklik uni talabga mos ravishda kengaytirish va qisqartirishdir. Holatsiz ilova oldingi so‘rovga oid muhim holatni faqat o‘z xotirasida saqlamaydi.</a:t>
            </a:r>
          </a:p>
          <a:p/>
          <a:p>
            <a:r>
              <a:t>CPU, navbat uzunligi yoki so‘rovlar soni bo‘yicha qo‘shimcha nusxalar ochiladi. Yuklama pasayganda ular kamaytiriladi. Boshlanish vaqti hamda baza limiti siyosatda hisobga olinadi.</a:t>
            </a:r>
          </a:p>
          <a:p/>
          <a:p>
            <a:r>
              <a:t>Universitet misolida buni quyidagicha tasavvur qilamiz. Talabaning sessiyasi umumiy keshda saqlansa, keyingi so‘rov boshqa ilova nusxasiga tushganda ham ishlaydi. Bu misolda texnik atama real vazifa bilan bog‘lanadi: resursning nomini emas, nima uchun tanlanganini tushunish muhim.</a:t>
            </a:r>
          </a:p>
          <a:p/>
          <a:p>
            <a:r>
              <a:t>E’tibor beradigan chegara ham bor. Cheksiz masshtablash yo‘q: kvota, budjet, baza ulanishlari va tashqi xizmatlar cheklovlari mavjud.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«Talaba» bilan «Load Balancer» o‘rtasida sxemada bog‘lanish ko‘rsatilgan. «Load Balancer» bilan «Ilova A · zona 1» o‘rtasida sxemada bog‘lanish ko‘rsatilgan. «Load Balancer» bilan «Ilova B · zona 2» o‘rtasida sxemada bog‘lanish ko‘rsatilgan. «Ilova A · zona 1» bilan «Umumiy baza» o‘rtasida sxemada bog‘lanish ko‘rsatilgan. «Ilova B · zona 2» bilan «Umumiy baza» o‘rtasida sxemada bog‘lanish ko‘rsatilgan.</a:t>
            </a:r>
          </a:p>
          <a:p/>
          <a:p>
            <a:r>
              <a:t>Bu bog‘lanishlarni barcha xizmatlarda bir xil buyruq yoki bir xil fizik kabel deb tushunmaymiz. Ayrim o‘qlar bajarilish ketma-ketligini, ayrimlari resursni boshqarish yoki unga kirish aloqasini anglatadi. Ilova vazifani kichik qismlarga ajratishi yoki mustaqil so‘rovlarni turli serverlarga tarqatishi mumkin. Natijalarni yig‘ishda takroriy xabar va vaqtinchalik uzilishlar hisobga olinadi.</a:t>
            </a:r>
          </a:p>
          <a:p/>
          <a:p>
            <a:r>
              <a:t>Sxemaning asosiy foydasi mas’uliyatlarni ajratib ko‘rsatishdir. Bir zonadagi ilova ishlamay qolsa, boshqa zonadagi sog‘lom nusxa so‘rovlarni qabul qiladi.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Qabul natijalari e’lon qilinganida portalga bir vaqtda minglab talabalar kiradi. Arxitektura bu talabni ko‘tarishi va bitta serverdagi nosozlikni butun tizimga tarqatmasligi kerak.</a:t>
            </a:r>
          </a:p>
          <a:p/>
          <a:p>
            <a:r>
              <a:t>Avval ehtiyoj aniqlanadi: kim tizimdan foydalanadi, qaysi ma’lumot bilan ishlanadi va qanday natija kutiladi. Talaba baholarini ko‘radi: interfeys jadvalni chizadi, back-end ruxsatni tekshiradi, baza tegishli baholarni topadi. Keyin texnik qismlar shu talabga mos tanlanadi. Portal avval 2 vCPU dan 4 vCPU ga o‘tadi. Keyin esa uchta ilova nusxasini yuklama taqsimlagich ortida ishlatadi.</a:t>
            </a:r>
          </a:p>
          <a:p/>
          <a:p>
            <a:r>
              <a:t>Ishlash jarayonida faqat muvaffaqiyatli holat emas, xato va cheklovlar ham hisobga olinadi. Provayder SLA ko‘rsatkichi butun ilovaning aynan shunday mavjudligini avtomatik kafolatlamaydi. Shu sababli jamoa talabni, ruxsatni va nosozlikdagi xatti-harakatni oldindan belgilaydi. Talabaning sessiyasi umumiy keshda saqlansa, keyingi so‘rov boshqa ilova nusxasiga tushganda ham ishlaydi.</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Qatlamlar alohida bo‘lishi ularning barchasi alohida serverda bo‘lishi shartligini anglatmaydi. To‘g‘ri talqin quyidagicha: Front-end foydalanuvchi ko‘radigan interfeysdir. Back-end so‘rovni tekshiradi, biznes qoidalarini bajaradi va natijani tayyorlaydi. Ma’lumotlar qatlami esa doimiy axborotni saqlaydi. Hisoblash, saqlash va tarmoq bu qatlamlar uchun asos yaratadi.</a:t>
            </a:r>
          </a:p>
          <a:p/>
          <a:p>
            <a:r>
              <a:t>2. Provayder SLA ko‘rsatkichi butun ilovaning aynan shunday mavjudligini avtomatik kafolatlamaydi. To‘g‘ri talqin quyidagicha: Mavjudlik tizim kerakli vaqtda foydalanishga tayyorligini bildiradi. Ishonchlilik esa belgilangan sharoitda vazifani to‘g‘ri bajarish bilan bog‘liq. Sahifa ochilishi, ammo noto‘g‘ri baho ko‘rsatishi mavjudlik borligi bilan sifat kafolatlanmasligini ko‘rsatadi.</a:t>
            </a:r>
          </a:p>
          <a:p/>
          <a:p>
            <a:r>
              <a:t>3. Cheksiz masshtablash yo‘q: kvota, budjet, baza ulanishlari va tashqi xizmatlar cheklovlari mavjud. To‘g‘ri talqin quyidagicha: Masshtablanuvchanlik quvvatni oshirish imkoniyati bo‘lsa, elastiklik uni talabga mos ravishda kengaytirish va qisqartirishdir. Holatsiz ilova oldingi so‘rovga oid muhim holatni faqat o‘z xotirasida saqlamaydi.</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Ko‘p foydalanuvchiga barqaror xizmat ko‘rsatish — mavzuning umumiy mazmunini ifodalaydi.</a:t>
            </a:r>
          </a:p>
          <a:p/>
          <a:p>
            <a:r>
              <a:t>Asosiy tayanch fikr: Front-end → back-end → ma’lumotlar. Brauzer HTTPS so‘rovini yuboradi. Ilova foydalanuvchini tekshiradi, bazadan kerakli yozuvni oladi va javob qaytaradi. Qatlamlarni ajratish ularni mustaqil rivojlantirishga yordam beradi.</a:t>
            </a:r>
          </a:p>
          <a:p/>
          <a:p>
            <a:r>
              <a:t>Asosiy tayanch fikr: Kuchliroq server ↔ ko‘proq server. Gorizontal modelda yuklama taqsimlagich so‘rovlarni nusxalar orasida tarqatadi. Sessiya ma’lumotlari faqat bitta server xotirasida qolsa, bunday taqsimlash qiyinlashadi.</a:t>
            </a:r>
          </a:p>
          <a:p/>
          <a:p>
            <a:r>
              <a:t>Asosiy tayanch fikr: Bitta komponent buzilsa, xizmat davom etadi. Yuklama taqsimlagich javob bermayotgan nusxaga so‘rov yuborishni to‘xtatadi. Ilova vaqt tugashini kutib cheksiz osilib qolmaydi. Takrorlashlar soni va oralig‘i cheklanadi.</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xec-1c8f91bc-6381-4745-8533-c57166497063.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16636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594360"/>
            <a:ext cx="594360" cy="73152"/>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896112"/>
            <a:ext cx="4480560" cy="457200"/>
          </a:xfrm>
          <a:prstGeom prst="rect">
            <a:avLst/>
          </a:prstGeom>
          <a:noFill/>
        </p:spPr>
        <p:txBody>
          <a:bodyPr wrap="square" lIns="27432" rIns="27432" tIns="18288" bIns="0">
            <a:spAutoFit/>
          </a:bodyPr>
          <a:lstStyle/>
          <a:p>
            <a:pPr>
              <a:spcAft>
                <a:spcPts val="1000"/>
              </a:spcAft>
              <a:defRPr sz="1700" b="1">
                <a:solidFill>
                  <a:srgbClr val="1678D2"/>
                </a:solidFill>
                <a:latin typeface="DejaVu Sans"/>
              </a:defRPr>
            </a:pPr>
            <a:r>
              <a:t>M02  /  BTST206</a:t>
            </a:r>
          </a:p>
        </p:txBody>
      </p:sp>
      <p:sp>
        <p:nvSpPr>
          <p:cNvPr id="6" name="TextBox 5"/>
          <p:cNvSpPr txBox="1"/>
          <p:nvPr/>
        </p:nvSpPr>
        <p:spPr>
          <a:xfrm>
            <a:off x="548640" y="1737360"/>
            <a:ext cx="4480560" cy="2788920"/>
          </a:xfrm>
          <a:prstGeom prst="rect">
            <a:avLst/>
          </a:prstGeom>
          <a:noFill/>
        </p:spPr>
        <p:txBody>
          <a:bodyPr wrap="square" lIns="27432" rIns="27432" tIns="18288" bIns="0">
            <a:spAutoFit/>
          </a:bodyPr>
          <a:lstStyle/>
          <a:p>
            <a:pPr>
              <a:spcAft>
                <a:spcPts val="1000"/>
              </a:spcAft>
              <a:defRPr sz="3000" b="1">
                <a:solidFill>
                  <a:srgbClr val="15365B"/>
                </a:solidFill>
                <a:latin typeface="DejaVu Sans"/>
              </a:defRPr>
            </a:pPr>
            <a:r>
              <a:t>Bulut arxitekturasi va masshtablanuvchi tizimlar</a:t>
            </a:r>
          </a:p>
        </p:txBody>
      </p:sp>
      <p:sp>
        <p:nvSpPr>
          <p:cNvPr id="7" name="TextBox 6"/>
          <p:cNvSpPr txBox="1"/>
          <p:nvPr/>
        </p:nvSpPr>
        <p:spPr>
          <a:xfrm>
            <a:off x="548640" y="4800600"/>
            <a:ext cx="4434840" cy="914400"/>
          </a:xfrm>
          <a:prstGeom prst="rect">
            <a:avLst/>
          </a:prstGeom>
          <a:noFill/>
        </p:spPr>
        <p:txBody>
          <a:bodyPr wrap="square" lIns="27432" rIns="27432" tIns="18288" bIns="0">
            <a:spAutoFit/>
          </a:bodyPr>
          <a:lstStyle/>
          <a:p>
            <a:pPr>
              <a:spcAft>
                <a:spcPts val="1000"/>
              </a:spcAft>
              <a:defRPr sz="1900" b="0">
                <a:solidFill>
                  <a:srgbClr val="53687D"/>
                </a:solidFill>
                <a:latin typeface="DejaVu Sans"/>
              </a:defRPr>
            </a:pPr>
            <a:r>
              <a:t>Ko‘p foydalanuvchiga barqaror xizmat ko‘rsatish</a:t>
            </a:r>
          </a:p>
        </p:txBody>
      </p:sp>
      <p:sp>
        <p:nvSpPr>
          <p:cNvPr id="8" name="TextBox 7"/>
          <p:cNvSpPr txBox="1"/>
          <p:nvPr/>
        </p:nvSpPr>
        <p:spPr>
          <a:xfrm>
            <a:off x="548640" y="6217920"/>
            <a:ext cx="4480560" cy="365760"/>
          </a:xfrm>
          <a:prstGeom prst="rect">
            <a:avLst/>
          </a:prstGeom>
          <a:noFill/>
        </p:spPr>
        <p:txBody>
          <a:bodyPr wrap="square" lIns="27432" rIns="27432" tIns="18288" bIns="0">
            <a:spAutoFit/>
          </a:bodyPr>
          <a:lstStyle/>
          <a:p>
            <a:pPr>
              <a:spcAft>
                <a:spcPts val="1000"/>
              </a:spcAft>
              <a:defRPr sz="1100" b="0">
                <a:solidFill>
                  <a:srgbClr val="1678D2"/>
                </a:solidFill>
                <a:latin typeface="DejaVu Sans"/>
              </a:defRPr>
            </a:pPr>
            <a:r>
              <a:t>2027–2028  •  VIDEOMA’RUZA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M02 · O‘RGANISH TARTIBI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Bugungi mavzuning yo‘l xaritasi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02</a:t>
            </a:r>
          </a:p>
        </p:txBody>
      </p:sp>
      <p:sp>
        <p:nvSpPr>
          <p:cNvPr id="8" name="Rounded Rectangle 7"/>
          <p:cNvSpPr/>
          <p:nvPr/>
        </p:nvSpPr>
        <p:spPr>
          <a:xfrm>
            <a:off x="59436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01</a:t>
            </a:r>
          </a:p>
        </p:txBody>
      </p:sp>
      <p:sp>
        <p:nvSpPr>
          <p:cNvPr id="10" name="TextBox 9"/>
          <p:cNvSpPr txBox="1"/>
          <p:nvPr/>
        </p:nvSpPr>
        <p:spPr>
          <a:xfrm>
            <a:off x="138074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Arxitekturaning asosiy qatlamlari</a:t>
            </a:r>
          </a:p>
        </p:txBody>
      </p:sp>
      <p:sp>
        <p:nvSpPr>
          <p:cNvPr id="11" name="Rounded Rectangle 10"/>
          <p:cNvSpPr/>
          <p:nvPr/>
        </p:nvSpPr>
        <p:spPr>
          <a:xfrm>
            <a:off x="626364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02</a:t>
            </a:r>
          </a:p>
        </p:txBody>
      </p:sp>
      <p:sp>
        <p:nvSpPr>
          <p:cNvPr id="13" name="TextBox 12"/>
          <p:cNvSpPr txBox="1"/>
          <p:nvPr/>
        </p:nvSpPr>
        <p:spPr>
          <a:xfrm>
            <a:off x="705002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Taqsimlangan hisoblash</a:t>
            </a:r>
          </a:p>
        </p:txBody>
      </p:sp>
      <p:sp>
        <p:nvSpPr>
          <p:cNvPr id="14" name="Rounded Rectangle 13"/>
          <p:cNvSpPr/>
          <p:nvPr/>
        </p:nvSpPr>
        <p:spPr>
          <a:xfrm>
            <a:off x="59436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03</a:t>
            </a:r>
          </a:p>
        </p:txBody>
      </p:sp>
      <p:sp>
        <p:nvSpPr>
          <p:cNvPr id="16" name="TextBox 15"/>
          <p:cNvSpPr txBox="1"/>
          <p:nvPr/>
        </p:nvSpPr>
        <p:spPr>
          <a:xfrm>
            <a:off x="138074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Vertikal va gorizontal masshtablash</a:t>
            </a:r>
          </a:p>
        </p:txBody>
      </p:sp>
      <p:sp>
        <p:nvSpPr>
          <p:cNvPr id="17" name="Rounded Rectangle 16"/>
          <p:cNvSpPr/>
          <p:nvPr/>
        </p:nvSpPr>
        <p:spPr>
          <a:xfrm>
            <a:off x="626364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04</a:t>
            </a:r>
          </a:p>
        </p:txBody>
      </p:sp>
      <p:sp>
        <p:nvSpPr>
          <p:cNvPr id="19" name="TextBox 18"/>
          <p:cNvSpPr txBox="1"/>
          <p:nvPr/>
        </p:nvSpPr>
        <p:spPr>
          <a:xfrm>
            <a:off x="705002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Yuqori mavjudlik va ishonchlilik</a:t>
            </a:r>
          </a:p>
        </p:txBody>
      </p:sp>
      <p:sp>
        <p:nvSpPr>
          <p:cNvPr id="20" name="Rounded Rectangle 19"/>
          <p:cNvSpPr/>
          <p:nvPr/>
        </p:nvSpPr>
        <p:spPr>
          <a:xfrm>
            <a:off x="59436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05</a:t>
            </a:r>
          </a:p>
        </p:txBody>
      </p:sp>
      <p:sp>
        <p:nvSpPr>
          <p:cNvPr id="22" name="TextBox 21"/>
          <p:cNvSpPr txBox="1"/>
          <p:nvPr/>
        </p:nvSpPr>
        <p:spPr>
          <a:xfrm>
            <a:off x="138074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Nosozlikka bardoshlilik</a:t>
            </a:r>
          </a:p>
        </p:txBody>
      </p:sp>
      <p:sp>
        <p:nvSpPr>
          <p:cNvPr id="23" name="Rounded Rectangle 22"/>
          <p:cNvSpPr/>
          <p:nvPr/>
        </p:nvSpPr>
        <p:spPr>
          <a:xfrm>
            <a:off x="626364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06</a:t>
            </a:r>
          </a:p>
        </p:txBody>
      </p:sp>
      <p:sp>
        <p:nvSpPr>
          <p:cNvPr id="25" name="TextBox 24"/>
          <p:cNvSpPr txBox="1"/>
          <p:nvPr/>
        </p:nvSpPr>
        <p:spPr>
          <a:xfrm>
            <a:off x="705002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Elastiklik va holatsiz ilova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M02 · ASOSIY TUSHUNCHA 1/6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Arxitekturaning asosiy qatlamlari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03</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Front-end → back-end → ma’lumotlar.</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Talaba baholarini ko‘radi: interfeys jadvalni chizadi, back-end ruxsatni tekshiradi, baza tegishli baholarni topadi.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M02 · ASOSIY TUSHUNCHA 2/6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Taqsimlangan hisoblash</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04</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Ilova vazifani kichik qismlarga ajratishi yoki mustaqil so‘rovlarni turli serverlarga tarqatishi mumkin.</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Ko‘proq tugun qo‘shish har doim tezlikni teng nisbatda oshirmaydi: baza va tarmoq tor joyga aylanishi mumkin.</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Vazifa bir nechta tugun o‘rtasida bo‘linadi.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M02 · ASOSIY TUSHUNCHA 3/6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Vertikal va gorizontal masshtablash</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05</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Kuchliroq server ↔ ko‘proq server.</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Vertikal masshtablash bitta tugunning CPU yoki xotirasini oshiradi.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M02 · ASOSIY TUSHUNCHA 4/6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Yuqori mavjudlik va ishonchlilik</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06</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Mavjudlik — xizmat ochiqligi; ishonchlilik — to‘g‘ri ishlash.</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30 kunlik davrda 99,9 foiz mavjudlik taxminan 43,2 daqiqa mavjud bo‘lmaslikka mos keladi.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M02 · ASOSIY TUSHUNCHA 5/6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Nosozlikka bardoshlilik</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07</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Yuklama taqsimlagich javob bermayotgan nusxaga so‘rov yuborishni to‘xtatadi.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Replikatsiya inson xatosi yoki noto‘g‘ri o‘chirishni ham nusxalashi mumkin; u zaxiralash o‘rnini bosmaydi.</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Bitta komponent buzilsa, xizmat davom etadi.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M02 · ASOSIY TUSHUNCHA 6/6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Elastiklik va holatsiz ilova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08</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Talab o‘zgarsa, nusxalar soni ham o‘zgaradi.</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Masshtablanuvchanlik quvvatni oshirish imkoniyati bo‘lsa, elastiklik uni talabga mos ravishda kengaytirish va qisqartirishdir.</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M02 · ARXITEKTURA</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Texnik sxema: qismlar qanday bog‘lanadi?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09</a:t>
            </a:r>
          </a:p>
        </p:txBody>
      </p:sp>
      <p:cxnSp>
        <p:nvCxnSpPr>
          <p:cNvPr id="8" name="Connector 7"/>
          <p:cNvCxnSpPr/>
          <p:nvPr/>
        </p:nvCxnSpPr>
        <p:spPr>
          <a:xfrm>
            <a:off x="347472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9516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114800" y="3246120"/>
            <a:ext cx="150876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8046720" y="3246120"/>
            <a:ext cx="109728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486400" y="4956048"/>
            <a:ext cx="118872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31520" y="2286000"/>
            <a:ext cx="2743200" cy="960120"/>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392" y="2450592"/>
            <a:ext cx="2505456" cy="685800"/>
          </a:xfrm>
          <a:prstGeom prst="rect">
            <a:avLst/>
          </a:prstGeom>
          <a:noFill/>
        </p:spPr>
        <p:txBody>
          <a:bodyPr wrap="square" lIns="27432" rIns="27432" tIns="18288" bIns="0">
            <a:spAutoFit/>
          </a:bodyPr>
          <a:lstStyle/>
          <a:p>
            <a:pPr>
              <a:spcAft>
                <a:spcPts val="1000"/>
              </a:spcAft>
              <a:defRPr sz="1800" b="1">
                <a:solidFill>
                  <a:srgbClr val="FFFFFF"/>
                </a:solidFill>
                <a:latin typeface="DejaVu Sans"/>
              </a:defRPr>
            </a:pPr>
            <a:r>
              <a:t>Talaba</a:t>
            </a:r>
          </a:p>
        </p:txBody>
      </p:sp>
      <p:sp>
        <p:nvSpPr>
          <p:cNvPr id="15" name="Rounded Rectangle 14"/>
          <p:cNvSpPr/>
          <p:nvPr/>
        </p:nvSpPr>
        <p:spPr>
          <a:xfrm>
            <a:off x="425196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083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Load Balancer</a:t>
            </a:r>
          </a:p>
        </p:txBody>
      </p:sp>
      <p:sp>
        <p:nvSpPr>
          <p:cNvPr id="17" name="Rounded Rectangle 16"/>
          <p:cNvSpPr/>
          <p:nvPr/>
        </p:nvSpPr>
        <p:spPr>
          <a:xfrm>
            <a:off x="777240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9127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Ilova A · zona 1</a:t>
            </a:r>
          </a:p>
        </p:txBody>
      </p:sp>
      <p:sp>
        <p:nvSpPr>
          <p:cNvPr id="19" name="Rounded Rectangle 18"/>
          <p:cNvSpPr/>
          <p:nvPr/>
        </p:nvSpPr>
        <p:spPr>
          <a:xfrm>
            <a:off x="274320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6207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Ilova B · zona 2</a:t>
            </a:r>
          </a:p>
        </p:txBody>
      </p:sp>
      <p:sp>
        <p:nvSpPr>
          <p:cNvPr id="21" name="Rounded Rectangle 20"/>
          <p:cNvSpPr/>
          <p:nvPr/>
        </p:nvSpPr>
        <p:spPr>
          <a:xfrm>
            <a:off x="667512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9399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Umumiy baza</a:t>
            </a:r>
          </a:p>
        </p:txBody>
      </p:sp>
      <p:sp>
        <p:nvSpPr>
          <p:cNvPr id="23" name="TextBox 22"/>
          <p:cNvSpPr txBox="1"/>
          <p:nvPr/>
        </p:nvSpPr>
        <p:spPr>
          <a:xfrm>
            <a:off x="777240" y="5806440"/>
            <a:ext cx="10789920" cy="347472"/>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O‘qlar: asosiy bog‘lanish yoki boshqaruv yo‘nalishi. Sxema soddalashtirilgan.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M02 · O‘QITUVCHI BAYONI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Universitet portali misolida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10</a:t>
            </a:r>
          </a:p>
        </p:txBody>
      </p:sp>
      <p:sp>
        <p:nvSpPr>
          <p:cNvPr id="8" name="TextBox 7"/>
          <p:cNvSpPr txBox="1"/>
          <p:nvPr/>
        </p:nvSpPr>
        <p:spPr>
          <a:xfrm>
            <a:off x="658368" y="1920240"/>
            <a:ext cx="7040880" cy="150876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Qabul natijalari e’lon qilinganida portalga bir vaqtda minglab talabalar kiradi. Arxitektura bu talabni ko‘tarishi va bitta serverdagi nosozlikni butun tizimga tarqatmasligi kerak.</a:t>
            </a:r>
          </a:p>
        </p:txBody>
      </p:sp>
      <p:sp>
        <p:nvSpPr>
          <p:cNvPr id="9" name="Rounded Rectangle 8"/>
          <p:cNvSpPr/>
          <p:nvPr/>
        </p:nvSpPr>
        <p:spPr>
          <a:xfrm>
            <a:off x="685800"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Brauzer</a:t>
            </a:r>
          </a:p>
        </p:txBody>
      </p:sp>
      <p:sp>
        <p:nvSpPr>
          <p:cNvPr id="11" name="Rounded Rectangle 10"/>
          <p:cNvSpPr/>
          <p:nvPr/>
        </p:nvSpPr>
        <p:spPr>
          <a:xfrm>
            <a:off x="3584448"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21608"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Load Balancer</a:t>
            </a:r>
          </a:p>
        </p:txBody>
      </p:sp>
      <p:sp>
        <p:nvSpPr>
          <p:cNvPr id="13" name="Rounded Rectangle 12"/>
          <p:cNvSpPr/>
          <p:nvPr/>
        </p:nvSpPr>
        <p:spPr>
          <a:xfrm>
            <a:off x="6483096"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0256"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Ilova nusxalari</a:t>
            </a:r>
          </a:p>
        </p:txBody>
      </p:sp>
      <p:sp>
        <p:nvSpPr>
          <p:cNvPr id="15" name="Rounded Rectangle 14"/>
          <p:cNvSpPr/>
          <p:nvPr/>
        </p:nvSpPr>
        <p:spPr>
          <a:xfrm>
            <a:off x="9381744"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18904"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Ma’lumotlar bazasi</a:t>
            </a:r>
          </a:p>
        </p:txBody>
      </p:sp>
      <p:sp>
        <p:nvSpPr>
          <p:cNvPr id="17" name="TextBox 16"/>
          <p:cNvSpPr txBox="1"/>
          <p:nvPr/>
        </p:nvSpPr>
        <p:spPr>
          <a:xfrm>
            <a:off x="713232" y="5632704"/>
            <a:ext cx="10789920" cy="365760"/>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Yuqoridagi bloklar — misolning tayanch qismlari; ular har doim chiziqli trafik yo‘li emas.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M02 · ANIQLIK KIRITAMIZ</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Ko‘p uchraydigan noto‘g‘ri xulosalar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11</a:t>
            </a:r>
          </a:p>
        </p:txBody>
      </p:sp>
      <p:sp>
        <p:nvSpPr>
          <p:cNvPr id="8" name="Rounded Rectangle 7"/>
          <p:cNvSpPr/>
          <p:nvPr/>
        </p:nvSpPr>
        <p:spPr>
          <a:xfrm>
            <a:off x="640080" y="1892807"/>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1929384"/>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1</a:t>
            </a:r>
          </a:p>
        </p:txBody>
      </p:sp>
      <p:sp>
        <p:nvSpPr>
          <p:cNvPr id="10" name="TextBox 9"/>
          <p:cNvSpPr txBox="1"/>
          <p:nvPr/>
        </p:nvSpPr>
        <p:spPr>
          <a:xfrm>
            <a:off x="1353312" y="1892807"/>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Qatlamlar alohida bo‘lishi ularning barchasi alohida serverda bo‘lishi shartligini anglatmaydi.</a:t>
            </a:r>
          </a:p>
        </p:txBody>
      </p:sp>
      <p:sp>
        <p:nvSpPr>
          <p:cNvPr id="11" name="Rounded Rectangle 10"/>
          <p:cNvSpPr/>
          <p:nvPr/>
        </p:nvSpPr>
        <p:spPr>
          <a:xfrm>
            <a:off x="640080" y="3246120"/>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282696"/>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2</a:t>
            </a:r>
          </a:p>
        </p:txBody>
      </p:sp>
      <p:sp>
        <p:nvSpPr>
          <p:cNvPr id="13" name="TextBox 12"/>
          <p:cNvSpPr txBox="1"/>
          <p:nvPr/>
        </p:nvSpPr>
        <p:spPr>
          <a:xfrm>
            <a:off x="1353312" y="3246120"/>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Provayder SLA ko‘rsatkichi butun ilovaning aynan shunday mavjudligini avtomatik kafolatlamaydi.</a:t>
            </a:r>
          </a:p>
        </p:txBody>
      </p:sp>
      <p:sp>
        <p:nvSpPr>
          <p:cNvPr id="14" name="Rounded Rectangle 13"/>
          <p:cNvSpPr/>
          <p:nvPr/>
        </p:nvSpPr>
        <p:spPr>
          <a:xfrm>
            <a:off x="640080" y="4599431"/>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636007"/>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3</a:t>
            </a:r>
          </a:p>
        </p:txBody>
      </p:sp>
      <p:sp>
        <p:nvSpPr>
          <p:cNvPr id="16" name="TextBox 15"/>
          <p:cNvSpPr txBox="1"/>
          <p:nvPr/>
        </p:nvSpPr>
        <p:spPr>
          <a:xfrm>
            <a:off x="1353312" y="4599431"/>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Cheksiz masshtablash yo‘q: kvota, budjet, baza ulanishlari va tashqi xizmatlar cheklovlari mavjud.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M02 · YAKUN</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Mavzuning asosiy xulosalari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12</a:t>
            </a:r>
          </a:p>
        </p:txBody>
      </p:sp>
      <p:sp>
        <p:nvSpPr>
          <p:cNvPr id="8" name="Rounded Rectangle 7"/>
          <p:cNvSpPr/>
          <p:nvPr/>
        </p:nvSpPr>
        <p:spPr>
          <a:xfrm>
            <a:off x="640080"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01</a:t>
            </a:r>
          </a:p>
        </p:txBody>
      </p:sp>
      <p:sp>
        <p:nvSpPr>
          <p:cNvPr id="10" name="TextBox 9"/>
          <p:cNvSpPr txBox="1"/>
          <p:nvPr/>
        </p:nvSpPr>
        <p:spPr>
          <a:xfrm>
            <a:off x="859536"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Front-end → back-end → ma’lumotlar.</a:t>
            </a:r>
          </a:p>
        </p:txBody>
      </p:sp>
      <p:sp>
        <p:nvSpPr>
          <p:cNvPr id="11" name="Rounded Rectangle 10"/>
          <p:cNvSpPr/>
          <p:nvPr/>
        </p:nvSpPr>
        <p:spPr>
          <a:xfrm>
            <a:off x="4498848"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02</a:t>
            </a:r>
          </a:p>
        </p:txBody>
      </p:sp>
      <p:sp>
        <p:nvSpPr>
          <p:cNvPr id="13" name="TextBox 12"/>
          <p:cNvSpPr txBox="1"/>
          <p:nvPr/>
        </p:nvSpPr>
        <p:spPr>
          <a:xfrm>
            <a:off x="4718304"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Kuchliroq server ↔ ko‘proq server.</a:t>
            </a:r>
          </a:p>
        </p:txBody>
      </p:sp>
      <p:sp>
        <p:nvSpPr>
          <p:cNvPr id="14" name="Rounded Rectangle 13"/>
          <p:cNvSpPr/>
          <p:nvPr/>
        </p:nvSpPr>
        <p:spPr>
          <a:xfrm>
            <a:off x="8357615"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77072"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03</a:t>
            </a:r>
          </a:p>
        </p:txBody>
      </p:sp>
      <p:sp>
        <p:nvSpPr>
          <p:cNvPr id="16" name="TextBox 15"/>
          <p:cNvSpPr txBox="1"/>
          <p:nvPr/>
        </p:nvSpPr>
        <p:spPr>
          <a:xfrm>
            <a:off x="8577072"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Bitta komponent buzilsa, xizmat davom etadi.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M02 · QO‘SHIMCHA O‘QISH</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Manbalar va terminlar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13</a:t>
            </a:r>
          </a:p>
        </p:txBody>
      </p:sp>
      <p:sp>
        <p:nvSpPr>
          <p:cNvPr id="8" name="TextBox 7"/>
          <p:cNvSpPr txBox="1"/>
          <p:nvPr/>
        </p:nvSpPr>
        <p:spPr>
          <a:xfrm>
            <a:off x="685800" y="1920240"/>
            <a:ext cx="10789920" cy="822960"/>
          </a:xfrm>
          <a:prstGeom prst="rect">
            <a:avLst/>
          </a:prstGeom>
          <a:noFill/>
        </p:spPr>
        <p:txBody>
          <a:bodyPr wrap="square" lIns="27432" rIns="27432" tIns="18288" bIns="0">
            <a:spAutoFit/>
          </a:bodyPr>
          <a:lstStyle/>
          <a:p>
            <a:pPr>
              <a:spcAft>
                <a:spcPts val="1000"/>
              </a:spcAft>
              <a:defRPr sz="2100" b="1">
                <a:solidFill>
                  <a:srgbClr val="15365B"/>
                </a:solidFill>
                <a:latin typeface="DejaVu Sans"/>
              </a:defRPr>
            </a:pPr>
            <a:r>
              <a:t>Asos: BTST206 sillabusi, 2027–2028. M1–M18 ma’ruza bo‘limi.</a:t>
            </a:r>
          </a:p>
        </p:txBody>
      </p:sp>
      <p:sp>
        <p:nvSpPr>
          <p:cNvPr id="9" name="TextBox 8"/>
          <p:cNvSpPr txBox="1"/>
          <p:nvPr/>
        </p:nvSpPr>
        <p:spPr>
          <a:xfrm>
            <a:off x="713232" y="2926080"/>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https://docs.aws.amazon.com/wellarchitected/latest/reliability-pillar/</a:t>
            </a:r>
          </a:p>
        </p:txBody>
      </p:sp>
      <p:sp>
        <p:nvSpPr>
          <p:cNvPr id="10" name="TextBox 9"/>
          <p:cNvSpPr txBox="1"/>
          <p:nvPr/>
        </p:nvSpPr>
        <p:spPr>
          <a:xfrm>
            <a:off x="713232" y="3456432"/>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https://learn.microsoft.com/azure/architecture/guide/</a:t>
            </a:r>
          </a:p>
        </p:txBody>
      </p:sp>
      <p:sp>
        <p:nvSpPr>
          <p:cNvPr id="11" name="TextBox 10"/>
          <p:cNvSpPr txBox="1"/>
          <p:nvPr/>
        </p:nvSpPr>
        <p:spPr>
          <a:xfrm>
            <a:off x="713232" y="5650992"/>
            <a:ext cx="10789920" cy="502920"/>
          </a:xfrm>
          <a:prstGeom prst="rect">
            <a:avLst/>
          </a:prstGeom>
          <a:noFill/>
        </p:spPr>
        <p:txBody>
          <a:bodyPr wrap="square" lIns="27432" rIns="27432" tIns="18288" bIns="0">
            <a:spAutoFit/>
          </a:bodyPr>
          <a:lstStyle/>
          <a:p>
            <a:pPr>
              <a:spcAft>
                <a:spcPts val="1000"/>
              </a:spcAft>
              <a:defRPr sz="1600" b="0">
                <a:solidFill>
                  <a:srgbClr val="53687D"/>
                </a:solidFill>
                <a:latin typeface="DejaVu Sans"/>
              </a:defRPr>
            </a:pPr>
            <a:r>
              <a:t>Narx, limit va xizmat nomlarining amaldagi holati rasmiy hujjatlarda tekshiriladi.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