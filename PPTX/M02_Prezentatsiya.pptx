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 arxitekturasi va masshtablanuvchi tizimlar» mavzusiga bag‘ishlanadi. Mavzuni murakkab atamalardan emas, kundalik ehtiyojdan boshlaymiz. Qabul natijalari e’lon qilinganida portalga bir vaqtda minglab talabalar kiradi. Arxitektura bu talabni ko‘tarishi va bitta serverdagi nosozlikni butun tizimga tarqatmasligi kerak.</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arxitekturaning asosiy qatlamlari tushuntiriladi. 2-bo‘limda taqsimlangan hisoblash tushuntiriladi. 3-bo‘limda vertikal va gorizontal masshtablash tushuntiriladi. 4-bo‘limda yuqori mavjudlik va ishonchlilik tushuntiriladi. 5-bo‘limda nosozlikka bardoshlilik tushuntiriladi. 6-bo‘limda elastiklik va holatsiz ilova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Front-end foydalanuvchi ko‘radigan interfeysdir. Back-end so‘rovni tekshiradi, biznes qoidalarini bajaradi va natijani tayyorlaydi. Ma’lumotlar qatlami esa doimiy axborotni saqlaydi. Hisoblash, saqlash va tarmoq bu qatlamlar uchun asos yaratadi.</a:t>
            </a:r>
          </a:p>
          <a:p/>
          <a:p>
            <a:r>
              <a:t>Brauzer HTTPS so‘rovini yuboradi. Ilova foydalanuvchini tekshiradi, bazadan kerakli yozuvni oladi va javob qaytaradi. Qatlamlarni ajratish ularni mustaqil rivojlantirishga yordam beradi.</a:t>
            </a:r>
          </a:p>
          <a:p/>
          <a:p>
            <a:r>
              <a:t>Universitet misolida buni quyidagicha tasavvur qilamiz. Talaba baholarini ko‘radi: interfeys jadvalni chizadi, back-end ruxsatni tekshiradi, baza tegishli baholarni topadi. Bu misolda texnik atama real vazifa bilan bog‘lanadi: resursning nomini emas, nima uchun tanlanganini tushunish muhim.</a:t>
            </a:r>
          </a:p>
          <a:p/>
          <a:p>
            <a:r>
              <a:t>E’tibor beradigan chegara ham bor. Qatlamlar alohida bo‘lishi ularning barchasi alohida serverda bo‘lishi shartligini anglatmaydi.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tizimda komponentlar tarmoq orqali hamkorlik qiladi. Bu quvvatni oshiradi, lekin aloqa uzilishi va kechikish kabi yangi muammolarni keltirib chiqaradi. Har bir so‘rovning muvaffaqiyatli yetib borishi kafolatlanmaydi.</a:t>
            </a:r>
          </a:p>
          <a:p/>
          <a:p>
            <a:r>
              <a:t>Ilova vazifani kichik qismlarga ajratishi yoki mustaqil so‘rovlarni turli serverlarga tarqatishi mumkin. Natijalarni yig‘ishda takroriy xabar va vaqtinchalik uzilishlar hisobga olinadi.</a:t>
            </a:r>
          </a:p>
          <a:p/>
          <a:p>
            <a:r>
              <a:t>Universitet misolida buni quyidagicha tasavvur qilamiz. Hisobot yaratish ishlari navbatga yozilib, bir nechta ishchi jarayon tomonidan qayta ishlanadi. Bu misolda texnik atama real vazifa bilan bog‘lanadi: resursning nomini emas, nima uchun tanlanganini tushunish muhim.</a:t>
            </a:r>
          </a:p>
          <a:p/>
          <a:p>
            <a:r>
              <a:t>E’tibor beradigan chegara ham bor. Ko‘proq tugun qo‘shish har doim tezlikni teng nisbatda oshirmaydi: baza va tarmoq tor joyga aylanishi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Vertikal masshtablash bitta tugunning CPU yoki xotirasini oshiradi. Gorizontal masshtablash esa bir nechta nusxa qo‘shadi. Birinchisi sodda bo‘lishi mumkin, ikkinchisi yuqori yuklamani taqsimlashga ko‘proq imkon beradi.</a:t>
            </a:r>
          </a:p>
          <a:p/>
          <a:p>
            <a:r>
              <a:t>Gorizontal modelda yuklama taqsimlagich so‘rovlarni nusxalar orasida tarqatadi. Sessiya ma’lumotlari faqat bitta server xotirasida qolsa, bunday taqsimlash qiyinlashadi.</a:t>
            </a:r>
          </a:p>
          <a:p/>
          <a:p>
            <a:r>
              <a:t>Universitet misolida buni quyidagicha tasavvur qilamiz. Portal avval 2 vCPU dan 4 vCPU ga o‘tadi. Keyin esa uchta ilova nusxasini yuklama taqsimlagich ortida ishlatadi. Bu misolda texnik atama real vazifa bilan bog‘lanadi: resursning nomini emas, nima uchun tanlanganini tushunish muhim.</a:t>
            </a:r>
          </a:p>
          <a:p/>
          <a:p>
            <a:r>
              <a:t>E’tibor beradigan chegara ham bor. Gorizontal masshtablash uchun holatni tashqi bazaga yoki keshga ajratish ko‘pincha zarur.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Mavjudlik tizim kerakli vaqtda foydalanishga tayyorligini bildiradi. Ishonchlilik esa belgilangan sharoitda vazifani to‘g‘ri bajarish bilan bog‘liq. Sahifa ochilishi, ammo noto‘g‘ri baho ko‘rsatishi mavjudlik borligi bilan sifat kafolatlanmasligini ko‘rsatadi.</a:t>
            </a:r>
          </a:p>
          <a:p/>
          <a:p>
            <a:r>
              <a:t>Mavjudlik odatda vaqt yoki muvaffaqiyatli so‘rov ulushi orqali o‘lchanadi. Maqsad ko‘rsatkichlari monitoring va nosozlikka javob berish tartibi bilan bog‘lanadi.</a:t>
            </a:r>
          </a:p>
          <a:p/>
          <a:p>
            <a:r>
              <a:t>Universitet misolida buni quyidagicha tasavvur qilamiz. 30 kunlik davrda 99,9 foiz mavjudlik taxminan 43,2 daqiqa mavjud bo‘lmaslikka mos keladi. Bu faqat hisobiy misol. Bu misolda texnik atama real vazifa bilan bog‘lanadi: resursning nomini emas, nima uchun tanlanganini tushunish muhim.</a:t>
            </a:r>
          </a:p>
          <a:p/>
          <a:p>
            <a:r>
              <a:t>E’tibor beradigan chegara ham bor. Provayder SLA ko‘rsatkichi butun ilovaning aynan shunday mavjudligini avtomatik kafolatlamaydi.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Bardoshlilik nosozlikni butun tizimga tarqatmaslikni anglatadi. Buning uchun takroriy nusxalar, sog‘lomlik tekshiruvlari, vaqt chegaralari va tiklash mexanizmlari qo‘llanadi. Ortiqcha nusxalar mustaqil nosozlik hududlarida bo‘lishi ma’qul.</a:t>
            </a:r>
          </a:p>
          <a:p/>
          <a:p>
            <a:r>
              <a:t>Yuklama taqsimlagich javob bermayotgan nusxaga so‘rov yuborishni to‘xtatadi. Ilova vaqt tugashini kutib cheksiz osilib qolmaydi. Takrorlashlar soni va oralig‘i cheklanadi.</a:t>
            </a:r>
          </a:p>
          <a:p/>
          <a:p>
            <a:r>
              <a:t>Universitet misolida buni quyidagicha tasavvur qilamiz. Bir zonadagi ilova ishlamay qolsa, boshqa zonadagi sog‘lom nusxa so‘rovlarni qabul qiladi. Bu misolda texnik atama real vazifa bilan bog‘lanadi: resursning nomini emas, nima uchun tanlanganini tushunish muhim.</a:t>
            </a:r>
          </a:p>
          <a:p/>
          <a:p>
            <a:r>
              <a:t>E’tibor beradigan chegara ham bor. Replikatsiya inson xatosi yoki noto‘g‘ri o‘chirishni ham nusxalashi mumkin; u zaxiralash o‘rnini bosmaydi.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Masshtablanuvchanlik quvvatni oshirish imkoniyati bo‘lsa, elastiklik uni talabga mos ravishda kengaytirish va qisqartirishdir. Holatsiz ilova oldingi so‘rovga oid muhim holatni faqat o‘z xotirasida saqlamaydi.</a:t>
            </a:r>
          </a:p>
          <a:p/>
          <a:p>
            <a:r>
              <a:t>CPU, navbat uzunligi yoki so‘rovlar soni bo‘yicha qo‘shimcha nusxalar ochiladi. Yuklama pasayganda ular kamaytiriladi. Boshlanish vaqti hamda baza limiti siyosatda hisobga olinadi.</a:t>
            </a:r>
          </a:p>
          <a:p/>
          <a:p>
            <a:r>
              <a:t>Universitet misolida buni quyidagicha tasavvur qilamiz. Talabaning sessiyasi umumiy keshda saqlansa, keyingi so‘rov boshqa ilova nusxasiga tushganda ham ishlaydi. Bu misolda texnik atama real vazifa bilan bog‘lanadi: resursning nomini emas, nima uchun tanlanganini tushunish muhim.</a:t>
            </a:r>
          </a:p>
          <a:p/>
          <a:p>
            <a:r>
              <a:t>E’tibor beradigan chegara ham bor. Cheksiz masshtablash yo‘q: kvota, budjet, baza ulanishlari va tashqi xizmatlar cheklovlari mavjud.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«Talaba» bilan «Load Balancer» o‘rtasida sxemada bog‘lanish ko‘rsatilgan. «Load Balancer» bilan «Ilova A · zona 1» o‘rtasida sxemada bog‘lanish ko‘rsatilgan. «Load Balancer» bilan «Ilova B · zona 2» o‘rtasida sxemada bog‘lanish ko‘rsatilgan. «Ilova A · zona 1» bilan «Umumiy baza» o‘rtasida sxemada bog‘lanish ko‘rsatilgan. «Ilova B · zona 2» bilan «Umumiy baza» o‘rtasida sxemada bog‘lanish ko‘rsatilgan.</a:t>
            </a:r>
          </a:p>
          <a:p/>
          <a:p>
            <a:r>
              <a:t>Bu bog‘lanishlarni barcha xizmatlarda bir xil buyruq yoki bir xil fizik kabel deb tushunmaymiz. Ayrim o‘qlar bajarilish ketma-ketligini, ayrimlari resursni boshqarish yoki unga kirish aloqasini anglatadi. Ilova vazifani kichik qismlarga ajratishi yoki mustaqil so‘rovlarni turli serverlarga tarqatishi mumkin. Natijalarni yig‘ishda takroriy xabar va vaqtinchalik uzilishlar hisobga olinadi.</a:t>
            </a:r>
          </a:p>
          <a:p/>
          <a:p>
            <a:r>
              <a:t>Sxemaning asosiy foydasi mas’uliyatlarni ajratib ko‘rsatishdir. Bir zonadagi ilova ishlamay qolsa, boshqa zonadagi sog‘lom nusxa so‘rovlarni qabul qiladi.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Qabul natijalari e’lon qilinganida portalga bir vaqtda minglab talabalar kiradi. Arxitektura bu talabni ko‘tarishi va bitta serverdagi nosozlikni butun tizimga tarqatmasligi kerak.</a:t>
            </a:r>
          </a:p>
          <a:p/>
          <a:p>
            <a:r>
              <a:t>Avval ehtiyoj aniqlanadi: kim tizimdan foydalanadi, qaysi ma’lumot bilan ishlanadi va qanday natija kutiladi. Talaba baholarini ko‘radi: interfeys jadvalni chizadi, back-end ruxsatni tekshiradi, baza tegishli baholarni topadi. Keyin texnik qismlar shu talabga mos tanlanadi. Portal avval 2 vCPU dan 4 vCPU ga o‘tadi. Keyin esa uchta ilova nusxasini yuklama taqsimlagich ortida ishlatadi.</a:t>
            </a:r>
          </a:p>
          <a:p/>
          <a:p>
            <a:r>
              <a:t>Ishlash jarayonida faqat muvaffaqiyatli holat emas, xato va cheklovlar ham hisobga olinadi. Provayder SLA ko‘rsatkichi butun ilovaning aynan shunday mavjudligini avtomatik kafolatlamaydi. Shu sababli jamoa talabni, ruxsatni va nosozlikdagi xatti-harakatni oldindan belgilaydi. Talabaning sessiyasi umumiy keshda saqlansa, keyingi so‘rov boshqa ilova nusxasiga tushganda ham ishlaydi.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Qatlamlar alohida bo‘lishi ularning barchasi alohida serverda bo‘lishi shartligini anglatmaydi. To‘g‘ri talqin quyidagicha: Front-end foydalanuvchi ko‘radigan interfeysdir. Back-end so‘rovni tekshiradi, biznes qoidalarini bajaradi va natijani tayyorlaydi. Ma’lumotlar qatlami esa doimiy axborotni saqlaydi. Hisoblash, saqlash va tarmoq bu qatlamlar uchun asos yaratadi.</a:t>
            </a:r>
          </a:p>
          <a:p/>
          <a:p>
            <a:r>
              <a:t>2. Provayder SLA ko‘rsatkichi butun ilovaning aynan shunday mavjudligini avtomatik kafolatlamaydi. To‘g‘ri talqin quyidagicha: Mavjudlik tizim kerakli vaqtda foydalanishga tayyorligini bildiradi. Ishonchlilik esa belgilangan sharoitda vazifani to‘g‘ri bajarish bilan bog‘liq. Sahifa ochilishi, ammo noto‘g‘ri baho ko‘rsatishi mavjudlik borligi bilan sifat kafolatlanmasligini ko‘rsatadi.</a:t>
            </a:r>
          </a:p>
          <a:p/>
          <a:p>
            <a:r>
              <a:t>3. Cheksiz masshtablash yo‘q: kvota, budjet, baza ulanishlari va tashqi xizmatlar cheklovlari mavjud. To‘g‘ri talqin quyidagicha: Masshtablanuvchanlik quvvatni oshirish imkoniyati bo‘lsa, elastiklik uni talabga mos ravishda kengaytirish va qisqartirishdir. Holatsiz ilova oldingi so‘rovga oid muhim holatni faqat o‘z xotirasida saqlamaydi.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Ko‘p foydalanuvchiga barqaror xizmat ko‘rsatish — mavzuning umumiy mazmunini ifodalaydi.</a:t>
            </a:r>
          </a:p>
          <a:p/>
          <a:p>
            <a:r>
              <a:t>Asosiy tayanch fikr: Front-end → back-end → ma’lumotlar. Brauzer HTTPS so‘rovini yuboradi. Ilova foydalanuvchini tekshiradi, bazadan kerakli yozuvni oladi va javob qaytaradi. Qatlamlarni ajratish ularni mustaqil rivojlantirishga yordam beradi.</a:t>
            </a:r>
          </a:p>
          <a:p/>
          <a:p>
            <a:r>
              <a:t>Asosiy tayanch fikr: Kuchliroq server ↔ ko‘proq server. Gorizontal modelda yuklama taqsimlagich so‘rovlarni nusxalar orasida tarqatadi. Sessiya ma’lumotlari faqat bitta server xotirasida qolsa, bunday taqsimlash qiyinlashadi.</a:t>
            </a:r>
          </a:p>
          <a:p/>
          <a:p>
            <a:r>
              <a:t>Asosiy tayanch fikr: Bitta komponent buzilsa, xizmat davom etadi. Yuklama taqsimlagich javob bermayotgan nusxaga so‘rov yuborishni to‘xtatadi. Ilova vaqt tugashini kutib cheksiz osilib qolmaydi. Takrorlashlar soni va oralig‘i cheklanadi.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38404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6809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5214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3619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92024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0428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8833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7238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45643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4048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2452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0857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9262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7667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6072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4476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2881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91286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29691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8096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6500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4905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83310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21715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0120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8524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369296"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53344"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137392"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521440"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905488" y="0"/>
            <a:ext cx="0" cy="649224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0"/>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384048"/>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768096"/>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1152144"/>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0" y="1536192"/>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0" y="1920240"/>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0" y="2304288"/>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2688336"/>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3072384"/>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3456432"/>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3840480"/>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4224528"/>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0" y="4608576"/>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4992624"/>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5376672"/>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5760720"/>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0" y="6144768"/>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0" y="6528816"/>
            <a:ext cx="12191695" cy="0"/>
          </a:xfrm>
          <a:prstGeom prst="line">
            <a:avLst/>
          </a:prstGeom>
          <a:ln w="5080">
            <a:solidFill>
              <a:srgbClr val="E2EDFA"/>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621792" y="640080"/>
            <a:ext cx="1097280" cy="438912"/>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740664"/>
            <a:ext cx="914400" cy="274320"/>
          </a:xfrm>
          <a:prstGeom prst="rect">
            <a:avLst/>
          </a:prstGeom>
          <a:noFill/>
        </p:spPr>
        <p:txBody>
          <a:bodyPr wrap="square" lIns="27432" rIns="27432" tIns="18288" bIns="0">
            <a:spAutoFit/>
          </a:bodyPr>
          <a:lstStyle/>
          <a:p>
            <a:pPr>
              <a:spcAft>
                <a:spcPts val="800"/>
              </a:spcAft>
              <a:defRPr sz="1300" b="1">
                <a:solidFill>
                  <a:srgbClr val="FFFFFF"/>
                </a:solidFill>
                <a:latin typeface="DejaVu Sans"/>
              </a:defRPr>
            </a:pPr>
            <a:r>
              <a:t>M / 02</a:t>
            </a:r>
          </a:p>
        </p:txBody>
      </p:sp>
      <p:sp>
        <p:nvSpPr>
          <p:cNvPr id="54" name="TextBox 53"/>
          <p:cNvSpPr txBox="1"/>
          <p:nvPr/>
        </p:nvSpPr>
        <p:spPr>
          <a:xfrm>
            <a:off x="640080" y="1463040"/>
            <a:ext cx="7040880" cy="2651760"/>
          </a:xfrm>
          <a:prstGeom prst="rect">
            <a:avLst/>
          </a:prstGeom>
          <a:noFill/>
        </p:spPr>
        <p:txBody>
          <a:bodyPr wrap="square" lIns="27432" rIns="27432" tIns="18288" bIns="0">
            <a:spAutoFit/>
          </a:bodyPr>
          <a:lstStyle/>
          <a:p>
            <a:pPr>
              <a:spcAft>
                <a:spcPts val="800"/>
              </a:spcAft>
              <a:defRPr sz="3500" b="1">
                <a:solidFill>
                  <a:srgbClr val="193451"/>
                </a:solidFill>
                <a:latin typeface="DejaVu Sans"/>
              </a:defRPr>
            </a:pPr>
            <a:r>
              <a:t>Bulut arxitekturasi</a:t>
            </a:r>
          </a:p>
          <a:p>
            <a:pPr>
              <a:spcAft>
                <a:spcPts val="800"/>
              </a:spcAft>
              <a:defRPr sz="3500" b="1">
                <a:solidFill>
                  <a:srgbClr val="193451"/>
                </a:solidFill>
                <a:latin typeface="DejaVu Sans"/>
              </a:defRPr>
            </a:pPr>
            <a:r>
              <a:t>va masshtablanuvchi</a:t>
            </a:r>
          </a:p>
          <a:p>
            <a:pPr>
              <a:spcAft>
                <a:spcPts val="800"/>
              </a:spcAft>
              <a:defRPr sz="3500" b="1">
                <a:solidFill>
                  <a:srgbClr val="193451"/>
                </a:solidFill>
                <a:latin typeface="DejaVu Sans"/>
              </a:defRPr>
            </a:pPr>
            <a:r>
              <a:t>tizimlar</a:t>
            </a:r>
          </a:p>
        </p:txBody>
      </p:sp>
      <p:sp>
        <p:nvSpPr>
          <p:cNvPr id="55" name="TextBox 54"/>
          <p:cNvSpPr txBox="1"/>
          <p:nvPr/>
        </p:nvSpPr>
        <p:spPr>
          <a:xfrm>
            <a:off x="685800" y="4572000"/>
            <a:ext cx="6035040" cy="914400"/>
          </a:xfrm>
          <a:prstGeom prst="rect">
            <a:avLst/>
          </a:prstGeom>
          <a:noFill/>
        </p:spPr>
        <p:txBody>
          <a:bodyPr wrap="square" lIns="27432" rIns="27432" tIns="18288" bIns="0">
            <a:spAutoFit/>
          </a:bodyPr>
          <a:lstStyle/>
          <a:p>
            <a:pPr>
              <a:spcAft>
                <a:spcPts val="800"/>
              </a:spcAft>
              <a:defRPr sz="2200" b="0">
                <a:solidFill>
                  <a:srgbClr val="416381"/>
                </a:solidFill>
                <a:latin typeface="DejaVu Sans"/>
              </a:defRPr>
            </a:pPr>
            <a:r>
              <a:t>Ko‘p foydalanuvchiga barqaror xizmat ko‘rsatish</a:t>
            </a:r>
          </a:p>
        </p:txBody>
      </p:sp>
      <p:pic>
        <p:nvPicPr>
          <p:cNvPr id="56" name="Picture 55" descr="n_tier_architecture.png"/>
          <p:cNvPicPr>
            <a:picLocks noChangeAspect="1"/>
          </p:cNvPicPr>
          <p:nvPr/>
        </p:nvPicPr>
        <p:blipFill>
          <a:blip r:embed="rId2"/>
          <a:stretch>
            <a:fillRect/>
          </a:stretch>
        </p:blipFill>
        <p:spPr>
          <a:xfrm>
            <a:off x="7680960" y="1828601"/>
            <a:ext cx="3858768" cy="1518300"/>
          </a:xfrm>
          <a:prstGeom prst="rect">
            <a:avLst/>
          </a:prstGeom>
        </p:spPr>
      </p:pic>
      <p:sp>
        <p:nvSpPr>
          <p:cNvPr id="57" name="Rectangle 56"/>
          <p:cNvSpPr/>
          <p:nvPr/>
        </p:nvSpPr>
        <p:spPr>
          <a:xfrm>
            <a:off x="7909560" y="4480560"/>
            <a:ext cx="914400" cy="731520"/>
          </a:xfrm>
          <a:prstGeom prst="rect">
            <a:avLst/>
          </a:prstGeom>
          <a:solidFill>
            <a:srgbClr val="FFFF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4672584"/>
            <a:ext cx="640080" cy="274320"/>
          </a:xfrm>
          <a:prstGeom prst="rect">
            <a:avLst/>
          </a:prstGeom>
          <a:noFill/>
        </p:spPr>
        <p:txBody>
          <a:bodyPr wrap="square" lIns="27432" rIns="27432" tIns="18288" bIns="0">
            <a:spAutoFit/>
          </a:bodyPr>
          <a:lstStyle/>
          <a:p>
            <a:pPr>
              <a:spcAft>
                <a:spcPts val="800"/>
              </a:spcAft>
              <a:defRPr sz="1100" b="1">
                <a:solidFill>
                  <a:srgbClr val="2869C8"/>
                </a:solidFill>
                <a:latin typeface="DejaVu Sans"/>
              </a:defRPr>
            </a:pPr>
            <a:r>
              <a:t>APP 1</a:t>
            </a:r>
          </a:p>
        </p:txBody>
      </p:sp>
      <p:sp>
        <p:nvSpPr>
          <p:cNvPr id="59" name="Rectangle 58"/>
          <p:cNvSpPr/>
          <p:nvPr/>
        </p:nvSpPr>
        <p:spPr>
          <a:xfrm>
            <a:off x="9043416" y="4480560"/>
            <a:ext cx="914400" cy="731520"/>
          </a:xfrm>
          <a:prstGeom prst="rect">
            <a:avLst/>
          </a:prstGeom>
          <a:solidFill>
            <a:srgbClr val="FFFF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98864" y="4672584"/>
            <a:ext cx="640080" cy="274320"/>
          </a:xfrm>
          <a:prstGeom prst="rect">
            <a:avLst/>
          </a:prstGeom>
          <a:noFill/>
        </p:spPr>
        <p:txBody>
          <a:bodyPr wrap="square" lIns="27432" rIns="27432" tIns="18288" bIns="0">
            <a:spAutoFit/>
          </a:bodyPr>
          <a:lstStyle/>
          <a:p>
            <a:pPr>
              <a:spcAft>
                <a:spcPts val="800"/>
              </a:spcAft>
              <a:defRPr sz="1100" b="1">
                <a:solidFill>
                  <a:srgbClr val="2869C8"/>
                </a:solidFill>
                <a:latin typeface="DejaVu Sans"/>
              </a:defRPr>
            </a:pPr>
            <a:r>
              <a:t>APP 2</a:t>
            </a:r>
          </a:p>
        </p:txBody>
      </p:sp>
      <p:sp>
        <p:nvSpPr>
          <p:cNvPr id="61" name="Rectangle 60"/>
          <p:cNvSpPr/>
          <p:nvPr/>
        </p:nvSpPr>
        <p:spPr>
          <a:xfrm>
            <a:off x="10177272" y="4480560"/>
            <a:ext cx="914400" cy="731520"/>
          </a:xfrm>
          <a:prstGeom prst="rect">
            <a:avLst/>
          </a:prstGeom>
          <a:solidFill>
            <a:srgbClr val="FFFF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332720" y="4672584"/>
            <a:ext cx="640080" cy="274320"/>
          </a:xfrm>
          <a:prstGeom prst="rect">
            <a:avLst/>
          </a:prstGeom>
          <a:noFill/>
        </p:spPr>
        <p:txBody>
          <a:bodyPr wrap="square" lIns="27432" rIns="27432" tIns="18288" bIns="0">
            <a:spAutoFit/>
          </a:bodyPr>
          <a:lstStyle/>
          <a:p>
            <a:pPr>
              <a:spcAft>
                <a:spcPts val="800"/>
              </a:spcAft>
              <a:defRPr sz="1100" b="1">
                <a:solidFill>
                  <a:srgbClr val="2869C8"/>
                </a:solidFill>
                <a:latin typeface="DejaVu Sans"/>
              </a:defRPr>
            </a:pPr>
            <a:r>
              <a:t>APP 3</a:t>
            </a:r>
          </a:p>
        </p:txBody>
      </p:sp>
      <p:cxnSp>
        <p:nvCxnSpPr>
          <p:cNvPr id="63" name="Connector 62"/>
          <p:cNvCxnSpPr/>
          <p:nvPr/>
        </p:nvCxnSpPr>
        <p:spPr>
          <a:xfrm>
            <a:off x="7470648" y="4114800"/>
            <a:ext cx="4005072" cy="0"/>
          </a:xfrm>
          <a:prstGeom prst="line">
            <a:avLst/>
          </a:prstGeom>
          <a:ln w="25400">
            <a:solidFill>
              <a:srgbClr val="2869C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418320" y="3749039"/>
            <a:ext cx="0" cy="365761"/>
          </a:xfrm>
          <a:prstGeom prst="line">
            <a:avLst/>
          </a:prstGeom>
          <a:ln w="25400">
            <a:solidFill>
              <a:srgbClr val="2869C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366760" y="4114800"/>
            <a:ext cx="0" cy="365760"/>
          </a:xfrm>
          <a:prstGeom prst="line">
            <a:avLst/>
          </a:prstGeom>
          <a:ln w="25400">
            <a:solidFill>
              <a:srgbClr val="2869C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00616" y="4114800"/>
            <a:ext cx="0" cy="365760"/>
          </a:xfrm>
          <a:prstGeom prst="line">
            <a:avLst/>
          </a:prstGeom>
          <a:ln w="25400">
            <a:solidFill>
              <a:srgbClr val="2869C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634472" y="4114800"/>
            <a:ext cx="0" cy="365760"/>
          </a:xfrm>
          <a:prstGeom prst="line">
            <a:avLst/>
          </a:prstGeom>
          <a:ln w="25400">
            <a:solidFill>
              <a:srgbClr val="2869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85800" y="5943600"/>
            <a:ext cx="10698480" cy="320040"/>
          </a:xfrm>
          <a:prstGeom prst="rect">
            <a:avLst/>
          </a:prstGeom>
          <a:noFill/>
        </p:spPr>
        <p:txBody>
          <a:bodyPr wrap="square" lIns="27432" rIns="27432" tIns="18288" bIns="0">
            <a:spAutoFit/>
          </a:bodyPr>
          <a:lstStyle/>
          <a:p>
            <a:pPr>
              <a:spcAft>
                <a:spcPts val="800"/>
              </a:spcAft>
              <a:defRPr sz="1300" b="1">
                <a:solidFill>
                  <a:srgbClr val="2869C8"/>
                </a:solidFill>
                <a:latin typeface="DejaVu Sans"/>
              </a:defRPr>
            </a:pPr>
            <a:r>
              <a:t>ARXITEKTURA  →  MASSHTAB  →  BARQARORLIK</a:t>
            </a:r>
          </a:p>
        </p:txBody>
      </p:sp>
      <p:sp>
        <p:nvSpPr>
          <p:cNvPr id="69" name="TextBox 6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567083"/>
                </a:solidFill>
                <a:latin typeface="DejaVu Sans"/>
              </a:defRPr>
            </a:pPr>
            <a:r>
              <a:t>BTST206   /   M02   /   2027–2028</a:t>
            </a:r>
          </a:p>
        </p:txBody>
      </p:sp>
      <p:sp>
        <p:nvSpPr>
          <p:cNvPr id="70" name="TextBox 6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567083"/>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02</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Ma’ruza yo‘nalishi</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02 / 13</a:t>
            </a:r>
          </a:p>
        </p:txBody>
      </p:sp>
      <p:sp>
        <p:nvSpPr>
          <p:cNvPr id="26" name="Rectangle 25"/>
          <p:cNvSpPr/>
          <p:nvPr/>
        </p:nvSpPr>
        <p:spPr>
          <a:xfrm>
            <a:off x="640080" y="2057400"/>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2176272"/>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01</a:t>
            </a:r>
          </a:p>
        </p:txBody>
      </p:sp>
      <p:sp>
        <p:nvSpPr>
          <p:cNvPr id="28" name="TextBox 27"/>
          <p:cNvSpPr txBox="1"/>
          <p:nvPr/>
        </p:nvSpPr>
        <p:spPr>
          <a:xfrm>
            <a:off x="795528" y="2624328"/>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Arxitekturaning asosiy qatlamlari</a:t>
            </a:r>
          </a:p>
        </p:txBody>
      </p:sp>
      <p:sp>
        <p:nvSpPr>
          <p:cNvPr id="29" name="Rectangle 28"/>
          <p:cNvSpPr/>
          <p:nvPr/>
        </p:nvSpPr>
        <p:spPr>
          <a:xfrm>
            <a:off x="4389120" y="2057400"/>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44568" y="2176272"/>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02</a:t>
            </a:r>
          </a:p>
        </p:txBody>
      </p:sp>
      <p:sp>
        <p:nvSpPr>
          <p:cNvPr id="31" name="TextBox 30"/>
          <p:cNvSpPr txBox="1"/>
          <p:nvPr/>
        </p:nvSpPr>
        <p:spPr>
          <a:xfrm>
            <a:off x="4544568" y="2624328"/>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Taqsimlangan hisoblash</a:t>
            </a:r>
          </a:p>
        </p:txBody>
      </p:sp>
      <p:sp>
        <p:nvSpPr>
          <p:cNvPr id="32" name="Rectangle 31"/>
          <p:cNvSpPr/>
          <p:nvPr/>
        </p:nvSpPr>
        <p:spPr>
          <a:xfrm>
            <a:off x="8138159" y="2057400"/>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3607" y="2176272"/>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03</a:t>
            </a:r>
          </a:p>
        </p:txBody>
      </p:sp>
      <p:sp>
        <p:nvSpPr>
          <p:cNvPr id="34" name="TextBox 33"/>
          <p:cNvSpPr txBox="1"/>
          <p:nvPr/>
        </p:nvSpPr>
        <p:spPr>
          <a:xfrm>
            <a:off x="8293607" y="2624328"/>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Vertikal va gorizontal masshtablash</a:t>
            </a:r>
          </a:p>
        </p:txBody>
      </p:sp>
      <p:sp>
        <p:nvSpPr>
          <p:cNvPr id="35" name="Rectangle 34"/>
          <p:cNvSpPr/>
          <p:nvPr/>
        </p:nvSpPr>
        <p:spPr>
          <a:xfrm>
            <a:off x="640080" y="3959352"/>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 y="4078224"/>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04</a:t>
            </a:r>
          </a:p>
        </p:txBody>
      </p:sp>
      <p:sp>
        <p:nvSpPr>
          <p:cNvPr id="37" name="TextBox 36"/>
          <p:cNvSpPr txBox="1"/>
          <p:nvPr/>
        </p:nvSpPr>
        <p:spPr>
          <a:xfrm>
            <a:off x="795528" y="4526280"/>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Yuqori mavjudlik va ishonchlilik</a:t>
            </a:r>
          </a:p>
        </p:txBody>
      </p:sp>
      <p:sp>
        <p:nvSpPr>
          <p:cNvPr id="38" name="Rectangle 37"/>
          <p:cNvSpPr/>
          <p:nvPr/>
        </p:nvSpPr>
        <p:spPr>
          <a:xfrm>
            <a:off x="4389120" y="3959352"/>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44568" y="4078224"/>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05</a:t>
            </a:r>
          </a:p>
        </p:txBody>
      </p:sp>
      <p:sp>
        <p:nvSpPr>
          <p:cNvPr id="40" name="TextBox 39"/>
          <p:cNvSpPr txBox="1"/>
          <p:nvPr/>
        </p:nvSpPr>
        <p:spPr>
          <a:xfrm>
            <a:off x="4544568" y="4526280"/>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Nosozlikka bardoshlilik</a:t>
            </a:r>
          </a:p>
        </p:txBody>
      </p:sp>
      <p:sp>
        <p:nvSpPr>
          <p:cNvPr id="41" name="Rectangle 40"/>
          <p:cNvSpPr/>
          <p:nvPr/>
        </p:nvSpPr>
        <p:spPr>
          <a:xfrm>
            <a:off x="8138159" y="3959352"/>
            <a:ext cx="3547872" cy="1591056"/>
          </a:xfrm>
          <a:prstGeom prst="rect">
            <a:avLst/>
          </a:prstGeom>
          <a:solidFill>
            <a:srgbClr val="FFFFFF"/>
          </a:solidFill>
          <a:ln>
            <a:solidFill>
              <a:srgbClr val="BD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93607" y="4078224"/>
            <a:ext cx="548640" cy="365760"/>
          </a:xfrm>
          <a:prstGeom prst="rect">
            <a:avLst/>
          </a:prstGeom>
          <a:noFill/>
        </p:spPr>
        <p:txBody>
          <a:bodyPr wrap="square" lIns="27432" rIns="27432" tIns="18288" bIns="0">
            <a:spAutoFit/>
          </a:bodyPr>
          <a:lstStyle/>
          <a:p>
            <a:pPr>
              <a:spcAft>
                <a:spcPts val="800"/>
              </a:spcAft>
              <a:defRPr sz="1500" b="1">
                <a:solidFill>
                  <a:srgbClr val="2869C8"/>
                </a:solidFill>
                <a:latin typeface="DejaVu Sans"/>
              </a:defRPr>
            </a:pPr>
            <a:r>
              <a:t>06</a:t>
            </a:r>
          </a:p>
        </p:txBody>
      </p:sp>
      <p:sp>
        <p:nvSpPr>
          <p:cNvPr id="43" name="TextBox 42"/>
          <p:cNvSpPr txBox="1"/>
          <p:nvPr/>
        </p:nvSpPr>
        <p:spPr>
          <a:xfrm>
            <a:off x="8293607" y="4526280"/>
            <a:ext cx="3236976" cy="868680"/>
          </a:xfrm>
          <a:prstGeom prst="rect">
            <a:avLst/>
          </a:prstGeom>
          <a:noFill/>
        </p:spPr>
        <p:txBody>
          <a:bodyPr wrap="square" lIns="27432" rIns="27432" tIns="18288" bIns="0">
            <a:spAutoFit/>
          </a:bodyPr>
          <a:lstStyle/>
          <a:p>
            <a:pPr>
              <a:spcAft>
                <a:spcPts val="800"/>
              </a:spcAft>
              <a:defRPr sz="2100" b="1">
                <a:solidFill>
                  <a:srgbClr val="193451"/>
                </a:solidFill>
                <a:latin typeface="DejaVu Sans"/>
              </a:defRPr>
            </a:pPr>
            <a:r>
              <a:t>Elastiklik va holatsiz ilova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03</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Arxitekturaning asosiy qatlamlari</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03 / 13</a:t>
            </a:r>
          </a:p>
        </p:txBody>
      </p:sp>
      <p:sp>
        <p:nvSpPr>
          <p:cNvPr id="26" name="Rectangle 25"/>
          <p:cNvSpPr/>
          <p:nvPr/>
        </p:nvSpPr>
        <p:spPr>
          <a:xfrm>
            <a:off x="658368" y="1920240"/>
            <a:ext cx="6428232" cy="1051560"/>
          </a:xfrm>
          <a:prstGeom prst="rect">
            <a:avLst/>
          </a:prstGeom>
          <a:solidFill>
            <a:srgbClr val="FFFFFF"/>
          </a:solidFill>
          <a:ln>
            <a:solidFill>
              <a:srgbClr val="BED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2039112"/>
            <a:ext cx="2377440" cy="685800"/>
          </a:xfrm>
          <a:prstGeom prst="rect">
            <a:avLst/>
          </a:prstGeom>
          <a:noFill/>
        </p:spPr>
        <p:txBody>
          <a:bodyPr wrap="square" lIns="27432" rIns="27432" tIns="18288" bIns="0">
            <a:spAutoFit/>
          </a:bodyPr>
          <a:lstStyle/>
          <a:p>
            <a:pPr>
              <a:spcAft>
                <a:spcPts val="800"/>
              </a:spcAft>
              <a:defRPr sz="2200" b="1">
                <a:solidFill>
                  <a:srgbClr val="2869C8"/>
                </a:solidFill>
                <a:latin typeface="DejaVu Sans"/>
              </a:defRPr>
            </a:pPr>
            <a:r>
              <a:t>Front-end</a:t>
            </a:r>
          </a:p>
        </p:txBody>
      </p:sp>
      <p:sp>
        <p:nvSpPr>
          <p:cNvPr id="28" name="TextBox 27"/>
          <p:cNvSpPr txBox="1"/>
          <p:nvPr/>
        </p:nvSpPr>
        <p:spPr>
          <a:xfrm>
            <a:off x="3429000" y="2075688"/>
            <a:ext cx="3383280" cy="667512"/>
          </a:xfrm>
          <a:prstGeom prst="rect">
            <a:avLst/>
          </a:prstGeom>
          <a:noFill/>
        </p:spPr>
        <p:txBody>
          <a:bodyPr wrap="square" lIns="27432" rIns="27432" tIns="18288" bIns="0">
            <a:spAutoFit/>
          </a:bodyPr>
          <a:lstStyle/>
          <a:p>
            <a:pPr>
              <a:spcAft>
                <a:spcPts val="800"/>
              </a:spcAft>
              <a:defRPr sz="2000" b="0">
                <a:solidFill>
                  <a:srgbClr val="193451"/>
                </a:solidFill>
                <a:latin typeface="DejaVu Sans"/>
              </a:defRPr>
            </a:pPr>
            <a:r>
              <a:t>Talaba ko‘radigan interfeys</a:t>
            </a:r>
          </a:p>
        </p:txBody>
      </p:sp>
      <p:cxnSp>
        <p:nvCxnSpPr>
          <p:cNvPr id="29" name="Connector 28"/>
          <p:cNvCxnSpPr/>
          <p:nvPr/>
        </p:nvCxnSpPr>
        <p:spPr>
          <a:xfrm>
            <a:off x="3840480" y="2980944"/>
            <a:ext cx="0" cy="219456"/>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58368" y="3227832"/>
            <a:ext cx="6428232" cy="1051560"/>
          </a:xfrm>
          <a:prstGeom prst="rect">
            <a:avLst/>
          </a:prstGeom>
          <a:solidFill>
            <a:srgbClr val="FFFFFF"/>
          </a:solidFill>
          <a:ln>
            <a:solidFill>
              <a:srgbClr val="BED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346704"/>
            <a:ext cx="2377440" cy="685800"/>
          </a:xfrm>
          <a:prstGeom prst="rect">
            <a:avLst/>
          </a:prstGeom>
          <a:noFill/>
        </p:spPr>
        <p:txBody>
          <a:bodyPr wrap="square" lIns="27432" rIns="27432" tIns="18288" bIns="0">
            <a:spAutoFit/>
          </a:bodyPr>
          <a:lstStyle/>
          <a:p>
            <a:pPr>
              <a:spcAft>
                <a:spcPts val="800"/>
              </a:spcAft>
              <a:defRPr sz="2200" b="1">
                <a:solidFill>
                  <a:srgbClr val="2869C8"/>
                </a:solidFill>
                <a:latin typeface="DejaVu Sans"/>
              </a:defRPr>
            </a:pPr>
            <a:r>
              <a:t>Back-end</a:t>
            </a:r>
          </a:p>
        </p:txBody>
      </p:sp>
      <p:sp>
        <p:nvSpPr>
          <p:cNvPr id="32" name="TextBox 31"/>
          <p:cNvSpPr txBox="1"/>
          <p:nvPr/>
        </p:nvSpPr>
        <p:spPr>
          <a:xfrm>
            <a:off x="3429000" y="3383280"/>
            <a:ext cx="3383280" cy="667512"/>
          </a:xfrm>
          <a:prstGeom prst="rect">
            <a:avLst/>
          </a:prstGeom>
          <a:noFill/>
        </p:spPr>
        <p:txBody>
          <a:bodyPr wrap="square" lIns="27432" rIns="27432" tIns="18288" bIns="0">
            <a:spAutoFit/>
          </a:bodyPr>
          <a:lstStyle/>
          <a:p>
            <a:pPr>
              <a:spcAft>
                <a:spcPts val="800"/>
              </a:spcAft>
              <a:defRPr sz="2000" b="0">
                <a:solidFill>
                  <a:srgbClr val="193451"/>
                </a:solidFill>
                <a:latin typeface="DejaVu Sans"/>
              </a:defRPr>
            </a:pPr>
            <a:r>
              <a:t>Qoidalar va ruxsatlarni tekshiradi</a:t>
            </a:r>
          </a:p>
        </p:txBody>
      </p:sp>
      <p:cxnSp>
        <p:nvCxnSpPr>
          <p:cNvPr id="33" name="Connector 32"/>
          <p:cNvCxnSpPr/>
          <p:nvPr/>
        </p:nvCxnSpPr>
        <p:spPr>
          <a:xfrm>
            <a:off x="3840480" y="4288536"/>
            <a:ext cx="0" cy="219456"/>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58368" y="4535424"/>
            <a:ext cx="6428232" cy="1051560"/>
          </a:xfrm>
          <a:prstGeom prst="rect">
            <a:avLst/>
          </a:prstGeom>
          <a:solidFill>
            <a:srgbClr val="FFFFFF"/>
          </a:solidFill>
          <a:ln>
            <a:solidFill>
              <a:srgbClr val="BED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654296"/>
            <a:ext cx="2377440" cy="685800"/>
          </a:xfrm>
          <a:prstGeom prst="rect">
            <a:avLst/>
          </a:prstGeom>
          <a:noFill/>
        </p:spPr>
        <p:txBody>
          <a:bodyPr wrap="square" lIns="27432" rIns="27432" tIns="18288" bIns="0">
            <a:spAutoFit/>
          </a:bodyPr>
          <a:lstStyle/>
          <a:p>
            <a:pPr>
              <a:spcAft>
                <a:spcPts val="800"/>
              </a:spcAft>
              <a:defRPr sz="2200" b="1">
                <a:solidFill>
                  <a:srgbClr val="2869C8"/>
                </a:solidFill>
                <a:latin typeface="DejaVu Sans"/>
              </a:defRPr>
            </a:pPr>
            <a:r>
              <a:t>Ma’lumotlar</a:t>
            </a:r>
          </a:p>
        </p:txBody>
      </p:sp>
      <p:sp>
        <p:nvSpPr>
          <p:cNvPr id="36" name="TextBox 35"/>
          <p:cNvSpPr txBox="1"/>
          <p:nvPr/>
        </p:nvSpPr>
        <p:spPr>
          <a:xfrm>
            <a:off x="3429000" y="4690872"/>
            <a:ext cx="3383280" cy="667512"/>
          </a:xfrm>
          <a:prstGeom prst="rect">
            <a:avLst/>
          </a:prstGeom>
          <a:noFill/>
        </p:spPr>
        <p:txBody>
          <a:bodyPr wrap="square" lIns="27432" rIns="27432" tIns="18288" bIns="0">
            <a:spAutoFit/>
          </a:bodyPr>
          <a:lstStyle/>
          <a:p>
            <a:pPr>
              <a:spcAft>
                <a:spcPts val="800"/>
              </a:spcAft>
              <a:defRPr sz="2000" b="0">
                <a:solidFill>
                  <a:srgbClr val="193451"/>
                </a:solidFill>
                <a:latin typeface="DejaVu Sans"/>
              </a:defRPr>
            </a:pPr>
            <a:r>
              <a:t>Doimiy axborotni saqlaydi</a:t>
            </a:r>
          </a:p>
        </p:txBody>
      </p:sp>
      <p:pic>
        <p:nvPicPr>
          <p:cNvPr id="37" name="Picture 36" descr="n_tier_architecture.png"/>
          <p:cNvPicPr>
            <a:picLocks noChangeAspect="1"/>
          </p:cNvPicPr>
          <p:nvPr/>
        </p:nvPicPr>
        <p:blipFill>
          <a:blip r:embed="rId2"/>
          <a:stretch>
            <a:fillRect/>
          </a:stretch>
        </p:blipFill>
        <p:spPr>
          <a:xfrm>
            <a:off x="7406640" y="3008099"/>
            <a:ext cx="4114800" cy="1619041"/>
          </a:xfrm>
          <a:prstGeom prst="rect">
            <a:avLst/>
          </a:prstGeom>
        </p:spPr>
      </p:pic>
      <p:sp>
        <p:nvSpPr>
          <p:cNvPr id="38" name="TextBox 37"/>
          <p:cNvSpPr txBox="1"/>
          <p:nvPr/>
        </p:nvSpPr>
        <p:spPr>
          <a:xfrm>
            <a:off x="7406640" y="5678424"/>
            <a:ext cx="4114800" cy="292608"/>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Internet manbasi: 13-slaydda</a:t>
            </a:r>
          </a:p>
        </p:txBody>
      </p:sp>
      <p:sp>
        <p:nvSpPr>
          <p:cNvPr id="39" name="TextBox 38"/>
          <p:cNvSpPr txBox="1"/>
          <p:nvPr/>
        </p:nvSpPr>
        <p:spPr>
          <a:xfrm>
            <a:off x="7452360" y="5833872"/>
            <a:ext cx="3931920" cy="365760"/>
          </a:xfrm>
          <a:prstGeom prst="rect">
            <a:avLst/>
          </a:prstGeom>
          <a:noFill/>
        </p:spPr>
        <p:txBody>
          <a:bodyPr wrap="square" lIns="27432" rIns="27432" tIns="18288" bIns="0">
            <a:spAutoFit/>
          </a:bodyPr>
          <a:lstStyle/>
          <a:p>
            <a:pPr>
              <a:spcAft>
                <a:spcPts val="800"/>
              </a:spcAft>
              <a:defRPr sz="1600" b="1">
                <a:solidFill>
                  <a:srgbClr val="193451"/>
                </a:solidFill>
                <a:latin typeface="DejaVu Sans"/>
              </a:defRPr>
            </a:pPr>
            <a:r>
              <a:t>Qatlam — mantiqiy mas’uliyat.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04</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Taqsimlangan hisoblash</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04 / 13</a:t>
            </a:r>
          </a:p>
        </p:txBody>
      </p:sp>
      <p:sp>
        <p:nvSpPr>
          <p:cNvPr id="26" name="TextBox 25"/>
          <p:cNvSpPr txBox="1"/>
          <p:nvPr/>
        </p:nvSpPr>
        <p:spPr>
          <a:xfrm>
            <a:off x="685800" y="1865376"/>
            <a:ext cx="10607040" cy="685800"/>
          </a:xfrm>
          <a:prstGeom prst="rect">
            <a:avLst/>
          </a:prstGeom>
          <a:noFill/>
        </p:spPr>
        <p:txBody>
          <a:bodyPr wrap="square" lIns="27432" rIns="27432" tIns="18288" bIns="0">
            <a:spAutoFit/>
          </a:bodyPr>
          <a:lstStyle/>
          <a:p>
            <a:pPr>
              <a:spcAft>
                <a:spcPts val="800"/>
              </a:spcAft>
              <a:defRPr sz="2600" b="1">
                <a:solidFill>
                  <a:srgbClr val="2869C8"/>
                </a:solidFill>
                <a:latin typeface="DejaVu Sans"/>
              </a:defRPr>
            </a:pPr>
            <a:r>
              <a:t>Vazifa bir nechta tugun o‘rtasida bo‘linadi.</a:t>
            </a:r>
          </a:p>
        </p:txBody>
      </p:sp>
      <p:sp>
        <p:nvSpPr>
          <p:cNvPr id="27" name="Rectangle 26"/>
          <p:cNvSpPr/>
          <p:nvPr/>
        </p:nvSpPr>
        <p:spPr>
          <a:xfrm>
            <a:off x="822960" y="3154680"/>
            <a:ext cx="2377440" cy="91440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3410712"/>
            <a:ext cx="1965960" cy="411480"/>
          </a:xfrm>
          <a:prstGeom prst="rect">
            <a:avLst/>
          </a:prstGeom>
          <a:noFill/>
        </p:spPr>
        <p:txBody>
          <a:bodyPr wrap="square" lIns="27432" rIns="27432" tIns="18288" bIns="0">
            <a:spAutoFit/>
          </a:bodyPr>
          <a:lstStyle/>
          <a:p>
            <a:pPr>
              <a:spcAft>
                <a:spcPts val="800"/>
              </a:spcAft>
              <a:defRPr sz="2000" b="1">
                <a:solidFill>
                  <a:srgbClr val="FFFFFF"/>
                </a:solidFill>
                <a:latin typeface="DejaVu Sans"/>
              </a:defRPr>
            </a:pPr>
            <a:r>
              <a:t>Vazifalar navbati</a:t>
            </a:r>
          </a:p>
        </p:txBody>
      </p:sp>
      <p:sp>
        <p:nvSpPr>
          <p:cNvPr id="29" name="Rectangle 28"/>
          <p:cNvSpPr/>
          <p:nvPr/>
        </p:nvSpPr>
        <p:spPr>
          <a:xfrm>
            <a:off x="4572000" y="3108960"/>
            <a:ext cx="1965960" cy="1005840"/>
          </a:xfrm>
          <a:prstGeom prst="rect">
            <a:avLst/>
          </a:prstGeom>
          <a:solidFill>
            <a:srgbClr val="EAF2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3383280"/>
            <a:ext cx="1691640" cy="457200"/>
          </a:xfrm>
          <a:prstGeom prst="rect">
            <a:avLst/>
          </a:prstGeom>
          <a:noFill/>
        </p:spPr>
        <p:txBody>
          <a:bodyPr wrap="square" lIns="27432" rIns="27432" tIns="18288" bIns="0">
            <a:spAutoFit/>
          </a:bodyPr>
          <a:lstStyle/>
          <a:p>
            <a:pPr>
              <a:spcAft>
                <a:spcPts val="800"/>
              </a:spcAft>
              <a:defRPr sz="2000" b="1">
                <a:solidFill>
                  <a:srgbClr val="193451"/>
                </a:solidFill>
                <a:latin typeface="DejaVu Sans"/>
              </a:defRPr>
            </a:pPr>
            <a:r>
              <a:t>Ishchi 1</a:t>
            </a:r>
          </a:p>
        </p:txBody>
      </p:sp>
      <p:cxnSp>
        <p:nvCxnSpPr>
          <p:cNvPr id="31" name="Connector 30"/>
          <p:cNvCxnSpPr/>
          <p:nvPr/>
        </p:nvCxnSpPr>
        <p:spPr>
          <a:xfrm>
            <a:off x="3200400" y="3611880"/>
            <a:ext cx="1371600" cy="0"/>
          </a:xfrm>
          <a:prstGeom prst="line">
            <a:avLst/>
          </a:prstGeom>
          <a:ln w="1778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903720" y="3108960"/>
            <a:ext cx="1965960" cy="1005840"/>
          </a:xfrm>
          <a:prstGeom prst="rect">
            <a:avLst/>
          </a:prstGeom>
          <a:solidFill>
            <a:srgbClr val="EAF2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0" y="3383280"/>
            <a:ext cx="1691640" cy="457200"/>
          </a:xfrm>
          <a:prstGeom prst="rect">
            <a:avLst/>
          </a:prstGeom>
          <a:noFill/>
        </p:spPr>
        <p:txBody>
          <a:bodyPr wrap="square" lIns="27432" rIns="27432" tIns="18288" bIns="0">
            <a:spAutoFit/>
          </a:bodyPr>
          <a:lstStyle/>
          <a:p>
            <a:pPr>
              <a:spcAft>
                <a:spcPts val="800"/>
              </a:spcAft>
              <a:defRPr sz="2000" b="1">
                <a:solidFill>
                  <a:srgbClr val="193451"/>
                </a:solidFill>
                <a:latin typeface="DejaVu Sans"/>
              </a:defRPr>
            </a:pPr>
            <a:r>
              <a:t>Ishchi 2</a:t>
            </a:r>
          </a:p>
        </p:txBody>
      </p:sp>
      <p:cxnSp>
        <p:nvCxnSpPr>
          <p:cNvPr id="34" name="Connector 33"/>
          <p:cNvCxnSpPr/>
          <p:nvPr/>
        </p:nvCxnSpPr>
        <p:spPr>
          <a:xfrm>
            <a:off x="3200400" y="3611880"/>
            <a:ext cx="3703320" cy="0"/>
          </a:xfrm>
          <a:prstGeom prst="line">
            <a:avLst/>
          </a:prstGeom>
          <a:ln w="1778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235440" y="3108960"/>
            <a:ext cx="1965960" cy="1005840"/>
          </a:xfrm>
          <a:prstGeom prst="rect">
            <a:avLst/>
          </a:prstGeom>
          <a:solidFill>
            <a:srgbClr val="EAF2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3383280"/>
            <a:ext cx="1691640" cy="457200"/>
          </a:xfrm>
          <a:prstGeom prst="rect">
            <a:avLst/>
          </a:prstGeom>
          <a:noFill/>
        </p:spPr>
        <p:txBody>
          <a:bodyPr wrap="square" lIns="27432" rIns="27432" tIns="18288" bIns="0">
            <a:spAutoFit/>
          </a:bodyPr>
          <a:lstStyle/>
          <a:p>
            <a:pPr>
              <a:spcAft>
                <a:spcPts val="800"/>
              </a:spcAft>
              <a:defRPr sz="2000" b="1">
                <a:solidFill>
                  <a:srgbClr val="193451"/>
                </a:solidFill>
                <a:latin typeface="DejaVu Sans"/>
              </a:defRPr>
            </a:pPr>
            <a:r>
              <a:t>Ishchi 3</a:t>
            </a:r>
          </a:p>
        </p:txBody>
      </p:sp>
      <p:cxnSp>
        <p:nvCxnSpPr>
          <p:cNvPr id="37" name="Connector 36"/>
          <p:cNvCxnSpPr/>
          <p:nvPr/>
        </p:nvCxnSpPr>
        <p:spPr>
          <a:xfrm>
            <a:off x="3200400" y="3611880"/>
            <a:ext cx="6035040" cy="0"/>
          </a:xfrm>
          <a:prstGeom prst="line">
            <a:avLst/>
          </a:prstGeom>
          <a:ln w="1778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31520" y="4782312"/>
            <a:ext cx="10607040" cy="1316736"/>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901184"/>
            <a:ext cx="10277856" cy="256032"/>
          </a:xfrm>
          <a:prstGeom prst="rect">
            <a:avLst/>
          </a:prstGeom>
          <a:noFill/>
        </p:spPr>
        <p:txBody>
          <a:bodyPr wrap="square" lIns="27432" rIns="27432" tIns="18288" bIns="0">
            <a:spAutoFit/>
          </a:bodyPr>
          <a:lstStyle/>
          <a:p>
            <a:pPr>
              <a:spcAft>
                <a:spcPts val="800"/>
              </a:spcAft>
              <a:defRPr sz="1100" b="1">
                <a:solidFill>
                  <a:srgbClr val="2869C8"/>
                </a:solidFill>
                <a:latin typeface="DejaVu Sans"/>
              </a:defRPr>
            </a:pPr>
            <a:r>
              <a:t>MUHIM CHEGARA</a:t>
            </a:r>
          </a:p>
        </p:txBody>
      </p:sp>
      <p:sp>
        <p:nvSpPr>
          <p:cNvPr id="40" name="TextBox 39"/>
          <p:cNvSpPr txBox="1"/>
          <p:nvPr/>
        </p:nvSpPr>
        <p:spPr>
          <a:xfrm>
            <a:off x="896112" y="5221224"/>
            <a:ext cx="10277856" cy="813815"/>
          </a:xfrm>
          <a:prstGeom prst="rect">
            <a:avLst/>
          </a:prstGeom>
          <a:noFill/>
        </p:spPr>
        <p:txBody>
          <a:bodyPr wrap="square" lIns="27432" rIns="27432" tIns="18288" bIns="0">
            <a:spAutoFit/>
          </a:bodyPr>
          <a:lstStyle/>
          <a:p>
            <a:pPr>
              <a:spcAft>
                <a:spcPts val="800"/>
              </a:spcAft>
              <a:defRPr sz="2000" b="0">
                <a:solidFill>
                  <a:srgbClr val="193451"/>
                </a:solidFill>
                <a:latin typeface="DejaVu Sans"/>
              </a:defRPr>
            </a:pPr>
            <a:r>
              <a:t>Ko‘proq tugun quvvat beradi, ammo tarmoq va ma’lumotlar bazasi tor joyga aylanishi mumkin.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05</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Vertikal va gorizontal masshtablash</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05 / 13</a:t>
            </a:r>
          </a:p>
        </p:txBody>
      </p:sp>
      <p:sp>
        <p:nvSpPr>
          <p:cNvPr id="26" name="TextBox 25"/>
          <p:cNvSpPr txBox="1"/>
          <p:nvPr/>
        </p:nvSpPr>
        <p:spPr>
          <a:xfrm>
            <a:off x="685800" y="1901952"/>
            <a:ext cx="5120640" cy="502920"/>
          </a:xfrm>
          <a:prstGeom prst="rect">
            <a:avLst/>
          </a:prstGeom>
          <a:noFill/>
        </p:spPr>
        <p:txBody>
          <a:bodyPr wrap="square" lIns="27432" rIns="27432" tIns="18288" bIns="0">
            <a:spAutoFit/>
          </a:bodyPr>
          <a:lstStyle/>
          <a:p>
            <a:pPr>
              <a:spcAft>
                <a:spcPts val="800"/>
              </a:spcAft>
              <a:defRPr sz="1400" b="1">
                <a:solidFill>
                  <a:srgbClr val="2869C8"/>
                </a:solidFill>
                <a:latin typeface="DejaVu Sans"/>
              </a:defRPr>
            </a:pPr>
            <a:r>
              <a:t>VERTIKAL</a:t>
            </a:r>
          </a:p>
        </p:txBody>
      </p:sp>
      <p:sp>
        <p:nvSpPr>
          <p:cNvPr id="27" name="TextBox 26"/>
          <p:cNvSpPr txBox="1"/>
          <p:nvPr/>
        </p:nvSpPr>
        <p:spPr>
          <a:xfrm>
            <a:off x="6327648" y="1901952"/>
            <a:ext cx="5120640" cy="502920"/>
          </a:xfrm>
          <a:prstGeom prst="rect">
            <a:avLst/>
          </a:prstGeom>
          <a:noFill/>
        </p:spPr>
        <p:txBody>
          <a:bodyPr wrap="square" lIns="27432" rIns="27432" tIns="18288" bIns="0">
            <a:spAutoFit/>
          </a:bodyPr>
          <a:lstStyle/>
          <a:p>
            <a:pPr>
              <a:spcAft>
                <a:spcPts val="800"/>
              </a:spcAft>
              <a:defRPr sz="1400" b="1">
                <a:solidFill>
                  <a:srgbClr val="149C9A"/>
                </a:solidFill>
                <a:latin typeface="DejaVu Sans"/>
              </a:defRPr>
            </a:pPr>
            <a:r>
              <a:t>GORIZONTAL</a:t>
            </a:r>
          </a:p>
        </p:txBody>
      </p:sp>
      <p:sp>
        <p:nvSpPr>
          <p:cNvPr id="28" name="Rounded Rectangle 27"/>
          <p:cNvSpPr/>
          <p:nvPr/>
        </p:nvSpPr>
        <p:spPr>
          <a:xfrm>
            <a:off x="960120" y="3108960"/>
            <a:ext cx="1097280" cy="1188720"/>
          </a:xfrm>
          <a:prstGeom prst="roundRect">
            <a:avLst>
              <a:gd name="adj" fmla="val 8000"/>
            </a:avLst>
          </a:prstGeom>
          <a:solidFill>
            <a:srgbClr val="A5C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429000"/>
            <a:ext cx="914400" cy="822960"/>
          </a:xfrm>
          <a:prstGeom prst="rect">
            <a:avLst/>
          </a:prstGeom>
          <a:noFill/>
        </p:spPr>
        <p:txBody>
          <a:bodyPr wrap="square" lIns="27432" rIns="27432" tIns="18288" bIns="0">
            <a:spAutoFit/>
          </a:bodyPr>
          <a:lstStyle/>
          <a:p>
            <a:pPr algn="ctr">
              <a:spcAft>
                <a:spcPts val="800"/>
              </a:spcAft>
              <a:defRPr sz="1800" b="1">
                <a:solidFill>
                  <a:srgbClr val="FFFFFF"/>
                </a:solidFill>
                <a:latin typeface="DejaVu Sans"/>
              </a:defRPr>
            </a:pPr>
            <a:r>
              <a:t>2 vCPU</a:t>
            </a:r>
          </a:p>
        </p:txBody>
      </p:sp>
      <p:sp>
        <p:nvSpPr>
          <p:cNvPr id="30" name="Rounded Rectangle 29"/>
          <p:cNvSpPr/>
          <p:nvPr/>
        </p:nvSpPr>
        <p:spPr>
          <a:xfrm>
            <a:off x="2926080" y="2578608"/>
            <a:ext cx="1600200" cy="2286000"/>
          </a:xfrm>
          <a:prstGeom prst="roundRect">
            <a:avLst>
              <a:gd name="adj" fmla="val 8000"/>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17520" y="2898648"/>
            <a:ext cx="1417320" cy="822960"/>
          </a:xfrm>
          <a:prstGeom prst="rect">
            <a:avLst/>
          </a:prstGeom>
          <a:noFill/>
        </p:spPr>
        <p:txBody>
          <a:bodyPr wrap="square" lIns="27432" rIns="27432" tIns="18288" bIns="0">
            <a:spAutoFit/>
          </a:bodyPr>
          <a:lstStyle/>
          <a:p>
            <a:pPr algn="ctr">
              <a:spcAft>
                <a:spcPts val="800"/>
              </a:spcAft>
              <a:defRPr sz="1800" b="1">
                <a:solidFill>
                  <a:srgbClr val="FFFFFF"/>
                </a:solidFill>
                <a:latin typeface="DejaVu Sans"/>
              </a:defRPr>
            </a:pPr>
            <a:r>
              <a:t>4 vCPU</a:t>
            </a:r>
          </a:p>
        </p:txBody>
      </p:sp>
      <p:cxnSp>
        <p:nvCxnSpPr>
          <p:cNvPr id="32" name="Connector 31"/>
          <p:cNvCxnSpPr/>
          <p:nvPr/>
        </p:nvCxnSpPr>
        <p:spPr>
          <a:xfrm>
            <a:off x="2103120" y="3657600"/>
            <a:ext cx="731520"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446520" y="3154680"/>
            <a:ext cx="1371600" cy="1371600"/>
          </a:xfrm>
          <a:prstGeom prst="rect">
            <a:avLst/>
          </a:prstGeom>
          <a:solidFill>
            <a:srgbClr val="EAF8F7"/>
          </a:solidFill>
          <a:ln>
            <a:solidFill>
              <a:srgbClr val="149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611880"/>
            <a:ext cx="1097280" cy="411480"/>
          </a:xfrm>
          <a:prstGeom prst="rect">
            <a:avLst/>
          </a:prstGeom>
          <a:noFill/>
        </p:spPr>
        <p:txBody>
          <a:bodyPr wrap="square" lIns="27432" rIns="27432" tIns="18288" bIns="0">
            <a:spAutoFit/>
          </a:bodyPr>
          <a:lstStyle/>
          <a:p>
            <a:pPr algn="ctr">
              <a:spcAft>
                <a:spcPts val="800"/>
              </a:spcAft>
              <a:defRPr sz="1900" b="1">
                <a:solidFill>
                  <a:srgbClr val="149C9A"/>
                </a:solidFill>
                <a:latin typeface="DejaVu Sans"/>
              </a:defRPr>
            </a:pPr>
            <a:r>
              <a:t>Ilova</a:t>
            </a:r>
          </a:p>
        </p:txBody>
      </p:sp>
      <p:sp>
        <p:nvSpPr>
          <p:cNvPr id="35" name="Rectangle 34"/>
          <p:cNvSpPr/>
          <p:nvPr/>
        </p:nvSpPr>
        <p:spPr>
          <a:xfrm>
            <a:off x="8046720" y="3154680"/>
            <a:ext cx="1371600" cy="1371600"/>
          </a:xfrm>
          <a:prstGeom prst="rect">
            <a:avLst/>
          </a:prstGeom>
          <a:solidFill>
            <a:srgbClr val="EAF8F7"/>
          </a:solidFill>
          <a:ln>
            <a:solidFill>
              <a:srgbClr val="149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80" y="3611880"/>
            <a:ext cx="1097280" cy="411480"/>
          </a:xfrm>
          <a:prstGeom prst="rect">
            <a:avLst/>
          </a:prstGeom>
          <a:noFill/>
        </p:spPr>
        <p:txBody>
          <a:bodyPr wrap="square" lIns="27432" rIns="27432" tIns="18288" bIns="0">
            <a:spAutoFit/>
          </a:bodyPr>
          <a:lstStyle/>
          <a:p>
            <a:pPr algn="ctr">
              <a:spcAft>
                <a:spcPts val="800"/>
              </a:spcAft>
              <a:defRPr sz="1900" b="1">
                <a:solidFill>
                  <a:srgbClr val="149C9A"/>
                </a:solidFill>
                <a:latin typeface="DejaVu Sans"/>
              </a:defRPr>
            </a:pPr>
            <a:r>
              <a:t>Ilova</a:t>
            </a:r>
          </a:p>
        </p:txBody>
      </p:sp>
      <p:sp>
        <p:nvSpPr>
          <p:cNvPr id="37" name="Rectangle 36"/>
          <p:cNvSpPr/>
          <p:nvPr/>
        </p:nvSpPr>
        <p:spPr>
          <a:xfrm>
            <a:off x="9646920" y="3154680"/>
            <a:ext cx="1371600" cy="1371600"/>
          </a:xfrm>
          <a:prstGeom prst="rect">
            <a:avLst/>
          </a:prstGeom>
          <a:solidFill>
            <a:srgbClr val="EAF8F7"/>
          </a:solidFill>
          <a:ln>
            <a:solidFill>
              <a:srgbClr val="149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0" y="3611880"/>
            <a:ext cx="1097280" cy="411480"/>
          </a:xfrm>
          <a:prstGeom prst="rect">
            <a:avLst/>
          </a:prstGeom>
          <a:noFill/>
        </p:spPr>
        <p:txBody>
          <a:bodyPr wrap="square" lIns="27432" rIns="27432" tIns="18288" bIns="0">
            <a:spAutoFit/>
          </a:bodyPr>
          <a:lstStyle/>
          <a:p>
            <a:pPr algn="ctr">
              <a:spcAft>
                <a:spcPts val="800"/>
              </a:spcAft>
              <a:defRPr sz="1900" b="1">
                <a:solidFill>
                  <a:srgbClr val="149C9A"/>
                </a:solidFill>
                <a:latin typeface="DejaVu Sans"/>
              </a:defRPr>
            </a:pPr>
            <a:r>
              <a:t>Ilova</a:t>
            </a:r>
          </a:p>
        </p:txBody>
      </p:sp>
      <p:sp>
        <p:nvSpPr>
          <p:cNvPr id="39" name="TextBox 38"/>
          <p:cNvSpPr txBox="1"/>
          <p:nvPr/>
        </p:nvSpPr>
        <p:spPr>
          <a:xfrm>
            <a:off x="777240" y="5276088"/>
            <a:ext cx="4846320" cy="713232"/>
          </a:xfrm>
          <a:prstGeom prst="rect">
            <a:avLst/>
          </a:prstGeom>
          <a:noFill/>
        </p:spPr>
        <p:txBody>
          <a:bodyPr wrap="square" lIns="27432" rIns="27432" tIns="18288" bIns="0">
            <a:spAutoFit/>
          </a:bodyPr>
          <a:lstStyle/>
          <a:p>
            <a:pPr>
              <a:spcAft>
                <a:spcPts val="800"/>
              </a:spcAft>
              <a:defRPr sz="2200" b="0">
                <a:solidFill>
                  <a:srgbClr val="193451"/>
                </a:solidFill>
                <a:latin typeface="DejaVu Sans"/>
              </a:defRPr>
            </a:pPr>
            <a:r>
              <a:t>Bitta serverning resursi oshadi.</a:t>
            </a:r>
          </a:p>
        </p:txBody>
      </p:sp>
      <p:sp>
        <p:nvSpPr>
          <p:cNvPr id="40" name="TextBox 39"/>
          <p:cNvSpPr txBox="1"/>
          <p:nvPr/>
        </p:nvSpPr>
        <p:spPr>
          <a:xfrm>
            <a:off x="6355080" y="5276088"/>
            <a:ext cx="5029200" cy="731520"/>
          </a:xfrm>
          <a:prstGeom prst="rect">
            <a:avLst/>
          </a:prstGeom>
          <a:noFill/>
        </p:spPr>
        <p:txBody>
          <a:bodyPr wrap="square" lIns="27432" rIns="27432" tIns="18288" bIns="0">
            <a:spAutoFit/>
          </a:bodyPr>
          <a:lstStyle/>
          <a:p>
            <a:pPr>
              <a:spcAft>
                <a:spcPts val="800"/>
              </a:spcAft>
              <a:defRPr sz="2200" b="0">
                <a:solidFill>
                  <a:srgbClr val="193451"/>
                </a:solidFill>
                <a:latin typeface="DejaVu Sans"/>
              </a:defRPr>
            </a:pPr>
            <a:r>
              <a:t>Server nusxalari soni oshadi.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06</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Yuqori mavjudlik va ishonchlilik</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06 / 13</a:t>
            </a:r>
          </a:p>
        </p:txBody>
      </p:sp>
      <p:sp>
        <p:nvSpPr>
          <p:cNvPr id="26" name="Rectangle 25"/>
          <p:cNvSpPr/>
          <p:nvPr/>
        </p:nvSpPr>
        <p:spPr>
          <a:xfrm>
            <a:off x="731520" y="2011680"/>
            <a:ext cx="3794760" cy="2331720"/>
          </a:xfrm>
          <a:prstGeom prst="rect">
            <a:avLst/>
          </a:prstGeom>
          <a:solidFill>
            <a:srgbClr val="FFFFFF"/>
          </a:solidFill>
          <a:ln>
            <a:solidFill>
              <a:srgbClr val="286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2167128"/>
            <a:ext cx="3465576" cy="640080"/>
          </a:xfrm>
          <a:prstGeom prst="rect">
            <a:avLst/>
          </a:prstGeom>
          <a:noFill/>
        </p:spPr>
        <p:txBody>
          <a:bodyPr wrap="square" lIns="27432" rIns="27432" tIns="18288" bIns="0">
            <a:spAutoFit/>
          </a:bodyPr>
          <a:lstStyle/>
          <a:p>
            <a:pPr>
              <a:spcAft>
                <a:spcPts val="800"/>
              </a:spcAft>
              <a:defRPr sz="3000" b="1">
                <a:solidFill>
                  <a:srgbClr val="2869C8"/>
                </a:solidFill>
                <a:latin typeface="DejaVu Sans"/>
              </a:defRPr>
            </a:pPr>
            <a:r>
              <a:t>99,9%</a:t>
            </a:r>
          </a:p>
        </p:txBody>
      </p:sp>
      <p:sp>
        <p:nvSpPr>
          <p:cNvPr id="28" name="TextBox 27"/>
          <p:cNvSpPr txBox="1"/>
          <p:nvPr/>
        </p:nvSpPr>
        <p:spPr>
          <a:xfrm>
            <a:off x="896112" y="2907792"/>
            <a:ext cx="3465576" cy="1353311"/>
          </a:xfrm>
          <a:prstGeom prst="rect">
            <a:avLst/>
          </a:prstGeom>
          <a:noFill/>
        </p:spPr>
        <p:txBody>
          <a:bodyPr wrap="square" lIns="27432" rIns="27432" tIns="18288" bIns="0">
            <a:spAutoFit/>
          </a:bodyPr>
          <a:lstStyle/>
          <a:p>
            <a:pPr>
              <a:spcAft>
                <a:spcPts val="800"/>
              </a:spcAft>
              <a:defRPr sz="1800" b="0">
                <a:solidFill>
                  <a:srgbClr val="284961"/>
                </a:solidFill>
                <a:latin typeface="DejaVu Sans"/>
              </a:defRPr>
            </a:pPr>
            <a:r>
              <a:t>30 kunlik hisobiy mavjudlik</a:t>
            </a:r>
          </a:p>
        </p:txBody>
      </p:sp>
      <p:sp>
        <p:nvSpPr>
          <p:cNvPr id="29" name="Rectangle 28"/>
          <p:cNvSpPr/>
          <p:nvPr/>
        </p:nvSpPr>
        <p:spPr>
          <a:xfrm>
            <a:off x="731520" y="4572000"/>
            <a:ext cx="3794760" cy="1490472"/>
          </a:xfrm>
          <a:prstGeom prst="rect">
            <a:avLst/>
          </a:prstGeom>
          <a:solidFill>
            <a:srgbClr val="FFFFFF"/>
          </a:solidFill>
          <a:ln>
            <a:solidFill>
              <a:srgbClr val="149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681728"/>
            <a:ext cx="3465576" cy="484632"/>
          </a:xfrm>
          <a:prstGeom prst="rect">
            <a:avLst/>
          </a:prstGeom>
          <a:noFill/>
        </p:spPr>
        <p:txBody>
          <a:bodyPr wrap="square" lIns="27432" rIns="27432" tIns="18288" bIns="0">
            <a:spAutoFit/>
          </a:bodyPr>
          <a:lstStyle/>
          <a:p>
            <a:pPr>
              <a:spcAft>
                <a:spcPts val="800"/>
              </a:spcAft>
              <a:defRPr sz="2500" b="1">
                <a:solidFill>
                  <a:srgbClr val="149C9A"/>
                </a:solidFill>
                <a:latin typeface="DejaVu Sans"/>
              </a:defRPr>
            </a:pPr>
            <a:r>
              <a:t>43,2 daqiqa</a:t>
            </a:r>
          </a:p>
        </p:txBody>
      </p:sp>
      <p:sp>
        <p:nvSpPr>
          <p:cNvPr id="31" name="TextBox 30"/>
          <p:cNvSpPr txBox="1"/>
          <p:nvPr/>
        </p:nvSpPr>
        <p:spPr>
          <a:xfrm>
            <a:off x="896112" y="5257800"/>
            <a:ext cx="3465576" cy="777239"/>
          </a:xfrm>
          <a:prstGeom prst="rect">
            <a:avLst/>
          </a:prstGeom>
          <a:noFill/>
        </p:spPr>
        <p:txBody>
          <a:bodyPr wrap="square" lIns="27432" rIns="27432" tIns="18288" bIns="0">
            <a:spAutoFit/>
          </a:bodyPr>
          <a:lstStyle/>
          <a:p>
            <a:pPr>
              <a:spcAft>
                <a:spcPts val="800"/>
              </a:spcAft>
              <a:defRPr sz="1600" b="0">
                <a:solidFill>
                  <a:srgbClr val="284961"/>
                </a:solidFill>
                <a:latin typeface="DejaVu Sans"/>
              </a:defRPr>
            </a:pPr>
            <a:r>
              <a:t>Hisobiy uzilish vaqti</a:t>
            </a:r>
          </a:p>
        </p:txBody>
      </p:sp>
      <p:sp>
        <p:nvSpPr>
          <p:cNvPr id="32" name="TextBox 31"/>
          <p:cNvSpPr txBox="1"/>
          <p:nvPr/>
        </p:nvSpPr>
        <p:spPr>
          <a:xfrm>
            <a:off x="5029200" y="2048256"/>
            <a:ext cx="6263640" cy="548640"/>
          </a:xfrm>
          <a:prstGeom prst="rect">
            <a:avLst/>
          </a:prstGeom>
          <a:noFill/>
        </p:spPr>
        <p:txBody>
          <a:bodyPr wrap="square" lIns="27432" rIns="27432" tIns="18288" bIns="0">
            <a:spAutoFit/>
          </a:bodyPr>
          <a:lstStyle/>
          <a:p>
            <a:pPr>
              <a:spcAft>
                <a:spcPts val="800"/>
              </a:spcAft>
              <a:defRPr sz="2500" b="1">
                <a:solidFill>
                  <a:srgbClr val="2869C8"/>
                </a:solidFill>
                <a:latin typeface="DejaVu Sans"/>
              </a:defRPr>
            </a:pPr>
            <a:r>
              <a:t>Mavjudlik</a:t>
            </a:r>
          </a:p>
        </p:txBody>
      </p:sp>
      <p:sp>
        <p:nvSpPr>
          <p:cNvPr id="33" name="TextBox 32"/>
          <p:cNvSpPr txBox="1"/>
          <p:nvPr/>
        </p:nvSpPr>
        <p:spPr>
          <a:xfrm>
            <a:off x="5029200" y="2761488"/>
            <a:ext cx="6263640" cy="877824"/>
          </a:xfrm>
          <a:prstGeom prst="rect">
            <a:avLst/>
          </a:prstGeom>
          <a:noFill/>
        </p:spPr>
        <p:txBody>
          <a:bodyPr wrap="square" lIns="27432" rIns="27432" tIns="18288" bIns="0">
            <a:spAutoFit/>
          </a:bodyPr>
          <a:lstStyle/>
          <a:p>
            <a:pPr>
              <a:spcAft>
                <a:spcPts val="800"/>
              </a:spcAft>
              <a:defRPr sz="2300" b="0">
                <a:solidFill>
                  <a:srgbClr val="193451"/>
                </a:solidFill>
                <a:latin typeface="DejaVu Sans"/>
              </a:defRPr>
            </a:pPr>
            <a:r>
              <a:t>Xizmat kerakli vaqtda foydalanishga tayyor.</a:t>
            </a:r>
          </a:p>
        </p:txBody>
      </p:sp>
      <p:cxnSp>
        <p:nvCxnSpPr>
          <p:cNvPr id="34" name="Connector 33"/>
          <p:cNvCxnSpPr/>
          <p:nvPr/>
        </p:nvCxnSpPr>
        <p:spPr>
          <a:xfrm>
            <a:off x="5029200" y="3822191"/>
            <a:ext cx="6263640" cy="0"/>
          </a:xfrm>
          <a:prstGeom prst="line">
            <a:avLst/>
          </a:prstGeom>
          <a:ln w="12700">
            <a:solidFill>
              <a:srgbClr val="CDDFF2"/>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0" y="4123944"/>
            <a:ext cx="6263640" cy="548640"/>
          </a:xfrm>
          <a:prstGeom prst="rect">
            <a:avLst/>
          </a:prstGeom>
          <a:noFill/>
        </p:spPr>
        <p:txBody>
          <a:bodyPr wrap="square" lIns="27432" rIns="27432" tIns="18288" bIns="0">
            <a:spAutoFit/>
          </a:bodyPr>
          <a:lstStyle/>
          <a:p>
            <a:pPr>
              <a:spcAft>
                <a:spcPts val="800"/>
              </a:spcAft>
              <a:defRPr sz="2500" b="1">
                <a:solidFill>
                  <a:srgbClr val="149C9A"/>
                </a:solidFill>
                <a:latin typeface="DejaVu Sans"/>
              </a:defRPr>
            </a:pPr>
            <a:r>
              <a:t>Ishonchlilik</a:t>
            </a:r>
          </a:p>
        </p:txBody>
      </p:sp>
      <p:sp>
        <p:nvSpPr>
          <p:cNvPr id="36" name="TextBox 35"/>
          <p:cNvSpPr txBox="1"/>
          <p:nvPr/>
        </p:nvSpPr>
        <p:spPr>
          <a:xfrm>
            <a:off x="5029200" y="4818888"/>
            <a:ext cx="6263640" cy="1005840"/>
          </a:xfrm>
          <a:prstGeom prst="rect">
            <a:avLst/>
          </a:prstGeom>
          <a:noFill/>
        </p:spPr>
        <p:txBody>
          <a:bodyPr wrap="square" lIns="27432" rIns="27432" tIns="18288" bIns="0">
            <a:spAutoFit/>
          </a:bodyPr>
          <a:lstStyle/>
          <a:p>
            <a:pPr>
              <a:spcAft>
                <a:spcPts val="800"/>
              </a:spcAft>
              <a:defRPr sz="2300" b="0">
                <a:solidFill>
                  <a:srgbClr val="193451"/>
                </a:solidFill>
                <a:latin typeface="DejaVu Sans"/>
              </a:defRPr>
            </a:pPr>
            <a:r>
              <a:t>Vazifa belgilangan sharoitda to‘g‘ri bajariladi.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07</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Nosozlikka bardoshlilik</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07 / 13</a:t>
            </a:r>
          </a:p>
        </p:txBody>
      </p:sp>
      <p:sp>
        <p:nvSpPr>
          <p:cNvPr id="26" name="Rectangle 25"/>
          <p:cNvSpPr/>
          <p:nvPr/>
        </p:nvSpPr>
        <p:spPr>
          <a:xfrm>
            <a:off x="731520" y="2103120"/>
            <a:ext cx="5303520" cy="2926080"/>
          </a:xfrm>
          <a:prstGeom prst="rect">
            <a:avLst/>
          </a:prstGeom>
          <a:solidFill>
            <a:srgbClr val="FFFFFF"/>
          </a:solidFill>
          <a:ln>
            <a:solidFill>
              <a:srgbClr val="C5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2304288"/>
            <a:ext cx="4846320" cy="457200"/>
          </a:xfrm>
          <a:prstGeom prst="rect">
            <a:avLst/>
          </a:prstGeom>
          <a:noFill/>
        </p:spPr>
        <p:txBody>
          <a:bodyPr wrap="square" lIns="27432" rIns="27432" tIns="18288" bIns="0">
            <a:spAutoFit/>
          </a:bodyPr>
          <a:lstStyle/>
          <a:p>
            <a:pPr>
              <a:spcAft>
                <a:spcPts val="800"/>
              </a:spcAft>
              <a:defRPr sz="2200" b="1">
                <a:solidFill>
                  <a:srgbClr val="2869C8"/>
                </a:solidFill>
                <a:latin typeface="DejaVu Sans"/>
              </a:defRPr>
            </a:pPr>
            <a:r>
              <a:t>Zona A</a:t>
            </a:r>
          </a:p>
        </p:txBody>
      </p:sp>
      <p:sp>
        <p:nvSpPr>
          <p:cNvPr id="28" name="Rounded Rectangle 27"/>
          <p:cNvSpPr/>
          <p:nvPr/>
        </p:nvSpPr>
        <p:spPr>
          <a:xfrm>
            <a:off x="1005840" y="3108960"/>
            <a:ext cx="2148840" cy="118872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3511296"/>
            <a:ext cx="1783080" cy="457200"/>
          </a:xfrm>
          <a:prstGeom prst="rect">
            <a:avLst/>
          </a:prstGeom>
          <a:noFill/>
        </p:spPr>
        <p:txBody>
          <a:bodyPr wrap="square" lIns="27432" rIns="27432" tIns="18288" bIns="0">
            <a:spAutoFit/>
          </a:bodyPr>
          <a:lstStyle/>
          <a:p>
            <a:pPr>
              <a:spcAft>
                <a:spcPts val="800"/>
              </a:spcAft>
              <a:defRPr sz="1800" b="1">
                <a:solidFill>
                  <a:srgbClr val="2869C8"/>
                </a:solidFill>
                <a:latin typeface="DejaVu Sans"/>
              </a:defRPr>
            </a:pPr>
            <a:r>
              <a:t>Ilova nusxasi</a:t>
            </a:r>
          </a:p>
        </p:txBody>
      </p:sp>
      <p:sp>
        <p:nvSpPr>
          <p:cNvPr id="30" name="Rounded Rectangle 29"/>
          <p:cNvSpPr/>
          <p:nvPr/>
        </p:nvSpPr>
        <p:spPr>
          <a:xfrm>
            <a:off x="3429000" y="3108960"/>
            <a:ext cx="2148840" cy="118872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11880" y="3511296"/>
            <a:ext cx="1783080" cy="457200"/>
          </a:xfrm>
          <a:prstGeom prst="rect">
            <a:avLst/>
          </a:prstGeom>
          <a:noFill/>
        </p:spPr>
        <p:txBody>
          <a:bodyPr wrap="square" lIns="27432" rIns="27432" tIns="18288" bIns="0">
            <a:spAutoFit/>
          </a:bodyPr>
          <a:lstStyle/>
          <a:p>
            <a:pPr>
              <a:spcAft>
                <a:spcPts val="800"/>
              </a:spcAft>
              <a:defRPr sz="1800" b="1">
                <a:solidFill>
                  <a:srgbClr val="2869C8"/>
                </a:solidFill>
                <a:latin typeface="DejaVu Sans"/>
              </a:defRPr>
            </a:pPr>
            <a:r>
              <a:t>Ilova nusxasi</a:t>
            </a:r>
          </a:p>
        </p:txBody>
      </p:sp>
      <p:sp>
        <p:nvSpPr>
          <p:cNvPr id="32" name="Rectangle 31"/>
          <p:cNvSpPr/>
          <p:nvPr/>
        </p:nvSpPr>
        <p:spPr>
          <a:xfrm>
            <a:off x="6309359" y="2103120"/>
            <a:ext cx="5303520" cy="2926080"/>
          </a:xfrm>
          <a:prstGeom prst="rect">
            <a:avLst/>
          </a:prstGeom>
          <a:solidFill>
            <a:srgbClr val="FFFFFF"/>
          </a:solidFill>
          <a:ln>
            <a:solidFill>
              <a:srgbClr val="C5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59" y="2304288"/>
            <a:ext cx="4846320" cy="457200"/>
          </a:xfrm>
          <a:prstGeom prst="rect">
            <a:avLst/>
          </a:prstGeom>
          <a:noFill/>
        </p:spPr>
        <p:txBody>
          <a:bodyPr wrap="square" lIns="27432" rIns="27432" tIns="18288" bIns="0">
            <a:spAutoFit/>
          </a:bodyPr>
          <a:lstStyle/>
          <a:p>
            <a:pPr>
              <a:spcAft>
                <a:spcPts val="800"/>
              </a:spcAft>
              <a:defRPr sz="2200" b="1">
                <a:solidFill>
                  <a:srgbClr val="149C9A"/>
                </a:solidFill>
                <a:latin typeface="DejaVu Sans"/>
              </a:defRPr>
            </a:pPr>
            <a:r>
              <a:t>Zona B</a:t>
            </a:r>
          </a:p>
        </p:txBody>
      </p:sp>
      <p:sp>
        <p:nvSpPr>
          <p:cNvPr id="34" name="Rounded Rectangle 33"/>
          <p:cNvSpPr/>
          <p:nvPr/>
        </p:nvSpPr>
        <p:spPr>
          <a:xfrm>
            <a:off x="6583679" y="3108960"/>
            <a:ext cx="2148840" cy="1188720"/>
          </a:xfrm>
          <a:prstGeom prst="roundRect">
            <a:avLst>
              <a:gd name="adj" fmla="val 8000"/>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59" y="3511296"/>
            <a:ext cx="1783080" cy="457200"/>
          </a:xfrm>
          <a:prstGeom prst="rect">
            <a:avLst/>
          </a:prstGeom>
          <a:noFill/>
        </p:spPr>
        <p:txBody>
          <a:bodyPr wrap="square" lIns="27432" rIns="27432" tIns="18288" bIns="0">
            <a:spAutoFit/>
          </a:bodyPr>
          <a:lstStyle/>
          <a:p>
            <a:pPr>
              <a:spcAft>
                <a:spcPts val="800"/>
              </a:spcAft>
              <a:defRPr sz="1800" b="1">
                <a:solidFill>
                  <a:srgbClr val="149C9A"/>
                </a:solidFill>
                <a:latin typeface="DejaVu Sans"/>
              </a:defRPr>
            </a:pPr>
            <a:r>
              <a:t>Ilova nusxasi</a:t>
            </a:r>
          </a:p>
        </p:txBody>
      </p:sp>
      <p:sp>
        <p:nvSpPr>
          <p:cNvPr id="36" name="Rounded Rectangle 35"/>
          <p:cNvSpPr/>
          <p:nvPr/>
        </p:nvSpPr>
        <p:spPr>
          <a:xfrm>
            <a:off x="9006840" y="3108960"/>
            <a:ext cx="2148840" cy="1188720"/>
          </a:xfrm>
          <a:prstGeom prst="roundRect">
            <a:avLst>
              <a:gd name="adj" fmla="val 8000"/>
            </a:avLst>
          </a:prstGeom>
          <a:solidFill>
            <a:srgbClr val="E8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89719" y="3511296"/>
            <a:ext cx="1783080" cy="457200"/>
          </a:xfrm>
          <a:prstGeom prst="rect">
            <a:avLst/>
          </a:prstGeom>
          <a:noFill/>
        </p:spPr>
        <p:txBody>
          <a:bodyPr wrap="square" lIns="27432" rIns="27432" tIns="18288" bIns="0">
            <a:spAutoFit/>
          </a:bodyPr>
          <a:lstStyle/>
          <a:p>
            <a:pPr>
              <a:spcAft>
                <a:spcPts val="800"/>
              </a:spcAft>
              <a:defRPr sz="1800" b="1">
                <a:solidFill>
                  <a:srgbClr val="149C9A"/>
                </a:solidFill>
                <a:latin typeface="DejaVu Sans"/>
              </a:defRPr>
            </a:pPr>
            <a:r>
              <a:t>Ilova nusxasi</a:t>
            </a:r>
          </a:p>
        </p:txBody>
      </p:sp>
      <p:sp>
        <p:nvSpPr>
          <p:cNvPr id="38" name="Rectangle 37"/>
          <p:cNvSpPr/>
          <p:nvPr/>
        </p:nvSpPr>
        <p:spPr>
          <a:xfrm>
            <a:off x="731520" y="5394960"/>
            <a:ext cx="10881360" cy="82296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5559552"/>
            <a:ext cx="1463040" cy="612648"/>
          </a:xfrm>
          <a:prstGeom prst="rect">
            <a:avLst/>
          </a:prstGeom>
          <a:noFill/>
        </p:spPr>
        <p:txBody>
          <a:bodyPr wrap="square" lIns="27432" rIns="27432" tIns="18288" bIns="0">
            <a:spAutoFit/>
          </a:bodyPr>
          <a:lstStyle/>
          <a:p>
            <a:pPr>
              <a:spcAft>
                <a:spcPts val="800"/>
              </a:spcAft>
              <a:defRPr sz="1000" b="1">
                <a:solidFill>
                  <a:srgbClr val="2869C8"/>
                </a:solidFill>
                <a:latin typeface="DejaVu Sans"/>
              </a:defRPr>
            </a:pPr>
            <a:r>
              <a:t>MEXANIZM</a:t>
            </a:r>
          </a:p>
        </p:txBody>
      </p:sp>
      <p:sp>
        <p:nvSpPr>
          <p:cNvPr id="40" name="TextBox 39"/>
          <p:cNvSpPr txBox="1"/>
          <p:nvPr/>
        </p:nvSpPr>
        <p:spPr>
          <a:xfrm>
            <a:off x="2523744" y="5513832"/>
            <a:ext cx="8924544" cy="667512"/>
          </a:xfrm>
          <a:prstGeom prst="rect">
            <a:avLst/>
          </a:prstGeom>
          <a:noFill/>
        </p:spPr>
        <p:txBody>
          <a:bodyPr wrap="square" lIns="27432" rIns="27432" tIns="18288" bIns="0">
            <a:spAutoFit/>
          </a:bodyPr>
          <a:lstStyle/>
          <a:p>
            <a:pPr>
              <a:spcAft>
                <a:spcPts val="800"/>
              </a:spcAft>
              <a:defRPr sz="2000" b="0">
                <a:solidFill>
                  <a:srgbClr val="193451"/>
                </a:solidFill>
                <a:latin typeface="DejaVu Sans"/>
              </a:defRPr>
            </a:pPr>
            <a:r>
              <a:t>Sog‘lomlik tekshiruvi nosoz nusxaga so‘rov yuborishni to‘xtatadi.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08</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Elastiklik va holatsiz ilova</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08 / 13</a:t>
            </a:r>
          </a:p>
        </p:txBody>
      </p:sp>
      <p:sp>
        <p:nvSpPr>
          <p:cNvPr id="26" name="Rounded Rectangle 25"/>
          <p:cNvSpPr/>
          <p:nvPr/>
        </p:nvSpPr>
        <p:spPr>
          <a:xfrm>
            <a:off x="731520" y="2221992"/>
            <a:ext cx="2482596" cy="1188720"/>
          </a:xfrm>
          <a:prstGeom prst="roundRect">
            <a:avLst>
              <a:gd name="adj" fmla="val 8000"/>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 y="2450592"/>
            <a:ext cx="2244852" cy="868680"/>
          </a:xfrm>
          <a:prstGeom prst="rect">
            <a:avLst/>
          </a:prstGeom>
          <a:noFill/>
        </p:spPr>
        <p:txBody>
          <a:bodyPr wrap="square" lIns="27432" rIns="27432" tIns="18288" bIns="0">
            <a:spAutoFit/>
          </a:bodyPr>
          <a:lstStyle/>
          <a:p>
            <a:pPr algn="ctr">
              <a:spcAft>
                <a:spcPts val="800"/>
              </a:spcAft>
              <a:defRPr sz="2000" b="1">
                <a:solidFill>
                  <a:srgbClr val="FFFFFF"/>
                </a:solidFill>
                <a:latin typeface="DejaVu Sans"/>
              </a:defRPr>
            </a:pPr>
            <a:r>
              <a:t>Metrika kuzatiladi</a:t>
            </a:r>
          </a:p>
        </p:txBody>
      </p:sp>
      <p:cxnSp>
        <p:nvCxnSpPr>
          <p:cNvPr id="28" name="Connector 27"/>
          <p:cNvCxnSpPr/>
          <p:nvPr/>
        </p:nvCxnSpPr>
        <p:spPr>
          <a:xfrm>
            <a:off x="3232403" y="2816352"/>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470148" y="2221992"/>
            <a:ext cx="2482596" cy="118872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89020" y="2450592"/>
            <a:ext cx="2244852" cy="86868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Siyosat baholanadi</a:t>
            </a:r>
          </a:p>
        </p:txBody>
      </p:sp>
      <p:cxnSp>
        <p:nvCxnSpPr>
          <p:cNvPr id="31" name="Connector 30"/>
          <p:cNvCxnSpPr/>
          <p:nvPr/>
        </p:nvCxnSpPr>
        <p:spPr>
          <a:xfrm>
            <a:off x="5971031" y="2816352"/>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08776" y="2221992"/>
            <a:ext cx="2482596" cy="118872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7648" y="2450592"/>
            <a:ext cx="2244852" cy="86868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Nusxa qo‘shiladi</a:t>
            </a:r>
          </a:p>
        </p:txBody>
      </p:sp>
      <p:cxnSp>
        <p:nvCxnSpPr>
          <p:cNvPr id="34" name="Connector 33"/>
          <p:cNvCxnSpPr/>
          <p:nvPr/>
        </p:nvCxnSpPr>
        <p:spPr>
          <a:xfrm>
            <a:off x="8709659" y="2816352"/>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47404" y="2221992"/>
            <a:ext cx="2482596" cy="118872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66276" y="2450592"/>
            <a:ext cx="2244852" cy="86868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Yuklama kamayadi</a:t>
            </a:r>
          </a:p>
        </p:txBody>
      </p:sp>
      <p:sp>
        <p:nvSpPr>
          <p:cNvPr id="37" name="TextBox 36"/>
          <p:cNvSpPr txBox="1"/>
          <p:nvPr/>
        </p:nvSpPr>
        <p:spPr>
          <a:xfrm>
            <a:off x="777240" y="3886200"/>
            <a:ext cx="10698480" cy="731520"/>
          </a:xfrm>
          <a:prstGeom prst="rect">
            <a:avLst/>
          </a:prstGeom>
          <a:noFill/>
        </p:spPr>
        <p:txBody>
          <a:bodyPr wrap="square" lIns="27432" rIns="27432" tIns="18288" bIns="0">
            <a:spAutoFit/>
          </a:bodyPr>
          <a:lstStyle/>
          <a:p>
            <a:pPr>
              <a:spcAft>
                <a:spcPts val="800"/>
              </a:spcAft>
              <a:defRPr sz="2500" b="1">
                <a:solidFill>
                  <a:srgbClr val="193451"/>
                </a:solidFill>
                <a:latin typeface="DejaVu Sans"/>
              </a:defRPr>
            </a:pPr>
            <a:r>
              <a:t>Muhim sessiya umumiy kesh yoki bazada saqlanadi.</a:t>
            </a:r>
          </a:p>
        </p:txBody>
      </p:sp>
      <p:sp>
        <p:nvSpPr>
          <p:cNvPr id="38" name="TextBox 37"/>
          <p:cNvSpPr txBox="1"/>
          <p:nvPr/>
        </p:nvSpPr>
        <p:spPr>
          <a:xfrm>
            <a:off x="777240" y="5029200"/>
            <a:ext cx="10607040" cy="914400"/>
          </a:xfrm>
          <a:prstGeom prst="rect">
            <a:avLst/>
          </a:prstGeom>
          <a:noFill/>
        </p:spPr>
        <p:txBody>
          <a:bodyPr wrap="square" lIns="27432" rIns="27432" tIns="18288" bIns="0">
            <a:spAutoFit/>
          </a:bodyPr>
          <a:lstStyle/>
          <a:p>
            <a:pPr>
              <a:spcAft>
                <a:spcPts val="800"/>
              </a:spcAft>
              <a:defRPr sz="2300" b="0">
                <a:solidFill>
                  <a:srgbClr val="193451"/>
                </a:solidFill>
                <a:latin typeface="DejaVu Sans"/>
              </a:defRPr>
            </a:pPr>
            <a:r>
              <a:t>Holatsiz nusxalar o‘rtasida keyingi so‘rovni erkin taqsimlash mumkin.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09</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Texnik sxema: asosiy bog‘lanishlar</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09 / 13</a:t>
            </a:r>
          </a:p>
        </p:txBody>
      </p:sp>
      <p:cxnSp>
        <p:nvCxnSpPr>
          <p:cNvPr id="26" name="Connector 25"/>
          <p:cNvCxnSpPr/>
          <p:nvPr/>
        </p:nvCxnSpPr>
        <p:spPr>
          <a:xfrm>
            <a:off x="3474720" y="2651760"/>
            <a:ext cx="777240"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995160" y="2651760"/>
            <a:ext cx="777240"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3931920" y="3136391"/>
            <a:ext cx="1691640" cy="1161288"/>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229600" y="3136391"/>
            <a:ext cx="914400" cy="1161288"/>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303520" y="4754879"/>
            <a:ext cx="1554480"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1520" y="2194560"/>
            <a:ext cx="2743200" cy="941832"/>
          </a:xfrm>
          <a:prstGeom prst="roundRect">
            <a:avLst>
              <a:gd name="adj" fmla="val 8000"/>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2331720"/>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Talaba</a:t>
            </a:r>
          </a:p>
        </p:txBody>
      </p:sp>
      <p:sp>
        <p:nvSpPr>
          <p:cNvPr id="33" name="Rounded Rectangle 32"/>
          <p:cNvSpPr/>
          <p:nvPr/>
        </p:nvSpPr>
        <p:spPr>
          <a:xfrm>
            <a:off x="4251960" y="2194560"/>
            <a:ext cx="2743200" cy="9418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2331720"/>
            <a:ext cx="2523744" cy="685800"/>
          </a:xfrm>
          <a:prstGeom prst="rect">
            <a:avLst/>
          </a:prstGeom>
          <a:noFill/>
        </p:spPr>
        <p:txBody>
          <a:bodyPr wrap="square" lIns="27432" rIns="27432" tIns="18288" bIns="0">
            <a:spAutoFit/>
          </a:bodyPr>
          <a:lstStyle/>
          <a:p>
            <a:pPr>
              <a:spcAft>
                <a:spcPts val="800"/>
              </a:spcAft>
              <a:defRPr sz="1700" b="1">
                <a:solidFill>
                  <a:srgbClr val="193451"/>
                </a:solidFill>
                <a:latin typeface="DejaVu Sans"/>
              </a:defRPr>
            </a:pPr>
            <a:r>
              <a:t>Load Balancer</a:t>
            </a:r>
          </a:p>
        </p:txBody>
      </p:sp>
      <p:sp>
        <p:nvSpPr>
          <p:cNvPr id="35" name="Rounded Rectangle 34"/>
          <p:cNvSpPr/>
          <p:nvPr/>
        </p:nvSpPr>
        <p:spPr>
          <a:xfrm>
            <a:off x="7772400" y="2194560"/>
            <a:ext cx="2743200" cy="9418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82127" y="2331720"/>
            <a:ext cx="2523744" cy="685800"/>
          </a:xfrm>
          <a:prstGeom prst="rect">
            <a:avLst/>
          </a:prstGeom>
          <a:noFill/>
        </p:spPr>
        <p:txBody>
          <a:bodyPr wrap="square" lIns="27432" rIns="27432" tIns="18288" bIns="0">
            <a:spAutoFit/>
          </a:bodyPr>
          <a:lstStyle/>
          <a:p>
            <a:pPr>
              <a:spcAft>
                <a:spcPts val="800"/>
              </a:spcAft>
              <a:defRPr sz="1700" b="1">
                <a:solidFill>
                  <a:srgbClr val="193451"/>
                </a:solidFill>
                <a:latin typeface="DejaVu Sans"/>
              </a:defRPr>
            </a:pPr>
            <a:r>
              <a:t>Ilova A · zona 1</a:t>
            </a:r>
          </a:p>
        </p:txBody>
      </p:sp>
      <p:sp>
        <p:nvSpPr>
          <p:cNvPr id="37" name="Rounded Rectangle 36"/>
          <p:cNvSpPr/>
          <p:nvPr/>
        </p:nvSpPr>
        <p:spPr>
          <a:xfrm>
            <a:off x="2560320" y="4297679"/>
            <a:ext cx="2743200" cy="9418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70048" y="4434840"/>
            <a:ext cx="2523744" cy="685800"/>
          </a:xfrm>
          <a:prstGeom prst="rect">
            <a:avLst/>
          </a:prstGeom>
          <a:noFill/>
        </p:spPr>
        <p:txBody>
          <a:bodyPr wrap="square" lIns="27432" rIns="27432" tIns="18288" bIns="0">
            <a:spAutoFit/>
          </a:bodyPr>
          <a:lstStyle/>
          <a:p>
            <a:pPr>
              <a:spcAft>
                <a:spcPts val="800"/>
              </a:spcAft>
              <a:defRPr sz="1700" b="1">
                <a:solidFill>
                  <a:srgbClr val="193451"/>
                </a:solidFill>
                <a:latin typeface="DejaVu Sans"/>
              </a:defRPr>
            </a:pPr>
            <a:r>
              <a:t>Ilova B · zona 2</a:t>
            </a:r>
          </a:p>
        </p:txBody>
      </p:sp>
      <p:sp>
        <p:nvSpPr>
          <p:cNvPr id="39" name="Rounded Rectangle 38"/>
          <p:cNvSpPr/>
          <p:nvPr/>
        </p:nvSpPr>
        <p:spPr>
          <a:xfrm>
            <a:off x="6858000" y="4297679"/>
            <a:ext cx="2743200" cy="9418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67728" y="4434840"/>
            <a:ext cx="2523744" cy="685800"/>
          </a:xfrm>
          <a:prstGeom prst="rect">
            <a:avLst/>
          </a:prstGeom>
          <a:noFill/>
        </p:spPr>
        <p:txBody>
          <a:bodyPr wrap="square" lIns="27432" rIns="27432" tIns="18288" bIns="0">
            <a:spAutoFit/>
          </a:bodyPr>
          <a:lstStyle/>
          <a:p>
            <a:pPr>
              <a:spcAft>
                <a:spcPts val="800"/>
              </a:spcAft>
              <a:defRPr sz="1700" b="1">
                <a:solidFill>
                  <a:srgbClr val="193451"/>
                </a:solidFill>
                <a:latin typeface="DejaVu Sans"/>
              </a:defRPr>
            </a:pPr>
            <a:r>
              <a:t>Umumiy baza</a:t>
            </a:r>
          </a:p>
        </p:txBody>
      </p:sp>
      <p:sp>
        <p:nvSpPr>
          <p:cNvPr id="41" name="TextBox 40"/>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193451"/>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10</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Universitet misoli</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10 / 13</a:t>
            </a:r>
          </a:p>
        </p:txBody>
      </p:sp>
      <p:sp>
        <p:nvSpPr>
          <p:cNvPr id="26" name="TextBox 25"/>
          <p:cNvSpPr txBox="1"/>
          <p:nvPr/>
        </p:nvSpPr>
        <p:spPr>
          <a:xfrm>
            <a:off x="731520" y="1965960"/>
            <a:ext cx="10652760" cy="1078992"/>
          </a:xfrm>
          <a:prstGeom prst="rect">
            <a:avLst/>
          </a:prstGeom>
          <a:noFill/>
        </p:spPr>
        <p:txBody>
          <a:bodyPr wrap="square" lIns="27432" rIns="27432" tIns="18288" bIns="0">
            <a:spAutoFit/>
          </a:bodyPr>
          <a:lstStyle/>
          <a:p>
            <a:pPr>
              <a:spcAft>
                <a:spcPts val="800"/>
              </a:spcAft>
              <a:defRPr sz="2200" b="0">
                <a:solidFill>
                  <a:srgbClr val="193451"/>
                </a:solidFill>
                <a:latin typeface="DejaVu Sans"/>
              </a:defRPr>
            </a:pPr>
            <a:r>
              <a:t>Qabul natijalari e’lon qilinganida portalga bir vaqtda minglab talabalar kiradi. Arxitektura bu talabni ko‘tarishi va bitta serverdagi nosozlikni butun tizimga tarqatmasligi kerak.</a:t>
            </a:r>
          </a:p>
        </p:txBody>
      </p:sp>
      <p:sp>
        <p:nvSpPr>
          <p:cNvPr id="27" name="Rounded Rectangle 26"/>
          <p:cNvSpPr/>
          <p:nvPr/>
        </p:nvSpPr>
        <p:spPr>
          <a:xfrm>
            <a:off x="731520" y="3602736"/>
            <a:ext cx="2482596" cy="1371600"/>
          </a:xfrm>
          <a:prstGeom prst="roundRect">
            <a:avLst>
              <a:gd name="adj" fmla="val 8000"/>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3831335"/>
            <a:ext cx="2244852" cy="1051560"/>
          </a:xfrm>
          <a:prstGeom prst="rect">
            <a:avLst/>
          </a:prstGeom>
          <a:noFill/>
        </p:spPr>
        <p:txBody>
          <a:bodyPr wrap="square" lIns="27432" rIns="27432" tIns="18288" bIns="0">
            <a:spAutoFit/>
          </a:bodyPr>
          <a:lstStyle/>
          <a:p>
            <a:pPr algn="ctr">
              <a:spcAft>
                <a:spcPts val="800"/>
              </a:spcAft>
              <a:defRPr sz="2000" b="1">
                <a:solidFill>
                  <a:srgbClr val="FFFFFF"/>
                </a:solidFill>
                <a:latin typeface="DejaVu Sans"/>
              </a:defRPr>
            </a:pPr>
            <a:r>
              <a:t>Talabalar</a:t>
            </a:r>
          </a:p>
        </p:txBody>
      </p:sp>
      <p:cxnSp>
        <p:nvCxnSpPr>
          <p:cNvPr id="29" name="Connector 28"/>
          <p:cNvCxnSpPr/>
          <p:nvPr/>
        </p:nvCxnSpPr>
        <p:spPr>
          <a:xfrm>
            <a:off x="3232403" y="4288536"/>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470148" y="3602736"/>
            <a:ext cx="2482596" cy="137160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89020" y="3831335"/>
            <a:ext cx="2244852" cy="105156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Yuklama</a:t>
            </a:r>
          </a:p>
          <a:p>
            <a:pPr algn="ctr">
              <a:spcAft>
                <a:spcPts val="800"/>
              </a:spcAft>
              <a:defRPr sz="2000" b="1">
                <a:solidFill>
                  <a:srgbClr val="24445E"/>
                </a:solidFill>
                <a:latin typeface="DejaVu Sans"/>
              </a:defRPr>
            </a:pPr>
            <a:r>
              <a:t>taqsimlagich</a:t>
            </a:r>
          </a:p>
        </p:txBody>
      </p:sp>
      <p:cxnSp>
        <p:nvCxnSpPr>
          <p:cNvPr id="32" name="Connector 31"/>
          <p:cNvCxnSpPr/>
          <p:nvPr/>
        </p:nvCxnSpPr>
        <p:spPr>
          <a:xfrm>
            <a:off x="5971031" y="4288536"/>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208776" y="3602736"/>
            <a:ext cx="2482596" cy="137160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7648" y="3831335"/>
            <a:ext cx="2244852" cy="105156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Ilova</a:t>
            </a:r>
          </a:p>
          <a:p>
            <a:pPr algn="ctr">
              <a:spcAft>
                <a:spcPts val="800"/>
              </a:spcAft>
              <a:defRPr sz="2000" b="1">
                <a:solidFill>
                  <a:srgbClr val="24445E"/>
                </a:solidFill>
                <a:latin typeface="DejaVu Sans"/>
              </a:defRPr>
            </a:pPr>
            <a:r>
              <a:t>nusxalari</a:t>
            </a:r>
          </a:p>
        </p:txBody>
      </p:sp>
      <p:cxnSp>
        <p:nvCxnSpPr>
          <p:cNvPr id="35" name="Connector 34"/>
          <p:cNvCxnSpPr/>
          <p:nvPr/>
        </p:nvCxnSpPr>
        <p:spPr>
          <a:xfrm>
            <a:off x="8709659" y="4288536"/>
            <a:ext cx="210313" cy="0"/>
          </a:xfrm>
          <a:prstGeom prst="line">
            <a:avLst/>
          </a:prstGeom>
          <a:ln w="25400">
            <a:solidFill>
              <a:srgbClr val="2869C8"/>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947404" y="3602736"/>
            <a:ext cx="2482596" cy="1371600"/>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66276" y="3831335"/>
            <a:ext cx="2244852" cy="105156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Ma’lumotlar</a:t>
            </a:r>
          </a:p>
          <a:p>
            <a:pPr algn="ctr">
              <a:spcAft>
                <a:spcPts val="800"/>
              </a:spcAft>
              <a:defRPr sz="2000" b="1">
                <a:solidFill>
                  <a:srgbClr val="24445E"/>
                </a:solidFill>
                <a:latin typeface="DejaVu Sans"/>
              </a:defRPr>
            </a:pPr>
            <a:r>
              <a:t>bazasi</a:t>
            </a:r>
          </a:p>
        </p:txBody>
      </p:sp>
      <p:sp>
        <p:nvSpPr>
          <p:cNvPr id="38" name="TextBox 37"/>
          <p:cNvSpPr txBox="1"/>
          <p:nvPr/>
        </p:nvSpPr>
        <p:spPr>
          <a:xfrm>
            <a:off x="822960" y="5532120"/>
            <a:ext cx="10515600" cy="548640"/>
          </a:xfrm>
          <a:prstGeom prst="rect">
            <a:avLst/>
          </a:prstGeom>
          <a:noFill/>
        </p:spPr>
        <p:txBody>
          <a:bodyPr wrap="square" lIns="27432" rIns="27432" tIns="18288" bIns="0">
            <a:spAutoFit/>
          </a:bodyPr>
          <a:lstStyle/>
          <a:p>
            <a:pPr>
              <a:spcAft>
                <a:spcPts val="800"/>
              </a:spcAft>
              <a:defRPr sz="2200" b="1">
                <a:solidFill>
                  <a:srgbClr val="149C9A"/>
                </a:solidFill>
                <a:latin typeface="DejaVu Sans"/>
              </a:defRPr>
            </a:pPr>
            <a:r>
              <a:t>Bir serverdagi nosozlik butun tizimga tarqalmasligi kerak.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11</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Keng tarqalgan noto‘g‘ri tushunchalar</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11 / 13</a:t>
            </a:r>
          </a:p>
        </p:txBody>
      </p:sp>
      <p:sp>
        <p:nvSpPr>
          <p:cNvPr id="26" name="Rounded Rectangle 25"/>
          <p:cNvSpPr/>
          <p:nvPr/>
        </p:nvSpPr>
        <p:spPr>
          <a:xfrm>
            <a:off x="758952" y="2002536"/>
            <a:ext cx="10652760" cy="11704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2167128"/>
            <a:ext cx="502920" cy="457200"/>
          </a:xfrm>
          <a:prstGeom prst="rect">
            <a:avLst/>
          </a:prstGeom>
          <a:noFill/>
        </p:spPr>
        <p:txBody>
          <a:bodyPr wrap="square" lIns="27432" rIns="27432" tIns="18288" bIns="0">
            <a:spAutoFit/>
          </a:bodyPr>
          <a:lstStyle/>
          <a:p>
            <a:pPr>
              <a:spcAft>
                <a:spcPts val="800"/>
              </a:spcAft>
              <a:defRPr sz="1700" b="1">
                <a:solidFill>
                  <a:srgbClr val="2869C8"/>
                </a:solidFill>
                <a:latin typeface="DejaVu Sans"/>
              </a:defRPr>
            </a:pPr>
            <a:r>
              <a:t>01</a:t>
            </a:r>
          </a:p>
        </p:txBody>
      </p:sp>
      <p:sp>
        <p:nvSpPr>
          <p:cNvPr id="28" name="TextBox 27"/>
          <p:cNvSpPr txBox="1"/>
          <p:nvPr/>
        </p:nvSpPr>
        <p:spPr>
          <a:xfrm>
            <a:off x="1719072" y="2148840"/>
            <a:ext cx="9372600" cy="914400"/>
          </a:xfrm>
          <a:prstGeom prst="rect">
            <a:avLst/>
          </a:prstGeom>
          <a:noFill/>
        </p:spPr>
        <p:txBody>
          <a:bodyPr wrap="square" lIns="27432" rIns="27432" tIns="18288" bIns="0">
            <a:spAutoFit/>
          </a:bodyPr>
          <a:lstStyle/>
          <a:p>
            <a:pPr>
              <a:spcAft>
                <a:spcPts val="800"/>
              </a:spcAft>
              <a:defRPr sz="2100" b="0">
                <a:solidFill>
                  <a:srgbClr val="193451"/>
                </a:solidFill>
                <a:latin typeface="DejaVu Sans"/>
              </a:defRPr>
            </a:pPr>
            <a:r>
              <a:t>Qatlamlar alohida bo‘lishi ularning barchasi alohida serverda bo‘lishi shartligini anglatmaydi.</a:t>
            </a:r>
          </a:p>
        </p:txBody>
      </p:sp>
      <p:sp>
        <p:nvSpPr>
          <p:cNvPr id="29" name="Rounded Rectangle 28"/>
          <p:cNvSpPr/>
          <p:nvPr/>
        </p:nvSpPr>
        <p:spPr>
          <a:xfrm>
            <a:off x="758952" y="3401568"/>
            <a:ext cx="10652760" cy="11704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3566160"/>
            <a:ext cx="502920" cy="457200"/>
          </a:xfrm>
          <a:prstGeom prst="rect">
            <a:avLst/>
          </a:prstGeom>
          <a:noFill/>
        </p:spPr>
        <p:txBody>
          <a:bodyPr wrap="square" lIns="27432" rIns="27432" tIns="18288" bIns="0">
            <a:spAutoFit/>
          </a:bodyPr>
          <a:lstStyle/>
          <a:p>
            <a:pPr>
              <a:spcAft>
                <a:spcPts val="800"/>
              </a:spcAft>
              <a:defRPr sz="1700" b="1">
                <a:solidFill>
                  <a:srgbClr val="2869C8"/>
                </a:solidFill>
                <a:latin typeface="DejaVu Sans"/>
              </a:defRPr>
            </a:pPr>
            <a:r>
              <a:t>02</a:t>
            </a:r>
          </a:p>
        </p:txBody>
      </p:sp>
      <p:sp>
        <p:nvSpPr>
          <p:cNvPr id="31" name="TextBox 30"/>
          <p:cNvSpPr txBox="1"/>
          <p:nvPr/>
        </p:nvSpPr>
        <p:spPr>
          <a:xfrm>
            <a:off x="1719072" y="3547872"/>
            <a:ext cx="9372600" cy="914400"/>
          </a:xfrm>
          <a:prstGeom prst="rect">
            <a:avLst/>
          </a:prstGeom>
          <a:noFill/>
        </p:spPr>
        <p:txBody>
          <a:bodyPr wrap="square" lIns="27432" rIns="27432" tIns="18288" bIns="0">
            <a:spAutoFit/>
          </a:bodyPr>
          <a:lstStyle/>
          <a:p>
            <a:pPr>
              <a:spcAft>
                <a:spcPts val="800"/>
              </a:spcAft>
              <a:defRPr sz="2100" b="0">
                <a:solidFill>
                  <a:srgbClr val="193451"/>
                </a:solidFill>
                <a:latin typeface="DejaVu Sans"/>
              </a:defRPr>
            </a:pPr>
            <a:r>
              <a:t>Provayder SLA ko‘rsatkichi butun ilovaning aynan shunday mavjudligini avtomatik kafolatlamaydi.</a:t>
            </a:r>
          </a:p>
        </p:txBody>
      </p:sp>
      <p:sp>
        <p:nvSpPr>
          <p:cNvPr id="32" name="Rounded Rectangle 31"/>
          <p:cNvSpPr/>
          <p:nvPr/>
        </p:nvSpPr>
        <p:spPr>
          <a:xfrm>
            <a:off x="758952" y="4800600"/>
            <a:ext cx="10652760" cy="1170432"/>
          </a:xfrm>
          <a:prstGeom prst="roundRect">
            <a:avLst>
              <a:gd name="adj" fmla="val 8000"/>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4965192"/>
            <a:ext cx="502920" cy="457200"/>
          </a:xfrm>
          <a:prstGeom prst="rect">
            <a:avLst/>
          </a:prstGeom>
          <a:noFill/>
        </p:spPr>
        <p:txBody>
          <a:bodyPr wrap="square" lIns="27432" rIns="27432" tIns="18288" bIns="0">
            <a:spAutoFit/>
          </a:bodyPr>
          <a:lstStyle/>
          <a:p>
            <a:pPr>
              <a:spcAft>
                <a:spcPts val="800"/>
              </a:spcAft>
              <a:defRPr sz="1700" b="1">
                <a:solidFill>
                  <a:srgbClr val="2869C8"/>
                </a:solidFill>
                <a:latin typeface="DejaVu Sans"/>
              </a:defRPr>
            </a:pPr>
            <a:r>
              <a:t>03</a:t>
            </a:r>
          </a:p>
        </p:txBody>
      </p:sp>
      <p:sp>
        <p:nvSpPr>
          <p:cNvPr id="34" name="TextBox 33"/>
          <p:cNvSpPr txBox="1"/>
          <p:nvPr/>
        </p:nvSpPr>
        <p:spPr>
          <a:xfrm>
            <a:off x="1719072" y="4946904"/>
            <a:ext cx="9372600" cy="914400"/>
          </a:xfrm>
          <a:prstGeom prst="rect">
            <a:avLst/>
          </a:prstGeom>
          <a:noFill/>
        </p:spPr>
        <p:txBody>
          <a:bodyPr wrap="square" lIns="27432" rIns="27432" tIns="18288" bIns="0">
            <a:spAutoFit/>
          </a:bodyPr>
          <a:lstStyle/>
          <a:p>
            <a:pPr>
              <a:spcAft>
                <a:spcPts val="800"/>
              </a:spcAft>
              <a:defRPr sz="2100" b="0">
                <a:solidFill>
                  <a:srgbClr val="193451"/>
                </a:solidFill>
                <a:latin typeface="DejaVu Sans"/>
              </a:defRPr>
            </a:pPr>
            <a:r>
              <a:t>Cheksiz masshtablash yo‘q: kvota, budjet, baza ulanishlari va tashqi xizmatlar cheklovlari mavjud.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cxnSp>
        <p:nvCxnSpPr>
          <p:cNvPr id="2" name="Connector 1"/>
          <p:cNvCxnSpPr/>
          <p:nvPr/>
        </p:nvCxnSpPr>
        <p:spPr>
          <a:xfrm>
            <a:off x="1056132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661072"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760825"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860578"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6033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060083"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59836"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9589"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59341"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59094"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58847"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658600" y="228600"/>
            <a:ext cx="0" cy="77724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1320" y="22860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61320" y="384048"/>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539496"/>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61320" y="694944"/>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61320" y="850392"/>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005840"/>
            <a:ext cx="1097280" cy="0"/>
          </a:xfrm>
          <a:prstGeom prst="line">
            <a:avLst/>
          </a:prstGeom>
          <a:ln w="6350">
            <a:solidFill>
              <a:srgbClr val="DEEBF4"/>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8912" y="438912"/>
            <a:ext cx="65836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6072"/>
            <a:ext cx="539496" cy="320040"/>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12</a:t>
            </a:r>
          </a:p>
        </p:txBody>
      </p:sp>
      <p:sp>
        <p:nvSpPr>
          <p:cNvPr id="22" name="TextBox 21"/>
          <p:cNvSpPr txBox="1"/>
          <p:nvPr/>
        </p:nvSpPr>
        <p:spPr>
          <a:xfrm>
            <a:off x="1325880" y="438912"/>
            <a:ext cx="9829800" cy="932688"/>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Asosiy xulosalar</a:t>
            </a:r>
          </a:p>
        </p:txBody>
      </p:sp>
      <p:cxnSp>
        <p:nvCxnSpPr>
          <p:cNvPr id="23" name="Connector 22"/>
          <p:cNvCxnSpPr/>
          <p:nvPr/>
        </p:nvCxnSpPr>
        <p:spPr>
          <a:xfrm>
            <a:off x="1325880" y="1499616"/>
            <a:ext cx="10104120" cy="0"/>
          </a:xfrm>
          <a:prstGeom prst="line">
            <a:avLst/>
          </a:prstGeom>
          <a:ln w="12700">
            <a:solidFill>
              <a:srgbClr val="2869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25" name="TextBox 2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12 / 13</a:t>
            </a:r>
          </a:p>
        </p:txBody>
      </p:sp>
      <p:sp>
        <p:nvSpPr>
          <p:cNvPr id="26" name="Oval 25"/>
          <p:cNvSpPr/>
          <p:nvPr/>
        </p:nvSpPr>
        <p:spPr>
          <a:xfrm>
            <a:off x="777240" y="2148840"/>
            <a:ext cx="566928" cy="566928"/>
          </a:xfrm>
          <a:prstGeom prst="ellipse">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2276856"/>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a:t>
            </a:r>
          </a:p>
        </p:txBody>
      </p:sp>
      <p:sp>
        <p:nvSpPr>
          <p:cNvPr id="28" name="TextBox 27"/>
          <p:cNvSpPr txBox="1"/>
          <p:nvPr/>
        </p:nvSpPr>
        <p:spPr>
          <a:xfrm>
            <a:off x="1673352" y="2130552"/>
            <a:ext cx="9628632" cy="1024128"/>
          </a:xfrm>
          <a:prstGeom prst="rect">
            <a:avLst/>
          </a:prstGeom>
          <a:noFill/>
        </p:spPr>
        <p:txBody>
          <a:bodyPr wrap="square" lIns="27432" rIns="27432" tIns="18288" bIns="0">
            <a:spAutoFit/>
          </a:bodyPr>
          <a:lstStyle/>
          <a:p>
            <a:pPr>
              <a:spcAft>
                <a:spcPts val="800"/>
              </a:spcAft>
              <a:defRPr sz="2500" b="1">
                <a:solidFill>
                  <a:srgbClr val="193451"/>
                </a:solidFill>
                <a:latin typeface="DejaVu Sans"/>
              </a:defRPr>
            </a:pPr>
            <a:r>
              <a:t>Qatlamlar mas’uliyatni ajratadi; nusxalar yuklamani taqsimlaydi.</a:t>
            </a:r>
          </a:p>
        </p:txBody>
      </p:sp>
      <p:sp>
        <p:nvSpPr>
          <p:cNvPr id="29" name="Oval 28"/>
          <p:cNvSpPr/>
          <p:nvPr/>
        </p:nvSpPr>
        <p:spPr>
          <a:xfrm>
            <a:off x="777240" y="3493008"/>
            <a:ext cx="566928" cy="566928"/>
          </a:xfrm>
          <a:prstGeom prst="ellipse">
            <a:avLst/>
          </a:prstGeom>
          <a:solidFill>
            <a:srgbClr val="149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3621024"/>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2</a:t>
            </a:r>
          </a:p>
        </p:txBody>
      </p:sp>
      <p:sp>
        <p:nvSpPr>
          <p:cNvPr id="31" name="TextBox 30"/>
          <p:cNvSpPr txBox="1"/>
          <p:nvPr/>
        </p:nvSpPr>
        <p:spPr>
          <a:xfrm>
            <a:off x="1673352" y="3474720"/>
            <a:ext cx="9628632" cy="1024128"/>
          </a:xfrm>
          <a:prstGeom prst="rect">
            <a:avLst/>
          </a:prstGeom>
          <a:noFill/>
        </p:spPr>
        <p:txBody>
          <a:bodyPr wrap="square" lIns="27432" rIns="27432" tIns="18288" bIns="0">
            <a:spAutoFit/>
          </a:bodyPr>
          <a:lstStyle/>
          <a:p>
            <a:pPr>
              <a:spcAft>
                <a:spcPts val="800"/>
              </a:spcAft>
              <a:defRPr sz="2500" b="1">
                <a:solidFill>
                  <a:srgbClr val="193451"/>
                </a:solidFill>
                <a:latin typeface="DejaVu Sans"/>
              </a:defRPr>
            </a:pPr>
            <a:r>
              <a:t>Masshtablash — quvvat; elastiklik — uni talabga mos o‘zgartirish.</a:t>
            </a:r>
          </a:p>
        </p:txBody>
      </p:sp>
      <p:sp>
        <p:nvSpPr>
          <p:cNvPr id="32" name="Oval 31"/>
          <p:cNvSpPr/>
          <p:nvPr/>
        </p:nvSpPr>
        <p:spPr>
          <a:xfrm>
            <a:off x="777240" y="4837176"/>
            <a:ext cx="566928" cy="566928"/>
          </a:xfrm>
          <a:prstGeom prst="ellipse">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4965192"/>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3</a:t>
            </a:r>
          </a:p>
        </p:txBody>
      </p:sp>
      <p:sp>
        <p:nvSpPr>
          <p:cNvPr id="34" name="TextBox 33"/>
          <p:cNvSpPr txBox="1"/>
          <p:nvPr/>
        </p:nvSpPr>
        <p:spPr>
          <a:xfrm>
            <a:off x="1673352" y="4818888"/>
            <a:ext cx="9628632" cy="1024128"/>
          </a:xfrm>
          <a:prstGeom prst="rect">
            <a:avLst/>
          </a:prstGeom>
          <a:noFill/>
        </p:spPr>
        <p:txBody>
          <a:bodyPr wrap="square" lIns="27432" rIns="27432" tIns="18288" bIns="0">
            <a:spAutoFit/>
          </a:bodyPr>
          <a:lstStyle/>
          <a:p>
            <a:pPr>
              <a:spcAft>
                <a:spcPts val="800"/>
              </a:spcAft>
              <a:defRPr sz="2500" b="1">
                <a:solidFill>
                  <a:srgbClr val="193451"/>
                </a:solidFill>
                <a:latin typeface="DejaVu Sans"/>
              </a:defRPr>
            </a:pPr>
            <a:r>
              <a:t>Barqarorlik uchun mustaqil nusxa, tekshiruv va tiklash kerak.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286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93451"/>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93451"/>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2869C8"/>
                </a:solidFill>
                <a:latin typeface="DejaVu Sans"/>
              </a:defRPr>
            </a:pPr>
            <a:r>
              <a:t>https://docs.aws.amazon.com/wellarchitected/latest/reliability-pillar/</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2869C8"/>
                </a:solidFill>
                <a:latin typeface="DejaVu Sans"/>
              </a:defRPr>
            </a:pPr>
            <a:r>
              <a:t>https://learn.microsoft.com/azure/architecture/guide/</a:t>
            </a:r>
          </a:p>
        </p:txBody>
      </p:sp>
      <p:sp>
        <p:nvSpPr>
          <p:cNvPr id="7" name="TextBox 6"/>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2869C8"/>
                </a:solidFill>
                <a:latin typeface="DejaVu Sans"/>
              </a:defRPr>
            </a:pPr>
            <a:r>
              <a:t>INTERNET RASMI</a:t>
            </a:r>
          </a:p>
        </p:txBody>
      </p:sp>
      <p:sp>
        <p:nvSpPr>
          <p:cNvPr id="8" name="TextBox 7"/>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93451"/>
                </a:solidFill>
                <a:latin typeface="DejaVu Sans"/>
              </a:defRPr>
            </a:pPr>
            <a:r>
              <a:t>Microsoft Azure Architecture Center</a:t>
            </a:r>
          </a:p>
        </p:txBody>
      </p:sp>
      <p:sp>
        <p:nvSpPr>
          <p:cNvPr id="9" name="TextBox 8"/>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https://raw.githubusercontent.com/MicrosoftDocs/architecture-center/main/docs/guide/architecture-styles/images/n-tier-physical-bastion.png</a:t>
            </a:r>
          </a:p>
        </p:txBody>
      </p:sp>
      <p:sp>
        <p:nvSpPr>
          <p:cNvPr id="10" name="TextBox 9"/>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93451"/>
                </a:solidFill>
                <a:latin typeface="DejaVu Sans"/>
              </a:defRPr>
            </a:pPr>
            <a:r>
              <a:t>Barcha rasm manbalari va foydalanish izohlari: ASSET_SOURCES.md</a:t>
            </a: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93451"/>
                </a:solidFill>
                <a:latin typeface="DejaVu Sans"/>
              </a:defRPr>
            </a:pPr>
            <a:r>
              <a:t>BTST206   /   M02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93451"/>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